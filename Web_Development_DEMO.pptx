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640080"/>
            <a:ext cx="1097280" cy="1097280"/>
          </a:xfrm>
          <a:prstGeom prst="ellipse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554480"/>
            <a:ext cx="640080" cy="640080"/>
          </a:xfrm>
          <a:prstGeom prst="ellipse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5303520"/>
            <a:ext cx="914400" cy="914400"/>
          </a:xfrm>
          <a:prstGeom prst="ellipse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754880"/>
            <a:ext cx="502920" cy="502920"/>
          </a:xfrm>
          <a:prstGeom prst="ellipse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WEB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8778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41B4CD"/>
                </a:solidFill>
                <a:latin typeface="Aptos Display"/>
              </a:defRPr>
            </a:pPr>
            <a:r>
              <a:t>Complete Beginner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657600"/>
            <a:ext cx="7955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HTML • CSS • JavaScript • Browser • Server • Database</a:t>
            </a:r>
          </a:p>
          <a:p>
            <a:pPr>
              <a:defRPr sz="1700">
                <a:solidFill>
                  <a:srgbClr val="BECDE1"/>
                </a:solidFill>
              </a:defRPr>
            </a:pPr>
            <a:r>
              <a:t>Easy English • Diagrams • Workflows • Examples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What You Will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  <a:latin typeface="Aptos"/>
              </a:defRPr>
            </a:pPr>
            <a:r>
              <a:t>A complete path from a basic web page to a working web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73736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1. Web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What a website is and how the Internet and Web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173736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2. Front-End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57400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HTML, CSS and JavaScript with simple examples.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73152" cy="173736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3. Back-End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057400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Server, APIs, login and business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566160"/>
            <a:ext cx="73152" cy="17373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3075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4.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06240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Databases, tables, records and CRUD.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566160"/>
            <a:ext cx="73152" cy="173736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73075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5.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206240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What happens from typing a URL to seeing a page.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566160"/>
            <a:ext cx="73152" cy="1737360"/>
          </a:xfrm>
          <a:prstGeom prst="rect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373075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6.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206240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A practical order for learning and building projects.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1. What Is Web Development?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40080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837"/>
                </a:solidFill>
                <a:latin typeface="Aptos"/>
              </a:defRPr>
            </a:pPr>
            <a:r>
              <a:t>• Web development means creating and maintaining websites and web applications.</a:t>
            </a:r>
          </a:p>
          <a:p>
            <a:pPr>
              <a:spcAft>
                <a:spcPts val="1000"/>
              </a:spcAft>
              <a:defRPr sz="1900">
                <a:solidFill>
                  <a:srgbClr val="1E2837"/>
                </a:solidFill>
                <a:latin typeface="Aptos"/>
              </a:defRPr>
            </a:pPr>
            <a:r>
              <a:t>• Developers write code so people can read information, use services, buy products, communicate, or manage data.</a:t>
            </a:r>
          </a:p>
          <a:p>
            <a:pPr>
              <a:spcAft>
                <a:spcPts val="1000"/>
              </a:spcAft>
              <a:defRPr sz="1900">
                <a:solidFill>
                  <a:srgbClr val="1E2837"/>
                </a:solidFill>
                <a:latin typeface="Aptos"/>
              </a:defRPr>
            </a:pPr>
            <a:r>
              <a:t>• Web development has two major sides: front-end and back-end.</a:t>
            </a:r>
          </a:p>
          <a:p>
            <a:pPr>
              <a:spcAft>
                <a:spcPts val="1000"/>
              </a:spcAft>
              <a:defRPr sz="1900">
                <a:solidFill>
                  <a:srgbClr val="1E2837"/>
                </a:solidFill>
                <a:latin typeface="Aptos"/>
              </a:defRPr>
            </a:pPr>
            <a:r>
              <a:t>• A modern website can also use databases, APIs, cloud services, authentication and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43800" y="1417320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3800" y="1417320"/>
            <a:ext cx="73152" cy="123444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4968" y="1581912"/>
            <a:ext cx="3502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4968" y="2057400"/>
            <a:ext cx="35021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Mostly information and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834640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2834640"/>
            <a:ext cx="73152" cy="123444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2999232"/>
            <a:ext cx="3502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3474720"/>
            <a:ext cx="35021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Lets users perform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251960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4251960"/>
            <a:ext cx="73152" cy="12344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4416552"/>
            <a:ext cx="3502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4892040"/>
            <a:ext cx="35021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Online store, bank portal, college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2. Anatomy of a Modern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  <a:latin typeface="Aptos"/>
              </a:defRPr>
            </a:pPr>
            <a:r>
              <a:t>A simple view of the main parts.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USER /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1143000"/>
            <a:ext cx="2377440" cy="9144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FRONT-END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2743200"/>
            <a:ext cx="237744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BACK-END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20240"/>
            <a:ext cx="2286000" cy="9144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920240"/>
            <a:ext cx="1417320" cy="914400"/>
          </a:xfrm>
          <a:prstGeom prst="roundRect">
            <a:avLst/>
          </a:prstGeom>
          <a:solidFill>
            <a:srgbClr val="37A064"/>
          </a:solidFill>
          <a:ln>
            <a:solidFill>
              <a:srgbClr val="37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API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017520" y="1600200"/>
            <a:ext cx="685800" cy="68580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1600200"/>
            <a:ext cx="3977640" cy="68580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80760" y="2377440"/>
            <a:ext cx="1234440" cy="82296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80760" y="2377440"/>
            <a:ext cx="1234440" cy="82296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2286000"/>
            <a:ext cx="3977640" cy="91440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017520" y="2286000"/>
            <a:ext cx="685800" cy="91440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25196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251960"/>
            <a:ext cx="73152" cy="11887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416552"/>
            <a:ext cx="2816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Front-End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2816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What the user sees and clicks.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25196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251960"/>
            <a:ext cx="73152" cy="118872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4416552"/>
            <a:ext cx="2816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Back-End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892040"/>
            <a:ext cx="2816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Processes requests and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25196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4251960"/>
            <a:ext cx="73152" cy="11887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4416552"/>
            <a:ext cx="2816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4892040"/>
            <a:ext cx="2816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Stores users, products, marks, etc.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3. The Three Core Front-End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30906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E37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57400"/>
            <a:ext cx="3090672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837"/>
                </a:solidFill>
                <a:latin typeface="Aptos"/>
              </a:defRPr>
            </a:pPr>
            <a:r>
              <a:t>HTML gives the page its structure.</a:t>
            </a:r>
            <a:br/>
            <a:br/>
            <a:r>
              <a:t>Examples:</a:t>
            </a:r>
            <a:br/>
            <a:r>
              <a:t>• headings</a:t>
            </a:r>
            <a:br/>
            <a:r>
              <a:t>• paragraphs</a:t>
            </a:r>
            <a:br/>
            <a:r>
              <a:t>• images</a:t>
            </a:r>
            <a:br/>
            <a:r>
              <a:t>• links</a:t>
            </a:r>
            <a:br/>
            <a:r>
              <a:t>• forms</a:t>
            </a:r>
            <a:br/>
            <a:r>
              <a:t>•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0832" y="1417320"/>
            <a:ext cx="73152" cy="43891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30906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E37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90672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837"/>
                </a:solidFill>
                <a:latin typeface="Aptos"/>
              </a:defRPr>
            </a:pPr>
            <a:r>
              <a:t>CSS controls appearance.</a:t>
            </a:r>
            <a:br/>
            <a:br/>
            <a:r>
              <a:t>Examples:</a:t>
            </a:r>
            <a:br/>
            <a:r>
              <a:t>• colors</a:t>
            </a:r>
            <a:br/>
            <a:r>
              <a:t>• fonts</a:t>
            </a:r>
            <a:br/>
            <a:r>
              <a:t>• spacing</a:t>
            </a:r>
            <a:br/>
            <a:r>
              <a:t>• layout</a:t>
            </a:r>
            <a:br/>
            <a:r>
              <a:t>• buttons</a:t>
            </a:r>
            <a:br/>
            <a:r>
              <a:t>• responsive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173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417320"/>
            <a:ext cx="73152" cy="43891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81912"/>
            <a:ext cx="30906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E37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57400"/>
            <a:ext cx="3090672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837"/>
                </a:solidFill>
                <a:latin typeface="Aptos"/>
              </a:defRPr>
            </a:pPr>
            <a:r>
              <a:t>JavaScript adds behavior.</a:t>
            </a:r>
            <a:br/>
            <a:br/>
            <a:r>
              <a:t>Examples:</a:t>
            </a:r>
            <a:br/>
            <a:r>
              <a:t>• button actions</a:t>
            </a:r>
            <a:br/>
            <a:r>
              <a:t>• validation</a:t>
            </a:r>
            <a:br/>
            <a:r>
              <a:t>• menus</a:t>
            </a:r>
            <a:br/>
            <a:r>
              <a:t>• calculations</a:t>
            </a:r>
            <a:br/>
            <a:r>
              <a:t>• API calls</a:t>
            </a:r>
            <a:br/>
            <a:r>
              <a:t>• dynamic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4. Easy Analogy: Build a House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2926080" cy="11430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HTML</a:t>
            </a:r>
            <a:br/>
            <a:r>
              <a:t>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1920240"/>
            <a:ext cx="2926080" cy="11430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CSS</a:t>
            </a:r>
            <a:br/>
            <a:r>
              <a:t>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920240"/>
            <a:ext cx="2926080" cy="11430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JAVASCRIPT</a:t>
            </a:r>
            <a:br/>
            <a:r>
              <a:t>ACTION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2487168"/>
            <a:ext cx="77724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43800" y="2487168"/>
            <a:ext cx="77724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370332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703320"/>
            <a:ext cx="73152" cy="123444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867911"/>
            <a:ext cx="2542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Like the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343400"/>
            <a:ext cx="2542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Walls, rooms and doors.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70332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3703320"/>
            <a:ext cx="73152" cy="123444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3867911"/>
            <a:ext cx="2542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Like the decoration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4343400"/>
            <a:ext cx="2542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Paint, furniture and style.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70332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703320"/>
            <a:ext cx="73152" cy="12344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3867911"/>
            <a:ext cx="2542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Like the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343400"/>
            <a:ext cx="2542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Lights, switches and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5. Workflow: What Happens When You Open a Website?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20240"/>
            <a:ext cx="1508760" cy="658368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1. Type URL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2249424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3063240"/>
            <a:ext cx="1508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063240"/>
            <a:ext cx="73152" cy="150876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322783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03320"/>
            <a:ext cx="112471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User enters 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920240"/>
            <a:ext cx="1508760" cy="658368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2. Find IP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2249424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23160" y="3063240"/>
            <a:ext cx="1508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3063240"/>
            <a:ext cx="73152" cy="150876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322783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3703320"/>
            <a:ext cx="112471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Domain → 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920240"/>
            <a:ext cx="1508760" cy="658368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3. Send request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2249424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43400" y="3063240"/>
            <a:ext cx="1508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063240"/>
            <a:ext cx="73152" cy="150876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22783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HTTP/HTTPS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703320"/>
            <a:ext cx="112471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Request travels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920240"/>
            <a:ext cx="1508760" cy="658368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4. Process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2249424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63640" y="3063240"/>
            <a:ext cx="1508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063240"/>
            <a:ext cx="73152" cy="15087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22783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703320"/>
            <a:ext cx="112471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Code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1920240"/>
            <a:ext cx="1508760" cy="658368"/>
          </a:xfrm>
          <a:prstGeom prst="roundRect">
            <a:avLst/>
          </a:prstGeom>
          <a:solidFill>
            <a:srgbClr val="37A064"/>
          </a:solidFill>
          <a:ln>
            <a:solidFill>
              <a:srgbClr val="37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5. Get 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92640" y="2249424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83880" y="3063240"/>
            <a:ext cx="1508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063240"/>
            <a:ext cx="73152" cy="150876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322783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3703320"/>
            <a:ext cx="112471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HTML/data returns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1920240"/>
            <a:ext cx="1508760" cy="658368"/>
          </a:xfrm>
          <a:prstGeom prst="roundRect">
            <a:avLst/>
          </a:prstGeom>
          <a:solidFill>
            <a:srgbClr val="41B4CD"/>
          </a:solidFill>
          <a:ln>
            <a:solidFill>
              <a:srgbClr val="41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6. Display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3063240"/>
            <a:ext cx="1508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04120" y="3063240"/>
            <a:ext cx="73152" cy="1508760"/>
          </a:xfrm>
          <a:prstGeom prst="rect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05288" y="322783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3703320"/>
            <a:ext cx="112471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Page is rendered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6. What Is a Web Browser?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922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A browser is software used to open and interact with websites.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Examples include Chrome, Edge, Firefox and Safari.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The browser downloads files such as HTML, CSS, JavaScript, images and fonts.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It then interprets those files and builds the visible page.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The browser also stores useful information such as cookies and cached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50876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1508760"/>
            <a:ext cx="73152" cy="114300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36408" y="1673351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36408" y="2148839"/>
            <a:ext cx="3273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URL / link /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88036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2880360"/>
            <a:ext cx="73152" cy="114300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3044952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3520439"/>
            <a:ext cx="3273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Download + interpret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25196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4251960"/>
            <a:ext cx="73152" cy="114300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4416552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892040"/>
            <a:ext cx="3273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Rendered web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7. What Is a Web Server?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922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A server is a computer or software system that receives requests and sends responses.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It can store website files, run back-end code and communicate with databases.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A server may handle thousands or millions of requests.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Examples of server software include Apache, Nginx and application servers such as Node.js.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600200"/>
            <a:ext cx="301752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CLIENT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372600" y="2514600"/>
            <a:ext cx="0" cy="45720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863840" y="2971800"/>
            <a:ext cx="301752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WEB SERVER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72600" y="3886200"/>
            <a:ext cx="0" cy="45720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863840" y="4343400"/>
            <a:ext cx="3017520" cy="914400"/>
          </a:xfrm>
          <a:prstGeom prst="roundRect">
            <a:avLst/>
          </a:prstGeom>
          <a:solidFill>
            <a:srgbClr val="37A064"/>
          </a:solidFill>
          <a:ln>
            <a:solidFill>
              <a:srgbClr val="37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8. DNS: Turning a Name Into an IP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03504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People prefer names such as example.com.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Computers communicate using IP addresses.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DNS means Domain Name System.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DNS looks up the IP address connected to a domain name.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The browser can then connect to the correct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508760"/>
            <a:ext cx="2286000" cy="82296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example.com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0" y="1920240"/>
            <a:ext cx="54864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149840" y="1508760"/>
            <a:ext cx="1417320" cy="82296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835640" y="2331720"/>
            <a:ext cx="0" cy="54864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915400" y="2880360"/>
            <a:ext cx="3657600" cy="86868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93.184.216.xxx</a:t>
            </a:r>
            <a:br/>
            <a:r>
              <a:t>(example format)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315200" y="3310128"/>
            <a:ext cx="160020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40680" y="2880360"/>
            <a:ext cx="1874519" cy="868680"/>
          </a:xfrm>
          <a:prstGeom prst="roundRect">
            <a:avLst/>
          </a:prstGeom>
          <a:solidFill>
            <a:srgbClr val="37A064"/>
          </a:solidFill>
          <a:ln>
            <a:solidFill>
              <a:srgbClr val="37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9. HTTP and HTTPS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347472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0F1E37"/>
                </a:solidFill>
                <a:latin typeface="Aptos Display"/>
              </a:defRPr>
            </a:pPr>
            <a:r>
              <a:t>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57400"/>
            <a:ext cx="4919472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837"/>
                </a:solidFill>
                <a:latin typeface="Aptos"/>
              </a:defRPr>
            </a:pPr>
            <a:r>
              <a:t>HTTP is a protocol for communication between a client and server.</a:t>
            </a:r>
            <a:br/>
            <a:br/>
            <a:r>
              <a:t>A request can ask for a page or data.</a:t>
            </a:r>
            <a:br/>
            <a:br/>
            <a:r>
              <a:t>A response can contain HTML, JSON, images, status codes and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73152" cy="347472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81912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0F1E37"/>
                </a:solidFill>
                <a:latin typeface="Aptos Display"/>
              </a:defRPr>
            </a:pPr>
            <a:r>
              <a:t>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057400"/>
            <a:ext cx="4919472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837"/>
                </a:solidFill>
                <a:latin typeface="Aptos"/>
              </a:defRPr>
            </a:pPr>
            <a:r>
              <a:t>HTTPS is HTTP protected with encryption using TLS.</a:t>
            </a:r>
            <a:br/>
            <a:br/>
            <a:r>
              <a:t>It helps protect data while it travels between the browser and server.</a:t>
            </a:r>
            <a:br/>
            <a:br/>
            <a:r>
              <a:t>Look for the security indicator in the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5166360"/>
            <a:ext cx="77724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5166360"/>
            <a:ext cx="73152" cy="7315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5330952"/>
            <a:ext cx="7388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Simple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5806440"/>
            <a:ext cx="7388352" cy="-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HTTP = communication  •  HTTPS = protected communication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10. Who Introduced the World Wide Web?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56032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TIM BERNERS-LEE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828800"/>
            <a:ext cx="1828800" cy="9144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1989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182880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1990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1828800" cy="9144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1991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2286000"/>
            <a:ext cx="36576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0" y="2286000"/>
            <a:ext cx="50292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01000" y="2286000"/>
            <a:ext cx="50292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33375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337560"/>
            <a:ext cx="73152" cy="141732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502152"/>
            <a:ext cx="2359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1989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977639"/>
            <a:ext cx="23591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He proposed the World Wide Web while working at CERN.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3375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3337560"/>
            <a:ext cx="73152" cy="141732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3502152"/>
            <a:ext cx="2359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1990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977639"/>
            <a:ext cx="23591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Work on the first browser and web server began.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3375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3337560"/>
            <a:ext cx="73152" cy="14173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3502152"/>
            <a:ext cx="2359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Around 1991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3977639"/>
            <a:ext cx="23591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The Web became available beyond the original development environment.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333756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21240" y="3337560"/>
            <a:ext cx="73152" cy="14173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22408" y="350215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1E37"/>
                </a:solidFill>
                <a:latin typeface="Aptos Display"/>
              </a:defRPr>
            </a:pPr>
            <a:r>
              <a:t>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3977639"/>
            <a:ext cx="1124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Share information using linked documents.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11. Internet vs World Wide Web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48920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73152" cy="411480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673351"/>
            <a:ext cx="45079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E37"/>
                </a:solidFill>
                <a:latin typeface="Aptos Display"/>
              </a:defRPr>
            </a:pPr>
            <a:r>
              <a:t>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148839"/>
            <a:ext cx="4507992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837"/>
                </a:solidFill>
                <a:latin typeface="Aptos"/>
              </a:defRPr>
            </a:pPr>
            <a:r>
              <a:t>The Internet is the global network of connected computers and devices.</a:t>
            </a:r>
            <a:br/>
            <a:br/>
            <a:r>
              <a:t>It supports many services, including:</a:t>
            </a:r>
            <a:br/>
            <a:r>
              <a:t>• Web</a:t>
            </a:r>
            <a:br/>
            <a:r>
              <a:t>• Email</a:t>
            </a:r>
            <a:br/>
            <a:r>
              <a:t>• File transfer</a:t>
            </a:r>
            <a:br/>
            <a:r>
              <a:t>• Voice/video services</a:t>
            </a:r>
            <a:br/>
            <a:r>
              <a:t>• Online games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08760"/>
            <a:ext cx="48920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508760"/>
            <a:ext cx="73152" cy="411480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673351"/>
            <a:ext cx="45079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E37"/>
                </a:solidFill>
                <a:latin typeface="Aptos Display"/>
              </a:defRPr>
            </a:pPr>
            <a:r>
              <a:t>World Wide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48839"/>
            <a:ext cx="4507992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837"/>
                </a:solidFill>
                <a:latin typeface="Aptos"/>
              </a:defRPr>
            </a:pPr>
            <a:r>
              <a:t>The Web is a service that runs on the Internet.</a:t>
            </a:r>
            <a:br/>
            <a:br/>
            <a:r>
              <a:t>It uses technologies such as:</a:t>
            </a:r>
            <a:br/>
            <a:r>
              <a:t>• URLs</a:t>
            </a:r>
            <a:br/>
            <a:r>
              <a:t>• HTTP/HTTPS</a:t>
            </a:r>
            <a:br/>
            <a:r>
              <a:t>• HTML</a:t>
            </a:r>
            <a:br/>
            <a:r>
              <a:t>• Web browsers</a:t>
            </a:r>
            <a:br/>
            <a:r>
              <a:t>• Web servers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12. Front-End vs Back-End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8191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E37"/>
                </a:solidFill>
                <a:latin typeface="Aptos Display"/>
              </a:defRPr>
            </a:pPr>
            <a:r>
              <a:t>FRONT-END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57400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837"/>
                </a:solidFill>
                <a:latin typeface="Aptos"/>
              </a:defRPr>
            </a:pPr>
            <a:r>
              <a:t>Runs mainly in the browser.</a:t>
            </a:r>
            <a:br/>
            <a:br/>
            <a:r>
              <a:t>Main technologies:</a:t>
            </a:r>
            <a:br/>
            <a:r>
              <a:t>HTML • CSS • JavaScript</a:t>
            </a:r>
            <a:br/>
            <a:br/>
            <a:r>
              <a:t>Main work:</a:t>
            </a:r>
            <a:br/>
            <a:r>
              <a:t>• Layout and design</a:t>
            </a:r>
            <a:br/>
            <a:r>
              <a:t>• Forms and buttons</a:t>
            </a:r>
            <a:br/>
            <a:r>
              <a:t>• User interaction</a:t>
            </a:r>
            <a:br/>
            <a:r>
              <a:t>• Displaying data</a:t>
            </a:r>
            <a:br/>
            <a:r>
              <a:t>• Calling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17320"/>
            <a:ext cx="73152" cy="448056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58191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E37"/>
                </a:solidFill>
                <a:latin typeface="Aptos Display"/>
              </a:defRPr>
            </a:pPr>
            <a:r>
              <a:t>BACK-END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057400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837"/>
                </a:solidFill>
                <a:latin typeface="Aptos"/>
              </a:defRPr>
            </a:pPr>
            <a:r>
              <a:t>Runs on the server.</a:t>
            </a:r>
            <a:br/>
            <a:br/>
            <a:r>
              <a:t>Common technologies:</a:t>
            </a:r>
            <a:br/>
            <a:r>
              <a:t>Node.js • Python • Java • PHP • .NET</a:t>
            </a:r>
            <a:br/>
            <a:br/>
            <a:r>
              <a:t>Main work:</a:t>
            </a:r>
            <a:br/>
            <a:r>
              <a:t>• Business rules</a:t>
            </a:r>
            <a:br/>
            <a:r>
              <a:t>• Login/authentication</a:t>
            </a:r>
            <a:br/>
            <a:r>
              <a:t>• API endpoints</a:t>
            </a:r>
            <a:br/>
            <a:r>
              <a:t>• Database access</a:t>
            </a:r>
            <a:br/>
            <a:r>
              <a:t>• Server-side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13. What Is an API?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943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API means Application Programming Interface.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An API lets one software system request data or actions from another system.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Web APIs commonly use HTTP requests and return data such as JSON.</a:t>
            </a:r>
          </a:p>
          <a:p>
            <a:pPr>
              <a:spcAft>
                <a:spcPts val="10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t>• Example: a weather app can ask a weather API for today's temperature.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00200"/>
            <a:ext cx="192024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WEB APP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235440" y="2057400"/>
            <a:ext cx="73152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966960" y="1600200"/>
            <a:ext cx="1508760" cy="9144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16768" y="2514600"/>
            <a:ext cx="0" cy="54864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778240" y="3063240"/>
            <a:ext cx="365760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SERVICE / DATABASE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315200" y="3520440"/>
            <a:ext cx="146304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0" y="3063240"/>
            <a:ext cx="1645920" cy="9144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14. Database: Where Data Is Stored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81912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0F1E37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57400"/>
            <a:ext cx="3273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837"/>
                </a:solidFill>
                <a:latin typeface="Aptos"/>
              </a:defRPr>
            </a:pPr>
            <a:r>
              <a:t>A database stores information in an organized way.</a:t>
            </a:r>
            <a:br/>
            <a:br/>
            <a:r>
              <a:t>Examples:</a:t>
            </a:r>
            <a:br/>
            <a:r>
              <a:t>• Student records</a:t>
            </a:r>
            <a:br/>
            <a:r>
              <a:t>• Product details</a:t>
            </a:r>
            <a:br/>
            <a:r>
              <a:t>• User accounts</a:t>
            </a:r>
            <a:br/>
            <a:r>
              <a:t>• Orders</a:t>
            </a:r>
            <a:br/>
            <a:r>
              <a:t>• Marks and attendance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417320"/>
            <a:ext cx="31089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417320"/>
            <a:ext cx="73152" cy="429768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581912"/>
            <a:ext cx="2724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1E37"/>
                </a:solidFill>
                <a:latin typeface="Aptos Display"/>
              </a:defRPr>
            </a:pPr>
            <a:r>
              <a:t>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057400"/>
            <a:ext cx="272491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837"/>
                </a:solidFill>
                <a:latin typeface="Aptos"/>
              </a:defRPr>
            </a:pPr>
            <a:r>
              <a:t>A table stores related data.</a:t>
            </a:r>
            <a:br/>
            <a:br/>
            <a:r>
              <a:t>Example: STUDENTS</a:t>
            </a:r>
            <a:br/>
            <a:br/>
            <a:r>
              <a:t>ID | Name | Course</a:t>
            </a:r>
            <a:br/>
            <a:r>
              <a:t>1 | Ravi | BCA</a:t>
            </a:r>
            <a:br/>
            <a:r>
              <a:t>2 | Asha | BSc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1417320"/>
            <a:ext cx="73152" cy="429768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1581912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0F1E37"/>
                </a:solidFill>
                <a:latin typeface="Aptos Display"/>
              </a:defRPr>
            </a:pPr>
            <a:r>
              <a:t>Common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057400"/>
            <a:ext cx="318211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837"/>
                </a:solidFill>
                <a:latin typeface="Aptos"/>
              </a:defRPr>
            </a:pPr>
            <a:r>
              <a:t>CRUD means:</a:t>
            </a:r>
            <a:br/>
            <a:br/>
            <a:r>
              <a:t>Create</a:t>
            </a:r>
            <a:br/>
            <a:r>
              <a:t>Read</a:t>
            </a:r>
            <a:br/>
            <a:r>
              <a:t>Update</a:t>
            </a:r>
            <a:br/>
            <a:r>
              <a:t>Delete</a:t>
            </a:r>
            <a:br/>
            <a:br/>
            <a:r>
              <a:t>These operations are used in many applications.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15. Workflow: What Happens During Login?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645920"/>
            <a:ext cx="1600200" cy="96012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Enter email</a:t>
            </a:r>
            <a:br/>
            <a:r>
              <a:t>+ password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2121408"/>
            <a:ext cx="36576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306324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3063240"/>
            <a:ext cx="73152" cy="132588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3227832"/>
            <a:ext cx="1216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703320"/>
            <a:ext cx="12161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645920"/>
            <a:ext cx="1600200" cy="96012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Submit 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121408"/>
            <a:ext cx="365761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40" y="306324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3063240"/>
            <a:ext cx="73152" cy="132588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3227832"/>
            <a:ext cx="1216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703320"/>
            <a:ext cx="12161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45920"/>
            <a:ext cx="1600200" cy="96012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Server validates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121408"/>
            <a:ext cx="36576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43400" y="306324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063240"/>
            <a:ext cx="73152" cy="132588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227832"/>
            <a:ext cx="1216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703320"/>
            <a:ext cx="12161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645920"/>
            <a:ext cx="1600200" cy="96012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Database checks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09559" y="2121408"/>
            <a:ext cx="36576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09359" y="306324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3063240"/>
            <a:ext cx="73152" cy="13258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3227832"/>
            <a:ext cx="1216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3703320"/>
            <a:ext cx="12161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1645920"/>
            <a:ext cx="1600200" cy="960120"/>
          </a:xfrm>
          <a:prstGeom prst="roundRect">
            <a:avLst/>
          </a:prstGeom>
          <a:solidFill>
            <a:srgbClr val="37A064"/>
          </a:solidFill>
          <a:ln>
            <a:solidFill>
              <a:srgbClr val="37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Server returns result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75519" y="2121408"/>
            <a:ext cx="365761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75319" y="306324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3063240"/>
            <a:ext cx="73152" cy="132588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227832"/>
            <a:ext cx="1216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3703320"/>
            <a:ext cx="12161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Step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1645920"/>
            <a:ext cx="1600200" cy="960120"/>
          </a:xfrm>
          <a:prstGeom prst="roundRect">
            <a:avLst/>
          </a:prstGeom>
          <a:solidFill>
            <a:srgbClr val="41B4CD"/>
          </a:solidFill>
          <a:ln>
            <a:solidFill>
              <a:srgbClr val="41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User sees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306324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41280" y="3063240"/>
            <a:ext cx="73152" cy="1325880"/>
          </a:xfrm>
          <a:prstGeom prst="rect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42448" y="3227832"/>
            <a:ext cx="1216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E37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8" y="3703320"/>
            <a:ext cx="12161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  <a:latin typeface="Aptos"/>
              </a:defRPr>
            </a:pPr>
            <a:r>
              <a:t>Step 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4983480"/>
            <a:ext cx="8138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11680" y="4983480"/>
            <a:ext cx="73152" cy="777240"/>
          </a:xfrm>
          <a:prstGeom prst="rect">
            <a:avLst/>
          </a:prstGeom>
          <a:solidFill>
            <a:srgbClr val="D7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12848" y="5148072"/>
            <a:ext cx="7754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Security note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12848" y="5623560"/>
            <a:ext cx="775411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Passwords should be stored using secure password hashing, not as plain text.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16. Form Validation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201168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USER INPUT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88920" y="2286000"/>
            <a:ext cx="6400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29000" y="1828800"/>
            <a:ext cx="2286000" cy="9144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CLIENT CHECK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" y="2286000"/>
            <a:ext cx="6400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55080" y="1828800"/>
            <a:ext cx="228600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SERVER CHECK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41080" y="2286000"/>
            <a:ext cx="6400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81160" y="1828800"/>
            <a:ext cx="2011680" cy="9144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SAVE / REJECT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73152" cy="132588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822191"/>
            <a:ext cx="2724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Client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297680"/>
            <a:ext cx="27249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Required fields, format, length.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65760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3657600"/>
            <a:ext cx="73152" cy="132588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3822191"/>
            <a:ext cx="2724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Server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297680"/>
            <a:ext cx="27249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Never trust only browser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65760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657600"/>
            <a:ext cx="73152" cy="132588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3822191"/>
            <a:ext cx="2724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297680"/>
            <a:ext cx="27249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Show success or clear error.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17. Simple Project Folder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5029200" cy="4480560"/>
          </a:xfrm>
          <a:prstGeom prst="roundRect">
            <a:avLst/>
          </a:prstGeom>
          <a:solidFill>
            <a:srgbClr val="1B2230"/>
          </a:solidFill>
          <a:ln>
            <a:solidFill>
              <a:srgbClr val="3C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517904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my-website/</a:t>
            </a:r>
            <a:br/>
            <a:r>
              <a:t>│</a:t>
            </a:r>
            <a:br/>
            <a:r>
              <a:t>├── index.html</a:t>
            </a:r>
            <a:br/>
            <a:r>
              <a:t>├── about.html</a:t>
            </a:r>
            <a:br/>
            <a:r>
              <a:t>├── css/</a:t>
            </a:r>
            <a:br/>
            <a:r>
              <a:t>│   └── style.css</a:t>
            </a:r>
            <a:br/>
            <a:r>
              <a:t>├── js/</a:t>
            </a:r>
            <a:br/>
            <a:r>
              <a:t>│   └── script.js</a:t>
            </a:r>
            <a:br/>
            <a:r>
              <a:t>├── images/</a:t>
            </a:r>
            <a:br/>
            <a:r>
              <a:t>│   └── logo.png</a:t>
            </a:r>
            <a:br/>
            <a:r>
              <a:t>└── 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508760"/>
            <a:ext cx="50292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index.html → main page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about.html → another page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css/ → CSS files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js/ → JavaScript files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images/ → pictures and icons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README.md → project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18. Example: Simple Student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210312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LOGIN PAGE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88920" y="2377440"/>
            <a:ext cx="68580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74720" y="1920240"/>
            <a:ext cx="2194560" cy="9144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377440"/>
            <a:ext cx="68580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55080" y="1920240"/>
            <a:ext cx="210312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API / SERVER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2377440"/>
            <a:ext cx="68580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0" y="1920240"/>
            <a:ext cx="2286000" cy="9144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2862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97680"/>
            <a:ext cx="28620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Login, profile, marks,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657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3657600"/>
            <a:ext cx="73152" cy="14173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3822191"/>
            <a:ext cx="2862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Front-End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4297680"/>
            <a:ext cx="28620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HTML + CSS + JavaScript.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57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3822191"/>
            <a:ext cx="2862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Back-End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4297680"/>
            <a:ext cx="28620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API + validation + database.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19. Common Types of Websites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164592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F1E37"/>
                </a:solidFill>
                <a:latin typeface="Aptos Display"/>
              </a:defRPr>
            </a:pPr>
            <a:r>
              <a:t>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574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Shows a person's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16459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F1E37"/>
                </a:solidFill>
                <a:latin typeface="Aptos Display"/>
              </a:defRPr>
            </a:pPr>
            <a: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574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Company information and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73152" cy="16459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F1E37"/>
                </a:solidFill>
                <a:latin typeface="Aptos Display"/>
              </a:defRPr>
            </a:pPr>
            <a:r>
              <a:t>E-Commerce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0574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Products, cart and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164592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F1E37"/>
                </a:solidFill>
                <a:latin typeface="Aptos Display"/>
              </a:defRPr>
            </a:pPr>
            <a:r>
              <a:t>Blog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1148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Articles and posts.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474720"/>
            <a:ext cx="73152" cy="164592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F1E37"/>
                </a:solidFill>
                <a:latin typeface="Aptos Display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1148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Courses, lessons and student tools.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474720"/>
            <a:ext cx="73152" cy="1645920"/>
          </a:xfrm>
          <a:prstGeom prst="rect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F1E37"/>
                </a:solidFill>
                <a:latin typeface="Aptos Display"/>
              </a:defRPr>
            </a:pPr>
            <a:r>
              <a:t>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41148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Profiles, posts and communication.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20. Responsive Web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920240"/>
            <a:ext cx="219456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1920240"/>
            <a:ext cx="2194560" cy="9144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TABLET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920240"/>
            <a:ext cx="219456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MOBILE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2377440"/>
            <a:ext cx="73152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97880" y="2377440"/>
            <a:ext cx="73152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555480" y="1920240"/>
            <a:ext cx="1828800" cy="9144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CSS</a:t>
            </a:r>
            <a:br/>
            <a:r>
              <a:t>MEDIA QUERIES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2377440"/>
            <a:ext cx="73152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749039"/>
            <a:ext cx="1014984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Responsive design makes a website adapt to different screen sizes.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Use flexible layouts, relative units, images that can resize, and media queries.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Always test a page on desktop and mobile sizes.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21. Basic Web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164592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HTTPS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574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Encrypt data in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1645920"/>
          </a:xfrm>
          <a:prstGeom prst="rect">
            <a:avLst/>
          </a:prstGeom>
          <a:solidFill>
            <a:srgbClr val="D7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Passwords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574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Use secure hashing; never plain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73152" cy="16459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5819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0574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Check input on client and server.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164592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1148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Verify who the user 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474720"/>
            <a:ext cx="73152" cy="164592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1148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Check what the user can access.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474720"/>
            <a:ext cx="73152" cy="16459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411480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Keep software and dependencies updated.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22. Tools Beginners Commonly 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3152" cy="182880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3619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1E37"/>
                </a:solidFill>
                <a:latin typeface="Aptos Display"/>
              </a:defRPr>
            </a:pPr>
            <a:r>
              <a:t>Code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11680"/>
            <a:ext cx="30449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VS Code or another editor.</a:t>
            </a:r>
            <a:br/>
            <a:r>
              <a:t>Write HTML, CSS, JS and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3619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1E37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11680"/>
            <a:ext cx="30449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Chrome, Edge, Firefox or Safari.</a:t>
            </a:r>
            <a:br/>
            <a:r>
              <a:t>Use DevTools to inspect pages.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73152" cy="182880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53619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1E37"/>
                </a:solidFill>
                <a:latin typeface="Aptos Display"/>
              </a:defRPr>
            </a:pPr>
            <a:r>
              <a:t>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11680"/>
            <a:ext cx="30449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Run commands and development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182880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1E37"/>
                </a:solidFill>
                <a:latin typeface="Aptos Display"/>
              </a:defRPr>
            </a:pPr>
            <a:r>
              <a:t>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114800"/>
            <a:ext cx="30449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Tracks code changes and helps teamwork.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474720"/>
            <a:ext cx="73152" cy="182880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1E37"/>
                </a:solidFill>
                <a:latin typeface="Aptos Display"/>
              </a:defRPr>
            </a:pPr>
            <a:r>
              <a:t>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114800"/>
            <a:ext cx="30449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Stores and shares Git repositories.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474720"/>
            <a:ext cx="73152" cy="1828800"/>
          </a:xfrm>
          <a:prstGeom prst="rect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363931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1E37"/>
                </a:solidFill>
                <a:latin typeface="Aptos Display"/>
              </a:defRPr>
            </a:pPr>
            <a:r>
              <a:t>DevTools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4114800"/>
            <a:ext cx="30449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837"/>
                </a:solidFill>
                <a:latin typeface="Aptos"/>
              </a:defRPr>
            </a:pPr>
            <a:r>
              <a:t>Inspect HTML/CSS, debug JS, view network requests.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23. Beginner 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  <a:latin typeface="Aptos"/>
              </a:defRPr>
            </a:pPr>
            <a:r>
              <a:t>Learn in an order that builds one skill on top of another.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94360" cy="59436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3258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1325880"/>
            <a:ext cx="73152" cy="132588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8" y="149047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96596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594360" cy="59436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258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325880"/>
            <a:ext cx="73152" cy="132588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49047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96596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94360" cy="59436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59" y="13258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59" y="1325880"/>
            <a:ext cx="73152" cy="132588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7" y="149047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196596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594360" cy="59436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3258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1325880"/>
            <a:ext cx="73152" cy="132588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6688" y="149047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196596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Version 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66160"/>
            <a:ext cx="594360" cy="59436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352044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4440" y="3520440"/>
            <a:ext cx="73152" cy="13258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5608" y="368503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" y="416052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Connect services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566160"/>
            <a:ext cx="594360" cy="59436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352044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520440"/>
            <a:ext cx="73152" cy="13258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368503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Back-End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16052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Server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566160"/>
            <a:ext cx="594360" cy="59436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95159" y="352044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95159" y="3520440"/>
            <a:ext cx="73152" cy="13258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96327" y="368503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7" y="416052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Store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3566160"/>
            <a:ext cx="594360" cy="59436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352044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75520" y="3520440"/>
            <a:ext cx="73152" cy="13258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76688" y="368503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E37"/>
                </a:solidFill>
                <a:latin typeface="Aptos Display"/>
              </a:defRPr>
            </a:pPr>
            <a:r>
              <a:t>Projects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76688" y="4160520"/>
            <a:ext cx="1627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7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24. Full Web Application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5960"/>
            <a:ext cx="1508760" cy="82296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2377440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23160" y="1965960"/>
            <a:ext cx="1508760" cy="82296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377440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43400" y="1965960"/>
            <a:ext cx="1508760" cy="822960"/>
          </a:xfrm>
          <a:prstGeom prst="roundRect">
            <a:avLst/>
          </a:prstGeom>
          <a:solidFill>
            <a:srgbClr val="41B4CD"/>
          </a:solidFill>
          <a:ln>
            <a:solidFill>
              <a:srgbClr val="41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FRONT-END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2377440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63640" y="1965960"/>
            <a:ext cx="1508760" cy="82296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0" y="2377440"/>
            <a:ext cx="411479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79" y="1965960"/>
            <a:ext cx="1508760" cy="82296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BACK-END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92640" y="2377440"/>
            <a:ext cx="41148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04120" y="1965960"/>
            <a:ext cx="1508760" cy="822960"/>
          </a:xfrm>
          <a:prstGeom prst="roundRect">
            <a:avLst/>
          </a:prstGeom>
          <a:solidFill>
            <a:srgbClr val="37A064"/>
          </a:solidFill>
          <a:ln>
            <a:solidFill>
              <a:srgbClr val="37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9144000" y="2880360"/>
            <a:ext cx="1691640" cy="1097279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263640" y="3977639"/>
            <a:ext cx="1920239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343400" y="3977639"/>
            <a:ext cx="192024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423160" y="3977639"/>
            <a:ext cx="1920240" cy="0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261872" y="2788920"/>
            <a:ext cx="1161288" cy="1188719"/>
          </a:xfrm>
          <a:prstGeom prst="line">
            <a:avLst/>
          </a:prstGeom>
          <a:ln w="27940">
            <a:solidFill>
              <a:srgbClr val="5A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54880" y="3520440"/>
            <a:ext cx="3291840" cy="914400"/>
          </a:xfrm>
          <a:prstGeom prst="roundRect">
            <a:avLst/>
          </a:prstGeom>
          <a:solidFill>
            <a:srgbClr val="0F1E37"/>
          </a:solidFill>
          <a:ln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RESPONSE RETURNS TO 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7492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5074920"/>
            <a:ext cx="73152" cy="77724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239512"/>
            <a:ext cx="9674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Big picture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715000"/>
            <a:ext cx="967435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Request → Process → Data → Response → Render → User sees the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25. Tiny Example: HTML + CSS + JavaScript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49240" cy="4526280"/>
          </a:xfrm>
          <a:prstGeom prst="roundRect">
            <a:avLst/>
          </a:prstGeom>
          <a:solidFill>
            <a:srgbClr val="1B2230"/>
          </a:solidFill>
          <a:ln>
            <a:solidFill>
              <a:srgbClr val="3C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1472184"/>
            <a:ext cx="494690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&lt;button id="btn"&gt;Click Me&lt;/button&gt;</a:t>
            </a:r>
            <a:br/>
            <a:br/>
            <a:r>
              <a:t>&lt;style&gt;</a:t>
            </a:r>
            <a:br/>
            <a:r>
              <a:t>button { padding: 12px; }</a:t>
            </a:r>
            <a:br/>
            <a:r>
              <a:t>&lt;/style&gt;</a:t>
            </a:r>
            <a:br/>
            <a:br/>
            <a:r>
              <a:t>&lt;script&gt;</a:t>
            </a:r>
            <a:br/>
            <a:r>
              <a:t>document.getElementById("btn")</a:t>
            </a:r>
            <a:br/>
            <a:r>
              <a:t>  .onclick = () =&gt; alert("Hello!");</a:t>
            </a:r>
            <a:br/>
            <a:r>
              <a:t>&lt;/script&gt;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08760"/>
            <a:ext cx="48463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HTML creates the button.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CSS gives the button spacing and appearance.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JavaScript listens for the click.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The alert appears after the user clicks.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26. Common Beginner Mistakes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" cy="1600200"/>
          </a:xfrm>
          <a:prstGeom prst="rect">
            <a:avLst/>
          </a:prstGeom>
          <a:solidFill>
            <a:srgbClr val="D7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9047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Too much code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65960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Start with small programs and understand each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73152" cy="160020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49047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Ignoring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965960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Read browser console and error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73152" cy="1600200"/>
          </a:xfrm>
          <a:prstGeom prst="rect">
            <a:avLst/>
          </a:prstGeom>
          <a:solidFill>
            <a:srgbClr val="2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49047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Only watching tutorials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965960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Build small projects after every topic.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91839"/>
            <a:ext cx="73152" cy="160020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45643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No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931920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Type the code yourself instead of only copying.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2918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291839"/>
            <a:ext cx="73152" cy="1600200"/>
          </a:xfrm>
          <a:prstGeom prst="rect">
            <a:avLst/>
          </a:prstGeom>
          <a:solidFill>
            <a:srgbClr val="7D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45643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No responsive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3931920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Check desktop, tablet and mobile sizes.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2918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291839"/>
            <a:ext cx="73152" cy="1600200"/>
          </a:xfrm>
          <a:prstGeom prst="rect">
            <a:avLst/>
          </a:prstGeom>
          <a:solidFill>
            <a:srgbClr val="37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3456432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E37"/>
                </a:solidFill>
                <a:latin typeface="Aptos Display"/>
              </a:defRPr>
            </a:pPr>
            <a:r>
              <a:t>Skipping Git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931920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37"/>
                </a:solidFill>
                <a:latin typeface="Aptos"/>
              </a:defRPr>
            </a:pPr>
            <a:r>
              <a:t>Learn basic commits and version control early.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E37"/>
                </a:solidFill>
                <a:latin typeface="Aptos Display"/>
              </a:defRPr>
            </a:pPr>
            <a:r>
              <a:t>27. 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HTML = structure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CSS = design and layout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JavaScript = behavior and interaction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Browser = software that displays web pages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Server = receives requests and sends responses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DNS = domain name to IP lookup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HTTP/HTTPS = communication protocols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API = a way for software systems to communicate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Database = organized data storage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Front-end = user-facing part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Back-end = server-side logic</a:t>
            </a:r>
          </a:p>
          <a:p>
            <a:pPr>
              <a:spcAft>
                <a:spcPts val="10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t>• Responsive design = works across screen sizes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28.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Remember this simple flow: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9144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286000"/>
            <a:ext cx="594360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154680" y="1828800"/>
            <a:ext cx="1828800" cy="914400"/>
          </a:xfrm>
          <a:prstGeom prst="roundRect">
            <a:avLst/>
          </a:prstGeom>
          <a:solidFill>
            <a:srgbClr val="199B91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BROWSER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2286000"/>
            <a:ext cx="594360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77840" y="1828800"/>
            <a:ext cx="1828800" cy="914400"/>
          </a:xfrm>
          <a:prstGeom prst="roundRect">
            <a:avLst/>
          </a:prstGeom>
          <a:solidFill>
            <a:srgbClr val="7D5AB4"/>
          </a:solidFill>
          <a:ln>
            <a:solidFill>
              <a:srgbClr val="7D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SERVER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2286000"/>
            <a:ext cx="594360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01000" y="1828800"/>
            <a:ext cx="1828800" cy="9144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886200"/>
            <a:ext cx="9784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3886200"/>
            <a:ext cx="73152" cy="123444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4050791"/>
            <a:ext cx="9400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1E37"/>
                </a:solidFill>
                <a:latin typeface="Aptos Display"/>
              </a:defRPr>
            </a:pPr>
            <a: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526280"/>
            <a:ext cx="9400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837"/>
                </a:solidFill>
                <a:latin typeface="Aptos"/>
              </a:defRPr>
            </a:pPr>
            <a:r>
              <a:t>Build the page → style the page → add interaction → connect to server → store data → secure and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5778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Learn • Practice • Build Projects • Debug • Improve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1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6568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D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
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rimson Pro Bold" charset="1" panose="00000000000000000000"/>
      <p:regular r:id="rId34"/>
    </p:embeddedFont>
    <p:embeddedFont>
      <p:font typeface="Open Sans" charset="1" panose="00000000000000000000"/>
      <p:regular r:id="rId35"/>
    </p:embeddedFont>
    <p:embeddedFont>
      <p:font typeface="Consolas" charset="1" panose="020B0609020204030204"/>
      <p:regular r:id="rId37"/>
    </p:embeddedFont>
    <p:embeddedFont>
      <p:font typeface="Open Sans Bold" charset="1" panose="00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58" Target="notesSlides/notesSlide22.xml" Type="http://schemas.openxmlformats.org/officeDocument/2006/relationships/notesSlide"/><Relationship Id="rId59" Target="notesSlides/notesSlide23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4.xml" Type="http://schemas.openxmlformats.org/officeDocument/2006/relationships/notesSlide"/><Relationship Id="rId61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0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1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jpeg" Type="http://schemas.openxmlformats.org/officeDocument/2006/relationships/image"/><Relationship Id="rId7" Target="../media/image27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8.png" Type="http://schemas.openxmlformats.org/officeDocument/2006/relationships/image"/><Relationship Id="rId4" Target="../media/image29.jpe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31.jpe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79696" y="2957360"/>
            <a:ext cx="2658066" cy="842515"/>
            <a:chOff x="0" y="0"/>
            <a:chExt cx="3544087" cy="112335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186980"/>
            <a:ext cx="9445523" cy="18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Master NumPy: A Step-by-Step Teaching Guide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33650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18 Steps — From Python Lists to Real-World Projects | Beginner Friendly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8934"/>
            <a:chOff x="0" y="0"/>
            <a:chExt cx="9144000" cy="1371857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8539"/>
            </a:xfrm>
            <a:custGeom>
              <a:avLst/>
              <a:gdLst/>
              <a:ahLst/>
              <a:cxnLst/>
              <a:rect r="r" b="b" t="t" l="l"/>
              <a:pathLst>
                <a:path h="13718539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8539"/>
                  </a:lnTo>
                  <a:lnTo>
                    <a:pt x="0" y="1371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" r="0" b="-3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60688" y="779707"/>
            <a:ext cx="2035073" cy="645023"/>
            <a:chOff x="0" y="0"/>
            <a:chExt cx="2713431" cy="86003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713482" cy="860044"/>
            </a:xfrm>
            <a:custGeom>
              <a:avLst/>
              <a:gdLst/>
              <a:ahLst/>
              <a:cxnLst/>
              <a:rect r="r" b="b" t="t" l="l"/>
              <a:pathLst>
                <a:path h="860044" w="2713482">
                  <a:moveTo>
                    <a:pt x="0" y="0"/>
                  </a:moveTo>
                  <a:lnTo>
                    <a:pt x="2713482" y="0"/>
                  </a:lnTo>
                  <a:lnTo>
                    <a:pt x="2713482" y="860044"/>
                  </a:lnTo>
                  <a:lnTo>
                    <a:pt x="0" y="86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6" r="1" b="-12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0238" y="1611659"/>
            <a:ext cx="1924498" cy="329803"/>
            <a:chOff x="0" y="0"/>
            <a:chExt cx="2565997" cy="439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6035" cy="439801"/>
            </a:xfrm>
            <a:custGeom>
              <a:avLst/>
              <a:gdLst/>
              <a:ahLst/>
              <a:cxnLst/>
              <a:rect r="r" b="b" t="t" l="l"/>
              <a:pathLst>
                <a:path h="439801" w="2566035">
                  <a:moveTo>
                    <a:pt x="0" y="97282"/>
                  </a:moveTo>
                  <a:cubicBezTo>
                    <a:pt x="0" y="43561"/>
                    <a:pt x="43561" y="0"/>
                    <a:pt x="97282" y="0"/>
                  </a:cubicBezTo>
                  <a:lnTo>
                    <a:pt x="2468753" y="0"/>
                  </a:lnTo>
                  <a:cubicBezTo>
                    <a:pt x="2522474" y="0"/>
                    <a:pt x="2566035" y="43561"/>
                    <a:pt x="2566035" y="97282"/>
                  </a:cubicBezTo>
                  <a:lnTo>
                    <a:pt x="2566035" y="342519"/>
                  </a:lnTo>
                  <a:cubicBezTo>
                    <a:pt x="2566035" y="396240"/>
                    <a:pt x="2522474" y="439801"/>
                    <a:pt x="2468753" y="439801"/>
                  </a:cubicBezTo>
                  <a:lnTo>
                    <a:pt x="97282" y="439801"/>
                  </a:lnTo>
                  <a:cubicBezTo>
                    <a:pt x="43561" y="439801"/>
                    <a:pt x="0" y="396240"/>
                    <a:pt x="0" y="342519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464" y="1676695"/>
            <a:ext cx="2578446" cy="19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1 · 10 MINUTES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8" y="1979266"/>
            <a:ext cx="9445523" cy="70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What is NumPy?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50238" y="2935491"/>
            <a:ext cx="9445523" cy="730596"/>
            <a:chOff x="0" y="0"/>
            <a:chExt cx="12594031" cy="97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3955" cy="974090"/>
            </a:xfrm>
            <a:custGeom>
              <a:avLst/>
              <a:gdLst/>
              <a:ahLst/>
              <a:cxnLst/>
              <a:rect r="r" b="b" t="t" l="l"/>
              <a:pathLst>
                <a:path h="974090" w="12593955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12472416" y="0"/>
                  </a:lnTo>
                  <a:cubicBezTo>
                    <a:pt x="12539599" y="0"/>
                    <a:pt x="12593955" y="54483"/>
                    <a:pt x="12593955" y="121539"/>
                  </a:cubicBezTo>
                  <a:lnTo>
                    <a:pt x="12593955" y="852551"/>
                  </a:lnTo>
                  <a:cubicBezTo>
                    <a:pt x="12593955" y="919734"/>
                    <a:pt x="12539473" y="974090"/>
                    <a:pt x="12472416" y="974090"/>
                  </a:cubicBezTo>
                  <a:lnTo>
                    <a:pt x="121539" y="974090"/>
                  </a:lnTo>
                  <a:cubicBezTo>
                    <a:pt x="54483" y="974090"/>
                    <a:pt x="0" y="919734"/>
                    <a:pt x="0" y="852551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67227" y="3175397"/>
            <a:ext cx="271310" cy="216989"/>
            <a:chOff x="0" y="0"/>
            <a:chExt cx="361747" cy="28931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361696" cy="289306"/>
            </a:xfrm>
            <a:custGeom>
              <a:avLst/>
              <a:gdLst/>
              <a:ahLst/>
              <a:cxnLst/>
              <a:rect r="r" b="b" t="t" l="l"/>
              <a:pathLst>
                <a:path h="289306" w="361696">
                  <a:moveTo>
                    <a:pt x="0" y="0"/>
                  </a:moveTo>
                  <a:lnTo>
                    <a:pt x="361696" y="0"/>
                  </a:lnTo>
                  <a:lnTo>
                    <a:pt x="361696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21" t="0" r="-435" b="-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55536" y="3117656"/>
            <a:ext cx="9437637" cy="34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Ask students — "If we already have Python lists, why do we need NumPy?"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0238" y="3990527"/>
            <a:ext cx="4457995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Python List 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50238" y="4486123"/>
            <a:ext cx="5372395" cy="34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Start with a simple list of numbers: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50238" y="5017741"/>
            <a:ext cx="4457995" cy="1476080"/>
            <a:chOff x="0" y="0"/>
            <a:chExt cx="5943994" cy="19681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981" cy="1968119"/>
            </a:xfrm>
            <a:custGeom>
              <a:avLst/>
              <a:gdLst/>
              <a:ahLst/>
              <a:cxnLst/>
              <a:rect r="r" b="b" t="t" l="l"/>
              <a:pathLst>
                <a:path h="1968119" w="5943981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5822442" y="0"/>
                  </a:lnTo>
                  <a:cubicBezTo>
                    <a:pt x="5889625" y="0"/>
                    <a:pt x="5943981" y="54483"/>
                    <a:pt x="5943981" y="121539"/>
                  </a:cubicBezTo>
                  <a:lnTo>
                    <a:pt x="5943981" y="1846580"/>
                  </a:lnTo>
                  <a:cubicBezTo>
                    <a:pt x="5943981" y="1913763"/>
                    <a:pt x="5889498" y="1968119"/>
                    <a:pt x="5822442" y="1968119"/>
                  </a:cubicBezTo>
                  <a:lnTo>
                    <a:pt x="121539" y="1968119"/>
                  </a:lnTo>
                  <a:cubicBezTo>
                    <a:pt x="54356" y="1968119"/>
                    <a:pt x="0" y="1913636"/>
                    <a:pt x="0" y="184658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110690" y="5129955"/>
            <a:ext cx="3937102" cy="114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numbers = [10, 20, 30, 40, 50]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print(numbers)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Output: [10, 20, 30, 40, 50]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50238" y="6642649"/>
            <a:ext cx="4457995" cy="110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Now ask: </a:t>
            </a:r>
            <a:r>
              <a:rPr lang="en-US" sz="17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"Can we multiply every value by 2?"</a:t>
            </a:r>
          </a:p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Students usually try: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50238" y="7937002"/>
            <a:ext cx="4457995" cy="781345"/>
            <a:chOff x="0" y="0"/>
            <a:chExt cx="5943994" cy="10417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3981" cy="1041781"/>
            </a:xfrm>
            <a:custGeom>
              <a:avLst/>
              <a:gdLst/>
              <a:ahLst/>
              <a:cxnLst/>
              <a:rect r="r" b="b" t="t" l="l"/>
              <a:pathLst>
                <a:path h="1041781" w="5943981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5822442" y="0"/>
                  </a:lnTo>
                  <a:cubicBezTo>
                    <a:pt x="5889625" y="0"/>
                    <a:pt x="5943981" y="54483"/>
                    <a:pt x="5943981" y="121539"/>
                  </a:cubicBezTo>
                  <a:lnTo>
                    <a:pt x="5943981" y="920242"/>
                  </a:lnTo>
                  <a:cubicBezTo>
                    <a:pt x="5943981" y="987425"/>
                    <a:pt x="5889498" y="1041781"/>
                    <a:pt x="5822442" y="1041781"/>
                  </a:cubicBezTo>
                  <a:lnTo>
                    <a:pt x="121539" y="1041781"/>
                  </a:lnTo>
                  <a:cubicBezTo>
                    <a:pt x="54483" y="1041781"/>
                    <a:pt x="0" y="987425"/>
                    <a:pt x="0" y="920242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110690" y="8049225"/>
            <a:ext cx="4851502" cy="45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numbers *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47291" y="3990527"/>
            <a:ext cx="4457995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Actual vs. Expected Output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47291" y="4486123"/>
            <a:ext cx="5372395" cy="34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Python actually does: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847291" y="5017741"/>
            <a:ext cx="4457995" cy="1476080"/>
            <a:chOff x="0" y="0"/>
            <a:chExt cx="5943994" cy="19681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43981" cy="1968119"/>
            </a:xfrm>
            <a:custGeom>
              <a:avLst/>
              <a:gdLst/>
              <a:ahLst/>
              <a:cxnLst/>
              <a:rect r="r" b="b" t="t" l="l"/>
              <a:pathLst>
                <a:path h="1968119" w="5943981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5822442" y="0"/>
                  </a:lnTo>
                  <a:cubicBezTo>
                    <a:pt x="5889625" y="0"/>
                    <a:pt x="5943981" y="54483"/>
                    <a:pt x="5943981" y="121539"/>
                  </a:cubicBezTo>
                  <a:lnTo>
                    <a:pt x="5943981" y="1846580"/>
                  </a:lnTo>
                  <a:cubicBezTo>
                    <a:pt x="5943981" y="1913763"/>
                    <a:pt x="5889498" y="1968119"/>
                    <a:pt x="5822442" y="1968119"/>
                  </a:cubicBezTo>
                  <a:lnTo>
                    <a:pt x="121539" y="1968119"/>
                  </a:lnTo>
                  <a:cubicBezTo>
                    <a:pt x="54356" y="1968119"/>
                    <a:pt x="0" y="1913636"/>
                    <a:pt x="0" y="184658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107743" y="5129955"/>
            <a:ext cx="3937102" cy="114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numbers * 2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Output: [10,20,30,40,50,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         10,20,30,40,50]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47291" y="6642649"/>
            <a:ext cx="4457995" cy="80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 this what we wanted? No.</a:t>
            </a:r>
          </a:p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We wanted: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847291" y="7630420"/>
            <a:ext cx="4457995" cy="781345"/>
            <a:chOff x="0" y="0"/>
            <a:chExt cx="5943994" cy="10417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3981" cy="1041781"/>
            </a:xfrm>
            <a:custGeom>
              <a:avLst/>
              <a:gdLst/>
              <a:ahLst/>
              <a:cxnLst/>
              <a:rect r="r" b="b" t="t" l="l"/>
              <a:pathLst>
                <a:path h="1041781" w="5943981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5822442" y="0"/>
                  </a:lnTo>
                  <a:cubicBezTo>
                    <a:pt x="5889625" y="0"/>
                    <a:pt x="5943981" y="54483"/>
                    <a:pt x="5943981" y="121539"/>
                  </a:cubicBezTo>
                  <a:lnTo>
                    <a:pt x="5943981" y="920242"/>
                  </a:lnTo>
                  <a:cubicBezTo>
                    <a:pt x="5943981" y="987425"/>
                    <a:pt x="5889498" y="1041781"/>
                    <a:pt x="5822442" y="1041781"/>
                  </a:cubicBezTo>
                  <a:lnTo>
                    <a:pt x="121539" y="1041781"/>
                  </a:lnTo>
                  <a:cubicBezTo>
                    <a:pt x="54483" y="1041781"/>
                    <a:pt x="0" y="987425"/>
                    <a:pt x="0" y="920242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107743" y="7742634"/>
            <a:ext cx="4851502" cy="45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Expected: [20, 40, 60, 80, 100]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847291" y="8598694"/>
            <a:ext cx="4457995" cy="723605"/>
            <a:chOff x="0" y="0"/>
            <a:chExt cx="5943994" cy="9648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3981" cy="964819"/>
            </a:xfrm>
            <a:custGeom>
              <a:avLst/>
              <a:gdLst/>
              <a:ahLst/>
              <a:cxnLst/>
              <a:rect r="r" b="b" t="t" l="l"/>
              <a:pathLst>
                <a:path h="964819" w="5943981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5822442" y="0"/>
                  </a:lnTo>
                  <a:cubicBezTo>
                    <a:pt x="5889625" y="0"/>
                    <a:pt x="5943981" y="54483"/>
                    <a:pt x="5943981" y="121539"/>
                  </a:cubicBezTo>
                  <a:lnTo>
                    <a:pt x="5943981" y="843280"/>
                  </a:lnTo>
                  <a:cubicBezTo>
                    <a:pt x="5943981" y="910463"/>
                    <a:pt x="5889498" y="964819"/>
                    <a:pt x="5822442" y="964819"/>
                  </a:cubicBezTo>
                  <a:lnTo>
                    <a:pt x="121539" y="964819"/>
                  </a:lnTo>
                  <a:cubicBezTo>
                    <a:pt x="54483" y="964819"/>
                    <a:pt x="0" y="910336"/>
                    <a:pt x="0" y="84328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064280" y="8857650"/>
            <a:ext cx="271310" cy="216989"/>
            <a:chOff x="0" y="0"/>
            <a:chExt cx="361747" cy="289319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361696" cy="289306"/>
            </a:xfrm>
            <a:custGeom>
              <a:avLst/>
              <a:gdLst/>
              <a:ahLst/>
              <a:cxnLst/>
              <a:rect r="r" b="b" t="t" l="l"/>
              <a:pathLst>
                <a:path h="289306" w="361696">
                  <a:moveTo>
                    <a:pt x="0" y="0"/>
                  </a:moveTo>
                  <a:lnTo>
                    <a:pt x="361696" y="0"/>
                  </a:lnTo>
                  <a:lnTo>
                    <a:pt x="361696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21" t="0" r="-435" b="-4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552589" y="8764343"/>
            <a:ext cx="4450109" cy="35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Now introduce NumPy. 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1229916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2391366"/>
            <a:ext cx="2384222" cy="430711"/>
            <a:chOff x="0" y="0"/>
            <a:chExt cx="3178962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8937" cy="574294"/>
            </a:xfrm>
            <a:custGeom>
              <a:avLst/>
              <a:gdLst/>
              <a:ahLst/>
              <a:cxnLst/>
              <a:rect r="r" b="b" t="t" l="l"/>
              <a:pathLst>
                <a:path h="574294" w="3178937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051937" y="0"/>
                  </a:lnTo>
                  <a:cubicBezTo>
                    <a:pt x="3122041" y="0"/>
                    <a:pt x="3178937" y="56896"/>
                    <a:pt x="3178937" y="127000"/>
                  </a:cubicBezTo>
                  <a:lnTo>
                    <a:pt x="3178937" y="447294"/>
                  </a:lnTo>
                  <a:cubicBezTo>
                    <a:pt x="3178937" y="517398"/>
                    <a:pt x="3122041" y="574294"/>
                    <a:pt x="3051937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2485873"/>
            <a:ext cx="295840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2 · 5 MINUTES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897391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Installing NumPy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511126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Install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5292033"/>
            <a:ext cx="7805890" cy="1020661"/>
            <a:chOff x="0" y="0"/>
            <a:chExt cx="10407853" cy="13608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07777" cy="1360805"/>
            </a:xfrm>
            <a:custGeom>
              <a:avLst/>
              <a:gdLst/>
              <a:ahLst/>
              <a:cxnLst/>
              <a:rect r="r" b="b" t="t" l="l"/>
              <a:pathLst>
                <a:path h="1360805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1202055"/>
                  </a:lnTo>
                  <a:cubicBezTo>
                    <a:pt x="10407777" y="1289685"/>
                    <a:pt x="10336657" y="1360805"/>
                    <a:pt x="10249027" y="1360805"/>
                  </a:cubicBezTo>
                  <a:lnTo>
                    <a:pt x="158750" y="1360805"/>
                  </a:lnTo>
                  <a:cubicBezTo>
                    <a:pt x="71120" y="1360805"/>
                    <a:pt x="0" y="1289685"/>
                    <a:pt x="0" y="1202055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2462" y="5442194"/>
            <a:ext cx="8039843" cy="58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pip install numpy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9406" y="4511126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Import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99406" y="5292033"/>
            <a:ext cx="7805890" cy="1020661"/>
            <a:chOff x="0" y="0"/>
            <a:chExt cx="10407853" cy="13608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07777" cy="1360805"/>
            </a:xfrm>
            <a:custGeom>
              <a:avLst/>
              <a:gdLst/>
              <a:ahLst/>
              <a:cxnLst/>
              <a:rect r="r" b="b" t="t" l="l"/>
              <a:pathLst>
                <a:path h="1360805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1202055"/>
                  </a:lnTo>
                  <a:cubicBezTo>
                    <a:pt x="10407777" y="1289685"/>
                    <a:pt x="10336657" y="1360805"/>
                    <a:pt x="10249027" y="1360805"/>
                  </a:cubicBezTo>
                  <a:lnTo>
                    <a:pt x="158750" y="1360805"/>
                  </a:lnTo>
                  <a:cubicBezTo>
                    <a:pt x="71120" y="1360805"/>
                    <a:pt x="0" y="1289685"/>
                    <a:pt x="0" y="1202055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39620" y="5442194"/>
            <a:ext cx="8039843" cy="58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476" y="6945811"/>
            <a:ext cx="8019459" cy="2115893"/>
            <a:chOff x="0" y="0"/>
            <a:chExt cx="10692613" cy="28211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26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10692638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33126" y="0"/>
                  </a:lnTo>
                  <a:cubicBezTo>
                    <a:pt x="10621264" y="0"/>
                    <a:pt x="10692638" y="71374"/>
                    <a:pt x="10692638" y="159512"/>
                  </a:cubicBezTo>
                  <a:lnTo>
                    <a:pt x="10692638" y="2661666"/>
                  </a:lnTo>
                  <a:cubicBezTo>
                    <a:pt x="10692638" y="2749804"/>
                    <a:pt x="10621264" y="2821178"/>
                    <a:pt x="10533126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85284" y="7224560"/>
            <a:ext cx="742384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numpy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284" y="7770914"/>
            <a:ext cx="742384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full package name — installed once on your machine.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80922" y="6945811"/>
            <a:ext cx="8019602" cy="2115893"/>
            <a:chOff x="0" y="0"/>
            <a:chExt cx="10692803" cy="28211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2765" cy="2821178"/>
            </a:xfrm>
            <a:custGeom>
              <a:avLst/>
              <a:gdLst/>
              <a:ahLst/>
              <a:cxnLst/>
              <a:rect r="r" b="b" t="t" l="l"/>
              <a:pathLst>
                <a:path h="2821178" w="10692765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33253" y="0"/>
                  </a:lnTo>
                  <a:cubicBezTo>
                    <a:pt x="10621391" y="0"/>
                    <a:pt x="10692765" y="71374"/>
                    <a:pt x="10692765" y="159512"/>
                  </a:cubicBezTo>
                  <a:lnTo>
                    <a:pt x="10692765" y="2661666"/>
                  </a:lnTo>
                  <a:cubicBezTo>
                    <a:pt x="10692765" y="2749804"/>
                    <a:pt x="10621391" y="2821178"/>
                    <a:pt x="10533253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578731" y="7224560"/>
            <a:ext cx="742399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78731" y="7770914"/>
            <a:ext cx="742399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short alias we use in every line of code.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62264" y="841172"/>
            <a:ext cx="2533498" cy="802929"/>
            <a:chOff x="0" y="0"/>
            <a:chExt cx="3377997" cy="107057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377946" cy="1070610"/>
            </a:xfrm>
            <a:custGeom>
              <a:avLst/>
              <a:gdLst/>
              <a:ahLst/>
              <a:cxnLst/>
              <a:rect r="r" b="b" t="t" l="l"/>
              <a:pathLst>
                <a:path h="1070610" w="3377946">
                  <a:moveTo>
                    <a:pt x="0" y="0"/>
                  </a:moveTo>
                  <a:lnTo>
                    <a:pt x="3377946" y="0"/>
                  </a:lnTo>
                  <a:lnTo>
                    <a:pt x="3377946" y="1070610"/>
                  </a:lnTo>
                  <a:lnTo>
                    <a:pt x="0" y="107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3" r="-1" b="-4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933870"/>
            <a:ext cx="2272751" cy="410470"/>
            <a:chOff x="0" y="0"/>
            <a:chExt cx="3030334" cy="547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0347" cy="547243"/>
            </a:xfrm>
            <a:custGeom>
              <a:avLst/>
              <a:gdLst/>
              <a:ahLst/>
              <a:cxnLst/>
              <a:rect r="r" b="b" t="t" l="l"/>
              <a:pathLst>
                <a:path h="547243" w="3030347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2909316" y="0"/>
                  </a:lnTo>
                  <a:cubicBezTo>
                    <a:pt x="2976245" y="0"/>
                    <a:pt x="3030347" y="54229"/>
                    <a:pt x="3030347" y="121031"/>
                  </a:cubicBezTo>
                  <a:lnTo>
                    <a:pt x="3030347" y="426212"/>
                  </a:lnTo>
                  <a:cubicBezTo>
                    <a:pt x="3030347" y="493141"/>
                    <a:pt x="2976118" y="547243"/>
                    <a:pt x="2909316" y="547243"/>
                  </a:cubicBezTo>
                  <a:lnTo>
                    <a:pt x="121031" y="547243"/>
                  </a:lnTo>
                  <a:cubicBezTo>
                    <a:pt x="54229" y="547243"/>
                    <a:pt x="0" y="493141"/>
                    <a:pt x="0" y="426212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4306" y="2024358"/>
            <a:ext cx="2863005" cy="23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3 · 5 MINUTES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409234"/>
            <a:ext cx="16303523" cy="8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Creating Your First NumPy Array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678288"/>
            <a:ext cx="16303523" cy="4431354"/>
            <a:chOff x="0" y="0"/>
            <a:chExt cx="21738031" cy="59084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7955" cy="5908421"/>
            </a:xfrm>
            <a:custGeom>
              <a:avLst/>
              <a:gdLst/>
              <a:ahLst/>
              <a:cxnLst/>
              <a:rect r="r" b="b" t="t" l="l"/>
              <a:pathLst>
                <a:path h="5908421" w="21737955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21586698" y="0"/>
                  </a:lnTo>
                  <a:cubicBezTo>
                    <a:pt x="21670263" y="0"/>
                    <a:pt x="21737955" y="67691"/>
                    <a:pt x="21737955" y="151257"/>
                  </a:cubicBezTo>
                  <a:lnTo>
                    <a:pt x="21737955" y="5757164"/>
                  </a:lnTo>
                  <a:cubicBezTo>
                    <a:pt x="21737955" y="5840730"/>
                    <a:pt x="21670263" y="5908421"/>
                    <a:pt x="21586698" y="5908421"/>
                  </a:cubicBezTo>
                  <a:lnTo>
                    <a:pt x="151257" y="5908421"/>
                  </a:lnTo>
                  <a:cubicBezTo>
                    <a:pt x="67691" y="5908421"/>
                    <a:pt x="0" y="5840730"/>
                    <a:pt x="0" y="5757164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16384" y="3824583"/>
            <a:ext cx="15655233" cy="40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</a:p>
          <a:p>
            <a:pPr algn="l">
              <a:lnSpc>
                <a:spcPts val="3351"/>
              </a:lnSpc>
            </a:pP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numbers = np.array([10, 20, 30, 40, 50])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print(numbers)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Output: [10 20 30 40 50]</a:t>
            </a:r>
          </a:p>
          <a:p>
            <a:pPr algn="l">
              <a:lnSpc>
                <a:spcPts val="3351"/>
              </a:lnSpc>
            </a:pP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Now multiply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print(numbers * 2)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Output: [20 40 60 80 100]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8399412"/>
            <a:ext cx="16303523" cy="1046264"/>
            <a:chOff x="0" y="0"/>
            <a:chExt cx="21738031" cy="13950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82" cy="1395095"/>
            </a:xfrm>
            <a:custGeom>
              <a:avLst/>
              <a:gdLst/>
              <a:ahLst/>
              <a:cxnLst/>
              <a:rect r="r" b="b" t="t" l="l"/>
              <a:pathLst>
                <a:path h="1395095" w="21738082">
                  <a:moveTo>
                    <a:pt x="0" y="151384"/>
                  </a:moveTo>
                  <a:cubicBezTo>
                    <a:pt x="0" y="67691"/>
                    <a:pt x="67691" y="0"/>
                    <a:pt x="151384" y="0"/>
                  </a:cubicBezTo>
                  <a:lnTo>
                    <a:pt x="21586698" y="0"/>
                  </a:lnTo>
                  <a:cubicBezTo>
                    <a:pt x="21670263" y="0"/>
                    <a:pt x="21738082" y="67691"/>
                    <a:pt x="21738082" y="151384"/>
                  </a:cubicBezTo>
                  <a:lnTo>
                    <a:pt x="21738082" y="1243711"/>
                  </a:lnTo>
                  <a:cubicBezTo>
                    <a:pt x="21738082" y="1327277"/>
                    <a:pt x="21670390" y="1395095"/>
                    <a:pt x="21586698" y="1395095"/>
                  </a:cubicBezTo>
                  <a:lnTo>
                    <a:pt x="151384" y="1395095"/>
                  </a:lnTo>
                  <a:cubicBezTo>
                    <a:pt x="67691" y="1394968"/>
                    <a:pt x="0" y="1327277"/>
                    <a:pt x="0" y="1243711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62358" y="8764038"/>
            <a:ext cx="337690" cy="270119"/>
            <a:chOff x="0" y="0"/>
            <a:chExt cx="450253" cy="36015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50215" cy="360172"/>
            </a:xfrm>
            <a:custGeom>
              <a:avLst/>
              <a:gdLst/>
              <a:ahLst/>
              <a:cxnLst/>
              <a:rect r="r" b="b" t="t" l="l"/>
              <a:pathLst>
                <a:path h="360172" w="450215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2" r="-8" b="-35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870177" y="8657625"/>
            <a:ext cx="16069866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Students immediately understand NumPy — one line, no loop, correct result!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62264" y="860079"/>
            <a:ext cx="2533498" cy="802929"/>
            <a:chOff x="0" y="0"/>
            <a:chExt cx="3377997" cy="107057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377946" cy="1070610"/>
            </a:xfrm>
            <a:custGeom>
              <a:avLst/>
              <a:gdLst/>
              <a:ahLst/>
              <a:cxnLst/>
              <a:rect r="r" b="b" t="t" l="l"/>
              <a:pathLst>
                <a:path h="1070610" w="3377946">
                  <a:moveTo>
                    <a:pt x="0" y="0"/>
                  </a:moveTo>
                  <a:lnTo>
                    <a:pt x="3377946" y="0"/>
                  </a:lnTo>
                  <a:lnTo>
                    <a:pt x="3377946" y="1070610"/>
                  </a:lnTo>
                  <a:lnTo>
                    <a:pt x="0" y="107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3" r="-1" b="-4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952777"/>
            <a:ext cx="991495" cy="410470"/>
            <a:chOff x="0" y="0"/>
            <a:chExt cx="1321994" cy="547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1943" cy="547243"/>
            </a:xfrm>
            <a:custGeom>
              <a:avLst/>
              <a:gdLst/>
              <a:ahLst/>
              <a:cxnLst/>
              <a:rect r="r" b="b" t="t" l="l"/>
              <a:pathLst>
                <a:path h="547243" w="1321943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1200912" y="0"/>
                  </a:lnTo>
                  <a:cubicBezTo>
                    <a:pt x="1267841" y="0"/>
                    <a:pt x="1321943" y="54229"/>
                    <a:pt x="1321943" y="121031"/>
                  </a:cubicBezTo>
                  <a:lnTo>
                    <a:pt x="1321943" y="426212"/>
                  </a:lnTo>
                  <a:cubicBezTo>
                    <a:pt x="1321943" y="493141"/>
                    <a:pt x="1267714" y="547243"/>
                    <a:pt x="1200912" y="547243"/>
                  </a:cubicBezTo>
                  <a:lnTo>
                    <a:pt x="121031" y="547243"/>
                  </a:lnTo>
                  <a:cubicBezTo>
                    <a:pt x="54229" y="547243"/>
                    <a:pt x="0" y="493141"/>
                    <a:pt x="0" y="426212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4306" y="2043265"/>
            <a:ext cx="1581750" cy="23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428132"/>
            <a:ext cx="16303523" cy="8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Why NumPy?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935606"/>
            <a:ext cx="78221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❌</a:t>
            </a:r>
            <a:r>
              <a:rPr lang="en-US" sz="26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Python List (slow)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4666650"/>
            <a:ext cx="7822111" cy="3134316"/>
            <a:chOff x="0" y="0"/>
            <a:chExt cx="10429481" cy="4179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29494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429494">
                  <a:moveTo>
                    <a:pt x="0" y="151384"/>
                  </a:moveTo>
                  <a:cubicBezTo>
                    <a:pt x="0" y="67691"/>
                    <a:pt x="67691" y="0"/>
                    <a:pt x="151384" y="0"/>
                  </a:cubicBezTo>
                  <a:lnTo>
                    <a:pt x="10278110" y="0"/>
                  </a:lnTo>
                  <a:cubicBezTo>
                    <a:pt x="10361676" y="0"/>
                    <a:pt x="10429494" y="67691"/>
                    <a:pt x="10429494" y="151384"/>
                  </a:cubicBezTo>
                  <a:lnTo>
                    <a:pt x="10429494" y="4027805"/>
                  </a:lnTo>
                  <a:cubicBezTo>
                    <a:pt x="10429494" y="4111371"/>
                    <a:pt x="10361803" y="4179189"/>
                    <a:pt x="10278110" y="4179189"/>
                  </a:cubicBezTo>
                  <a:lnTo>
                    <a:pt x="151384" y="4179189"/>
                  </a:lnTo>
                  <a:cubicBezTo>
                    <a:pt x="67691" y="4179062"/>
                    <a:pt x="0" y="4111371"/>
                    <a:pt x="0" y="4027805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16384" y="4812954"/>
            <a:ext cx="7173811" cy="253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numbers = [1, 2, 3, 4]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result = []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for i in numbers: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result.append(i * 2)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print(result)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Need a loop — many lines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3176" y="3935606"/>
            <a:ext cx="78221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✅</a:t>
            </a:r>
            <a:r>
              <a:rPr lang="en-US" sz="26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NumPy (fast)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83176" y="4666650"/>
            <a:ext cx="7822111" cy="1837287"/>
            <a:chOff x="0" y="0"/>
            <a:chExt cx="10429481" cy="24497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29494" cy="2449703"/>
            </a:xfrm>
            <a:custGeom>
              <a:avLst/>
              <a:gdLst/>
              <a:ahLst/>
              <a:cxnLst/>
              <a:rect r="r" b="b" t="t" l="l"/>
              <a:pathLst>
                <a:path h="2449703" w="10429494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0278110" y="0"/>
                  </a:lnTo>
                  <a:cubicBezTo>
                    <a:pt x="10361676" y="0"/>
                    <a:pt x="10429494" y="67818"/>
                    <a:pt x="10429494" y="151384"/>
                  </a:cubicBezTo>
                  <a:lnTo>
                    <a:pt x="10429494" y="2298319"/>
                  </a:lnTo>
                  <a:cubicBezTo>
                    <a:pt x="10429494" y="2381885"/>
                    <a:pt x="10361676" y="2449703"/>
                    <a:pt x="10278110" y="2449703"/>
                  </a:cubicBezTo>
                  <a:lnTo>
                    <a:pt x="151384" y="2449703"/>
                  </a:lnTo>
                  <a:cubicBezTo>
                    <a:pt x="67818" y="2449703"/>
                    <a:pt x="0" y="2382012"/>
                    <a:pt x="0" y="2298319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07331" y="4812954"/>
            <a:ext cx="7173811" cy="142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numbers = np.array([1, 2, 3, 4])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print(numbers * 2)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One line. Done.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8380514"/>
            <a:ext cx="16303523" cy="1046264"/>
            <a:chOff x="0" y="0"/>
            <a:chExt cx="21738031" cy="13950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38082" cy="1395095"/>
            </a:xfrm>
            <a:custGeom>
              <a:avLst/>
              <a:gdLst/>
              <a:ahLst/>
              <a:cxnLst/>
              <a:rect r="r" b="b" t="t" l="l"/>
              <a:pathLst>
                <a:path h="1395095" w="21738082">
                  <a:moveTo>
                    <a:pt x="0" y="151384"/>
                  </a:moveTo>
                  <a:cubicBezTo>
                    <a:pt x="0" y="67691"/>
                    <a:pt x="67691" y="0"/>
                    <a:pt x="151384" y="0"/>
                  </a:cubicBezTo>
                  <a:lnTo>
                    <a:pt x="21586698" y="0"/>
                  </a:lnTo>
                  <a:cubicBezTo>
                    <a:pt x="21670263" y="0"/>
                    <a:pt x="21738082" y="67691"/>
                    <a:pt x="21738082" y="151384"/>
                  </a:cubicBezTo>
                  <a:lnTo>
                    <a:pt x="21738082" y="1243711"/>
                  </a:lnTo>
                  <a:cubicBezTo>
                    <a:pt x="21738082" y="1327277"/>
                    <a:pt x="21670390" y="1395095"/>
                    <a:pt x="21586698" y="1395095"/>
                  </a:cubicBezTo>
                  <a:lnTo>
                    <a:pt x="151384" y="1395095"/>
                  </a:lnTo>
                  <a:cubicBezTo>
                    <a:pt x="67691" y="1394968"/>
                    <a:pt x="0" y="1327277"/>
                    <a:pt x="0" y="1243711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62358" y="8745141"/>
            <a:ext cx="337690" cy="270119"/>
            <a:chOff x="0" y="0"/>
            <a:chExt cx="450253" cy="36015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50215" cy="360172"/>
            </a:xfrm>
            <a:custGeom>
              <a:avLst/>
              <a:gdLst/>
              <a:ahLst/>
              <a:cxnLst/>
              <a:rect r="r" b="b" t="t" l="l"/>
              <a:pathLst>
                <a:path h="360172" w="450215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2" r="-8" b="-35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870177" y="8638727"/>
            <a:ext cx="16069866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loop needed. NumPy operates on the entire array at once.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4591" y="821084"/>
            <a:ext cx="2201170" cy="697706"/>
            <a:chOff x="0" y="0"/>
            <a:chExt cx="2934894" cy="93027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934843" cy="930275"/>
            </a:xfrm>
            <a:custGeom>
              <a:avLst/>
              <a:gdLst/>
              <a:ahLst/>
              <a:cxnLst/>
              <a:rect r="r" b="b" t="t" l="l"/>
              <a:pathLst>
                <a:path h="930275" w="2934843">
                  <a:moveTo>
                    <a:pt x="0" y="0"/>
                  </a:moveTo>
                  <a:lnTo>
                    <a:pt x="2934843" y="0"/>
                  </a:lnTo>
                  <a:lnTo>
                    <a:pt x="2934843" y="930275"/>
                  </a:lnTo>
                  <a:lnTo>
                    <a:pt x="0" y="930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3" r="-1" b="-31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737417"/>
            <a:ext cx="861565" cy="356740"/>
            <a:chOff x="0" y="0"/>
            <a:chExt cx="1148753" cy="475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8715" cy="475615"/>
            </a:xfrm>
            <a:custGeom>
              <a:avLst/>
              <a:gdLst/>
              <a:ahLst/>
              <a:cxnLst/>
              <a:rect r="r" b="b" t="t" l="l"/>
              <a:pathLst>
                <a:path h="475615" w="1148715">
                  <a:moveTo>
                    <a:pt x="0" y="105156"/>
                  </a:moveTo>
                  <a:cubicBezTo>
                    <a:pt x="0" y="47117"/>
                    <a:pt x="47117" y="0"/>
                    <a:pt x="105156" y="0"/>
                  </a:cubicBezTo>
                  <a:lnTo>
                    <a:pt x="1043559" y="0"/>
                  </a:lnTo>
                  <a:cubicBezTo>
                    <a:pt x="1101598" y="0"/>
                    <a:pt x="1148715" y="47117"/>
                    <a:pt x="1148715" y="105156"/>
                  </a:cubicBezTo>
                  <a:lnTo>
                    <a:pt x="1148715" y="370459"/>
                  </a:lnTo>
                  <a:cubicBezTo>
                    <a:pt x="1148715" y="428498"/>
                    <a:pt x="1101598" y="475615"/>
                    <a:pt x="1043559" y="475615"/>
                  </a:cubicBezTo>
                  <a:lnTo>
                    <a:pt x="105156" y="475615"/>
                  </a:lnTo>
                  <a:cubicBezTo>
                    <a:pt x="47117" y="475615"/>
                    <a:pt x="0" y="428498"/>
                    <a:pt x="0" y="370459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33027" y="1807816"/>
            <a:ext cx="1494387" cy="2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4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143277"/>
            <a:ext cx="16303523" cy="76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5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Creating Arrays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372450"/>
            <a:ext cx="7865421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Method 1 — From List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3976983"/>
            <a:ext cx="7865421" cy="1220686"/>
            <a:chOff x="0" y="0"/>
            <a:chExt cx="10487228" cy="16275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7151" cy="1627505"/>
            </a:xfrm>
            <a:custGeom>
              <a:avLst/>
              <a:gdLst/>
              <a:ahLst/>
              <a:cxnLst/>
              <a:rect r="r" b="b" t="t" l="l"/>
              <a:pathLst>
                <a:path h="1627505" w="10487151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10355707" y="0"/>
                  </a:lnTo>
                  <a:cubicBezTo>
                    <a:pt x="10428350" y="0"/>
                    <a:pt x="10487151" y="58928"/>
                    <a:pt x="10487151" y="131445"/>
                  </a:cubicBezTo>
                  <a:lnTo>
                    <a:pt x="10487151" y="1496060"/>
                  </a:lnTo>
                  <a:cubicBezTo>
                    <a:pt x="10487151" y="1568704"/>
                    <a:pt x="10428224" y="1627505"/>
                    <a:pt x="10355707" y="1627505"/>
                  </a:cubicBezTo>
                  <a:lnTo>
                    <a:pt x="131445" y="1627505"/>
                  </a:lnTo>
                  <a:cubicBezTo>
                    <a:pt x="58928" y="1627632"/>
                    <a:pt x="0" y="1568704"/>
                    <a:pt x="0" y="149606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3969" y="4106913"/>
            <a:ext cx="7301951" cy="85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= np.array([1, 2, 3])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5397256"/>
            <a:ext cx="7865421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Method 2 — Zeros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6001788"/>
            <a:ext cx="7865421" cy="1220686"/>
            <a:chOff x="0" y="0"/>
            <a:chExt cx="10487228" cy="16275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7151" cy="1627505"/>
            </a:xfrm>
            <a:custGeom>
              <a:avLst/>
              <a:gdLst/>
              <a:ahLst/>
              <a:cxnLst/>
              <a:rect r="r" b="b" t="t" l="l"/>
              <a:pathLst>
                <a:path h="1627505" w="10487151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10355707" y="0"/>
                  </a:lnTo>
                  <a:cubicBezTo>
                    <a:pt x="10428350" y="0"/>
                    <a:pt x="10487151" y="58928"/>
                    <a:pt x="10487151" y="131445"/>
                  </a:cubicBezTo>
                  <a:lnTo>
                    <a:pt x="10487151" y="1496060"/>
                  </a:lnTo>
                  <a:cubicBezTo>
                    <a:pt x="10487151" y="1568704"/>
                    <a:pt x="10428224" y="1627505"/>
                    <a:pt x="10355707" y="1627505"/>
                  </a:cubicBezTo>
                  <a:lnTo>
                    <a:pt x="131445" y="1627505"/>
                  </a:lnTo>
                  <a:cubicBezTo>
                    <a:pt x="58928" y="1627632"/>
                    <a:pt x="0" y="1568704"/>
                    <a:pt x="0" y="149606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73969" y="6131719"/>
            <a:ext cx="7301951" cy="85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print(np.zeros(5))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# Output: [0. 0. 0. 0. 0.]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7422061"/>
            <a:ext cx="7865421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Method 3 — Ones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8026594"/>
            <a:ext cx="7865421" cy="1220686"/>
            <a:chOff x="0" y="0"/>
            <a:chExt cx="10487228" cy="16275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87151" cy="1627505"/>
            </a:xfrm>
            <a:custGeom>
              <a:avLst/>
              <a:gdLst/>
              <a:ahLst/>
              <a:cxnLst/>
              <a:rect r="r" b="b" t="t" l="l"/>
              <a:pathLst>
                <a:path h="1627505" w="10487151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10355707" y="0"/>
                  </a:lnTo>
                  <a:cubicBezTo>
                    <a:pt x="10428350" y="0"/>
                    <a:pt x="10487151" y="58928"/>
                    <a:pt x="10487151" y="131445"/>
                  </a:cubicBezTo>
                  <a:lnTo>
                    <a:pt x="10487151" y="1496060"/>
                  </a:lnTo>
                  <a:cubicBezTo>
                    <a:pt x="10487151" y="1568704"/>
                    <a:pt x="10428224" y="1627505"/>
                    <a:pt x="10355707" y="1627505"/>
                  </a:cubicBezTo>
                  <a:lnTo>
                    <a:pt x="131445" y="1627505"/>
                  </a:lnTo>
                  <a:cubicBezTo>
                    <a:pt x="58928" y="1627632"/>
                    <a:pt x="0" y="1568704"/>
                    <a:pt x="0" y="149606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73969" y="8156524"/>
            <a:ext cx="7301951" cy="85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print(np.ones(5))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# Output: [1. 1. 1. 1. 1.]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9866" y="3372450"/>
            <a:ext cx="7865421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Method 4 — Range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39866" y="3976983"/>
            <a:ext cx="7865421" cy="1220686"/>
            <a:chOff x="0" y="0"/>
            <a:chExt cx="10487228" cy="16275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7151" cy="1627505"/>
            </a:xfrm>
            <a:custGeom>
              <a:avLst/>
              <a:gdLst/>
              <a:ahLst/>
              <a:cxnLst/>
              <a:rect r="r" b="b" t="t" l="l"/>
              <a:pathLst>
                <a:path h="1627505" w="10487151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10355707" y="0"/>
                  </a:lnTo>
                  <a:cubicBezTo>
                    <a:pt x="10428350" y="0"/>
                    <a:pt x="10487151" y="58928"/>
                    <a:pt x="10487151" y="131445"/>
                  </a:cubicBezTo>
                  <a:lnTo>
                    <a:pt x="10487151" y="1496060"/>
                  </a:lnTo>
                  <a:cubicBezTo>
                    <a:pt x="10487151" y="1568704"/>
                    <a:pt x="10428224" y="1627505"/>
                    <a:pt x="10355707" y="1627505"/>
                  </a:cubicBezTo>
                  <a:lnTo>
                    <a:pt x="131445" y="1627505"/>
                  </a:lnTo>
                  <a:cubicBezTo>
                    <a:pt x="58928" y="1627632"/>
                    <a:pt x="0" y="1568704"/>
                    <a:pt x="0" y="149606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21606" y="4106913"/>
            <a:ext cx="7301951" cy="85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print(np.arange(1, 11))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# Output: [1 2 3 4 5 6 7 8 9 10]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39866" y="5397256"/>
            <a:ext cx="7865421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Method 5 — Even Numbers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39866" y="6001788"/>
            <a:ext cx="7865421" cy="1220686"/>
            <a:chOff x="0" y="0"/>
            <a:chExt cx="10487228" cy="16275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7151" cy="1627505"/>
            </a:xfrm>
            <a:custGeom>
              <a:avLst/>
              <a:gdLst/>
              <a:ahLst/>
              <a:cxnLst/>
              <a:rect r="r" b="b" t="t" l="l"/>
              <a:pathLst>
                <a:path h="1627505" w="10487151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10355707" y="0"/>
                  </a:lnTo>
                  <a:cubicBezTo>
                    <a:pt x="10428350" y="0"/>
                    <a:pt x="10487151" y="58928"/>
                    <a:pt x="10487151" y="131445"/>
                  </a:cubicBezTo>
                  <a:lnTo>
                    <a:pt x="10487151" y="1496060"/>
                  </a:lnTo>
                  <a:cubicBezTo>
                    <a:pt x="10487151" y="1568704"/>
                    <a:pt x="10428224" y="1627505"/>
                    <a:pt x="10355707" y="1627505"/>
                  </a:cubicBezTo>
                  <a:lnTo>
                    <a:pt x="131445" y="1627505"/>
                  </a:lnTo>
                  <a:cubicBezTo>
                    <a:pt x="58928" y="1627632"/>
                    <a:pt x="0" y="1568704"/>
                    <a:pt x="0" y="149606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721606" y="6131719"/>
            <a:ext cx="7301951" cy="85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print(np.arange(2, 21, 2))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# Output: [2 4 6 8 10 12 14 16 18 20]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39866" y="7422061"/>
            <a:ext cx="7865421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Method 6 — Decimal (linspace)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39866" y="8026594"/>
            <a:ext cx="7865421" cy="1220686"/>
            <a:chOff x="0" y="0"/>
            <a:chExt cx="10487228" cy="16275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7151" cy="1627505"/>
            </a:xfrm>
            <a:custGeom>
              <a:avLst/>
              <a:gdLst/>
              <a:ahLst/>
              <a:cxnLst/>
              <a:rect r="r" b="b" t="t" l="l"/>
              <a:pathLst>
                <a:path h="1627505" w="10487151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10355707" y="0"/>
                  </a:lnTo>
                  <a:cubicBezTo>
                    <a:pt x="10428350" y="0"/>
                    <a:pt x="10487151" y="58928"/>
                    <a:pt x="10487151" y="131445"/>
                  </a:cubicBezTo>
                  <a:lnTo>
                    <a:pt x="10487151" y="1496060"/>
                  </a:lnTo>
                  <a:cubicBezTo>
                    <a:pt x="10487151" y="1568704"/>
                    <a:pt x="10428224" y="1627505"/>
                    <a:pt x="10355707" y="1627505"/>
                  </a:cubicBezTo>
                  <a:lnTo>
                    <a:pt x="131445" y="1627505"/>
                  </a:lnTo>
                  <a:cubicBezTo>
                    <a:pt x="58928" y="1627632"/>
                    <a:pt x="0" y="1568704"/>
                    <a:pt x="0" y="149606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721606" y="8156524"/>
            <a:ext cx="7301951" cy="73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print(np.linspace(0, 10, 5))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# Output: [0. 2.5 5. 7.5 10.]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1408214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2569664"/>
            <a:ext cx="1040159" cy="430711"/>
            <a:chOff x="0" y="0"/>
            <a:chExt cx="1386878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6840" cy="574294"/>
            </a:xfrm>
            <a:custGeom>
              <a:avLst/>
              <a:gdLst/>
              <a:ahLst/>
              <a:cxnLst/>
              <a:rect r="r" b="b" t="t" l="l"/>
              <a:pathLst>
                <a:path h="574294" w="138684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259840" y="0"/>
                  </a:lnTo>
                  <a:cubicBezTo>
                    <a:pt x="1329944" y="0"/>
                    <a:pt x="1386840" y="56896"/>
                    <a:pt x="1386840" y="127000"/>
                  </a:cubicBezTo>
                  <a:lnTo>
                    <a:pt x="1386840" y="447294"/>
                  </a:lnTo>
                  <a:cubicBezTo>
                    <a:pt x="1386840" y="517398"/>
                    <a:pt x="1329944" y="574294"/>
                    <a:pt x="1259840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2664171"/>
            <a:ext cx="161433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075680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Array Attributes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743898"/>
            <a:ext cx="7805890" cy="3288802"/>
            <a:chOff x="0" y="0"/>
            <a:chExt cx="10407853" cy="43850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777" cy="4385056"/>
            </a:xfrm>
            <a:custGeom>
              <a:avLst/>
              <a:gdLst/>
              <a:ahLst/>
              <a:cxnLst/>
              <a:rect r="r" b="b" t="t" l="l"/>
              <a:pathLst>
                <a:path h="4385056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4226306"/>
                  </a:lnTo>
                  <a:cubicBezTo>
                    <a:pt x="10407777" y="4314063"/>
                    <a:pt x="10336657" y="4385056"/>
                    <a:pt x="10249027" y="4385056"/>
                  </a:cubicBezTo>
                  <a:lnTo>
                    <a:pt x="158750" y="4385056"/>
                  </a:lnTo>
                  <a:cubicBezTo>
                    <a:pt x="70993" y="4385056"/>
                    <a:pt x="0" y="4313936"/>
                    <a:pt x="0" y="4226306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32462" y="4894059"/>
            <a:ext cx="7125443" cy="285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= np.array([10, 20, 30, 40])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print(a.ndim)    # 1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print(a.shape)   # (4,)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print(a.size)    # 4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print(a.dtype)   # int64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94634" y="4739135"/>
            <a:ext cx="3770709" cy="1775670"/>
            <a:chOff x="0" y="0"/>
            <a:chExt cx="5027612" cy="2367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7549" cy="2367534"/>
            </a:xfrm>
            <a:custGeom>
              <a:avLst/>
              <a:gdLst/>
              <a:ahLst/>
              <a:cxnLst/>
              <a:rect r="r" b="b" t="t" l="l"/>
              <a:pathLst>
                <a:path h="2367534" w="5027549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4867910" y="0"/>
                  </a:lnTo>
                  <a:cubicBezTo>
                    <a:pt x="4956048" y="0"/>
                    <a:pt x="5027549" y="71501"/>
                    <a:pt x="5027549" y="159639"/>
                  </a:cubicBezTo>
                  <a:lnTo>
                    <a:pt x="5027549" y="2207895"/>
                  </a:lnTo>
                  <a:cubicBezTo>
                    <a:pt x="5027549" y="2296033"/>
                    <a:pt x="4956048" y="2367534"/>
                    <a:pt x="4867910" y="2367534"/>
                  </a:cubicBezTo>
                  <a:lnTo>
                    <a:pt x="159639" y="2367534"/>
                  </a:lnTo>
                  <a:cubicBezTo>
                    <a:pt x="71501" y="2367534"/>
                    <a:pt x="0" y="2296033"/>
                    <a:pt x="0" y="2207895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792443" y="5017894"/>
            <a:ext cx="317510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ndim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92443" y="5677643"/>
            <a:ext cx="317510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Number of dimensions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39340" y="4739135"/>
            <a:ext cx="3770709" cy="1775670"/>
            <a:chOff x="0" y="0"/>
            <a:chExt cx="5027612" cy="2367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7549" cy="2367534"/>
            </a:xfrm>
            <a:custGeom>
              <a:avLst/>
              <a:gdLst/>
              <a:ahLst/>
              <a:cxnLst/>
              <a:rect r="r" b="b" t="t" l="l"/>
              <a:pathLst>
                <a:path h="2367534" w="5027549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4867910" y="0"/>
                  </a:lnTo>
                  <a:cubicBezTo>
                    <a:pt x="4956048" y="0"/>
                    <a:pt x="5027549" y="71501"/>
                    <a:pt x="5027549" y="159639"/>
                  </a:cubicBezTo>
                  <a:lnTo>
                    <a:pt x="5027549" y="2207895"/>
                  </a:lnTo>
                  <a:cubicBezTo>
                    <a:pt x="5027549" y="2296033"/>
                    <a:pt x="4956048" y="2367534"/>
                    <a:pt x="4867910" y="2367534"/>
                  </a:cubicBezTo>
                  <a:lnTo>
                    <a:pt x="159639" y="2367534"/>
                  </a:lnTo>
                  <a:cubicBezTo>
                    <a:pt x="71501" y="2367534"/>
                    <a:pt x="0" y="2296033"/>
                    <a:pt x="0" y="2207895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837148" y="5017894"/>
            <a:ext cx="317510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shape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37148" y="5677643"/>
            <a:ext cx="317510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Rows and columns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94634" y="6788791"/>
            <a:ext cx="3770709" cy="1775670"/>
            <a:chOff x="0" y="0"/>
            <a:chExt cx="5027612" cy="23675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7549" cy="2367534"/>
            </a:xfrm>
            <a:custGeom>
              <a:avLst/>
              <a:gdLst/>
              <a:ahLst/>
              <a:cxnLst/>
              <a:rect r="r" b="b" t="t" l="l"/>
              <a:pathLst>
                <a:path h="2367534" w="5027549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4867910" y="0"/>
                  </a:lnTo>
                  <a:cubicBezTo>
                    <a:pt x="4956048" y="0"/>
                    <a:pt x="5027549" y="71501"/>
                    <a:pt x="5027549" y="159639"/>
                  </a:cubicBezTo>
                  <a:lnTo>
                    <a:pt x="5027549" y="2207895"/>
                  </a:lnTo>
                  <a:cubicBezTo>
                    <a:pt x="5027549" y="2296033"/>
                    <a:pt x="4956048" y="2367534"/>
                    <a:pt x="4867910" y="2367534"/>
                  </a:cubicBezTo>
                  <a:lnTo>
                    <a:pt x="159639" y="2367534"/>
                  </a:lnTo>
                  <a:cubicBezTo>
                    <a:pt x="71501" y="2367534"/>
                    <a:pt x="0" y="2296033"/>
                    <a:pt x="0" y="2207895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792443" y="7067550"/>
            <a:ext cx="317510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size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92443" y="7727309"/>
            <a:ext cx="317510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Total number of values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539340" y="6788791"/>
            <a:ext cx="3770709" cy="1775670"/>
            <a:chOff x="0" y="0"/>
            <a:chExt cx="5027612" cy="23675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7549" cy="2367534"/>
            </a:xfrm>
            <a:custGeom>
              <a:avLst/>
              <a:gdLst/>
              <a:ahLst/>
              <a:cxnLst/>
              <a:rect r="r" b="b" t="t" l="l"/>
              <a:pathLst>
                <a:path h="2367534" w="5027549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4867910" y="0"/>
                  </a:lnTo>
                  <a:cubicBezTo>
                    <a:pt x="4956048" y="0"/>
                    <a:pt x="5027549" y="71501"/>
                    <a:pt x="5027549" y="159639"/>
                  </a:cubicBezTo>
                  <a:lnTo>
                    <a:pt x="5027549" y="2207895"/>
                  </a:lnTo>
                  <a:cubicBezTo>
                    <a:pt x="5027549" y="2296033"/>
                    <a:pt x="4956048" y="2367534"/>
                    <a:pt x="4867910" y="2367534"/>
                  </a:cubicBezTo>
                  <a:lnTo>
                    <a:pt x="159639" y="2367534"/>
                  </a:lnTo>
                  <a:cubicBezTo>
                    <a:pt x="71501" y="2367534"/>
                    <a:pt x="0" y="2296033"/>
                    <a:pt x="0" y="2207895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837148" y="7067550"/>
            <a:ext cx="317510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dtype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37148" y="7727309"/>
            <a:ext cx="317510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Data type of elements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86832" y="827037"/>
            <a:ext cx="2408930" cy="763486"/>
            <a:chOff x="0" y="0"/>
            <a:chExt cx="3211906" cy="101798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211957" cy="1018032"/>
            </a:xfrm>
            <a:custGeom>
              <a:avLst/>
              <a:gdLst/>
              <a:ahLst/>
              <a:cxnLst/>
              <a:rect r="r" b="b" t="t" l="l"/>
              <a:pathLst>
                <a:path h="1018032" w="3211957">
                  <a:moveTo>
                    <a:pt x="0" y="0"/>
                  </a:moveTo>
                  <a:lnTo>
                    <a:pt x="3211957" y="0"/>
                  </a:lnTo>
                  <a:lnTo>
                    <a:pt x="3211957" y="1018032"/>
                  </a:lnTo>
                  <a:lnTo>
                    <a:pt x="0" y="1018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7" r="1" b="-5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852460"/>
            <a:ext cx="942823" cy="390230"/>
            <a:chOff x="0" y="0"/>
            <a:chExt cx="1257097" cy="5203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7046" cy="520192"/>
            </a:xfrm>
            <a:custGeom>
              <a:avLst/>
              <a:gdLst/>
              <a:ahLst/>
              <a:cxnLst/>
              <a:rect r="r" b="b" t="t" l="l"/>
              <a:pathLst>
                <a:path h="520192" w="1257046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141984" y="0"/>
                  </a:lnTo>
                  <a:cubicBezTo>
                    <a:pt x="1205611" y="0"/>
                    <a:pt x="1257046" y="51562"/>
                    <a:pt x="1257046" y="115062"/>
                  </a:cubicBezTo>
                  <a:lnTo>
                    <a:pt x="1257046" y="405130"/>
                  </a:lnTo>
                  <a:cubicBezTo>
                    <a:pt x="1257046" y="468757"/>
                    <a:pt x="1205484" y="520192"/>
                    <a:pt x="1141984" y="520192"/>
                  </a:cubicBezTo>
                  <a:lnTo>
                    <a:pt x="115062" y="520192"/>
                  </a:lnTo>
                  <a:cubicBezTo>
                    <a:pt x="51562" y="520319"/>
                    <a:pt x="0" y="468757"/>
                    <a:pt x="0" y="40513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6277" y="1938938"/>
            <a:ext cx="1549156" cy="22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297611"/>
            <a:ext cx="16303523" cy="84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2D Arrays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749726"/>
            <a:ext cx="7838332" cy="5448300"/>
            <a:chOff x="0" y="0"/>
            <a:chExt cx="10451109" cy="726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51085" cy="7264400"/>
            </a:xfrm>
            <a:custGeom>
              <a:avLst/>
              <a:gdLst/>
              <a:ahLst/>
              <a:cxnLst/>
              <a:rect r="r" b="b" t="t" l="l"/>
              <a:pathLst>
                <a:path h="7264400" w="10451085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10307193" y="0"/>
                  </a:lnTo>
                  <a:cubicBezTo>
                    <a:pt x="10386695" y="0"/>
                    <a:pt x="10451085" y="64389"/>
                    <a:pt x="10451085" y="143891"/>
                  </a:cubicBezTo>
                  <a:lnTo>
                    <a:pt x="10451085" y="7120509"/>
                  </a:lnTo>
                  <a:cubicBezTo>
                    <a:pt x="10451085" y="7200011"/>
                    <a:pt x="10386695" y="7264400"/>
                    <a:pt x="10307193" y="7264400"/>
                  </a:cubicBezTo>
                  <a:lnTo>
                    <a:pt x="143891" y="7264400"/>
                  </a:lnTo>
                  <a:cubicBezTo>
                    <a:pt x="64389" y="7264400"/>
                    <a:pt x="0" y="7200011"/>
                    <a:pt x="0" y="7120509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00458" y="3892306"/>
            <a:ext cx="7221884" cy="481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marks = np.array([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[80, 90, 95],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[70, 75, 85],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[60, 65, 70]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3192"/>
              </a:lnSpc>
            </a:pP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print(marks)</a:t>
            </a:r>
          </a:p>
          <a:p>
            <a:pPr algn="l">
              <a:lnSpc>
                <a:spcPts val="3192"/>
              </a:lnSpc>
            </a:pP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# Attributes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print(marks.shape)   # (3, 3)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print(marks.ndim)    # 2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print(marks.size)    # 9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62192" y="3744963"/>
            <a:ext cx="3812238" cy="1568348"/>
            <a:chOff x="0" y="0"/>
            <a:chExt cx="5082984" cy="20911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3048" cy="2091182"/>
            </a:xfrm>
            <a:custGeom>
              <a:avLst/>
              <a:gdLst/>
              <a:ahLst/>
              <a:cxnLst/>
              <a:rect r="r" b="b" t="t" l="l"/>
              <a:pathLst>
                <a:path h="2091182" w="5083048">
                  <a:moveTo>
                    <a:pt x="0" y="144780"/>
                  </a:moveTo>
                  <a:cubicBezTo>
                    <a:pt x="0" y="64770"/>
                    <a:pt x="64770" y="0"/>
                    <a:pt x="144780" y="0"/>
                  </a:cubicBezTo>
                  <a:lnTo>
                    <a:pt x="4938268" y="0"/>
                  </a:lnTo>
                  <a:cubicBezTo>
                    <a:pt x="5018278" y="0"/>
                    <a:pt x="5083048" y="64770"/>
                    <a:pt x="5083048" y="144780"/>
                  </a:cubicBezTo>
                  <a:lnTo>
                    <a:pt x="5083048" y="1946402"/>
                  </a:lnTo>
                  <a:cubicBezTo>
                    <a:pt x="5083048" y="2026412"/>
                    <a:pt x="5018278" y="2091182"/>
                    <a:pt x="4938268" y="2091182"/>
                  </a:cubicBezTo>
                  <a:lnTo>
                    <a:pt x="144780" y="2091182"/>
                  </a:lnTo>
                  <a:cubicBezTo>
                    <a:pt x="64770" y="2091182"/>
                    <a:pt x="0" y="2026412"/>
                    <a:pt x="0" y="1946402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733359" y="3997081"/>
            <a:ext cx="3269904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2D Array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33359" y="4583611"/>
            <a:ext cx="3269904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2D array is like a table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97668" y="3744963"/>
            <a:ext cx="3812381" cy="1568348"/>
            <a:chOff x="0" y="0"/>
            <a:chExt cx="5083175" cy="20911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3175" cy="2091182"/>
            </a:xfrm>
            <a:custGeom>
              <a:avLst/>
              <a:gdLst/>
              <a:ahLst/>
              <a:cxnLst/>
              <a:rect r="r" b="b" t="t" l="l"/>
              <a:pathLst>
                <a:path h="2091182" w="5083175">
                  <a:moveTo>
                    <a:pt x="0" y="144780"/>
                  </a:moveTo>
                  <a:cubicBezTo>
                    <a:pt x="0" y="64770"/>
                    <a:pt x="64770" y="0"/>
                    <a:pt x="144780" y="0"/>
                  </a:cubicBezTo>
                  <a:lnTo>
                    <a:pt x="4938395" y="0"/>
                  </a:lnTo>
                  <a:cubicBezTo>
                    <a:pt x="5018405" y="0"/>
                    <a:pt x="5083175" y="64770"/>
                    <a:pt x="5083175" y="144780"/>
                  </a:cubicBezTo>
                  <a:lnTo>
                    <a:pt x="5083175" y="1946402"/>
                  </a:lnTo>
                  <a:cubicBezTo>
                    <a:pt x="5083175" y="2026412"/>
                    <a:pt x="5018405" y="2091182"/>
                    <a:pt x="4938395" y="2091182"/>
                  </a:cubicBezTo>
                  <a:lnTo>
                    <a:pt x="144780" y="2091182"/>
                  </a:lnTo>
                  <a:cubicBezTo>
                    <a:pt x="64770" y="2091182"/>
                    <a:pt x="0" y="2026412"/>
                    <a:pt x="0" y="1946402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768835" y="3997081"/>
            <a:ext cx="3270056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Rows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68835" y="4583611"/>
            <a:ext cx="3270056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3 Students (rows)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62192" y="5536559"/>
            <a:ext cx="7847857" cy="1568348"/>
            <a:chOff x="0" y="0"/>
            <a:chExt cx="10463809" cy="20911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63785" cy="2091182"/>
            </a:xfrm>
            <a:custGeom>
              <a:avLst/>
              <a:gdLst/>
              <a:ahLst/>
              <a:cxnLst/>
              <a:rect r="r" b="b" t="t" l="l"/>
              <a:pathLst>
                <a:path h="2091182" w="10463785">
                  <a:moveTo>
                    <a:pt x="0" y="144780"/>
                  </a:moveTo>
                  <a:cubicBezTo>
                    <a:pt x="0" y="64770"/>
                    <a:pt x="64770" y="0"/>
                    <a:pt x="144780" y="0"/>
                  </a:cubicBezTo>
                  <a:lnTo>
                    <a:pt x="10319004" y="0"/>
                  </a:lnTo>
                  <a:cubicBezTo>
                    <a:pt x="10399014" y="0"/>
                    <a:pt x="10463785" y="64770"/>
                    <a:pt x="10463785" y="144780"/>
                  </a:cubicBezTo>
                  <a:lnTo>
                    <a:pt x="10463785" y="1946402"/>
                  </a:lnTo>
                  <a:cubicBezTo>
                    <a:pt x="10463785" y="2026412"/>
                    <a:pt x="10399014" y="2091182"/>
                    <a:pt x="10319004" y="2091182"/>
                  </a:cubicBezTo>
                  <a:lnTo>
                    <a:pt x="144780" y="2091182"/>
                  </a:lnTo>
                  <a:cubicBezTo>
                    <a:pt x="64770" y="2091182"/>
                    <a:pt x="0" y="2026412"/>
                    <a:pt x="0" y="1946402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733359" y="5788666"/>
            <a:ext cx="7305523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Columns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3359" y="6375197"/>
            <a:ext cx="730552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3 Subjects (columns)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60688" y="866184"/>
            <a:ext cx="2035073" cy="645023"/>
            <a:chOff x="0" y="0"/>
            <a:chExt cx="2713431" cy="86003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713482" cy="860044"/>
            </a:xfrm>
            <a:custGeom>
              <a:avLst/>
              <a:gdLst/>
              <a:ahLst/>
              <a:cxnLst/>
              <a:rect r="r" b="b" t="t" l="l"/>
              <a:pathLst>
                <a:path h="860044" w="2713482">
                  <a:moveTo>
                    <a:pt x="0" y="0"/>
                  </a:moveTo>
                  <a:lnTo>
                    <a:pt x="2713482" y="0"/>
                  </a:lnTo>
                  <a:lnTo>
                    <a:pt x="2713482" y="860044"/>
                  </a:lnTo>
                  <a:lnTo>
                    <a:pt x="0" y="86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" r="1" b="-1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698127"/>
            <a:ext cx="796376" cy="329803"/>
            <a:chOff x="0" y="0"/>
            <a:chExt cx="1061834" cy="4397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847" cy="439801"/>
            </a:xfrm>
            <a:custGeom>
              <a:avLst/>
              <a:gdLst/>
              <a:ahLst/>
              <a:cxnLst/>
              <a:rect r="r" b="b" t="t" l="l"/>
              <a:pathLst>
                <a:path h="439801" w="1061847">
                  <a:moveTo>
                    <a:pt x="0" y="97282"/>
                  </a:moveTo>
                  <a:cubicBezTo>
                    <a:pt x="0" y="43561"/>
                    <a:pt x="43561" y="0"/>
                    <a:pt x="97282" y="0"/>
                  </a:cubicBezTo>
                  <a:lnTo>
                    <a:pt x="964565" y="0"/>
                  </a:lnTo>
                  <a:cubicBezTo>
                    <a:pt x="1018286" y="0"/>
                    <a:pt x="1061847" y="43561"/>
                    <a:pt x="1061847" y="97282"/>
                  </a:cubicBezTo>
                  <a:lnTo>
                    <a:pt x="1061847" y="342519"/>
                  </a:lnTo>
                  <a:cubicBezTo>
                    <a:pt x="1061847" y="396240"/>
                    <a:pt x="1018286" y="439801"/>
                    <a:pt x="964565" y="439801"/>
                  </a:cubicBezTo>
                  <a:lnTo>
                    <a:pt x="97282" y="439801"/>
                  </a:lnTo>
                  <a:cubicBezTo>
                    <a:pt x="43561" y="439801"/>
                    <a:pt x="0" y="396240"/>
                    <a:pt x="0" y="342519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2464" y="1763163"/>
            <a:ext cx="1450334" cy="19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STEP 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065734"/>
            <a:ext cx="16303523" cy="70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Indexing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159471"/>
            <a:ext cx="7886995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1D Indexing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3714007"/>
            <a:ext cx="7886995" cy="2170805"/>
            <a:chOff x="0" y="0"/>
            <a:chExt cx="10515994" cy="28944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5981" cy="2894330"/>
            </a:xfrm>
            <a:custGeom>
              <a:avLst/>
              <a:gdLst/>
              <a:ahLst/>
              <a:cxnLst/>
              <a:rect r="r" b="b" t="t" l="l"/>
              <a:pathLst>
                <a:path h="2894330" w="10515981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10394442" y="0"/>
                  </a:lnTo>
                  <a:cubicBezTo>
                    <a:pt x="10461625" y="0"/>
                    <a:pt x="10515981" y="54483"/>
                    <a:pt x="10515981" y="121539"/>
                  </a:cubicBezTo>
                  <a:lnTo>
                    <a:pt x="10515981" y="2772791"/>
                  </a:lnTo>
                  <a:cubicBezTo>
                    <a:pt x="10515981" y="2839974"/>
                    <a:pt x="10461499" y="2894330"/>
                    <a:pt x="10394442" y="2894330"/>
                  </a:cubicBezTo>
                  <a:lnTo>
                    <a:pt x="121539" y="2894330"/>
                  </a:lnTo>
                  <a:cubicBezTo>
                    <a:pt x="54356" y="2894330"/>
                    <a:pt x="0" y="2839847"/>
                    <a:pt x="0" y="2772791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52690" y="3826221"/>
            <a:ext cx="7366102" cy="173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= np.array([10, 20, 30, 40, 50])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print(a[0])    # 10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print(a[2])    # 30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print(a[-1])   # 50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8291" y="3159471"/>
            <a:ext cx="7886995" cy="36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2D Indexing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18291" y="3714007"/>
            <a:ext cx="7886995" cy="4602356"/>
            <a:chOff x="0" y="0"/>
            <a:chExt cx="10515994" cy="61364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15981" cy="6136513"/>
            </a:xfrm>
            <a:custGeom>
              <a:avLst/>
              <a:gdLst/>
              <a:ahLst/>
              <a:cxnLst/>
              <a:rect r="r" b="b" t="t" l="l"/>
              <a:pathLst>
                <a:path h="6136513" w="10515981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10394442" y="0"/>
                  </a:lnTo>
                  <a:cubicBezTo>
                    <a:pt x="10461625" y="0"/>
                    <a:pt x="10515981" y="54483"/>
                    <a:pt x="10515981" y="121539"/>
                  </a:cubicBezTo>
                  <a:lnTo>
                    <a:pt x="10515981" y="6014974"/>
                  </a:lnTo>
                  <a:cubicBezTo>
                    <a:pt x="10515981" y="6082157"/>
                    <a:pt x="10461499" y="6136513"/>
                    <a:pt x="10394442" y="6136513"/>
                  </a:cubicBezTo>
                  <a:lnTo>
                    <a:pt x="121539" y="6136513"/>
                  </a:lnTo>
                  <a:cubicBezTo>
                    <a:pt x="54356" y="6136513"/>
                    <a:pt x="0" y="6082030"/>
                    <a:pt x="0" y="6014974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78743" y="3826221"/>
            <a:ext cx="7366102" cy="413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marks = np.array([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[80, 90, 95],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[70, 75, 85],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[60, 65, 70]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print(marks[0])     # [80 90 95]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print(marks[1])     # [70 75 85]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print(marks[2])     # [60 65 70]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# Single value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print(marks[1][2])  # Output: 85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8690219"/>
            <a:ext cx="16303523" cy="730596"/>
            <a:chOff x="0" y="0"/>
            <a:chExt cx="21738031" cy="97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37954" cy="974090"/>
            </a:xfrm>
            <a:custGeom>
              <a:avLst/>
              <a:gdLst/>
              <a:ahLst/>
              <a:cxnLst/>
              <a:rect r="r" b="b" t="t" l="l"/>
              <a:pathLst>
                <a:path h="974090" w="21737954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21616415" y="0"/>
                  </a:lnTo>
                  <a:cubicBezTo>
                    <a:pt x="21683599" y="0"/>
                    <a:pt x="21737954" y="54483"/>
                    <a:pt x="21737954" y="121539"/>
                  </a:cubicBezTo>
                  <a:lnTo>
                    <a:pt x="21737954" y="852551"/>
                  </a:lnTo>
                  <a:cubicBezTo>
                    <a:pt x="21737954" y="919734"/>
                    <a:pt x="21683472" y="974090"/>
                    <a:pt x="21616415" y="974090"/>
                  </a:cubicBezTo>
                  <a:lnTo>
                    <a:pt x="121539" y="974090"/>
                  </a:lnTo>
                  <a:cubicBezTo>
                    <a:pt x="54483" y="974090"/>
                    <a:pt x="0" y="919734"/>
                    <a:pt x="0" y="852551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9227" y="8930135"/>
            <a:ext cx="271310" cy="216989"/>
            <a:chOff x="0" y="0"/>
            <a:chExt cx="361747" cy="28931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361696" cy="289306"/>
            </a:xfrm>
            <a:custGeom>
              <a:avLst/>
              <a:gdLst/>
              <a:ahLst/>
              <a:cxnLst/>
              <a:rect r="r" b="b" t="t" l="l"/>
              <a:pathLst>
                <a:path h="289306" w="361696">
                  <a:moveTo>
                    <a:pt x="0" y="0"/>
                  </a:moveTo>
                  <a:lnTo>
                    <a:pt x="361696" y="0"/>
                  </a:lnTo>
                  <a:lnTo>
                    <a:pt x="361696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1" t="0" r="-435" b="-4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697536" y="8872385"/>
            <a:ext cx="16295637" cy="34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marks[1][2] → Row 1, Column 2 → 85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802777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032397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Reshaping and Transposing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381670"/>
            <a:ext cx="16303523" cy="4196058"/>
            <a:chOff x="0" y="0"/>
            <a:chExt cx="21738031" cy="55947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7955" cy="5594731"/>
            </a:xfrm>
            <a:custGeom>
              <a:avLst/>
              <a:gdLst/>
              <a:ahLst/>
              <a:cxnLst/>
              <a:rect r="r" b="b" t="t" l="l"/>
              <a:pathLst>
                <a:path h="5594731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5435981"/>
                  </a:lnTo>
                  <a:cubicBezTo>
                    <a:pt x="21737955" y="5523611"/>
                    <a:pt x="21666836" y="5594731"/>
                    <a:pt x="21579205" y="5594731"/>
                  </a:cubicBezTo>
                  <a:lnTo>
                    <a:pt x="158750" y="5594731"/>
                  </a:lnTo>
                  <a:cubicBezTo>
                    <a:pt x="71120" y="5594731"/>
                    <a:pt x="0" y="5523611"/>
                    <a:pt x="0" y="5435981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32462" y="3531841"/>
            <a:ext cx="15623086" cy="352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arr = np.arange(12)          # [0, 1, 2, ..., 11]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matrix = arr.reshape(3, 4)   # 3 rows, 4 cols — same data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flat   = matrix.flatten()    # Back to 1D (copy)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      = matrix.T            # Transpose: 4 rows, 3 cols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ML use-case: align dimensions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Input shape (1000, 28, 28) → reshape to (1000, 784)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7896673"/>
            <a:ext cx="16303523" cy="1587551"/>
            <a:chOff x="0" y="0"/>
            <a:chExt cx="21738031" cy="21167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7955" cy="2116709"/>
            </a:xfrm>
            <a:custGeom>
              <a:avLst/>
              <a:gdLst/>
              <a:ahLst/>
              <a:cxnLst/>
              <a:rect r="r" b="b" t="t" l="l"/>
              <a:pathLst>
                <a:path h="2116709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957959"/>
                  </a:lnTo>
                  <a:cubicBezTo>
                    <a:pt x="21737955" y="2045589"/>
                    <a:pt x="21666836" y="2116709"/>
                    <a:pt x="21579205" y="2116709"/>
                  </a:cubicBezTo>
                  <a:lnTo>
                    <a:pt x="158750" y="2116709"/>
                  </a:lnTo>
                  <a:cubicBezTo>
                    <a:pt x="71120" y="2116709"/>
                    <a:pt x="0" y="2045589"/>
                    <a:pt x="0" y="1957959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5750" y="8298209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2" t="0" r="-680" b="1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13630" y="8165306"/>
            <a:ext cx="150986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reshape vs flatten: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.reshape() returns a view when possible. .flatten() always returns a copy. Use .ravel() for a faster flat view.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909638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139258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Elementwise Operations — No Loops!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53002"/>
            <a:ext cx="7805890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❌</a:t>
            </a: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Old Way (Slow)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4543425"/>
            <a:ext cx="7805890" cy="2381545"/>
            <a:chOff x="0" y="0"/>
            <a:chExt cx="10407853" cy="31753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07777" cy="3175381"/>
            </a:xfrm>
            <a:custGeom>
              <a:avLst/>
              <a:gdLst/>
              <a:ahLst/>
              <a:cxnLst/>
              <a:rect r="r" b="b" t="t" l="l"/>
              <a:pathLst>
                <a:path h="3175381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3016631"/>
                  </a:lnTo>
                  <a:cubicBezTo>
                    <a:pt x="10407777" y="3104261"/>
                    <a:pt x="10336657" y="3175381"/>
                    <a:pt x="10249027" y="3175381"/>
                  </a:cubicBezTo>
                  <a:lnTo>
                    <a:pt x="158750" y="3175381"/>
                  </a:lnTo>
                  <a:cubicBezTo>
                    <a:pt x="71120" y="3175381"/>
                    <a:pt x="0" y="3104261"/>
                    <a:pt x="0" y="3016631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32462" y="4693596"/>
            <a:ext cx="7125443" cy="194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result = []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for x in my_list: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result.append(x * 2 + 5)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Slow Python loop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6" y="3753002"/>
            <a:ext cx="7805890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✅</a:t>
            </a: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NumPy Way (Fast)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99406" y="4543425"/>
            <a:ext cx="7805890" cy="3288802"/>
            <a:chOff x="0" y="0"/>
            <a:chExt cx="10407853" cy="43850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07777" cy="4385056"/>
            </a:xfrm>
            <a:custGeom>
              <a:avLst/>
              <a:gdLst/>
              <a:ahLst/>
              <a:cxnLst/>
              <a:rect r="r" b="b" t="t" l="l"/>
              <a:pathLst>
                <a:path h="4385056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4226306"/>
                  </a:lnTo>
                  <a:cubicBezTo>
                    <a:pt x="10407777" y="4314063"/>
                    <a:pt x="10336657" y="4385056"/>
                    <a:pt x="10249027" y="4385056"/>
                  </a:cubicBezTo>
                  <a:lnTo>
                    <a:pt x="158750" y="4385056"/>
                  </a:lnTo>
                  <a:cubicBezTo>
                    <a:pt x="70993" y="4385056"/>
                    <a:pt x="0" y="4313936"/>
                    <a:pt x="0" y="4226306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9620" y="4693596"/>
            <a:ext cx="7125443" cy="285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arr = np.array([1, 2, 3, 4])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arr * 2 + 5      # [7, 9, 11, 13]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arr ** 2         # [1, 4, 9, 16]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arr1 + arr2      # Element by element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arr1 * arr2      # Multiply each pair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8384381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NumPy applies operations to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every element simultaneously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using compiled C loops — often 10–100× faster than Python iteration.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3239843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4401293"/>
            <a:ext cx="1508970" cy="430711"/>
            <a:chOff x="0" y="0"/>
            <a:chExt cx="2011959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934" cy="574294"/>
            </a:xfrm>
            <a:custGeom>
              <a:avLst/>
              <a:gdLst/>
              <a:ahLst/>
              <a:cxnLst/>
              <a:rect r="r" b="b" t="t" l="l"/>
              <a:pathLst>
                <a:path h="574294" w="201193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884934" y="0"/>
                  </a:lnTo>
                  <a:cubicBezTo>
                    <a:pt x="1955038" y="0"/>
                    <a:pt x="2011934" y="56896"/>
                    <a:pt x="2011934" y="127000"/>
                  </a:cubicBezTo>
                  <a:lnTo>
                    <a:pt x="2011934" y="447294"/>
                  </a:lnTo>
                  <a:cubicBezTo>
                    <a:pt x="2011934" y="517398"/>
                    <a:pt x="1955038" y="574294"/>
                    <a:pt x="188493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4495800"/>
            <a:ext cx="208314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CHAPTER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897784"/>
            <a:ext cx="16303523" cy="12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7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Advanced Power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507661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Universal functions, aggregation, boolean filters, and broadcasting.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4591" y="816473"/>
            <a:ext cx="2201170" cy="697706"/>
            <a:chOff x="0" y="0"/>
            <a:chExt cx="2934894" cy="93027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934843" cy="930275"/>
            </a:xfrm>
            <a:custGeom>
              <a:avLst/>
              <a:gdLst/>
              <a:ahLst/>
              <a:cxnLst/>
              <a:rect r="r" b="b" t="t" l="l"/>
              <a:pathLst>
                <a:path h="930275" w="2934843">
                  <a:moveTo>
                    <a:pt x="0" y="0"/>
                  </a:moveTo>
                  <a:lnTo>
                    <a:pt x="2934843" y="0"/>
                  </a:lnTo>
                  <a:lnTo>
                    <a:pt x="2934843" y="930275"/>
                  </a:lnTo>
                  <a:lnTo>
                    <a:pt x="0" y="930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3" r="-1" b="-31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777155"/>
            <a:ext cx="16303523" cy="76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5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Stacking and Splitting Arrays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2831011"/>
            <a:ext cx="16303523" cy="4225823"/>
            <a:chOff x="0" y="0"/>
            <a:chExt cx="21738031" cy="5634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7955" cy="5634355"/>
            </a:xfrm>
            <a:custGeom>
              <a:avLst/>
              <a:gdLst/>
              <a:ahLst/>
              <a:cxnLst/>
              <a:rect r="r" b="b" t="t" l="l"/>
              <a:pathLst>
                <a:path h="5634355" w="21737955">
                  <a:moveTo>
                    <a:pt x="0" y="131445"/>
                  </a:moveTo>
                  <a:cubicBezTo>
                    <a:pt x="0" y="58928"/>
                    <a:pt x="58928" y="0"/>
                    <a:pt x="131445" y="0"/>
                  </a:cubicBezTo>
                  <a:lnTo>
                    <a:pt x="21606511" y="0"/>
                  </a:lnTo>
                  <a:cubicBezTo>
                    <a:pt x="21679154" y="0"/>
                    <a:pt x="21737955" y="58928"/>
                    <a:pt x="21737955" y="131445"/>
                  </a:cubicBezTo>
                  <a:lnTo>
                    <a:pt x="21737955" y="5502910"/>
                  </a:lnTo>
                  <a:cubicBezTo>
                    <a:pt x="21737955" y="5575554"/>
                    <a:pt x="21679027" y="5634355"/>
                    <a:pt x="21606511" y="5634355"/>
                  </a:cubicBezTo>
                  <a:lnTo>
                    <a:pt x="131445" y="5634355"/>
                  </a:lnTo>
                  <a:cubicBezTo>
                    <a:pt x="58928" y="5634482"/>
                    <a:pt x="0" y="5575554"/>
                    <a:pt x="0" y="550291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73969" y="2960932"/>
            <a:ext cx="15740062" cy="363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= np.array([1, 2, 3])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b = np.array([4, 5, 6])</a:t>
            </a:r>
          </a:p>
          <a:p>
            <a:pPr algn="l">
              <a:lnSpc>
                <a:spcPts val="2872"/>
              </a:lnSpc>
            </a:pP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# Stacking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np.vstack([a, b])   # [[1,2,3],[4,5,6]]  ← vertical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np.hstack([a, b])   # [1,2,3,4,5,6]      ← horizontal</a:t>
            </a:r>
          </a:p>
          <a:p>
            <a:pPr algn="l">
              <a:lnSpc>
                <a:spcPts val="2872"/>
              </a:lnSpc>
            </a:pP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# Splitting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m = np.arange(12).reshape(4, 3)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parts = np.split(m, 2)   # Two 2×3 arrays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7275462"/>
            <a:ext cx="5434460" cy="939108"/>
            <a:chOff x="0" y="0"/>
            <a:chExt cx="7245947" cy="125214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245985" cy="1252093"/>
            </a:xfrm>
            <a:custGeom>
              <a:avLst/>
              <a:gdLst/>
              <a:ahLst/>
              <a:cxnLst/>
              <a:rect r="r" b="b" t="t" l="l"/>
              <a:pathLst>
                <a:path h="1252093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252093"/>
                  </a:lnTo>
                  <a:lnTo>
                    <a:pt x="0" y="1252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" r="0" b="-16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26944" y="8389887"/>
            <a:ext cx="496505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Collect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6944" y="8854230"/>
            <a:ext cx="4965059" cy="38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Gather separate data sources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26698" y="7275462"/>
            <a:ext cx="5434460" cy="939108"/>
            <a:chOff x="0" y="0"/>
            <a:chExt cx="7245947" cy="1252144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245985" cy="1252093"/>
            </a:xfrm>
            <a:custGeom>
              <a:avLst/>
              <a:gdLst/>
              <a:ahLst/>
              <a:cxnLst/>
              <a:rect r="r" b="b" t="t" l="l"/>
              <a:pathLst>
                <a:path h="1252093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252093"/>
                  </a:lnTo>
                  <a:lnTo>
                    <a:pt x="0" y="1252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6" r="0" b="-16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61394" y="8389887"/>
            <a:ext cx="496505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Stack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1394" y="8854230"/>
            <a:ext cx="4965059" cy="38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Combine with vstack / hstack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861159" y="7275462"/>
            <a:ext cx="5434460" cy="939108"/>
            <a:chOff x="0" y="0"/>
            <a:chExt cx="7245947" cy="125214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245985" cy="1252093"/>
            </a:xfrm>
            <a:custGeom>
              <a:avLst/>
              <a:gdLst/>
              <a:ahLst/>
              <a:cxnLst/>
              <a:rect r="r" b="b" t="t" l="l"/>
              <a:pathLst>
                <a:path h="1252093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252093"/>
                  </a:lnTo>
                  <a:lnTo>
                    <a:pt x="0" y="1252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6" r="0" b="-16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95855" y="8389887"/>
            <a:ext cx="4965059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Split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5855" y="8854230"/>
            <a:ext cx="4965059" cy="38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Partition into train/test sets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86832" y="803967"/>
            <a:ext cx="2408930" cy="763486"/>
            <a:chOff x="0" y="0"/>
            <a:chExt cx="3211906" cy="101798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211957" cy="1018032"/>
            </a:xfrm>
            <a:custGeom>
              <a:avLst/>
              <a:gdLst/>
              <a:ahLst/>
              <a:cxnLst/>
              <a:rect r="r" b="b" t="t" l="l"/>
              <a:pathLst>
                <a:path h="1018032" w="3211957">
                  <a:moveTo>
                    <a:pt x="0" y="0"/>
                  </a:moveTo>
                  <a:lnTo>
                    <a:pt x="3211957" y="0"/>
                  </a:lnTo>
                  <a:lnTo>
                    <a:pt x="3211957" y="1018032"/>
                  </a:lnTo>
                  <a:lnTo>
                    <a:pt x="0" y="1018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7" r="1" b="-50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878511"/>
            <a:ext cx="16303523" cy="84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Statistical Functions on Real Data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330626"/>
            <a:ext cx="7838332" cy="4214660"/>
            <a:chOff x="0" y="0"/>
            <a:chExt cx="10451109" cy="56195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51085" cy="5619496"/>
            </a:xfrm>
            <a:custGeom>
              <a:avLst/>
              <a:gdLst/>
              <a:ahLst/>
              <a:cxnLst/>
              <a:rect r="r" b="b" t="t" l="l"/>
              <a:pathLst>
                <a:path h="5619496" w="10451085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10307193" y="0"/>
                  </a:lnTo>
                  <a:cubicBezTo>
                    <a:pt x="10386695" y="0"/>
                    <a:pt x="10451085" y="64389"/>
                    <a:pt x="10451085" y="143891"/>
                  </a:cubicBezTo>
                  <a:lnTo>
                    <a:pt x="10451085" y="5475605"/>
                  </a:lnTo>
                  <a:cubicBezTo>
                    <a:pt x="10451085" y="5555107"/>
                    <a:pt x="10386695" y="5619496"/>
                    <a:pt x="10307193" y="5619496"/>
                  </a:cubicBezTo>
                  <a:lnTo>
                    <a:pt x="143891" y="5619496"/>
                  </a:lnTo>
                  <a:cubicBezTo>
                    <a:pt x="64389" y="5619496"/>
                    <a:pt x="0" y="5555107"/>
                    <a:pt x="0" y="5475605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00458" y="3473206"/>
            <a:ext cx="7221884" cy="3614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data = np.array([23, 45, 12, 67,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         34, 89, 56, 22])</a:t>
            </a:r>
          </a:p>
          <a:p>
            <a:pPr algn="l">
              <a:lnSpc>
                <a:spcPts val="3192"/>
              </a:lnSpc>
            </a:pP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np.mean(data)    # 43.5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np.median(data)  # 39.5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np.std(data)     # 24.8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np.var(data)     # 617.75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np.percentile(data, 75)  # 59.75</a:t>
            </a:r>
          </a:p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np.corrcoef(x, y)        # Correlation matrix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6955" y="3282401"/>
            <a:ext cx="7838332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Why It Matters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466955" y="3964781"/>
            <a:ext cx="7838332" cy="1596923"/>
          </a:xfrm>
          <a:custGeom>
            <a:avLst/>
            <a:gdLst/>
            <a:ahLst/>
            <a:cxnLst/>
            <a:rect r="r" b="b" t="t" l="l"/>
            <a:pathLst>
              <a:path h="1596923" w="7838332">
                <a:moveTo>
                  <a:pt x="0" y="0"/>
                </a:moveTo>
                <a:lnTo>
                  <a:pt x="7838332" y="0"/>
                </a:lnTo>
                <a:lnTo>
                  <a:pt x="7838332" y="1596924"/>
                </a:lnTo>
                <a:lnTo>
                  <a:pt x="0" y="1596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7" r="0" b="-9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66709" y="4231186"/>
            <a:ext cx="7153123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Descriptive Stats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66709" y="4817716"/>
            <a:ext cx="715312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Summarize datasets instantly without Pandas.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466955" y="5794477"/>
            <a:ext cx="7838332" cy="1596923"/>
          </a:xfrm>
          <a:custGeom>
            <a:avLst/>
            <a:gdLst/>
            <a:ahLst/>
            <a:cxnLst/>
            <a:rect r="r" b="b" t="t" l="l"/>
            <a:pathLst>
              <a:path h="1596923" w="7838332">
                <a:moveTo>
                  <a:pt x="0" y="0"/>
                </a:moveTo>
                <a:lnTo>
                  <a:pt x="7838332" y="0"/>
                </a:lnTo>
                <a:lnTo>
                  <a:pt x="7838332" y="1596923"/>
                </a:lnTo>
                <a:lnTo>
                  <a:pt x="0" y="1596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7" r="0" b="-9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66709" y="6060872"/>
            <a:ext cx="7153123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Outlier Detection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66709" y="6647412"/>
            <a:ext cx="715312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Use std deviation to find anomalies.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466955" y="7624172"/>
            <a:ext cx="7838332" cy="1596923"/>
          </a:xfrm>
          <a:custGeom>
            <a:avLst/>
            <a:gdLst/>
            <a:ahLst/>
            <a:cxnLst/>
            <a:rect r="r" b="b" t="t" l="l"/>
            <a:pathLst>
              <a:path h="1596923" w="7838332">
                <a:moveTo>
                  <a:pt x="0" y="0"/>
                </a:moveTo>
                <a:lnTo>
                  <a:pt x="7838332" y="0"/>
                </a:lnTo>
                <a:lnTo>
                  <a:pt x="7838332" y="1596923"/>
                </a:lnTo>
                <a:lnTo>
                  <a:pt x="0" y="1596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7" r="0" b="-97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866709" y="7890567"/>
            <a:ext cx="7153123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Feature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66709" y="8477098"/>
            <a:ext cx="715312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Normalize and scale features for ML models.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802777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032397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Random Number Generation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381670"/>
            <a:ext cx="16303523" cy="4196058"/>
            <a:chOff x="0" y="0"/>
            <a:chExt cx="21738031" cy="55947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7955" cy="5594731"/>
            </a:xfrm>
            <a:custGeom>
              <a:avLst/>
              <a:gdLst/>
              <a:ahLst/>
              <a:cxnLst/>
              <a:rect r="r" b="b" t="t" l="l"/>
              <a:pathLst>
                <a:path h="5594731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5435981"/>
                  </a:lnTo>
                  <a:cubicBezTo>
                    <a:pt x="21737955" y="5523611"/>
                    <a:pt x="21666836" y="5594731"/>
                    <a:pt x="21579205" y="5594731"/>
                  </a:cubicBezTo>
                  <a:lnTo>
                    <a:pt x="158750" y="5594731"/>
                  </a:lnTo>
                  <a:cubicBezTo>
                    <a:pt x="71120" y="5594731"/>
                    <a:pt x="0" y="5523611"/>
                    <a:pt x="0" y="5435981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32462" y="3531841"/>
            <a:ext cx="15623086" cy="352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# Reproducibility — always set a seed first!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np.random.seed(42)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np.random.rand(3, 3)            # Uniform [0, 1)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np.random.randn(5)              # Standard normal (mean=0, std=1)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np.random.normal(0, 1, 1000)   # Normal: mean=0, std=1, n=1000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np.random.randint(1, 100, 10)  # 10 integers between 1 and 99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np.random.choice([1,2,3,4], 5) # Random sampling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7896673"/>
            <a:ext cx="16303523" cy="1587551"/>
            <a:chOff x="0" y="0"/>
            <a:chExt cx="21738031" cy="21167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7955" cy="2116709"/>
            </a:xfrm>
            <a:custGeom>
              <a:avLst/>
              <a:gdLst/>
              <a:ahLst/>
              <a:cxnLst/>
              <a:rect r="r" b="b" t="t" l="l"/>
              <a:pathLst>
                <a:path h="2116709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957959"/>
                  </a:lnTo>
                  <a:cubicBezTo>
                    <a:pt x="21737955" y="2045589"/>
                    <a:pt x="21666836" y="2116709"/>
                    <a:pt x="21579205" y="2116709"/>
                  </a:cubicBezTo>
                  <a:lnTo>
                    <a:pt x="158750" y="2116709"/>
                  </a:lnTo>
                  <a:cubicBezTo>
                    <a:pt x="71120" y="2116709"/>
                    <a:pt x="0" y="2045589"/>
                    <a:pt x="0" y="1957959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5750" y="8298209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2" t="0" r="-680" b="1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13630" y="8165306"/>
            <a:ext cx="150986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Always call np.random.seed(42) before generating random data in experiments so results are </a:t>
            </a:r>
            <a:r>
              <a:rPr lang="en-US" sz="2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reproducible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by anyone running your code.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3239843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4401293"/>
            <a:ext cx="1508970" cy="430711"/>
            <a:chOff x="0" y="0"/>
            <a:chExt cx="2011959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934" cy="574294"/>
            </a:xfrm>
            <a:custGeom>
              <a:avLst/>
              <a:gdLst/>
              <a:ahLst/>
              <a:cxnLst/>
              <a:rect r="r" b="b" t="t" l="l"/>
              <a:pathLst>
                <a:path h="574294" w="201193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884934" y="0"/>
                  </a:lnTo>
                  <a:cubicBezTo>
                    <a:pt x="1955038" y="0"/>
                    <a:pt x="2011934" y="56896"/>
                    <a:pt x="2011934" y="127000"/>
                  </a:cubicBezTo>
                  <a:lnTo>
                    <a:pt x="2011934" y="447294"/>
                  </a:lnTo>
                  <a:cubicBezTo>
                    <a:pt x="2011934" y="517398"/>
                    <a:pt x="1955038" y="574294"/>
                    <a:pt x="188493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4495800"/>
            <a:ext cx="208314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CHAPTER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897784"/>
            <a:ext cx="16303523" cy="12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7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Visualization &amp; Insight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507661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Turning raw arrays into meaningful visual representations with Matplotlib.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11552" y="789984"/>
            <a:ext cx="2284209" cy="724052"/>
            <a:chOff x="0" y="0"/>
            <a:chExt cx="3045612" cy="96540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045587" cy="965454"/>
            </a:xfrm>
            <a:custGeom>
              <a:avLst/>
              <a:gdLst/>
              <a:ahLst/>
              <a:cxnLst/>
              <a:rect r="r" b="b" t="t" l="l"/>
              <a:pathLst>
                <a:path h="965454" w="3045587">
                  <a:moveTo>
                    <a:pt x="0" y="0"/>
                  </a:moveTo>
                  <a:lnTo>
                    <a:pt x="3045587" y="0"/>
                  </a:lnTo>
                  <a:lnTo>
                    <a:pt x="3045587" y="965454"/>
                  </a:lnTo>
                  <a:lnTo>
                    <a:pt x="0" y="965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07" r="0" b="-60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809007"/>
            <a:ext cx="16303523" cy="78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2D Arrays as Datasets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846337"/>
            <a:ext cx="17217923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8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2D NumPy array is the natural structure for tabular data — each </a:t>
            </a:r>
            <a:r>
              <a:rPr lang="en-US" sz="18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row is a sample</a:t>
            </a:r>
            <a:r>
              <a:rPr lang="en-US" sz="18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, each </a:t>
            </a:r>
            <a:r>
              <a:rPr lang="en-US" sz="18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column is a feature</a:t>
            </a:r>
            <a:r>
              <a:rPr lang="en-US" sz="18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501333"/>
            <a:ext cx="16303523" cy="4385072"/>
            <a:chOff x="0" y="0"/>
            <a:chExt cx="21738031" cy="58467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8082" cy="5846826"/>
            </a:xfrm>
            <a:custGeom>
              <a:avLst/>
              <a:gdLst/>
              <a:ahLst/>
              <a:cxnLst/>
              <a:rect r="r" b="b" t="t" l="l"/>
              <a:pathLst>
                <a:path h="5846826" w="21738082">
                  <a:moveTo>
                    <a:pt x="0" y="136525"/>
                  </a:moveTo>
                  <a:cubicBezTo>
                    <a:pt x="0" y="61087"/>
                    <a:pt x="61087" y="0"/>
                    <a:pt x="136525" y="0"/>
                  </a:cubicBezTo>
                  <a:lnTo>
                    <a:pt x="21601557" y="0"/>
                  </a:lnTo>
                  <a:cubicBezTo>
                    <a:pt x="21676869" y="0"/>
                    <a:pt x="21738082" y="61087"/>
                    <a:pt x="21738082" y="136525"/>
                  </a:cubicBezTo>
                  <a:lnTo>
                    <a:pt x="21738082" y="5710301"/>
                  </a:lnTo>
                  <a:cubicBezTo>
                    <a:pt x="21738082" y="5785612"/>
                    <a:pt x="21676996" y="5846826"/>
                    <a:pt x="21601557" y="5846826"/>
                  </a:cubicBezTo>
                  <a:lnTo>
                    <a:pt x="136525" y="5846826"/>
                  </a:lnTo>
                  <a:cubicBezTo>
                    <a:pt x="61087" y="5846826"/>
                    <a:pt x="0" y="5785612"/>
                    <a:pt x="0" y="5710301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4532" y="3630663"/>
            <a:ext cx="15718927" cy="401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# Simulate a dataset: 5 students, 3 exam scores each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dataset = np.array([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[85, 90, 78],   # Student 1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[72, 68, 80],   # Student 2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[91, 95, 88],   # Student 3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[60, 55, 70],   # Student 4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[77, 82, 85],   # Student 5</a:t>
            </a: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3032"/>
              </a:lnSpc>
            </a:pPr>
          </a:p>
          <a:p>
            <a:pPr algn="l">
              <a:lnSpc>
                <a:spcPts val="3032"/>
              </a:lnSpc>
            </a:pPr>
            <a:r>
              <a:rPr lang="en-US" sz="18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print(dataset.shape)  # (5, 3) → 5 rows, 3 columns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7476" y="8117081"/>
            <a:ext cx="16313048" cy="1384554"/>
            <a:chOff x="0" y="0"/>
            <a:chExt cx="21750731" cy="1846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50781" cy="1846072"/>
            </a:xfrm>
            <a:custGeom>
              <a:avLst/>
              <a:gdLst/>
              <a:ahLst/>
              <a:cxnLst/>
              <a:rect r="r" b="b" t="t" l="l"/>
              <a:pathLst>
                <a:path h="1846072" w="21750781">
                  <a:moveTo>
                    <a:pt x="0" y="137414"/>
                  </a:moveTo>
                  <a:cubicBezTo>
                    <a:pt x="0" y="61468"/>
                    <a:pt x="61468" y="0"/>
                    <a:pt x="137414" y="0"/>
                  </a:cubicBezTo>
                  <a:lnTo>
                    <a:pt x="21613368" y="0"/>
                  </a:lnTo>
                  <a:cubicBezTo>
                    <a:pt x="21689313" y="0"/>
                    <a:pt x="21750781" y="61468"/>
                    <a:pt x="21750781" y="137414"/>
                  </a:cubicBezTo>
                  <a:lnTo>
                    <a:pt x="21750781" y="1708658"/>
                  </a:lnTo>
                  <a:cubicBezTo>
                    <a:pt x="21750781" y="1784604"/>
                    <a:pt x="21689313" y="1846072"/>
                    <a:pt x="21613368" y="1846072"/>
                  </a:cubicBezTo>
                  <a:lnTo>
                    <a:pt x="137414" y="1846072"/>
                  </a:lnTo>
                  <a:cubicBezTo>
                    <a:pt x="61468" y="1846072"/>
                    <a:pt x="0" y="1784604"/>
                    <a:pt x="0" y="1708658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1763" y="8131378"/>
            <a:ext cx="5428059" cy="1355969"/>
            <a:chOff x="0" y="0"/>
            <a:chExt cx="7237412" cy="18079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37476" cy="1807972"/>
            </a:xfrm>
            <a:custGeom>
              <a:avLst/>
              <a:gdLst/>
              <a:ahLst/>
              <a:cxnLst/>
              <a:rect r="r" b="b" t="t" l="l"/>
              <a:pathLst>
                <a:path h="1807972" w="7237476">
                  <a:moveTo>
                    <a:pt x="113665" y="0"/>
                  </a:moveTo>
                  <a:lnTo>
                    <a:pt x="7237476" y="0"/>
                  </a:lnTo>
                  <a:lnTo>
                    <a:pt x="7237476" y="1807972"/>
                  </a:lnTo>
                  <a:lnTo>
                    <a:pt x="113665" y="1807972"/>
                  </a:lnTo>
                  <a:cubicBezTo>
                    <a:pt x="50927" y="1807972"/>
                    <a:pt x="0" y="1757045"/>
                    <a:pt x="0" y="1694307"/>
                  </a:cubicBezTo>
                  <a:lnTo>
                    <a:pt x="0" y="113665"/>
                  </a:lnTo>
                  <a:cubicBezTo>
                    <a:pt x="0" y="50927"/>
                    <a:pt x="50927" y="0"/>
                    <a:pt x="113665" y="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45394" y="8355959"/>
            <a:ext cx="4940798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Rows = Samples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394" y="8824170"/>
            <a:ext cx="4940798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8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Each student / observation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29823" y="8131378"/>
            <a:ext cx="5428212" cy="1355969"/>
            <a:chOff x="0" y="0"/>
            <a:chExt cx="7237616" cy="18079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37603" cy="1807972"/>
            </a:xfrm>
            <a:custGeom>
              <a:avLst/>
              <a:gdLst/>
              <a:ahLst/>
              <a:cxnLst/>
              <a:rect r="r" b="b" t="t" l="l"/>
              <a:pathLst>
                <a:path h="1807972" w="7237603">
                  <a:moveTo>
                    <a:pt x="0" y="0"/>
                  </a:moveTo>
                  <a:lnTo>
                    <a:pt x="7237603" y="0"/>
                  </a:lnTo>
                  <a:lnTo>
                    <a:pt x="7237603" y="1807972"/>
                  </a:lnTo>
                  <a:lnTo>
                    <a:pt x="0" y="1807972"/>
                  </a:ln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29823" y="8131378"/>
            <a:ext cx="28575" cy="1355969"/>
            <a:chOff x="0" y="0"/>
            <a:chExt cx="38100" cy="18079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" cy="1807972"/>
            </a:xfrm>
            <a:custGeom>
              <a:avLst/>
              <a:gdLst/>
              <a:ahLst/>
              <a:cxnLst/>
              <a:rect r="r" b="b" t="t" l="l"/>
              <a:pathLst>
                <a:path h="180797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788922"/>
                  </a:lnTo>
                  <a:cubicBezTo>
                    <a:pt x="38100" y="1799463"/>
                    <a:pt x="29591" y="1807972"/>
                    <a:pt x="19050" y="1807972"/>
                  </a:cubicBezTo>
                  <a:cubicBezTo>
                    <a:pt x="8509" y="1807972"/>
                    <a:pt x="0" y="1799463"/>
                    <a:pt x="0" y="1788922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673453" y="8355959"/>
            <a:ext cx="4940941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Columns = Features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3453" y="8824170"/>
            <a:ext cx="494094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8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Each exam / measurement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858034" y="8131378"/>
            <a:ext cx="5428212" cy="1355969"/>
            <a:chOff x="0" y="0"/>
            <a:chExt cx="7237616" cy="18079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37603" cy="1807972"/>
            </a:xfrm>
            <a:custGeom>
              <a:avLst/>
              <a:gdLst/>
              <a:ahLst/>
              <a:cxnLst/>
              <a:rect r="r" b="b" t="t" l="l"/>
              <a:pathLst>
                <a:path h="1807972" w="7237603">
                  <a:moveTo>
                    <a:pt x="0" y="0"/>
                  </a:moveTo>
                  <a:lnTo>
                    <a:pt x="7123938" y="0"/>
                  </a:lnTo>
                  <a:cubicBezTo>
                    <a:pt x="7186676" y="0"/>
                    <a:pt x="7237603" y="50927"/>
                    <a:pt x="7237603" y="113665"/>
                  </a:cubicBezTo>
                  <a:lnTo>
                    <a:pt x="7237603" y="1694307"/>
                  </a:lnTo>
                  <a:cubicBezTo>
                    <a:pt x="7237603" y="1757045"/>
                    <a:pt x="7186676" y="1807972"/>
                    <a:pt x="7123938" y="1807972"/>
                  </a:cubicBezTo>
                  <a:lnTo>
                    <a:pt x="0" y="1807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858034" y="8131378"/>
            <a:ext cx="28575" cy="1355969"/>
            <a:chOff x="0" y="0"/>
            <a:chExt cx="38100" cy="18079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" cy="1807972"/>
            </a:xfrm>
            <a:custGeom>
              <a:avLst/>
              <a:gdLst/>
              <a:ahLst/>
              <a:cxnLst/>
              <a:rect r="r" b="b" t="t" l="l"/>
              <a:pathLst>
                <a:path h="180797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788922"/>
                  </a:lnTo>
                  <a:cubicBezTo>
                    <a:pt x="38100" y="1799463"/>
                    <a:pt x="29591" y="1807972"/>
                    <a:pt x="19050" y="1807972"/>
                  </a:cubicBezTo>
                  <a:cubicBezTo>
                    <a:pt x="8509" y="1807972"/>
                    <a:pt x="0" y="1799463"/>
                    <a:pt x="0" y="1788922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101665" y="8355959"/>
            <a:ext cx="4940941" cy="39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Shape = (n, m)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01665" y="8824170"/>
            <a:ext cx="494094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8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 samples, m features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219159" y="779707"/>
            <a:ext cx="2076602" cy="658120"/>
            <a:chOff x="0" y="0"/>
            <a:chExt cx="2768803" cy="87749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768854" cy="877443"/>
            </a:xfrm>
            <a:custGeom>
              <a:avLst/>
              <a:gdLst/>
              <a:ahLst/>
              <a:cxnLst/>
              <a:rect r="r" b="b" t="t" l="l"/>
              <a:pathLst>
                <a:path h="877443" w="2768854">
                  <a:moveTo>
                    <a:pt x="0" y="0"/>
                  </a:moveTo>
                  <a:lnTo>
                    <a:pt x="2768854" y="0"/>
                  </a:lnTo>
                  <a:lnTo>
                    <a:pt x="2768854" y="877443"/>
                  </a:lnTo>
                  <a:lnTo>
                    <a:pt x="0" y="877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28" r="1" b="-43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668809"/>
            <a:ext cx="16303523" cy="72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2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Features (X) and Target (y)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611041"/>
            <a:ext cx="17217923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most critical split in machine learning: separate your </a:t>
            </a:r>
            <a:r>
              <a:rPr lang="en-US" sz="17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 features</a:t>
            </a: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from your </a:t>
            </a:r>
            <a:r>
              <a:rPr lang="en-US" sz="17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prediction target</a:t>
            </a: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159328"/>
            <a:ext cx="16303523" cy="5401866"/>
            <a:chOff x="0" y="0"/>
            <a:chExt cx="21738031" cy="7202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8082" cy="7202551"/>
            </a:xfrm>
            <a:custGeom>
              <a:avLst/>
              <a:gdLst/>
              <a:ahLst/>
              <a:cxnLst/>
              <a:rect r="r" b="b" t="t" l="l"/>
              <a:pathLst>
                <a:path h="7202551" w="21738082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21614003" y="0"/>
                  </a:lnTo>
                  <a:cubicBezTo>
                    <a:pt x="21682456" y="0"/>
                    <a:pt x="21738082" y="55499"/>
                    <a:pt x="21738082" y="124079"/>
                  </a:cubicBezTo>
                  <a:lnTo>
                    <a:pt x="21738082" y="7078472"/>
                  </a:lnTo>
                  <a:cubicBezTo>
                    <a:pt x="21738082" y="7146925"/>
                    <a:pt x="21682583" y="7202551"/>
                    <a:pt x="21614003" y="7202551"/>
                  </a:cubicBezTo>
                  <a:lnTo>
                    <a:pt x="124079" y="7202551"/>
                  </a:lnTo>
                  <a:cubicBezTo>
                    <a:pt x="55626" y="7202551"/>
                    <a:pt x="0" y="7147052"/>
                    <a:pt x="0" y="7078472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58043" y="3276009"/>
            <a:ext cx="15771914" cy="506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# Dataset: [Math, Science, English, Pass/Fail]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data = np.array([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[85, 90, 78, 1],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[72, 68, 80, 1],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[40, 45, 55, 0],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[91, 95, 88, 1],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[30, 28, 40, 0],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X = data[:, :-1]   # All rows, all columns EXCEPT last → Features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y = data[:, -1]    # All rows, ONLY last column       → Target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print(X.shape)  # (5, 3)</a:t>
            </a:r>
          </a:p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print(y.shape)  # (5,)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8755856"/>
            <a:ext cx="16303523" cy="754856"/>
            <a:chOff x="0" y="0"/>
            <a:chExt cx="21738031" cy="10064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38082" cy="1006475"/>
            </a:xfrm>
            <a:custGeom>
              <a:avLst/>
              <a:gdLst/>
              <a:ahLst/>
              <a:cxnLst/>
              <a:rect r="r" b="b" t="t" l="l"/>
              <a:pathLst>
                <a:path h="1006475" w="21738082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21614003" y="0"/>
                  </a:lnTo>
                  <a:cubicBezTo>
                    <a:pt x="21682456" y="0"/>
                    <a:pt x="21738082" y="55499"/>
                    <a:pt x="21738082" y="124079"/>
                  </a:cubicBezTo>
                  <a:lnTo>
                    <a:pt x="21738082" y="882396"/>
                  </a:lnTo>
                  <a:cubicBezTo>
                    <a:pt x="21738082" y="950849"/>
                    <a:pt x="21682583" y="1006475"/>
                    <a:pt x="21614003" y="1006475"/>
                  </a:cubicBezTo>
                  <a:lnTo>
                    <a:pt x="124079" y="1006475"/>
                  </a:lnTo>
                  <a:cubicBezTo>
                    <a:pt x="55499" y="1006475"/>
                    <a:pt x="0" y="950976"/>
                    <a:pt x="0" y="882396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13695" y="8999934"/>
            <a:ext cx="276816" cy="221456"/>
            <a:chOff x="0" y="0"/>
            <a:chExt cx="369087" cy="29527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69062" cy="295275"/>
            </a:xfrm>
            <a:custGeom>
              <a:avLst/>
              <a:gdLst/>
              <a:ahLst/>
              <a:cxnLst/>
              <a:rect r="r" b="b" t="t" l="l"/>
              <a:pathLst>
                <a:path h="295275" w="369062">
                  <a:moveTo>
                    <a:pt x="0" y="0"/>
                  </a:moveTo>
                  <a:lnTo>
                    <a:pt x="369062" y="0"/>
                  </a:lnTo>
                  <a:lnTo>
                    <a:pt x="369062" y="295275"/>
                  </a:lnTo>
                  <a:lnTo>
                    <a:pt x="0" y="295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11966" y="8946061"/>
            <a:ext cx="16276739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X / y split is the universal convention in Scikit-Learn, Keras, and every ML framework. NumPy slicing makes it a one-liner.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79696" y="3184179"/>
            <a:ext cx="2658066" cy="842515"/>
            <a:chOff x="0" y="0"/>
            <a:chExt cx="3544087" cy="112335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413799"/>
            <a:ext cx="9445523" cy="18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Mini Machine Learning Example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63325"/>
            <a:ext cx="10359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Bringing it all together — a full prediction pipeline using only NumPy.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66729" y="779707"/>
            <a:ext cx="1329033" cy="421186"/>
            <a:chOff x="0" y="0"/>
            <a:chExt cx="1772044" cy="56158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772031" cy="561594"/>
            </a:xfrm>
            <a:custGeom>
              <a:avLst/>
              <a:gdLst/>
              <a:ahLst/>
              <a:cxnLst/>
              <a:rect r="r" b="b" t="t" l="l"/>
              <a:pathLst>
                <a:path h="561594" w="1772031">
                  <a:moveTo>
                    <a:pt x="0" y="0"/>
                  </a:moveTo>
                  <a:lnTo>
                    <a:pt x="1772031" y="0"/>
                  </a:lnTo>
                  <a:lnTo>
                    <a:pt x="1772031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12" r="0" b="-71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288104"/>
            <a:ext cx="1630352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Predict Exam Pass/Fail with NumPy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1856337"/>
            <a:ext cx="16303523" cy="3685584"/>
            <a:chOff x="0" y="0"/>
            <a:chExt cx="21738031" cy="49141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7955" cy="4914011"/>
            </a:xfrm>
            <a:custGeom>
              <a:avLst/>
              <a:gdLst/>
              <a:ahLst/>
              <a:cxnLst/>
              <a:rect r="r" b="b" t="t" l="l"/>
              <a:pathLst>
                <a:path h="4914011" w="21737955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21658580" y="0"/>
                  </a:lnTo>
                  <a:cubicBezTo>
                    <a:pt x="21702395" y="0"/>
                    <a:pt x="21737955" y="35560"/>
                    <a:pt x="21737955" y="79375"/>
                  </a:cubicBezTo>
                  <a:lnTo>
                    <a:pt x="21737955" y="4834636"/>
                  </a:lnTo>
                  <a:cubicBezTo>
                    <a:pt x="21737955" y="4878451"/>
                    <a:pt x="21702395" y="4914011"/>
                    <a:pt x="21658580" y="4914011"/>
                  </a:cubicBezTo>
                  <a:lnTo>
                    <a:pt x="79375" y="4914011"/>
                  </a:lnTo>
                  <a:cubicBezTo>
                    <a:pt x="35560" y="4914011"/>
                    <a:pt x="0" y="4878451"/>
                    <a:pt x="0" y="4834636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62345" y="1931346"/>
            <a:ext cx="15963300" cy="346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np.random.seed(42)</a:t>
            </a:r>
          </a:p>
          <a:p>
            <a:pPr algn="l">
              <a:lnSpc>
                <a:spcPts val="1755"/>
              </a:lnSpc>
            </a:pP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Step 1: Create synthetic dataset</a:t>
            </a: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X = np.random.normal(70, 15, (100, 3))  # 100 students, 3 scores</a:t>
            </a: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y = (X.mean(axis=1) &gt;= 65).astype(int)  # Pass if avg ≥ 65</a:t>
            </a:r>
          </a:p>
          <a:p>
            <a:pPr algn="l">
              <a:lnSpc>
                <a:spcPts val="1755"/>
              </a:lnSpc>
            </a:pP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Step 2: Extract features and target (already done!)</a:t>
            </a: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X.shape = (100, 3),  y.shape = (100,)</a:t>
            </a:r>
          </a:p>
          <a:p>
            <a:pPr algn="l">
              <a:lnSpc>
                <a:spcPts val="1755"/>
              </a:lnSpc>
            </a:pP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Step 3: Simple threshold classifier</a:t>
            </a: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predictions = (X.mean(axis=1) &gt;= 65).astype(int)</a:t>
            </a:r>
          </a:p>
          <a:p>
            <a:pPr algn="l">
              <a:lnSpc>
                <a:spcPts val="1755"/>
              </a:lnSpc>
            </a:pP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Step 4: Evaluate accuracy</a:t>
            </a: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accuracy = np.mean(predictions == y) * 100</a:t>
            </a:r>
          </a:p>
          <a:p>
            <a:pPr algn="l">
              <a:lnSpc>
                <a:spcPts val="1755"/>
              </a:lnSpc>
            </a:pPr>
            <a:r>
              <a:rPr lang="en-US" sz="11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print(f"Accuracy: {accuracy:.1f}%")  # 100.0%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804817" y="5621541"/>
            <a:ext cx="12678366" cy="5802506"/>
            <a:chOff x="0" y="0"/>
            <a:chExt cx="16904487" cy="7736675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6904463" cy="7736713"/>
            </a:xfrm>
            <a:custGeom>
              <a:avLst/>
              <a:gdLst/>
              <a:ahLst/>
              <a:cxnLst/>
              <a:rect r="r" b="b" t="t" l="l"/>
              <a:pathLst>
                <a:path h="7736713" w="16904463">
                  <a:moveTo>
                    <a:pt x="0" y="0"/>
                  </a:moveTo>
                  <a:lnTo>
                    <a:pt x="16904463" y="0"/>
                  </a:lnTo>
                  <a:lnTo>
                    <a:pt x="16904463" y="7736713"/>
                  </a:lnTo>
                  <a:lnTo>
                    <a:pt x="0" y="7736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" r="0" b="-3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12726" y="10036607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Evaluate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2913" y="9807340"/>
            <a:ext cx="2380288" cy="92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Make Predictions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9407" y="10036607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Extract X &amp; 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80683" y="10036607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Create Dataset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1624908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854528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Power of the Ecosystem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203802"/>
            <a:ext cx="1676400" cy="1676400"/>
            <a:chOff x="0" y="0"/>
            <a:chExt cx="2235200" cy="2235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2352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2235200">
                  <a:moveTo>
                    <a:pt x="0" y="0"/>
                  </a:moveTo>
                  <a:lnTo>
                    <a:pt x="2235200" y="0"/>
                  </a:lnTo>
                  <a:lnTo>
                    <a:pt x="2235200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6215510"/>
            <a:ext cx="381000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Pandas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761855"/>
            <a:ext cx="3810000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DataFrames are built on NumPy arrays. Every column is a NumPy array under the hood.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56597" y="4203802"/>
            <a:ext cx="1676400" cy="1676400"/>
            <a:chOff x="0" y="0"/>
            <a:chExt cx="2235200" cy="22352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2352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2235200">
                  <a:moveTo>
                    <a:pt x="0" y="0"/>
                  </a:moveTo>
                  <a:lnTo>
                    <a:pt x="2235200" y="0"/>
                  </a:lnTo>
                  <a:lnTo>
                    <a:pt x="2235200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156597" y="6215510"/>
            <a:ext cx="381015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Scikit-Learn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56597" y="6761855"/>
            <a:ext cx="381015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All ML models expect NumPy arrays as input. The fit(X, y) pattern is universal.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21108" y="4203802"/>
            <a:ext cx="1676400" cy="1676400"/>
            <a:chOff x="0" y="0"/>
            <a:chExt cx="2235200" cy="2235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2352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2235200">
                  <a:moveTo>
                    <a:pt x="0" y="0"/>
                  </a:moveTo>
                  <a:lnTo>
                    <a:pt x="2235200" y="0"/>
                  </a:lnTo>
                  <a:lnTo>
                    <a:pt x="2235200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321108" y="6215510"/>
            <a:ext cx="381015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TensorFlow / PyTorch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1108" y="6761855"/>
            <a:ext cx="3810152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Tensors are multi-dimensional arrays — conceptually identical to NumPy arrays.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485609" y="4203802"/>
            <a:ext cx="1676400" cy="1676400"/>
            <a:chOff x="0" y="0"/>
            <a:chExt cx="2235200" cy="22352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2235200" cy="2235200"/>
            </a:xfrm>
            <a:custGeom>
              <a:avLst/>
              <a:gdLst/>
              <a:ahLst/>
              <a:cxnLst/>
              <a:rect r="r" b="b" t="t" l="l"/>
              <a:pathLst>
                <a:path h="2235200" w="2235200">
                  <a:moveTo>
                    <a:pt x="0" y="0"/>
                  </a:moveTo>
                  <a:lnTo>
                    <a:pt x="2235200" y="0"/>
                  </a:lnTo>
                  <a:lnTo>
                    <a:pt x="2235200" y="2235200"/>
                  </a:lnTo>
                  <a:lnTo>
                    <a:pt x="0" y="223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485609" y="6215510"/>
            <a:ext cx="381015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Matplotlib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5609" y="6761855"/>
            <a:ext cx="3810152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Every plot takes NumPy arrays as input for axes, image data, and transformations.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7696" y="906809"/>
            <a:ext cx="2658066" cy="842515"/>
            <a:chOff x="0" y="0"/>
            <a:chExt cx="3544087" cy="11233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3544062" cy="1123315"/>
            </a:xfrm>
            <a:custGeom>
              <a:avLst/>
              <a:gdLst/>
              <a:ahLst/>
              <a:cxnLst/>
              <a:rect r="r" b="b" t="t" l="l"/>
              <a:pathLst>
                <a:path h="1123315" w="3544062">
                  <a:moveTo>
                    <a:pt x="0" y="0"/>
                  </a:moveTo>
                  <a:lnTo>
                    <a:pt x="3544062" y="0"/>
                  </a:lnTo>
                  <a:lnTo>
                    <a:pt x="3544062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" r="0" b="-1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136429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Performance in the Real World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73834"/>
            <a:ext cx="1035516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Principles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76" y="4549969"/>
            <a:ext cx="647405" cy="647405"/>
            <a:chOff x="0" y="0"/>
            <a:chExt cx="863206" cy="8632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8575" y="4607871"/>
            <a:ext cx="425206" cy="531609"/>
            <a:chOff x="0" y="0"/>
            <a:chExt cx="566941" cy="7088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936" cy="708819"/>
            </a:xfrm>
            <a:custGeom>
              <a:avLst/>
              <a:gdLst/>
              <a:ahLst/>
              <a:cxnLst/>
              <a:rect r="r" b="b" t="t" l="l"/>
              <a:pathLst>
                <a:path h="708819" w="566936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1" t="0" r="-11041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443728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13630" y="4633017"/>
            <a:ext cx="407892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Vectorize Everything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3630" y="5292776"/>
            <a:ext cx="407892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Replace all Python for loops with array operations for 10–100× speedups.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342164" y="4549969"/>
            <a:ext cx="647405" cy="647405"/>
            <a:chOff x="0" y="0"/>
            <a:chExt cx="863206" cy="8632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453264" y="4607871"/>
            <a:ext cx="425206" cy="531609"/>
            <a:chOff x="0" y="0"/>
            <a:chExt cx="566941" cy="7088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6936" cy="708819"/>
            </a:xfrm>
            <a:custGeom>
              <a:avLst/>
              <a:gdLst/>
              <a:ahLst/>
              <a:cxnLst/>
              <a:rect r="r" b="b" t="t" l="l"/>
              <a:pathLst>
                <a:path h="708819" w="566936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1" t="0" r="-11041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443728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268318" y="4633017"/>
            <a:ext cx="407908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Use Correct Data Types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68318" y="5292776"/>
            <a:ext cx="4079081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Specify dtype=np.float32 for GPU compatibility. Avoid silently mixing int and float.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7476" y="7301655"/>
            <a:ext cx="647405" cy="647405"/>
            <a:chOff x="0" y="0"/>
            <a:chExt cx="863206" cy="8632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1163"/>
                  </a:moveTo>
                  <a:cubicBezTo>
                    <a:pt x="0" y="72136"/>
                    <a:pt x="72136" y="0"/>
                    <a:pt x="161163" y="0"/>
                  </a:cubicBezTo>
                  <a:lnTo>
                    <a:pt x="702056" y="0"/>
                  </a:lnTo>
                  <a:cubicBezTo>
                    <a:pt x="791083" y="0"/>
                    <a:pt x="863219" y="72136"/>
                    <a:pt x="863219" y="161163"/>
                  </a:cubicBezTo>
                  <a:lnTo>
                    <a:pt x="863219" y="702056"/>
                  </a:lnTo>
                  <a:cubicBezTo>
                    <a:pt x="863219" y="791083"/>
                    <a:pt x="791083" y="863219"/>
                    <a:pt x="702056" y="863219"/>
                  </a:cubicBezTo>
                  <a:lnTo>
                    <a:pt x="161163" y="863219"/>
                  </a:lnTo>
                  <a:cubicBezTo>
                    <a:pt x="72136" y="863219"/>
                    <a:pt x="0" y="791083"/>
                    <a:pt x="0" y="70205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8575" y="7359548"/>
            <a:ext cx="425206" cy="531609"/>
            <a:chOff x="0" y="0"/>
            <a:chExt cx="566941" cy="7088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6936" cy="708819"/>
            </a:xfrm>
            <a:custGeom>
              <a:avLst/>
              <a:gdLst/>
              <a:ahLst/>
              <a:cxnLst/>
              <a:rect r="r" b="b" t="t" l="l"/>
              <a:pathLst>
                <a:path h="708819" w="566936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1" t="0" r="-11041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66941" cy="7183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443728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913630" y="7384704"/>
            <a:ext cx="943377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Leverage Hardware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13630" y="8044453"/>
            <a:ext cx="943377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NumPy arrays feed directly into GPU/TPU backends via CuPy, JAX, and PyTorch.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48677" y="3804637"/>
            <a:ext cx="5256457" cy="5256457"/>
            <a:chOff x="0" y="0"/>
            <a:chExt cx="7008609" cy="7008609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7008622" cy="7008622"/>
            </a:xfrm>
            <a:custGeom>
              <a:avLst/>
              <a:gdLst/>
              <a:ahLst/>
              <a:cxnLst/>
              <a:rect r="r" b="b" t="t" l="l"/>
              <a:pathLst>
                <a:path h="7008622" w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62735" y="833142"/>
            <a:ext cx="2575027" cy="816178"/>
            <a:chOff x="0" y="0"/>
            <a:chExt cx="3433369" cy="108823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433318" cy="1088263"/>
            </a:xfrm>
            <a:custGeom>
              <a:avLst/>
              <a:gdLst/>
              <a:ahLst/>
              <a:cxnLst/>
              <a:rect r="r" b="b" t="t" l="l"/>
              <a:pathLst>
                <a:path h="1088263" w="3433318">
                  <a:moveTo>
                    <a:pt x="0" y="0"/>
                  </a:moveTo>
                  <a:lnTo>
                    <a:pt x="3433318" y="0"/>
                  </a:lnTo>
                  <a:lnTo>
                    <a:pt x="3433318" y="1088263"/>
                  </a:lnTo>
                  <a:lnTo>
                    <a:pt x="0" y="1088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" r="-1" b="-5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010223"/>
            <a:ext cx="9445523" cy="175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Future of Scientific Computing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3188" y="4144861"/>
            <a:ext cx="4627807" cy="2982668"/>
            <a:chOff x="0" y="0"/>
            <a:chExt cx="6170409" cy="39768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70422" cy="3976878"/>
            </a:xfrm>
            <a:custGeom>
              <a:avLst/>
              <a:gdLst/>
              <a:ahLst/>
              <a:cxnLst/>
              <a:rect r="r" b="b" t="t" l="l"/>
              <a:pathLst>
                <a:path h="3976878" w="6170422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014593" y="0"/>
                  </a:lnTo>
                  <a:cubicBezTo>
                    <a:pt x="6100699" y="0"/>
                    <a:pt x="6170422" y="69723"/>
                    <a:pt x="6170422" y="155829"/>
                  </a:cubicBezTo>
                  <a:lnTo>
                    <a:pt x="6170422" y="3821049"/>
                  </a:lnTo>
                  <a:cubicBezTo>
                    <a:pt x="6170422" y="3907155"/>
                    <a:pt x="6100699" y="3976878"/>
                    <a:pt x="6014593" y="3976878"/>
                  </a:cubicBezTo>
                  <a:lnTo>
                    <a:pt x="155829" y="3976878"/>
                  </a:lnTo>
                  <a:cubicBezTo>
                    <a:pt x="69723" y="3976878"/>
                    <a:pt x="0" y="3907155"/>
                    <a:pt x="0" y="3821049"/>
                  </a:cubicBezTo>
                  <a:close/>
                </a:path>
              </a:pathLst>
            </a:custGeom>
            <a:solidFill>
              <a:srgbClr val="FFFCFA"/>
            </a:solidFill>
            <a:ln w="38100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04925" y="4457548"/>
            <a:ext cx="3964334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NumPy 2.x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4925" y="4989014"/>
            <a:ext cx="3964334" cy="180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Better compatibility, improved type handling, and performance gains for modern hardware.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28852" y="4144861"/>
            <a:ext cx="4627959" cy="2982668"/>
            <a:chOff x="0" y="0"/>
            <a:chExt cx="6170612" cy="39768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70676" cy="3976878"/>
            </a:xfrm>
            <a:custGeom>
              <a:avLst/>
              <a:gdLst/>
              <a:ahLst/>
              <a:cxnLst/>
              <a:rect r="r" b="b" t="t" l="l"/>
              <a:pathLst>
                <a:path h="3976878" w="6170676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014847" y="0"/>
                  </a:lnTo>
                  <a:cubicBezTo>
                    <a:pt x="6100953" y="0"/>
                    <a:pt x="6170676" y="69723"/>
                    <a:pt x="6170676" y="155829"/>
                  </a:cubicBezTo>
                  <a:lnTo>
                    <a:pt x="6170676" y="3821049"/>
                  </a:lnTo>
                  <a:cubicBezTo>
                    <a:pt x="6170676" y="3907155"/>
                    <a:pt x="6100953" y="3976878"/>
                    <a:pt x="6014847" y="3976878"/>
                  </a:cubicBezTo>
                  <a:lnTo>
                    <a:pt x="155829" y="3976878"/>
                  </a:lnTo>
                  <a:cubicBezTo>
                    <a:pt x="69723" y="3976878"/>
                    <a:pt x="0" y="3907155"/>
                    <a:pt x="0" y="3821049"/>
                  </a:cubicBezTo>
                  <a:close/>
                </a:path>
              </a:pathLst>
            </a:custGeom>
            <a:solidFill>
              <a:srgbClr val="FFFCFA"/>
            </a:solidFill>
            <a:ln w="38100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160589" y="4457548"/>
            <a:ext cx="3964486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Industry Standard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60589" y="4989014"/>
            <a:ext cx="3964486" cy="137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Scientific Python stack powers research at CERN, NASA, DeepMind, and beyond.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3188" y="7355386"/>
            <a:ext cx="9483623" cy="2117379"/>
            <a:chOff x="0" y="0"/>
            <a:chExt cx="12644831" cy="28231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44755" cy="2823083"/>
            </a:xfrm>
            <a:custGeom>
              <a:avLst/>
              <a:gdLst/>
              <a:ahLst/>
              <a:cxnLst/>
              <a:rect r="r" b="b" t="t" l="l"/>
              <a:pathLst>
                <a:path h="2823083" w="12644755">
                  <a:moveTo>
                    <a:pt x="0" y="156591"/>
                  </a:moveTo>
                  <a:cubicBezTo>
                    <a:pt x="0" y="70104"/>
                    <a:pt x="70104" y="0"/>
                    <a:pt x="156591" y="0"/>
                  </a:cubicBezTo>
                  <a:lnTo>
                    <a:pt x="12488164" y="0"/>
                  </a:lnTo>
                  <a:cubicBezTo>
                    <a:pt x="12574651" y="0"/>
                    <a:pt x="12644755" y="70104"/>
                    <a:pt x="12644755" y="156591"/>
                  </a:cubicBezTo>
                  <a:lnTo>
                    <a:pt x="12644755" y="2666492"/>
                  </a:lnTo>
                  <a:cubicBezTo>
                    <a:pt x="12644755" y="2752979"/>
                    <a:pt x="12574651" y="2823083"/>
                    <a:pt x="12488164" y="2823083"/>
                  </a:cubicBezTo>
                  <a:lnTo>
                    <a:pt x="156591" y="2823083"/>
                  </a:lnTo>
                  <a:cubicBezTo>
                    <a:pt x="70104" y="2823210"/>
                    <a:pt x="0" y="2753106"/>
                    <a:pt x="0" y="2666492"/>
                  </a:cubicBezTo>
                  <a:close/>
                </a:path>
              </a:pathLst>
            </a:custGeom>
            <a:solidFill>
              <a:srgbClr val="FFFCFA"/>
            </a:solidFill>
            <a:ln w="38100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04925" y="7668073"/>
            <a:ext cx="8820150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Your Next Step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4925" y="8199539"/>
            <a:ext cx="8820150" cy="94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Master NumPy arrays → then Pandas → then Scikit-Learn → build and deploy real models.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43737" y="818702"/>
            <a:ext cx="1952034" cy="618677"/>
            <a:chOff x="0" y="0"/>
            <a:chExt cx="2602713" cy="82490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602738" cy="824865"/>
            </a:xfrm>
            <a:custGeom>
              <a:avLst/>
              <a:gdLst/>
              <a:ahLst/>
              <a:cxnLst/>
              <a:rect r="r" b="b" t="t" l="l"/>
              <a:pathLst>
                <a:path h="824865" w="2602738">
                  <a:moveTo>
                    <a:pt x="0" y="0"/>
                  </a:moveTo>
                  <a:lnTo>
                    <a:pt x="2602738" y="0"/>
                  </a:lnTo>
                  <a:lnTo>
                    <a:pt x="2602738" y="824865"/>
                  </a:lnTo>
                  <a:lnTo>
                    <a:pt x="0" y="824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" r="0" b="-2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638148"/>
            <a:ext cx="16303523" cy="67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2546747"/>
            <a:ext cx="16303523" cy="4314082"/>
            <a:chOff x="0" y="0"/>
            <a:chExt cx="21738031" cy="575210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1738082" cy="5752084"/>
            </a:xfrm>
            <a:custGeom>
              <a:avLst/>
              <a:gdLst/>
              <a:ahLst/>
              <a:cxnLst/>
              <a:rect r="r" b="b" t="t" l="l"/>
              <a:pathLst>
                <a:path h="575208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752084"/>
                  </a:lnTo>
                  <a:lnTo>
                    <a:pt x="0" y="5752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49729" y="3986374"/>
            <a:ext cx="2464470" cy="46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Python Lists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9729" y="4600775"/>
            <a:ext cx="246447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Basic sequences for small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73834" y="4204068"/>
            <a:ext cx="2464470" cy="46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NumPy Arrays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73834" y="4818469"/>
            <a:ext cx="246447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Fast, fixed-type numerical arrays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97930" y="3986374"/>
            <a:ext cx="2464470" cy="90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Indexing &amp; Slicing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97930" y="5042049"/>
            <a:ext cx="2464470" cy="5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Access and slice X and y efficiently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22035" y="3898116"/>
            <a:ext cx="2464470" cy="46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Math &amp; Stats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22035" y="4512526"/>
            <a:ext cx="2464470" cy="88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Vectorized operations and summaries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61828" y="3986374"/>
            <a:ext cx="2464470" cy="46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2D Datasets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61828" y="4600775"/>
            <a:ext cx="2464470" cy="88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Rows as samples, columns as features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7476" y="7027964"/>
            <a:ext cx="8084791" cy="1150887"/>
            <a:chOff x="0" y="0"/>
            <a:chExt cx="10779722" cy="15345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79760" cy="1534541"/>
            </a:xfrm>
            <a:custGeom>
              <a:avLst/>
              <a:gdLst/>
              <a:ahLst/>
              <a:cxnLst/>
              <a:rect r="r" b="b" t="t" l="l"/>
              <a:pathLst>
                <a:path h="1534541" w="10779760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10662158" y="0"/>
                  </a:lnTo>
                  <a:cubicBezTo>
                    <a:pt x="10727055" y="0"/>
                    <a:pt x="10779760" y="52578"/>
                    <a:pt x="10779760" y="117602"/>
                  </a:cubicBezTo>
                  <a:lnTo>
                    <a:pt x="10779760" y="1416939"/>
                  </a:lnTo>
                  <a:cubicBezTo>
                    <a:pt x="10779760" y="1481836"/>
                    <a:pt x="10727182" y="1534541"/>
                    <a:pt x="10662158" y="1534541"/>
                  </a:cubicBezTo>
                  <a:lnTo>
                    <a:pt x="117602" y="1534541"/>
                  </a:lnTo>
                  <a:cubicBezTo>
                    <a:pt x="52705" y="1534541"/>
                    <a:pt x="0" y="1481963"/>
                    <a:pt x="0" y="1416939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09970" y="7231409"/>
            <a:ext cx="7639793" cy="3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🧱</a:t>
            </a:r>
            <a:r>
              <a:rPr lang="en-US" sz="2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Foundation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9970" y="7638898"/>
            <a:ext cx="7639793" cy="31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Arrays replace lists for any numerical work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15580" y="7027964"/>
            <a:ext cx="8084944" cy="1150887"/>
            <a:chOff x="0" y="0"/>
            <a:chExt cx="10779925" cy="15345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0014" cy="1534541"/>
            </a:xfrm>
            <a:custGeom>
              <a:avLst/>
              <a:gdLst/>
              <a:ahLst/>
              <a:cxnLst/>
              <a:rect r="r" b="b" t="t" l="l"/>
              <a:pathLst>
                <a:path h="1534541" w="10780014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10662412" y="0"/>
                  </a:lnTo>
                  <a:cubicBezTo>
                    <a:pt x="10727309" y="0"/>
                    <a:pt x="10780014" y="52578"/>
                    <a:pt x="10780014" y="117602"/>
                  </a:cubicBezTo>
                  <a:lnTo>
                    <a:pt x="10780014" y="1416939"/>
                  </a:lnTo>
                  <a:cubicBezTo>
                    <a:pt x="10780014" y="1481836"/>
                    <a:pt x="10727436" y="1534541"/>
                    <a:pt x="10662412" y="1534541"/>
                  </a:cubicBezTo>
                  <a:lnTo>
                    <a:pt x="117602" y="1534541"/>
                  </a:lnTo>
                  <a:cubicBezTo>
                    <a:pt x="52705" y="1534541"/>
                    <a:pt x="0" y="1481963"/>
                    <a:pt x="0" y="1416939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438084" y="7231409"/>
            <a:ext cx="7639945" cy="3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⚡</a:t>
            </a:r>
            <a:r>
              <a:rPr lang="en-US" sz="2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Speed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38084" y="7638898"/>
            <a:ext cx="7639945" cy="31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Vectorization eliminates slow Python loops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7476" y="8322173"/>
            <a:ext cx="8084791" cy="1150887"/>
            <a:chOff x="0" y="0"/>
            <a:chExt cx="10779722" cy="15345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79760" cy="1534541"/>
            </a:xfrm>
            <a:custGeom>
              <a:avLst/>
              <a:gdLst/>
              <a:ahLst/>
              <a:cxnLst/>
              <a:rect r="r" b="b" t="t" l="l"/>
              <a:pathLst>
                <a:path h="1534541" w="10779760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10662158" y="0"/>
                  </a:lnTo>
                  <a:cubicBezTo>
                    <a:pt x="10727055" y="0"/>
                    <a:pt x="10779760" y="52578"/>
                    <a:pt x="10779760" y="117602"/>
                  </a:cubicBezTo>
                  <a:lnTo>
                    <a:pt x="10779760" y="1416939"/>
                  </a:lnTo>
                  <a:cubicBezTo>
                    <a:pt x="10779760" y="1481836"/>
                    <a:pt x="10727182" y="1534541"/>
                    <a:pt x="10662158" y="1534541"/>
                  </a:cubicBezTo>
                  <a:lnTo>
                    <a:pt x="117602" y="1534541"/>
                  </a:lnTo>
                  <a:cubicBezTo>
                    <a:pt x="52705" y="1534541"/>
                    <a:pt x="0" y="1481963"/>
                    <a:pt x="0" y="1416939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09970" y="8525618"/>
            <a:ext cx="7639793" cy="3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📊</a:t>
            </a:r>
            <a:r>
              <a:rPr lang="en-US" sz="2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Data Shape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9970" y="8933107"/>
            <a:ext cx="7639793" cy="31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X and y slicing is the core of every ML model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15580" y="8322173"/>
            <a:ext cx="8084944" cy="1150887"/>
            <a:chOff x="0" y="0"/>
            <a:chExt cx="10779925" cy="15345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80014" cy="1534541"/>
            </a:xfrm>
            <a:custGeom>
              <a:avLst/>
              <a:gdLst/>
              <a:ahLst/>
              <a:cxnLst/>
              <a:rect r="r" b="b" t="t" l="l"/>
              <a:pathLst>
                <a:path h="1534541" w="10780014">
                  <a:moveTo>
                    <a:pt x="0" y="117602"/>
                  </a:moveTo>
                  <a:cubicBezTo>
                    <a:pt x="0" y="52578"/>
                    <a:pt x="52578" y="0"/>
                    <a:pt x="117602" y="0"/>
                  </a:cubicBezTo>
                  <a:lnTo>
                    <a:pt x="10662412" y="0"/>
                  </a:lnTo>
                  <a:cubicBezTo>
                    <a:pt x="10727309" y="0"/>
                    <a:pt x="10780014" y="52578"/>
                    <a:pt x="10780014" y="117602"/>
                  </a:cubicBezTo>
                  <a:lnTo>
                    <a:pt x="10780014" y="1416939"/>
                  </a:lnTo>
                  <a:cubicBezTo>
                    <a:pt x="10780014" y="1481836"/>
                    <a:pt x="10727436" y="1534541"/>
                    <a:pt x="10662412" y="1534541"/>
                  </a:cubicBezTo>
                  <a:lnTo>
                    <a:pt x="117602" y="1534541"/>
                  </a:lnTo>
                  <a:cubicBezTo>
                    <a:pt x="52705" y="1534541"/>
                    <a:pt x="0" y="1481963"/>
                    <a:pt x="0" y="1416939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438084" y="8525618"/>
            <a:ext cx="7639945" cy="34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🚀</a:t>
            </a:r>
            <a:r>
              <a:rPr lang="en-US" sz="2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Ecosystem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38084" y="8933107"/>
            <a:ext cx="7639945" cy="31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NumPy unlocks Pandas, Sklearn, and deep learning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DAHRskYpcAc</dc:identifier>
  <dcterms:modified xsi:type="dcterms:W3CDTF">2011-08-01T06:04:30Z</dcterms:modified>
  <cp:revision>1</cp:revision>
  <dc:title>1. Master-NumPy-A-Step-by-Step-Teaching-Guide.pptx</dc:title>
</cp:coreProperties>
</file>
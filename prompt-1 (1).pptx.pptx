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6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9753600" cy="7315200"/>
  <p:notesSz cx="6858000" cy="9144000"/>
  <p:embeddedFontLst>
    <p:embeddedFont>
      <p:font typeface="Arial Bold" charset="1" panose="020B0704020202020204"/>
      <p:regular r:id="rId59"/>
    </p:embeddedFont>
    <p:embeddedFont>
      <p:font typeface="Calibri (MS) Bold" charset="1" panose="020F0702030404030204"/>
      <p:regular r:id="rId60"/>
    </p:embeddedFont>
    <p:embeddedFont>
      <p:font typeface="Vollkorn" charset="1" panose="00000500000000000000"/>
      <p:regular r:id="rId61"/>
    </p:embeddedFont>
    <p:embeddedFont>
      <p:font typeface="Times New Roman Bold" charset="1" panose="02020803070505020304"/>
      <p:regular r:id="rId62"/>
    </p:embeddedFont>
    <p:embeddedFont>
      <p:font typeface="Calibri (MS)" charset="1" panose="020F0502020204030204"/>
      <p:regular r:id="rId66"/>
    </p:embeddedFont>
    <p:embeddedFont>
      <p:font typeface="Times New Roman" charset="1" panose="02020603050405020304"/>
      <p:regular r:id="rId67"/>
    </p:embeddedFont>
    <p:embeddedFont>
      <p:font typeface="Vollkorn Bold" charset="1" panose="00000800000000000000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notesMasters/notesMaster1.xml" Type="http://schemas.openxmlformats.org/officeDocument/2006/relationships/notesMaster"/><Relationship Id="rId64" Target="theme/theme2.xml" Type="http://schemas.openxmlformats.org/officeDocument/2006/relationships/theme"/><Relationship Id="rId65" Target="notesSlides/notesSlide1.xml" Type="http://schemas.openxmlformats.org/officeDocument/2006/relationships/notesSlide"/><Relationship Id="rId66" Target="fonts/font66.fntdata" Type="http://schemas.openxmlformats.org/officeDocument/2006/relationships/font"/><Relationship Id="rId67" Target="fonts/font67.fntdata" Type="http://schemas.openxmlformats.org/officeDocument/2006/relationships/font"/><Relationship Id="rId68" Target="fonts/font68.fntdata" Type="http://schemas.openxmlformats.org/officeDocument/2006/relationships/font"/><Relationship Id="rId69" Target="notesSlides/notesSlide2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3.xml" Type="http://schemas.openxmlformats.org/officeDocument/2006/relationships/notesSlide"/><Relationship Id="rId71" Target="notesSlides/notesSlide4.xml" Type="http://schemas.openxmlformats.org/officeDocument/2006/relationships/notesSlide"/><Relationship Id="rId72" Target="notesSlides/notesSlide5.xml" Type="http://schemas.openxmlformats.org/officeDocument/2006/relationships/notesSlide"/><Relationship Id="rId73" Target="notesSlides/notesSlide6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6.jpe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jpe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jpe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jpe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jpe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image21.pn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jpe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7.jpe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4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5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6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7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8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9" id="9" descr="pngtree-blue-futuristic-glow-design-picture-image_16598113.jpg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079" t="0" r="-16079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3411" y="1607801"/>
            <a:ext cx="8275377" cy="221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sz="704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PROMPT  ENGINEERING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399"/>
                </a:lnSpc>
              </a:pPr>
              <a:r>
                <a:rPr lang="en-US" sz="5333" b="true">
                  <a:solidFill>
                    <a:srgbClr val="0461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TOPICS COVERED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9120" y="2091185"/>
            <a:ext cx="8595360" cy="460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Introduction to Generative AI(LLMs overview)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How AI models understand prompts(tokens, context)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Types of prompts: Instruction,Completion,Chat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Good vs Bad prompts (clarity,specificity)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15865" y="6692075"/>
            <a:ext cx="3151280" cy="1246299"/>
            <a:chOff x="0" y="0"/>
            <a:chExt cx="4201706" cy="16617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68" cy="830834"/>
            </a:xfrm>
            <a:custGeom>
              <a:avLst/>
              <a:gdLst/>
              <a:ahLst/>
              <a:cxnLst/>
              <a:rect r="r" b="b" t="t" l="l"/>
              <a:pathLst>
                <a:path h="830834" w="4201668">
                  <a:moveTo>
                    <a:pt x="0" y="830834"/>
                  </a:moveTo>
                  <a:cubicBezTo>
                    <a:pt x="0" y="371983"/>
                    <a:pt x="940562" y="0"/>
                    <a:pt x="2100834" y="0"/>
                  </a:cubicBezTo>
                  <a:cubicBezTo>
                    <a:pt x="3261106" y="0"/>
                    <a:pt x="4201668" y="371983"/>
                    <a:pt x="4201668" y="830834"/>
                  </a:cubicBezTo>
                  <a:lnTo>
                    <a:pt x="3786251" y="830834"/>
                  </a:lnTo>
                  <a:cubicBezTo>
                    <a:pt x="3786251" y="601345"/>
                    <a:pt x="3031617" y="415417"/>
                    <a:pt x="2100834" y="415417"/>
                  </a:cubicBezTo>
                  <a:cubicBezTo>
                    <a:pt x="1170051" y="415417"/>
                    <a:pt x="415417" y="601472"/>
                    <a:pt x="415417" y="830834"/>
                  </a:cubicBezTo>
                  <a:close/>
                </a:path>
              </a:pathLst>
            </a:custGeom>
            <a:solidFill>
              <a:srgbClr val="77D9E8"/>
            </a:solidFill>
            <a:ln w="27093" cap="sq">
              <a:solidFill>
                <a:srgbClr val="6BDBF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-13545" y="4787065"/>
            <a:ext cx="1551070" cy="2541689"/>
            <a:chOff x="0" y="0"/>
            <a:chExt cx="2068093" cy="33889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8068" cy="3388868"/>
            </a:xfrm>
            <a:custGeom>
              <a:avLst/>
              <a:gdLst/>
              <a:ahLst/>
              <a:cxnLst/>
              <a:rect r="r" b="b" t="t" l="l"/>
              <a:pathLst>
                <a:path h="3388868" w="2068068">
                  <a:moveTo>
                    <a:pt x="0" y="1694434"/>
                  </a:moveTo>
                  <a:lnTo>
                    <a:pt x="1034034" y="0"/>
                  </a:lnTo>
                  <a:lnTo>
                    <a:pt x="2068068" y="0"/>
                  </a:lnTo>
                  <a:lnTo>
                    <a:pt x="0" y="3388868"/>
                  </a:lnTo>
                  <a:close/>
                </a:path>
              </a:pathLst>
            </a:custGeom>
            <a:solidFill>
              <a:srgbClr val="6BDBFA"/>
            </a:solidFill>
            <a:ln w="27093" cap="sq">
              <a:solidFill>
                <a:srgbClr val="B5EDF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33371" y="1219181"/>
            <a:ext cx="8656349" cy="1055846"/>
            <a:chOff x="0" y="0"/>
            <a:chExt cx="11541798" cy="14077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4180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1541800">
                  <a:moveTo>
                    <a:pt x="0" y="0"/>
                  </a:moveTo>
                  <a:lnTo>
                    <a:pt x="11541800" y="0"/>
                  </a:lnTo>
                  <a:lnTo>
                    <a:pt x="1154180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747" r="0" b="-10974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541798" cy="14268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120"/>
                </a:lnSpc>
              </a:pPr>
              <a:r>
                <a:rPr lang="en-US" sz="4266" b="true">
                  <a:solidFill>
                    <a:srgbClr val="04617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are Large Language Models(LLMs)?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01011" y="2617460"/>
            <a:ext cx="8473469" cy="408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AI models trained on massive text  datasets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Designed to understand and generative human-like language.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Based on  deep  learning  architectures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Examples:  Chat Based assistants, text summarizers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399"/>
                </a:lnSpc>
              </a:pPr>
              <a:r>
                <a:rPr lang="en-US" sz="5333">
                  <a:solidFill>
                    <a:srgbClr val="0461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FEATURES OF LLMs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58937" y="4042562"/>
            <a:ext cx="2210438" cy="82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920" spc="-4">
                <a:solidFill>
                  <a:srgbClr val="262626"/>
                </a:solidFill>
                <a:latin typeface="Vollkorn"/>
                <a:ea typeface="Vollkorn"/>
                <a:cs typeface="Vollkorn"/>
                <a:sym typeface="Vollkorn"/>
              </a:rPr>
              <a:t>Natural Language understanding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57879" y="4004462"/>
            <a:ext cx="2210438" cy="86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493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493" b="true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 task capabilities(translation,summarization)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3887" y="2714549"/>
            <a:ext cx="2210438" cy="82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920" spc="-4">
                <a:solidFill>
                  <a:srgbClr val="262626"/>
                </a:solidFill>
                <a:latin typeface="Vollkorn"/>
                <a:ea typeface="Vollkorn"/>
                <a:cs typeface="Vollkorn"/>
                <a:sym typeface="Vollkorn"/>
              </a:rPr>
              <a:t>Context awareness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423887" y="2309393"/>
            <a:ext cx="523704" cy="462782"/>
            <a:chOff x="0" y="0"/>
            <a:chExt cx="698271" cy="617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8266" cy="617047"/>
            </a:xfrm>
            <a:custGeom>
              <a:avLst/>
              <a:gdLst/>
              <a:ahLst/>
              <a:cxnLst/>
              <a:rect r="r" b="b" t="t" l="l"/>
              <a:pathLst>
                <a:path h="617047" w="698266">
                  <a:moveTo>
                    <a:pt x="0" y="0"/>
                  </a:moveTo>
                  <a:lnTo>
                    <a:pt x="698266" y="0"/>
                  </a:lnTo>
                  <a:lnTo>
                    <a:pt x="698266" y="617047"/>
                  </a:lnTo>
                  <a:lnTo>
                    <a:pt x="0" y="617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3378" t="0" r="-6337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98271" cy="62656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b="true" sz="2986" spc="-6">
                  <a:solidFill>
                    <a:srgbClr val="43EEF5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311156" y="2767898"/>
            <a:ext cx="2210438" cy="82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920" spc="-4">
                <a:solidFill>
                  <a:srgbClr val="262626"/>
                </a:solidFill>
                <a:latin typeface="Vollkorn"/>
                <a:ea typeface="Vollkorn"/>
                <a:cs typeface="Vollkorn"/>
                <a:sym typeface="Vollkorn"/>
              </a:rPr>
              <a:t>Text generation and completion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311156" y="2361714"/>
            <a:ext cx="523704" cy="462782"/>
            <a:chOff x="0" y="0"/>
            <a:chExt cx="698271" cy="6170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266" cy="617047"/>
            </a:xfrm>
            <a:custGeom>
              <a:avLst/>
              <a:gdLst/>
              <a:ahLst/>
              <a:cxnLst/>
              <a:rect r="r" b="b" t="t" l="l"/>
              <a:pathLst>
                <a:path h="617047" w="698266">
                  <a:moveTo>
                    <a:pt x="0" y="0"/>
                  </a:moveTo>
                  <a:lnTo>
                    <a:pt x="698266" y="0"/>
                  </a:lnTo>
                  <a:lnTo>
                    <a:pt x="698266" y="617047"/>
                  </a:lnTo>
                  <a:lnTo>
                    <a:pt x="0" y="617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3378" t="0" r="-6337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98271" cy="62656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b="true" sz="2986" spc="-6">
                  <a:solidFill>
                    <a:srgbClr val="8AD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9956" y="3632311"/>
            <a:ext cx="523704" cy="462782"/>
            <a:chOff x="0" y="0"/>
            <a:chExt cx="698271" cy="6170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266" cy="617047"/>
            </a:xfrm>
            <a:custGeom>
              <a:avLst/>
              <a:gdLst/>
              <a:ahLst/>
              <a:cxnLst/>
              <a:rect r="r" b="b" t="t" l="l"/>
              <a:pathLst>
                <a:path h="617047" w="698266">
                  <a:moveTo>
                    <a:pt x="0" y="0"/>
                  </a:moveTo>
                  <a:lnTo>
                    <a:pt x="698266" y="0"/>
                  </a:lnTo>
                  <a:lnTo>
                    <a:pt x="698266" y="617047"/>
                  </a:lnTo>
                  <a:lnTo>
                    <a:pt x="0" y="617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3378" t="0" r="-6337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98271" cy="62656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b="true" sz="2986" spc="-6">
                  <a:solidFill>
                    <a:srgbClr val="BADBFA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91683" y="3632311"/>
            <a:ext cx="523704" cy="462782"/>
            <a:chOff x="0" y="0"/>
            <a:chExt cx="698271" cy="6170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8266" cy="617047"/>
            </a:xfrm>
            <a:custGeom>
              <a:avLst/>
              <a:gdLst/>
              <a:ahLst/>
              <a:cxnLst/>
              <a:rect r="r" b="b" t="t" l="l"/>
              <a:pathLst>
                <a:path h="617047" w="698266">
                  <a:moveTo>
                    <a:pt x="0" y="0"/>
                  </a:moveTo>
                  <a:lnTo>
                    <a:pt x="698266" y="0"/>
                  </a:lnTo>
                  <a:lnTo>
                    <a:pt x="698266" y="617047"/>
                  </a:lnTo>
                  <a:lnTo>
                    <a:pt x="0" y="617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3378" t="0" r="-6337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98271" cy="62656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b="true" sz="2986" spc="-6">
                  <a:solidFill>
                    <a:srgbClr val="45F1C2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94381" y="3657714"/>
            <a:ext cx="3975373" cy="1854841"/>
            <a:chOff x="0" y="0"/>
            <a:chExt cx="5300497" cy="24731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00472" cy="2473198"/>
            </a:xfrm>
            <a:custGeom>
              <a:avLst/>
              <a:gdLst/>
              <a:ahLst/>
              <a:cxnLst/>
              <a:rect r="r" b="b" t="t" l="l"/>
              <a:pathLst>
                <a:path h="2473198" w="5300472">
                  <a:moveTo>
                    <a:pt x="2650236" y="0"/>
                  </a:moveTo>
                  <a:cubicBezTo>
                    <a:pt x="4027678" y="0"/>
                    <a:pt x="5160645" y="1053338"/>
                    <a:pt x="5296916" y="2403221"/>
                  </a:cubicBezTo>
                  <a:lnTo>
                    <a:pt x="5300472" y="2473198"/>
                  </a:lnTo>
                  <a:lnTo>
                    <a:pt x="4096004" y="2473198"/>
                  </a:lnTo>
                  <a:lnTo>
                    <a:pt x="4089273" y="2338705"/>
                  </a:lnTo>
                  <a:cubicBezTo>
                    <a:pt x="3995293" y="1407795"/>
                    <a:pt x="3213862" y="681228"/>
                    <a:pt x="2263902" y="681228"/>
                  </a:cubicBezTo>
                  <a:cubicBezTo>
                    <a:pt x="1313942" y="681228"/>
                    <a:pt x="532257" y="1407668"/>
                    <a:pt x="438277" y="2338578"/>
                  </a:cubicBezTo>
                  <a:lnTo>
                    <a:pt x="431546" y="2473071"/>
                  </a:lnTo>
                  <a:lnTo>
                    <a:pt x="0" y="2473071"/>
                  </a:lnTo>
                  <a:lnTo>
                    <a:pt x="3556" y="2403094"/>
                  </a:lnTo>
                  <a:cubicBezTo>
                    <a:pt x="139700" y="1053338"/>
                    <a:pt x="1272667" y="0"/>
                    <a:pt x="2650236" y="0"/>
                  </a:cubicBezTo>
                </a:path>
              </a:pathLst>
            </a:custGeom>
            <a:solidFill>
              <a:srgbClr val="10CF9B">
                <a:alpha val="5607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894381" y="3657714"/>
            <a:ext cx="3227041" cy="1854841"/>
            <a:chOff x="0" y="0"/>
            <a:chExt cx="4302722" cy="24731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02760" cy="2473198"/>
            </a:xfrm>
            <a:custGeom>
              <a:avLst/>
              <a:gdLst/>
              <a:ahLst/>
              <a:cxnLst/>
              <a:rect r="r" b="b" t="t" l="l"/>
              <a:pathLst>
                <a:path h="2473198" w="4302760">
                  <a:moveTo>
                    <a:pt x="2650236" y="0"/>
                  </a:moveTo>
                  <a:cubicBezTo>
                    <a:pt x="3188335" y="0"/>
                    <a:pt x="3689096" y="160655"/>
                    <a:pt x="4107688" y="437134"/>
                  </a:cubicBezTo>
                  <a:lnTo>
                    <a:pt x="4211701" y="514477"/>
                  </a:lnTo>
                  <a:lnTo>
                    <a:pt x="4302760" y="1248410"/>
                  </a:lnTo>
                  <a:lnTo>
                    <a:pt x="3649091" y="1319403"/>
                  </a:lnTo>
                  <a:lnTo>
                    <a:pt x="3614420" y="1277874"/>
                  </a:lnTo>
                  <a:cubicBezTo>
                    <a:pt x="3279140" y="911098"/>
                    <a:pt x="2798191" y="681228"/>
                    <a:pt x="2263775" y="681228"/>
                  </a:cubicBezTo>
                  <a:cubicBezTo>
                    <a:pt x="1313815" y="681228"/>
                    <a:pt x="532384" y="1407795"/>
                    <a:pt x="438404" y="2338705"/>
                  </a:cubicBezTo>
                  <a:lnTo>
                    <a:pt x="431673" y="2473198"/>
                  </a:lnTo>
                  <a:lnTo>
                    <a:pt x="0" y="2473198"/>
                  </a:lnTo>
                  <a:lnTo>
                    <a:pt x="3556" y="2403221"/>
                  </a:lnTo>
                  <a:cubicBezTo>
                    <a:pt x="139700" y="1053338"/>
                    <a:pt x="1272667" y="0"/>
                    <a:pt x="2650236" y="0"/>
                  </a:cubicBezTo>
                </a:path>
              </a:pathLst>
            </a:custGeom>
            <a:solidFill>
              <a:srgbClr val="5EF0F7">
                <a:alpha val="5607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894381" y="3677526"/>
            <a:ext cx="1932061" cy="1835020"/>
            <a:chOff x="0" y="0"/>
            <a:chExt cx="2576081" cy="24466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76068" cy="2446655"/>
            </a:xfrm>
            <a:custGeom>
              <a:avLst/>
              <a:gdLst/>
              <a:ahLst/>
              <a:cxnLst/>
              <a:rect r="r" b="b" t="t" l="l"/>
              <a:pathLst>
                <a:path h="2446655" w="2576068">
                  <a:moveTo>
                    <a:pt x="2295652" y="0"/>
                  </a:moveTo>
                  <a:lnTo>
                    <a:pt x="2576068" y="326898"/>
                  </a:lnTo>
                  <a:lnTo>
                    <a:pt x="2318131" y="657606"/>
                  </a:lnTo>
                  <a:lnTo>
                    <a:pt x="2263775" y="654685"/>
                  </a:lnTo>
                  <a:cubicBezTo>
                    <a:pt x="1313815" y="654685"/>
                    <a:pt x="532384" y="1381252"/>
                    <a:pt x="438404" y="2312162"/>
                  </a:cubicBezTo>
                  <a:lnTo>
                    <a:pt x="431673" y="2446655"/>
                  </a:lnTo>
                  <a:lnTo>
                    <a:pt x="0" y="2446655"/>
                  </a:lnTo>
                  <a:lnTo>
                    <a:pt x="3556" y="2376678"/>
                  </a:lnTo>
                  <a:cubicBezTo>
                    <a:pt x="122809" y="1195705"/>
                    <a:pt x="1005078" y="241681"/>
                    <a:pt x="2146681" y="21590"/>
                  </a:cubicBezTo>
                  <a:lnTo>
                    <a:pt x="2295652" y="0"/>
                  </a:lnTo>
                  <a:close/>
                </a:path>
              </a:pathLst>
            </a:custGeom>
            <a:solidFill>
              <a:srgbClr val="8ADFFF">
                <a:alpha val="5607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894381" y="4215536"/>
            <a:ext cx="817940" cy="1297010"/>
            <a:chOff x="0" y="0"/>
            <a:chExt cx="1090587" cy="17293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549" cy="1729359"/>
            </a:xfrm>
            <a:custGeom>
              <a:avLst/>
              <a:gdLst/>
              <a:ahLst/>
              <a:cxnLst/>
              <a:rect r="r" b="b" t="t" l="l"/>
              <a:pathLst>
                <a:path h="1729359" w="1090549">
                  <a:moveTo>
                    <a:pt x="810133" y="0"/>
                  </a:moveTo>
                  <a:lnTo>
                    <a:pt x="1056767" y="0"/>
                  </a:lnTo>
                  <a:lnTo>
                    <a:pt x="1090549" y="365887"/>
                  </a:lnTo>
                  <a:lnTo>
                    <a:pt x="1029716" y="416687"/>
                  </a:lnTo>
                  <a:cubicBezTo>
                    <a:pt x="703961" y="714756"/>
                    <a:pt x="485140" y="1129284"/>
                    <a:pt x="438150" y="1594866"/>
                  </a:cubicBezTo>
                  <a:lnTo>
                    <a:pt x="431419" y="1729359"/>
                  </a:lnTo>
                  <a:lnTo>
                    <a:pt x="0" y="1729359"/>
                  </a:lnTo>
                  <a:lnTo>
                    <a:pt x="3556" y="1659382"/>
                  </a:lnTo>
                  <a:cubicBezTo>
                    <a:pt x="68834" y="1013333"/>
                    <a:pt x="362077" y="435102"/>
                    <a:pt x="801370" y="7874"/>
                  </a:cubicBezTo>
                  <a:lnTo>
                    <a:pt x="810133" y="0"/>
                  </a:lnTo>
                  <a:close/>
                </a:path>
              </a:pathLst>
            </a:custGeom>
            <a:solidFill>
              <a:srgbClr val="C8E3FB">
                <a:alpha val="5607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888790" y="5510012"/>
            <a:ext cx="329708" cy="41215"/>
            <a:chOff x="0" y="0"/>
            <a:chExt cx="439610" cy="549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9674" cy="54991"/>
            </a:xfrm>
            <a:custGeom>
              <a:avLst/>
              <a:gdLst/>
              <a:ahLst/>
              <a:cxnLst/>
              <a:rect r="r" b="b" t="t" l="l"/>
              <a:pathLst>
                <a:path h="54991" w="439674">
                  <a:moveTo>
                    <a:pt x="0" y="0"/>
                  </a:moveTo>
                  <a:lnTo>
                    <a:pt x="439674" y="0"/>
                  </a:lnTo>
                  <a:lnTo>
                    <a:pt x="439674" y="54991"/>
                  </a:lnTo>
                  <a:lnTo>
                    <a:pt x="0" y="54991"/>
                  </a:lnTo>
                  <a:close/>
                </a:path>
              </a:pathLst>
            </a:custGeom>
            <a:solidFill>
              <a:srgbClr val="91C6F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963926" y="5499849"/>
            <a:ext cx="906694" cy="41215"/>
            <a:chOff x="0" y="0"/>
            <a:chExt cx="1208926" cy="5495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08913" cy="54991"/>
            </a:xfrm>
            <a:custGeom>
              <a:avLst/>
              <a:gdLst/>
              <a:ahLst/>
              <a:cxnLst/>
              <a:rect r="r" b="b" t="t" l="l"/>
              <a:pathLst>
                <a:path h="54991" w="1208913">
                  <a:moveTo>
                    <a:pt x="0" y="0"/>
                  </a:moveTo>
                  <a:lnTo>
                    <a:pt x="1208913" y="0"/>
                  </a:lnTo>
                  <a:lnTo>
                    <a:pt x="1208913" y="54991"/>
                  </a:lnTo>
                  <a:lnTo>
                    <a:pt x="0" y="54991"/>
                  </a:lnTo>
                  <a:close/>
                </a:path>
              </a:pathLst>
            </a:custGeom>
            <a:solidFill>
              <a:srgbClr val="10CF9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470302" y="3914270"/>
            <a:ext cx="1052646" cy="1704289"/>
            <a:chOff x="0" y="0"/>
            <a:chExt cx="1403528" cy="22723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03477" cy="2272411"/>
            </a:xfrm>
            <a:custGeom>
              <a:avLst/>
              <a:gdLst/>
              <a:ahLst/>
              <a:cxnLst/>
              <a:rect r="r" b="b" t="t" l="l"/>
              <a:pathLst>
                <a:path h="2272411" w="1403477">
                  <a:moveTo>
                    <a:pt x="0" y="0"/>
                  </a:moveTo>
                  <a:lnTo>
                    <a:pt x="1403477" y="0"/>
                  </a:lnTo>
                  <a:lnTo>
                    <a:pt x="1403477" y="2272411"/>
                  </a:lnTo>
                  <a:lnTo>
                    <a:pt x="0" y="2272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5195" b="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399"/>
                </a:lnSpc>
              </a:pPr>
              <a:r>
                <a:rPr lang="en-US" sz="5333" b="true">
                  <a:solidFill>
                    <a:srgbClr val="0461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of LLMs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9120" y="2091185"/>
            <a:ext cx="8595360" cy="460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b="true" sz="2773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Input Processing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b="true" sz="2773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Embedding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b="true" sz="2773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Context Understanding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b="true" sz="2773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Prediction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b="true" sz="2773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Output Generation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399"/>
                </a:lnSpc>
              </a:pPr>
              <a:r>
                <a:rPr lang="en-US" sz="5333">
                  <a:solidFill>
                    <a:srgbClr val="0461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LLMs Work?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8082324" y="4011673"/>
            <a:ext cx="706879" cy="660873"/>
            <a:chOff x="0" y="0"/>
            <a:chExt cx="942505" cy="8811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2467" cy="881126"/>
            </a:xfrm>
            <a:custGeom>
              <a:avLst/>
              <a:gdLst/>
              <a:ahLst/>
              <a:cxnLst/>
              <a:rect r="r" b="b" t="t" l="l"/>
              <a:pathLst>
                <a:path h="881126" w="942467">
                  <a:moveTo>
                    <a:pt x="0" y="881126"/>
                  </a:moveTo>
                  <a:lnTo>
                    <a:pt x="471170" y="881126"/>
                  </a:lnTo>
                  <a:lnTo>
                    <a:pt x="471170" y="639318"/>
                  </a:lnTo>
                  <a:lnTo>
                    <a:pt x="0" y="881126"/>
                  </a:lnTo>
                  <a:lnTo>
                    <a:pt x="0" y="0"/>
                  </a:lnTo>
                  <a:lnTo>
                    <a:pt x="942467" y="0"/>
                  </a:lnTo>
                  <a:lnTo>
                    <a:pt x="942467" y="881126"/>
                  </a:lnTo>
                  <a:lnTo>
                    <a:pt x="471170" y="639318"/>
                  </a:lnTo>
                  <a:lnTo>
                    <a:pt x="471170" y="881126"/>
                  </a:lnTo>
                  <a:close/>
                </a:path>
              </a:pathLst>
            </a:custGeom>
            <a:solidFill>
              <a:srgbClr val="D1ECC8">
                <a:alpha val="2000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070191" y="4011673"/>
            <a:ext cx="706879" cy="660873"/>
            <a:chOff x="0" y="0"/>
            <a:chExt cx="942505" cy="881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2467" cy="881126"/>
            </a:xfrm>
            <a:custGeom>
              <a:avLst/>
              <a:gdLst/>
              <a:ahLst/>
              <a:cxnLst/>
              <a:rect r="r" b="b" t="t" l="l"/>
              <a:pathLst>
                <a:path h="881126" w="942467">
                  <a:moveTo>
                    <a:pt x="0" y="881126"/>
                  </a:moveTo>
                  <a:lnTo>
                    <a:pt x="471170" y="881126"/>
                  </a:lnTo>
                  <a:lnTo>
                    <a:pt x="471170" y="639318"/>
                  </a:lnTo>
                  <a:lnTo>
                    <a:pt x="0" y="881126"/>
                  </a:lnTo>
                  <a:lnTo>
                    <a:pt x="0" y="0"/>
                  </a:lnTo>
                  <a:lnTo>
                    <a:pt x="942467" y="0"/>
                  </a:lnTo>
                  <a:lnTo>
                    <a:pt x="942467" y="881126"/>
                  </a:lnTo>
                  <a:lnTo>
                    <a:pt x="471170" y="639318"/>
                  </a:lnTo>
                  <a:lnTo>
                    <a:pt x="471170" y="881126"/>
                  </a:lnTo>
                  <a:close/>
                </a:path>
              </a:pathLst>
            </a:custGeom>
            <a:solidFill>
              <a:srgbClr val="9ECDF8">
                <a:alpha val="2000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8048" y="3809476"/>
            <a:ext cx="1725978" cy="706879"/>
            <a:chOff x="0" y="0"/>
            <a:chExt cx="2301304" cy="9425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1367" cy="942467"/>
            </a:xfrm>
            <a:custGeom>
              <a:avLst/>
              <a:gdLst/>
              <a:ahLst/>
              <a:cxnLst/>
              <a:rect r="r" b="b" t="t" l="l"/>
              <a:pathLst>
                <a:path h="942467" w="2301367">
                  <a:moveTo>
                    <a:pt x="2056765" y="0"/>
                  </a:moveTo>
                  <a:lnTo>
                    <a:pt x="244475" y="0"/>
                  </a:lnTo>
                  <a:cubicBezTo>
                    <a:pt x="109474" y="0"/>
                    <a:pt x="0" y="109474"/>
                    <a:pt x="0" y="244475"/>
                  </a:cubicBezTo>
                  <a:lnTo>
                    <a:pt x="0" y="942467"/>
                  </a:lnTo>
                  <a:lnTo>
                    <a:pt x="2301367" y="942467"/>
                  </a:lnTo>
                  <a:lnTo>
                    <a:pt x="2301367" y="244475"/>
                  </a:lnTo>
                  <a:cubicBezTo>
                    <a:pt x="2301367" y="109474"/>
                    <a:pt x="2191766" y="0"/>
                    <a:pt x="20567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1C6F7">
                    <a:alpha val="100000"/>
                  </a:srgbClr>
                </a:gs>
                <a:gs pos="100000">
                  <a:srgbClr val="59AAF2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6" id="16"/>
          <p:cNvGrpSpPr/>
          <p:nvPr/>
        </p:nvGrpSpPr>
        <p:grpSpPr>
          <a:xfrm rot="-10800000">
            <a:off x="1378048" y="4514098"/>
            <a:ext cx="380219" cy="181423"/>
            <a:chOff x="0" y="0"/>
            <a:chExt cx="506959" cy="2418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6984" cy="241935"/>
            </a:xfrm>
            <a:custGeom>
              <a:avLst/>
              <a:gdLst/>
              <a:ahLst/>
              <a:cxnLst/>
              <a:rect r="r" b="b" t="t" l="l"/>
              <a:pathLst>
                <a:path h="241935" w="506984">
                  <a:moveTo>
                    <a:pt x="0" y="241935"/>
                  </a:moveTo>
                  <a:lnTo>
                    <a:pt x="0" y="0"/>
                  </a:lnTo>
                  <a:lnTo>
                    <a:pt x="506984" y="241935"/>
                  </a:lnTo>
                  <a:close/>
                </a:path>
              </a:pathLst>
            </a:custGeom>
            <a:solidFill>
              <a:srgbClr val="228DE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60474" y="3809476"/>
            <a:ext cx="1725978" cy="706879"/>
            <a:chOff x="0" y="0"/>
            <a:chExt cx="2301304" cy="9425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01240" cy="942467"/>
            </a:xfrm>
            <a:custGeom>
              <a:avLst/>
              <a:gdLst/>
              <a:ahLst/>
              <a:cxnLst/>
              <a:rect r="r" b="b" t="t" l="l"/>
              <a:pathLst>
                <a:path h="942467" w="2301240">
                  <a:moveTo>
                    <a:pt x="244475" y="0"/>
                  </a:moveTo>
                  <a:lnTo>
                    <a:pt x="2056765" y="0"/>
                  </a:lnTo>
                  <a:cubicBezTo>
                    <a:pt x="2191766" y="0"/>
                    <a:pt x="2301240" y="109474"/>
                    <a:pt x="2301240" y="244475"/>
                  </a:cubicBezTo>
                  <a:lnTo>
                    <a:pt x="2301240" y="942467"/>
                  </a:lnTo>
                  <a:lnTo>
                    <a:pt x="0" y="942467"/>
                  </a:lnTo>
                  <a:lnTo>
                    <a:pt x="0" y="244475"/>
                  </a:lnTo>
                  <a:cubicBezTo>
                    <a:pt x="0" y="109474"/>
                    <a:pt x="109474" y="0"/>
                    <a:pt x="2444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BEAC0">
                    <a:alpha val="100000"/>
                  </a:srgbClr>
                </a:gs>
                <a:gs pos="100000">
                  <a:srgbClr val="B0DFA1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20" id="20"/>
          <p:cNvGrpSpPr/>
          <p:nvPr/>
        </p:nvGrpSpPr>
        <p:grpSpPr>
          <a:xfrm rot="-10800000">
            <a:off x="8106204" y="4516641"/>
            <a:ext cx="380219" cy="181423"/>
            <a:chOff x="0" y="0"/>
            <a:chExt cx="506959" cy="2418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6984" cy="241935"/>
            </a:xfrm>
            <a:custGeom>
              <a:avLst/>
              <a:gdLst/>
              <a:ahLst/>
              <a:cxnLst/>
              <a:rect r="r" b="b" t="t" l="l"/>
              <a:pathLst>
                <a:path h="241935" w="506984">
                  <a:moveTo>
                    <a:pt x="506984" y="241935"/>
                  </a:moveTo>
                  <a:lnTo>
                    <a:pt x="506984" y="0"/>
                  </a:lnTo>
                  <a:lnTo>
                    <a:pt x="0" y="241935"/>
                  </a:lnTo>
                  <a:close/>
                </a:path>
              </a:pathLst>
            </a:custGeom>
            <a:solidFill>
              <a:srgbClr val="96D5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14734" y="3628120"/>
            <a:ext cx="1725978" cy="706879"/>
            <a:chOff x="0" y="0"/>
            <a:chExt cx="2301304" cy="9425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01240" cy="942467"/>
            </a:xfrm>
            <a:custGeom>
              <a:avLst/>
              <a:gdLst/>
              <a:ahLst/>
              <a:cxnLst/>
              <a:rect r="r" b="b" t="t" l="l"/>
              <a:pathLst>
                <a:path h="942467" w="2301240">
                  <a:moveTo>
                    <a:pt x="244475" y="0"/>
                  </a:moveTo>
                  <a:lnTo>
                    <a:pt x="2056765" y="0"/>
                  </a:lnTo>
                  <a:cubicBezTo>
                    <a:pt x="2191766" y="0"/>
                    <a:pt x="2301240" y="109474"/>
                    <a:pt x="2301240" y="244475"/>
                  </a:cubicBezTo>
                  <a:lnTo>
                    <a:pt x="2301240" y="942467"/>
                  </a:lnTo>
                  <a:lnTo>
                    <a:pt x="0" y="942467"/>
                  </a:lnTo>
                  <a:lnTo>
                    <a:pt x="0" y="244475"/>
                  </a:lnTo>
                  <a:cubicBezTo>
                    <a:pt x="0" y="109474"/>
                    <a:pt x="109474" y="0"/>
                    <a:pt x="2444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F3CA">
                    <a:alpha val="100000"/>
                  </a:srgbClr>
                </a:gs>
                <a:gs pos="100000">
                  <a:srgbClr val="2AEFB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24" id="24"/>
          <p:cNvGrpSpPr/>
          <p:nvPr/>
        </p:nvGrpSpPr>
        <p:grpSpPr>
          <a:xfrm rot="-10800000">
            <a:off x="6760474" y="4335275"/>
            <a:ext cx="380219" cy="181423"/>
            <a:chOff x="0" y="0"/>
            <a:chExt cx="506959" cy="2418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6984" cy="241935"/>
            </a:xfrm>
            <a:custGeom>
              <a:avLst/>
              <a:gdLst/>
              <a:ahLst/>
              <a:cxnLst/>
              <a:rect r="r" b="b" t="t" l="l"/>
              <a:pathLst>
                <a:path h="241935" w="506984">
                  <a:moveTo>
                    <a:pt x="506984" y="241935"/>
                  </a:moveTo>
                  <a:lnTo>
                    <a:pt x="506984" y="0"/>
                  </a:lnTo>
                  <a:lnTo>
                    <a:pt x="0" y="241935"/>
                  </a:lnTo>
                  <a:close/>
                </a:path>
              </a:pathLst>
            </a:custGeom>
            <a:solidFill>
              <a:srgbClr val="11DCA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23779" y="3628120"/>
            <a:ext cx="1725978" cy="706879"/>
            <a:chOff x="0" y="0"/>
            <a:chExt cx="2301304" cy="9425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01367" cy="942467"/>
            </a:xfrm>
            <a:custGeom>
              <a:avLst/>
              <a:gdLst/>
              <a:ahLst/>
              <a:cxnLst/>
              <a:rect r="r" b="b" t="t" l="l"/>
              <a:pathLst>
                <a:path h="942467" w="2301367">
                  <a:moveTo>
                    <a:pt x="2056765" y="0"/>
                  </a:moveTo>
                  <a:lnTo>
                    <a:pt x="244475" y="0"/>
                  </a:lnTo>
                  <a:cubicBezTo>
                    <a:pt x="109474" y="0"/>
                    <a:pt x="0" y="109474"/>
                    <a:pt x="0" y="244475"/>
                  </a:cubicBezTo>
                  <a:lnTo>
                    <a:pt x="0" y="942467"/>
                  </a:lnTo>
                  <a:lnTo>
                    <a:pt x="2301367" y="942467"/>
                  </a:lnTo>
                  <a:lnTo>
                    <a:pt x="2301367" y="244475"/>
                  </a:lnTo>
                  <a:cubicBezTo>
                    <a:pt x="2301367" y="109474"/>
                    <a:pt x="2191766" y="0"/>
                    <a:pt x="20567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CEFF">
                    <a:alpha val="100000"/>
                  </a:srgbClr>
                </a:gs>
                <a:gs pos="100000">
                  <a:srgbClr val="15BEFF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28" id="28"/>
          <p:cNvGrpSpPr/>
          <p:nvPr/>
        </p:nvGrpSpPr>
        <p:grpSpPr>
          <a:xfrm rot="-10800000">
            <a:off x="2723779" y="4334256"/>
            <a:ext cx="380219" cy="181423"/>
            <a:chOff x="0" y="0"/>
            <a:chExt cx="506959" cy="2418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6984" cy="241935"/>
            </a:xfrm>
            <a:custGeom>
              <a:avLst/>
              <a:gdLst/>
              <a:ahLst/>
              <a:cxnLst/>
              <a:rect r="r" b="b" t="t" l="l"/>
              <a:pathLst>
                <a:path h="241935" w="506984">
                  <a:moveTo>
                    <a:pt x="0" y="241935"/>
                  </a:moveTo>
                  <a:lnTo>
                    <a:pt x="0" y="0"/>
                  </a:lnTo>
                  <a:lnTo>
                    <a:pt x="506984" y="241935"/>
                  </a:lnTo>
                  <a:close/>
                </a:path>
              </a:pathLst>
            </a:custGeom>
            <a:solidFill>
              <a:srgbClr val="1077D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070023" y="3447774"/>
            <a:ext cx="1725978" cy="706879"/>
            <a:chOff x="0" y="0"/>
            <a:chExt cx="2301304" cy="94250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1240" cy="942467"/>
            </a:xfrm>
            <a:custGeom>
              <a:avLst/>
              <a:gdLst/>
              <a:ahLst/>
              <a:cxnLst/>
              <a:rect r="r" b="b" t="t" l="l"/>
              <a:pathLst>
                <a:path h="942467" w="2301240">
                  <a:moveTo>
                    <a:pt x="244475" y="0"/>
                  </a:moveTo>
                  <a:lnTo>
                    <a:pt x="2056765" y="0"/>
                  </a:lnTo>
                  <a:cubicBezTo>
                    <a:pt x="2191766" y="0"/>
                    <a:pt x="2301240" y="109474"/>
                    <a:pt x="2301240" y="244475"/>
                  </a:cubicBezTo>
                  <a:lnTo>
                    <a:pt x="2301240" y="942467"/>
                  </a:lnTo>
                  <a:lnTo>
                    <a:pt x="0" y="942467"/>
                  </a:lnTo>
                  <a:lnTo>
                    <a:pt x="0" y="244475"/>
                  </a:lnTo>
                  <a:cubicBezTo>
                    <a:pt x="0" y="109474"/>
                    <a:pt x="109474" y="0"/>
                    <a:pt x="2444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8EBF4">
                    <a:alpha val="100000"/>
                  </a:srgbClr>
                </a:gs>
                <a:gs pos="100000">
                  <a:srgbClr val="0BD0D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32" id="32"/>
          <p:cNvGrpSpPr/>
          <p:nvPr/>
        </p:nvGrpSpPr>
        <p:grpSpPr>
          <a:xfrm rot="-10800000">
            <a:off x="4069509" y="4153919"/>
            <a:ext cx="380219" cy="181423"/>
            <a:chOff x="0" y="0"/>
            <a:chExt cx="506959" cy="2418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6984" cy="241935"/>
            </a:xfrm>
            <a:custGeom>
              <a:avLst/>
              <a:gdLst/>
              <a:ahLst/>
              <a:cxnLst/>
              <a:rect r="r" b="b" t="t" l="l"/>
              <a:pathLst>
                <a:path h="241935" w="506984">
                  <a:moveTo>
                    <a:pt x="0" y="241935"/>
                  </a:moveTo>
                  <a:lnTo>
                    <a:pt x="0" y="0"/>
                  </a:lnTo>
                  <a:lnTo>
                    <a:pt x="506984" y="241935"/>
                  </a:lnTo>
                  <a:close/>
                </a:path>
              </a:pathLst>
            </a:custGeom>
            <a:solidFill>
              <a:srgbClr val="0CDDE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-10800000">
            <a:off x="5415248" y="4153919"/>
            <a:ext cx="380219" cy="181423"/>
            <a:chOff x="0" y="0"/>
            <a:chExt cx="506959" cy="2418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6984" cy="241935"/>
            </a:xfrm>
            <a:custGeom>
              <a:avLst/>
              <a:gdLst/>
              <a:ahLst/>
              <a:cxnLst/>
              <a:rect r="r" b="b" t="t" l="l"/>
              <a:pathLst>
                <a:path h="241935" w="506984">
                  <a:moveTo>
                    <a:pt x="506984" y="241935"/>
                  </a:moveTo>
                  <a:lnTo>
                    <a:pt x="506984" y="0"/>
                  </a:lnTo>
                  <a:lnTo>
                    <a:pt x="0" y="241935"/>
                  </a:lnTo>
                  <a:close/>
                </a:path>
              </a:pathLst>
            </a:custGeom>
            <a:solidFill>
              <a:srgbClr val="0CDDE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68469" y="2315404"/>
            <a:ext cx="1561862" cy="706879"/>
            <a:chOff x="0" y="0"/>
            <a:chExt cx="2082482" cy="94250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82485" cy="942505"/>
            </a:xfrm>
            <a:custGeom>
              <a:avLst/>
              <a:gdLst/>
              <a:ahLst/>
              <a:cxnLst/>
              <a:rect r="r" b="b" t="t" l="l"/>
              <a:pathLst>
                <a:path h="942505" w="2082485">
                  <a:moveTo>
                    <a:pt x="0" y="0"/>
                  </a:moveTo>
                  <a:lnTo>
                    <a:pt x="2082485" y="0"/>
                  </a:lnTo>
                  <a:lnTo>
                    <a:pt x="2082485" y="942505"/>
                  </a:lnTo>
                  <a:lnTo>
                    <a:pt x="0" y="9425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068" t="0" r="-806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082482" cy="99013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96"/>
                </a:lnSpc>
              </a:pPr>
              <a:r>
                <a:rPr lang="en-US" b="true" sz="1280" spc="-2">
                  <a:solidFill>
                    <a:srgbClr val="262626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Use neural networks(Transformer architecture)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030844" y="3000718"/>
            <a:ext cx="437074" cy="462763"/>
            <a:chOff x="0" y="0"/>
            <a:chExt cx="582765" cy="61701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2764" cy="617023"/>
            </a:xfrm>
            <a:custGeom>
              <a:avLst/>
              <a:gdLst/>
              <a:ahLst/>
              <a:cxnLst/>
              <a:rect r="r" b="b" t="t" l="l"/>
              <a:pathLst>
                <a:path h="617023" w="582764">
                  <a:moveTo>
                    <a:pt x="0" y="0"/>
                  </a:moveTo>
                  <a:lnTo>
                    <a:pt x="582764" y="0"/>
                  </a:lnTo>
                  <a:lnTo>
                    <a:pt x="582764" y="617023"/>
                  </a:lnTo>
                  <a:lnTo>
                    <a:pt x="0" y="6170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5844" t="0" r="-8584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82765" cy="6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1"/>
                </a:lnSpc>
              </a:pPr>
              <a:r>
                <a:rPr lang="en-US" b="true" sz="2559" spc="-5">
                  <a:solidFill>
                    <a:srgbClr val="0F6FC6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45313" y="2316928"/>
            <a:ext cx="1561862" cy="706879"/>
            <a:chOff x="0" y="0"/>
            <a:chExt cx="2082482" cy="94250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82485" cy="942505"/>
            </a:xfrm>
            <a:custGeom>
              <a:avLst/>
              <a:gdLst/>
              <a:ahLst/>
              <a:cxnLst/>
              <a:rect r="r" b="b" t="t" l="l"/>
              <a:pathLst>
                <a:path h="942505" w="2082485">
                  <a:moveTo>
                    <a:pt x="0" y="0"/>
                  </a:moveTo>
                  <a:lnTo>
                    <a:pt x="2082485" y="0"/>
                  </a:lnTo>
                  <a:lnTo>
                    <a:pt x="2082485" y="942505"/>
                  </a:lnTo>
                  <a:lnTo>
                    <a:pt x="0" y="9425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068" t="0" r="-8068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082482" cy="9996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96"/>
                </a:lnSpc>
              </a:pPr>
              <a:r>
                <a:rPr lang="en-US" sz="1280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Output is generated step-by-step(token by token)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407688" y="3002242"/>
            <a:ext cx="437074" cy="462763"/>
            <a:chOff x="0" y="0"/>
            <a:chExt cx="582765" cy="61701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2764" cy="617023"/>
            </a:xfrm>
            <a:custGeom>
              <a:avLst/>
              <a:gdLst/>
              <a:ahLst/>
              <a:cxnLst/>
              <a:rect r="r" b="b" t="t" l="l"/>
              <a:pathLst>
                <a:path h="617023" w="582764">
                  <a:moveTo>
                    <a:pt x="0" y="0"/>
                  </a:moveTo>
                  <a:lnTo>
                    <a:pt x="582764" y="0"/>
                  </a:lnTo>
                  <a:lnTo>
                    <a:pt x="582764" y="617023"/>
                  </a:lnTo>
                  <a:lnTo>
                    <a:pt x="0" y="6170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5844" t="0" r="-8584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82765" cy="6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1"/>
                </a:lnSpc>
              </a:pPr>
              <a:r>
                <a:rPr lang="en-US" b="true" sz="2559" spc="-5">
                  <a:solidFill>
                    <a:srgbClr val="7CCA62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05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807599" y="5022999"/>
            <a:ext cx="1561862" cy="77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6"/>
              </a:lnSpc>
            </a:pPr>
            <a:r>
              <a:rPr lang="en-US" sz="1536" b="true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 next word based on context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3369974" y="4679709"/>
            <a:ext cx="437074" cy="462763"/>
            <a:chOff x="0" y="0"/>
            <a:chExt cx="582765" cy="61701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2764" cy="617023"/>
            </a:xfrm>
            <a:custGeom>
              <a:avLst/>
              <a:gdLst/>
              <a:ahLst/>
              <a:cxnLst/>
              <a:rect r="r" b="b" t="t" l="l"/>
              <a:pathLst>
                <a:path h="617023" w="582764">
                  <a:moveTo>
                    <a:pt x="0" y="0"/>
                  </a:moveTo>
                  <a:lnTo>
                    <a:pt x="582764" y="0"/>
                  </a:lnTo>
                  <a:lnTo>
                    <a:pt x="582764" y="617023"/>
                  </a:lnTo>
                  <a:lnTo>
                    <a:pt x="0" y="6170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5844" t="0" r="-8584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82765" cy="6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1"/>
                </a:lnSpc>
              </a:pPr>
              <a:r>
                <a:rPr lang="en-US" b="true" sz="2559" spc="-5">
                  <a:solidFill>
                    <a:srgbClr val="009DD9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02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4151814" y="2100386"/>
            <a:ext cx="1561862" cy="77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6"/>
              </a:lnSpc>
            </a:pPr>
            <a:r>
              <a:rPr lang="en-US" sz="1536" b="true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Trained on large-scale text data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4714180" y="2616156"/>
            <a:ext cx="437074" cy="462763"/>
            <a:chOff x="0" y="0"/>
            <a:chExt cx="582765" cy="61701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2764" cy="617023"/>
            </a:xfrm>
            <a:custGeom>
              <a:avLst/>
              <a:gdLst/>
              <a:ahLst/>
              <a:cxnLst/>
              <a:rect r="r" b="b" t="t" l="l"/>
              <a:pathLst>
                <a:path h="617023" w="582764">
                  <a:moveTo>
                    <a:pt x="0" y="0"/>
                  </a:moveTo>
                  <a:lnTo>
                    <a:pt x="582764" y="0"/>
                  </a:lnTo>
                  <a:lnTo>
                    <a:pt x="582764" y="617023"/>
                  </a:lnTo>
                  <a:lnTo>
                    <a:pt x="0" y="6170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5844" t="0" r="-8584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82765" cy="6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1"/>
                </a:lnSpc>
              </a:pPr>
              <a:r>
                <a:rPr lang="en-US" b="true" sz="2559" spc="-5">
                  <a:solidFill>
                    <a:srgbClr val="0BD0D9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03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5516337" y="5022999"/>
            <a:ext cx="1561862" cy="77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9"/>
              </a:lnSpc>
            </a:pPr>
            <a:r>
              <a:rPr lang="en-US" sz="1493" b="true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Learn grammar, facts, reasoning ,patterns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078712" y="4679709"/>
            <a:ext cx="437074" cy="462763"/>
            <a:chOff x="0" y="0"/>
            <a:chExt cx="582765" cy="61701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2764" cy="617023"/>
            </a:xfrm>
            <a:custGeom>
              <a:avLst/>
              <a:gdLst/>
              <a:ahLst/>
              <a:cxnLst/>
              <a:rect r="r" b="b" t="t" l="l"/>
              <a:pathLst>
                <a:path h="617023" w="582764">
                  <a:moveTo>
                    <a:pt x="0" y="0"/>
                  </a:moveTo>
                  <a:lnTo>
                    <a:pt x="582764" y="0"/>
                  </a:lnTo>
                  <a:lnTo>
                    <a:pt x="582764" y="617023"/>
                  </a:lnTo>
                  <a:lnTo>
                    <a:pt x="0" y="6170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5844" t="0" r="-85844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82765" cy="6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1"/>
                </a:lnSpc>
              </a:pPr>
              <a:r>
                <a:rPr lang="en-US" b="true" sz="2559" spc="-5">
                  <a:solidFill>
                    <a:srgbClr val="10CF9B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04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4788865" y="3614404"/>
            <a:ext cx="288007" cy="374409"/>
          </a:xfrm>
          <a:custGeom>
            <a:avLst/>
            <a:gdLst/>
            <a:ahLst/>
            <a:cxnLst/>
            <a:rect r="r" b="b" t="t" l="l"/>
            <a:pathLst>
              <a:path h="374409" w="288007">
                <a:moveTo>
                  <a:pt x="0" y="0"/>
                </a:moveTo>
                <a:lnTo>
                  <a:pt x="288008" y="0"/>
                </a:lnTo>
                <a:lnTo>
                  <a:pt x="288008" y="374409"/>
                </a:lnTo>
                <a:lnTo>
                  <a:pt x="0" y="374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2082660" y="4003538"/>
            <a:ext cx="316811" cy="316811"/>
          </a:xfrm>
          <a:custGeom>
            <a:avLst/>
            <a:gdLst/>
            <a:ahLst/>
            <a:cxnLst/>
            <a:rect r="r" b="b" t="t" l="l"/>
            <a:pathLst>
              <a:path h="316811" w="316811">
                <a:moveTo>
                  <a:pt x="0" y="0"/>
                </a:moveTo>
                <a:lnTo>
                  <a:pt x="316811" y="0"/>
                </a:lnTo>
                <a:lnTo>
                  <a:pt x="316811" y="316812"/>
                </a:lnTo>
                <a:lnTo>
                  <a:pt x="0" y="316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3428400" y="3808971"/>
            <a:ext cx="317049" cy="345615"/>
          </a:xfrm>
          <a:custGeom>
            <a:avLst/>
            <a:gdLst/>
            <a:ahLst/>
            <a:cxnLst/>
            <a:rect r="r" b="b" t="t" l="l"/>
            <a:pathLst>
              <a:path h="345615" w="317049">
                <a:moveTo>
                  <a:pt x="0" y="0"/>
                </a:moveTo>
                <a:lnTo>
                  <a:pt x="317049" y="0"/>
                </a:lnTo>
                <a:lnTo>
                  <a:pt x="317049" y="345615"/>
                </a:lnTo>
                <a:lnTo>
                  <a:pt x="0" y="345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6119355" y="3823192"/>
            <a:ext cx="316811" cy="316811"/>
          </a:xfrm>
          <a:custGeom>
            <a:avLst/>
            <a:gdLst/>
            <a:ahLst/>
            <a:cxnLst/>
            <a:rect r="r" b="b" t="t" l="l"/>
            <a:pathLst>
              <a:path h="316811" w="316811">
                <a:moveTo>
                  <a:pt x="0" y="0"/>
                </a:moveTo>
                <a:lnTo>
                  <a:pt x="316811" y="0"/>
                </a:lnTo>
                <a:lnTo>
                  <a:pt x="316811" y="316811"/>
                </a:lnTo>
                <a:lnTo>
                  <a:pt x="0" y="3168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7465085" y="4004558"/>
            <a:ext cx="316811" cy="316811"/>
          </a:xfrm>
          <a:custGeom>
            <a:avLst/>
            <a:gdLst/>
            <a:ahLst/>
            <a:cxnLst/>
            <a:rect r="r" b="b" t="t" l="l"/>
            <a:pathLst>
              <a:path h="316811" w="316811">
                <a:moveTo>
                  <a:pt x="0" y="0"/>
                </a:moveTo>
                <a:lnTo>
                  <a:pt x="316811" y="0"/>
                </a:lnTo>
                <a:lnTo>
                  <a:pt x="316811" y="316811"/>
                </a:lnTo>
                <a:lnTo>
                  <a:pt x="0" y="3168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5" id="65"/>
          <p:cNvSpPr/>
          <p:nvPr/>
        </p:nvSpPr>
        <p:spPr>
          <a:xfrm rot="-5301840">
            <a:off x="2071840" y="3632073"/>
            <a:ext cx="355911" cy="0"/>
          </a:xfrm>
          <a:prstGeom prst="line">
            <a:avLst/>
          </a:prstGeom>
          <a:ln cap="rnd" w="9525">
            <a:solidFill>
              <a:srgbClr val="0F6FC6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66" id="66"/>
          <p:cNvSpPr/>
          <p:nvPr/>
        </p:nvSpPr>
        <p:spPr>
          <a:xfrm rot="-5498160">
            <a:off x="7448683" y="3633092"/>
            <a:ext cx="355911" cy="0"/>
          </a:xfrm>
          <a:prstGeom prst="line">
            <a:avLst/>
          </a:prstGeom>
          <a:ln cap="rnd" w="9525">
            <a:solidFill>
              <a:srgbClr val="7CCA62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67" id="67"/>
          <p:cNvSpPr/>
          <p:nvPr/>
        </p:nvSpPr>
        <p:spPr>
          <a:xfrm rot="-5308980">
            <a:off x="4741297" y="3256312"/>
            <a:ext cx="383686" cy="0"/>
          </a:xfrm>
          <a:prstGeom prst="line">
            <a:avLst/>
          </a:prstGeom>
          <a:ln cap="rnd" w="9525">
            <a:solidFill>
              <a:srgbClr val="0BD0D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8" id="68"/>
          <p:cNvSpPr/>
          <p:nvPr/>
        </p:nvSpPr>
        <p:spPr>
          <a:xfrm rot="5301960">
            <a:off x="3410293" y="4501963"/>
            <a:ext cx="356254" cy="0"/>
          </a:xfrm>
          <a:prstGeom prst="line">
            <a:avLst/>
          </a:prstGeom>
          <a:ln cap="rnd" w="9525">
            <a:solidFill>
              <a:srgbClr val="009DD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69" id="69"/>
          <p:cNvSpPr/>
          <p:nvPr/>
        </p:nvSpPr>
        <p:spPr>
          <a:xfrm rot="5498040">
            <a:off x="6119031" y="4501963"/>
            <a:ext cx="356254" cy="0"/>
          </a:xfrm>
          <a:prstGeom prst="line">
            <a:avLst/>
          </a:prstGeom>
          <a:ln cap="rnd" w="9525">
            <a:solidFill>
              <a:srgbClr val="10CF9B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70" id="70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399"/>
                </a:lnSpc>
              </a:pPr>
              <a:r>
                <a:rPr lang="en-US" sz="5333" b="true">
                  <a:solidFill>
                    <a:srgbClr val="04617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APPLICATIONS OF LLMs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9120" y="2091185"/>
            <a:ext cx="8595360" cy="460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Education : Content creation, tutoring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Healthcare: medical documentation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Business : chatbots, automation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Software: Code generation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Media: content  writing, design</a:t>
            </a:r>
          </a:p>
          <a:p>
            <a:pPr algn="l" marL="356909" indent="-178454" lvl="1">
              <a:lnSpc>
                <a:spcPts val="3328"/>
              </a:lnSpc>
            </a:pPr>
          </a:p>
          <a:p>
            <a:pPr algn="l" marL="356909" indent="-178454" lvl="1">
              <a:lnSpc>
                <a:spcPts val="3328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6718" y="1228315"/>
            <a:ext cx="8775363" cy="564480"/>
            <a:chOff x="0" y="0"/>
            <a:chExt cx="11700485" cy="752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0480" cy="752640"/>
            </a:xfrm>
            <a:custGeom>
              <a:avLst/>
              <a:gdLst/>
              <a:ahLst/>
              <a:cxnLst/>
              <a:rect r="r" b="b" t="t" l="l"/>
              <a:pathLst>
                <a:path h="752640" w="11700480">
                  <a:moveTo>
                    <a:pt x="0" y="0"/>
                  </a:moveTo>
                  <a:lnTo>
                    <a:pt x="11700480" y="0"/>
                  </a:lnTo>
                  <a:lnTo>
                    <a:pt x="11700480" y="752640"/>
                  </a:lnTo>
                  <a:lnTo>
                    <a:pt x="0" y="752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912" r="0" b="-25291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700485" cy="81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16"/>
                </a:lnSpc>
              </a:pPr>
              <a:r>
                <a:rPr lang="en-US" sz="3264">
                  <a:solidFill>
                    <a:srgbClr val="0461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 TO GENERATIVE AI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6765" y="2149107"/>
            <a:ext cx="8640061" cy="1772583"/>
            <a:chOff x="0" y="0"/>
            <a:chExt cx="11520081" cy="23634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20043" cy="2363470"/>
            </a:xfrm>
            <a:custGeom>
              <a:avLst/>
              <a:gdLst/>
              <a:ahLst/>
              <a:cxnLst/>
              <a:rect r="r" b="b" t="t" l="l"/>
              <a:pathLst>
                <a:path h="2363470" w="11520043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11364849" y="0"/>
                  </a:lnTo>
                  <a:cubicBezTo>
                    <a:pt x="11450574" y="0"/>
                    <a:pt x="11520043" y="69469"/>
                    <a:pt x="11520043" y="155194"/>
                  </a:cubicBezTo>
                  <a:lnTo>
                    <a:pt x="11520043" y="2208276"/>
                  </a:lnTo>
                  <a:cubicBezTo>
                    <a:pt x="11520043" y="2294001"/>
                    <a:pt x="11450574" y="2363470"/>
                    <a:pt x="11364849" y="2363470"/>
                  </a:cubicBezTo>
                  <a:lnTo>
                    <a:pt x="155194" y="2363470"/>
                  </a:lnTo>
                  <a:cubicBezTo>
                    <a:pt x="69469" y="2363470"/>
                    <a:pt x="0" y="2294001"/>
                    <a:pt x="0" y="220827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6FC6">
                    <a:alpha val="0"/>
                  </a:srgbClr>
                </a:gs>
                <a:gs pos="80000">
                  <a:srgbClr val="0F6FC6">
                    <a:alpha val="8000"/>
                  </a:srgbClr>
                </a:gs>
              </a:gsLst>
              <a:lin ang="1080000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3277" y="2420884"/>
            <a:ext cx="8067304" cy="337766"/>
            <a:chOff x="0" y="0"/>
            <a:chExt cx="10756405" cy="4503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56400" cy="450354"/>
            </a:xfrm>
            <a:custGeom>
              <a:avLst/>
              <a:gdLst/>
              <a:ahLst/>
              <a:cxnLst/>
              <a:rect r="r" b="b" t="t" l="l"/>
              <a:pathLst>
                <a:path h="450354" w="10756400">
                  <a:moveTo>
                    <a:pt x="0" y="0"/>
                  </a:moveTo>
                  <a:lnTo>
                    <a:pt x="10756400" y="0"/>
                  </a:lnTo>
                  <a:lnTo>
                    <a:pt x="10756400" y="450354"/>
                  </a:lnTo>
                  <a:lnTo>
                    <a:pt x="0" y="4503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5387" r="0" b="-41538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756405" cy="488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2048" b="true">
                  <a:solidFill>
                    <a:srgbClr val="0F6FC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Artificial Intelligence(AI)?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43277" y="2653675"/>
            <a:ext cx="8067304" cy="112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 spc="-4">
                <a:solidFill>
                  <a:srgbClr val="262626"/>
                </a:solidFill>
                <a:latin typeface="Vollkorn"/>
                <a:ea typeface="Vollkorn"/>
                <a:cs typeface="Vollkorn"/>
                <a:sym typeface="Vollkorn"/>
              </a:rPr>
              <a:t>AI is the simulation of human intelligence in machines that are programmed to think and learn.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56765" y="4261876"/>
            <a:ext cx="8640061" cy="1772583"/>
            <a:chOff x="0" y="0"/>
            <a:chExt cx="11520081" cy="23634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20043" cy="2363470"/>
            </a:xfrm>
            <a:custGeom>
              <a:avLst/>
              <a:gdLst/>
              <a:ahLst/>
              <a:cxnLst/>
              <a:rect r="r" b="b" t="t" l="l"/>
              <a:pathLst>
                <a:path h="2363470" w="11520043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11364849" y="0"/>
                  </a:lnTo>
                  <a:cubicBezTo>
                    <a:pt x="11450574" y="0"/>
                    <a:pt x="11520043" y="69469"/>
                    <a:pt x="11520043" y="155194"/>
                  </a:cubicBezTo>
                  <a:lnTo>
                    <a:pt x="11520043" y="2208276"/>
                  </a:lnTo>
                  <a:cubicBezTo>
                    <a:pt x="11520043" y="2294001"/>
                    <a:pt x="11450574" y="2363470"/>
                    <a:pt x="11364849" y="2363470"/>
                  </a:cubicBezTo>
                  <a:lnTo>
                    <a:pt x="155194" y="2363470"/>
                  </a:lnTo>
                  <a:cubicBezTo>
                    <a:pt x="69469" y="2363470"/>
                    <a:pt x="0" y="2294001"/>
                    <a:pt x="0" y="220827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DD9">
                    <a:alpha val="0"/>
                  </a:srgbClr>
                </a:gs>
                <a:gs pos="80000">
                  <a:srgbClr val="009DD9">
                    <a:alpha val="8000"/>
                  </a:srgbClr>
                </a:gs>
              </a:gsLst>
              <a:lin ang="10800000"/>
            </a:gra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3277" y="4533148"/>
            <a:ext cx="8067304" cy="337766"/>
            <a:chOff x="0" y="0"/>
            <a:chExt cx="10756405" cy="4503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6400" cy="450354"/>
            </a:xfrm>
            <a:custGeom>
              <a:avLst/>
              <a:gdLst/>
              <a:ahLst/>
              <a:cxnLst/>
              <a:rect r="r" b="b" t="t" l="l"/>
              <a:pathLst>
                <a:path h="450354" w="10756400">
                  <a:moveTo>
                    <a:pt x="0" y="0"/>
                  </a:moveTo>
                  <a:lnTo>
                    <a:pt x="10756400" y="0"/>
                  </a:lnTo>
                  <a:lnTo>
                    <a:pt x="10756400" y="450354"/>
                  </a:lnTo>
                  <a:lnTo>
                    <a:pt x="0" y="4503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5387" r="0" b="-4153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756405" cy="488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2048" b="true">
                  <a:solidFill>
                    <a:srgbClr val="009D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refers to machines that can perform tasks requiring human intelligence.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43277" y="4765939"/>
            <a:ext cx="8067304" cy="112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 spc="-4">
                <a:solidFill>
                  <a:srgbClr val="262626"/>
                </a:solidFill>
                <a:latin typeface="Vollkorn"/>
                <a:ea typeface="Vollkorn"/>
                <a:cs typeface="Vollkorn"/>
                <a:sym typeface="Vollkorn"/>
              </a:rPr>
              <a:t>Includes learning, reasoning, problem-solving and decision making.</a:t>
            </a:r>
          </a:p>
          <a:p>
            <a:pPr algn="l">
              <a:lnSpc>
                <a:spcPts val="3456"/>
              </a:lnSpc>
            </a:pPr>
            <a:r>
              <a:rPr lang="en-US" sz="1920" spc="-4">
                <a:solidFill>
                  <a:srgbClr val="262626"/>
                </a:solidFill>
                <a:latin typeface="Vollkorn"/>
                <a:ea typeface="Vollkorn"/>
                <a:cs typeface="Vollkorn"/>
                <a:sym typeface="Vollkorn"/>
              </a:rPr>
              <a:t>Examples: voice assistants, recommendation systems, chatbots.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43277" y="2073926"/>
            <a:ext cx="8067304" cy="337766"/>
            <a:chOff x="0" y="0"/>
            <a:chExt cx="10756405" cy="4503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56400" cy="450354"/>
            </a:xfrm>
            <a:custGeom>
              <a:avLst/>
              <a:gdLst/>
              <a:ahLst/>
              <a:cxnLst/>
              <a:rect r="r" b="b" t="t" l="l"/>
              <a:pathLst>
                <a:path h="450354" w="10756400">
                  <a:moveTo>
                    <a:pt x="0" y="0"/>
                  </a:moveTo>
                  <a:lnTo>
                    <a:pt x="10756400" y="0"/>
                  </a:lnTo>
                  <a:lnTo>
                    <a:pt x="10756400" y="450354"/>
                  </a:lnTo>
                  <a:lnTo>
                    <a:pt x="0" y="4503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5387" r="0" b="-4153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756405" cy="469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b="true" sz="3840" spc="-8">
                  <a:solidFill>
                    <a:srgbClr val="DBF5F9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43277" y="4195334"/>
            <a:ext cx="8067304" cy="337766"/>
            <a:chOff x="0" y="0"/>
            <a:chExt cx="10756405" cy="4503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56400" cy="450354"/>
            </a:xfrm>
            <a:custGeom>
              <a:avLst/>
              <a:gdLst/>
              <a:ahLst/>
              <a:cxnLst/>
              <a:rect r="r" b="b" t="t" l="l"/>
              <a:pathLst>
                <a:path h="450354" w="10756400">
                  <a:moveTo>
                    <a:pt x="0" y="0"/>
                  </a:moveTo>
                  <a:lnTo>
                    <a:pt x="10756400" y="0"/>
                  </a:lnTo>
                  <a:lnTo>
                    <a:pt x="10756400" y="450354"/>
                  </a:lnTo>
                  <a:lnTo>
                    <a:pt x="0" y="4503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5387" r="0" b="-4153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756405" cy="469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b="true" sz="3840" spc="-8">
                  <a:solidFill>
                    <a:srgbClr val="DBF5F9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62877" y="-105661"/>
            <a:ext cx="4490723" cy="1158240"/>
            <a:chOff x="0" y="0"/>
            <a:chExt cx="5987631" cy="1544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75319" y="1099880"/>
            <a:ext cx="8640004" cy="633603"/>
            <a:chOff x="0" y="0"/>
            <a:chExt cx="11520005" cy="8448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20000" cy="844800"/>
            </a:xfrm>
            <a:custGeom>
              <a:avLst/>
              <a:gdLst/>
              <a:ahLst/>
              <a:cxnLst/>
              <a:rect r="r" b="b" t="t" l="l"/>
              <a:pathLst>
                <a:path h="844800" w="11520000">
                  <a:moveTo>
                    <a:pt x="0" y="0"/>
                  </a:moveTo>
                  <a:lnTo>
                    <a:pt x="11520000" y="0"/>
                  </a:lnTo>
                  <a:lnTo>
                    <a:pt x="11520000" y="844800"/>
                  </a:lnTo>
                  <a:lnTo>
                    <a:pt x="0" y="84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704" r="0" b="-2157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520005" cy="91147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77"/>
                </a:lnSpc>
              </a:pPr>
              <a:r>
                <a:rPr lang="en-US" sz="3648">
                  <a:solidFill>
                    <a:srgbClr val="0461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Generative AI?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77620" y="3491713"/>
            <a:ext cx="1198293" cy="1198293"/>
            <a:chOff x="0" y="0"/>
            <a:chExt cx="1597724" cy="15977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7660" cy="1597660"/>
            </a:xfrm>
            <a:custGeom>
              <a:avLst/>
              <a:gdLst/>
              <a:ahLst/>
              <a:cxnLst/>
              <a:rect r="r" b="b" t="t" l="l"/>
              <a:pathLst>
                <a:path h="1597660" w="1597660">
                  <a:moveTo>
                    <a:pt x="0" y="798830"/>
                  </a:moveTo>
                  <a:cubicBezTo>
                    <a:pt x="0" y="357632"/>
                    <a:pt x="357632" y="0"/>
                    <a:pt x="798830" y="0"/>
                  </a:cubicBezTo>
                  <a:cubicBezTo>
                    <a:pt x="1240028" y="0"/>
                    <a:pt x="1597660" y="357632"/>
                    <a:pt x="1597660" y="798830"/>
                  </a:cubicBezTo>
                  <a:cubicBezTo>
                    <a:pt x="1597660" y="1240028"/>
                    <a:pt x="1240028" y="1597660"/>
                    <a:pt x="798830" y="1597660"/>
                  </a:cubicBezTo>
                  <a:cubicBezTo>
                    <a:pt x="357632" y="1597660"/>
                    <a:pt x="0" y="1240028"/>
                    <a:pt x="0" y="79883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6" t="0" r="-78310" b="-3"/>
              </a:stretch>
            </a:blipFill>
            <a:ln w="54187" cap="sq">
              <a:solidFill>
                <a:srgbClr val="0F6FC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47708" y="2297316"/>
            <a:ext cx="2074135" cy="1067019"/>
            <a:chOff x="0" y="0"/>
            <a:chExt cx="2765514" cy="14226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5679" cy="1422654"/>
            </a:xfrm>
            <a:custGeom>
              <a:avLst/>
              <a:gdLst/>
              <a:ahLst/>
              <a:cxnLst/>
              <a:rect r="r" b="b" t="t" l="l"/>
              <a:pathLst>
                <a:path h="1422654" w="2765679">
                  <a:moveTo>
                    <a:pt x="2765552" y="0"/>
                  </a:moveTo>
                  <a:lnTo>
                    <a:pt x="0" y="0"/>
                  </a:lnTo>
                  <a:lnTo>
                    <a:pt x="0" y="1128776"/>
                  </a:lnTo>
                  <a:lnTo>
                    <a:pt x="1508125" y="1128776"/>
                  </a:lnTo>
                  <a:lnTo>
                    <a:pt x="1911858" y="1422654"/>
                  </a:lnTo>
                  <a:lnTo>
                    <a:pt x="1884299" y="1128776"/>
                  </a:lnTo>
                  <a:lnTo>
                    <a:pt x="2765679" y="1128776"/>
                  </a:lnTo>
                  <a:close/>
                </a:path>
              </a:pathLst>
            </a:custGeom>
            <a:solidFill>
              <a:srgbClr val="59AAF2">
                <a:alpha val="666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85938" y="2485825"/>
            <a:ext cx="2415416" cy="1067019"/>
            <a:chOff x="0" y="0"/>
            <a:chExt cx="3220555" cy="14226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20593" cy="1422654"/>
            </a:xfrm>
            <a:custGeom>
              <a:avLst/>
              <a:gdLst/>
              <a:ahLst/>
              <a:cxnLst/>
              <a:rect r="r" b="b" t="t" l="l"/>
              <a:pathLst>
                <a:path h="1422654" w="3220593">
                  <a:moveTo>
                    <a:pt x="0" y="0"/>
                  </a:moveTo>
                  <a:lnTo>
                    <a:pt x="3220593" y="0"/>
                  </a:lnTo>
                  <a:lnTo>
                    <a:pt x="3220593" y="1195324"/>
                  </a:lnTo>
                  <a:lnTo>
                    <a:pt x="2915539" y="1195324"/>
                  </a:lnTo>
                  <a:lnTo>
                    <a:pt x="3051683" y="1422654"/>
                  </a:lnTo>
                  <a:lnTo>
                    <a:pt x="2481707" y="1195324"/>
                  </a:lnTo>
                  <a:lnTo>
                    <a:pt x="0" y="1195324"/>
                  </a:lnTo>
                  <a:close/>
                </a:path>
              </a:pathLst>
            </a:custGeom>
            <a:solidFill>
              <a:srgbClr val="0F6FC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220555" cy="1432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8"/>
                </a:lnSpc>
              </a:pPr>
              <a:r>
                <a:rPr lang="en-US" sz="1706" spc="-3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 Subset of AI that creates new content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2834" y="3522031"/>
            <a:ext cx="2977896" cy="945166"/>
            <a:chOff x="0" y="0"/>
            <a:chExt cx="3970528" cy="12602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70528" cy="1260221"/>
            </a:xfrm>
            <a:custGeom>
              <a:avLst/>
              <a:gdLst/>
              <a:ahLst/>
              <a:cxnLst/>
              <a:rect r="r" b="b" t="t" l="l"/>
              <a:pathLst>
                <a:path h="1260221" w="3970528">
                  <a:moveTo>
                    <a:pt x="0" y="0"/>
                  </a:moveTo>
                  <a:lnTo>
                    <a:pt x="3525139" y="0"/>
                  </a:lnTo>
                  <a:lnTo>
                    <a:pt x="3525139" y="676402"/>
                  </a:lnTo>
                  <a:lnTo>
                    <a:pt x="3970528" y="756793"/>
                  </a:lnTo>
                  <a:lnTo>
                    <a:pt x="3525139" y="920877"/>
                  </a:lnTo>
                  <a:lnTo>
                    <a:pt x="3525139" y="1260221"/>
                  </a:lnTo>
                  <a:lnTo>
                    <a:pt x="0" y="1260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24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970528" cy="1279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3"/>
                </a:lnSpc>
              </a:pPr>
              <a:r>
                <a:rPr lang="en-US" b="true" sz="1194" spc="-2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Examples</a:t>
              </a:r>
              <a:r>
                <a:rPr lang="en-US" sz="1194" spc="-2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: Text generation, image creation music composition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90611" y="4679147"/>
            <a:ext cx="2605326" cy="920477"/>
            <a:chOff x="0" y="0"/>
            <a:chExt cx="3473767" cy="12273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73704" cy="1227328"/>
            </a:xfrm>
            <a:custGeom>
              <a:avLst/>
              <a:gdLst/>
              <a:ahLst/>
              <a:cxnLst/>
              <a:rect r="r" b="b" t="t" l="l"/>
              <a:pathLst>
                <a:path h="1227328" w="3473704">
                  <a:moveTo>
                    <a:pt x="0" y="0"/>
                  </a:moveTo>
                  <a:lnTo>
                    <a:pt x="3212465" y="0"/>
                  </a:lnTo>
                  <a:lnTo>
                    <a:pt x="3222625" y="413639"/>
                  </a:lnTo>
                  <a:lnTo>
                    <a:pt x="3473704" y="158496"/>
                  </a:lnTo>
                  <a:lnTo>
                    <a:pt x="3222625" y="651637"/>
                  </a:lnTo>
                  <a:lnTo>
                    <a:pt x="3212465" y="1227328"/>
                  </a:lnTo>
                  <a:lnTo>
                    <a:pt x="0" y="1227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A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473767" cy="12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3"/>
                </a:lnSpc>
              </a:pPr>
              <a:r>
                <a:rPr lang="en-US" sz="1194" spc="-2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Uses probability and statistical patterns to create content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31328" y="2290239"/>
            <a:ext cx="2074135" cy="1067019"/>
            <a:chOff x="0" y="0"/>
            <a:chExt cx="2765514" cy="14226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65552" cy="1422654"/>
            </a:xfrm>
            <a:custGeom>
              <a:avLst/>
              <a:gdLst/>
              <a:ahLst/>
              <a:cxnLst/>
              <a:rect r="r" b="b" t="t" l="l"/>
              <a:pathLst>
                <a:path h="1422654" w="2765552">
                  <a:moveTo>
                    <a:pt x="0" y="0"/>
                  </a:moveTo>
                  <a:lnTo>
                    <a:pt x="2765552" y="0"/>
                  </a:lnTo>
                  <a:lnTo>
                    <a:pt x="2765552" y="1128776"/>
                  </a:lnTo>
                  <a:lnTo>
                    <a:pt x="1257427" y="1128776"/>
                  </a:lnTo>
                  <a:lnTo>
                    <a:pt x="853821" y="1422654"/>
                  </a:lnTo>
                  <a:lnTo>
                    <a:pt x="881380" y="1128776"/>
                  </a:lnTo>
                  <a:lnTo>
                    <a:pt x="0" y="1128776"/>
                  </a:lnTo>
                  <a:close/>
                </a:path>
              </a:pathLst>
            </a:custGeom>
            <a:solidFill>
              <a:srgbClr val="4FCEFF">
                <a:alpha val="10196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551980" y="2478748"/>
            <a:ext cx="2415416" cy="1067019"/>
            <a:chOff x="0" y="0"/>
            <a:chExt cx="3220555" cy="14226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20593" cy="1422654"/>
            </a:xfrm>
            <a:custGeom>
              <a:avLst/>
              <a:gdLst/>
              <a:ahLst/>
              <a:cxnLst/>
              <a:rect r="r" b="b" t="t" l="l"/>
              <a:pathLst>
                <a:path h="1422654" w="3220593">
                  <a:moveTo>
                    <a:pt x="3220593" y="0"/>
                  </a:moveTo>
                  <a:lnTo>
                    <a:pt x="0" y="0"/>
                  </a:lnTo>
                  <a:lnTo>
                    <a:pt x="0" y="1195324"/>
                  </a:lnTo>
                  <a:lnTo>
                    <a:pt x="305054" y="1195324"/>
                  </a:lnTo>
                  <a:lnTo>
                    <a:pt x="168910" y="1422654"/>
                  </a:lnTo>
                  <a:lnTo>
                    <a:pt x="738886" y="1195324"/>
                  </a:lnTo>
                  <a:lnTo>
                    <a:pt x="3220593" y="1195324"/>
                  </a:lnTo>
                  <a:close/>
                </a:path>
              </a:pathLst>
            </a:custGeom>
            <a:solidFill>
              <a:srgbClr val="009D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220555" cy="1432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8"/>
                </a:lnSpc>
              </a:pPr>
              <a:r>
                <a:rPr lang="en-US" sz="1706" spc="-3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Generates text, images,audio,video and code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804668" y="3542052"/>
            <a:ext cx="2977896" cy="945166"/>
            <a:chOff x="0" y="0"/>
            <a:chExt cx="3970528" cy="126022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70528" cy="1260221"/>
            </a:xfrm>
            <a:custGeom>
              <a:avLst/>
              <a:gdLst/>
              <a:ahLst/>
              <a:cxnLst/>
              <a:rect r="r" b="b" t="t" l="l"/>
              <a:pathLst>
                <a:path h="1260221" w="3970528">
                  <a:moveTo>
                    <a:pt x="3970528" y="0"/>
                  </a:moveTo>
                  <a:lnTo>
                    <a:pt x="445389" y="0"/>
                  </a:lnTo>
                  <a:lnTo>
                    <a:pt x="445389" y="676402"/>
                  </a:lnTo>
                  <a:lnTo>
                    <a:pt x="0" y="756793"/>
                  </a:lnTo>
                  <a:lnTo>
                    <a:pt x="445389" y="920877"/>
                  </a:lnTo>
                  <a:lnTo>
                    <a:pt x="445389" y="1260221"/>
                  </a:lnTo>
                  <a:lnTo>
                    <a:pt x="3970528" y="1260221"/>
                  </a:lnTo>
                  <a:lnTo>
                    <a:pt x="3970528" y="0"/>
                  </a:lnTo>
                  <a:close/>
                </a:path>
              </a:pathLst>
            </a:custGeom>
            <a:solidFill>
              <a:srgbClr val="0BD0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970528" cy="1279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6"/>
                </a:lnSpc>
              </a:pPr>
              <a:r>
                <a:rPr lang="en-US" sz="128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They generate new original outputs not just retrieve existing Data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57788" y="4671565"/>
            <a:ext cx="2605326" cy="920477"/>
            <a:chOff x="0" y="0"/>
            <a:chExt cx="3473767" cy="12273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3831" cy="1227328"/>
            </a:xfrm>
            <a:custGeom>
              <a:avLst/>
              <a:gdLst/>
              <a:ahLst/>
              <a:cxnLst/>
              <a:rect r="r" b="b" t="t" l="l"/>
              <a:pathLst>
                <a:path h="1227328" w="3473831">
                  <a:moveTo>
                    <a:pt x="3473831" y="0"/>
                  </a:moveTo>
                  <a:lnTo>
                    <a:pt x="261239" y="0"/>
                  </a:lnTo>
                  <a:lnTo>
                    <a:pt x="251079" y="413639"/>
                  </a:lnTo>
                  <a:lnTo>
                    <a:pt x="0" y="158496"/>
                  </a:lnTo>
                  <a:lnTo>
                    <a:pt x="251079" y="651637"/>
                  </a:lnTo>
                  <a:lnTo>
                    <a:pt x="261239" y="1227328"/>
                  </a:lnTo>
                  <a:lnTo>
                    <a:pt x="3473831" y="1227328"/>
                  </a:lnTo>
                  <a:lnTo>
                    <a:pt x="3473831" y="0"/>
                  </a:lnTo>
                  <a:close/>
                </a:path>
              </a:pathLst>
            </a:custGeom>
            <a:solidFill>
              <a:srgbClr val="10CF9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473767" cy="1236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8"/>
                </a:lnSpc>
              </a:pPr>
              <a:r>
                <a:rPr lang="en-US" sz="1706" spc="-3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Learns patterns from large datasets</a:t>
              </a:r>
            </a:p>
          </p:txBody>
        </p:sp>
      </p:grpSp>
      <p:sp>
        <p:nvSpPr>
          <p:cNvPr name="Freeform 34" id="34" descr="343439383331313b343532303032333bc6f3d2b5bcf2bde9"/>
          <p:cNvSpPr/>
          <p:nvPr/>
        </p:nvSpPr>
        <p:spPr>
          <a:xfrm flipH="false" flipV="false" rot="0">
            <a:off x="4619063" y="3833146"/>
            <a:ext cx="515722" cy="515722"/>
          </a:xfrm>
          <a:custGeom>
            <a:avLst/>
            <a:gdLst/>
            <a:ahLst/>
            <a:cxnLst/>
            <a:rect r="r" b="b" t="t" l="l"/>
            <a:pathLst>
              <a:path h="515722" w="515722">
                <a:moveTo>
                  <a:pt x="0" y="0"/>
                </a:moveTo>
                <a:lnTo>
                  <a:pt x="515722" y="0"/>
                </a:lnTo>
                <a:lnTo>
                  <a:pt x="515722" y="515721"/>
                </a:lnTo>
                <a:lnTo>
                  <a:pt x="0" y="515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089197" y="3402987"/>
            <a:ext cx="1367942" cy="1367942"/>
            <a:chOff x="0" y="0"/>
            <a:chExt cx="1823923" cy="18239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3974" cy="1823974"/>
            </a:xfrm>
            <a:custGeom>
              <a:avLst/>
              <a:gdLst/>
              <a:ahLst/>
              <a:cxnLst/>
              <a:rect r="r" b="b" t="t" l="l"/>
              <a:pathLst>
                <a:path h="1823974" w="1823974">
                  <a:moveTo>
                    <a:pt x="877824" y="0"/>
                  </a:moveTo>
                  <a:cubicBezTo>
                    <a:pt x="887603" y="0"/>
                    <a:pt x="897382" y="0"/>
                    <a:pt x="916813" y="0"/>
                  </a:cubicBezTo>
                  <a:cubicBezTo>
                    <a:pt x="926592" y="0"/>
                    <a:pt x="936371" y="0"/>
                    <a:pt x="946023" y="0"/>
                  </a:cubicBezTo>
                  <a:lnTo>
                    <a:pt x="946023" y="9779"/>
                  </a:lnTo>
                  <a:cubicBezTo>
                    <a:pt x="936244" y="9779"/>
                    <a:pt x="926465" y="9779"/>
                    <a:pt x="916813" y="9779"/>
                  </a:cubicBezTo>
                  <a:cubicBezTo>
                    <a:pt x="897255" y="9779"/>
                    <a:pt x="887603" y="9779"/>
                    <a:pt x="877824" y="9779"/>
                  </a:cubicBezTo>
                  <a:lnTo>
                    <a:pt x="877824" y="0"/>
                  </a:lnTo>
                  <a:moveTo>
                    <a:pt x="731520" y="19558"/>
                  </a:moveTo>
                  <a:cubicBezTo>
                    <a:pt x="760730" y="9779"/>
                    <a:pt x="780288" y="9779"/>
                    <a:pt x="809498" y="9779"/>
                  </a:cubicBezTo>
                  <a:lnTo>
                    <a:pt x="809498" y="19558"/>
                  </a:lnTo>
                  <a:cubicBezTo>
                    <a:pt x="780288" y="19558"/>
                    <a:pt x="760730" y="29337"/>
                    <a:pt x="741172" y="29337"/>
                  </a:cubicBezTo>
                  <a:lnTo>
                    <a:pt x="731393" y="19558"/>
                  </a:lnTo>
                  <a:moveTo>
                    <a:pt x="1024128" y="9779"/>
                  </a:moveTo>
                  <a:cubicBezTo>
                    <a:pt x="1043686" y="9779"/>
                    <a:pt x="1072896" y="9779"/>
                    <a:pt x="1092454" y="19558"/>
                  </a:cubicBezTo>
                  <a:lnTo>
                    <a:pt x="1092454" y="29210"/>
                  </a:lnTo>
                  <a:cubicBezTo>
                    <a:pt x="1063244" y="29210"/>
                    <a:pt x="1043686" y="19431"/>
                    <a:pt x="1024128" y="19431"/>
                  </a:cubicBezTo>
                  <a:lnTo>
                    <a:pt x="1024128" y="9779"/>
                  </a:lnTo>
                  <a:moveTo>
                    <a:pt x="594995" y="58547"/>
                  </a:moveTo>
                  <a:cubicBezTo>
                    <a:pt x="624205" y="48768"/>
                    <a:pt x="643763" y="38989"/>
                    <a:pt x="663321" y="29337"/>
                  </a:cubicBezTo>
                  <a:lnTo>
                    <a:pt x="673100" y="48895"/>
                  </a:lnTo>
                  <a:cubicBezTo>
                    <a:pt x="643890" y="48895"/>
                    <a:pt x="624332" y="58674"/>
                    <a:pt x="604774" y="68453"/>
                  </a:cubicBezTo>
                  <a:lnTo>
                    <a:pt x="594995" y="58674"/>
                  </a:lnTo>
                  <a:moveTo>
                    <a:pt x="1160653" y="29210"/>
                  </a:moveTo>
                  <a:cubicBezTo>
                    <a:pt x="1180211" y="38989"/>
                    <a:pt x="1209421" y="48768"/>
                    <a:pt x="1228979" y="58420"/>
                  </a:cubicBezTo>
                  <a:lnTo>
                    <a:pt x="1228979" y="68199"/>
                  </a:lnTo>
                  <a:cubicBezTo>
                    <a:pt x="1199769" y="58420"/>
                    <a:pt x="1180211" y="48641"/>
                    <a:pt x="1160653" y="48641"/>
                  </a:cubicBezTo>
                  <a:lnTo>
                    <a:pt x="1160653" y="29210"/>
                  </a:lnTo>
                  <a:moveTo>
                    <a:pt x="1297178" y="87757"/>
                  </a:moveTo>
                  <a:cubicBezTo>
                    <a:pt x="1316736" y="97536"/>
                    <a:pt x="1336167" y="107315"/>
                    <a:pt x="1355725" y="116967"/>
                  </a:cubicBezTo>
                  <a:lnTo>
                    <a:pt x="1355725" y="126746"/>
                  </a:lnTo>
                  <a:cubicBezTo>
                    <a:pt x="1336167" y="116967"/>
                    <a:pt x="1316736" y="107188"/>
                    <a:pt x="1287399" y="97536"/>
                  </a:cubicBezTo>
                  <a:lnTo>
                    <a:pt x="1297178" y="87757"/>
                  </a:lnTo>
                  <a:moveTo>
                    <a:pt x="468122" y="117094"/>
                  </a:moveTo>
                  <a:cubicBezTo>
                    <a:pt x="487680" y="107315"/>
                    <a:pt x="507111" y="97536"/>
                    <a:pt x="526669" y="87884"/>
                  </a:cubicBezTo>
                  <a:lnTo>
                    <a:pt x="536448" y="97663"/>
                  </a:lnTo>
                  <a:cubicBezTo>
                    <a:pt x="516890" y="107442"/>
                    <a:pt x="497459" y="117221"/>
                    <a:pt x="477901" y="126873"/>
                  </a:cubicBezTo>
                  <a:lnTo>
                    <a:pt x="468122" y="117094"/>
                  </a:lnTo>
                  <a:moveTo>
                    <a:pt x="1423924" y="156083"/>
                  </a:moveTo>
                  <a:cubicBezTo>
                    <a:pt x="1443482" y="165862"/>
                    <a:pt x="1462913" y="185293"/>
                    <a:pt x="1482471" y="195072"/>
                  </a:cubicBezTo>
                  <a:lnTo>
                    <a:pt x="1472692" y="204851"/>
                  </a:lnTo>
                  <a:cubicBezTo>
                    <a:pt x="1453134" y="195072"/>
                    <a:pt x="1433703" y="175641"/>
                    <a:pt x="1414145" y="165862"/>
                  </a:cubicBezTo>
                  <a:lnTo>
                    <a:pt x="1423924" y="156083"/>
                  </a:lnTo>
                  <a:moveTo>
                    <a:pt x="351155" y="195072"/>
                  </a:moveTo>
                  <a:cubicBezTo>
                    <a:pt x="370713" y="185293"/>
                    <a:pt x="390144" y="165862"/>
                    <a:pt x="409702" y="156083"/>
                  </a:cubicBezTo>
                  <a:lnTo>
                    <a:pt x="409702" y="165862"/>
                  </a:lnTo>
                  <a:cubicBezTo>
                    <a:pt x="390144" y="175641"/>
                    <a:pt x="370713" y="195072"/>
                    <a:pt x="351155" y="204851"/>
                  </a:cubicBezTo>
                  <a:lnTo>
                    <a:pt x="351155" y="195072"/>
                  </a:lnTo>
                  <a:moveTo>
                    <a:pt x="1531366" y="243840"/>
                  </a:moveTo>
                  <a:cubicBezTo>
                    <a:pt x="1550924" y="263398"/>
                    <a:pt x="1570355" y="273050"/>
                    <a:pt x="1580134" y="292608"/>
                  </a:cubicBezTo>
                  <a:lnTo>
                    <a:pt x="1580134" y="302387"/>
                  </a:lnTo>
                  <a:cubicBezTo>
                    <a:pt x="1560576" y="282829"/>
                    <a:pt x="1541145" y="263398"/>
                    <a:pt x="1521587" y="253619"/>
                  </a:cubicBezTo>
                  <a:lnTo>
                    <a:pt x="1531366" y="243840"/>
                  </a:lnTo>
                  <a:moveTo>
                    <a:pt x="243840" y="292608"/>
                  </a:moveTo>
                  <a:cubicBezTo>
                    <a:pt x="263398" y="273050"/>
                    <a:pt x="273050" y="263398"/>
                    <a:pt x="292608" y="243840"/>
                  </a:cubicBezTo>
                  <a:lnTo>
                    <a:pt x="302387" y="253619"/>
                  </a:lnTo>
                  <a:cubicBezTo>
                    <a:pt x="282829" y="263398"/>
                    <a:pt x="263398" y="282829"/>
                    <a:pt x="253619" y="302387"/>
                  </a:cubicBezTo>
                  <a:lnTo>
                    <a:pt x="243840" y="292608"/>
                  </a:lnTo>
                  <a:moveTo>
                    <a:pt x="1628902" y="351155"/>
                  </a:moveTo>
                  <a:cubicBezTo>
                    <a:pt x="1648460" y="370713"/>
                    <a:pt x="1658112" y="390144"/>
                    <a:pt x="1677670" y="409702"/>
                  </a:cubicBezTo>
                  <a:lnTo>
                    <a:pt x="1667891" y="409702"/>
                  </a:lnTo>
                  <a:cubicBezTo>
                    <a:pt x="1648333" y="390144"/>
                    <a:pt x="1638681" y="370713"/>
                    <a:pt x="1619123" y="351155"/>
                  </a:cubicBezTo>
                  <a:lnTo>
                    <a:pt x="1628902" y="351155"/>
                  </a:lnTo>
                  <a:moveTo>
                    <a:pt x="156083" y="409702"/>
                  </a:moveTo>
                  <a:cubicBezTo>
                    <a:pt x="165862" y="390144"/>
                    <a:pt x="185293" y="370713"/>
                    <a:pt x="195072" y="351155"/>
                  </a:cubicBezTo>
                  <a:lnTo>
                    <a:pt x="204851" y="351155"/>
                  </a:lnTo>
                  <a:cubicBezTo>
                    <a:pt x="195072" y="370713"/>
                    <a:pt x="175641" y="390144"/>
                    <a:pt x="165862" y="409702"/>
                  </a:cubicBezTo>
                  <a:lnTo>
                    <a:pt x="156083" y="409702"/>
                  </a:lnTo>
                  <a:moveTo>
                    <a:pt x="1706880" y="468122"/>
                  </a:moveTo>
                  <a:cubicBezTo>
                    <a:pt x="1726438" y="487680"/>
                    <a:pt x="1736090" y="507111"/>
                    <a:pt x="1745869" y="526669"/>
                  </a:cubicBezTo>
                  <a:lnTo>
                    <a:pt x="1736090" y="536448"/>
                  </a:lnTo>
                  <a:cubicBezTo>
                    <a:pt x="1726311" y="516890"/>
                    <a:pt x="1716532" y="497459"/>
                    <a:pt x="1697101" y="468122"/>
                  </a:cubicBezTo>
                  <a:lnTo>
                    <a:pt x="1706880" y="468122"/>
                  </a:lnTo>
                  <a:moveTo>
                    <a:pt x="87757" y="526669"/>
                  </a:moveTo>
                  <a:cubicBezTo>
                    <a:pt x="97536" y="507111"/>
                    <a:pt x="107315" y="487680"/>
                    <a:pt x="116967" y="468122"/>
                  </a:cubicBezTo>
                  <a:lnTo>
                    <a:pt x="126746" y="468122"/>
                  </a:lnTo>
                  <a:cubicBezTo>
                    <a:pt x="116967" y="497332"/>
                    <a:pt x="107188" y="516890"/>
                    <a:pt x="97536" y="536448"/>
                  </a:cubicBezTo>
                  <a:lnTo>
                    <a:pt x="87757" y="526669"/>
                  </a:lnTo>
                  <a:moveTo>
                    <a:pt x="1775079" y="594995"/>
                  </a:moveTo>
                  <a:cubicBezTo>
                    <a:pt x="1775079" y="614553"/>
                    <a:pt x="1784858" y="643763"/>
                    <a:pt x="1794637" y="663321"/>
                  </a:cubicBezTo>
                  <a:lnTo>
                    <a:pt x="1784858" y="663321"/>
                  </a:lnTo>
                  <a:cubicBezTo>
                    <a:pt x="1775079" y="643763"/>
                    <a:pt x="1765300" y="624332"/>
                    <a:pt x="1755648" y="604774"/>
                  </a:cubicBezTo>
                  <a:lnTo>
                    <a:pt x="1775206" y="594995"/>
                  </a:lnTo>
                  <a:moveTo>
                    <a:pt x="29210" y="663194"/>
                  </a:moveTo>
                  <a:cubicBezTo>
                    <a:pt x="38989" y="643636"/>
                    <a:pt x="48768" y="614426"/>
                    <a:pt x="58420" y="594868"/>
                  </a:cubicBezTo>
                  <a:lnTo>
                    <a:pt x="68199" y="604647"/>
                  </a:lnTo>
                  <a:cubicBezTo>
                    <a:pt x="58420" y="624205"/>
                    <a:pt x="48641" y="643636"/>
                    <a:pt x="48641" y="663194"/>
                  </a:cubicBezTo>
                  <a:lnTo>
                    <a:pt x="29210" y="663194"/>
                  </a:lnTo>
                  <a:moveTo>
                    <a:pt x="1814195" y="731520"/>
                  </a:moveTo>
                  <a:cubicBezTo>
                    <a:pt x="1814195" y="760730"/>
                    <a:pt x="1814195" y="780288"/>
                    <a:pt x="1823974" y="809498"/>
                  </a:cubicBezTo>
                  <a:lnTo>
                    <a:pt x="1804416" y="809498"/>
                  </a:lnTo>
                  <a:cubicBezTo>
                    <a:pt x="1804416" y="780288"/>
                    <a:pt x="1804416" y="760730"/>
                    <a:pt x="1794637" y="741172"/>
                  </a:cubicBezTo>
                  <a:lnTo>
                    <a:pt x="1814195" y="731393"/>
                  </a:lnTo>
                  <a:moveTo>
                    <a:pt x="9779" y="809498"/>
                  </a:moveTo>
                  <a:cubicBezTo>
                    <a:pt x="9779" y="780288"/>
                    <a:pt x="9779" y="760730"/>
                    <a:pt x="19558" y="731520"/>
                  </a:cubicBezTo>
                  <a:lnTo>
                    <a:pt x="29337" y="741299"/>
                  </a:lnTo>
                  <a:cubicBezTo>
                    <a:pt x="29337" y="760857"/>
                    <a:pt x="19558" y="780288"/>
                    <a:pt x="19558" y="809625"/>
                  </a:cubicBezTo>
                  <a:lnTo>
                    <a:pt x="9779" y="809625"/>
                  </a:lnTo>
                  <a:moveTo>
                    <a:pt x="1823974" y="877951"/>
                  </a:moveTo>
                  <a:cubicBezTo>
                    <a:pt x="1823974" y="887730"/>
                    <a:pt x="1823974" y="897509"/>
                    <a:pt x="1823974" y="916940"/>
                  </a:cubicBezTo>
                  <a:cubicBezTo>
                    <a:pt x="1823974" y="926719"/>
                    <a:pt x="1823974" y="936498"/>
                    <a:pt x="1823974" y="946150"/>
                  </a:cubicBezTo>
                  <a:lnTo>
                    <a:pt x="1814195" y="946150"/>
                  </a:lnTo>
                  <a:cubicBezTo>
                    <a:pt x="1814195" y="936371"/>
                    <a:pt x="1814195" y="926592"/>
                    <a:pt x="1814195" y="916940"/>
                  </a:cubicBezTo>
                  <a:cubicBezTo>
                    <a:pt x="1814195" y="897382"/>
                    <a:pt x="1814195" y="887730"/>
                    <a:pt x="1814195" y="877951"/>
                  </a:cubicBezTo>
                  <a:lnTo>
                    <a:pt x="1823974" y="877951"/>
                  </a:lnTo>
                  <a:moveTo>
                    <a:pt x="0" y="916813"/>
                  </a:moveTo>
                  <a:cubicBezTo>
                    <a:pt x="0" y="897255"/>
                    <a:pt x="0" y="887603"/>
                    <a:pt x="0" y="877824"/>
                  </a:cubicBezTo>
                  <a:lnTo>
                    <a:pt x="9779" y="877824"/>
                  </a:lnTo>
                  <a:cubicBezTo>
                    <a:pt x="9779" y="887603"/>
                    <a:pt x="9779" y="897382"/>
                    <a:pt x="9779" y="916813"/>
                  </a:cubicBezTo>
                  <a:cubicBezTo>
                    <a:pt x="9779" y="926592"/>
                    <a:pt x="9779" y="936371"/>
                    <a:pt x="9779" y="946023"/>
                  </a:cubicBezTo>
                  <a:lnTo>
                    <a:pt x="0" y="946023"/>
                  </a:lnTo>
                  <a:cubicBezTo>
                    <a:pt x="0" y="936244"/>
                    <a:pt x="0" y="926465"/>
                    <a:pt x="0" y="916813"/>
                  </a:cubicBezTo>
                  <a:moveTo>
                    <a:pt x="1823974" y="1024128"/>
                  </a:moveTo>
                  <a:cubicBezTo>
                    <a:pt x="1814195" y="1043686"/>
                    <a:pt x="1814195" y="1063117"/>
                    <a:pt x="1814195" y="1092454"/>
                  </a:cubicBezTo>
                  <a:lnTo>
                    <a:pt x="1794637" y="1092454"/>
                  </a:lnTo>
                  <a:cubicBezTo>
                    <a:pt x="1804416" y="1063244"/>
                    <a:pt x="1804416" y="1043686"/>
                    <a:pt x="1804416" y="1014476"/>
                  </a:cubicBezTo>
                  <a:lnTo>
                    <a:pt x="1823974" y="1024255"/>
                  </a:lnTo>
                  <a:moveTo>
                    <a:pt x="19558" y="1092454"/>
                  </a:moveTo>
                  <a:cubicBezTo>
                    <a:pt x="9779" y="1063244"/>
                    <a:pt x="9779" y="1043686"/>
                    <a:pt x="9779" y="1024128"/>
                  </a:cubicBezTo>
                  <a:lnTo>
                    <a:pt x="19558" y="1014349"/>
                  </a:lnTo>
                  <a:cubicBezTo>
                    <a:pt x="19558" y="1043559"/>
                    <a:pt x="29337" y="1063117"/>
                    <a:pt x="29337" y="1092327"/>
                  </a:cubicBezTo>
                  <a:lnTo>
                    <a:pt x="19558" y="1092327"/>
                  </a:lnTo>
                  <a:moveTo>
                    <a:pt x="1794764" y="1160653"/>
                  </a:moveTo>
                  <a:cubicBezTo>
                    <a:pt x="1784985" y="1180211"/>
                    <a:pt x="1775206" y="1209421"/>
                    <a:pt x="1775206" y="1228979"/>
                  </a:cubicBezTo>
                  <a:lnTo>
                    <a:pt x="1755648" y="1228979"/>
                  </a:lnTo>
                  <a:cubicBezTo>
                    <a:pt x="1765427" y="1199769"/>
                    <a:pt x="1775206" y="1180211"/>
                    <a:pt x="1784858" y="1160653"/>
                  </a:cubicBezTo>
                  <a:lnTo>
                    <a:pt x="1794637" y="1160653"/>
                  </a:lnTo>
                  <a:moveTo>
                    <a:pt x="58547" y="1228979"/>
                  </a:moveTo>
                  <a:cubicBezTo>
                    <a:pt x="48768" y="1209421"/>
                    <a:pt x="38989" y="1180211"/>
                    <a:pt x="29337" y="1160653"/>
                  </a:cubicBezTo>
                  <a:lnTo>
                    <a:pt x="48768" y="1160653"/>
                  </a:lnTo>
                  <a:cubicBezTo>
                    <a:pt x="48768" y="1180211"/>
                    <a:pt x="58547" y="1199642"/>
                    <a:pt x="68326" y="1228979"/>
                  </a:cubicBezTo>
                  <a:lnTo>
                    <a:pt x="58547" y="1228979"/>
                  </a:lnTo>
                  <a:moveTo>
                    <a:pt x="1745869" y="1297305"/>
                  </a:moveTo>
                  <a:cubicBezTo>
                    <a:pt x="1736090" y="1316863"/>
                    <a:pt x="1726311" y="1336294"/>
                    <a:pt x="1706880" y="1355852"/>
                  </a:cubicBezTo>
                  <a:lnTo>
                    <a:pt x="1697101" y="1355852"/>
                  </a:lnTo>
                  <a:cubicBezTo>
                    <a:pt x="1716659" y="1336294"/>
                    <a:pt x="1726311" y="1307084"/>
                    <a:pt x="1736090" y="1287526"/>
                  </a:cubicBezTo>
                  <a:lnTo>
                    <a:pt x="1745869" y="1297305"/>
                  </a:lnTo>
                  <a:moveTo>
                    <a:pt x="117094" y="1355725"/>
                  </a:moveTo>
                  <a:cubicBezTo>
                    <a:pt x="107315" y="1336167"/>
                    <a:pt x="97536" y="1316736"/>
                    <a:pt x="87884" y="1297178"/>
                  </a:cubicBezTo>
                  <a:lnTo>
                    <a:pt x="97663" y="1287399"/>
                  </a:lnTo>
                  <a:cubicBezTo>
                    <a:pt x="107442" y="1306957"/>
                    <a:pt x="117221" y="1336167"/>
                    <a:pt x="126873" y="1355725"/>
                  </a:cubicBezTo>
                  <a:lnTo>
                    <a:pt x="117094" y="1355725"/>
                  </a:lnTo>
                  <a:moveTo>
                    <a:pt x="1677670" y="1424051"/>
                  </a:moveTo>
                  <a:cubicBezTo>
                    <a:pt x="1658112" y="1443609"/>
                    <a:pt x="1648460" y="1463040"/>
                    <a:pt x="1628902" y="1482598"/>
                  </a:cubicBezTo>
                  <a:lnTo>
                    <a:pt x="1619123" y="1472819"/>
                  </a:lnTo>
                  <a:cubicBezTo>
                    <a:pt x="1638681" y="1453261"/>
                    <a:pt x="1648333" y="1433830"/>
                    <a:pt x="1667891" y="1414272"/>
                  </a:cubicBezTo>
                  <a:lnTo>
                    <a:pt x="1677670" y="1424051"/>
                  </a:lnTo>
                  <a:moveTo>
                    <a:pt x="195072" y="1482598"/>
                  </a:moveTo>
                  <a:cubicBezTo>
                    <a:pt x="185293" y="1463040"/>
                    <a:pt x="165862" y="1443609"/>
                    <a:pt x="156083" y="1424051"/>
                  </a:cubicBezTo>
                  <a:lnTo>
                    <a:pt x="165862" y="1414272"/>
                  </a:lnTo>
                  <a:cubicBezTo>
                    <a:pt x="175641" y="1433830"/>
                    <a:pt x="195072" y="1453261"/>
                    <a:pt x="204851" y="1472819"/>
                  </a:cubicBezTo>
                  <a:lnTo>
                    <a:pt x="195072" y="1482598"/>
                  </a:lnTo>
                  <a:moveTo>
                    <a:pt x="1580134" y="1531366"/>
                  </a:moveTo>
                  <a:cubicBezTo>
                    <a:pt x="1570355" y="1550924"/>
                    <a:pt x="1550924" y="1570355"/>
                    <a:pt x="1531366" y="1580134"/>
                  </a:cubicBezTo>
                  <a:lnTo>
                    <a:pt x="1521587" y="1570355"/>
                  </a:lnTo>
                  <a:cubicBezTo>
                    <a:pt x="1541145" y="1560576"/>
                    <a:pt x="1560576" y="1541145"/>
                    <a:pt x="1580134" y="1521587"/>
                  </a:cubicBezTo>
                  <a:lnTo>
                    <a:pt x="1580134" y="1531366"/>
                  </a:lnTo>
                  <a:moveTo>
                    <a:pt x="292608" y="1580134"/>
                  </a:moveTo>
                  <a:cubicBezTo>
                    <a:pt x="273050" y="1570355"/>
                    <a:pt x="263398" y="1550924"/>
                    <a:pt x="243840" y="1531366"/>
                  </a:cubicBezTo>
                  <a:lnTo>
                    <a:pt x="253619" y="1521587"/>
                  </a:lnTo>
                  <a:cubicBezTo>
                    <a:pt x="263398" y="1541145"/>
                    <a:pt x="282829" y="1560576"/>
                    <a:pt x="302387" y="1570355"/>
                  </a:cubicBezTo>
                  <a:lnTo>
                    <a:pt x="292608" y="1580134"/>
                  </a:lnTo>
                  <a:moveTo>
                    <a:pt x="1482598" y="1628902"/>
                  </a:moveTo>
                  <a:cubicBezTo>
                    <a:pt x="1463040" y="1648460"/>
                    <a:pt x="1443609" y="1658112"/>
                    <a:pt x="1424051" y="1667891"/>
                  </a:cubicBezTo>
                  <a:lnTo>
                    <a:pt x="1414272" y="1658112"/>
                  </a:lnTo>
                  <a:cubicBezTo>
                    <a:pt x="1433830" y="1648333"/>
                    <a:pt x="1453261" y="1638554"/>
                    <a:pt x="1472819" y="1619123"/>
                  </a:cubicBezTo>
                  <a:lnTo>
                    <a:pt x="1482598" y="1628902"/>
                  </a:lnTo>
                  <a:moveTo>
                    <a:pt x="409702" y="1667891"/>
                  </a:moveTo>
                  <a:cubicBezTo>
                    <a:pt x="390144" y="1658112"/>
                    <a:pt x="370713" y="1648333"/>
                    <a:pt x="351155" y="1628902"/>
                  </a:cubicBezTo>
                  <a:lnTo>
                    <a:pt x="351155" y="1619123"/>
                  </a:lnTo>
                  <a:cubicBezTo>
                    <a:pt x="370713" y="1638681"/>
                    <a:pt x="390144" y="1648333"/>
                    <a:pt x="409702" y="1658112"/>
                  </a:cubicBezTo>
                  <a:lnTo>
                    <a:pt x="409702" y="1667891"/>
                  </a:lnTo>
                  <a:moveTo>
                    <a:pt x="526796" y="1745869"/>
                  </a:moveTo>
                  <a:cubicBezTo>
                    <a:pt x="507238" y="1736090"/>
                    <a:pt x="487807" y="1716659"/>
                    <a:pt x="468249" y="1706880"/>
                  </a:cubicBezTo>
                  <a:lnTo>
                    <a:pt x="478028" y="1697101"/>
                  </a:lnTo>
                  <a:cubicBezTo>
                    <a:pt x="497586" y="1706880"/>
                    <a:pt x="517017" y="1716659"/>
                    <a:pt x="536575" y="1726311"/>
                  </a:cubicBezTo>
                  <a:lnTo>
                    <a:pt x="526796" y="1745869"/>
                  </a:lnTo>
                  <a:moveTo>
                    <a:pt x="1355852" y="1706880"/>
                  </a:moveTo>
                  <a:cubicBezTo>
                    <a:pt x="1336294" y="1716659"/>
                    <a:pt x="1316863" y="1736090"/>
                    <a:pt x="1297305" y="1745869"/>
                  </a:cubicBezTo>
                  <a:lnTo>
                    <a:pt x="1287526" y="1726311"/>
                  </a:lnTo>
                  <a:cubicBezTo>
                    <a:pt x="1316736" y="1716532"/>
                    <a:pt x="1336294" y="1706753"/>
                    <a:pt x="1355852" y="1697101"/>
                  </a:cubicBezTo>
                  <a:lnTo>
                    <a:pt x="1355852" y="1706880"/>
                  </a:lnTo>
                  <a:moveTo>
                    <a:pt x="663321" y="1794637"/>
                  </a:moveTo>
                  <a:cubicBezTo>
                    <a:pt x="643763" y="1784858"/>
                    <a:pt x="624332" y="1775079"/>
                    <a:pt x="594995" y="1765427"/>
                  </a:cubicBezTo>
                  <a:lnTo>
                    <a:pt x="604774" y="1755648"/>
                  </a:lnTo>
                  <a:cubicBezTo>
                    <a:pt x="624332" y="1765427"/>
                    <a:pt x="643763" y="1775206"/>
                    <a:pt x="673100" y="1775206"/>
                  </a:cubicBezTo>
                  <a:lnTo>
                    <a:pt x="663321" y="1794764"/>
                  </a:lnTo>
                  <a:moveTo>
                    <a:pt x="1228979" y="1765554"/>
                  </a:moveTo>
                  <a:cubicBezTo>
                    <a:pt x="1209421" y="1775333"/>
                    <a:pt x="1180211" y="1785112"/>
                    <a:pt x="1160653" y="1794764"/>
                  </a:cubicBezTo>
                  <a:lnTo>
                    <a:pt x="1160653" y="1775206"/>
                  </a:lnTo>
                  <a:cubicBezTo>
                    <a:pt x="1180211" y="1775206"/>
                    <a:pt x="1199642" y="1765427"/>
                    <a:pt x="1228979" y="1755648"/>
                  </a:cubicBezTo>
                  <a:lnTo>
                    <a:pt x="1228979" y="1765427"/>
                  </a:lnTo>
                  <a:moveTo>
                    <a:pt x="809625" y="1823974"/>
                  </a:moveTo>
                  <a:cubicBezTo>
                    <a:pt x="780415" y="1814195"/>
                    <a:pt x="760857" y="1814195"/>
                    <a:pt x="731647" y="1804416"/>
                  </a:cubicBezTo>
                  <a:lnTo>
                    <a:pt x="741426" y="1794637"/>
                  </a:lnTo>
                  <a:cubicBezTo>
                    <a:pt x="760984" y="1804416"/>
                    <a:pt x="780415" y="1804416"/>
                    <a:pt x="809752" y="1804416"/>
                  </a:cubicBezTo>
                  <a:lnTo>
                    <a:pt x="809752" y="1823974"/>
                  </a:lnTo>
                  <a:moveTo>
                    <a:pt x="1092581" y="1804416"/>
                  </a:moveTo>
                  <a:cubicBezTo>
                    <a:pt x="1073023" y="1814195"/>
                    <a:pt x="1043813" y="1814195"/>
                    <a:pt x="1024255" y="1823974"/>
                  </a:cubicBezTo>
                  <a:lnTo>
                    <a:pt x="1024255" y="1804416"/>
                  </a:lnTo>
                  <a:cubicBezTo>
                    <a:pt x="1043813" y="1804416"/>
                    <a:pt x="1063244" y="1804416"/>
                    <a:pt x="1092581" y="1794637"/>
                  </a:cubicBezTo>
                  <a:lnTo>
                    <a:pt x="1092581" y="1804416"/>
                  </a:lnTo>
                  <a:moveTo>
                    <a:pt x="917067" y="1823974"/>
                  </a:moveTo>
                  <a:cubicBezTo>
                    <a:pt x="897509" y="1823974"/>
                    <a:pt x="887857" y="1823974"/>
                    <a:pt x="878078" y="1823974"/>
                  </a:cubicBezTo>
                  <a:lnTo>
                    <a:pt x="878078" y="1814195"/>
                  </a:lnTo>
                  <a:cubicBezTo>
                    <a:pt x="887857" y="1814195"/>
                    <a:pt x="897636" y="1814195"/>
                    <a:pt x="917067" y="1814195"/>
                  </a:cubicBezTo>
                  <a:cubicBezTo>
                    <a:pt x="926846" y="1814195"/>
                    <a:pt x="936625" y="1814195"/>
                    <a:pt x="946277" y="1814195"/>
                  </a:cubicBezTo>
                  <a:lnTo>
                    <a:pt x="946277" y="1823974"/>
                  </a:lnTo>
                  <a:cubicBezTo>
                    <a:pt x="936498" y="1823974"/>
                    <a:pt x="926719" y="1823974"/>
                    <a:pt x="917067" y="1823974"/>
                  </a:cubicBezTo>
                </a:path>
              </a:pathLst>
            </a:custGeom>
            <a:gradFill rotWithShape="true">
              <a:gsLst>
                <a:gs pos="0">
                  <a:srgbClr val="0F6FC6">
                    <a:alpha val="100000"/>
                  </a:srgbClr>
                </a:gs>
                <a:gs pos="100000">
                  <a:srgbClr val="0F6FC6">
                    <a:alpha val="100000"/>
                  </a:srgbClr>
                </a:gs>
              </a:gsLst>
              <a:lin ang="3593688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23923" cy="1862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7"/>
                </a:lnSpc>
              </a:pPr>
              <a:r>
                <a:rPr lang="en-US" sz="143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Evolution of</a:t>
              </a:r>
            </a:p>
            <a:p>
              <a:pPr algn="ctr">
                <a:lnSpc>
                  <a:spcPts val="1727"/>
                </a:lnSpc>
              </a:pPr>
              <a:r>
                <a:rPr lang="en-US" sz="143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Generative AI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120"/>
                </a:lnSpc>
              </a:pPr>
              <a:r>
                <a:rPr lang="en-US" sz="4266">
                  <a:solidFill>
                    <a:srgbClr val="0461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Evolution of AI to Generative AI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9196" y="4778588"/>
            <a:ext cx="4035895" cy="1220553"/>
            <a:chOff x="0" y="0"/>
            <a:chExt cx="5381193" cy="16274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81117" cy="1627378"/>
            </a:xfrm>
            <a:custGeom>
              <a:avLst/>
              <a:gdLst/>
              <a:ahLst/>
              <a:cxnLst/>
              <a:rect r="r" b="b" t="t" l="l"/>
              <a:pathLst>
                <a:path h="1627378" w="5381117">
                  <a:moveTo>
                    <a:pt x="4348607" y="0"/>
                  </a:moveTo>
                  <a:lnTo>
                    <a:pt x="0" y="0"/>
                  </a:lnTo>
                  <a:lnTo>
                    <a:pt x="0" y="1627378"/>
                  </a:lnTo>
                  <a:lnTo>
                    <a:pt x="4586859" y="1627378"/>
                  </a:lnTo>
                  <a:cubicBezTo>
                    <a:pt x="5023739" y="1627378"/>
                    <a:pt x="5381117" y="1272286"/>
                    <a:pt x="5381117" y="828421"/>
                  </a:cubicBezTo>
                  <a:lnTo>
                    <a:pt x="5381117" y="680593"/>
                  </a:lnTo>
                  <a:cubicBezTo>
                    <a:pt x="4954270" y="591820"/>
                    <a:pt x="4586859" y="345186"/>
                    <a:pt x="4348607" y="0"/>
                  </a:cubicBezTo>
                </a:path>
              </a:pathLst>
            </a:custGeom>
            <a:gradFill rotWithShape="true">
              <a:gsLst>
                <a:gs pos="0">
                  <a:srgbClr val="7CCA62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5381193" cy="172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87"/>
                </a:lnSpc>
              </a:pPr>
              <a:r>
                <a:rPr lang="en-US" sz="149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Large Language Models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8691" y="3476587"/>
            <a:ext cx="3216993" cy="1220553"/>
            <a:chOff x="0" y="0"/>
            <a:chExt cx="4289323" cy="16274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89298" cy="1627378"/>
            </a:xfrm>
            <a:custGeom>
              <a:avLst/>
              <a:gdLst/>
              <a:ahLst/>
              <a:cxnLst/>
              <a:rect r="r" b="b" t="t" l="l"/>
              <a:pathLst>
                <a:path h="1627378" w="4289298">
                  <a:moveTo>
                    <a:pt x="4289298" y="0"/>
                  </a:moveTo>
                  <a:lnTo>
                    <a:pt x="0" y="0"/>
                  </a:lnTo>
                  <a:lnTo>
                    <a:pt x="0" y="1627378"/>
                  </a:lnTo>
                  <a:lnTo>
                    <a:pt x="4289298" y="1627378"/>
                  </a:lnTo>
                  <a:cubicBezTo>
                    <a:pt x="4149598" y="1380744"/>
                    <a:pt x="4069842" y="1104646"/>
                    <a:pt x="4069842" y="808736"/>
                  </a:cubicBezTo>
                  <a:cubicBezTo>
                    <a:pt x="4069842" y="512826"/>
                    <a:pt x="4149725" y="236728"/>
                    <a:pt x="4289298" y="0"/>
                  </a:cubicBezTo>
                </a:path>
              </a:pathLst>
            </a:custGeom>
            <a:gradFill rotWithShape="true">
              <a:gsLst>
                <a:gs pos="0">
                  <a:srgbClr val="A5C249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4289323" cy="172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87"/>
                </a:lnSpc>
              </a:pPr>
              <a:r>
                <a:rPr lang="en-US" sz="149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Modern Generative AI Tools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8691" y="2189312"/>
            <a:ext cx="4036400" cy="1220553"/>
            <a:chOff x="0" y="0"/>
            <a:chExt cx="5381866" cy="16274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81879" cy="1627378"/>
            </a:xfrm>
            <a:custGeom>
              <a:avLst/>
              <a:gdLst/>
              <a:ahLst/>
              <a:cxnLst/>
              <a:rect r="r" b="b" t="t" l="l"/>
              <a:pathLst>
                <a:path h="1627378" w="5381879">
                  <a:moveTo>
                    <a:pt x="4587494" y="0"/>
                  </a:moveTo>
                  <a:cubicBezTo>
                    <a:pt x="5024374" y="0"/>
                    <a:pt x="5381879" y="355092"/>
                    <a:pt x="5381879" y="789051"/>
                  </a:cubicBezTo>
                  <a:lnTo>
                    <a:pt x="5381879" y="927100"/>
                  </a:lnTo>
                  <a:cubicBezTo>
                    <a:pt x="4944999" y="1015873"/>
                    <a:pt x="4577588" y="1272286"/>
                    <a:pt x="4339209" y="1627378"/>
                  </a:cubicBezTo>
                  <a:lnTo>
                    <a:pt x="0" y="1627378"/>
                  </a:lnTo>
                  <a:lnTo>
                    <a:pt x="0" y="0"/>
                  </a:lnTo>
                  <a:lnTo>
                    <a:pt x="4587494" y="0"/>
                  </a:lnTo>
                </a:path>
              </a:pathLst>
            </a:custGeom>
            <a:gradFill rotWithShape="true">
              <a:gsLst>
                <a:gs pos="0">
                  <a:srgbClr val="0F6FC6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5381866" cy="172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87"/>
                </a:lnSpc>
              </a:pPr>
              <a:r>
                <a:rPr lang="en-US" b="true" sz="1493" spc="-3">
                  <a:solidFill>
                    <a:srgbClr val="262626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Tradition AI -&gt;Rule-Based Systems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33601" y="4778588"/>
            <a:ext cx="4235025" cy="1220553"/>
            <a:chOff x="0" y="0"/>
            <a:chExt cx="5646699" cy="16274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46801" cy="1627378"/>
            </a:xfrm>
            <a:custGeom>
              <a:avLst/>
              <a:gdLst/>
              <a:ahLst/>
              <a:cxnLst/>
              <a:rect r="r" b="b" t="t" l="l"/>
              <a:pathLst>
                <a:path h="1627378" w="5646801">
                  <a:moveTo>
                    <a:pt x="0" y="660781"/>
                  </a:moveTo>
                  <a:lnTo>
                    <a:pt x="0" y="828421"/>
                  </a:lnTo>
                  <a:cubicBezTo>
                    <a:pt x="0" y="1272286"/>
                    <a:pt x="375031" y="1627378"/>
                    <a:pt x="833501" y="1627378"/>
                  </a:cubicBezTo>
                  <a:lnTo>
                    <a:pt x="5646801" y="1627378"/>
                  </a:lnTo>
                  <a:lnTo>
                    <a:pt x="5646801" y="0"/>
                  </a:lnTo>
                  <a:lnTo>
                    <a:pt x="1041781" y="0"/>
                  </a:lnTo>
                  <a:cubicBezTo>
                    <a:pt x="791845" y="325501"/>
                    <a:pt x="427101" y="572008"/>
                    <a:pt x="0" y="660781"/>
                  </a:cubicBezTo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100000">
                  <a:srgbClr val="10CF9B">
                    <a:alpha val="10000"/>
                  </a:srgbClr>
                </a:gs>
              </a:gsLst>
              <a:lin ang="108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5646699" cy="172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87"/>
                </a:lnSpc>
              </a:pPr>
              <a:r>
                <a:rPr lang="en-US" sz="149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Generative AI-&gt;Content creation models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823547" y="3476587"/>
            <a:ext cx="3442040" cy="1220553"/>
            <a:chOff x="0" y="0"/>
            <a:chExt cx="4589386" cy="16274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89399" cy="1627378"/>
            </a:xfrm>
            <a:custGeom>
              <a:avLst/>
              <a:gdLst/>
              <a:ahLst/>
              <a:cxnLst/>
              <a:rect r="r" b="b" t="t" l="l"/>
              <a:pathLst>
                <a:path h="1627378" w="4589399">
                  <a:moveTo>
                    <a:pt x="0" y="1627378"/>
                  </a:moveTo>
                  <a:cubicBezTo>
                    <a:pt x="149098" y="1380744"/>
                    <a:pt x="234315" y="1104646"/>
                    <a:pt x="234315" y="808736"/>
                  </a:cubicBezTo>
                  <a:cubicBezTo>
                    <a:pt x="234315" y="512826"/>
                    <a:pt x="149098" y="236728"/>
                    <a:pt x="21336" y="0"/>
                  </a:cubicBezTo>
                  <a:lnTo>
                    <a:pt x="4589399" y="0"/>
                  </a:lnTo>
                  <a:lnTo>
                    <a:pt x="4589399" y="1627378"/>
                  </a:lnTo>
                  <a:lnTo>
                    <a:pt x="0" y="1627378"/>
                  </a:lnTo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100000">
                  <a:srgbClr val="0BD0D9">
                    <a:alpha val="10000"/>
                  </a:srgbClr>
                </a:gs>
              </a:gsLst>
              <a:lin ang="108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4589386" cy="172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87"/>
                </a:lnSpc>
              </a:pPr>
              <a:r>
                <a:rPr lang="en-US" sz="149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Deep learning-&gt;Neural Networks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11255" y="2174577"/>
            <a:ext cx="4253827" cy="1220553"/>
            <a:chOff x="0" y="0"/>
            <a:chExt cx="5671769" cy="16274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71820" cy="1627378"/>
            </a:xfrm>
            <a:custGeom>
              <a:avLst/>
              <a:gdLst/>
              <a:ahLst/>
              <a:cxnLst/>
              <a:rect r="r" b="b" t="t" l="l"/>
              <a:pathLst>
                <a:path h="1627378" w="5671820">
                  <a:moveTo>
                    <a:pt x="837184" y="0"/>
                  </a:moveTo>
                  <a:cubicBezTo>
                    <a:pt x="376682" y="0"/>
                    <a:pt x="0" y="355092"/>
                    <a:pt x="0" y="789051"/>
                  </a:cubicBezTo>
                  <a:lnTo>
                    <a:pt x="0" y="956691"/>
                  </a:lnTo>
                  <a:cubicBezTo>
                    <a:pt x="439547" y="1045464"/>
                    <a:pt x="816229" y="1292098"/>
                    <a:pt x="1067435" y="1627378"/>
                  </a:cubicBezTo>
                  <a:lnTo>
                    <a:pt x="5671820" y="1627378"/>
                  </a:lnTo>
                  <a:lnTo>
                    <a:pt x="5671820" y="0"/>
                  </a:lnTo>
                  <a:lnTo>
                    <a:pt x="837184" y="0"/>
                  </a:lnTo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100000">
                  <a:srgbClr val="009DD9">
                    <a:alpha val="10000"/>
                  </a:srgbClr>
                </a:gs>
              </a:gsLst>
              <a:lin ang="108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5671769" cy="172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87"/>
                </a:lnSpc>
              </a:pPr>
              <a:r>
                <a:rPr lang="en-US" sz="149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Machine Learning-&gt;Data-driven models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635654" y="2956760"/>
            <a:ext cx="2275027" cy="2267712"/>
            <a:chOff x="0" y="0"/>
            <a:chExt cx="3033370" cy="30236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33395" cy="3023616"/>
            </a:xfrm>
            <a:custGeom>
              <a:avLst/>
              <a:gdLst/>
              <a:ahLst/>
              <a:cxnLst/>
              <a:rect r="r" b="b" t="t" l="l"/>
              <a:pathLst>
                <a:path h="3023616" w="3033395">
                  <a:moveTo>
                    <a:pt x="1511808" y="3023616"/>
                  </a:moveTo>
                  <a:cubicBezTo>
                    <a:pt x="2350643" y="3023616"/>
                    <a:pt x="3033395" y="2350643"/>
                    <a:pt x="3033395" y="1511808"/>
                  </a:cubicBezTo>
                  <a:cubicBezTo>
                    <a:pt x="3033395" y="672973"/>
                    <a:pt x="2350643" y="0"/>
                    <a:pt x="1511808" y="0"/>
                  </a:cubicBezTo>
                  <a:cubicBezTo>
                    <a:pt x="682752" y="0"/>
                    <a:pt x="0" y="672973"/>
                    <a:pt x="0" y="1511808"/>
                  </a:cubicBezTo>
                  <a:cubicBezTo>
                    <a:pt x="0" y="2350643"/>
                    <a:pt x="682752" y="3023616"/>
                    <a:pt x="1511808" y="3023616"/>
                  </a:cubicBezTo>
                  <a:moveTo>
                    <a:pt x="1511808" y="2623693"/>
                  </a:moveTo>
                  <a:cubicBezTo>
                    <a:pt x="2126234" y="2623693"/>
                    <a:pt x="2623693" y="2126234"/>
                    <a:pt x="2623693" y="1511808"/>
                  </a:cubicBezTo>
                  <a:cubicBezTo>
                    <a:pt x="2623693" y="897382"/>
                    <a:pt x="2126234" y="409702"/>
                    <a:pt x="1511808" y="409702"/>
                  </a:cubicBezTo>
                  <a:cubicBezTo>
                    <a:pt x="907034" y="409702"/>
                    <a:pt x="409702" y="897382"/>
                    <a:pt x="409702" y="1511808"/>
                  </a:cubicBezTo>
                  <a:cubicBezTo>
                    <a:pt x="409702" y="2126234"/>
                    <a:pt x="907161" y="2623693"/>
                    <a:pt x="1511808" y="2623693"/>
                  </a:cubicBezTo>
                </a:path>
              </a:pathLst>
            </a:custGeom>
            <a:gradFill rotWithShape="true">
              <a:gsLst>
                <a:gs pos="0">
                  <a:srgbClr val="0F6FC6">
                    <a:alpha val="20000"/>
                  </a:srgbClr>
                </a:gs>
                <a:gs pos="100000">
                  <a:srgbClr val="0F6FC6">
                    <a:alpha val="20000"/>
                  </a:srgbClr>
                </a:gs>
              </a:gsLst>
              <a:lin ang="3593688"/>
            </a:gra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738067" y="3059173"/>
            <a:ext cx="2070202" cy="2070202"/>
            <a:chOff x="0" y="0"/>
            <a:chExt cx="2760269" cy="276026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60345" cy="2760218"/>
            </a:xfrm>
            <a:custGeom>
              <a:avLst/>
              <a:gdLst/>
              <a:ahLst/>
              <a:cxnLst/>
              <a:rect r="r" b="b" t="t" l="l"/>
              <a:pathLst>
                <a:path h="2760218" w="2760345">
                  <a:moveTo>
                    <a:pt x="1375283" y="2760218"/>
                  </a:moveTo>
                  <a:cubicBezTo>
                    <a:pt x="2145792" y="2760218"/>
                    <a:pt x="2760345" y="2136013"/>
                    <a:pt x="2760345" y="1375156"/>
                  </a:cubicBezTo>
                  <a:cubicBezTo>
                    <a:pt x="2760345" y="614299"/>
                    <a:pt x="2145792" y="0"/>
                    <a:pt x="1375283" y="0"/>
                  </a:cubicBezTo>
                  <a:cubicBezTo>
                    <a:pt x="614426" y="0"/>
                    <a:pt x="0" y="614426"/>
                    <a:pt x="0" y="1375283"/>
                  </a:cubicBezTo>
                  <a:cubicBezTo>
                    <a:pt x="0" y="2136140"/>
                    <a:pt x="614426" y="2760218"/>
                    <a:pt x="1375283" y="2760218"/>
                  </a:cubicBezTo>
                  <a:moveTo>
                    <a:pt x="1385062" y="2379853"/>
                  </a:moveTo>
                  <a:cubicBezTo>
                    <a:pt x="1941068" y="2379853"/>
                    <a:pt x="2389632" y="1931162"/>
                    <a:pt x="2389632" y="1375283"/>
                  </a:cubicBezTo>
                  <a:cubicBezTo>
                    <a:pt x="2389632" y="819404"/>
                    <a:pt x="1940941" y="370713"/>
                    <a:pt x="1385062" y="370713"/>
                  </a:cubicBezTo>
                  <a:cubicBezTo>
                    <a:pt x="829183" y="370713"/>
                    <a:pt x="370713" y="819404"/>
                    <a:pt x="370713" y="1375283"/>
                  </a:cubicBezTo>
                  <a:cubicBezTo>
                    <a:pt x="370713" y="1931162"/>
                    <a:pt x="829183" y="2379853"/>
                    <a:pt x="1385062" y="2379853"/>
                  </a:cubicBezTo>
                </a:path>
              </a:pathLst>
            </a:custGeom>
            <a:gradFill rotWithShape="true">
              <a:gsLst>
                <a:gs pos="0">
                  <a:srgbClr val="0F6FC6">
                    <a:alpha val="100000"/>
                  </a:srgbClr>
                </a:gs>
                <a:gs pos="100000">
                  <a:srgbClr val="0F6FC6">
                    <a:alpha val="100000"/>
                  </a:srgbClr>
                </a:gs>
              </a:gsLst>
              <a:lin ang="3593688"/>
            </a:gra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423514" y="2572341"/>
            <a:ext cx="408956" cy="408956"/>
            <a:chOff x="0" y="0"/>
            <a:chExt cx="545274" cy="5452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5338" cy="545338"/>
            </a:xfrm>
            <a:custGeom>
              <a:avLst/>
              <a:gdLst/>
              <a:ahLst/>
              <a:cxnLst/>
              <a:rect r="r" b="b" t="t" l="l"/>
              <a:pathLst>
                <a:path h="545338" w="545338">
                  <a:moveTo>
                    <a:pt x="0" y="272669"/>
                  </a:moveTo>
                  <a:cubicBezTo>
                    <a:pt x="0" y="122047"/>
                    <a:pt x="122047" y="0"/>
                    <a:pt x="272669" y="0"/>
                  </a:cubicBezTo>
                  <a:cubicBezTo>
                    <a:pt x="423291" y="0"/>
                    <a:pt x="545338" y="122047"/>
                    <a:pt x="545338" y="272669"/>
                  </a:cubicBezTo>
                  <a:cubicBezTo>
                    <a:pt x="545338" y="423291"/>
                    <a:pt x="423164" y="545338"/>
                    <a:pt x="272669" y="545338"/>
                  </a:cubicBezTo>
                  <a:cubicBezTo>
                    <a:pt x="122174" y="545338"/>
                    <a:pt x="0" y="423164"/>
                    <a:pt x="0" y="27266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6FC6">
                    <a:alpha val="100000"/>
                  </a:srgbClr>
                </a:gs>
                <a:gs pos="100000">
                  <a:srgbClr val="0F6FC6">
                    <a:alpha val="100000"/>
                  </a:srgbClr>
                </a:gs>
              </a:gsLst>
              <a:lin ang="3594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45274" cy="56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b="true" sz="159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25178" y="3878828"/>
            <a:ext cx="408956" cy="408956"/>
            <a:chOff x="0" y="0"/>
            <a:chExt cx="545274" cy="54527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5338" cy="545338"/>
            </a:xfrm>
            <a:custGeom>
              <a:avLst/>
              <a:gdLst/>
              <a:ahLst/>
              <a:cxnLst/>
              <a:rect r="r" b="b" t="t" l="l"/>
              <a:pathLst>
                <a:path h="545338" w="545338">
                  <a:moveTo>
                    <a:pt x="0" y="272669"/>
                  </a:moveTo>
                  <a:cubicBezTo>
                    <a:pt x="0" y="122047"/>
                    <a:pt x="122047" y="0"/>
                    <a:pt x="272669" y="0"/>
                  </a:cubicBezTo>
                  <a:cubicBezTo>
                    <a:pt x="423291" y="0"/>
                    <a:pt x="545338" y="122047"/>
                    <a:pt x="545338" y="272669"/>
                  </a:cubicBezTo>
                  <a:cubicBezTo>
                    <a:pt x="545338" y="423291"/>
                    <a:pt x="423164" y="545338"/>
                    <a:pt x="272669" y="545338"/>
                  </a:cubicBezTo>
                  <a:cubicBezTo>
                    <a:pt x="122174" y="545338"/>
                    <a:pt x="0" y="423164"/>
                    <a:pt x="0" y="27266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5C249">
                    <a:alpha val="100000"/>
                  </a:srgbClr>
                </a:gs>
                <a:gs pos="100000">
                  <a:srgbClr val="A5C249">
                    <a:alpha val="100000"/>
                  </a:srgbClr>
                </a:gs>
              </a:gsLst>
              <a:lin ang="359400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45274" cy="56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b="true" sz="159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423514" y="5185305"/>
            <a:ext cx="408956" cy="408956"/>
            <a:chOff x="0" y="0"/>
            <a:chExt cx="545274" cy="54527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5338" cy="545338"/>
            </a:xfrm>
            <a:custGeom>
              <a:avLst/>
              <a:gdLst/>
              <a:ahLst/>
              <a:cxnLst/>
              <a:rect r="r" b="b" t="t" l="l"/>
              <a:pathLst>
                <a:path h="545338" w="545338">
                  <a:moveTo>
                    <a:pt x="0" y="272669"/>
                  </a:moveTo>
                  <a:cubicBezTo>
                    <a:pt x="0" y="122047"/>
                    <a:pt x="122047" y="0"/>
                    <a:pt x="272669" y="0"/>
                  </a:cubicBezTo>
                  <a:cubicBezTo>
                    <a:pt x="423291" y="0"/>
                    <a:pt x="545338" y="122047"/>
                    <a:pt x="545338" y="272669"/>
                  </a:cubicBezTo>
                  <a:cubicBezTo>
                    <a:pt x="545338" y="423291"/>
                    <a:pt x="423164" y="545338"/>
                    <a:pt x="272669" y="545338"/>
                  </a:cubicBezTo>
                  <a:cubicBezTo>
                    <a:pt x="122174" y="545338"/>
                    <a:pt x="0" y="423164"/>
                    <a:pt x="0" y="27266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CA62">
                    <a:alpha val="100000"/>
                  </a:srgbClr>
                </a:gs>
                <a:gs pos="100000">
                  <a:srgbClr val="7CCA62">
                    <a:alpha val="100000"/>
                  </a:srgbClr>
                </a:gs>
              </a:gsLst>
              <a:lin ang="359400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45274" cy="56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b="true" sz="159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907719" y="2572341"/>
            <a:ext cx="408956" cy="408956"/>
            <a:chOff x="0" y="0"/>
            <a:chExt cx="545274" cy="54527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5338" cy="545338"/>
            </a:xfrm>
            <a:custGeom>
              <a:avLst/>
              <a:gdLst/>
              <a:ahLst/>
              <a:cxnLst/>
              <a:rect r="r" b="b" t="t" l="l"/>
              <a:pathLst>
                <a:path h="545338" w="545338">
                  <a:moveTo>
                    <a:pt x="0" y="272669"/>
                  </a:moveTo>
                  <a:cubicBezTo>
                    <a:pt x="0" y="122047"/>
                    <a:pt x="122047" y="0"/>
                    <a:pt x="272669" y="0"/>
                  </a:cubicBezTo>
                  <a:cubicBezTo>
                    <a:pt x="423291" y="0"/>
                    <a:pt x="545338" y="122047"/>
                    <a:pt x="545338" y="272669"/>
                  </a:cubicBezTo>
                  <a:cubicBezTo>
                    <a:pt x="545338" y="423291"/>
                    <a:pt x="423164" y="545338"/>
                    <a:pt x="272669" y="545338"/>
                  </a:cubicBezTo>
                  <a:cubicBezTo>
                    <a:pt x="122174" y="545338"/>
                    <a:pt x="0" y="423164"/>
                    <a:pt x="0" y="27266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DD9">
                    <a:alpha val="10000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3594000"/>
            </a:gra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45274" cy="56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b="true" sz="159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907719" y="5185305"/>
            <a:ext cx="408956" cy="408956"/>
            <a:chOff x="0" y="0"/>
            <a:chExt cx="545274" cy="54527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5338" cy="545338"/>
            </a:xfrm>
            <a:custGeom>
              <a:avLst/>
              <a:gdLst/>
              <a:ahLst/>
              <a:cxnLst/>
              <a:rect r="r" b="b" t="t" l="l"/>
              <a:pathLst>
                <a:path h="545338" w="545338">
                  <a:moveTo>
                    <a:pt x="0" y="272669"/>
                  </a:moveTo>
                  <a:cubicBezTo>
                    <a:pt x="0" y="122047"/>
                    <a:pt x="122047" y="0"/>
                    <a:pt x="272669" y="0"/>
                  </a:cubicBezTo>
                  <a:cubicBezTo>
                    <a:pt x="423291" y="0"/>
                    <a:pt x="545338" y="122047"/>
                    <a:pt x="545338" y="272669"/>
                  </a:cubicBezTo>
                  <a:cubicBezTo>
                    <a:pt x="545338" y="423291"/>
                    <a:pt x="423164" y="545338"/>
                    <a:pt x="272669" y="545338"/>
                  </a:cubicBezTo>
                  <a:cubicBezTo>
                    <a:pt x="122174" y="545338"/>
                    <a:pt x="0" y="423164"/>
                    <a:pt x="0" y="27266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CF9B">
                    <a:alpha val="100000"/>
                  </a:srgbClr>
                </a:gs>
                <a:gs pos="100000">
                  <a:srgbClr val="10CF9B">
                    <a:alpha val="100000"/>
                  </a:srgbClr>
                </a:gs>
              </a:gsLst>
              <a:lin ang="3594000"/>
            </a:gra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45274" cy="56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b="true" sz="159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112192" y="3878828"/>
            <a:ext cx="408956" cy="408956"/>
            <a:chOff x="0" y="0"/>
            <a:chExt cx="545274" cy="54527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5338" cy="545338"/>
            </a:xfrm>
            <a:custGeom>
              <a:avLst/>
              <a:gdLst/>
              <a:ahLst/>
              <a:cxnLst/>
              <a:rect r="r" b="b" t="t" l="l"/>
              <a:pathLst>
                <a:path h="545338" w="545338">
                  <a:moveTo>
                    <a:pt x="0" y="272669"/>
                  </a:moveTo>
                  <a:cubicBezTo>
                    <a:pt x="0" y="122047"/>
                    <a:pt x="122047" y="0"/>
                    <a:pt x="272669" y="0"/>
                  </a:cubicBezTo>
                  <a:cubicBezTo>
                    <a:pt x="423291" y="0"/>
                    <a:pt x="545338" y="122047"/>
                    <a:pt x="545338" y="272669"/>
                  </a:cubicBezTo>
                  <a:cubicBezTo>
                    <a:pt x="545338" y="423291"/>
                    <a:pt x="423164" y="545338"/>
                    <a:pt x="272669" y="545338"/>
                  </a:cubicBezTo>
                  <a:cubicBezTo>
                    <a:pt x="122174" y="545338"/>
                    <a:pt x="0" y="423164"/>
                    <a:pt x="0" y="27266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BD0D9">
                    <a:alpha val="100000"/>
                  </a:srgbClr>
                </a:gs>
                <a:gs pos="100000">
                  <a:srgbClr val="0BD0D9">
                    <a:alpha val="100000"/>
                  </a:srgbClr>
                </a:gs>
              </a:gsLst>
              <a:lin ang="3594000"/>
            </a:gra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45274" cy="56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b="true" sz="159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1704320" cy="17113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461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APPLICATIONS OF GENERATIVE AI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5419" y="2064172"/>
            <a:ext cx="6242752" cy="4682061"/>
            <a:chOff x="0" y="0"/>
            <a:chExt cx="8323669" cy="6242748"/>
          </a:xfrm>
        </p:grpSpPr>
        <p:sp>
          <p:nvSpPr>
            <p:cNvPr name="Freeform 11" id="11" descr="generative-ai-mc-slide2.png"/>
            <p:cNvSpPr/>
            <p:nvPr/>
          </p:nvSpPr>
          <p:spPr>
            <a:xfrm flipH="false" flipV="false" rot="0">
              <a:off x="0" y="0"/>
              <a:ext cx="8323707" cy="6242812"/>
            </a:xfrm>
            <a:custGeom>
              <a:avLst/>
              <a:gdLst/>
              <a:ahLst/>
              <a:cxnLst/>
              <a:rect r="r" b="b" t="t" l="l"/>
              <a:pathLst>
                <a:path h="6242812" w="8323707">
                  <a:moveTo>
                    <a:pt x="0" y="0"/>
                  </a:moveTo>
                  <a:lnTo>
                    <a:pt x="8323707" y="0"/>
                  </a:lnTo>
                  <a:lnTo>
                    <a:pt x="8323707" y="6242812"/>
                  </a:lnTo>
                  <a:lnTo>
                    <a:pt x="0" y="624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56803" y="1229925"/>
            <a:ext cx="8640004" cy="633603"/>
            <a:chOff x="0" y="0"/>
            <a:chExt cx="11520005" cy="8448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20000" cy="844800"/>
            </a:xfrm>
            <a:custGeom>
              <a:avLst/>
              <a:gdLst/>
              <a:ahLst/>
              <a:cxnLst/>
              <a:rect r="r" b="b" t="t" l="l"/>
              <a:pathLst>
                <a:path h="844800" w="11520000">
                  <a:moveTo>
                    <a:pt x="0" y="0"/>
                  </a:moveTo>
                  <a:lnTo>
                    <a:pt x="11520000" y="0"/>
                  </a:lnTo>
                  <a:lnTo>
                    <a:pt x="11520000" y="844800"/>
                  </a:lnTo>
                  <a:lnTo>
                    <a:pt x="0" y="84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704" r="0" b="-2157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520005" cy="91147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77"/>
                </a:lnSpc>
              </a:pPr>
              <a:r>
                <a:rPr lang="en-US" sz="3648">
                  <a:solidFill>
                    <a:srgbClr val="0461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Benefits of Generative AI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69677" y="2598877"/>
            <a:ext cx="710508" cy="711356"/>
            <a:chOff x="0" y="0"/>
            <a:chExt cx="947344" cy="948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7293" cy="948436"/>
            </a:xfrm>
            <a:custGeom>
              <a:avLst/>
              <a:gdLst/>
              <a:ahLst/>
              <a:cxnLst/>
              <a:rect r="r" b="b" t="t" l="l"/>
              <a:pathLst>
                <a:path h="948436" w="947293">
                  <a:moveTo>
                    <a:pt x="945642" y="0"/>
                  </a:moveTo>
                  <a:lnTo>
                    <a:pt x="947293" y="0"/>
                  </a:lnTo>
                  <a:lnTo>
                    <a:pt x="947293" y="948436"/>
                  </a:lnTo>
                  <a:lnTo>
                    <a:pt x="3937" y="948436"/>
                  </a:lnTo>
                  <a:lnTo>
                    <a:pt x="0" y="875665"/>
                  </a:lnTo>
                  <a:lnTo>
                    <a:pt x="4826" y="786130"/>
                  </a:lnTo>
                  <a:cubicBezTo>
                    <a:pt x="53340" y="344551"/>
                    <a:pt x="456057" y="0"/>
                    <a:pt x="945642" y="0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47344" cy="957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  <a:r>
                <a:rPr lang="en-US" b="true" sz="224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6260" y="2095252"/>
            <a:ext cx="4158129" cy="1223582"/>
            <a:chOff x="0" y="0"/>
            <a:chExt cx="5544172" cy="16314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44185" cy="1631442"/>
            </a:xfrm>
            <a:custGeom>
              <a:avLst/>
              <a:gdLst/>
              <a:ahLst/>
              <a:cxnLst/>
              <a:rect r="r" b="b" t="t" l="l"/>
              <a:pathLst>
                <a:path h="1631442" w="5544185">
                  <a:moveTo>
                    <a:pt x="142621" y="58293"/>
                  </a:moveTo>
                  <a:cubicBezTo>
                    <a:pt x="98806" y="58293"/>
                    <a:pt x="63500" y="93726"/>
                    <a:pt x="63500" y="137414"/>
                  </a:cubicBezTo>
                  <a:lnTo>
                    <a:pt x="63500" y="1494028"/>
                  </a:lnTo>
                  <a:cubicBezTo>
                    <a:pt x="63500" y="1537716"/>
                    <a:pt x="98933" y="1573149"/>
                    <a:pt x="142621" y="1573149"/>
                  </a:cubicBezTo>
                  <a:lnTo>
                    <a:pt x="5401691" y="1573149"/>
                  </a:lnTo>
                  <a:cubicBezTo>
                    <a:pt x="5445379" y="1573149"/>
                    <a:pt x="5480812" y="1537716"/>
                    <a:pt x="5480812" y="1494028"/>
                  </a:cubicBezTo>
                  <a:lnTo>
                    <a:pt x="5480812" y="137414"/>
                  </a:lnTo>
                  <a:cubicBezTo>
                    <a:pt x="5480812" y="93726"/>
                    <a:pt x="5445379" y="58293"/>
                    <a:pt x="5401691" y="58293"/>
                  </a:cubicBezTo>
                  <a:close/>
                  <a:moveTo>
                    <a:pt x="87122" y="0"/>
                  </a:moveTo>
                  <a:lnTo>
                    <a:pt x="5457063" y="0"/>
                  </a:lnTo>
                  <a:cubicBezTo>
                    <a:pt x="5505196" y="0"/>
                    <a:pt x="5544185" y="38989"/>
                    <a:pt x="5544185" y="87122"/>
                  </a:cubicBezTo>
                  <a:lnTo>
                    <a:pt x="5544185" y="1544320"/>
                  </a:lnTo>
                  <a:cubicBezTo>
                    <a:pt x="5544185" y="1592453"/>
                    <a:pt x="5505196" y="1631442"/>
                    <a:pt x="5457063" y="1631442"/>
                  </a:cubicBezTo>
                  <a:lnTo>
                    <a:pt x="87122" y="1631442"/>
                  </a:lnTo>
                  <a:cubicBezTo>
                    <a:pt x="38989" y="1631442"/>
                    <a:pt x="0" y="1592453"/>
                    <a:pt x="0" y="1544320"/>
                  </a:cubicBezTo>
                  <a:lnTo>
                    <a:pt x="0" y="87122"/>
                  </a:lnTo>
                  <a:cubicBezTo>
                    <a:pt x="0" y="38989"/>
                    <a:pt x="38989" y="0"/>
                    <a:pt x="87122" y="0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33350"/>
              <a:ext cx="5544172" cy="176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839"/>
                </a:lnSpc>
              </a:pPr>
              <a:r>
                <a:rPr lang="en-US" sz="213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Saves time and effort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69677" y="3937816"/>
            <a:ext cx="710508" cy="711356"/>
            <a:chOff x="0" y="0"/>
            <a:chExt cx="947344" cy="9484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7293" cy="948436"/>
            </a:xfrm>
            <a:custGeom>
              <a:avLst/>
              <a:gdLst/>
              <a:ahLst/>
              <a:cxnLst/>
              <a:rect r="r" b="b" t="t" l="l"/>
              <a:pathLst>
                <a:path h="948436" w="947293">
                  <a:moveTo>
                    <a:pt x="945642" y="0"/>
                  </a:moveTo>
                  <a:lnTo>
                    <a:pt x="947293" y="0"/>
                  </a:lnTo>
                  <a:lnTo>
                    <a:pt x="947293" y="948436"/>
                  </a:lnTo>
                  <a:lnTo>
                    <a:pt x="3937" y="948436"/>
                  </a:lnTo>
                  <a:lnTo>
                    <a:pt x="0" y="875665"/>
                  </a:lnTo>
                  <a:lnTo>
                    <a:pt x="4826" y="786130"/>
                  </a:lnTo>
                  <a:cubicBezTo>
                    <a:pt x="53340" y="344551"/>
                    <a:pt x="456057" y="0"/>
                    <a:pt x="945642" y="0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47344" cy="957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  <a:r>
                <a:rPr lang="en-US" b="true" sz="224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6260" y="3426095"/>
            <a:ext cx="4158129" cy="1223582"/>
            <a:chOff x="0" y="0"/>
            <a:chExt cx="5544172" cy="16314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44185" cy="1631442"/>
            </a:xfrm>
            <a:custGeom>
              <a:avLst/>
              <a:gdLst/>
              <a:ahLst/>
              <a:cxnLst/>
              <a:rect r="r" b="b" t="t" l="l"/>
              <a:pathLst>
                <a:path h="1631442" w="5544185">
                  <a:moveTo>
                    <a:pt x="142621" y="58293"/>
                  </a:moveTo>
                  <a:cubicBezTo>
                    <a:pt x="98806" y="58293"/>
                    <a:pt x="63500" y="93726"/>
                    <a:pt x="63500" y="137414"/>
                  </a:cubicBezTo>
                  <a:lnTo>
                    <a:pt x="63500" y="1494028"/>
                  </a:lnTo>
                  <a:cubicBezTo>
                    <a:pt x="63500" y="1537716"/>
                    <a:pt x="98933" y="1573149"/>
                    <a:pt x="142621" y="1573149"/>
                  </a:cubicBezTo>
                  <a:lnTo>
                    <a:pt x="5401691" y="1573149"/>
                  </a:lnTo>
                  <a:cubicBezTo>
                    <a:pt x="5445379" y="1573149"/>
                    <a:pt x="5480812" y="1537716"/>
                    <a:pt x="5480812" y="1494028"/>
                  </a:cubicBezTo>
                  <a:lnTo>
                    <a:pt x="5480812" y="137414"/>
                  </a:lnTo>
                  <a:cubicBezTo>
                    <a:pt x="5480812" y="93726"/>
                    <a:pt x="5445379" y="58293"/>
                    <a:pt x="5401691" y="58293"/>
                  </a:cubicBezTo>
                  <a:close/>
                  <a:moveTo>
                    <a:pt x="87122" y="0"/>
                  </a:moveTo>
                  <a:lnTo>
                    <a:pt x="5457063" y="0"/>
                  </a:lnTo>
                  <a:cubicBezTo>
                    <a:pt x="5505196" y="0"/>
                    <a:pt x="5544185" y="38989"/>
                    <a:pt x="5544185" y="87122"/>
                  </a:cubicBezTo>
                  <a:lnTo>
                    <a:pt x="5544185" y="1544320"/>
                  </a:lnTo>
                  <a:cubicBezTo>
                    <a:pt x="5544185" y="1592453"/>
                    <a:pt x="5505196" y="1631442"/>
                    <a:pt x="5457063" y="1631442"/>
                  </a:cubicBezTo>
                  <a:lnTo>
                    <a:pt x="87122" y="1631442"/>
                  </a:lnTo>
                  <a:cubicBezTo>
                    <a:pt x="38989" y="1631442"/>
                    <a:pt x="0" y="1592453"/>
                    <a:pt x="0" y="1544320"/>
                  </a:cubicBezTo>
                  <a:lnTo>
                    <a:pt x="0" y="87122"/>
                  </a:lnTo>
                  <a:cubicBezTo>
                    <a:pt x="0" y="38989"/>
                    <a:pt x="38989" y="0"/>
                    <a:pt x="87122" y="0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33350"/>
              <a:ext cx="5544172" cy="176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839"/>
                </a:lnSpc>
              </a:pPr>
              <a:r>
                <a:rPr lang="en-US" sz="213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Improves productivity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69677" y="5268668"/>
            <a:ext cx="710508" cy="711356"/>
            <a:chOff x="0" y="0"/>
            <a:chExt cx="947344" cy="9484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7293" cy="948436"/>
            </a:xfrm>
            <a:custGeom>
              <a:avLst/>
              <a:gdLst/>
              <a:ahLst/>
              <a:cxnLst/>
              <a:rect r="r" b="b" t="t" l="l"/>
              <a:pathLst>
                <a:path h="948436" w="947293">
                  <a:moveTo>
                    <a:pt x="945642" y="0"/>
                  </a:moveTo>
                  <a:lnTo>
                    <a:pt x="947293" y="0"/>
                  </a:lnTo>
                  <a:lnTo>
                    <a:pt x="947293" y="948436"/>
                  </a:lnTo>
                  <a:lnTo>
                    <a:pt x="3937" y="948436"/>
                  </a:lnTo>
                  <a:lnTo>
                    <a:pt x="0" y="875665"/>
                  </a:lnTo>
                  <a:lnTo>
                    <a:pt x="4826" y="786130"/>
                  </a:lnTo>
                  <a:cubicBezTo>
                    <a:pt x="53340" y="344551"/>
                    <a:pt x="456057" y="0"/>
                    <a:pt x="945642" y="0"/>
                  </a:cubicBezTo>
                  <a:close/>
                </a:path>
              </a:pathLst>
            </a:custGeom>
            <a:solidFill>
              <a:srgbClr val="7CCA6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47344" cy="957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  <a:r>
                <a:rPr lang="en-US" b="true" sz="224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6260" y="4756947"/>
            <a:ext cx="4158129" cy="1223582"/>
            <a:chOff x="0" y="0"/>
            <a:chExt cx="5544172" cy="16314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44185" cy="1631442"/>
            </a:xfrm>
            <a:custGeom>
              <a:avLst/>
              <a:gdLst/>
              <a:ahLst/>
              <a:cxnLst/>
              <a:rect r="r" b="b" t="t" l="l"/>
              <a:pathLst>
                <a:path h="1631442" w="5544185">
                  <a:moveTo>
                    <a:pt x="142621" y="58293"/>
                  </a:moveTo>
                  <a:cubicBezTo>
                    <a:pt x="98806" y="58293"/>
                    <a:pt x="63500" y="93726"/>
                    <a:pt x="63500" y="137414"/>
                  </a:cubicBezTo>
                  <a:lnTo>
                    <a:pt x="63500" y="1494028"/>
                  </a:lnTo>
                  <a:cubicBezTo>
                    <a:pt x="63500" y="1537716"/>
                    <a:pt x="98933" y="1573149"/>
                    <a:pt x="142621" y="1573149"/>
                  </a:cubicBezTo>
                  <a:lnTo>
                    <a:pt x="5401691" y="1573149"/>
                  </a:lnTo>
                  <a:cubicBezTo>
                    <a:pt x="5445379" y="1573149"/>
                    <a:pt x="5480812" y="1537716"/>
                    <a:pt x="5480812" y="1494028"/>
                  </a:cubicBezTo>
                  <a:lnTo>
                    <a:pt x="5480812" y="137414"/>
                  </a:lnTo>
                  <a:cubicBezTo>
                    <a:pt x="5480812" y="93726"/>
                    <a:pt x="5445379" y="58293"/>
                    <a:pt x="5401691" y="58293"/>
                  </a:cubicBezTo>
                  <a:close/>
                  <a:moveTo>
                    <a:pt x="87122" y="0"/>
                  </a:moveTo>
                  <a:lnTo>
                    <a:pt x="5457063" y="0"/>
                  </a:lnTo>
                  <a:cubicBezTo>
                    <a:pt x="5505196" y="0"/>
                    <a:pt x="5544185" y="38989"/>
                    <a:pt x="5544185" y="87122"/>
                  </a:cubicBezTo>
                  <a:lnTo>
                    <a:pt x="5544185" y="1544320"/>
                  </a:lnTo>
                  <a:cubicBezTo>
                    <a:pt x="5544185" y="1592453"/>
                    <a:pt x="5505196" y="1631442"/>
                    <a:pt x="5457063" y="1631442"/>
                  </a:cubicBezTo>
                  <a:lnTo>
                    <a:pt x="87122" y="1631442"/>
                  </a:lnTo>
                  <a:cubicBezTo>
                    <a:pt x="38989" y="1631442"/>
                    <a:pt x="0" y="1592453"/>
                    <a:pt x="0" y="1544320"/>
                  </a:cubicBezTo>
                  <a:lnTo>
                    <a:pt x="0" y="87122"/>
                  </a:lnTo>
                  <a:cubicBezTo>
                    <a:pt x="0" y="38989"/>
                    <a:pt x="38989" y="0"/>
                    <a:pt x="87122" y="0"/>
                  </a:cubicBezTo>
                  <a:close/>
                </a:path>
              </a:pathLst>
            </a:custGeom>
            <a:solidFill>
              <a:srgbClr val="7CCA6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33350"/>
              <a:ext cx="5544172" cy="176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839"/>
                </a:lnSpc>
              </a:pPr>
              <a:r>
                <a:rPr lang="en-US" sz="213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Faster Decision Making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72901" y="2598877"/>
            <a:ext cx="710508" cy="711356"/>
            <a:chOff x="0" y="0"/>
            <a:chExt cx="947344" cy="9484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7293" cy="948436"/>
            </a:xfrm>
            <a:custGeom>
              <a:avLst/>
              <a:gdLst/>
              <a:ahLst/>
              <a:cxnLst/>
              <a:rect r="r" b="b" t="t" l="l"/>
              <a:pathLst>
                <a:path h="948436" w="947293">
                  <a:moveTo>
                    <a:pt x="1651" y="0"/>
                  </a:moveTo>
                  <a:lnTo>
                    <a:pt x="0" y="0"/>
                  </a:lnTo>
                  <a:lnTo>
                    <a:pt x="0" y="948436"/>
                  </a:lnTo>
                  <a:lnTo>
                    <a:pt x="943356" y="948436"/>
                  </a:lnTo>
                  <a:lnTo>
                    <a:pt x="947293" y="875665"/>
                  </a:lnTo>
                  <a:lnTo>
                    <a:pt x="942467" y="786130"/>
                  </a:lnTo>
                  <a:cubicBezTo>
                    <a:pt x="894080" y="344551"/>
                    <a:pt x="491363" y="0"/>
                    <a:pt x="1651" y="0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47344" cy="957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  <a:r>
                <a:rPr lang="en-US" b="true" sz="224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38706" y="2095252"/>
            <a:ext cx="4158129" cy="1223582"/>
            <a:chOff x="0" y="0"/>
            <a:chExt cx="5544172" cy="16314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44185" cy="1631442"/>
            </a:xfrm>
            <a:custGeom>
              <a:avLst/>
              <a:gdLst/>
              <a:ahLst/>
              <a:cxnLst/>
              <a:rect r="r" b="b" t="t" l="l"/>
              <a:pathLst>
                <a:path h="1631442" w="5544185">
                  <a:moveTo>
                    <a:pt x="5401564" y="58293"/>
                  </a:moveTo>
                  <a:cubicBezTo>
                    <a:pt x="5445252" y="58293"/>
                    <a:pt x="5480685" y="93726"/>
                    <a:pt x="5480685" y="137414"/>
                  </a:cubicBezTo>
                  <a:lnTo>
                    <a:pt x="5480685" y="1494028"/>
                  </a:lnTo>
                  <a:cubicBezTo>
                    <a:pt x="5480685" y="1537716"/>
                    <a:pt x="5445252" y="1573149"/>
                    <a:pt x="5401564" y="1573149"/>
                  </a:cubicBezTo>
                  <a:lnTo>
                    <a:pt x="142621" y="1573149"/>
                  </a:lnTo>
                  <a:cubicBezTo>
                    <a:pt x="98933" y="1573149"/>
                    <a:pt x="63500" y="1537716"/>
                    <a:pt x="63500" y="1494028"/>
                  </a:cubicBezTo>
                  <a:lnTo>
                    <a:pt x="63500" y="137414"/>
                  </a:lnTo>
                  <a:cubicBezTo>
                    <a:pt x="63500" y="93726"/>
                    <a:pt x="98933" y="58293"/>
                    <a:pt x="142621" y="58293"/>
                  </a:cubicBezTo>
                  <a:close/>
                  <a:moveTo>
                    <a:pt x="5457063" y="0"/>
                  </a:moveTo>
                  <a:lnTo>
                    <a:pt x="87122" y="0"/>
                  </a:lnTo>
                  <a:cubicBezTo>
                    <a:pt x="38989" y="0"/>
                    <a:pt x="0" y="38989"/>
                    <a:pt x="0" y="87122"/>
                  </a:cubicBezTo>
                  <a:lnTo>
                    <a:pt x="0" y="1544320"/>
                  </a:lnTo>
                  <a:cubicBezTo>
                    <a:pt x="0" y="1592453"/>
                    <a:pt x="38989" y="1631442"/>
                    <a:pt x="87122" y="1631442"/>
                  </a:cubicBezTo>
                  <a:lnTo>
                    <a:pt x="5457063" y="1631442"/>
                  </a:lnTo>
                  <a:cubicBezTo>
                    <a:pt x="5505196" y="1631442"/>
                    <a:pt x="5544185" y="1592453"/>
                    <a:pt x="5544185" y="1544320"/>
                  </a:cubicBezTo>
                  <a:lnTo>
                    <a:pt x="5544185" y="87122"/>
                  </a:lnTo>
                  <a:cubicBezTo>
                    <a:pt x="5544185" y="38989"/>
                    <a:pt x="5505196" y="0"/>
                    <a:pt x="5457063" y="0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33350"/>
              <a:ext cx="5544172" cy="176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839"/>
                </a:lnSpc>
              </a:pPr>
              <a:r>
                <a:rPr lang="en-US" sz="213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Enhances creativity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72910" y="3937816"/>
            <a:ext cx="710508" cy="711356"/>
            <a:chOff x="0" y="0"/>
            <a:chExt cx="947344" cy="9484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47293" cy="948436"/>
            </a:xfrm>
            <a:custGeom>
              <a:avLst/>
              <a:gdLst/>
              <a:ahLst/>
              <a:cxnLst/>
              <a:rect r="r" b="b" t="t" l="l"/>
              <a:pathLst>
                <a:path h="948436" w="947293">
                  <a:moveTo>
                    <a:pt x="1651" y="0"/>
                  </a:moveTo>
                  <a:lnTo>
                    <a:pt x="0" y="0"/>
                  </a:lnTo>
                  <a:lnTo>
                    <a:pt x="0" y="948436"/>
                  </a:lnTo>
                  <a:lnTo>
                    <a:pt x="943356" y="948436"/>
                  </a:lnTo>
                  <a:lnTo>
                    <a:pt x="947293" y="875665"/>
                  </a:lnTo>
                  <a:lnTo>
                    <a:pt x="942467" y="786130"/>
                  </a:lnTo>
                  <a:cubicBezTo>
                    <a:pt x="894080" y="344551"/>
                    <a:pt x="491363" y="0"/>
                    <a:pt x="1651" y="0"/>
                  </a:cubicBezTo>
                  <a:close/>
                </a:path>
              </a:pathLst>
            </a:custGeom>
            <a:solidFill>
              <a:srgbClr val="10CF9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47344" cy="957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  <a:r>
                <a:rPr lang="en-US" b="true" sz="224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038706" y="3426095"/>
            <a:ext cx="4158129" cy="1223582"/>
            <a:chOff x="0" y="0"/>
            <a:chExt cx="5544172" cy="163144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44185" cy="1631442"/>
            </a:xfrm>
            <a:custGeom>
              <a:avLst/>
              <a:gdLst/>
              <a:ahLst/>
              <a:cxnLst/>
              <a:rect r="r" b="b" t="t" l="l"/>
              <a:pathLst>
                <a:path h="1631442" w="5544185">
                  <a:moveTo>
                    <a:pt x="5401564" y="58293"/>
                  </a:moveTo>
                  <a:cubicBezTo>
                    <a:pt x="5445252" y="58293"/>
                    <a:pt x="5480685" y="93726"/>
                    <a:pt x="5480685" y="137414"/>
                  </a:cubicBezTo>
                  <a:lnTo>
                    <a:pt x="5480685" y="1494028"/>
                  </a:lnTo>
                  <a:cubicBezTo>
                    <a:pt x="5480685" y="1537716"/>
                    <a:pt x="5445252" y="1573149"/>
                    <a:pt x="5401564" y="1573149"/>
                  </a:cubicBezTo>
                  <a:lnTo>
                    <a:pt x="142621" y="1573149"/>
                  </a:lnTo>
                  <a:cubicBezTo>
                    <a:pt x="98933" y="1573149"/>
                    <a:pt x="63500" y="1537716"/>
                    <a:pt x="63500" y="1494028"/>
                  </a:cubicBezTo>
                  <a:lnTo>
                    <a:pt x="63500" y="137414"/>
                  </a:lnTo>
                  <a:cubicBezTo>
                    <a:pt x="63500" y="93726"/>
                    <a:pt x="98933" y="58293"/>
                    <a:pt x="142621" y="58293"/>
                  </a:cubicBezTo>
                  <a:close/>
                  <a:moveTo>
                    <a:pt x="5457063" y="0"/>
                  </a:moveTo>
                  <a:lnTo>
                    <a:pt x="87122" y="0"/>
                  </a:lnTo>
                  <a:cubicBezTo>
                    <a:pt x="38989" y="0"/>
                    <a:pt x="0" y="38989"/>
                    <a:pt x="0" y="87122"/>
                  </a:cubicBezTo>
                  <a:lnTo>
                    <a:pt x="0" y="1544320"/>
                  </a:lnTo>
                  <a:cubicBezTo>
                    <a:pt x="0" y="1592453"/>
                    <a:pt x="38989" y="1631442"/>
                    <a:pt x="87122" y="1631442"/>
                  </a:cubicBezTo>
                  <a:lnTo>
                    <a:pt x="5457063" y="1631442"/>
                  </a:lnTo>
                  <a:cubicBezTo>
                    <a:pt x="5505196" y="1631442"/>
                    <a:pt x="5544185" y="1592453"/>
                    <a:pt x="5544185" y="1544320"/>
                  </a:cubicBezTo>
                  <a:lnTo>
                    <a:pt x="5544185" y="87122"/>
                  </a:lnTo>
                  <a:cubicBezTo>
                    <a:pt x="5544185" y="38989"/>
                    <a:pt x="5505196" y="0"/>
                    <a:pt x="5457063" y="0"/>
                  </a:cubicBezTo>
                  <a:close/>
                </a:path>
              </a:pathLst>
            </a:custGeom>
            <a:solidFill>
              <a:srgbClr val="10CF9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33350"/>
              <a:ext cx="5544172" cy="176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839"/>
                </a:lnSpc>
              </a:pPr>
              <a:r>
                <a:rPr lang="en-US" sz="213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Scalable and cost effective solutions.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072901" y="5268668"/>
            <a:ext cx="710508" cy="711356"/>
            <a:chOff x="0" y="0"/>
            <a:chExt cx="947344" cy="9484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7293" cy="948436"/>
            </a:xfrm>
            <a:custGeom>
              <a:avLst/>
              <a:gdLst/>
              <a:ahLst/>
              <a:cxnLst/>
              <a:rect r="r" b="b" t="t" l="l"/>
              <a:pathLst>
                <a:path h="948436" w="947293">
                  <a:moveTo>
                    <a:pt x="1651" y="0"/>
                  </a:moveTo>
                  <a:lnTo>
                    <a:pt x="0" y="0"/>
                  </a:lnTo>
                  <a:lnTo>
                    <a:pt x="0" y="948436"/>
                  </a:lnTo>
                  <a:lnTo>
                    <a:pt x="943356" y="948436"/>
                  </a:lnTo>
                  <a:lnTo>
                    <a:pt x="947293" y="875665"/>
                  </a:lnTo>
                  <a:lnTo>
                    <a:pt x="942467" y="786130"/>
                  </a:lnTo>
                  <a:cubicBezTo>
                    <a:pt x="894080" y="344551"/>
                    <a:pt x="491363" y="0"/>
                    <a:pt x="1651" y="0"/>
                  </a:cubicBezTo>
                  <a:close/>
                </a:path>
              </a:pathLst>
            </a:custGeom>
            <a:solidFill>
              <a:srgbClr val="A5C24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47344" cy="957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  <a:r>
                <a:rPr lang="en-US" b="true" sz="224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06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038706" y="4756947"/>
            <a:ext cx="4158129" cy="1223582"/>
            <a:chOff x="0" y="0"/>
            <a:chExt cx="5544172" cy="163144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44185" cy="1631442"/>
            </a:xfrm>
            <a:custGeom>
              <a:avLst/>
              <a:gdLst/>
              <a:ahLst/>
              <a:cxnLst/>
              <a:rect r="r" b="b" t="t" l="l"/>
              <a:pathLst>
                <a:path h="1631442" w="5544185">
                  <a:moveTo>
                    <a:pt x="5401564" y="58293"/>
                  </a:moveTo>
                  <a:cubicBezTo>
                    <a:pt x="5445252" y="58293"/>
                    <a:pt x="5480685" y="93726"/>
                    <a:pt x="5480685" y="137414"/>
                  </a:cubicBezTo>
                  <a:lnTo>
                    <a:pt x="5480685" y="1494028"/>
                  </a:lnTo>
                  <a:cubicBezTo>
                    <a:pt x="5480685" y="1537716"/>
                    <a:pt x="5445252" y="1573149"/>
                    <a:pt x="5401564" y="1573149"/>
                  </a:cubicBezTo>
                  <a:lnTo>
                    <a:pt x="142621" y="1573149"/>
                  </a:lnTo>
                  <a:cubicBezTo>
                    <a:pt x="98933" y="1573149"/>
                    <a:pt x="63500" y="1537716"/>
                    <a:pt x="63500" y="1494028"/>
                  </a:cubicBezTo>
                  <a:lnTo>
                    <a:pt x="63500" y="137414"/>
                  </a:lnTo>
                  <a:cubicBezTo>
                    <a:pt x="63500" y="93726"/>
                    <a:pt x="98933" y="58293"/>
                    <a:pt x="142621" y="58293"/>
                  </a:cubicBezTo>
                  <a:close/>
                  <a:moveTo>
                    <a:pt x="5457063" y="0"/>
                  </a:moveTo>
                  <a:lnTo>
                    <a:pt x="87122" y="0"/>
                  </a:lnTo>
                  <a:cubicBezTo>
                    <a:pt x="38989" y="0"/>
                    <a:pt x="0" y="38989"/>
                    <a:pt x="0" y="87122"/>
                  </a:cubicBezTo>
                  <a:lnTo>
                    <a:pt x="0" y="1544320"/>
                  </a:lnTo>
                  <a:cubicBezTo>
                    <a:pt x="0" y="1592453"/>
                    <a:pt x="38989" y="1631442"/>
                    <a:pt x="87122" y="1631442"/>
                  </a:cubicBezTo>
                  <a:lnTo>
                    <a:pt x="5457063" y="1631442"/>
                  </a:lnTo>
                  <a:cubicBezTo>
                    <a:pt x="5505196" y="1631442"/>
                    <a:pt x="5544185" y="1592453"/>
                    <a:pt x="5544185" y="1544320"/>
                  </a:cubicBezTo>
                  <a:lnTo>
                    <a:pt x="5544185" y="87122"/>
                  </a:lnTo>
                  <a:cubicBezTo>
                    <a:pt x="5544185" y="38989"/>
                    <a:pt x="5505196" y="0"/>
                    <a:pt x="5457063" y="0"/>
                  </a:cubicBezTo>
                  <a:close/>
                </a:path>
              </a:pathLst>
            </a:custGeom>
            <a:solidFill>
              <a:srgbClr val="A5C24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71450"/>
              <a:ext cx="5544172" cy="1802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4607"/>
                </a:lnSpc>
              </a:pPr>
              <a:r>
                <a:rPr lang="en-US" sz="2559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Automation of Tasks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399"/>
                </a:lnSpc>
              </a:pPr>
              <a:r>
                <a:rPr lang="en-US" sz="5333" b="true">
                  <a:solidFill>
                    <a:srgbClr val="04617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of Generative AI?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9120" y="2091185"/>
            <a:ext cx="8595360" cy="460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More Advanced and accurate models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Integration into  everyday tools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Personalized AI assistants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Growing  impact across industries.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Generative AI is transforming industries</a:t>
            </a:r>
          </a:p>
          <a:p>
            <a:pPr algn="l" marL="356909" indent="-178454" lvl="1">
              <a:lnSpc>
                <a:spcPts val="3328"/>
              </a:lnSpc>
              <a:buFont typeface="Arial"/>
              <a:buChar char="•"/>
            </a:pPr>
            <a:r>
              <a:rPr lang="en-US" sz="2773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LLMs are key drivers for this revolution</a:t>
            </a:r>
          </a:p>
          <a:p>
            <a:pPr algn="l" marL="356909" indent="-178454" lvl="1">
              <a:lnSpc>
                <a:spcPts val="3328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99155" y="2757106"/>
            <a:ext cx="2560320" cy="2560320"/>
          </a:xfrm>
          <a:custGeom>
            <a:avLst/>
            <a:gdLst/>
            <a:ahLst/>
            <a:cxnLst/>
            <a:rect r="r" b="b" t="t" l="l"/>
            <a:pathLst>
              <a:path h="2560320" w="2560320">
                <a:moveTo>
                  <a:pt x="0" y="0"/>
                </a:moveTo>
                <a:lnTo>
                  <a:pt x="2560320" y="0"/>
                </a:lnTo>
                <a:lnTo>
                  <a:pt x="256032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928910" y="3086872"/>
            <a:ext cx="1900799" cy="1900799"/>
            <a:chOff x="0" y="0"/>
            <a:chExt cx="2534399" cy="25343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4412" cy="2534412"/>
            </a:xfrm>
            <a:custGeom>
              <a:avLst/>
              <a:gdLst/>
              <a:ahLst/>
              <a:cxnLst/>
              <a:rect r="r" b="b" t="t" l="l"/>
              <a:pathLst>
                <a:path h="2534412" w="2534412">
                  <a:moveTo>
                    <a:pt x="0" y="1267206"/>
                  </a:moveTo>
                  <a:cubicBezTo>
                    <a:pt x="0" y="567309"/>
                    <a:pt x="567309" y="0"/>
                    <a:pt x="1267206" y="0"/>
                  </a:cubicBezTo>
                  <a:cubicBezTo>
                    <a:pt x="1967103" y="0"/>
                    <a:pt x="2534412" y="567309"/>
                    <a:pt x="2534412" y="1267206"/>
                  </a:cubicBezTo>
                  <a:cubicBezTo>
                    <a:pt x="2534412" y="1967103"/>
                    <a:pt x="1967103" y="2534412"/>
                    <a:pt x="1267206" y="2534412"/>
                  </a:cubicBezTo>
                  <a:cubicBezTo>
                    <a:pt x="567309" y="2534412"/>
                    <a:pt x="0" y="1967103"/>
                    <a:pt x="0" y="12672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15311" y="3173273"/>
            <a:ext cx="1727997" cy="1727997"/>
            <a:chOff x="0" y="0"/>
            <a:chExt cx="2303996" cy="23039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4034" cy="2304034"/>
            </a:xfrm>
            <a:custGeom>
              <a:avLst/>
              <a:gdLst/>
              <a:ahLst/>
              <a:cxnLst/>
              <a:rect r="r" b="b" t="t" l="l"/>
              <a:pathLst>
                <a:path h="2304034" w="2304034">
                  <a:moveTo>
                    <a:pt x="0" y="1152017"/>
                  </a:moveTo>
                  <a:cubicBezTo>
                    <a:pt x="0" y="515747"/>
                    <a:pt x="515747" y="0"/>
                    <a:pt x="1152017" y="0"/>
                  </a:cubicBezTo>
                  <a:cubicBezTo>
                    <a:pt x="1788287" y="0"/>
                    <a:pt x="2304034" y="515747"/>
                    <a:pt x="2304034" y="1152017"/>
                  </a:cubicBezTo>
                  <a:cubicBezTo>
                    <a:pt x="2304034" y="1788287"/>
                    <a:pt x="1788287" y="2304034"/>
                    <a:pt x="1152017" y="2304034"/>
                  </a:cubicBezTo>
                  <a:cubicBezTo>
                    <a:pt x="515747" y="2304034"/>
                    <a:pt x="0" y="1788287"/>
                    <a:pt x="0" y="115201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6FC6">
                    <a:alpha val="100000"/>
                  </a:srgbClr>
                </a:gs>
                <a:gs pos="100000">
                  <a:srgbClr val="0F6FC6">
                    <a:alpha val="100000"/>
                  </a:srgbClr>
                </a:gs>
              </a:gsLst>
              <a:lin ang="14348968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03996" cy="2351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4"/>
                </a:lnSpc>
              </a:pPr>
              <a:r>
                <a:rPr lang="en-US" sz="192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and limitations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144"/>
                </a:lnSpc>
              </a:pPr>
              <a:r>
                <a:rPr lang="en-US" sz="5120">
                  <a:solidFill>
                    <a:srgbClr val="0461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Challenges and Limitation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052621" y="2678087"/>
            <a:ext cx="409651" cy="409651"/>
            <a:chOff x="0" y="0"/>
            <a:chExt cx="546202" cy="5462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46202" cy="56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27"/>
                </a:lnSpc>
              </a:pPr>
              <a:r>
                <a:rPr lang="en-US" b="true" sz="143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310835" y="2678087"/>
            <a:ext cx="409651" cy="409651"/>
            <a:chOff x="0" y="0"/>
            <a:chExt cx="546202" cy="5462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46202" cy="56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27"/>
                </a:lnSpc>
              </a:pPr>
              <a:r>
                <a:rPr lang="en-US" b="true" sz="143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61888" y="3841204"/>
            <a:ext cx="409651" cy="409651"/>
            <a:chOff x="0" y="0"/>
            <a:chExt cx="546202" cy="5462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46202" cy="56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27"/>
                </a:lnSpc>
              </a:pPr>
              <a:r>
                <a:rPr lang="en-US" b="true" sz="143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401568" y="3841204"/>
            <a:ext cx="409651" cy="409651"/>
            <a:chOff x="0" y="0"/>
            <a:chExt cx="546202" cy="5462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A5C24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46202" cy="56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27"/>
                </a:lnSpc>
              </a:pPr>
              <a:r>
                <a:rPr lang="en-US" b="true" sz="143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052621" y="4989690"/>
            <a:ext cx="409651" cy="409651"/>
            <a:chOff x="0" y="0"/>
            <a:chExt cx="546202" cy="5462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7CCA6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46202" cy="56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27"/>
                </a:lnSpc>
              </a:pPr>
              <a:r>
                <a:rPr lang="en-US" b="true" sz="143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310835" y="4989690"/>
            <a:ext cx="409651" cy="409651"/>
            <a:chOff x="0" y="0"/>
            <a:chExt cx="546202" cy="5462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cubicBezTo>
                    <a:pt x="423799" y="0"/>
                    <a:pt x="546100" y="122301"/>
                    <a:pt x="546100" y="273050"/>
                  </a:cubicBezTo>
                  <a:cubicBezTo>
                    <a:pt x="546100" y="423799"/>
                    <a:pt x="423799" y="546100"/>
                    <a:pt x="273050" y="546100"/>
                  </a:cubicBezTo>
                  <a:cubicBezTo>
                    <a:pt x="122301" y="546100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10CF9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46202" cy="56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27"/>
                </a:lnSpc>
              </a:pPr>
              <a:r>
                <a:rPr lang="en-US" b="true" sz="1439" spc="-3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46858" y="5839273"/>
            <a:ext cx="2448001" cy="23041"/>
            <a:chOff x="0" y="0"/>
            <a:chExt cx="3264002" cy="3072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64027" cy="30734"/>
            </a:xfrm>
            <a:custGeom>
              <a:avLst/>
              <a:gdLst/>
              <a:ahLst/>
              <a:cxnLst/>
              <a:rect r="r" b="b" t="t" l="l"/>
              <a:pathLst>
                <a:path h="30734" w="3264027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3248660" y="0"/>
                  </a:lnTo>
                  <a:cubicBezTo>
                    <a:pt x="3257169" y="0"/>
                    <a:pt x="3264027" y="6858"/>
                    <a:pt x="3264027" y="15367"/>
                  </a:cubicBezTo>
                  <a:cubicBezTo>
                    <a:pt x="3264027" y="23876"/>
                    <a:pt x="3257169" y="30734"/>
                    <a:pt x="3248660" y="30734"/>
                  </a:cubicBezTo>
                  <a:lnTo>
                    <a:pt x="15367" y="30734"/>
                  </a:lnTo>
                  <a:cubicBezTo>
                    <a:pt x="6858" y="30734"/>
                    <a:pt x="0" y="23876"/>
                    <a:pt x="0" y="15367"/>
                  </a:cubicBezTo>
                  <a:close/>
                </a:path>
              </a:pathLst>
            </a:custGeom>
            <a:solidFill>
              <a:srgbClr val="7CCA62">
                <a:alpha val="3922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158741" y="5839273"/>
            <a:ext cx="2448001" cy="23041"/>
            <a:chOff x="0" y="0"/>
            <a:chExt cx="3264002" cy="307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64027" cy="30734"/>
            </a:xfrm>
            <a:custGeom>
              <a:avLst/>
              <a:gdLst/>
              <a:ahLst/>
              <a:cxnLst/>
              <a:rect r="r" b="b" t="t" l="l"/>
              <a:pathLst>
                <a:path h="30734" w="3264027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3248660" y="0"/>
                  </a:lnTo>
                  <a:cubicBezTo>
                    <a:pt x="3257169" y="0"/>
                    <a:pt x="3264027" y="6858"/>
                    <a:pt x="3264027" y="15367"/>
                  </a:cubicBezTo>
                  <a:cubicBezTo>
                    <a:pt x="3264027" y="23876"/>
                    <a:pt x="3257169" y="30734"/>
                    <a:pt x="3248660" y="30734"/>
                  </a:cubicBezTo>
                  <a:lnTo>
                    <a:pt x="15367" y="30734"/>
                  </a:lnTo>
                  <a:cubicBezTo>
                    <a:pt x="6858" y="30734"/>
                    <a:pt x="0" y="23876"/>
                    <a:pt x="0" y="15367"/>
                  </a:cubicBezTo>
                  <a:close/>
                </a:path>
              </a:pathLst>
            </a:custGeom>
            <a:solidFill>
              <a:srgbClr val="10CF9B">
                <a:alpha val="3922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3870" y="3079842"/>
            <a:ext cx="2448001" cy="23041"/>
            <a:chOff x="0" y="0"/>
            <a:chExt cx="3264002" cy="3072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64027" cy="30734"/>
            </a:xfrm>
            <a:custGeom>
              <a:avLst/>
              <a:gdLst/>
              <a:ahLst/>
              <a:cxnLst/>
              <a:rect r="r" b="b" t="t" l="l"/>
              <a:pathLst>
                <a:path h="30734" w="3264027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3248660" y="0"/>
                  </a:lnTo>
                  <a:cubicBezTo>
                    <a:pt x="3257169" y="0"/>
                    <a:pt x="3264027" y="6858"/>
                    <a:pt x="3264027" y="15367"/>
                  </a:cubicBezTo>
                  <a:cubicBezTo>
                    <a:pt x="3264027" y="23876"/>
                    <a:pt x="3257169" y="30734"/>
                    <a:pt x="3248660" y="30734"/>
                  </a:cubicBezTo>
                  <a:lnTo>
                    <a:pt x="15367" y="30734"/>
                  </a:lnTo>
                  <a:cubicBezTo>
                    <a:pt x="6858" y="30734"/>
                    <a:pt x="0" y="23876"/>
                    <a:pt x="0" y="15367"/>
                  </a:cubicBezTo>
                  <a:close/>
                </a:path>
              </a:pathLst>
            </a:custGeom>
            <a:solidFill>
              <a:srgbClr val="0F6FC6">
                <a:alpha val="3922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231236" y="3079842"/>
            <a:ext cx="2448001" cy="23041"/>
            <a:chOff x="0" y="0"/>
            <a:chExt cx="3264002" cy="3072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64027" cy="30734"/>
            </a:xfrm>
            <a:custGeom>
              <a:avLst/>
              <a:gdLst/>
              <a:ahLst/>
              <a:cxnLst/>
              <a:rect r="r" b="b" t="t" l="l"/>
              <a:pathLst>
                <a:path h="30734" w="3264027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3248660" y="0"/>
                  </a:lnTo>
                  <a:cubicBezTo>
                    <a:pt x="3257169" y="0"/>
                    <a:pt x="3264027" y="6858"/>
                    <a:pt x="3264027" y="15367"/>
                  </a:cubicBezTo>
                  <a:cubicBezTo>
                    <a:pt x="3264027" y="23876"/>
                    <a:pt x="3257169" y="30734"/>
                    <a:pt x="3248660" y="30734"/>
                  </a:cubicBezTo>
                  <a:lnTo>
                    <a:pt x="15367" y="30734"/>
                  </a:lnTo>
                  <a:cubicBezTo>
                    <a:pt x="6858" y="30734"/>
                    <a:pt x="0" y="23876"/>
                    <a:pt x="0" y="15367"/>
                  </a:cubicBezTo>
                  <a:close/>
                </a:path>
              </a:pathLst>
            </a:custGeom>
            <a:solidFill>
              <a:srgbClr val="009DD9">
                <a:alpha val="392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41792" y="4449385"/>
            <a:ext cx="2448001" cy="23041"/>
            <a:chOff x="0" y="0"/>
            <a:chExt cx="3264002" cy="3072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64027" cy="30734"/>
            </a:xfrm>
            <a:custGeom>
              <a:avLst/>
              <a:gdLst/>
              <a:ahLst/>
              <a:cxnLst/>
              <a:rect r="r" b="b" t="t" l="l"/>
              <a:pathLst>
                <a:path h="30734" w="3264027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3248660" y="0"/>
                  </a:lnTo>
                  <a:cubicBezTo>
                    <a:pt x="3257169" y="0"/>
                    <a:pt x="3264027" y="6858"/>
                    <a:pt x="3264027" y="15367"/>
                  </a:cubicBezTo>
                  <a:cubicBezTo>
                    <a:pt x="3264027" y="23876"/>
                    <a:pt x="3257169" y="30734"/>
                    <a:pt x="3248660" y="30734"/>
                  </a:cubicBezTo>
                  <a:lnTo>
                    <a:pt x="15367" y="30734"/>
                  </a:lnTo>
                  <a:cubicBezTo>
                    <a:pt x="6858" y="30734"/>
                    <a:pt x="0" y="23876"/>
                    <a:pt x="0" y="15367"/>
                  </a:cubicBezTo>
                  <a:close/>
                </a:path>
              </a:pathLst>
            </a:custGeom>
            <a:solidFill>
              <a:srgbClr val="A5C249">
                <a:alpha val="392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23116" y="4449385"/>
            <a:ext cx="2448001" cy="23041"/>
            <a:chOff x="0" y="0"/>
            <a:chExt cx="3264002" cy="3072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64027" cy="30734"/>
            </a:xfrm>
            <a:custGeom>
              <a:avLst/>
              <a:gdLst/>
              <a:ahLst/>
              <a:cxnLst/>
              <a:rect r="r" b="b" t="t" l="l"/>
              <a:pathLst>
                <a:path h="30734" w="3264027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3248660" y="0"/>
                  </a:lnTo>
                  <a:cubicBezTo>
                    <a:pt x="3257169" y="0"/>
                    <a:pt x="3264027" y="6858"/>
                    <a:pt x="3264027" y="15367"/>
                  </a:cubicBezTo>
                  <a:cubicBezTo>
                    <a:pt x="3264027" y="23876"/>
                    <a:pt x="3257169" y="30734"/>
                    <a:pt x="3248660" y="30734"/>
                  </a:cubicBezTo>
                  <a:lnTo>
                    <a:pt x="15367" y="30734"/>
                  </a:lnTo>
                  <a:cubicBezTo>
                    <a:pt x="6858" y="30734"/>
                    <a:pt x="0" y="23876"/>
                    <a:pt x="0" y="15367"/>
                  </a:cubicBezTo>
                  <a:close/>
                </a:path>
              </a:pathLst>
            </a:custGeom>
            <a:solidFill>
              <a:srgbClr val="0BD0D9">
                <a:alpha val="3922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723116" y="3487636"/>
            <a:ext cx="2448001" cy="889921"/>
            <a:chOff x="0" y="0"/>
            <a:chExt cx="3264002" cy="118656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64000" cy="1186560"/>
            </a:xfrm>
            <a:custGeom>
              <a:avLst/>
              <a:gdLst/>
              <a:ahLst/>
              <a:cxnLst/>
              <a:rect r="r" b="b" t="t" l="l"/>
              <a:pathLst>
                <a:path h="1186560" w="3264000">
                  <a:moveTo>
                    <a:pt x="0" y="0"/>
                  </a:moveTo>
                  <a:lnTo>
                    <a:pt x="3264000" y="0"/>
                  </a:lnTo>
                  <a:lnTo>
                    <a:pt x="3264000" y="1186560"/>
                  </a:lnTo>
                  <a:lnTo>
                    <a:pt x="0" y="11865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9" r="0" b="-359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23825"/>
              <a:ext cx="3264002" cy="131038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192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Bias and fairness issues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41792" y="3487636"/>
            <a:ext cx="2448001" cy="889921"/>
            <a:chOff x="0" y="0"/>
            <a:chExt cx="3264002" cy="118656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64000" cy="1186560"/>
            </a:xfrm>
            <a:custGeom>
              <a:avLst/>
              <a:gdLst/>
              <a:ahLst/>
              <a:cxnLst/>
              <a:rect r="r" b="b" t="t" l="l"/>
              <a:pathLst>
                <a:path h="1186560" w="3264000">
                  <a:moveTo>
                    <a:pt x="0" y="0"/>
                  </a:moveTo>
                  <a:lnTo>
                    <a:pt x="3264000" y="0"/>
                  </a:lnTo>
                  <a:lnTo>
                    <a:pt x="3264000" y="1186560"/>
                  </a:lnTo>
                  <a:lnTo>
                    <a:pt x="0" y="11865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9" r="0" b="-359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0"/>
              <a:ext cx="3264002" cy="128181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2687"/>
                </a:lnSpc>
              </a:pPr>
              <a:r>
                <a:rPr lang="en-US" sz="1493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Dependence on Training Data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271879" y="2150164"/>
            <a:ext cx="2448001" cy="887044"/>
            <a:chOff x="0" y="0"/>
            <a:chExt cx="3264002" cy="118272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64000" cy="1182720"/>
            </a:xfrm>
            <a:custGeom>
              <a:avLst/>
              <a:gdLst/>
              <a:ahLst/>
              <a:cxnLst/>
              <a:rect r="r" b="b" t="t" l="l"/>
              <a:pathLst>
                <a:path h="1182720" w="3264000">
                  <a:moveTo>
                    <a:pt x="0" y="0"/>
                  </a:moveTo>
                  <a:lnTo>
                    <a:pt x="3264000" y="0"/>
                  </a:lnTo>
                  <a:lnTo>
                    <a:pt x="3264000" y="1182720"/>
                  </a:lnTo>
                  <a:lnTo>
                    <a:pt x="0" y="11827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73" r="0" b="-377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23825"/>
              <a:ext cx="3264002" cy="130655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192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Lack of Accuracy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3870" y="2136619"/>
            <a:ext cx="2448001" cy="885949"/>
            <a:chOff x="0" y="0"/>
            <a:chExt cx="3264002" cy="118126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64000" cy="1181269"/>
            </a:xfrm>
            <a:custGeom>
              <a:avLst/>
              <a:gdLst/>
              <a:ahLst/>
              <a:cxnLst/>
              <a:rect r="r" b="b" t="t" l="l"/>
              <a:pathLst>
                <a:path h="1181269" w="3264000">
                  <a:moveTo>
                    <a:pt x="0" y="0"/>
                  </a:moveTo>
                  <a:lnTo>
                    <a:pt x="3264000" y="0"/>
                  </a:lnTo>
                  <a:lnTo>
                    <a:pt x="3264000" y="1181269"/>
                  </a:lnTo>
                  <a:lnTo>
                    <a:pt x="0" y="11812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39" r="0" b="-383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14300"/>
              <a:ext cx="3264002" cy="12955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072"/>
                </a:lnSpc>
              </a:pPr>
              <a:r>
                <a:rPr lang="en-US" sz="1706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Ethical concerns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158741" y="4877524"/>
            <a:ext cx="2448001" cy="889921"/>
            <a:chOff x="0" y="0"/>
            <a:chExt cx="3264002" cy="118656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64000" cy="1186560"/>
            </a:xfrm>
            <a:custGeom>
              <a:avLst/>
              <a:gdLst/>
              <a:ahLst/>
              <a:cxnLst/>
              <a:rect r="r" b="b" t="t" l="l"/>
              <a:pathLst>
                <a:path h="1186560" w="3264000">
                  <a:moveTo>
                    <a:pt x="0" y="0"/>
                  </a:moveTo>
                  <a:lnTo>
                    <a:pt x="3264000" y="0"/>
                  </a:lnTo>
                  <a:lnTo>
                    <a:pt x="3264000" y="1186560"/>
                  </a:lnTo>
                  <a:lnTo>
                    <a:pt x="0" y="11865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9" r="0" b="-359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23825"/>
              <a:ext cx="3264002" cy="131038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1920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Lack of real-world understanding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6858" y="4877524"/>
            <a:ext cx="2448001" cy="889921"/>
            <a:chOff x="0" y="0"/>
            <a:chExt cx="3264002" cy="118656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64000" cy="1186560"/>
            </a:xfrm>
            <a:custGeom>
              <a:avLst/>
              <a:gdLst/>
              <a:ahLst/>
              <a:cxnLst/>
              <a:rect r="r" b="b" t="t" l="l"/>
              <a:pathLst>
                <a:path h="1186560" w="3264000">
                  <a:moveTo>
                    <a:pt x="0" y="0"/>
                  </a:moveTo>
                  <a:lnTo>
                    <a:pt x="3264000" y="0"/>
                  </a:lnTo>
                  <a:lnTo>
                    <a:pt x="3264000" y="1186560"/>
                  </a:lnTo>
                  <a:lnTo>
                    <a:pt x="0" y="11865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9" r="0" b="-359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14300"/>
              <a:ext cx="3264002" cy="130086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072"/>
                </a:lnSpc>
              </a:pPr>
              <a:r>
                <a:rPr lang="en-US" sz="1706">
                  <a:solidFill>
                    <a:srgbClr val="26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Computational Tasks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9369" y="1216704"/>
            <a:ext cx="9305887" cy="147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2"/>
              </a:lnSpc>
            </a:pPr>
            <a:r>
              <a:rPr lang="en-US" sz="46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469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=  Think &amp; Decide</a:t>
            </a:r>
          </a:p>
          <a:p>
            <a:pPr algn="l">
              <a:lnSpc>
                <a:spcPts val="5632"/>
              </a:lnSpc>
            </a:pPr>
            <a:r>
              <a:rPr lang="en-US" sz="469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Generative AI = Create &amp; Produce</a:t>
            </a:r>
            <a:r>
              <a:rPr lang="en-US" sz="46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69" y="3837346"/>
            <a:ext cx="9480633" cy="68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426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AI  Model  Understand prompts 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880017" y="4656668"/>
            <a:ext cx="2980944" cy="2388279"/>
            <a:chOff x="0" y="0"/>
            <a:chExt cx="3974592" cy="31843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74592" cy="3184398"/>
            </a:xfrm>
            <a:custGeom>
              <a:avLst/>
              <a:gdLst/>
              <a:ahLst/>
              <a:cxnLst/>
              <a:rect r="r" b="b" t="t" l="l"/>
              <a:pathLst>
                <a:path h="3184398" w="3974592">
                  <a:moveTo>
                    <a:pt x="0" y="0"/>
                  </a:moveTo>
                  <a:lnTo>
                    <a:pt x="3974592" y="0"/>
                  </a:lnTo>
                  <a:lnTo>
                    <a:pt x="3974592" y="3184398"/>
                  </a:lnTo>
                  <a:lnTo>
                    <a:pt x="0" y="3184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407" r="0" b="-124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4419" y="1226229"/>
            <a:ext cx="8684771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What  is    a Prompt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9664" y="1917106"/>
            <a:ext cx="9181929" cy="475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prompt is the input given to an AI model 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: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A question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A command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A sentence or paragraph</a:t>
            </a:r>
          </a:p>
          <a:p>
            <a:pPr algn="l" marL="439272" indent="-219636" lvl="1">
              <a:lnSpc>
                <a:spcPts val="4095"/>
              </a:lnSpc>
            </a:pPr>
          </a:p>
          <a:p>
            <a:pPr algn="l" marL="439272" indent="-219636" lvl="1">
              <a:lnSpc>
                <a:spcPts val="4095"/>
              </a:lnSpc>
            </a:pPr>
            <a:r>
              <a:rPr lang="en-US" b="true" sz="34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Example:</a:t>
            </a: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“Explain  Artificial Intelligence in simple terms”</a:t>
            </a:r>
          </a:p>
          <a:p>
            <a:pPr algn="l" marL="439272" indent="-219636" lvl="1">
              <a:lnSpc>
                <a:spcPts val="4095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19313" y="832656"/>
            <a:ext cx="6583680" cy="62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Why   Prompts    Matter?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69" y="1533058"/>
            <a:ext cx="8966540" cy="199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 work as the communication channel between your thoughts and the AI’s   processing.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a prompt as the steering wheel of an AI system.When you steer precisely,the AI moves exactly in the direction you want.</a:t>
            </a:r>
          </a:p>
          <a:p>
            <a:pPr algn="l" marL="329454" indent="-164727" lvl="1">
              <a:lnSpc>
                <a:spcPts val="307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74007" y="3376765"/>
            <a:ext cx="6806527" cy="120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  Reasons Why  Prompts  Matter</a:t>
            </a:r>
          </a:p>
          <a:p>
            <a:pPr algn="l">
              <a:lnSpc>
                <a:spcPts val="3071"/>
              </a:lnSpc>
            </a:pPr>
          </a:p>
          <a:p>
            <a:pPr algn="l">
              <a:lnSpc>
                <a:spcPts val="30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59664" y="4144861"/>
            <a:ext cx="9158897" cy="199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 control the model’s focus and understanding .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decide accuracy,clarity, and relevance.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trigger deeper reasoning  and structured thinking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influence creativity,tone,and style 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prompts reduce retries,saving time and effort.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56653" y="0"/>
            <a:ext cx="3994909" cy="816188"/>
            <a:chOff x="0" y="0"/>
            <a:chExt cx="5326545" cy="1088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26507" cy="1088263"/>
            </a:xfrm>
            <a:custGeom>
              <a:avLst/>
              <a:gdLst/>
              <a:ahLst/>
              <a:cxnLst/>
              <a:rect r="r" b="b" t="t" l="l"/>
              <a:pathLst>
                <a:path h="1088263" w="5326507">
                  <a:moveTo>
                    <a:pt x="0" y="0"/>
                  </a:moveTo>
                  <a:lnTo>
                    <a:pt x="5326507" y="0"/>
                  </a:lnTo>
                  <a:lnTo>
                    <a:pt x="5326507" y="1088263"/>
                  </a:lnTo>
                  <a:lnTo>
                    <a:pt x="0" y="1088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120" r="0" b="-13118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6633" y="1115101"/>
            <a:ext cx="9266596" cy="443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History   of  Prompt   Engineering</a:t>
            </a:r>
          </a:p>
          <a:p>
            <a:pPr algn="l">
              <a:lnSpc>
                <a:spcPts val="3583"/>
              </a:lnSpc>
            </a:pP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Rule Based AI (1950s-1980s)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Era (1990s-2010s)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Language Processing(2010-2016)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Pre-Trained Language Models(2018-2020)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Emergence of Prompt Engineering(2020-22)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Chat-Based AI systems(2022-present)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Prompt Engineering Techniques(2023-present)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56653" y="0"/>
            <a:ext cx="3994909" cy="816188"/>
            <a:chOff x="0" y="0"/>
            <a:chExt cx="5326545" cy="1088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26507" cy="1088263"/>
            </a:xfrm>
            <a:custGeom>
              <a:avLst/>
              <a:gdLst/>
              <a:ahLst/>
              <a:cxnLst/>
              <a:rect r="r" b="b" t="t" l="l"/>
              <a:pathLst>
                <a:path h="1088263" w="5326507">
                  <a:moveTo>
                    <a:pt x="0" y="0"/>
                  </a:moveTo>
                  <a:lnTo>
                    <a:pt x="5326507" y="0"/>
                  </a:lnTo>
                  <a:lnTo>
                    <a:pt x="5326507" y="1088263"/>
                  </a:lnTo>
                  <a:lnTo>
                    <a:pt x="0" y="1088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120" r="0" b="-13118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0255" y="1052789"/>
            <a:ext cx="7733119" cy="535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AI Tools For Prompt Engineering</a:t>
            </a:r>
          </a:p>
          <a:p>
            <a:pPr algn="l">
              <a:lnSpc>
                <a:spcPts val="4608"/>
              </a:lnSpc>
            </a:pPr>
          </a:p>
          <a:p>
            <a:pPr algn="l" marL="494181" indent="-247090" lvl="1">
              <a:lnSpc>
                <a:spcPts val="4608"/>
              </a:lnSpc>
              <a:buFont typeface="Arial"/>
              <a:buChar char="•"/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</a:t>
            </a:r>
          </a:p>
          <a:p>
            <a:pPr algn="l" marL="494181" indent="-247090" lvl="1">
              <a:lnSpc>
                <a:spcPts val="4608"/>
              </a:lnSpc>
              <a:buFont typeface="Arial"/>
              <a:buChar char="•"/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</a:t>
            </a:r>
          </a:p>
          <a:p>
            <a:pPr algn="l" marL="494181" indent="-247090" lvl="1">
              <a:lnSpc>
                <a:spcPts val="4608"/>
              </a:lnSpc>
              <a:buFont typeface="Arial"/>
              <a:buChar char="•"/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Claude</a:t>
            </a:r>
          </a:p>
          <a:p>
            <a:pPr algn="l" marL="494181" indent="-247090" lvl="1">
              <a:lnSpc>
                <a:spcPts val="4608"/>
              </a:lnSpc>
              <a:buFont typeface="Arial"/>
              <a:buChar char="•"/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 Copilot</a:t>
            </a:r>
          </a:p>
          <a:p>
            <a:pPr algn="l" marL="494181" indent="-247090" lvl="1">
              <a:lnSpc>
                <a:spcPts val="4608"/>
              </a:lnSpc>
              <a:buFont typeface="Arial"/>
              <a:buChar char="•"/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Copilot</a:t>
            </a:r>
          </a:p>
          <a:p>
            <a:pPr algn="l" marL="494181" indent="-247090" lvl="1">
              <a:lnSpc>
                <a:spcPts val="4608"/>
              </a:lnSpc>
              <a:buFont typeface="Arial"/>
              <a:buChar char="•"/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MidJourney</a:t>
            </a:r>
          </a:p>
          <a:p>
            <a:pPr algn="l" marL="494181" indent="-247090" lvl="1">
              <a:lnSpc>
                <a:spcPts val="4608"/>
              </a:lnSpc>
              <a:buFont typeface="Arial"/>
              <a:buChar char="•"/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Gamma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491820" y="0"/>
            <a:ext cx="4301747" cy="1048512"/>
            <a:chOff x="0" y="0"/>
            <a:chExt cx="5735663" cy="139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35701" cy="1398016"/>
            </a:xfrm>
            <a:custGeom>
              <a:avLst/>
              <a:gdLst/>
              <a:ahLst/>
              <a:cxnLst/>
              <a:rect r="r" b="b" t="t" l="l"/>
              <a:pathLst>
                <a:path h="1398016" w="5735701">
                  <a:moveTo>
                    <a:pt x="0" y="0"/>
                  </a:moveTo>
                  <a:lnTo>
                    <a:pt x="5735701" y="0"/>
                  </a:lnTo>
                  <a:lnTo>
                    <a:pt x="5735701" y="1398016"/>
                  </a:lnTo>
                  <a:lnTo>
                    <a:pt x="0" y="1398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07" r="0" b="-2908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680" y="751027"/>
            <a:ext cx="8778240" cy="1219200"/>
            <a:chOff x="0" y="0"/>
            <a:chExt cx="1170432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399"/>
                </a:lnSpc>
              </a:pPr>
              <a:r>
                <a:rPr lang="en-US" sz="5333">
                  <a:solidFill>
                    <a:srgbClr val="04617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Types  of  Prompts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9993" y="2361524"/>
            <a:ext cx="1338415" cy="3623901"/>
            <a:chOff x="0" y="0"/>
            <a:chExt cx="1784553" cy="48318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4604" cy="4831969"/>
            </a:xfrm>
            <a:custGeom>
              <a:avLst/>
              <a:gdLst/>
              <a:ahLst/>
              <a:cxnLst/>
              <a:rect r="r" b="b" t="t" l="l"/>
              <a:pathLst>
                <a:path h="4831969" w="1784604">
                  <a:moveTo>
                    <a:pt x="0" y="105791"/>
                  </a:moveTo>
                  <a:cubicBezTo>
                    <a:pt x="0" y="47371"/>
                    <a:pt x="47371" y="0"/>
                    <a:pt x="105791" y="0"/>
                  </a:cubicBezTo>
                  <a:lnTo>
                    <a:pt x="1678813" y="0"/>
                  </a:lnTo>
                  <a:cubicBezTo>
                    <a:pt x="1737233" y="0"/>
                    <a:pt x="1784604" y="47371"/>
                    <a:pt x="1784604" y="105791"/>
                  </a:cubicBezTo>
                  <a:lnTo>
                    <a:pt x="1784604" y="4726178"/>
                  </a:lnTo>
                  <a:cubicBezTo>
                    <a:pt x="1784604" y="4784598"/>
                    <a:pt x="1737233" y="4831969"/>
                    <a:pt x="1678813" y="4831969"/>
                  </a:cubicBezTo>
                  <a:lnTo>
                    <a:pt x="105791" y="4831969"/>
                  </a:lnTo>
                  <a:cubicBezTo>
                    <a:pt x="47371" y="4831969"/>
                    <a:pt x="0" y="4784598"/>
                    <a:pt x="0" y="4726178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3547" cap="sq">
              <a:solidFill>
                <a:srgbClr val="0F6FC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1784553" cy="494616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072"/>
                </a:lnSpc>
              </a:pPr>
              <a:r>
                <a:rPr lang="en-US" sz="1706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Instruction Prompts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7279" y="5907529"/>
            <a:ext cx="1321308" cy="69085"/>
            <a:chOff x="0" y="0"/>
            <a:chExt cx="1761744" cy="921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61744" cy="92202"/>
            </a:xfrm>
            <a:custGeom>
              <a:avLst/>
              <a:gdLst/>
              <a:ahLst/>
              <a:cxnLst/>
              <a:rect r="r" b="b" t="t" l="l"/>
              <a:pathLst>
                <a:path h="92202" w="1761744">
                  <a:moveTo>
                    <a:pt x="0" y="0"/>
                  </a:moveTo>
                  <a:lnTo>
                    <a:pt x="1761744" y="0"/>
                  </a:lnTo>
                  <a:lnTo>
                    <a:pt x="1758315" y="19431"/>
                  </a:lnTo>
                  <a:cubicBezTo>
                    <a:pt x="1742440" y="62230"/>
                    <a:pt x="1705102" y="92202"/>
                    <a:pt x="1661541" y="92202"/>
                  </a:cubicBezTo>
                  <a:lnTo>
                    <a:pt x="100203" y="92202"/>
                  </a:lnTo>
                  <a:cubicBezTo>
                    <a:pt x="56642" y="92075"/>
                    <a:pt x="19431" y="62103"/>
                    <a:pt x="3429" y="19431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6429" y="2033016"/>
            <a:ext cx="604799" cy="662397"/>
            <a:chOff x="0" y="0"/>
            <a:chExt cx="806399" cy="8831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6450" cy="883158"/>
            </a:xfrm>
            <a:custGeom>
              <a:avLst/>
              <a:gdLst/>
              <a:ahLst/>
              <a:cxnLst/>
              <a:rect r="r" b="b" t="t" l="l"/>
              <a:pathLst>
                <a:path h="883158" w="80645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697230" y="0"/>
                  </a:lnTo>
                  <a:cubicBezTo>
                    <a:pt x="757555" y="0"/>
                    <a:pt x="806450" y="48895"/>
                    <a:pt x="806450" y="109220"/>
                  </a:cubicBezTo>
                  <a:lnTo>
                    <a:pt x="806450" y="773938"/>
                  </a:lnTo>
                  <a:cubicBezTo>
                    <a:pt x="806450" y="834263"/>
                    <a:pt x="757555" y="883158"/>
                    <a:pt x="697230" y="883158"/>
                  </a:cubicBezTo>
                  <a:lnTo>
                    <a:pt x="109220" y="883158"/>
                  </a:lnTo>
                  <a:cubicBezTo>
                    <a:pt x="48895" y="883158"/>
                    <a:pt x="0" y="834263"/>
                    <a:pt x="0" y="773938"/>
                  </a:cubicBezTo>
                  <a:close/>
                </a:path>
              </a:pathLst>
            </a:custGeom>
            <a:solidFill>
              <a:srgbClr val="0F6FC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06399" cy="90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4"/>
                </a:lnSpc>
              </a:pPr>
              <a:r>
                <a:rPr lang="en-US" b="true" sz="192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12023" y="2362029"/>
            <a:ext cx="1338415" cy="3623901"/>
            <a:chOff x="0" y="0"/>
            <a:chExt cx="1784553" cy="48318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4604" cy="4831969"/>
            </a:xfrm>
            <a:custGeom>
              <a:avLst/>
              <a:gdLst/>
              <a:ahLst/>
              <a:cxnLst/>
              <a:rect r="r" b="b" t="t" l="l"/>
              <a:pathLst>
                <a:path h="4831969" w="1784604">
                  <a:moveTo>
                    <a:pt x="0" y="105791"/>
                  </a:moveTo>
                  <a:cubicBezTo>
                    <a:pt x="0" y="47371"/>
                    <a:pt x="47371" y="0"/>
                    <a:pt x="105791" y="0"/>
                  </a:cubicBezTo>
                  <a:lnTo>
                    <a:pt x="1678813" y="0"/>
                  </a:lnTo>
                  <a:cubicBezTo>
                    <a:pt x="1737233" y="0"/>
                    <a:pt x="1784604" y="47371"/>
                    <a:pt x="1784604" y="105791"/>
                  </a:cubicBezTo>
                  <a:lnTo>
                    <a:pt x="1784604" y="4726178"/>
                  </a:lnTo>
                  <a:cubicBezTo>
                    <a:pt x="1784604" y="4784598"/>
                    <a:pt x="1737233" y="4831969"/>
                    <a:pt x="1678813" y="4831969"/>
                  </a:cubicBezTo>
                  <a:lnTo>
                    <a:pt x="105791" y="4831969"/>
                  </a:lnTo>
                  <a:cubicBezTo>
                    <a:pt x="47371" y="4831969"/>
                    <a:pt x="0" y="4784598"/>
                    <a:pt x="0" y="4726178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3547" cap="sq">
              <a:solidFill>
                <a:srgbClr val="009DD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1784553" cy="492711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87"/>
                </a:lnSpc>
              </a:pPr>
              <a:r>
                <a:rPr lang="en-US" sz="149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Question Prompts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19300" y="5907529"/>
            <a:ext cx="1321308" cy="69085"/>
            <a:chOff x="0" y="0"/>
            <a:chExt cx="1761744" cy="921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61744" cy="92202"/>
            </a:xfrm>
            <a:custGeom>
              <a:avLst/>
              <a:gdLst/>
              <a:ahLst/>
              <a:cxnLst/>
              <a:rect r="r" b="b" t="t" l="l"/>
              <a:pathLst>
                <a:path h="92202" w="1761744">
                  <a:moveTo>
                    <a:pt x="0" y="0"/>
                  </a:moveTo>
                  <a:lnTo>
                    <a:pt x="1761744" y="0"/>
                  </a:lnTo>
                  <a:lnTo>
                    <a:pt x="1758315" y="19431"/>
                  </a:lnTo>
                  <a:cubicBezTo>
                    <a:pt x="1742440" y="62230"/>
                    <a:pt x="1705102" y="92202"/>
                    <a:pt x="1661541" y="92202"/>
                  </a:cubicBezTo>
                  <a:lnTo>
                    <a:pt x="100203" y="92202"/>
                  </a:lnTo>
                  <a:cubicBezTo>
                    <a:pt x="56642" y="92075"/>
                    <a:pt x="19431" y="62103"/>
                    <a:pt x="3429" y="19431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378459" y="2033521"/>
            <a:ext cx="604799" cy="662397"/>
            <a:chOff x="0" y="0"/>
            <a:chExt cx="806399" cy="8831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6450" cy="883158"/>
            </a:xfrm>
            <a:custGeom>
              <a:avLst/>
              <a:gdLst/>
              <a:ahLst/>
              <a:cxnLst/>
              <a:rect r="r" b="b" t="t" l="l"/>
              <a:pathLst>
                <a:path h="883158" w="80645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697230" y="0"/>
                  </a:lnTo>
                  <a:cubicBezTo>
                    <a:pt x="757555" y="0"/>
                    <a:pt x="806450" y="48895"/>
                    <a:pt x="806450" y="109220"/>
                  </a:cubicBezTo>
                  <a:lnTo>
                    <a:pt x="806450" y="773938"/>
                  </a:lnTo>
                  <a:cubicBezTo>
                    <a:pt x="806450" y="834263"/>
                    <a:pt x="757555" y="883158"/>
                    <a:pt x="697230" y="883158"/>
                  </a:cubicBezTo>
                  <a:lnTo>
                    <a:pt x="109220" y="883158"/>
                  </a:lnTo>
                  <a:cubicBezTo>
                    <a:pt x="48895" y="883158"/>
                    <a:pt x="0" y="834263"/>
                    <a:pt x="0" y="773938"/>
                  </a:cubicBezTo>
                  <a:close/>
                </a:path>
              </a:pathLst>
            </a:custGeom>
            <a:solidFill>
              <a:srgbClr val="009D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06399" cy="90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4"/>
                </a:lnSpc>
              </a:pPr>
              <a:r>
                <a:rPr lang="en-US" b="true" sz="192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474044" y="2362543"/>
            <a:ext cx="1338415" cy="3623901"/>
            <a:chOff x="0" y="0"/>
            <a:chExt cx="1784553" cy="48318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84604" cy="4831969"/>
            </a:xfrm>
            <a:custGeom>
              <a:avLst/>
              <a:gdLst/>
              <a:ahLst/>
              <a:cxnLst/>
              <a:rect r="r" b="b" t="t" l="l"/>
              <a:pathLst>
                <a:path h="4831969" w="1784604">
                  <a:moveTo>
                    <a:pt x="0" y="105791"/>
                  </a:moveTo>
                  <a:cubicBezTo>
                    <a:pt x="0" y="47371"/>
                    <a:pt x="47371" y="0"/>
                    <a:pt x="105791" y="0"/>
                  </a:cubicBezTo>
                  <a:lnTo>
                    <a:pt x="1678813" y="0"/>
                  </a:lnTo>
                  <a:cubicBezTo>
                    <a:pt x="1737233" y="0"/>
                    <a:pt x="1784604" y="47371"/>
                    <a:pt x="1784604" y="105791"/>
                  </a:cubicBezTo>
                  <a:lnTo>
                    <a:pt x="1784604" y="4726178"/>
                  </a:lnTo>
                  <a:cubicBezTo>
                    <a:pt x="1784604" y="4784598"/>
                    <a:pt x="1737233" y="4831969"/>
                    <a:pt x="1678813" y="4831969"/>
                  </a:cubicBezTo>
                  <a:lnTo>
                    <a:pt x="105791" y="4831969"/>
                  </a:lnTo>
                  <a:cubicBezTo>
                    <a:pt x="47371" y="4831969"/>
                    <a:pt x="0" y="4784598"/>
                    <a:pt x="0" y="4726178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3547" cap="sq">
              <a:solidFill>
                <a:srgbClr val="0BD0D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1784553" cy="492711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87"/>
                </a:lnSpc>
              </a:pPr>
              <a:r>
                <a:rPr lang="en-US" sz="149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Context Based Prompts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80816" y="5907024"/>
            <a:ext cx="1321308" cy="70104"/>
            <a:chOff x="0" y="0"/>
            <a:chExt cx="1761744" cy="934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61744" cy="93472"/>
            </a:xfrm>
            <a:custGeom>
              <a:avLst/>
              <a:gdLst/>
              <a:ahLst/>
              <a:cxnLst/>
              <a:rect r="r" b="b" t="t" l="l"/>
              <a:pathLst>
                <a:path h="93472" w="1761744">
                  <a:moveTo>
                    <a:pt x="0" y="0"/>
                  </a:moveTo>
                  <a:lnTo>
                    <a:pt x="1761744" y="0"/>
                  </a:lnTo>
                  <a:lnTo>
                    <a:pt x="1758315" y="19685"/>
                  </a:lnTo>
                  <a:cubicBezTo>
                    <a:pt x="1742440" y="63119"/>
                    <a:pt x="1705102" y="93472"/>
                    <a:pt x="1661541" y="93472"/>
                  </a:cubicBezTo>
                  <a:lnTo>
                    <a:pt x="100203" y="93472"/>
                  </a:lnTo>
                  <a:cubicBezTo>
                    <a:pt x="56769" y="93472"/>
                    <a:pt x="19431" y="62992"/>
                    <a:pt x="3429" y="19685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839975" y="2034035"/>
            <a:ext cx="604799" cy="662397"/>
            <a:chOff x="0" y="0"/>
            <a:chExt cx="806399" cy="8831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6450" cy="883158"/>
            </a:xfrm>
            <a:custGeom>
              <a:avLst/>
              <a:gdLst/>
              <a:ahLst/>
              <a:cxnLst/>
              <a:rect r="r" b="b" t="t" l="l"/>
              <a:pathLst>
                <a:path h="883158" w="80645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697230" y="0"/>
                  </a:lnTo>
                  <a:cubicBezTo>
                    <a:pt x="757555" y="0"/>
                    <a:pt x="806450" y="48895"/>
                    <a:pt x="806450" y="109220"/>
                  </a:cubicBezTo>
                  <a:lnTo>
                    <a:pt x="806450" y="773938"/>
                  </a:lnTo>
                  <a:cubicBezTo>
                    <a:pt x="806450" y="834263"/>
                    <a:pt x="757555" y="883158"/>
                    <a:pt x="697230" y="883158"/>
                  </a:cubicBezTo>
                  <a:lnTo>
                    <a:pt x="109220" y="883158"/>
                  </a:lnTo>
                  <a:cubicBezTo>
                    <a:pt x="48895" y="883158"/>
                    <a:pt x="0" y="834263"/>
                    <a:pt x="0" y="773938"/>
                  </a:cubicBezTo>
                  <a:close/>
                </a:path>
              </a:pathLst>
            </a:custGeom>
            <a:solidFill>
              <a:srgbClr val="0BD0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806399" cy="90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4"/>
                </a:lnSpc>
              </a:pPr>
              <a:r>
                <a:rPr lang="en-US" b="true" sz="192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946228" y="2344760"/>
            <a:ext cx="1338415" cy="3623901"/>
            <a:chOff x="0" y="0"/>
            <a:chExt cx="1784553" cy="48318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84604" cy="4831969"/>
            </a:xfrm>
            <a:custGeom>
              <a:avLst/>
              <a:gdLst/>
              <a:ahLst/>
              <a:cxnLst/>
              <a:rect r="r" b="b" t="t" l="l"/>
              <a:pathLst>
                <a:path h="4831969" w="1784604">
                  <a:moveTo>
                    <a:pt x="0" y="105791"/>
                  </a:moveTo>
                  <a:cubicBezTo>
                    <a:pt x="0" y="47371"/>
                    <a:pt x="47371" y="0"/>
                    <a:pt x="105791" y="0"/>
                  </a:cubicBezTo>
                  <a:lnTo>
                    <a:pt x="1678813" y="0"/>
                  </a:lnTo>
                  <a:cubicBezTo>
                    <a:pt x="1737233" y="0"/>
                    <a:pt x="1784604" y="47371"/>
                    <a:pt x="1784604" y="105791"/>
                  </a:cubicBezTo>
                  <a:lnTo>
                    <a:pt x="1784604" y="4726178"/>
                  </a:lnTo>
                  <a:cubicBezTo>
                    <a:pt x="1784604" y="4784598"/>
                    <a:pt x="1737233" y="4831969"/>
                    <a:pt x="1678813" y="4831969"/>
                  </a:cubicBezTo>
                  <a:lnTo>
                    <a:pt x="105791" y="4831969"/>
                  </a:lnTo>
                  <a:cubicBezTo>
                    <a:pt x="47371" y="4831969"/>
                    <a:pt x="0" y="4784598"/>
                    <a:pt x="0" y="4726178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3547" cap="sq">
              <a:solidFill>
                <a:srgbClr val="10CF9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14300"/>
              <a:ext cx="1784553" cy="494616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072"/>
                </a:lnSpc>
              </a:pPr>
              <a:r>
                <a:rPr lang="en-US" sz="1706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Few-Shot Prompts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942837" y="5908548"/>
            <a:ext cx="1321308" cy="69085"/>
            <a:chOff x="0" y="0"/>
            <a:chExt cx="1761744" cy="9211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61744" cy="92202"/>
            </a:xfrm>
            <a:custGeom>
              <a:avLst/>
              <a:gdLst/>
              <a:ahLst/>
              <a:cxnLst/>
              <a:rect r="r" b="b" t="t" l="l"/>
              <a:pathLst>
                <a:path h="92202" w="1761744">
                  <a:moveTo>
                    <a:pt x="0" y="0"/>
                  </a:moveTo>
                  <a:lnTo>
                    <a:pt x="1761744" y="0"/>
                  </a:lnTo>
                  <a:lnTo>
                    <a:pt x="1758315" y="19431"/>
                  </a:lnTo>
                  <a:cubicBezTo>
                    <a:pt x="1742440" y="62230"/>
                    <a:pt x="1705102" y="92202"/>
                    <a:pt x="1661541" y="92202"/>
                  </a:cubicBezTo>
                  <a:lnTo>
                    <a:pt x="100203" y="92202"/>
                  </a:lnTo>
                  <a:cubicBezTo>
                    <a:pt x="56642" y="92075"/>
                    <a:pt x="19431" y="62103"/>
                    <a:pt x="3429" y="19431"/>
                  </a:cubicBezTo>
                  <a:close/>
                </a:path>
              </a:pathLst>
            </a:custGeom>
            <a:solidFill>
              <a:srgbClr val="10CF9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301996" y="2034540"/>
            <a:ext cx="604799" cy="662397"/>
            <a:chOff x="0" y="0"/>
            <a:chExt cx="806399" cy="8831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6450" cy="883158"/>
            </a:xfrm>
            <a:custGeom>
              <a:avLst/>
              <a:gdLst/>
              <a:ahLst/>
              <a:cxnLst/>
              <a:rect r="r" b="b" t="t" l="l"/>
              <a:pathLst>
                <a:path h="883158" w="80645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697230" y="0"/>
                  </a:lnTo>
                  <a:cubicBezTo>
                    <a:pt x="757555" y="0"/>
                    <a:pt x="806450" y="48895"/>
                    <a:pt x="806450" y="109220"/>
                  </a:cubicBezTo>
                  <a:lnTo>
                    <a:pt x="806450" y="773938"/>
                  </a:lnTo>
                  <a:cubicBezTo>
                    <a:pt x="806450" y="834263"/>
                    <a:pt x="757555" y="883158"/>
                    <a:pt x="697230" y="883158"/>
                  </a:cubicBezTo>
                  <a:lnTo>
                    <a:pt x="109220" y="883158"/>
                  </a:lnTo>
                  <a:cubicBezTo>
                    <a:pt x="48895" y="883158"/>
                    <a:pt x="0" y="834263"/>
                    <a:pt x="0" y="773938"/>
                  </a:cubicBezTo>
                  <a:close/>
                </a:path>
              </a:pathLst>
            </a:custGeom>
            <a:solidFill>
              <a:srgbClr val="10CF9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806399" cy="90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4"/>
                </a:lnSpc>
              </a:pPr>
              <a:r>
                <a:rPr lang="en-US" b="true" sz="192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398095" y="2363553"/>
            <a:ext cx="1338415" cy="3623901"/>
            <a:chOff x="0" y="0"/>
            <a:chExt cx="1784553" cy="483186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84604" cy="4831969"/>
            </a:xfrm>
            <a:custGeom>
              <a:avLst/>
              <a:gdLst/>
              <a:ahLst/>
              <a:cxnLst/>
              <a:rect r="r" b="b" t="t" l="l"/>
              <a:pathLst>
                <a:path h="4831969" w="1784604">
                  <a:moveTo>
                    <a:pt x="0" y="105791"/>
                  </a:moveTo>
                  <a:cubicBezTo>
                    <a:pt x="0" y="47371"/>
                    <a:pt x="47371" y="0"/>
                    <a:pt x="105791" y="0"/>
                  </a:cubicBezTo>
                  <a:lnTo>
                    <a:pt x="1678813" y="0"/>
                  </a:lnTo>
                  <a:cubicBezTo>
                    <a:pt x="1737233" y="0"/>
                    <a:pt x="1784604" y="47371"/>
                    <a:pt x="1784604" y="105791"/>
                  </a:cubicBezTo>
                  <a:lnTo>
                    <a:pt x="1784604" y="4726178"/>
                  </a:lnTo>
                  <a:cubicBezTo>
                    <a:pt x="1784604" y="4784598"/>
                    <a:pt x="1737233" y="4831969"/>
                    <a:pt x="1678813" y="4831969"/>
                  </a:cubicBezTo>
                  <a:lnTo>
                    <a:pt x="105791" y="4831969"/>
                  </a:lnTo>
                  <a:cubicBezTo>
                    <a:pt x="47371" y="4831969"/>
                    <a:pt x="0" y="4784598"/>
                    <a:pt x="0" y="4726178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3547" cap="sq">
              <a:solidFill>
                <a:srgbClr val="7CCA62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114300"/>
              <a:ext cx="1784553" cy="494616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072"/>
                </a:lnSpc>
              </a:pPr>
              <a:r>
                <a:rPr lang="en-US" sz="1706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Role-Based Prompts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405372" y="5909053"/>
            <a:ext cx="1321308" cy="69085"/>
            <a:chOff x="0" y="0"/>
            <a:chExt cx="1761744" cy="9211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61744" cy="92202"/>
            </a:xfrm>
            <a:custGeom>
              <a:avLst/>
              <a:gdLst/>
              <a:ahLst/>
              <a:cxnLst/>
              <a:rect r="r" b="b" t="t" l="l"/>
              <a:pathLst>
                <a:path h="92202" w="1761744">
                  <a:moveTo>
                    <a:pt x="0" y="0"/>
                  </a:moveTo>
                  <a:lnTo>
                    <a:pt x="1761744" y="0"/>
                  </a:lnTo>
                  <a:lnTo>
                    <a:pt x="1758315" y="19431"/>
                  </a:lnTo>
                  <a:cubicBezTo>
                    <a:pt x="1742440" y="62230"/>
                    <a:pt x="1705102" y="92202"/>
                    <a:pt x="1661541" y="92202"/>
                  </a:cubicBezTo>
                  <a:lnTo>
                    <a:pt x="100203" y="92202"/>
                  </a:lnTo>
                  <a:cubicBezTo>
                    <a:pt x="56642" y="92075"/>
                    <a:pt x="19431" y="62103"/>
                    <a:pt x="3429" y="19431"/>
                  </a:cubicBezTo>
                  <a:close/>
                </a:path>
              </a:pathLst>
            </a:custGeom>
            <a:solidFill>
              <a:srgbClr val="7CCA6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764531" y="2035045"/>
            <a:ext cx="604799" cy="662397"/>
            <a:chOff x="0" y="0"/>
            <a:chExt cx="806399" cy="8831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6450" cy="883158"/>
            </a:xfrm>
            <a:custGeom>
              <a:avLst/>
              <a:gdLst/>
              <a:ahLst/>
              <a:cxnLst/>
              <a:rect r="r" b="b" t="t" l="l"/>
              <a:pathLst>
                <a:path h="883158" w="80645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697230" y="0"/>
                  </a:lnTo>
                  <a:cubicBezTo>
                    <a:pt x="757555" y="0"/>
                    <a:pt x="806450" y="48895"/>
                    <a:pt x="806450" y="109220"/>
                  </a:cubicBezTo>
                  <a:lnTo>
                    <a:pt x="806450" y="773938"/>
                  </a:lnTo>
                  <a:cubicBezTo>
                    <a:pt x="806450" y="834263"/>
                    <a:pt x="757555" y="883158"/>
                    <a:pt x="697230" y="883158"/>
                  </a:cubicBezTo>
                  <a:lnTo>
                    <a:pt x="109220" y="883158"/>
                  </a:lnTo>
                  <a:cubicBezTo>
                    <a:pt x="48895" y="883158"/>
                    <a:pt x="0" y="834263"/>
                    <a:pt x="0" y="773938"/>
                  </a:cubicBezTo>
                  <a:close/>
                </a:path>
              </a:pathLst>
            </a:custGeom>
            <a:solidFill>
              <a:srgbClr val="7CCA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806399" cy="90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4"/>
                </a:lnSpc>
              </a:pPr>
              <a:r>
                <a:rPr lang="en-US" b="true" sz="192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60116" y="2364067"/>
            <a:ext cx="1338415" cy="3623901"/>
            <a:chOff x="0" y="0"/>
            <a:chExt cx="1784553" cy="48318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84604" cy="4831969"/>
            </a:xfrm>
            <a:custGeom>
              <a:avLst/>
              <a:gdLst/>
              <a:ahLst/>
              <a:cxnLst/>
              <a:rect r="r" b="b" t="t" l="l"/>
              <a:pathLst>
                <a:path h="4831969" w="1784604">
                  <a:moveTo>
                    <a:pt x="0" y="105791"/>
                  </a:moveTo>
                  <a:cubicBezTo>
                    <a:pt x="0" y="47371"/>
                    <a:pt x="47371" y="0"/>
                    <a:pt x="105791" y="0"/>
                  </a:cubicBezTo>
                  <a:lnTo>
                    <a:pt x="1678813" y="0"/>
                  </a:lnTo>
                  <a:cubicBezTo>
                    <a:pt x="1737233" y="0"/>
                    <a:pt x="1784604" y="47371"/>
                    <a:pt x="1784604" y="105791"/>
                  </a:cubicBezTo>
                  <a:lnTo>
                    <a:pt x="1784604" y="4726178"/>
                  </a:lnTo>
                  <a:cubicBezTo>
                    <a:pt x="1784604" y="4784598"/>
                    <a:pt x="1737233" y="4831969"/>
                    <a:pt x="1678813" y="4831969"/>
                  </a:cubicBezTo>
                  <a:lnTo>
                    <a:pt x="105791" y="4831969"/>
                  </a:lnTo>
                  <a:cubicBezTo>
                    <a:pt x="47371" y="4831969"/>
                    <a:pt x="0" y="4784598"/>
                    <a:pt x="0" y="4726178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13547" cap="sq">
              <a:solidFill>
                <a:srgbClr val="A5C249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1784553" cy="492711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87"/>
                </a:lnSpc>
              </a:pPr>
              <a:r>
                <a:rPr lang="en-US" sz="1493" b="true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Multi-Turn Conversational Prompts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868917" y="5909567"/>
            <a:ext cx="1321308" cy="69085"/>
            <a:chOff x="0" y="0"/>
            <a:chExt cx="1761744" cy="9211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61744" cy="92202"/>
            </a:xfrm>
            <a:custGeom>
              <a:avLst/>
              <a:gdLst/>
              <a:ahLst/>
              <a:cxnLst/>
              <a:rect r="r" b="b" t="t" l="l"/>
              <a:pathLst>
                <a:path h="92202" w="1761744">
                  <a:moveTo>
                    <a:pt x="0" y="0"/>
                  </a:moveTo>
                  <a:lnTo>
                    <a:pt x="1761744" y="0"/>
                  </a:lnTo>
                  <a:lnTo>
                    <a:pt x="1758315" y="19431"/>
                  </a:lnTo>
                  <a:cubicBezTo>
                    <a:pt x="1742440" y="62230"/>
                    <a:pt x="1705102" y="92202"/>
                    <a:pt x="1661541" y="92202"/>
                  </a:cubicBezTo>
                  <a:lnTo>
                    <a:pt x="100203" y="92202"/>
                  </a:lnTo>
                  <a:cubicBezTo>
                    <a:pt x="56642" y="92075"/>
                    <a:pt x="19431" y="62103"/>
                    <a:pt x="3429" y="19431"/>
                  </a:cubicBezTo>
                  <a:close/>
                </a:path>
              </a:pathLst>
            </a:custGeom>
            <a:solidFill>
              <a:srgbClr val="A5C249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226047" y="2035559"/>
            <a:ext cx="604799" cy="662397"/>
            <a:chOff x="0" y="0"/>
            <a:chExt cx="806399" cy="8831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6450" cy="883158"/>
            </a:xfrm>
            <a:custGeom>
              <a:avLst/>
              <a:gdLst/>
              <a:ahLst/>
              <a:cxnLst/>
              <a:rect r="r" b="b" t="t" l="l"/>
              <a:pathLst>
                <a:path h="883158" w="80645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697230" y="0"/>
                  </a:lnTo>
                  <a:cubicBezTo>
                    <a:pt x="757555" y="0"/>
                    <a:pt x="806450" y="48895"/>
                    <a:pt x="806450" y="109220"/>
                  </a:cubicBezTo>
                  <a:lnTo>
                    <a:pt x="806450" y="773938"/>
                  </a:lnTo>
                  <a:cubicBezTo>
                    <a:pt x="806450" y="834263"/>
                    <a:pt x="757555" y="883158"/>
                    <a:pt x="697230" y="883158"/>
                  </a:cubicBezTo>
                  <a:lnTo>
                    <a:pt x="109220" y="883158"/>
                  </a:lnTo>
                  <a:cubicBezTo>
                    <a:pt x="48895" y="883158"/>
                    <a:pt x="0" y="834263"/>
                    <a:pt x="0" y="773938"/>
                  </a:cubicBezTo>
                  <a:close/>
                </a:path>
              </a:pathLst>
            </a:custGeom>
            <a:solidFill>
              <a:srgbClr val="A5C249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806399" cy="90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4"/>
                </a:lnSpc>
              </a:pPr>
              <a:r>
                <a:rPr lang="en-US" b="true" sz="1920" spc="-4">
                  <a:solidFill>
                    <a:srgbClr val="FFFFF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06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0564" y="1021671"/>
            <a:ext cx="4607900" cy="5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Instruction Prompts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931" y="1917106"/>
            <a:ext cx="7598321" cy="416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prompts  give a clear instruction or command to the AI.They tell the AI exactly what task to perform.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Example:”Exlain gravity in simple words.”</a:t>
            </a:r>
          </a:p>
          <a:p>
            <a:pPr algn="l" marL="384363" indent="-192181" lvl="1">
              <a:lnSpc>
                <a:spcPts val="3583"/>
              </a:lnSpc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Best for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Explanations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Summaries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Rewriting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task execution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5561" y="832656"/>
            <a:ext cx="5221567" cy="62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Question prompts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9392" y="2045170"/>
            <a:ext cx="8035204" cy="356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These prompts ask a Question directly The AI responds ith the best possible answer.</a:t>
            </a:r>
          </a:p>
          <a:p>
            <a:pPr algn="l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b="true" sz="2559" spc="-5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Example</a:t>
            </a: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: “What is the capital of Japan?”</a:t>
            </a:r>
          </a:p>
          <a:p>
            <a:pPr algn="l" marL="329454" indent="-164727" lvl="1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 spc="-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Best For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 spc="-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Factual Information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 spc="-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Explanations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 spc="-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Genneral Knowledge queries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19159" y="0"/>
            <a:ext cx="4132412" cy="1033615"/>
            <a:chOff x="0" y="0"/>
            <a:chExt cx="5509882" cy="1378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9895" cy="1378204"/>
            </a:xfrm>
            <a:custGeom>
              <a:avLst/>
              <a:gdLst/>
              <a:ahLst/>
              <a:cxnLst/>
              <a:rect r="r" b="b" t="t" l="l"/>
              <a:pathLst>
                <a:path h="1378204" w="5509895">
                  <a:moveTo>
                    <a:pt x="0" y="0"/>
                  </a:moveTo>
                  <a:lnTo>
                    <a:pt x="5509895" y="0"/>
                  </a:lnTo>
                  <a:lnTo>
                    <a:pt x="5509895" y="1378204"/>
                  </a:lnTo>
                  <a:lnTo>
                    <a:pt x="0" y="137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58" r="0" b="-1554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1808" y="688429"/>
            <a:ext cx="3986784" cy="5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Few-Shot Prompts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4684" y="1696336"/>
            <a:ext cx="8434159" cy="507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These prompts include examples to show the AI how you want it to respond.The AI learns from the pattern.</a:t>
            </a:r>
          </a:p>
          <a:p>
            <a:pPr algn="l">
              <a:lnSpc>
                <a:spcPts val="3583"/>
              </a:lnSpc>
            </a:pPr>
            <a:r>
              <a:rPr lang="en-US" b="true" sz="2986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Example</a:t>
            </a:r>
            <a:r>
              <a:rPr lang="en-US" sz="2986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:</a:t>
            </a:r>
          </a:p>
          <a:p>
            <a:pPr algn="l">
              <a:lnSpc>
                <a:spcPts val="3583"/>
              </a:lnSpc>
            </a:pPr>
            <a:r>
              <a:rPr lang="en-US" b="true" sz="2986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              User</a:t>
            </a:r>
            <a:r>
              <a:rPr lang="en-US" sz="2986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:”Write a positive review”</a:t>
            </a:r>
          </a:p>
          <a:p>
            <a:pPr algn="l">
              <a:lnSpc>
                <a:spcPts val="3583"/>
              </a:lnSpc>
            </a:pPr>
            <a:r>
              <a:rPr lang="en-US" b="true" sz="2986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               AI</a:t>
            </a:r>
            <a:r>
              <a:rPr lang="en-US" sz="2986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:”Amazing experience!”</a:t>
            </a:r>
          </a:p>
          <a:p>
            <a:pPr algn="l">
              <a:lnSpc>
                <a:spcPts val="3583"/>
              </a:lnSpc>
            </a:pPr>
            <a:r>
              <a:rPr lang="en-US" b="true" sz="2986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              User</a:t>
            </a:r>
            <a:r>
              <a:rPr lang="en-US" sz="2986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:”Write another one.”</a:t>
            </a:r>
          </a:p>
          <a:p>
            <a:pPr algn="l">
              <a:lnSpc>
                <a:spcPts val="3583"/>
              </a:lnSpc>
            </a:pPr>
            <a:r>
              <a:rPr lang="en-US" b="true" sz="2986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Best For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Copying a style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Providing a format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 spc="-6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Pattern continuation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81657" y="0"/>
            <a:ext cx="4269905" cy="1109472"/>
            <a:chOff x="0" y="0"/>
            <a:chExt cx="5693207" cy="14792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93156" cy="1479296"/>
            </a:xfrm>
            <a:custGeom>
              <a:avLst/>
              <a:gdLst/>
              <a:ahLst/>
              <a:cxnLst/>
              <a:rect r="r" b="b" t="t" l="l"/>
              <a:pathLst>
                <a:path h="1479296" w="5693156">
                  <a:moveTo>
                    <a:pt x="0" y="0"/>
                  </a:moveTo>
                  <a:lnTo>
                    <a:pt x="5693156" y="0"/>
                  </a:lnTo>
                  <a:lnTo>
                    <a:pt x="5693156" y="1479296"/>
                  </a:lnTo>
                  <a:lnTo>
                    <a:pt x="0" y="1479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1" t="0" r="-372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8055" y="851706"/>
            <a:ext cx="4813811" cy="54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413" spc="-7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Role Based Prompts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6777" y="1805349"/>
            <a:ext cx="7452703" cy="357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assign a specific role to the AI so that its responses match a professional ,creative or expert tone.</a:t>
            </a: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</a:t>
            </a: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a doctor.Explain what fever is.”</a:t>
            </a:r>
          </a:p>
          <a:p>
            <a:pPr algn="l">
              <a:lnSpc>
                <a:spcPts val="3071"/>
              </a:lnSpc>
            </a:pP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Best For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Expert-style answers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Coaching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Teaching explanations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034364" y="0"/>
            <a:ext cx="3717207" cy="955719"/>
            <a:chOff x="0" y="0"/>
            <a:chExt cx="4956277" cy="12742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56302" cy="1274318"/>
            </a:xfrm>
            <a:custGeom>
              <a:avLst/>
              <a:gdLst/>
              <a:ahLst/>
              <a:cxnLst/>
              <a:rect r="r" b="b" t="t" l="l"/>
              <a:pathLst>
                <a:path h="1274318" w="4956302">
                  <a:moveTo>
                    <a:pt x="0" y="0"/>
                  </a:moveTo>
                  <a:lnTo>
                    <a:pt x="4956302" y="0"/>
                  </a:lnTo>
                  <a:lnTo>
                    <a:pt x="4956302" y="1274318"/>
                  </a:lnTo>
                  <a:lnTo>
                    <a:pt x="0" y="1274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7" r="0" b="-156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0636" y="995934"/>
            <a:ext cx="8269567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Multi-Turn Conversational Prompts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7767" y="2118274"/>
            <a:ext cx="8800595" cy="396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prompts develop over many messages.Each message adds more context,allowing the AI to respond more accurately.</a:t>
            </a:r>
          </a:p>
          <a:p>
            <a:pPr algn="l" marL="329454" indent="-164727" lvl="1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User: </a:t>
            </a: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“Help me learn programming”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AI:</a:t>
            </a: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”Sure! What do you want to learn first?”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Best For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learning sessions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Step-By-Step guidance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detailed understanding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43108" y="0"/>
            <a:ext cx="4008463" cy="955719"/>
            <a:chOff x="0" y="0"/>
            <a:chExt cx="5344617" cy="12742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44668" cy="1274318"/>
            </a:xfrm>
            <a:custGeom>
              <a:avLst/>
              <a:gdLst/>
              <a:ahLst/>
              <a:cxnLst/>
              <a:rect r="r" b="b" t="t" l="l"/>
              <a:pathLst>
                <a:path h="1274318" w="5344668">
                  <a:moveTo>
                    <a:pt x="0" y="0"/>
                  </a:moveTo>
                  <a:lnTo>
                    <a:pt x="5344668" y="0"/>
                  </a:lnTo>
                  <a:lnTo>
                    <a:pt x="5344668" y="1274318"/>
                  </a:lnTo>
                  <a:lnTo>
                    <a:pt x="0" y="1274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88" r="0" b="-4085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31392" y="688429"/>
            <a:ext cx="6472599" cy="5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Completion Prompt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417" y="1456525"/>
            <a:ext cx="7850972" cy="41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AI  completes   or continuous a given piece of 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327" y="1967227"/>
            <a:ext cx="3770033" cy="41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0189" y="2503046"/>
            <a:ext cx="8079905" cy="428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 is partial  text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continues in the same style or pattern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 for  prediction-based tasks</a:t>
            </a:r>
          </a:p>
          <a:p>
            <a:pPr algn="l" marL="274544" indent="-137272" lvl="1">
              <a:lnSpc>
                <a:spcPts val="2559"/>
              </a:lnSpc>
            </a:pP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Examples</a:t>
            </a:r>
          </a:p>
          <a:p>
            <a:pPr algn="l" marL="274544" indent="-137272" lvl="1">
              <a:lnSpc>
                <a:spcPts val="2559"/>
              </a:lnSpc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“Artificial Intelligence is transforming the world by....”</a:t>
            </a:r>
          </a:p>
          <a:p>
            <a:pPr algn="l" marL="274544" indent="-137272" lvl="1">
              <a:lnSpc>
                <a:spcPts val="2559"/>
              </a:lnSpc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“The benefits of renewable energy include....”</a:t>
            </a:r>
          </a:p>
          <a:p>
            <a:pPr algn="l" marL="274544" indent="-137272" lvl="1">
              <a:lnSpc>
                <a:spcPts val="2559"/>
              </a:lnSpc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“Once upon a time in a small village....”</a:t>
            </a:r>
          </a:p>
          <a:p>
            <a:pPr algn="l" marL="274544" indent="-137272" lvl="1">
              <a:lnSpc>
                <a:spcPts val="2559"/>
              </a:lnSpc>
            </a:pP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Cases: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Story writing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computation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prediction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481657" y="0"/>
            <a:ext cx="4269905" cy="1048512"/>
            <a:chOff x="0" y="0"/>
            <a:chExt cx="5693207" cy="13980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93156" cy="1398016"/>
            </a:xfrm>
            <a:custGeom>
              <a:avLst/>
              <a:gdLst/>
              <a:ahLst/>
              <a:cxnLst/>
              <a:rect r="r" b="b" t="t" l="l"/>
              <a:pathLst>
                <a:path h="1398016" w="5693156">
                  <a:moveTo>
                    <a:pt x="0" y="0"/>
                  </a:moveTo>
                  <a:lnTo>
                    <a:pt x="5693156" y="0"/>
                  </a:lnTo>
                  <a:lnTo>
                    <a:pt x="5693156" y="1398016"/>
                  </a:lnTo>
                  <a:lnTo>
                    <a:pt x="0" y="1398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16" r="0" b="-2517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9027" y="832656"/>
            <a:ext cx="3824221" cy="62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Chat  Prompt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493" y="1456525"/>
            <a:ext cx="8220113" cy="593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Prompts   Designed for conversational interaction with AI</a:t>
            </a:r>
          </a:p>
          <a:p>
            <a:pPr algn="l">
              <a:lnSpc>
                <a:spcPts val="3071"/>
              </a:lnSpc>
            </a:pP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KeyFeatures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and forth interaction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Context-aware responses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conversation flow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Examples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“Can you help me prepare for an interview?”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“What are the best programming languages to learn?”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“Explain the concept step by step”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Usecases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assistants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support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Learning</a:t>
            </a:r>
          </a:p>
          <a:p>
            <a:pPr algn="l" marL="329454" indent="-164727" lvl="1">
              <a:lnSpc>
                <a:spcPts val="307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650316" y="0"/>
            <a:ext cx="4101255" cy="1141305"/>
            <a:chOff x="0" y="0"/>
            <a:chExt cx="5468341" cy="15217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68366" cy="1521714"/>
            </a:xfrm>
            <a:custGeom>
              <a:avLst/>
              <a:gdLst/>
              <a:ahLst/>
              <a:cxnLst/>
              <a:rect r="r" b="b" t="t" l="l"/>
              <a:pathLst>
                <a:path h="1521714" w="5468366">
                  <a:moveTo>
                    <a:pt x="0" y="0"/>
                  </a:moveTo>
                  <a:lnTo>
                    <a:pt x="5468366" y="0"/>
                  </a:lnTo>
                  <a:lnTo>
                    <a:pt x="5468366" y="1521714"/>
                  </a:lnTo>
                  <a:lnTo>
                    <a:pt x="0" y="152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47" t="0" r="-3947" b="-1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3417" y="755437"/>
            <a:ext cx="8203863" cy="62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What are Tokens?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255" y="1542583"/>
            <a:ext cx="8436188" cy="395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AI  models do not read full sentences directly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They break the text into TOKENS 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Tokens can be: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Words -&gt; “AI”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Parts of Words-&gt;”under” + “stand”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Character or symbols</a:t>
            </a:r>
          </a:p>
          <a:p>
            <a:pPr algn="l" marL="329454" indent="-164727" lvl="1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 spc="-5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EXAMPLE : “AI is awesome!”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 spc="-5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becomes:[“AI”, “is”, “awesome”, “!”]</a:t>
            </a:r>
          </a:p>
          <a:p>
            <a:pPr algn="l" marL="329454" indent="-164727" lvl="1">
              <a:lnSpc>
                <a:spcPts val="307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957821" y="0"/>
            <a:ext cx="3793741" cy="863603"/>
            <a:chOff x="0" y="0"/>
            <a:chExt cx="5058321" cy="1151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58283" cy="1151509"/>
            </a:xfrm>
            <a:custGeom>
              <a:avLst/>
              <a:gdLst/>
              <a:ahLst/>
              <a:cxnLst/>
              <a:rect r="r" b="b" t="t" l="l"/>
              <a:pathLst>
                <a:path h="1151509" w="5058283">
                  <a:moveTo>
                    <a:pt x="0" y="0"/>
                  </a:moveTo>
                  <a:lnTo>
                    <a:pt x="5058283" y="0"/>
                  </a:lnTo>
                  <a:lnTo>
                    <a:pt x="5058283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650" r="0" b="-6647"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57123" y="995934"/>
            <a:ext cx="6079065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Tokens Matter?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232" y="1900171"/>
            <a:ext cx="6760464" cy="357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process input token by token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token is converted into a number (encoding)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Helps AI: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structure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Predict next word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Token limit = maximum input size(e.g., 4k,8k,32k         tokens)</a:t>
            </a:r>
          </a:p>
          <a:p>
            <a:pPr algn="l" marL="329454" indent="-164727" lvl="1">
              <a:lnSpc>
                <a:spcPts val="307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650316" y="0"/>
            <a:ext cx="4101255" cy="1002449"/>
            <a:chOff x="0" y="0"/>
            <a:chExt cx="5468341" cy="13365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68366" cy="1336548"/>
            </a:xfrm>
            <a:custGeom>
              <a:avLst/>
              <a:gdLst/>
              <a:ahLst/>
              <a:cxnLst/>
              <a:rect r="r" b="b" t="t" l="l"/>
              <a:pathLst>
                <a:path h="1336548" w="5468366">
                  <a:moveTo>
                    <a:pt x="0" y="0"/>
                  </a:moveTo>
                  <a:lnTo>
                    <a:pt x="5468366" y="0"/>
                  </a:lnTo>
                  <a:lnTo>
                    <a:pt x="5468366" y="1336548"/>
                  </a:lnTo>
                  <a:lnTo>
                    <a:pt x="0" y="1336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60" r="0" b="-2764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4684" y="995934"/>
            <a:ext cx="7881452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 are Token Limits?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835" y="1773555"/>
            <a:ext cx="8935383" cy="100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AI model has a maximum number of Tokens it can process at once. This limit includes both your input and the AI’s output.when the model must stop generating.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1217" y="2889085"/>
            <a:ext cx="4494781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Are Token Limits?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980" y="3672116"/>
            <a:ext cx="8353549" cy="100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AI model has a maximum number of tokens it can process at once. This limit includes both your input and the AI’s output.When the limit is reached,the model must stop generating.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5265" y="4961725"/>
            <a:ext cx="4023360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Limits Exist?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9664" y="5757586"/>
            <a:ext cx="8761981" cy="81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Tokens limits help the model maintain memory, prevent overloading,and ensure stable output for every request.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550751" y="0"/>
            <a:ext cx="4200820" cy="1048512"/>
            <a:chOff x="0" y="0"/>
            <a:chExt cx="5601094" cy="1398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01081" cy="1398016"/>
            </a:xfrm>
            <a:custGeom>
              <a:avLst/>
              <a:gdLst/>
              <a:ahLst/>
              <a:cxnLst/>
              <a:rect r="r" b="b" t="t" l="l"/>
              <a:pathLst>
                <a:path h="1398016" w="5601081">
                  <a:moveTo>
                    <a:pt x="0" y="0"/>
                  </a:moveTo>
                  <a:lnTo>
                    <a:pt x="5601081" y="0"/>
                  </a:lnTo>
                  <a:lnTo>
                    <a:pt x="5601081" y="1398016"/>
                  </a:lnTo>
                  <a:lnTo>
                    <a:pt x="0" y="1398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66" r="0" b="-1666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03361" y="842181"/>
            <a:ext cx="6101420" cy="5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Context?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1513" y="1505969"/>
            <a:ext cx="6082455" cy="41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= surrounding information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8055" y="2037674"/>
            <a:ext cx="5567677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5856" y="2538946"/>
            <a:ext cx="3570903" cy="67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words in sentence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Earlier conversation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8055" y="3223003"/>
            <a:ext cx="5722115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AI understand: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5561" y="3747935"/>
            <a:ext cx="3042580" cy="120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Meaning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Intent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6883" y="4882477"/>
            <a:ext cx="4722371" cy="199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Example: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Bank”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River bank(nature context)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bank(money context)  </a:t>
            </a:r>
          </a:p>
          <a:p>
            <a:pPr algn="l" marL="329454" indent="-164727" lvl="1">
              <a:lnSpc>
                <a:spcPts val="307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5865028" y="0"/>
            <a:ext cx="3886543" cy="1033615"/>
            <a:chOff x="0" y="0"/>
            <a:chExt cx="5182057" cy="13781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82108" cy="1378204"/>
            </a:xfrm>
            <a:custGeom>
              <a:avLst/>
              <a:gdLst/>
              <a:ahLst/>
              <a:cxnLst/>
              <a:rect r="r" b="b" t="t" l="l"/>
              <a:pathLst>
                <a:path h="1378204" w="5182108">
                  <a:moveTo>
                    <a:pt x="0" y="0"/>
                  </a:moveTo>
                  <a:lnTo>
                    <a:pt x="5182108" y="0"/>
                  </a:lnTo>
                  <a:lnTo>
                    <a:pt x="5182108" y="1378204"/>
                  </a:lnTo>
                  <a:lnTo>
                    <a:pt x="0" y="137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56" t="0" r="-1555" b="3"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62727" y="981037"/>
            <a:ext cx="4696625" cy="5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Window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207" y="1686811"/>
            <a:ext cx="8396221" cy="435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models have a context window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memory limit for tokens</a:t>
            </a:r>
          </a:p>
          <a:p>
            <a:pPr algn="l" marL="329454" indent="-164727" lvl="1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Includes: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prompt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conversation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output</a:t>
            </a:r>
          </a:p>
          <a:p>
            <a:pPr algn="l" marL="329454" indent="-164727" lvl="1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Keypoint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Context = Better Understanding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 much input = older info may be forgotten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880611" y="0"/>
            <a:ext cx="3870960" cy="1018032"/>
            <a:chOff x="0" y="0"/>
            <a:chExt cx="5161280" cy="1357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61280" cy="1357376"/>
            </a:xfrm>
            <a:custGeom>
              <a:avLst/>
              <a:gdLst/>
              <a:ahLst/>
              <a:cxnLst/>
              <a:rect r="r" b="b" t="t" l="l"/>
              <a:pathLst>
                <a:path h="1357376" w="5161280">
                  <a:moveTo>
                    <a:pt x="0" y="0"/>
                  </a:moveTo>
                  <a:lnTo>
                    <a:pt x="5161280" y="0"/>
                  </a:lnTo>
                  <a:lnTo>
                    <a:pt x="5161280" y="1357376"/>
                  </a:lnTo>
                  <a:lnTo>
                    <a:pt x="0" y="1357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83" t="0" r="-983" b="0"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7169" y="1232325"/>
            <a:ext cx="8223504" cy="97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  Developers   Use   Context Windows?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417" y="2301831"/>
            <a:ext cx="8270919" cy="212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To structure prompts efficiently.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To chunk large documents before sending.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To avoid overflowing the limit and losing important  info.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3059" y="4896698"/>
            <a:ext cx="7389028" cy="160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The bigger the context window the more the model can remember  in a single  conversation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1952" y="0"/>
            <a:ext cx="4039619" cy="1064771"/>
            <a:chOff x="0" y="0"/>
            <a:chExt cx="5386159" cy="14196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86197" cy="1419733"/>
            </a:xfrm>
            <a:custGeom>
              <a:avLst/>
              <a:gdLst/>
              <a:ahLst/>
              <a:cxnLst/>
              <a:rect r="r" b="b" t="t" l="l"/>
              <a:pathLst>
                <a:path h="1419733" w="5386197">
                  <a:moveTo>
                    <a:pt x="0" y="0"/>
                  </a:moveTo>
                  <a:lnTo>
                    <a:pt x="5386197" y="0"/>
                  </a:lnTo>
                  <a:lnTo>
                    <a:pt x="5386197" y="1419733"/>
                  </a:lnTo>
                  <a:lnTo>
                    <a:pt x="0" y="1419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97" t="0" r="-1096" b="2"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8055" y="995934"/>
            <a:ext cx="5995073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Good     Vs     Bad    Prompts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417" y="1552699"/>
            <a:ext cx="8089392" cy="120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quality of  AI depends  on the quality of the prompt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 and specific prompts produce better results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Vague prompts lead to unclear or irrelevant responses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513" y="2992717"/>
            <a:ext cx="5193792" cy="41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  is a Good Prompt?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3712" y="3467519"/>
            <a:ext cx="7507567" cy="357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prompt that is clear,specific,and well-structured</a:t>
            </a: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Features: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states the task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enough context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simple,and precise language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include format or constraints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</a:t>
            </a:r>
          </a:p>
          <a:p>
            <a:pPr algn="l" marL="329454" indent="-164727" lvl="1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“Explain machine learning in 5 bullet points with simple examples.”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81964" y="0"/>
            <a:ext cx="3869607" cy="1033615"/>
            <a:chOff x="0" y="0"/>
            <a:chExt cx="5159477" cy="13781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9502" cy="1378204"/>
            </a:xfrm>
            <a:custGeom>
              <a:avLst/>
              <a:gdLst/>
              <a:ahLst/>
              <a:cxnLst/>
              <a:rect r="r" b="b" t="t" l="l"/>
              <a:pathLst>
                <a:path h="1378204" w="5159502">
                  <a:moveTo>
                    <a:pt x="0" y="0"/>
                  </a:moveTo>
                  <a:lnTo>
                    <a:pt x="5159502" y="0"/>
                  </a:lnTo>
                  <a:lnTo>
                    <a:pt x="5159502" y="1378204"/>
                  </a:lnTo>
                  <a:lnTo>
                    <a:pt x="0" y="137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81" t="0" r="-1781" b="3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5561" y="764962"/>
            <a:ext cx="6158989" cy="41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Components of a Good prompt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8345" y="1379982"/>
            <a:ext cx="9183967" cy="166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4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    </a:t>
            </a:r>
            <a:r>
              <a:rPr lang="en-US" b="true" sz="1920" spc="-4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Roles in AI Prompting</a:t>
            </a:r>
          </a:p>
          <a:p>
            <a:pPr algn="l">
              <a:lnSpc>
                <a:spcPts val="2559"/>
              </a:lnSpc>
            </a:pP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 spc="-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AI  interaction’s, ‘roles’  define the  perspective or function assigned to the model.Roles guide how the model responds,ensuring that answers match the intended tone,expertise,or behaviour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7635" y="3161367"/>
            <a:ext cx="8591969" cy="284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Common Roles Used  in AI</a:t>
            </a:r>
          </a:p>
          <a:p>
            <a:pPr algn="l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Teacher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Programmer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Editor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Assistant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Expert/Analyst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62436" y="0"/>
            <a:ext cx="3289135" cy="974684"/>
            <a:chOff x="0" y="0"/>
            <a:chExt cx="4385513" cy="12995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5564" cy="1299591"/>
            </a:xfrm>
            <a:custGeom>
              <a:avLst/>
              <a:gdLst/>
              <a:ahLst/>
              <a:cxnLst/>
              <a:rect r="r" b="b" t="t" l="l"/>
              <a:pathLst>
                <a:path h="1299591" w="4385564">
                  <a:moveTo>
                    <a:pt x="0" y="0"/>
                  </a:moveTo>
                  <a:lnTo>
                    <a:pt x="4385564" y="0"/>
                  </a:lnTo>
                  <a:lnTo>
                    <a:pt x="4385564" y="1299591"/>
                  </a:lnTo>
                  <a:lnTo>
                    <a:pt x="0" y="1299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447" t="0" r="-7445" b="0"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7465" y="1226229"/>
            <a:ext cx="8264147" cy="5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Teacher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265683" y="1822028"/>
            <a:ext cx="4224528" cy="3503847"/>
            <a:chOff x="0" y="0"/>
            <a:chExt cx="5632704" cy="4671797"/>
          </a:xfrm>
        </p:grpSpPr>
        <p:sp>
          <p:nvSpPr>
            <p:cNvPr name="Freeform 9" id="9" descr="ChatGPT Image Apr 20, 2026, 10_20_36 AM"/>
            <p:cNvSpPr/>
            <p:nvPr/>
          </p:nvSpPr>
          <p:spPr>
            <a:xfrm flipH="false" flipV="false" rot="0">
              <a:off x="0" y="0"/>
              <a:ext cx="5632704" cy="4671822"/>
            </a:xfrm>
            <a:custGeom>
              <a:avLst/>
              <a:gdLst/>
              <a:ahLst/>
              <a:cxnLst/>
              <a:rect r="r" b="b" t="t" l="l"/>
              <a:pathLst>
                <a:path h="4671822" w="5632704">
                  <a:moveTo>
                    <a:pt x="0" y="0"/>
                  </a:moveTo>
                  <a:lnTo>
                    <a:pt x="5632704" y="0"/>
                  </a:lnTo>
                  <a:lnTo>
                    <a:pt x="5632704" y="4671822"/>
                  </a:lnTo>
                  <a:lnTo>
                    <a:pt x="0" y="467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284" r="0" b="-1028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89959" y="5352545"/>
            <a:ext cx="8824303" cy="55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Explains concepts clearly and educates the user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80836" y="1279055"/>
            <a:ext cx="8631936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 spc="-4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</a:t>
            </a:r>
            <a:r>
              <a:rPr lang="en-US" b="true" sz="1920" spc="-4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Programmer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56560" y="2005584"/>
            <a:ext cx="3304032" cy="3304032"/>
            <a:chOff x="0" y="0"/>
            <a:chExt cx="4405376" cy="4405376"/>
          </a:xfrm>
        </p:grpSpPr>
        <p:sp>
          <p:nvSpPr>
            <p:cNvPr name="Freeform 9" id="9" descr="ChatGPT Image Apr 20, 2026, 10_25_30 AM"/>
            <p:cNvSpPr/>
            <p:nvPr/>
          </p:nvSpPr>
          <p:spPr>
            <a:xfrm flipH="false" flipV="false" rot="0">
              <a:off x="0" y="0"/>
              <a:ext cx="4405376" cy="4405376"/>
            </a:xfrm>
            <a:custGeom>
              <a:avLst/>
              <a:gdLst/>
              <a:ahLst/>
              <a:cxnLst/>
              <a:rect r="r" b="b" t="t" l="l"/>
              <a:pathLst>
                <a:path h="4405376" w="4405376">
                  <a:moveTo>
                    <a:pt x="0" y="0"/>
                  </a:moveTo>
                  <a:lnTo>
                    <a:pt x="4405376" y="0"/>
                  </a:lnTo>
                  <a:lnTo>
                    <a:pt x="4405376" y="4405376"/>
                  </a:lnTo>
                  <a:lnTo>
                    <a:pt x="0" y="4405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90636" y="5283451"/>
            <a:ext cx="8506625" cy="140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Provides coding solutions or explains technical topics</a:t>
            </a:r>
          </a:p>
          <a:p>
            <a:pPr algn="l">
              <a:lnSpc>
                <a:spcPts val="3583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5449148" y="0"/>
            <a:ext cx="4302423" cy="1093889"/>
            <a:chOff x="0" y="0"/>
            <a:chExt cx="5736565" cy="1458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36590" cy="1458468"/>
            </a:xfrm>
            <a:custGeom>
              <a:avLst/>
              <a:gdLst/>
              <a:ahLst/>
              <a:cxnLst/>
              <a:rect r="r" b="b" t="t" l="l"/>
              <a:pathLst>
                <a:path h="1458468" w="5736590">
                  <a:moveTo>
                    <a:pt x="0" y="0"/>
                  </a:moveTo>
                  <a:lnTo>
                    <a:pt x="5736590" y="0"/>
                  </a:lnTo>
                  <a:lnTo>
                    <a:pt x="5736590" y="1458468"/>
                  </a:lnTo>
                  <a:lnTo>
                    <a:pt x="0" y="1458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21" r="0" b="-725"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8157" y="1031834"/>
            <a:ext cx="4072804" cy="61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Editor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80959" y="1627632"/>
            <a:ext cx="3394119" cy="3394119"/>
            <a:chOff x="0" y="0"/>
            <a:chExt cx="4525493" cy="4525493"/>
          </a:xfrm>
        </p:grpSpPr>
        <p:sp>
          <p:nvSpPr>
            <p:cNvPr name="Freeform 9" id="9" descr="ChatGPT Image Apr 20, 2026, 10_34_16 AM"/>
            <p:cNvSpPr/>
            <p:nvPr/>
          </p:nvSpPr>
          <p:spPr>
            <a:xfrm flipH="false" flipV="false" rot="0">
              <a:off x="0" y="0"/>
              <a:ext cx="4525518" cy="4525518"/>
            </a:xfrm>
            <a:custGeom>
              <a:avLst/>
              <a:gdLst/>
              <a:ahLst/>
              <a:cxnLst/>
              <a:rect r="r" b="b" t="t" l="l"/>
              <a:pathLst>
                <a:path h="4525518" w="4525518">
                  <a:moveTo>
                    <a:pt x="0" y="0"/>
                  </a:moveTo>
                  <a:lnTo>
                    <a:pt x="4525518" y="0"/>
                  </a:lnTo>
                  <a:lnTo>
                    <a:pt x="4525518" y="4525518"/>
                  </a:lnTo>
                  <a:lnTo>
                    <a:pt x="0" y="4525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66252" y="5045031"/>
            <a:ext cx="8766724" cy="94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Suggests improvements,corrects grammar,and enhances clarity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434241" y="0"/>
            <a:ext cx="4317321" cy="1125731"/>
            <a:chOff x="0" y="0"/>
            <a:chExt cx="5756427" cy="1500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56402" cy="1501013"/>
            </a:xfrm>
            <a:custGeom>
              <a:avLst/>
              <a:gdLst/>
              <a:ahLst/>
              <a:cxnLst/>
              <a:rect r="r" b="b" t="t" l="l"/>
              <a:pathLst>
                <a:path h="1501013" w="5756402">
                  <a:moveTo>
                    <a:pt x="0" y="0"/>
                  </a:moveTo>
                  <a:lnTo>
                    <a:pt x="5756402" y="0"/>
                  </a:lnTo>
                  <a:lnTo>
                    <a:pt x="5756402" y="1501013"/>
                  </a:lnTo>
                  <a:lnTo>
                    <a:pt x="0" y="1501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48" t="0" r="-548" b="2"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7255" y="1124626"/>
            <a:ext cx="3667763" cy="68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42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426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Assistant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85815" y="1968332"/>
            <a:ext cx="3462528" cy="2958589"/>
            <a:chOff x="0" y="0"/>
            <a:chExt cx="4616704" cy="3944785"/>
          </a:xfrm>
        </p:grpSpPr>
        <p:sp>
          <p:nvSpPr>
            <p:cNvPr name="Freeform 9" id="9" descr="ChatGPT Image Apr 20, 2026, 10_39_40 AM"/>
            <p:cNvSpPr/>
            <p:nvPr/>
          </p:nvSpPr>
          <p:spPr>
            <a:xfrm flipH="false" flipV="false" rot="0">
              <a:off x="0" y="0"/>
              <a:ext cx="4616704" cy="3944747"/>
            </a:xfrm>
            <a:custGeom>
              <a:avLst/>
              <a:gdLst/>
              <a:ahLst/>
              <a:cxnLst/>
              <a:rect r="r" b="b" t="t" l="l"/>
              <a:pathLst>
                <a:path h="3944747" w="4616704">
                  <a:moveTo>
                    <a:pt x="0" y="0"/>
                  </a:moveTo>
                  <a:lnTo>
                    <a:pt x="4616704" y="0"/>
                  </a:lnTo>
                  <a:lnTo>
                    <a:pt x="4616704" y="3944747"/>
                  </a:lnTo>
                  <a:lnTo>
                    <a:pt x="0" y="3944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516" r="0" b="-851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5757" y="4849959"/>
            <a:ext cx="7092353" cy="94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Gives practical Advice, reminders,or procedural help.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526367" y="0"/>
            <a:ext cx="4225204" cy="1097280"/>
            <a:chOff x="0" y="0"/>
            <a:chExt cx="5633606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33593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33593">
                  <a:moveTo>
                    <a:pt x="0" y="0"/>
                  </a:moveTo>
                  <a:lnTo>
                    <a:pt x="5633593" y="0"/>
                  </a:lnTo>
                  <a:lnTo>
                    <a:pt x="5633593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5" t="0" r="-345" b="0"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28857" y="1176738"/>
            <a:ext cx="4884249" cy="62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Expert/Analyst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80959" y="1814579"/>
            <a:ext cx="3623729" cy="3623729"/>
            <a:chOff x="0" y="0"/>
            <a:chExt cx="4831639" cy="4831639"/>
          </a:xfrm>
        </p:grpSpPr>
        <p:sp>
          <p:nvSpPr>
            <p:cNvPr name="Freeform 9" id="9" descr="ChatGPT Image Apr 20, 2026, 10_44_44 AM"/>
            <p:cNvSpPr/>
            <p:nvPr/>
          </p:nvSpPr>
          <p:spPr>
            <a:xfrm flipH="false" flipV="false" rot="0">
              <a:off x="0" y="0"/>
              <a:ext cx="4831588" cy="4831588"/>
            </a:xfrm>
            <a:custGeom>
              <a:avLst/>
              <a:gdLst/>
              <a:ahLst/>
              <a:cxnLst/>
              <a:rect r="r" b="b" t="t" l="l"/>
              <a:pathLst>
                <a:path h="4831588" w="4831588">
                  <a:moveTo>
                    <a:pt x="0" y="0"/>
                  </a:moveTo>
                  <a:lnTo>
                    <a:pt x="4831588" y="0"/>
                  </a:lnTo>
                  <a:lnTo>
                    <a:pt x="4831588" y="4831588"/>
                  </a:lnTo>
                  <a:lnTo>
                    <a:pt x="0" y="4831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10768" y="5238074"/>
            <a:ext cx="7807623" cy="94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Provides deep reasoning, insights,and professional-level answers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510784" y="0"/>
            <a:ext cx="4240787" cy="1125731"/>
            <a:chOff x="0" y="0"/>
            <a:chExt cx="5654383" cy="1500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54421" cy="1501013"/>
            </a:xfrm>
            <a:custGeom>
              <a:avLst/>
              <a:gdLst/>
              <a:ahLst/>
              <a:cxnLst/>
              <a:rect r="r" b="b" t="t" l="l"/>
              <a:pathLst>
                <a:path h="1501013" w="5654421">
                  <a:moveTo>
                    <a:pt x="0" y="0"/>
                  </a:moveTo>
                  <a:lnTo>
                    <a:pt x="5654421" y="0"/>
                  </a:lnTo>
                  <a:lnTo>
                    <a:pt x="5654421" y="1501013"/>
                  </a:lnTo>
                  <a:lnTo>
                    <a:pt x="0" y="1501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60" t="0" r="-1459" b="2"/>
              </a:stretch>
            </a:blipFill>
          </p:spPr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2583" y="1124626"/>
            <a:ext cx="5163312" cy="48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of Role Assignment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7396" y="1936747"/>
            <a:ext cx="8044691" cy="324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Prompt</a:t>
            </a: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‘Act as a math teacher and explain Pythagoras theorem with an example’</a:t>
            </a:r>
          </a:p>
          <a:p>
            <a:pPr algn="l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model will respond in a teaching role,simplifying the explanantion and providing an illustrative example.</a:t>
            </a:r>
          </a:p>
          <a:p>
            <a:pPr algn="l" marL="329454" indent="-164727" lvl="1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Note: Assigning roles helps the model align with the intended style, depth,and expertise level for the task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43969" y="0"/>
            <a:ext cx="4207593" cy="1141305"/>
            <a:chOff x="0" y="0"/>
            <a:chExt cx="5610123" cy="15217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0098" cy="1521714"/>
            </a:xfrm>
            <a:custGeom>
              <a:avLst/>
              <a:gdLst/>
              <a:ahLst/>
              <a:cxnLst/>
              <a:rect r="r" b="b" t="t" l="l"/>
              <a:pathLst>
                <a:path h="1521714" w="5610098">
                  <a:moveTo>
                    <a:pt x="0" y="0"/>
                  </a:moveTo>
                  <a:lnTo>
                    <a:pt x="5610098" y="0"/>
                  </a:lnTo>
                  <a:lnTo>
                    <a:pt x="5610098" y="1521714"/>
                  </a:lnTo>
                  <a:lnTo>
                    <a:pt x="0" y="152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84" t="0" r="-2584" b="-1"/>
              </a:stretch>
            </a:blipFill>
          </p:spPr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9664" y="995934"/>
            <a:ext cx="8691543" cy="21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Objectives of Prompting</a:t>
            </a:r>
          </a:p>
          <a:p>
            <a:pPr algn="l">
              <a:lnSpc>
                <a:spcPts val="3071"/>
              </a:lnSpc>
            </a:pP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define the purpose or goal you want the AI to achieve.clearly stating objectives helps the model to provide precise,relevant and effective responses.</a:t>
            </a:r>
          </a:p>
          <a:p>
            <a:pPr algn="l" marL="329454" indent="-164727" lvl="1">
              <a:lnSpc>
                <a:spcPts val="307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97465" y="3376765"/>
            <a:ext cx="7440511" cy="2782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Common objectives in prompts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Accuracy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Clarity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Creativity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Efficiency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804068" y="0"/>
            <a:ext cx="3947503" cy="1048512"/>
            <a:chOff x="0" y="0"/>
            <a:chExt cx="5263337" cy="1398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63388" cy="1398016"/>
            </a:xfrm>
            <a:custGeom>
              <a:avLst/>
              <a:gdLst/>
              <a:ahLst/>
              <a:cxnLst/>
              <a:rect r="r" b="b" t="t" l="l"/>
              <a:pathLst>
                <a:path h="1398016" w="5263388">
                  <a:moveTo>
                    <a:pt x="0" y="0"/>
                  </a:moveTo>
                  <a:lnTo>
                    <a:pt x="5263388" y="0"/>
                  </a:lnTo>
                  <a:lnTo>
                    <a:pt x="5263388" y="1398016"/>
                  </a:lnTo>
                  <a:lnTo>
                    <a:pt x="0" y="1398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91" t="0" r="-1490" b="0"/>
              </a:stretch>
            </a:blipFill>
          </p:spPr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4007" y="1072477"/>
            <a:ext cx="8201825" cy="370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Examples of Objectives in Action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Prompt</a:t>
            </a: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:’Summarize the article  about climate change in 3 key points.’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:Provide a concise,accurate ,and clear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4823" y="5219786"/>
            <a:ext cx="8689505" cy="94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</a:t>
            </a: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:Always define your objective before crafting prompt to get focused and relevant responses.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12628" y="0"/>
            <a:ext cx="4038943" cy="1002449"/>
            <a:chOff x="0" y="0"/>
            <a:chExt cx="5385257" cy="13365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85308" cy="1336548"/>
            </a:xfrm>
            <a:custGeom>
              <a:avLst/>
              <a:gdLst/>
              <a:ahLst/>
              <a:cxnLst/>
              <a:rect r="r" b="b" t="t" l="l"/>
              <a:pathLst>
                <a:path h="1336548" w="5385308">
                  <a:moveTo>
                    <a:pt x="0" y="0"/>
                  </a:moveTo>
                  <a:lnTo>
                    <a:pt x="5385308" y="0"/>
                  </a:lnTo>
                  <a:lnTo>
                    <a:pt x="5385308" y="1336548"/>
                  </a:lnTo>
                  <a:lnTo>
                    <a:pt x="0" y="1336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8" r="0" b="-1963"/>
              </a:stretch>
            </a:blipFill>
          </p:spPr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1452" y="1072477"/>
            <a:ext cx="8912352" cy="225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426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Constraints in  Prompting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Constraints are rules or limits applied to a prompt to guide the AI in producing outputs that fit specific reuirements They ensure responses stay within desired boundaries </a:t>
            </a:r>
          </a:p>
          <a:p>
            <a:pPr algn="l" marL="329454" indent="-164727" lvl="1">
              <a:lnSpc>
                <a:spcPts val="307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4781" y="3113322"/>
            <a:ext cx="7041556" cy="323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b="true" sz="2986" spc="-6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Common Types of Constraints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 spc="-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Length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 spc="-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Style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 spc="-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Format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 spc="-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Specific  Instructions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b="true" sz="2986" spc="-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 or scope</a:t>
            </a:r>
          </a:p>
          <a:p>
            <a:pPr algn="l" marL="384363" indent="-192181" lvl="1">
              <a:lnSpc>
                <a:spcPts val="358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558199" y="0"/>
            <a:ext cx="4193372" cy="1141305"/>
            <a:chOff x="0" y="0"/>
            <a:chExt cx="5591162" cy="15217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91175" cy="1521714"/>
            </a:xfrm>
            <a:custGeom>
              <a:avLst/>
              <a:gdLst/>
              <a:ahLst/>
              <a:cxnLst/>
              <a:rect r="r" b="b" t="t" l="l"/>
              <a:pathLst>
                <a:path h="1521714" w="5591175">
                  <a:moveTo>
                    <a:pt x="0" y="0"/>
                  </a:moveTo>
                  <a:lnTo>
                    <a:pt x="5591175" y="0"/>
                  </a:lnTo>
                  <a:lnTo>
                    <a:pt x="5591175" y="1521714"/>
                  </a:lnTo>
                  <a:lnTo>
                    <a:pt x="0" y="152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62" t="0" r="-2762" b="-1"/>
              </a:stretch>
            </a:blipFill>
          </p:spPr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4691" y="1130008"/>
            <a:ext cx="8910999" cy="587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Example  of Constraints</a:t>
            </a:r>
          </a:p>
          <a:p>
            <a:pPr algn="l">
              <a:lnSpc>
                <a:spcPts val="4608"/>
              </a:lnSpc>
            </a:pPr>
          </a:p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Prompt:</a:t>
            </a: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’Write a 5 line summary of the article in formal tone’</a:t>
            </a:r>
          </a:p>
          <a:p>
            <a:pPr algn="l">
              <a:lnSpc>
                <a:spcPts val="4608"/>
              </a:lnSpc>
            </a:pPr>
          </a:p>
          <a:p>
            <a:pPr algn="l">
              <a:lnSpc>
                <a:spcPts val="4608"/>
              </a:lnSpc>
            </a:pPr>
            <a:r>
              <a:rPr lang="en-US" sz="384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Constraints</a:t>
            </a:r>
            <a:r>
              <a:rPr lang="en-US" sz="38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:’Only 5 Lines ,format style,concise and informative</a:t>
            </a:r>
          </a:p>
          <a:p>
            <a:pPr algn="l">
              <a:lnSpc>
                <a:spcPts val="4608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Note:</a:t>
            </a: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define constarints to prevent ambiguos,irrelevant,or overly verbose AI outputs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497239" y="0"/>
            <a:ext cx="4254332" cy="1093889"/>
            <a:chOff x="0" y="0"/>
            <a:chExt cx="5672442" cy="1458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72455" cy="1458468"/>
            </a:xfrm>
            <a:custGeom>
              <a:avLst/>
              <a:gdLst/>
              <a:ahLst/>
              <a:cxnLst/>
              <a:rect r="r" b="b" t="t" l="l"/>
              <a:pathLst>
                <a:path h="1458468" w="5672455">
                  <a:moveTo>
                    <a:pt x="0" y="0"/>
                  </a:moveTo>
                  <a:lnTo>
                    <a:pt x="5672455" y="0"/>
                  </a:lnTo>
                  <a:lnTo>
                    <a:pt x="5672455" y="1458468"/>
                  </a:lnTo>
                  <a:lnTo>
                    <a:pt x="0" y="1458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4" r="0" b="-158"/>
              </a:stretch>
            </a:blipFill>
          </p:spPr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5443" y="1109053"/>
            <a:ext cx="8994305" cy="573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Example of Effective Prompts</a:t>
            </a:r>
          </a:p>
          <a:p>
            <a:pPr algn="l">
              <a:lnSpc>
                <a:spcPts val="2559"/>
              </a:lnSpc>
            </a:pP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illustrate how prompts,constraints,and instructions work together to guide AI output.They help understand what a well-structured prompt look like in practice</a:t>
            </a:r>
          </a:p>
          <a:p>
            <a:pPr algn="l" marL="274544" indent="-137272" lvl="1">
              <a:lnSpc>
                <a:spcPts val="2559"/>
              </a:lnSpc>
            </a:pP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1: Simple Question</a:t>
            </a: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Prompt:</a:t>
            </a: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’What is the capital of France?’</a:t>
            </a: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Response</a:t>
            </a: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:’The capital of France is paris’</a:t>
            </a:r>
          </a:p>
          <a:p>
            <a:pPr algn="l" marL="274544" indent="-137272" lvl="1">
              <a:lnSpc>
                <a:spcPts val="2559"/>
              </a:lnSpc>
            </a:pP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2:Structured Output</a:t>
            </a: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Prompt:</a:t>
            </a: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’List 3 benefits of exercise in bullet points’</a:t>
            </a: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Response</a:t>
            </a: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physical health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Boosts mental wellbeing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energy and stamina</a:t>
            </a:r>
          </a:p>
          <a:p>
            <a:pPr algn="l" marL="274544" indent="-137272" lvl="1">
              <a:lnSpc>
                <a:spcPts val="255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451177" y="0"/>
            <a:ext cx="4300385" cy="1081697"/>
            <a:chOff x="0" y="0"/>
            <a:chExt cx="5733847" cy="1442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33796" cy="1442212"/>
            </a:xfrm>
            <a:custGeom>
              <a:avLst/>
              <a:gdLst/>
              <a:ahLst/>
              <a:cxnLst/>
              <a:rect r="r" b="b" t="t" l="l"/>
              <a:pathLst>
                <a:path h="1442212" w="5733796">
                  <a:moveTo>
                    <a:pt x="0" y="0"/>
                  </a:moveTo>
                  <a:lnTo>
                    <a:pt x="5733796" y="0"/>
                  </a:lnTo>
                  <a:lnTo>
                    <a:pt x="5733796" y="1442212"/>
                  </a:lnTo>
                  <a:lnTo>
                    <a:pt x="0" y="1442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68" r="0" b="-1272"/>
              </a:stretch>
            </a:blipFill>
          </p:spPr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5639" y="904494"/>
            <a:ext cx="9267273" cy="645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Instructions  &amp; Expected Outputs</a:t>
            </a: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Instructions guide the AI on’how’ to perform a task.Expected outputs specify the format tone, or structure the AI should follow.</a:t>
            </a:r>
          </a:p>
          <a:p>
            <a:pPr algn="l" marL="384363" indent="-192181" lvl="1">
              <a:lnSpc>
                <a:spcPts val="3583"/>
              </a:lnSpc>
            </a:pPr>
          </a:p>
          <a:p>
            <a:pPr algn="l" marL="384363" indent="-192181" lvl="1">
              <a:lnSpc>
                <a:spcPts val="3583"/>
              </a:lnSpc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1</a:t>
            </a:r>
          </a:p>
          <a:p>
            <a:pPr algn="l" marL="384363" indent="-192181" lvl="1">
              <a:lnSpc>
                <a:spcPts val="3583"/>
              </a:lnSpc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Instruction:</a:t>
            </a: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’Summarize the following paragraph in 2 sentences.’</a:t>
            </a:r>
          </a:p>
          <a:p>
            <a:pPr algn="l" marL="384363" indent="-192181" lvl="1">
              <a:lnSpc>
                <a:spcPts val="3583"/>
              </a:lnSpc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output:</a:t>
            </a: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concise summary with exactly 2 sentences</a:t>
            </a:r>
          </a:p>
          <a:p>
            <a:pPr algn="l" marL="384363" indent="-192181" lvl="1">
              <a:lnSpc>
                <a:spcPts val="3583"/>
              </a:lnSpc>
            </a:pPr>
            <a:r>
              <a:rPr lang="en-US" b="true" sz="298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</a:t>
            </a: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:Clear instructions+ clearly defined outputs = more  accurate AI response</a:t>
            </a:r>
          </a:p>
          <a:p>
            <a:pPr algn="l" marL="384363" indent="-192181" lvl="1">
              <a:lnSpc>
                <a:spcPts val="3583"/>
              </a:lnSpc>
            </a:pPr>
          </a:p>
          <a:p>
            <a:pPr algn="l" marL="384363" indent="-192181" lvl="1">
              <a:lnSpc>
                <a:spcPts val="3583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942247" y="0"/>
            <a:ext cx="3809324" cy="987552"/>
            <a:chOff x="0" y="0"/>
            <a:chExt cx="5079098" cy="1316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79111" cy="1316736"/>
            </a:xfrm>
            <a:custGeom>
              <a:avLst/>
              <a:gdLst/>
              <a:ahLst/>
              <a:cxnLst/>
              <a:rect r="r" b="b" t="t" l="l"/>
              <a:pathLst>
                <a:path h="1316736" w="5079111">
                  <a:moveTo>
                    <a:pt x="0" y="0"/>
                  </a:moveTo>
                  <a:lnTo>
                    <a:pt x="5079111" y="0"/>
                  </a:lnTo>
                  <a:lnTo>
                    <a:pt x="5079111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7" t="0" r="-257" b="0"/>
              </a:stretch>
            </a:blipFill>
          </p:spPr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5360" y="939041"/>
            <a:ext cx="7731757" cy="554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426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Bad Prompt(Unclear &amp; Vague)</a:t>
            </a:r>
          </a:p>
          <a:p>
            <a:pPr algn="l" marL="549090" indent="-274545" lvl="1">
              <a:lnSpc>
                <a:spcPts val="5120"/>
              </a:lnSpc>
              <a:buFont typeface="Arial"/>
              <a:buChar char="•"/>
            </a:pPr>
            <a:r>
              <a:rPr lang="en-US" sz="42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Lacks clear instructions</a:t>
            </a:r>
          </a:p>
          <a:p>
            <a:pPr algn="l" marL="549090" indent="-274545" lvl="1">
              <a:lnSpc>
                <a:spcPts val="5120"/>
              </a:lnSpc>
              <a:buFont typeface="Arial"/>
              <a:buChar char="•"/>
            </a:pPr>
            <a:r>
              <a:rPr lang="en-US" sz="42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context or purpose</a:t>
            </a:r>
          </a:p>
          <a:p>
            <a:pPr algn="l" marL="549090" indent="-274545" lvl="1">
              <a:lnSpc>
                <a:spcPts val="5120"/>
              </a:lnSpc>
              <a:buFont typeface="Arial"/>
              <a:buChar char="•"/>
            </a:pPr>
            <a:r>
              <a:rPr lang="en-US" sz="42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 broad or generic</a:t>
            </a:r>
          </a:p>
          <a:p>
            <a:pPr algn="l" marL="549090" indent="-274545" lvl="1">
              <a:lnSpc>
                <a:spcPts val="5120"/>
              </a:lnSpc>
              <a:buFont typeface="Arial"/>
              <a:buChar char="•"/>
            </a:pPr>
            <a:r>
              <a:rPr lang="en-US" sz="42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defined output format</a:t>
            </a:r>
          </a:p>
          <a:p>
            <a:pPr algn="l" marL="549090" indent="-274545" lvl="1">
              <a:lnSpc>
                <a:spcPts val="5120"/>
              </a:lnSpc>
            </a:pPr>
            <a:r>
              <a:rPr lang="en-US" b="true" sz="426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</a:t>
            </a:r>
            <a:r>
              <a:rPr lang="en-US" sz="42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 marL="439272" indent="-219636" lvl="1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“Explain AI.”</a:t>
            </a:r>
          </a:p>
          <a:p>
            <a:pPr algn="l" marL="439272" indent="-219636" lvl="1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type of explanation?Level?Use case</a:t>
            </a:r>
          </a:p>
          <a:p>
            <a:pPr algn="l" marL="549090" indent="-274545" lvl="1">
              <a:lnSpc>
                <a:spcPts val="512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756653" y="0"/>
            <a:ext cx="3994909" cy="987552"/>
            <a:chOff x="0" y="0"/>
            <a:chExt cx="5326545" cy="1316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26507" cy="1316736"/>
            </a:xfrm>
            <a:custGeom>
              <a:avLst/>
              <a:gdLst/>
              <a:ahLst/>
              <a:cxnLst/>
              <a:rect r="r" b="b" t="t" l="l"/>
              <a:pathLst>
                <a:path h="1316736" w="5326507">
                  <a:moveTo>
                    <a:pt x="0" y="0"/>
                  </a:moveTo>
                  <a:lnTo>
                    <a:pt x="5326507" y="0"/>
                  </a:lnTo>
                  <a:lnTo>
                    <a:pt x="5326507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67" r="0" b="-2167"/>
              </a:stretch>
            </a:blipFill>
          </p:spPr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1607" y="985095"/>
            <a:ext cx="7823873" cy="540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426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Good Prompt(Clear &amp; Specific)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states the task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context and details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expected output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precise language</a:t>
            </a:r>
          </a:p>
          <a:p>
            <a:pPr algn="l" marL="439272" indent="-219636" lvl="1">
              <a:lnSpc>
                <a:spcPts val="4095"/>
              </a:lnSpc>
            </a:pPr>
            <a:r>
              <a:rPr lang="en-US" b="true" sz="34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“Explain Artificial Intelligence in 5 bullet points for beginners ,including real-life examples”</a:t>
            </a:r>
          </a:p>
          <a:p>
            <a:pPr algn="l" marL="439272" indent="-219636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Clear+Specific+Structured content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43108" y="0"/>
            <a:ext cx="4008463" cy="1048512"/>
            <a:chOff x="0" y="0"/>
            <a:chExt cx="5344617" cy="139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44668" cy="1398016"/>
            </a:xfrm>
            <a:custGeom>
              <a:avLst/>
              <a:gdLst/>
              <a:ahLst/>
              <a:cxnLst/>
              <a:rect r="r" b="b" t="t" l="l"/>
              <a:pathLst>
                <a:path h="1398016" w="5344668">
                  <a:moveTo>
                    <a:pt x="0" y="0"/>
                  </a:moveTo>
                  <a:lnTo>
                    <a:pt x="5344668" y="0"/>
                  </a:lnTo>
                  <a:lnTo>
                    <a:pt x="5344668" y="1398016"/>
                  </a:lnTo>
                  <a:lnTo>
                    <a:pt x="0" y="1398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08" t="0" r="-707" b="0"/>
              </a:stretch>
            </a:blipFill>
          </p:spPr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7465" y="995934"/>
            <a:ext cx="7496727" cy="370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Prompt  Improvement - From Weak to Strong</a:t>
            </a:r>
          </a:p>
          <a:p>
            <a:pPr algn="l">
              <a:lnSpc>
                <a:spcPts val="3583"/>
              </a:lnSpc>
            </a:pPr>
          </a:p>
          <a:p>
            <a:pPr algn="l">
              <a:lnSpc>
                <a:spcPts val="3583"/>
              </a:lnSpc>
            </a:pP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weak prompt is vague,unclear,and lacks direction</a:t>
            </a:r>
          </a:p>
          <a:p>
            <a:pPr algn="l" marL="384363" indent="-192181" lvl="1">
              <a:lnSpc>
                <a:spcPts val="3583"/>
              </a:lnSpc>
            </a:pPr>
          </a:p>
          <a:p>
            <a:pPr algn="l" marL="384363" indent="-19218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Strong prompt is clear,specific and gives enough detail for accurate output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680119" y="0"/>
            <a:ext cx="4071452" cy="1003135"/>
            <a:chOff x="0" y="0"/>
            <a:chExt cx="5428602" cy="13375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28615" cy="1337564"/>
            </a:xfrm>
            <a:custGeom>
              <a:avLst/>
              <a:gdLst/>
              <a:ahLst/>
              <a:cxnLst/>
              <a:rect r="r" b="b" t="t" l="l"/>
              <a:pathLst>
                <a:path h="1337564" w="5428615">
                  <a:moveTo>
                    <a:pt x="0" y="0"/>
                  </a:moveTo>
                  <a:lnTo>
                    <a:pt x="5428615" y="0"/>
                  </a:lnTo>
                  <a:lnTo>
                    <a:pt x="5428615" y="1337564"/>
                  </a:lnTo>
                  <a:lnTo>
                    <a:pt x="0" y="133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41" r="0" b="-2336"/>
              </a:stretch>
            </a:blipFill>
          </p:spPr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0035" y="995934"/>
            <a:ext cx="8888644" cy="422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426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Steps  to Follow</a:t>
            </a:r>
          </a:p>
          <a:p>
            <a:pPr algn="l" marL="329454" indent="-164727" lvl="1">
              <a:lnSpc>
                <a:spcPts val="3071"/>
              </a:lnSpc>
              <a:buAutoNum type="arabicPeriod" startAt="1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the given weak prompt</a:t>
            </a:r>
          </a:p>
          <a:p>
            <a:pPr algn="l" marL="329454" indent="-164727" lvl="1">
              <a:lnSpc>
                <a:spcPts val="3071"/>
              </a:lnSpc>
              <a:buAutoNum type="arabicPeriod" startAt="1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what is missing (context,audience,format,length,purpose)</a:t>
            </a:r>
          </a:p>
          <a:p>
            <a:pPr algn="l" marL="329454" indent="-164727" lvl="1">
              <a:lnSpc>
                <a:spcPts val="3071"/>
              </a:lnSpc>
              <a:buAutoNum type="arabicPeriod" startAt="1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Rewrite the prompt by adding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clear task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Target audience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Output format(points,paragraph,table,etc).</a:t>
            </a:r>
          </a:p>
          <a:p>
            <a:pPr algn="l" marL="329454" indent="-164727" lvl="1">
              <a:lnSpc>
                <a:spcPts val="3071"/>
              </a:lnSpc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Any constarints(length,tone,examples)</a:t>
            </a:r>
          </a:p>
          <a:p>
            <a:pPr algn="l" marL="329454" indent="-164727" lvl="1">
              <a:lnSpc>
                <a:spcPts val="307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3417" y="842181"/>
            <a:ext cx="8994305" cy="731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Activity Examples</a:t>
            </a:r>
          </a:p>
          <a:p>
            <a:pPr algn="l">
              <a:lnSpc>
                <a:spcPts val="3071"/>
              </a:lnSpc>
            </a:pPr>
          </a:p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1:</a:t>
            </a: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 Prompt:</a:t>
            </a:r>
          </a:p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“Explain cloud computing”</a:t>
            </a: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Strong Prompt</a:t>
            </a: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“Explain cloud computing in simple terms for beginners,using 5 bullet points and include one real-world example</a:t>
            </a:r>
          </a:p>
          <a:p>
            <a:pPr algn="l">
              <a:lnSpc>
                <a:spcPts val="3071"/>
              </a:lnSpc>
            </a:pP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2:</a:t>
            </a: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 Prompt:</a:t>
            </a:r>
          </a:p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“Give code”</a:t>
            </a:r>
          </a:p>
          <a:p>
            <a:pPr algn="l">
              <a:lnSpc>
                <a:spcPts val="3071"/>
              </a:lnSpc>
            </a:pPr>
            <a:r>
              <a:rPr lang="en-US" sz="255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Strong Prompt</a:t>
            </a: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3071"/>
              </a:lnSpc>
            </a:pPr>
            <a:r>
              <a:rPr lang="en-US" sz="25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“Write a python program to check whether a number is prime,with comments explaining each step”</a:t>
            </a:r>
          </a:p>
          <a:p>
            <a:pPr algn="l">
              <a:lnSpc>
                <a:spcPts val="3071"/>
              </a:lnSpc>
            </a:pPr>
          </a:p>
          <a:p>
            <a:pPr algn="l">
              <a:lnSpc>
                <a:spcPts val="3071"/>
              </a:lnSpc>
            </a:pPr>
          </a:p>
          <a:p>
            <a:pPr algn="l">
              <a:lnSpc>
                <a:spcPts val="307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63" y="-7620"/>
            <a:ext cx="9773917" cy="1110825"/>
            <a:chOff x="0" y="0"/>
            <a:chExt cx="13031889" cy="1481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1977" cy="1481074"/>
            </a:xfrm>
            <a:custGeom>
              <a:avLst/>
              <a:gdLst/>
              <a:ahLst/>
              <a:cxnLst/>
              <a:rect r="r" b="b" t="t" l="l"/>
              <a:pathLst>
                <a:path h="1481074" w="13031977">
                  <a:moveTo>
                    <a:pt x="13589" y="4572"/>
                  </a:moveTo>
                  <a:lnTo>
                    <a:pt x="5739257" y="0"/>
                  </a:lnTo>
                  <a:cubicBezTo>
                    <a:pt x="6199886" y="228092"/>
                    <a:pt x="8642731" y="828548"/>
                    <a:pt x="9875520" y="828548"/>
                  </a:cubicBezTo>
                  <a:cubicBezTo>
                    <a:pt x="11108308" y="828548"/>
                    <a:pt x="12476480" y="343154"/>
                    <a:pt x="13018388" y="124206"/>
                  </a:cubicBezTo>
                  <a:lnTo>
                    <a:pt x="13031977" y="480949"/>
                  </a:lnTo>
                  <a:cubicBezTo>
                    <a:pt x="12801600" y="580263"/>
                    <a:pt x="11324971" y="995680"/>
                    <a:pt x="9712960" y="991108"/>
                  </a:cubicBezTo>
                  <a:cubicBezTo>
                    <a:pt x="8100949" y="986536"/>
                    <a:pt x="4978400" y="372491"/>
                    <a:pt x="3359531" y="453771"/>
                  </a:cubicBezTo>
                  <a:cubicBezTo>
                    <a:pt x="1693291" y="471932"/>
                    <a:pt x="609600" y="1088263"/>
                    <a:pt x="0" y="1481074"/>
                  </a:cubicBezTo>
                  <a:lnTo>
                    <a:pt x="13589" y="4572"/>
                  </a:lnTo>
                  <a:close/>
                </a:path>
              </a:pathLst>
            </a:custGeom>
            <a:gradFill rotWithShape="true">
              <a:gsLst>
                <a:gs pos="0">
                  <a:srgbClr val="00729F">
                    <a:alpha val="45000"/>
                  </a:srgbClr>
                </a:gs>
                <a:gs pos="100000">
                  <a:srgbClr val="00C4CD">
                    <a:alpha val="55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73603" y="-7620"/>
            <a:ext cx="5079997" cy="680723"/>
            <a:chOff x="0" y="0"/>
            <a:chExt cx="6773329" cy="907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863543"/>
            </a:xfrm>
            <a:custGeom>
              <a:avLst/>
              <a:gdLst/>
              <a:ahLst/>
              <a:cxnLst/>
              <a:rect r="r" b="b" t="t" l="l"/>
              <a:pathLst>
                <a:path h="863543" w="6773291">
                  <a:moveTo>
                    <a:pt x="0" y="0"/>
                  </a:moveTo>
                  <a:cubicBezTo>
                    <a:pt x="392811" y="155575"/>
                    <a:pt x="2637028" y="813054"/>
                    <a:pt x="3765931" y="860298"/>
                  </a:cubicBezTo>
                  <a:cubicBezTo>
                    <a:pt x="4894834" y="907542"/>
                    <a:pt x="6272022" y="425577"/>
                    <a:pt x="6773291" y="283718"/>
                  </a:cubicBezTo>
                  <a:lnTo>
                    <a:pt x="6773291" y="9144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9DA5">
                    <a:alpha val="30000"/>
                  </a:srgbClr>
                </a:gs>
                <a:gs pos="80000">
                  <a:srgbClr val="008ABF">
                    <a:alpha val="45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7271" y="-23212"/>
            <a:ext cx="9822818" cy="1170737"/>
          </a:xfrm>
          <a:custGeom>
            <a:avLst/>
            <a:gdLst/>
            <a:ahLst/>
            <a:cxnLst/>
            <a:rect r="r" b="b" t="t" l="l"/>
            <a:pathLst>
              <a:path h="1170737" w="9822818">
                <a:moveTo>
                  <a:pt x="0" y="0"/>
                </a:moveTo>
                <a:lnTo>
                  <a:pt x="9822818" y="0"/>
                </a:lnTo>
                <a:lnTo>
                  <a:pt x="9822818" y="1170736"/>
                </a:lnTo>
                <a:lnTo>
                  <a:pt x="0" y="117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88464" y="1584284"/>
            <a:ext cx="5533139" cy="5319779"/>
            <a:chOff x="0" y="0"/>
            <a:chExt cx="7377519" cy="70930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77557" cy="7093077"/>
            </a:xfrm>
            <a:custGeom>
              <a:avLst/>
              <a:gdLst/>
              <a:ahLst/>
              <a:cxnLst/>
              <a:rect r="r" b="b" t="t" l="l"/>
              <a:pathLst>
                <a:path h="7093077" w="7377557">
                  <a:moveTo>
                    <a:pt x="0" y="0"/>
                  </a:moveTo>
                  <a:lnTo>
                    <a:pt x="7377557" y="0"/>
                  </a:lnTo>
                  <a:lnTo>
                    <a:pt x="7377557" y="7093077"/>
                  </a:lnTo>
                  <a:lnTo>
                    <a:pt x="0" y="7093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30" r="0" b="-493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60848" y="0"/>
            <a:ext cx="4490723" cy="1158240"/>
            <a:chOff x="0" y="0"/>
            <a:chExt cx="5987631" cy="1544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87669" cy="1544320"/>
            </a:xfrm>
            <a:custGeom>
              <a:avLst/>
              <a:gdLst/>
              <a:ahLst/>
              <a:cxnLst/>
              <a:rect r="r" b="b" t="t" l="l"/>
              <a:pathLst>
                <a:path h="1544320" w="5987669">
                  <a:moveTo>
                    <a:pt x="0" y="0"/>
                  </a:moveTo>
                  <a:lnTo>
                    <a:pt x="5987669" y="0"/>
                  </a:lnTo>
                  <a:lnTo>
                    <a:pt x="5987669" y="1544320"/>
                  </a:lnTo>
                  <a:lnTo>
                    <a:pt x="0" y="154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DAHQX3Y4VJw</dc:identifier>
  <dcterms:modified xsi:type="dcterms:W3CDTF">2011-08-01T06:04:30Z</dcterms:modified>
  <cp:revision>1</cp:revision>
  <dc:title>prompt-1 (1).pptx</dc:title>
</cp:coreProperties>
</file>
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28.xml" ContentType="application/vnd.openxmlformats-officedocument.presentationml.notesSlide+xml"/>
  <Override PartName="/ppt/notesSlides/notesSlide129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30.xml" ContentType="application/vnd.openxmlformats-officedocument.presentationml.notesSlide+xml"/>
  <Override PartName="/ppt/notesSlides/notesSlide131.xml" ContentType="application/vnd.openxmlformats-officedocument.presentationml.notesSlide+xml"/>
  <Override PartName="/ppt/notesSlides/notesSlide132.xml" ContentType="application/vnd.openxmlformats-officedocument.presentationml.notesSlide+xml"/>
  <Override PartName="/ppt/notesSlides/notesSlide133.xml" ContentType="application/vnd.openxmlformats-officedocument.presentationml.notesSlide+xml"/>
  <Override PartName="/ppt/notesSlides/notesSlide134.xml" ContentType="application/vnd.openxmlformats-officedocument.presentationml.notesSlide+xml"/>
  <Override PartName="/ppt/notesSlides/notesSlide135.xml" ContentType="application/vnd.openxmlformats-officedocument.presentationml.notesSlide+xml"/>
  <Override PartName="/ppt/notesSlides/notesSlide136.xml" ContentType="application/vnd.openxmlformats-officedocument.presentationml.notesSlide+xml"/>
  <Override PartName="/ppt/notesSlides/notesSlide137.xml" ContentType="application/vnd.openxmlformats-officedocument.presentationml.notesSlide+xml"/>
  <Override PartName="/ppt/notesSlides/notesSlide138.xml" ContentType="application/vnd.openxmlformats-officedocument.presentationml.notesSlide+xml"/>
  <Override PartName="/ppt/notesSlides/notesSlide139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40.xml" ContentType="application/vnd.openxmlformats-officedocument.presentationml.notesSlide+xml"/>
  <Override PartName="/ppt/notesSlides/notesSlide141.xml" ContentType="application/vnd.openxmlformats-officedocument.presentationml.notesSlide+xml"/>
  <Override PartName="/ppt/notesSlides/notesSlide142.xml" ContentType="application/vnd.openxmlformats-officedocument.presentationml.notesSlide+xml"/>
  <Override PartName="/ppt/notesSlides/notesSlide143.xml" ContentType="application/vnd.openxmlformats-officedocument.presentationml.notesSlide+xml"/>
  <Override PartName="/ppt/notesSlides/notesSlide144.xml" ContentType="application/vnd.openxmlformats-officedocument.presentationml.notesSlide+xml"/>
  <Override PartName="/ppt/notesSlides/notesSlide145.xml" ContentType="application/vnd.openxmlformats-officedocument.presentationml.notesSlide+xml"/>
  <Override PartName="/ppt/notesSlides/notesSlide146.xml" ContentType="application/vnd.openxmlformats-officedocument.presentationml.notesSlide+xml"/>
  <Override PartName="/ppt/notesSlides/notesSlide147.xml" ContentType="application/vnd.openxmlformats-officedocument.presentationml.notesSlide+xml"/>
  <Override PartName="/ppt/notesSlides/notesSlide148.xml" ContentType="application/vnd.openxmlformats-officedocument.presentationml.notesSlide+xml"/>
  <Override PartName="/ppt/notesSlides/notesSlide149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50.xml" ContentType="application/vnd.openxmlformats-officedocument.presentationml.notesSlide+xml"/>
  <Override PartName="/ppt/notesSlides/notesSlide151.xml" ContentType="application/vnd.openxmlformats-officedocument.presentationml.notesSlide+xml"/>
  <Override PartName="/ppt/notesSlides/notesSlide152.xml" ContentType="application/vnd.openxmlformats-officedocument.presentationml.notesSlide+xml"/>
  <Override PartName="/ppt/notesSlides/notesSlide153.xml" ContentType="application/vnd.openxmlformats-officedocument.presentationml.notesSlide+xml"/>
  <Override PartName="/ppt/notesSlides/notesSlide154.xml" ContentType="application/vnd.openxmlformats-officedocument.presentationml.notesSlide+xml"/>
  <Override PartName="/ppt/notesSlides/notesSlide155.xml" ContentType="application/vnd.openxmlformats-officedocument.presentationml.notesSlide+xml"/>
  <Override PartName="/ppt/notesSlides/notesSlide156.xml" ContentType="application/vnd.openxmlformats-officedocument.presentationml.notesSlide+xml"/>
  <Override PartName="/ppt/notesSlides/notesSlide157.xml" ContentType="application/vnd.openxmlformats-officedocument.presentationml.notesSlide+xml"/>
  <Override PartName="/ppt/notesSlides/notesSlide158.xml" ContentType="application/vnd.openxmlformats-officedocument.presentationml.notesSlide+xml"/>
  <Override PartName="/ppt/notesSlides/notesSlide159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60.xml" ContentType="application/vnd.openxmlformats-officedocument.presentationml.notesSlide+xml"/>
  <Override PartName="/ppt/notesSlides/notesSlide161.xml" ContentType="application/vnd.openxmlformats-officedocument.presentationml.notesSlide+xml"/>
  <Override PartName="/ppt/notesSlides/notesSlide162.xml" ContentType="application/vnd.openxmlformats-officedocument.presentationml.notesSlide+xml"/>
  <Override PartName="/ppt/notesSlides/notesSlide163.xml" ContentType="application/vnd.openxmlformats-officedocument.presentationml.notesSlide+xml"/>
  <Override PartName="/ppt/notesSlides/notesSlide164.xml" ContentType="application/vnd.openxmlformats-officedocument.presentationml.notesSlide+xml"/>
  <Override PartName="/ppt/notesSlides/notesSlide165.xml" ContentType="application/vnd.openxmlformats-officedocument.presentationml.notesSlide+xml"/>
  <Override PartName="/ppt/notesSlides/notesSlide166.xml" ContentType="application/vnd.openxmlformats-officedocument.presentationml.notesSlide+xml"/>
  <Override PartName="/ppt/notesSlides/notesSlide167.xml" ContentType="application/vnd.openxmlformats-officedocument.presentationml.notesSlide+xml"/>
  <Override PartName="/ppt/notesSlides/notesSlide168.xml" ContentType="application/vnd.openxmlformats-officedocument.presentationml.notesSlide+xml"/>
  <Override PartName="/ppt/notesSlides/notesSlide169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70.xml" ContentType="application/vnd.openxmlformats-officedocument.presentationml.notesSlide+xml"/>
  <Override PartName="/ppt/notesSlides/notesSlide171.xml" ContentType="application/vnd.openxmlformats-officedocument.presentationml.notesSlide+xml"/>
  <Override PartName="/ppt/notesSlides/notesSlide172.xml" ContentType="application/vnd.openxmlformats-officedocument.presentationml.notesSlide+xml"/>
  <Override PartName="/ppt/notesSlides/notesSlide173.xml" ContentType="application/vnd.openxmlformats-officedocument.presentationml.notesSlide+xml"/>
  <Override PartName="/ppt/notesSlides/notesSlide174.xml" ContentType="application/vnd.openxmlformats-officedocument.presentationml.notesSlide+xml"/>
  <Override PartName="/ppt/notesSlides/notesSlide175.xml" ContentType="application/vnd.openxmlformats-officedocument.presentationml.notesSlide+xml"/>
  <Override PartName="/ppt/notesSlides/notesSlide176.xml" ContentType="application/vnd.openxmlformats-officedocument.presentationml.notesSlide+xml"/>
  <Override PartName="/ppt/notesSlides/notesSlide177.xml" ContentType="application/vnd.openxmlformats-officedocument.presentationml.notesSlide+xml"/>
  <Override PartName="/ppt/notesSlides/notesSlide178.xml" ContentType="application/vnd.openxmlformats-officedocument.presentationml.notesSlide+xml"/>
  <Override PartName="/ppt/notesSlides/notesSlide179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80.xml" ContentType="application/vnd.openxmlformats-officedocument.presentationml.notesSlide+xml"/>
  <Override PartName="/ppt/notesSlides/notesSlide181.xml" ContentType="application/vnd.openxmlformats-officedocument.presentationml.notesSlide+xml"/>
  <Override PartName="/ppt/notesSlides/notesSlide182.xml" ContentType="application/vnd.openxmlformats-officedocument.presentationml.notesSlide+xml"/>
  <Override PartName="/ppt/notesSlides/notesSlide183.xml" ContentType="application/vnd.openxmlformats-officedocument.presentationml.notesSlide+xml"/>
  <Override PartName="/ppt/notesSlides/notesSlide184.xml" ContentType="application/vnd.openxmlformats-officedocument.presentationml.notesSlide+xml"/>
  <Override PartName="/ppt/notesSlides/notesSlide185.xml" ContentType="application/vnd.openxmlformats-officedocument.presentationml.notesSlide+xml"/>
  <Override PartName="/ppt/notesSlides/notesSlide186.xml" ContentType="application/vnd.openxmlformats-officedocument.presentationml.notesSlide+xml"/>
  <Override PartName="/ppt/notesSlides/notesSlide187.xml" ContentType="application/vnd.openxmlformats-officedocument.presentationml.notesSlide+xml"/>
  <Override PartName="/ppt/notesSlides/notesSlide188.xml" ContentType="application/vnd.openxmlformats-officedocument.presentationml.notesSlide+xml"/>
  <Override PartName="/ppt/notesSlides/notesSlide189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190.xml" ContentType="application/vnd.openxmlformats-officedocument.presentationml.notesSlide+xml"/>
  <Override PartName="/ppt/notesSlides/notesSlide191.xml" ContentType="application/vnd.openxmlformats-officedocument.presentationml.notesSlide+xml"/>
  <Override PartName="/ppt/notesSlides/notesSlide192.xml" ContentType="application/vnd.openxmlformats-officedocument.presentationml.notesSlide+xml"/>
  <Override PartName="/ppt/notesSlides/notesSlide193.xml" ContentType="application/vnd.openxmlformats-officedocument.presentationml.notesSlide+xml"/>
  <Override PartName="/ppt/notesSlides/notesSlide194.xml" ContentType="application/vnd.openxmlformats-officedocument.presentationml.notesSlide+xml"/>
  <Override PartName="/ppt/notesSlides/notesSlide195.xml" ContentType="application/vnd.openxmlformats-officedocument.presentationml.notesSlide+xml"/>
  <Override PartName="/ppt/notesSlides/notesSlide196.xml" ContentType="application/vnd.openxmlformats-officedocument.presentationml.notesSlide+xml"/>
  <Override PartName="/ppt/notesSlides/notesSlide197.xml" ContentType="application/vnd.openxmlformats-officedocument.presentationml.notesSlide+xml"/>
  <Override PartName="/ppt/notesSlides/notesSlide198.xml" ContentType="application/vnd.openxmlformats-officedocument.presentationml.notesSlide+xml"/>
  <Override PartName="/ppt/notesSlides/notesSlide19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00.xml" ContentType="application/vnd.openxmlformats-officedocument.presentationml.notesSlide+xml"/>
  <Override PartName="/ppt/notesSlides/notesSlide201.xml" ContentType="application/vnd.openxmlformats-officedocument.presentationml.notesSlide+xml"/>
  <Override PartName="/ppt/notesSlides/notesSlide202.xml" ContentType="application/vnd.openxmlformats-officedocument.presentationml.notesSlide+xml"/>
  <Override PartName="/ppt/notesSlides/notesSlide203.xml" ContentType="application/vnd.openxmlformats-officedocument.presentationml.notesSlide+xml"/>
  <Override PartName="/ppt/notesSlides/notesSlide204.xml" ContentType="application/vnd.openxmlformats-officedocument.presentationml.notesSlide+xml"/>
  <Override PartName="/ppt/notesSlides/notesSlide205.xml" ContentType="application/vnd.openxmlformats-officedocument.presentationml.notesSlide+xml"/>
  <Override PartName="/ppt/notesSlides/notesSlide206.xml" ContentType="application/vnd.openxmlformats-officedocument.presentationml.notesSlide+xml"/>
  <Override PartName="/ppt/notesSlides/notesSlide207.xml" ContentType="application/vnd.openxmlformats-officedocument.presentationml.notesSlide+xml"/>
  <Override PartName="/ppt/notesSlides/notesSlide208.xml" ContentType="application/vnd.openxmlformats-officedocument.presentationml.notesSlide+xml"/>
  <Override PartName="/ppt/notesSlides/notesSlide209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10.xml" ContentType="application/vnd.openxmlformats-officedocument.presentationml.notesSlide+xml"/>
  <Override PartName="/ppt/notesSlides/notesSlide211.xml" ContentType="application/vnd.openxmlformats-officedocument.presentationml.notesSlide+xml"/>
  <Override PartName="/ppt/notesSlides/notesSlide212.xml" ContentType="application/vnd.openxmlformats-officedocument.presentationml.notesSlide+xml"/>
  <Override PartName="/ppt/notesSlides/notesSlide213.xml" ContentType="application/vnd.openxmlformats-officedocument.presentationml.notesSlide+xml"/>
  <Override PartName="/ppt/notesSlides/notesSlide214.xml" ContentType="application/vnd.openxmlformats-officedocument.presentationml.notesSlide+xml"/>
  <Override PartName="/ppt/notesSlides/notesSlide215.xml" ContentType="application/vnd.openxmlformats-officedocument.presentationml.notesSlide+xml"/>
  <Override PartName="/ppt/notesSlides/notesSlide216.xml" ContentType="application/vnd.openxmlformats-officedocument.presentationml.notesSlide+xml"/>
  <Override PartName="/ppt/notesSlides/notesSlide217.xml" ContentType="application/vnd.openxmlformats-officedocument.presentationml.notesSlide+xml"/>
  <Override PartName="/ppt/notesSlides/notesSlide218.xml" ContentType="application/vnd.openxmlformats-officedocument.presentationml.notesSlide+xml"/>
  <Override PartName="/ppt/notesSlides/notesSlide219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20.xml" ContentType="application/vnd.openxmlformats-officedocument.presentationml.notesSlide+xml"/>
  <Override PartName="/ppt/notesSlides/notesSlide221.xml" ContentType="application/vnd.openxmlformats-officedocument.presentationml.notesSlide+xml"/>
  <Override PartName="/ppt/notesSlides/notesSlide222.xml" ContentType="application/vnd.openxmlformats-officedocument.presentationml.notesSlide+xml"/>
  <Override PartName="/ppt/notesSlides/notesSlide223.xml" ContentType="application/vnd.openxmlformats-officedocument.presentationml.notesSlide+xml"/>
  <Override PartName="/ppt/notesSlides/notesSlide224.xml" ContentType="application/vnd.openxmlformats-officedocument.presentationml.notesSlide+xml"/>
  <Override PartName="/ppt/notesSlides/notesSlide225.xml" ContentType="application/vnd.openxmlformats-officedocument.presentationml.notesSlide+xml"/>
  <Override PartName="/ppt/notesSlides/notesSlide226.xml" ContentType="application/vnd.openxmlformats-officedocument.presentationml.notesSlide+xml"/>
  <Override PartName="/ppt/notesSlides/notesSlide227.xml" ContentType="application/vnd.openxmlformats-officedocument.presentationml.notesSlide+xml"/>
  <Override PartName="/ppt/notesSlides/notesSlide228.xml" ContentType="application/vnd.openxmlformats-officedocument.presentationml.notesSlide+xml"/>
  <Override PartName="/ppt/notesSlides/notesSlide229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30.xml" ContentType="application/vnd.openxmlformats-officedocument.presentationml.notesSlide+xml"/>
  <Override PartName="/ppt/notesSlides/notesSlide231.xml" ContentType="application/vnd.openxmlformats-officedocument.presentationml.notesSlide+xml"/>
  <Override PartName="/ppt/notesSlides/notesSlide232.xml" ContentType="application/vnd.openxmlformats-officedocument.presentationml.notesSlide+xml"/>
  <Override PartName="/ppt/notesSlides/notesSlide233.xml" ContentType="application/vnd.openxmlformats-officedocument.presentationml.notesSlide+xml"/>
  <Override PartName="/ppt/notesSlides/notesSlide234.xml" ContentType="application/vnd.openxmlformats-officedocument.presentationml.notesSlide+xml"/>
  <Override PartName="/ppt/notesSlides/notesSlide235.xml" ContentType="application/vnd.openxmlformats-officedocument.presentationml.notesSlide+xml"/>
  <Override PartName="/ppt/notesSlides/notesSlide236.xml" ContentType="application/vnd.openxmlformats-officedocument.presentationml.notesSlide+xml"/>
  <Override PartName="/ppt/notesSlides/notesSlide237.xml" ContentType="application/vnd.openxmlformats-officedocument.presentationml.notesSlide+xml"/>
  <Override PartName="/ppt/notesSlides/notesSlide238.xml" ContentType="application/vnd.openxmlformats-officedocument.presentationml.notesSlide+xml"/>
  <Override PartName="/ppt/notesSlides/notesSlide239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40.xml" ContentType="application/vnd.openxmlformats-officedocument.presentationml.notesSlide+xml"/>
  <Override PartName="/ppt/notesSlides/notesSlide241.xml" ContentType="application/vnd.openxmlformats-officedocument.presentationml.notesSlide+xml"/>
  <Override PartName="/ppt/notesSlides/notesSlide242.xml" ContentType="application/vnd.openxmlformats-officedocument.presentationml.notesSlide+xml"/>
  <Override PartName="/ppt/notesSlides/notesSlide243.xml" ContentType="application/vnd.openxmlformats-officedocument.presentationml.notesSlide+xml"/>
  <Override PartName="/ppt/notesSlides/notesSlide244.xml" ContentType="application/vnd.openxmlformats-officedocument.presentationml.notesSlide+xml"/>
  <Override PartName="/ppt/notesSlides/notesSlide245.xml" ContentType="application/vnd.openxmlformats-officedocument.presentationml.notesSlide+xml"/>
  <Override PartName="/ppt/notesSlides/notesSlide246.xml" ContentType="application/vnd.openxmlformats-officedocument.presentationml.notesSlide+xml"/>
  <Override PartName="/ppt/notesSlides/notesSlide247.xml" ContentType="application/vnd.openxmlformats-officedocument.presentationml.notesSlide+xml"/>
  <Override PartName="/ppt/notesSlides/notesSlide248.xml" ContentType="application/vnd.openxmlformats-officedocument.presentationml.notesSlide+xml"/>
  <Override PartName="/ppt/notesSlides/notesSlide249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50.xml" ContentType="application/vnd.openxmlformats-officedocument.presentationml.notesSlide+xml"/>
  <Override PartName="/ppt/notesSlides/notesSlide251.xml" ContentType="application/vnd.openxmlformats-officedocument.presentationml.notesSlide+xml"/>
  <Override PartName="/ppt/notesSlides/notesSlide252.xml" ContentType="application/vnd.openxmlformats-officedocument.presentationml.notesSlide+xml"/>
  <Override PartName="/ppt/notesSlides/notesSlide253.xml" ContentType="application/vnd.openxmlformats-officedocument.presentationml.notesSlide+xml"/>
  <Override PartName="/ppt/notesSlides/notesSlide254.xml" ContentType="application/vnd.openxmlformats-officedocument.presentationml.notesSlide+xml"/>
  <Override PartName="/ppt/notesSlides/notesSlide255.xml" ContentType="application/vnd.openxmlformats-officedocument.presentationml.notesSlide+xml"/>
  <Override PartName="/ppt/notesSlides/notesSlide256.xml" ContentType="application/vnd.openxmlformats-officedocument.presentationml.notesSlide+xml"/>
  <Override PartName="/ppt/notesSlides/notesSlide257.xml" ContentType="application/vnd.openxmlformats-officedocument.presentationml.notesSlide+xml"/>
  <Override PartName="/ppt/notesSlides/notesSlide258.xml" ContentType="application/vnd.openxmlformats-officedocument.presentationml.notesSlide+xml"/>
  <Override PartName="/ppt/notesSlides/notesSlide259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60.xml" ContentType="application/vnd.openxmlformats-officedocument.presentationml.notesSlide+xml"/>
  <Override PartName="/ppt/notesSlides/notesSlide261.xml" ContentType="application/vnd.openxmlformats-officedocument.presentationml.notesSlide+xml"/>
  <Override PartName="/ppt/notesSlides/notesSlide262.xml" ContentType="application/vnd.openxmlformats-officedocument.presentationml.notesSlide+xml"/>
  <Override PartName="/ppt/notesSlides/notesSlide263.xml" ContentType="application/vnd.openxmlformats-officedocument.presentationml.notesSlide+xml"/>
  <Override PartName="/ppt/notesSlides/notesSlide264.xml" ContentType="application/vnd.openxmlformats-officedocument.presentationml.notesSlide+xml"/>
  <Override PartName="/ppt/notesSlides/notesSlide265.xml" ContentType="application/vnd.openxmlformats-officedocument.presentationml.notesSlide+xml"/>
  <Override PartName="/ppt/notesSlides/notesSlide266.xml" ContentType="application/vnd.openxmlformats-officedocument.presentationml.notesSlide+xml"/>
  <Override PartName="/ppt/notesSlides/notesSlide267.xml" ContentType="application/vnd.openxmlformats-officedocument.presentationml.notesSlide+xml"/>
  <Override PartName="/ppt/notesSlides/notesSlide268.xml" ContentType="application/vnd.openxmlformats-officedocument.presentationml.notesSlide+xml"/>
  <Override PartName="/ppt/notesSlides/notesSlide269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70.xml" ContentType="application/vnd.openxmlformats-officedocument.presentationml.notesSlide+xml"/>
  <Override PartName="/ppt/notesSlides/notesSlide271.xml" ContentType="application/vnd.openxmlformats-officedocument.presentationml.notesSlide+xml"/>
  <Override PartName="/ppt/notesSlides/notesSlide272.xml" ContentType="application/vnd.openxmlformats-officedocument.presentationml.notesSlide+xml"/>
  <Override PartName="/ppt/notesSlides/notesSlide273.xml" ContentType="application/vnd.openxmlformats-officedocument.presentationml.notesSlide+xml"/>
  <Override PartName="/ppt/notesSlides/notesSlide274.xml" ContentType="application/vnd.openxmlformats-officedocument.presentationml.notesSlide+xml"/>
  <Override PartName="/ppt/notesSlides/notesSlide275.xml" ContentType="application/vnd.openxmlformats-officedocument.presentationml.notesSlide+xml"/>
  <Override PartName="/ppt/notesSlides/notesSlide276.xml" ContentType="application/vnd.openxmlformats-officedocument.presentationml.notesSlide+xml"/>
  <Override PartName="/ppt/notesSlides/notesSlide277.xml" ContentType="application/vnd.openxmlformats-officedocument.presentationml.notesSlide+xml"/>
  <Override PartName="/ppt/notesSlides/notesSlide278.xml" ContentType="application/vnd.openxmlformats-officedocument.presentationml.notesSlide+xml"/>
  <Override PartName="/ppt/notesSlides/notesSlide279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80.xml" ContentType="application/vnd.openxmlformats-officedocument.presentationml.notesSlide+xml"/>
  <Override PartName="/ppt/notesSlides/notesSlide281.xml" ContentType="application/vnd.openxmlformats-officedocument.presentationml.notesSlide+xml"/>
  <Override PartName="/ppt/notesSlides/notesSlide282.xml" ContentType="application/vnd.openxmlformats-officedocument.presentationml.notesSlide+xml"/>
  <Override PartName="/ppt/notesSlides/notesSlide283.xml" ContentType="application/vnd.openxmlformats-officedocument.presentationml.notesSlide+xml"/>
  <Override PartName="/ppt/notesSlides/notesSlide284.xml" ContentType="application/vnd.openxmlformats-officedocument.presentationml.notesSlide+xml"/>
  <Override PartName="/ppt/notesSlides/notesSlide285.xml" ContentType="application/vnd.openxmlformats-officedocument.presentationml.notesSlide+xml"/>
  <Override PartName="/ppt/notesSlides/notesSlide286.xml" ContentType="application/vnd.openxmlformats-officedocument.presentationml.notesSlide+xml"/>
  <Override PartName="/ppt/notesSlides/notesSlide287.xml" ContentType="application/vnd.openxmlformats-officedocument.presentationml.notesSlide+xml"/>
  <Override PartName="/ppt/notesSlides/notesSlide288.xml" ContentType="application/vnd.openxmlformats-officedocument.presentationml.notesSlide+xml"/>
  <Override PartName="/ppt/notesSlides/notesSlide289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290.xml" ContentType="application/vnd.openxmlformats-officedocument.presentationml.notesSlide+xml"/>
  <Override PartName="/ppt/notesSlides/notesSlide291.xml" ContentType="application/vnd.openxmlformats-officedocument.presentationml.notesSlide+xml"/>
  <Override PartName="/ppt/notesSlides/notesSlide292.xml" ContentType="application/vnd.openxmlformats-officedocument.presentationml.notesSlide+xml"/>
  <Override PartName="/ppt/notesSlides/notesSlide293.xml" ContentType="application/vnd.openxmlformats-officedocument.presentationml.notesSlide+xml"/>
  <Override PartName="/ppt/notesSlides/notesSlide294.xml" ContentType="application/vnd.openxmlformats-officedocument.presentationml.notesSlide+xml"/>
  <Override PartName="/ppt/notesSlides/notesSlide295.xml" ContentType="application/vnd.openxmlformats-officedocument.presentationml.notesSlide+xml"/>
  <Override PartName="/ppt/notesSlides/notesSlide296.xml" ContentType="application/vnd.openxmlformats-officedocument.presentationml.notesSlide+xml"/>
  <Override PartName="/ppt/notesSlides/notesSlide297.xml" ContentType="application/vnd.openxmlformats-officedocument.presentationml.notesSlide+xml"/>
  <Override PartName="/ppt/notesSlides/notesSlide298.xml" ContentType="application/vnd.openxmlformats-officedocument.presentationml.notesSlide+xml"/>
  <Override PartName="/ppt/notesSlides/notesSlide29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slides/slide216.xml" ContentType="application/vnd.openxmlformats-officedocument.presentationml.slide+xml"/>
  <Override PartName="/ppt/slides/slide217.xml" ContentType="application/vnd.openxmlformats-officedocument.presentationml.slide+xml"/>
  <Override PartName="/ppt/slides/slide218.xml" ContentType="application/vnd.openxmlformats-officedocument.presentationml.slide+xml"/>
  <Override PartName="/ppt/slides/slide219.xml" ContentType="application/vnd.openxmlformats-officedocument.presentationml.slide+xml"/>
  <Override PartName="/ppt/slides/slide22.xml" ContentType="application/vnd.openxmlformats-officedocument.presentationml.slide+xml"/>
  <Override PartName="/ppt/slides/slide220.xml" ContentType="application/vnd.openxmlformats-officedocument.presentationml.slide+xml"/>
  <Override PartName="/ppt/slides/slide221.xml" ContentType="application/vnd.openxmlformats-officedocument.presentationml.slide+xml"/>
  <Override PartName="/ppt/slides/slide222.xml" ContentType="application/vnd.openxmlformats-officedocument.presentationml.slide+xml"/>
  <Override PartName="/ppt/slides/slide223.xml" ContentType="application/vnd.openxmlformats-officedocument.presentationml.slide+xml"/>
  <Override PartName="/ppt/slides/slide224.xml" ContentType="application/vnd.openxmlformats-officedocument.presentationml.slide+xml"/>
  <Override PartName="/ppt/slides/slide225.xml" ContentType="application/vnd.openxmlformats-officedocument.presentationml.slide+xml"/>
  <Override PartName="/ppt/slides/slide226.xml" ContentType="application/vnd.openxmlformats-officedocument.presentationml.slide+xml"/>
  <Override PartName="/ppt/slides/slide227.xml" ContentType="application/vnd.openxmlformats-officedocument.presentationml.slide+xml"/>
  <Override PartName="/ppt/slides/slide228.xml" ContentType="application/vnd.openxmlformats-officedocument.presentationml.slide+xml"/>
  <Override PartName="/ppt/slides/slide229.xml" ContentType="application/vnd.openxmlformats-officedocument.presentationml.slide+xml"/>
  <Override PartName="/ppt/slides/slide23.xml" ContentType="application/vnd.openxmlformats-officedocument.presentationml.slide+xml"/>
  <Override PartName="/ppt/slides/slide230.xml" ContentType="application/vnd.openxmlformats-officedocument.presentationml.slide+xml"/>
  <Override PartName="/ppt/slides/slide231.xml" ContentType="application/vnd.openxmlformats-officedocument.presentationml.slide+xml"/>
  <Override PartName="/ppt/slides/slide232.xml" ContentType="application/vnd.openxmlformats-officedocument.presentationml.slide+xml"/>
  <Override PartName="/ppt/slides/slide233.xml" ContentType="application/vnd.openxmlformats-officedocument.presentationml.slide+xml"/>
  <Override PartName="/ppt/slides/slide234.xml" ContentType="application/vnd.openxmlformats-officedocument.presentationml.slide+xml"/>
  <Override PartName="/ppt/slides/slide235.xml" ContentType="application/vnd.openxmlformats-officedocument.presentationml.slide+xml"/>
  <Override PartName="/ppt/slides/slide236.xml" ContentType="application/vnd.openxmlformats-officedocument.presentationml.slide+xml"/>
  <Override PartName="/ppt/slides/slide237.xml" ContentType="application/vnd.openxmlformats-officedocument.presentationml.slide+xml"/>
  <Override PartName="/ppt/slides/slide238.xml" ContentType="application/vnd.openxmlformats-officedocument.presentationml.slide+xml"/>
  <Override PartName="/ppt/slides/slide239.xml" ContentType="application/vnd.openxmlformats-officedocument.presentationml.slide+xml"/>
  <Override PartName="/ppt/slides/slide24.xml" ContentType="application/vnd.openxmlformats-officedocument.presentationml.slide+xml"/>
  <Override PartName="/ppt/slides/slide240.xml" ContentType="application/vnd.openxmlformats-officedocument.presentationml.slide+xml"/>
  <Override PartName="/ppt/slides/slide241.xml" ContentType="application/vnd.openxmlformats-officedocument.presentationml.slide+xml"/>
  <Override PartName="/ppt/slides/slide242.xml" ContentType="application/vnd.openxmlformats-officedocument.presentationml.slide+xml"/>
  <Override PartName="/ppt/slides/slide243.xml" ContentType="application/vnd.openxmlformats-officedocument.presentationml.slide+xml"/>
  <Override PartName="/ppt/slides/slide244.xml" ContentType="application/vnd.openxmlformats-officedocument.presentationml.slide+xml"/>
  <Override PartName="/ppt/slides/slide245.xml" ContentType="application/vnd.openxmlformats-officedocument.presentationml.slide+xml"/>
  <Override PartName="/ppt/slides/slide246.xml" ContentType="application/vnd.openxmlformats-officedocument.presentationml.slide+xml"/>
  <Override PartName="/ppt/slides/slide247.xml" ContentType="application/vnd.openxmlformats-officedocument.presentationml.slide+xml"/>
  <Override PartName="/ppt/slides/slide248.xml" ContentType="application/vnd.openxmlformats-officedocument.presentationml.slide+xml"/>
  <Override PartName="/ppt/slides/slide249.xml" ContentType="application/vnd.openxmlformats-officedocument.presentationml.slide+xml"/>
  <Override PartName="/ppt/slides/slide25.xml" ContentType="application/vnd.openxmlformats-officedocument.presentationml.slide+xml"/>
  <Override PartName="/ppt/slides/slide250.xml" ContentType="application/vnd.openxmlformats-officedocument.presentationml.slide+xml"/>
  <Override PartName="/ppt/slides/slide251.xml" ContentType="application/vnd.openxmlformats-officedocument.presentationml.slide+xml"/>
  <Override PartName="/ppt/slides/slide252.xml" ContentType="application/vnd.openxmlformats-officedocument.presentationml.slide+xml"/>
  <Override PartName="/ppt/slides/slide253.xml" ContentType="application/vnd.openxmlformats-officedocument.presentationml.slide+xml"/>
  <Override PartName="/ppt/slides/slide254.xml" ContentType="application/vnd.openxmlformats-officedocument.presentationml.slide+xml"/>
  <Override PartName="/ppt/slides/slide255.xml" ContentType="application/vnd.openxmlformats-officedocument.presentationml.slide+xml"/>
  <Override PartName="/ppt/slides/slide256.xml" ContentType="application/vnd.openxmlformats-officedocument.presentationml.slide+xml"/>
  <Override PartName="/ppt/slides/slide257.xml" ContentType="application/vnd.openxmlformats-officedocument.presentationml.slide+xml"/>
  <Override PartName="/ppt/slides/slide258.xml" ContentType="application/vnd.openxmlformats-officedocument.presentationml.slide+xml"/>
  <Override PartName="/ppt/slides/slide259.xml" ContentType="application/vnd.openxmlformats-officedocument.presentationml.slide+xml"/>
  <Override PartName="/ppt/slides/slide26.xml" ContentType="application/vnd.openxmlformats-officedocument.presentationml.slide+xml"/>
  <Override PartName="/ppt/slides/slide260.xml" ContentType="application/vnd.openxmlformats-officedocument.presentationml.slide+xml"/>
  <Override PartName="/ppt/slides/slide261.xml" ContentType="application/vnd.openxmlformats-officedocument.presentationml.slide+xml"/>
  <Override PartName="/ppt/slides/slide262.xml" ContentType="application/vnd.openxmlformats-officedocument.presentationml.slide+xml"/>
  <Override PartName="/ppt/slides/slide263.xml" ContentType="application/vnd.openxmlformats-officedocument.presentationml.slide+xml"/>
  <Override PartName="/ppt/slides/slide264.xml" ContentType="application/vnd.openxmlformats-officedocument.presentationml.slide+xml"/>
  <Override PartName="/ppt/slides/slide265.xml" ContentType="application/vnd.openxmlformats-officedocument.presentationml.slide+xml"/>
  <Override PartName="/ppt/slides/slide266.xml" ContentType="application/vnd.openxmlformats-officedocument.presentationml.slide+xml"/>
  <Override PartName="/ppt/slides/slide267.xml" ContentType="application/vnd.openxmlformats-officedocument.presentationml.slide+xml"/>
  <Override PartName="/ppt/slides/slide268.xml" ContentType="application/vnd.openxmlformats-officedocument.presentationml.slide+xml"/>
  <Override PartName="/ppt/slides/slide269.xml" ContentType="application/vnd.openxmlformats-officedocument.presentationml.slide+xml"/>
  <Override PartName="/ppt/slides/slide27.xml" ContentType="application/vnd.openxmlformats-officedocument.presentationml.slide+xml"/>
  <Override PartName="/ppt/slides/slide270.xml" ContentType="application/vnd.openxmlformats-officedocument.presentationml.slide+xml"/>
  <Override PartName="/ppt/slides/slide271.xml" ContentType="application/vnd.openxmlformats-officedocument.presentationml.slide+xml"/>
  <Override PartName="/ppt/slides/slide272.xml" ContentType="application/vnd.openxmlformats-officedocument.presentationml.slide+xml"/>
  <Override PartName="/ppt/slides/slide273.xml" ContentType="application/vnd.openxmlformats-officedocument.presentationml.slide+xml"/>
  <Override PartName="/ppt/slides/slide274.xml" ContentType="application/vnd.openxmlformats-officedocument.presentationml.slide+xml"/>
  <Override PartName="/ppt/slides/slide275.xml" ContentType="application/vnd.openxmlformats-officedocument.presentationml.slide+xml"/>
  <Override PartName="/ppt/slides/slide276.xml" ContentType="application/vnd.openxmlformats-officedocument.presentationml.slide+xml"/>
  <Override PartName="/ppt/slides/slide277.xml" ContentType="application/vnd.openxmlformats-officedocument.presentationml.slide+xml"/>
  <Override PartName="/ppt/slides/slide278.xml" ContentType="application/vnd.openxmlformats-officedocument.presentationml.slide+xml"/>
  <Override PartName="/ppt/slides/slide279.xml" ContentType="application/vnd.openxmlformats-officedocument.presentationml.slide+xml"/>
  <Override PartName="/ppt/slides/slide28.xml" ContentType="application/vnd.openxmlformats-officedocument.presentationml.slide+xml"/>
  <Override PartName="/ppt/slides/slide280.xml" ContentType="application/vnd.openxmlformats-officedocument.presentationml.slide+xml"/>
  <Override PartName="/ppt/slides/slide281.xml" ContentType="application/vnd.openxmlformats-officedocument.presentationml.slide+xml"/>
  <Override PartName="/ppt/slides/slide282.xml" ContentType="application/vnd.openxmlformats-officedocument.presentationml.slide+xml"/>
  <Override PartName="/ppt/slides/slide283.xml" ContentType="application/vnd.openxmlformats-officedocument.presentationml.slide+xml"/>
  <Override PartName="/ppt/slides/slide284.xml" ContentType="application/vnd.openxmlformats-officedocument.presentationml.slide+xml"/>
  <Override PartName="/ppt/slides/slide285.xml" ContentType="application/vnd.openxmlformats-officedocument.presentationml.slide+xml"/>
  <Override PartName="/ppt/slides/slide286.xml" ContentType="application/vnd.openxmlformats-officedocument.presentationml.slide+xml"/>
  <Override PartName="/ppt/slides/slide287.xml" ContentType="application/vnd.openxmlformats-officedocument.presentationml.slide+xml"/>
  <Override PartName="/ppt/slides/slide288.xml" ContentType="application/vnd.openxmlformats-officedocument.presentationml.slide+xml"/>
  <Override PartName="/ppt/slides/slide289.xml" ContentType="application/vnd.openxmlformats-officedocument.presentationml.slide+xml"/>
  <Override PartName="/ppt/slides/slide29.xml" ContentType="application/vnd.openxmlformats-officedocument.presentationml.slide+xml"/>
  <Override PartName="/ppt/slides/slide290.xml" ContentType="application/vnd.openxmlformats-officedocument.presentationml.slide+xml"/>
  <Override PartName="/ppt/slides/slide291.xml" ContentType="application/vnd.openxmlformats-officedocument.presentationml.slide+xml"/>
  <Override PartName="/ppt/slides/slide292.xml" ContentType="application/vnd.openxmlformats-officedocument.presentationml.slide+xml"/>
  <Override PartName="/ppt/slides/slide293.xml" ContentType="application/vnd.openxmlformats-officedocument.presentationml.slide+xml"/>
  <Override PartName="/ppt/slides/slide294.xml" ContentType="application/vnd.openxmlformats-officedocument.presentationml.slide+xml"/>
  <Override PartName="/ppt/slides/slide295.xml" ContentType="application/vnd.openxmlformats-officedocument.presentationml.slide+xml"/>
  <Override PartName="/ppt/slides/slide296.xml" ContentType="application/vnd.openxmlformats-officedocument.presentationml.slide+xml"/>
  <Override PartName="/ppt/slides/slide297.xml" ContentType="application/vnd.openxmlformats-officedocument.presentationml.slide+xml"/>
  <Override PartName="/ppt/slides/slide298.xml" ContentType="application/vnd.openxmlformats-officedocument.presentationml.slide+xml"/>
  <Override PartName="/ppt/slides/slide29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00.xml" ContentType="application/vnd.openxmlformats-officedocument.presentationml.slide+xml"/>
  <Override PartName="/ppt/slides/slide301.xml" ContentType="application/vnd.openxmlformats-officedocument.presentationml.slide+xml"/>
  <Override PartName="/ppt/slides/slide302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556" r:id="rId9"/>
    <p:sldId id="555" r:id="rId10"/>
    <p:sldId id="557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  <p:sldId id="397" r:id="rId148"/>
    <p:sldId id="398" r:id="rId149"/>
    <p:sldId id="399" r:id="rId150"/>
    <p:sldId id="400" r:id="rId151"/>
    <p:sldId id="401" r:id="rId152"/>
    <p:sldId id="402" r:id="rId153"/>
    <p:sldId id="403" r:id="rId154"/>
    <p:sldId id="404" r:id="rId155"/>
    <p:sldId id="405" r:id="rId156"/>
    <p:sldId id="406" r:id="rId157"/>
    <p:sldId id="407" r:id="rId158"/>
    <p:sldId id="408" r:id="rId159"/>
    <p:sldId id="409" r:id="rId160"/>
    <p:sldId id="410" r:id="rId161"/>
    <p:sldId id="411" r:id="rId162"/>
    <p:sldId id="412" r:id="rId163"/>
    <p:sldId id="413" r:id="rId164"/>
    <p:sldId id="414" r:id="rId165"/>
    <p:sldId id="415" r:id="rId166"/>
    <p:sldId id="416" r:id="rId167"/>
    <p:sldId id="417" r:id="rId168"/>
    <p:sldId id="418" r:id="rId169"/>
    <p:sldId id="419" r:id="rId170"/>
    <p:sldId id="420" r:id="rId171"/>
    <p:sldId id="421" r:id="rId172"/>
    <p:sldId id="422" r:id="rId173"/>
    <p:sldId id="423" r:id="rId174"/>
    <p:sldId id="424" r:id="rId175"/>
    <p:sldId id="425" r:id="rId176"/>
    <p:sldId id="426" r:id="rId177"/>
    <p:sldId id="427" r:id="rId178"/>
    <p:sldId id="428" r:id="rId179"/>
    <p:sldId id="429" r:id="rId180"/>
    <p:sldId id="430" r:id="rId181"/>
    <p:sldId id="431" r:id="rId182"/>
    <p:sldId id="432" r:id="rId183"/>
    <p:sldId id="433" r:id="rId184"/>
    <p:sldId id="434" r:id="rId185"/>
    <p:sldId id="435" r:id="rId186"/>
    <p:sldId id="436" r:id="rId187"/>
    <p:sldId id="437" r:id="rId188"/>
    <p:sldId id="438" r:id="rId189"/>
    <p:sldId id="439" r:id="rId190"/>
    <p:sldId id="440" r:id="rId191"/>
    <p:sldId id="441" r:id="rId192"/>
    <p:sldId id="442" r:id="rId193"/>
    <p:sldId id="443" r:id="rId194"/>
    <p:sldId id="444" r:id="rId195"/>
    <p:sldId id="445" r:id="rId196"/>
    <p:sldId id="446" r:id="rId197"/>
    <p:sldId id="447" r:id="rId198"/>
    <p:sldId id="448" r:id="rId199"/>
    <p:sldId id="449" r:id="rId200"/>
    <p:sldId id="450" r:id="rId201"/>
    <p:sldId id="451" r:id="rId202"/>
    <p:sldId id="452" r:id="rId203"/>
    <p:sldId id="453" r:id="rId204"/>
    <p:sldId id="454" r:id="rId205"/>
    <p:sldId id="455" r:id="rId206"/>
    <p:sldId id="456" r:id="rId207"/>
    <p:sldId id="457" r:id="rId208"/>
    <p:sldId id="458" r:id="rId209"/>
    <p:sldId id="459" r:id="rId210"/>
    <p:sldId id="460" r:id="rId211"/>
    <p:sldId id="461" r:id="rId212"/>
    <p:sldId id="462" r:id="rId213"/>
    <p:sldId id="463" r:id="rId214"/>
    <p:sldId id="464" r:id="rId215"/>
    <p:sldId id="465" r:id="rId216"/>
    <p:sldId id="466" r:id="rId217"/>
    <p:sldId id="467" r:id="rId218"/>
    <p:sldId id="468" r:id="rId219"/>
    <p:sldId id="469" r:id="rId220"/>
    <p:sldId id="470" r:id="rId221"/>
    <p:sldId id="471" r:id="rId222"/>
    <p:sldId id="472" r:id="rId223"/>
    <p:sldId id="473" r:id="rId224"/>
    <p:sldId id="474" r:id="rId225"/>
    <p:sldId id="475" r:id="rId226"/>
    <p:sldId id="476" r:id="rId227"/>
    <p:sldId id="477" r:id="rId228"/>
    <p:sldId id="478" r:id="rId229"/>
    <p:sldId id="479" r:id="rId230"/>
    <p:sldId id="480" r:id="rId231"/>
    <p:sldId id="481" r:id="rId232"/>
    <p:sldId id="482" r:id="rId233"/>
    <p:sldId id="483" r:id="rId234"/>
    <p:sldId id="484" r:id="rId235"/>
    <p:sldId id="485" r:id="rId236"/>
    <p:sldId id="486" r:id="rId237"/>
    <p:sldId id="487" r:id="rId238"/>
    <p:sldId id="488" r:id="rId239"/>
    <p:sldId id="489" r:id="rId240"/>
    <p:sldId id="490" r:id="rId241"/>
    <p:sldId id="491" r:id="rId242"/>
    <p:sldId id="492" r:id="rId243"/>
    <p:sldId id="493" r:id="rId244"/>
    <p:sldId id="494" r:id="rId245"/>
    <p:sldId id="495" r:id="rId246"/>
    <p:sldId id="496" r:id="rId247"/>
    <p:sldId id="497" r:id="rId248"/>
    <p:sldId id="498" r:id="rId249"/>
    <p:sldId id="499" r:id="rId250"/>
    <p:sldId id="500" r:id="rId251"/>
    <p:sldId id="501" r:id="rId252"/>
    <p:sldId id="502" r:id="rId253"/>
    <p:sldId id="503" r:id="rId254"/>
    <p:sldId id="504" r:id="rId255"/>
    <p:sldId id="505" r:id="rId256"/>
    <p:sldId id="506" r:id="rId257"/>
    <p:sldId id="507" r:id="rId258"/>
    <p:sldId id="508" r:id="rId259"/>
    <p:sldId id="509" r:id="rId260"/>
    <p:sldId id="510" r:id="rId261"/>
    <p:sldId id="511" r:id="rId262"/>
    <p:sldId id="512" r:id="rId263"/>
    <p:sldId id="513" r:id="rId264"/>
    <p:sldId id="514" r:id="rId265"/>
    <p:sldId id="515" r:id="rId266"/>
    <p:sldId id="516" r:id="rId267"/>
    <p:sldId id="517" r:id="rId268"/>
    <p:sldId id="518" r:id="rId269"/>
    <p:sldId id="519" r:id="rId270"/>
    <p:sldId id="520" r:id="rId271"/>
    <p:sldId id="521" r:id="rId272"/>
    <p:sldId id="522" r:id="rId273"/>
    <p:sldId id="523" r:id="rId274"/>
    <p:sldId id="524" r:id="rId275"/>
    <p:sldId id="525" r:id="rId276"/>
    <p:sldId id="526" r:id="rId277"/>
    <p:sldId id="527" r:id="rId278"/>
    <p:sldId id="528" r:id="rId279"/>
    <p:sldId id="529" r:id="rId280"/>
    <p:sldId id="530" r:id="rId281"/>
    <p:sldId id="531" r:id="rId282"/>
    <p:sldId id="532" r:id="rId283"/>
    <p:sldId id="533" r:id="rId284"/>
    <p:sldId id="534" r:id="rId285"/>
    <p:sldId id="535" r:id="rId286"/>
    <p:sldId id="536" r:id="rId287"/>
    <p:sldId id="537" r:id="rId288"/>
    <p:sldId id="538" r:id="rId289"/>
    <p:sldId id="539" r:id="rId290"/>
    <p:sldId id="540" r:id="rId291"/>
    <p:sldId id="541" r:id="rId292"/>
    <p:sldId id="542" r:id="rId293"/>
    <p:sldId id="543" r:id="rId294"/>
    <p:sldId id="544" r:id="rId295"/>
    <p:sldId id="545" r:id="rId296"/>
    <p:sldId id="546" r:id="rId297"/>
    <p:sldId id="547" r:id="rId298"/>
    <p:sldId id="548" r:id="rId299"/>
    <p:sldId id="549" r:id="rId300"/>
    <p:sldId id="550" r:id="rId301"/>
    <p:sldId id="551" r:id="rId302"/>
    <p:sldId id="552" r:id="rId303"/>
    <p:sldId id="553" r:id="rId304"/>
    <p:sldId id="554" r:id="rId30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9" Type="http://schemas.openxmlformats.org/officeDocument/2006/relationships/slide" Target="slides/slide96.xml"/><Relationship Id="rId98" Type="http://schemas.openxmlformats.org/officeDocument/2006/relationships/slide" Target="slides/slide95.xml"/><Relationship Id="rId97" Type="http://schemas.openxmlformats.org/officeDocument/2006/relationships/slide" Target="slides/slide94.xml"/><Relationship Id="rId96" Type="http://schemas.openxmlformats.org/officeDocument/2006/relationships/slide" Target="slides/slide93.xml"/><Relationship Id="rId95" Type="http://schemas.openxmlformats.org/officeDocument/2006/relationships/slide" Target="slides/slide92.xml"/><Relationship Id="rId94" Type="http://schemas.openxmlformats.org/officeDocument/2006/relationships/slide" Target="slides/slide91.xml"/><Relationship Id="rId93" Type="http://schemas.openxmlformats.org/officeDocument/2006/relationships/slide" Target="slides/slide90.xml"/><Relationship Id="rId92" Type="http://schemas.openxmlformats.org/officeDocument/2006/relationships/slide" Target="slides/slide89.xml"/><Relationship Id="rId91" Type="http://schemas.openxmlformats.org/officeDocument/2006/relationships/slide" Target="slides/slide88.xml"/><Relationship Id="rId90" Type="http://schemas.openxmlformats.org/officeDocument/2006/relationships/slide" Target="slides/slide87.xml"/><Relationship Id="rId9" Type="http://schemas.openxmlformats.org/officeDocument/2006/relationships/slide" Target="slides/slide6.xml"/><Relationship Id="rId89" Type="http://schemas.openxmlformats.org/officeDocument/2006/relationships/slide" Target="slides/slide86.xml"/><Relationship Id="rId88" Type="http://schemas.openxmlformats.org/officeDocument/2006/relationships/slide" Target="slides/slide85.xml"/><Relationship Id="rId87" Type="http://schemas.openxmlformats.org/officeDocument/2006/relationships/slide" Target="slides/slide84.xml"/><Relationship Id="rId86" Type="http://schemas.openxmlformats.org/officeDocument/2006/relationships/slide" Target="slides/slide83.xml"/><Relationship Id="rId85" Type="http://schemas.openxmlformats.org/officeDocument/2006/relationships/slide" Target="slides/slide82.xml"/><Relationship Id="rId84" Type="http://schemas.openxmlformats.org/officeDocument/2006/relationships/slide" Target="slides/slide81.xml"/><Relationship Id="rId83" Type="http://schemas.openxmlformats.org/officeDocument/2006/relationships/slide" Target="slides/slide80.xml"/><Relationship Id="rId82" Type="http://schemas.openxmlformats.org/officeDocument/2006/relationships/slide" Target="slides/slide79.xml"/><Relationship Id="rId81" Type="http://schemas.openxmlformats.org/officeDocument/2006/relationships/slide" Target="slides/slide78.xml"/><Relationship Id="rId80" Type="http://schemas.openxmlformats.org/officeDocument/2006/relationships/slide" Target="slides/slide77.xml"/><Relationship Id="rId8" Type="http://schemas.openxmlformats.org/officeDocument/2006/relationships/slide" Target="slides/slide5.xml"/><Relationship Id="rId79" Type="http://schemas.openxmlformats.org/officeDocument/2006/relationships/slide" Target="slides/slide76.xml"/><Relationship Id="rId78" Type="http://schemas.openxmlformats.org/officeDocument/2006/relationships/slide" Target="slides/slide75.xml"/><Relationship Id="rId77" Type="http://schemas.openxmlformats.org/officeDocument/2006/relationships/slide" Target="slides/slide74.xml"/><Relationship Id="rId76" Type="http://schemas.openxmlformats.org/officeDocument/2006/relationships/slide" Target="slides/slide73.xml"/><Relationship Id="rId75" Type="http://schemas.openxmlformats.org/officeDocument/2006/relationships/slide" Target="slides/slide72.xml"/><Relationship Id="rId74" Type="http://schemas.openxmlformats.org/officeDocument/2006/relationships/slide" Target="slides/slide71.xml"/><Relationship Id="rId73" Type="http://schemas.openxmlformats.org/officeDocument/2006/relationships/slide" Target="slides/slide70.xml"/><Relationship Id="rId72" Type="http://schemas.openxmlformats.org/officeDocument/2006/relationships/slide" Target="slides/slide69.xml"/><Relationship Id="rId71" Type="http://schemas.openxmlformats.org/officeDocument/2006/relationships/slide" Target="slides/slide68.xml"/><Relationship Id="rId70" Type="http://schemas.openxmlformats.org/officeDocument/2006/relationships/slide" Target="slides/slide67.xml"/><Relationship Id="rId7" Type="http://schemas.openxmlformats.org/officeDocument/2006/relationships/slide" Target="slides/slide4.xml"/><Relationship Id="rId69" Type="http://schemas.openxmlformats.org/officeDocument/2006/relationships/slide" Target="slides/slide66.xml"/><Relationship Id="rId68" Type="http://schemas.openxmlformats.org/officeDocument/2006/relationships/slide" Target="slides/slide65.xml"/><Relationship Id="rId67" Type="http://schemas.openxmlformats.org/officeDocument/2006/relationships/slide" Target="slides/slide64.xml"/><Relationship Id="rId66" Type="http://schemas.openxmlformats.org/officeDocument/2006/relationships/slide" Target="slides/slide63.xml"/><Relationship Id="rId65" Type="http://schemas.openxmlformats.org/officeDocument/2006/relationships/slide" Target="slides/slide62.xml"/><Relationship Id="rId64" Type="http://schemas.openxmlformats.org/officeDocument/2006/relationships/slide" Target="slides/slide61.xml"/><Relationship Id="rId63" Type="http://schemas.openxmlformats.org/officeDocument/2006/relationships/slide" Target="slides/slide60.xml"/><Relationship Id="rId62" Type="http://schemas.openxmlformats.org/officeDocument/2006/relationships/slide" Target="slides/slide59.xml"/><Relationship Id="rId61" Type="http://schemas.openxmlformats.org/officeDocument/2006/relationships/slide" Target="slides/slide58.xml"/><Relationship Id="rId60" Type="http://schemas.openxmlformats.org/officeDocument/2006/relationships/slide" Target="slides/slide57.xml"/><Relationship Id="rId6" Type="http://schemas.openxmlformats.org/officeDocument/2006/relationships/slide" Target="slides/slide3.xml"/><Relationship Id="rId59" Type="http://schemas.openxmlformats.org/officeDocument/2006/relationships/slide" Target="slides/slide56.xml"/><Relationship Id="rId58" Type="http://schemas.openxmlformats.org/officeDocument/2006/relationships/slide" Target="slides/slide55.xml"/><Relationship Id="rId57" Type="http://schemas.openxmlformats.org/officeDocument/2006/relationships/slide" Target="slides/slide54.xml"/><Relationship Id="rId56" Type="http://schemas.openxmlformats.org/officeDocument/2006/relationships/slide" Target="slides/slide53.xml"/><Relationship Id="rId55" Type="http://schemas.openxmlformats.org/officeDocument/2006/relationships/slide" Target="slides/slide52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2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8" Type="http://schemas.openxmlformats.org/officeDocument/2006/relationships/tableStyles" Target="tableStyles.xml"/><Relationship Id="rId307" Type="http://schemas.openxmlformats.org/officeDocument/2006/relationships/viewProps" Target="viewProps.xml"/><Relationship Id="rId306" Type="http://schemas.openxmlformats.org/officeDocument/2006/relationships/presProps" Target="presProps.xml"/><Relationship Id="rId305" Type="http://schemas.openxmlformats.org/officeDocument/2006/relationships/slide" Target="slides/slide302.xml"/><Relationship Id="rId304" Type="http://schemas.openxmlformats.org/officeDocument/2006/relationships/slide" Target="slides/slide301.xml"/><Relationship Id="rId303" Type="http://schemas.openxmlformats.org/officeDocument/2006/relationships/slide" Target="slides/slide300.xml"/><Relationship Id="rId302" Type="http://schemas.openxmlformats.org/officeDocument/2006/relationships/slide" Target="slides/slide299.xml"/><Relationship Id="rId301" Type="http://schemas.openxmlformats.org/officeDocument/2006/relationships/slide" Target="slides/slide298.xml"/><Relationship Id="rId300" Type="http://schemas.openxmlformats.org/officeDocument/2006/relationships/slide" Target="slides/slide297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9" Type="http://schemas.openxmlformats.org/officeDocument/2006/relationships/slide" Target="slides/slide296.xml"/><Relationship Id="rId298" Type="http://schemas.openxmlformats.org/officeDocument/2006/relationships/slide" Target="slides/slide295.xml"/><Relationship Id="rId297" Type="http://schemas.openxmlformats.org/officeDocument/2006/relationships/slide" Target="slides/slide294.xml"/><Relationship Id="rId296" Type="http://schemas.openxmlformats.org/officeDocument/2006/relationships/slide" Target="slides/slide293.xml"/><Relationship Id="rId295" Type="http://schemas.openxmlformats.org/officeDocument/2006/relationships/slide" Target="slides/slide292.xml"/><Relationship Id="rId294" Type="http://schemas.openxmlformats.org/officeDocument/2006/relationships/slide" Target="slides/slide291.xml"/><Relationship Id="rId293" Type="http://schemas.openxmlformats.org/officeDocument/2006/relationships/slide" Target="slides/slide290.xml"/><Relationship Id="rId292" Type="http://schemas.openxmlformats.org/officeDocument/2006/relationships/slide" Target="slides/slide289.xml"/><Relationship Id="rId291" Type="http://schemas.openxmlformats.org/officeDocument/2006/relationships/slide" Target="slides/slide288.xml"/><Relationship Id="rId290" Type="http://schemas.openxmlformats.org/officeDocument/2006/relationships/slide" Target="slides/slide287.xml"/><Relationship Id="rId29" Type="http://schemas.openxmlformats.org/officeDocument/2006/relationships/slide" Target="slides/slide26.xml"/><Relationship Id="rId289" Type="http://schemas.openxmlformats.org/officeDocument/2006/relationships/slide" Target="slides/slide286.xml"/><Relationship Id="rId288" Type="http://schemas.openxmlformats.org/officeDocument/2006/relationships/slide" Target="slides/slide285.xml"/><Relationship Id="rId287" Type="http://schemas.openxmlformats.org/officeDocument/2006/relationships/slide" Target="slides/slide284.xml"/><Relationship Id="rId286" Type="http://schemas.openxmlformats.org/officeDocument/2006/relationships/slide" Target="slides/slide283.xml"/><Relationship Id="rId285" Type="http://schemas.openxmlformats.org/officeDocument/2006/relationships/slide" Target="slides/slide282.xml"/><Relationship Id="rId284" Type="http://schemas.openxmlformats.org/officeDocument/2006/relationships/slide" Target="slides/slide281.xml"/><Relationship Id="rId283" Type="http://schemas.openxmlformats.org/officeDocument/2006/relationships/slide" Target="slides/slide280.xml"/><Relationship Id="rId282" Type="http://schemas.openxmlformats.org/officeDocument/2006/relationships/slide" Target="slides/slide279.xml"/><Relationship Id="rId281" Type="http://schemas.openxmlformats.org/officeDocument/2006/relationships/slide" Target="slides/slide278.xml"/><Relationship Id="rId280" Type="http://schemas.openxmlformats.org/officeDocument/2006/relationships/slide" Target="slides/slide277.xml"/><Relationship Id="rId28" Type="http://schemas.openxmlformats.org/officeDocument/2006/relationships/slide" Target="slides/slide25.xml"/><Relationship Id="rId279" Type="http://schemas.openxmlformats.org/officeDocument/2006/relationships/slide" Target="slides/slide276.xml"/><Relationship Id="rId278" Type="http://schemas.openxmlformats.org/officeDocument/2006/relationships/slide" Target="slides/slide275.xml"/><Relationship Id="rId277" Type="http://schemas.openxmlformats.org/officeDocument/2006/relationships/slide" Target="slides/slide274.xml"/><Relationship Id="rId276" Type="http://schemas.openxmlformats.org/officeDocument/2006/relationships/slide" Target="slides/slide273.xml"/><Relationship Id="rId275" Type="http://schemas.openxmlformats.org/officeDocument/2006/relationships/slide" Target="slides/slide272.xml"/><Relationship Id="rId274" Type="http://schemas.openxmlformats.org/officeDocument/2006/relationships/slide" Target="slides/slide271.xml"/><Relationship Id="rId273" Type="http://schemas.openxmlformats.org/officeDocument/2006/relationships/slide" Target="slides/slide270.xml"/><Relationship Id="rId272" Type="http://schemas.openxmlformats.org/officeDocument/2006/relationships/slide" Target="slides/slide269.xml"/><Relationship Id="rId271" Type="http://schemas.openxmlformats.org/officeDocument/2006/relationships/slide" Target="slides/slide268.xml"/><Relationship Id="rId270" Type="http://schemas.openxmlformats.org/officeDocument/2006/relationships/slide" Target="slides/slide267.xml"/><Relationship Id="rId27" Type="http://schemas.openxmlformats.org/officeDocument/2006/relationships/slide" Target="slides/slide24.xml"/><Relationship Id="rId269" Type="http://schemas.openxmlformats.org/officeDocument/2006/relationships/slide" Target="slides/slide266.xml"/><Relationship Id="rId268" Type="http://schemas.openxmlformats.org/officeDocument/2006/relationships/slide" Target="slides/slide265.xml"/><Relationship Id="rId267" Type="http://schemas.openxmlformats.org/officeDocument/2006/relationships/slide" Target="slides/slide264.xml"/><Relationship Id="rId266" Type="http://schemas.openxmlformats.org/officeDocument/2006/relationships/slide" Target="slides/slide263.xml"/><Relationship Id="rId265" Type="http://schemas.openxmlformats.org/officeDocument/2006/relationships/slide" Target="slides/slide262.xml"/><Relationship Id="rId264" Type="http://schemas.openxmlformats.org/officeDocument/2006/relationships/slide" Target="slides/slide261.xml"/><Relationship Id="rId263" Type="http://schemas.openxmlformats.org/officeDocument/2006/relationships/slide" Target="slides/slide260.xml"/><Relationship Id="rId262" Type="http://schemas.openxmlformats.org/officeDocument/2006/relationships/slide" Target="slides/slide259.xml"/><Relationship Id="rId261" Type="http://schemas.openxmlformats.org/officeDocument/2006/relationships/slide" Target="slides/slide258.xml"/><Relationship Id="rId260" Type="http://schemas.openxmlformats.org/officeDocument/2006/relationships/slide" Target="slides/slide257.xml"/><Relationship Id="rId26" Type="http://schemas.openxmlformats.org/officeDocument/2006/relationships/slide" Target="slides/slide23.xml"/><Relationship Id="rId259" Type="http://schemas.openxmlformats.org/officeDocument/2006/relationships/slide" Target="slides/slide256.xml"/><Relationship Id="rId258" Type="http://schemas.openxmlformats.org/officeDocument/2006/relationships/slide" Target="slides/slide255.xml"/><Relationship Id="rId257" Type="http://schemas.openxmlformats.org/officeDocument/2006/relationships/slide" Target="slides/slide254.xml"/><Relationship Id="rId256" Type="http://schemas.openxmlformats.org/officeDocument/2006/relationships/slide" Target="slides/slide253.xml"/><Relationship Id="rId255" Type="http://schemas.openxmlformats.org/officeDocument/2006/relationships/slide" Target="slides/slide252.xml"/><Relationship Id="rId254" Type="http://schemas.openxmlformats.org/officeDocument/2006/relationships/slide" Target="slides/slide251.xml"/><Relationship Id="rId253" Type="http://schemas.openxmlformats.org/officeDocument/2006/relationships/slide" Target="slides/slide250.xml"/><Relationship Id="rId252" Type="http://schemas.openxmlformats.org/officeDocument/2006/relationships/slide" Target="slides/slide249.xml"/><Relationship Id="rId251" Type="http://schemas.openxmlformats.org/officeDocument/2006/relationships/slide" Target="slides/slide248.xml"/><Relationship Id="rId250" Type="http://schemas.openxmlformats.org/officeDocument/2006/relationships/slide" Target="slides/slide247.xml"/><Relationship Id="rId25" Type="http://schemas.openxmlformats.org/officeDocument/2006/relationships/slide" Target="slides/slide22.xml"/><Relationship Id="rId249" Type="http://schemas.openxmlformats.org/officeDocument/2006/relationships/slide" Target="slides/slide246.xml"/><Relationship Id="rId248" Type="http://schemas.openxmlformats.org/officeDocument/2006/relationships/slide" Target="slides/slide245.xml"/><Relationship Id="rId247" Type="http://schemas.openxmlformats.org/officeDocument/2006/relationships/slide" Target="slides/slide244.xml"/><Relationship Id="rId246" Type="http://schemas.openxmlformats.org/officeDocument/2006/relationships/slide" Target="slides/slide243.xml"/><Relationship Id="rId245" Type="http://schemas.openxmlformats.org/officeDocument/2006/relationships/slide" Target="slides/slide242.xml"/><Relationship Id="rId244" Type="http://schemas.openxmlformats.org/officeDocument/2006/relationships/slide" Target="slides/slide241.xml"/><Relationship Id="rId243" Type="http://schemas.openxmlformats.org/officeDocument/2006/relationships/slide" Target="slides/slide240.xml"/><Relationship Id="rId242" Type="http://schemas.openxmlformats.org/officeDocument/2006/relationships/slide" Target="slides/slide239.xml"/><Relationship Id="rId241" Type="http://schemas.openxmlformats.org/officeDocument/2006/relationships/slide" Target="slides/slide238.xml"/><Relationship Id="rId240" Type="http://schemas.openxmlformats.org/officeDocument/2006/relationships/slide" Target="slides/slide237.xml"/><Relationship Id="rId24" Type="http://schemas.openxmlformats.org/officeDocument/2006/relationships/slide" Target="slides/slide21.xml"/><Relationship Id="rId239" Type="http://schemas.openxmlformats.org/officeDocument/2006/relationships/slide" Target="slides/slide236.xml"/><Relationship Id="rId238" Type="http://schemas.openxmlformats.org/officeDocument/2006/relationships/slide" Target="slides/slide235.xml"/><Relationship Id="rId237" Type="http://schemas.openxmlformats.org/officeDocument/2006/relationships/slide" Target="slides/slide234.xml"/><Relationship Id="rId236" Type="http://schemas.openxmlformats.org/officeDocument/2006/relationships/slide" Target="slides/slide233.xml"/><Relationship Id="rId235" Type="http://schemas.openxmlformats.org/officeDocument/2006/relationships/slide" Target="slides/slide232.xml"/><Relationship Id="rId234" Type="http://schemas.openxmlformats.org/officeDocument/2006/relationships/slide" Target="slides/slide231.xml"/><Relationship Id="rId233" Type="http://schemas.openxmlformats.org/officeDocument/2006/relationships/slide" Target="slides/slide230.xml"/><Relationship Id="rId232" Type="http://schemas.openxmlformats.org/officeDocument/2006/relationships/slide" Target="slides/slide229.xml"/><Relationship Id="rId231" Type="http://schemas.openxmlformats.org/officeDocument/2006/relationships/slide" Target="slides/slide228.xml"/><Relationship Id="rId230" Type="http://schemas.openxmlformats.org/officeDocument/2006/relationships/slide" Target="slides/slide227.xml"/><Relationship Id="rId23" Type="http://schemas.openxmlformats.org/officeDocument/2006/relationships/slide" Target="slides/slide20.xml"/><Relationship Id="rId229" Type="http://schemas.openxmlformats.org/officeDocument/2006/relationships/slide" Target="slides/slide226.xml"/><Relationship Id="rId228" Type="http://schemas.openxmlformats.org/officeDocument/2006/relationships/slide" Target="slides/slide225.xml"/><Relationship Id="rId227" Type="http://schemas.openxmlformats.org/officeDocument/2006/relationships/slide" Target="slides/slide224.xml"/><Relationship Id="rId226" Type="http://schemas.openxmlformats.org/officeDocument/2006/relationships/slide" Target="slides/slide223.xml"/><Relationship Id="rId225" Type="http://schemas.openxmlformats.org/officeDocument/2006/relationships/slide" Target="slides/slide222.xml"/><Relationship Id="rId224" Type="http://schemas.openxmlformats.org/officeDocument/2006/relationships/slide" Target="slides/slide221.xml"/><Relationship Id="rId223" Type="http://schemas.openxmlformats.org/officeDocument/2006/relationships/slide" Target="slides/slide220.xml"/><Relationship Id="rId222" Type="http://schemas.openxmlformats.org/officeDocument/2006/relationships/slide" Target="slides/slide219.xml"/><Relationship Id="rId221" Type="http://schemas.openxmlformats.org/officeDocument/2006/relationships/slide" Target="slides/slide218.xml"/><Relationship Id="rId220" Type="http://schemas.openxmlformats.org/officeDocument/2006/relationships/slide" Target="slides/slide217.xml"/><Relationship Id="rId22" Type="http://schemas.openxmlformats.org/officeDocument/2006/relationships/slide" Target="slides/slide19.xml"/><Relationship Id="rId219" Type="http://schemas.openxmlformats.org/officeDocument/2006/relationships/slide" Target="slides/slide216.xml"/><Relationship Id="rId218" Type="http://schemas.openxmlformats.org/officeDocument/2006/relationships/slide" Target="slides/slide215.xml"/><Relationship Id="rId217" Type="http://schemas.openxmlformats.org/officeDocument/2006/relationships/slide" Target="slides/slide214.xml"/><Relationship Id="rId216" Type="http://schemas.openxmlformats.org/officeDocument/2006/relationships/slide" Target="slides/slide213.xml"/><Relationship Id="rId215" Type="http://schemas.openxmlformats.org/officeDocument/2006/relationships/slide" Target="slides/slide212.xml"/><Relationship Id="rId214" Type="http://schemas.openxmlformats.org/officeDocument/2006/relationships/slide" Target="slides/slide211.xml"/><Relationship Id="rId213" Type="http://schemas.openxmlformats.org/officeDocument/2006/relationships/slide" Target="slides/slide210.xml"/><Relationship Id="rId212" Type="http://schemas.openxmlformats.org/officeDocument/2006/relationships/slide" Target="slides/slide209.xml"/><Relationship Id="rId211" Type="http://schemas.openxmlformats.org/officeDocument/2006/relationships/slide" Target="slides/slide208.xml"/><Relationship Id="rId210" Type="http://schemas.openxmlformats.org/officeDocument/2006/relationships/slide" Target="slides/slide207.xml"/><Relationship Id="rId21" Type="http://schemas.openxmlformats.org/officeDocument/2006/relationships/slide" Target="slides/slide18.xml"/><Relationship Id="rId209" Type="http://schemas.openxmlformats.org/officeDocument/2006/relationships/slide" Target="slides/slide206.xml"/><Relationship Id="rId208" Type="http://schemas.openxmlformats.org/officeDocument/2006/relationships/slide" Target="slides/slide205.xml"/><Relationship Id="rId207" Type="http://schemas.openxmlformats.org/officeDocument/2006/relationships/slide" Target="slides/slide204.xml"/><Relationship Id="rId206" Type="http://schemas.openxmlformats.org/officeDocument/2006/relationships/slide" Target="slides/slide203.xml"/><Relationship Id="rId205" Type="http://schemas.openxmlformats.org/officeDocument/2006/relationships/slide" Target="slides/slide202.xml"/><Relationship Id="rId204" Type="http://schemas.openxmlformats.org/officeDocument/2006/relationships/slide" Target="slides/slide201.xml"/><Relationship Id="rId203" Type="http://schemas.openxmlformats.org/officeDocument/2006/relationships/slide" Target="slides/slide200.xml"/><Relationship Id="rId202" Type="http://schemas.openxmlformats.org/officeDocument/2006/relationships/slide" Target="slides/slide199.xml"/><Relationship Id="rId201" Type="http://schemas.openxmlformats.org/officeDocument/2006/relationships/slide" Target="slides/slide198.xml"/><Relationship Id="rId200" Type="http://schemas.openxmlformats.org/officeDocument/2006/relationships/slide" Target="slides/slide197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9" Type="http://schemas.openxmlformats.org/officeDocument/2006/relationships/slide" Target="slides/slide196.xml"/><Relationship Id="rId198" Type="http://schemas.openxmlformats.org/officeDocument/2006/relationships/slide" Target="slides/slide195.xml"/><Relationship Id="rId197" Type="http://schemas.openxmlformats.org/officeDocument/2006/relationships/slide" Target="slides/slide194.xml"/><Relationship Id="rId196" Type="http://schemas.openxmlformats.org/officeDocument/2006/relationships/slide" Target="slides/slide193.xml"/><Relationship Id="rId195" Type="http://schemas.openxmlformats.org/officeDocument/2006/relationships/slide" Target="slides/slide192.xml"/><Relationship Id="rId194" Type="http://schemas.openxmlformats.org/officeDocument/2006/relationships/slide" Target="slides/slide191.xml"/><Relationship Id="rId193" Type="http://schemas.openxmlformats.org/officeDocument/2006/relationships/slide" Target="slides/slide190.xml"/><Relationship Id="rId192" Type="http://schemas.openxmlformats.org/officeDocument/2006/relationships/slide" Target="slides/slide189.xml"/><Relationship Id="rId191" Type="http://schemas.openxmlformats.org/officeDocument/2006/relationships/slide" Target="slides/slide188.xml"/><Relationship Id="rId190" Type="http://schemas.openxmlformats.org/officeDocument/2006/relationships/slide" Target="slides/slide187.xml"/><Relationship Id="rId19" Type="http://schemas.openxmlformats.org/officeDocument/2006/relationships/slide" Target="slides/slide16.xml"/><Relationship Id="rId189" Type="http://schemas.openxmlformats.org/officeDocument/2006/relationships/slide" Target="slides/slide186.xml"/><Relationship Id="rId188" Type="http://schemas.openxmlformats.org/officeDocument/2006/relationships/slide" Target="slides/slide185.xml"/><Relationship Id="rId187" Type="http://schemas.openxmlformats.org/officeDocument/2006/relationships/slide" Target="slides/slide184.xml"/><Relationship Id="rId186" Type="http://schemas.openxmlformats.org/officeDocument/2006/relationships/slide" Target="slides/slide183.xml"/><Relationship Id="rId185" Type="http://schemas.openxmlformats.org/officeDocument/2006/relationships/slide" Target="slides/slide182.xml"/><Relationship Id="rId184" Type="http://schemas.openxmlformats.org/officeDocument/2006/relationships/slide" Target="slides/slide181.xml"/><Relationship Id="rId183" Type="http://schemas.openxmlformats.org/officeDocument/2006/relationships/slide" Target="slides/slide180.xml"/><Relationship Id="rId182" Type="http://schemas.openxmlformats.org/officeDocument/2006/relationships/slide" Target="slides/slide179.xml"/><Relationship Id="rId181" Type="http://schemas.openxmlformats.org/officeDocument/2006/relationships/slide" Target="slides/slide178.xml"/><Relationship Id="rId180" Type="http://schemas.openxmlformats.org/officeDocument/2006/relationships/slide" Target="slides/slide177.xml"/><Relationship Id="rId18" Type="http://schemas.openxmlformats.org/officeDocument/2006/relationships/slide" Target="slides/slide15.xml"/><Relationship Id="rId179" Type="http://schemas.openxmlformats.org/officeDocument/2006/relationships/slide" Target="slides/slide176.xml"/><Relationship Id="rId178" Type="http://schemas.openxmlformats.org/officeDocument/2006/relationships/slide" Target="slides/slide175.xml"/><Relationship Id="rId177" Type="http://schemas.openxmlformats.org/officeDocument/2006/relationships/slide" Target="slides/slide174.xml"/><Relationship Id="rId176" Type="http://schemas.openxmlformats.org/officeDocument/2006/relationships/slide" Target="slides/slide173.xml"/><Relationship Id="rId175" Type="http://schemas.openxmlformats.org/officeDocument/2006/relationships/slide" Target="slides/slide172.xml"/><Relationship Id="rId174" Type="http://schemas.openxmlformats.org/officeDocument/2006/relationships/slide" Target="slides/slide171.xml"/><Relationship Id="rId173" Type="http://schemas.openxmlformats.org/officeDocument/2006/relationships/slide" Target="slides/slide170.xml"/><Relationship Id="rId172" Type="http://schemas.openxmlformats.org/officeDocument/2006/relationships/slide" Target="slides/slide169.xml"/><Relationship Id="rId171" Type="http://schemas.openxmlformats.org/officeDocument/2006/relationships/slide" Target="slides/slide168.xml"/><Relationship Id="rId170" Type="http://schemas.openxmlformats.org/officeDocument/2006/relationships/slide" Target="slides/slide167.xml"/><Relationship Id="rId17" Type="http://schemas.openxmlformats.org/officeDocument/2006/relationships/slide" Target="slides/slide14.xml"/><Relationship Id="rId169" Type="http://schemas.openxmlformats.org/officeDocument/2006/relationships/slide" Target="slides/slide166.xml"/><Relationship Id="rId168" Type="http://schemas.openxmlformats.org/officeDocument/2006/relationships/slide" Target="slides/slide165.xml"/><Relationship Id="rId167" Type="http://schemas.openxmlformats.org/officeDocument/2006/relationships/slide" Target="slides/slide164.xml"/><Relationship Id="rId166" Type="http://schemas.openxmlformats.org/officeDocument/2006/relationships/slide" Target="slides/slide163.xml"/><Relationship Id="rId165" Type="http://schemas.openxmlformats.org/officeDocument/2006/relationships/slide" Target="slides/slide162.xml"/><Relationship Id="rId164" Type="http://schemas.openxmlformats.org/officeDocument/2006/relationships/slide" Target="slides/slide161.xml"/><Relationship Id="rId163" Type="http://schemas.openxmlformats.org/officeDocument/2006/relationships/slide" Target="slides/slide160.xml"/><Relationship Id="rId162" Type="http://schemas.openxmlformats.org/officeDocument/2006/relationships/slide" Target="slides/slide159.xml"/><Relationship Id="rId161" Type="http://schemas.openxmlformats.org/officeDocument/2006/relationships/slide" Target="slides/slide158.xml"/><Relationship Id="rId160" Type="http://schemas.openxmlformats.org/officeDocument/2006/relationships/slide" Target="slides/slide157.xml"/><Relationship Id="rId16" Type="http://schemas.openxmlformats.org/officeDocument/2006/relationships/slide" Target="slides/slide13.xml"/><Relationship Id="rId159" Type="http://schemas.openxmlformats.org/officeDocument/2006/relationships/slide" Target="slides/slide156.xml"/><Relationship Id="rId158" Type="http://schemas.openxmlformats.org/officeDocument/2006/relationships/slide" Target="slides/slide155.xml"/><Relationship Id="rId157" Type="http://schemas.openxmlformats.org/officeDocument/2006/relationships/slide" Target="slides/slide154.xml"/><Relationship Id="rId156" Type="http://schemas.openxmlformats.org/officeDocument/2006/relationships/slide" Target="slides/slide153.xml"/><Relationship Id="rId155" Type="http://schemas.openxmlformats.org/officeDocument/2006/relationships/slide" Target="slides/slide152.xml"/><Relationship Id="rId154" Type="http://schemas.openxmlformats.org/officeDocument/2006/relationships/slide" Target="slides/slide151.xml"/><Relationship Id="rId153" Type="http://schemas.openxmlformats.org/officeDocument/2006/relationships/slide" Target="slides/slide150.xml"/><Relationship Id="rId152" Type="http://schemas.openxmlformats.org/officeDocument/2006/relationships/slide" Target="slides/slide149.xml"/><Relationship Id="rId151" Type="http://schemas.openxmlformats.org/officeDocument/2006/relationships/slide" Target="slides/slide148.xml"/><Relationship Id="rId150" Type="http://schemas.openxmlformats.org/officeDocument/2006/relationships/slide" Target="slides/slide147.xml"/><Relationship Id="rId15" Type="http://schemas.openxmlformats.org/officeDocument/2006/relationships/slide" Target="slides/slide12.xml"/><Relationship Id="rId149" Type="http://schemas.openxmlformats.org/officeDocument/2006/relationships/slide" Target="slides/slide146.xml"/><Relationship Id="rId148" Type="http://schemas.openxmlformats.org/officeDocument/2006/relationships/slide" Target="slides/slide145.xml"/><Relationship Id="rId147" Type="http://schemas.openxmlformats.org/officeDocument/2006/relationships/slide" Target="slides/slide144.xml"/><Relationship Id="rId146" Type="http://schemas.openxmlformats.org/officeDocument/2006/relationships/slide" Target="slides/slide143.xml"/><Relationship Id="rId145" Type="http://schemas.openxmlformats.org/officeDocument/2006/relationships/slide" Target="slides/slide142.xml"/><Relationship Id="rId144" Type="http://schemas.openxmlformats.org/officeDocument/2006/relationships/slide" Target="slides/slide141.xml"/><Relationship Id="rId143" Type="http://schemas.openxmlformats.org/officeDocument/2006/relationships/slide" Target="slides/slide140.xml"/><Relationship Id="rId142" Type="http://schemas.openxmlformats.org/officeDocument/2006/relationships/slide" Target="slides/slide139.xml"/><Relationship Id="rId141" Type="http://schemas.openxmlformats.org/officeDocument/2006/relationships/slide" Target="slides/slide138.xml"/><Relationship Id="rId140" Type="http://schemas.openxmlformats.org/officeDocument/2006/relationships/slide" Target="slides/slide137.xml"/><Relationship Id="rId14" Type="http://schemas.openxmlformats.org/officeDocument/2006/relationships/slide" Target="slides/slide11.xml"/><Relationship Id="rId139" Type="http://schemas.openxmlformats.org/officeDocument/2006/relationships/slide" Target="slides/slide136.xml"/><Relationship Id="rId138" Type="http://schemas.openxmlformats.org/officeDocument/2006/relationships/slide" Target="slides/slide135.xml"/><Relationship Id="rId137" Type="http://schemas.openxmlformats.org/officeDocument/2006/relationships/slide" Target="slides/slide134.xml"/><Relationship Id="rId136" Type="http://schemas.openxmlformats.org/officeDocument/2006/relationships/slide" Target="slides/slide133.xml"/><Relationship Id="rId135" Type="http://schemas.openxmlformats.org/officeDocument/2006/relationships/slide" Target="slides/slide132.xml"/><Relationship Id="rId134" Type="http://schemas.openxmlformats.org/officeDocument/2006/relationships/slide" Target="slides/slide131.xml"/><Relationship Id="rId133" Type="http://schemas.openxmlformats.org/officeDocument/2006/relationships/slide" Target="slides/slide130.xml"/><Relationship Id="rId132" Type="http://schemas.openxmlformats.org/officeDocument/2006/relationships/slide" Target="slides/slide129.xml"/><Relationship Id="rId131" Type="http://schemas.openxmlformats.org/officeDocument/2006/relationships/slide" Target="slides/slide128.xml"/><Relationship Id="rId130" Type="http://schemas.openxmlformats.org/officeDocument/2006/relationships/slide" Target="slides/slide127.xml"/><Relationship Id="rId13" Type="http://schemas.openxmlformats.org/officeDocument/2006/relationships/slide" Target="slides/slide10.xml"/><Relationship Id="rId129" Type="http://schemas.openxmlformats.org/officeDocument/2006/relationships/slide" Target="slides/slide126.xml"/><Relationship Id="rId128" Type="http://schemas.openxmlformats.org/officeDocument/2006/relationships/slide" Target="slides/slide125.xml"/><Relationship Id="rId127" Type="http://schemas.openxmlformats.org/officeDocument/2006/relationships/slide" Target="slides/slide124.xml"/><Relationship Id="rId126" Type="http://schemas.openxmlformats.org/officeDocument/2006/relationships/slide" Target="slides/slide123.xml"/><Relationship Id="rId125" Type="http://schemas.openxmlformats.org/officeDocument/2006/relationships/slide" Target="slides/slide122.xml"/><Relationship Id="rId124" Type="http://schemas.openxmlformats.org/officeDocument/2006/relationships/slide" Target="slides/slide121.xml"/><Relationship Id="rId123" Type="http://schemas.openxmlformats.org/officeDocument/2006/relationships/slide" Target="slides/slide120.xml"/><Relationship Id="rId122" Type="http://schemas.openxmlformats.org/officeDocument/2006/relationships/slide" Target="slides/slide119.xml"/><Relationship Id="rId121" Type="http://schemas.openxmlformats.org/officeDocument/2006/relationships/slide" Target="slides/slide118.xml"/><Relationship Id="rId120" Type="http://schemas.openxmlformats.org/officeDocument/2006/relationships/slide" Target="slides/slide117.xml"/><Relationship Id="rId12" Type="http://schemas.openxmlformats.org/officeDocument/2006/relationships/slide" Target="slides/slide9.xml"/><Relationship Id="rId119" Type="http://schemas.openxmlformats.org/officeDocument/2006/relationships/slide" Target="slides/slide116.xml"/><Relationship Id="rId118" Type="http://schemas.openxmlformats.org/officeDocument/2006/relationships/slide" Target="slides/slide115.xml"/><Relationship Id="rId117" Type="http://schemas.openxmlformats.org/officeDocument/2006/relationships/slide" Target="slides/slide114.xml"/><Relationship Id="rId116" Type="http://schemas.openxmlformats.org/officeDocument/2006/relationships/slide" Target="slides/slide113.xml"/><Relationship Id="rId115" Type="http://schemas.openxmlformats.org/officeDocument/2006/relationships/slide" Target="slides/slide112.xml"/><Relationship Id="rId114" Type="http://schemas.openxmlformats.org/officeDocument/2006/relationships/slide" Target="slides/slide111.xml"/><Relationship Id="rId113" Type="http://schemas.openxmlformats.org/officeDocument/2006/relationships/slide" Target="slides/slide110.xml"/><Relationship Id="rId112" Type="http://schemas.openxmlformats.org/officeDocument/2006/relationships/slide" Target="slides/slide109.xml"/><Relationship Id="rId111" Type="http://schemas.openxmlformats.org/officeDocument/2006/relationships/slide" Target="slides/slide108.xml"/><Relationship Id="rId110" Type="http://schemas.openxmlformats.org/officeDocument/2006/relationships/slide" Target="slides/slide107.xml"/><Relationship Id="rId11" Type="http://schemas.openxmlformats.org/officeDocument/2006/relationships/slide" Target="slides/slide8.xml"/><Relationship Id="rId109" Type="http://schemas.openxmlformats.org/officeDocument/2006/relationships/slide" Target="slides/slide106.xml"/><Relationship Id="rId108" Type="http://schemas.openxmlformats.org/officeDocument/2006/relationships/slide" Target="slides/slide105.xml"/><Relationship Id="rId107" Type="http://schemas.openxmlformats.org/officeDocument/2006/relationships/slide" Target="slides/slide104.xml"/><Relationship Id="rId106" Type="http://schemas.openxmlformats.org/officeDocument/2006/relationships/slide" Target="slides/slide103.xml"/><Relationship Id="rId105" Type="http://schemas.openxmlformats.org/officeDocument/2006/relationships/slide" Target="slides/slide102.xml"/><Relationship Id="rId104" Type="http://schemas.openxmlformats.org/officeDocument/2006/relationships/slide" Target="slides/slide101.xml"/><Relationship Id="rId103" Type="http://schemas.openxmlformats.org/officeDocument/2006/relationships/slide" Target="slides/slide100.xml"/><Relationship Id="rId102" Type="http://schemas.openxmlformats.org/officeDocument/2006/relationships/slide" Target="slides/slide99.xml"/><Relationship Id="rId101" Type="http://schemas.openxmlformats.org/officeDocument/2006/relationships/slide" Target="slides/slide98.xml"/><Relationship Id="rId100" Type="http://schemas.openxmlformats.org/officeDocument/2006/relationships/slide" Target="slides/slide97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4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5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6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7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8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9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0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2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3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4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5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6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7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8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9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0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2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3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4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5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6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7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8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9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0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2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3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4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5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6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7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8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9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0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2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3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4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5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6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7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8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9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0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2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3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4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5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6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7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8.xml"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9.xml"/></Relationships>
</file>

<file path=ppt/notesSlides/_rels/notesSlide9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0.xml"/></Relationships>
</file>

<file path=ppt/notesSlides/_rels/notesSlide9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1.xml"/></Relationships>
</file>

<file path=ppt/notesSlides/_rels/notesSlide9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2.xml"/></Relationships>
</file>

<file path=ppt/notesSlides/_rels/notesSlide10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3.xml"/></Relationships>
</file>

<file path=ppt/notesSlides/_rels/notesSlide10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4.xml"/></Relationships>
</file>

<file path=ppt/notesSlides/_rels/notesSlide10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5.xml"/></Relationships>
</file>

<file path=ppt/notesSlides/_rels/notesSlide10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6.xml"/></Relationships>
</file>

<file path=ppt/notesSlides/_rels/notesSlide10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7.xml"/></Relationships>
</file>

<file path=ppt/notesSlides/_rels/notesSlide10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8.xml"/></Relationships>
</file>

<file path=ppt/notesSlides/_rels/notesSlide10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9.xml"/></Relationships>
</file>

<file path=ppt/notesSlides/_rels/notesSlide10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0.xml"/></Relationships>
</file>

<file path=ppt/notesSlides/_rels/notesSlide10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1.xml"/></Relationships>
</file>

<file path=ppt/notesSlides/_rels/notesSlide10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2.xml"/></Relationships>
</file>

<file path=ppt/notesSlides/_rels/notesSlide1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3.xml"/></Relationships>
</file>

<file path=ppt/notesSlides/_rels/notesSlide1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4.xml"/></Relationships>
</file>

<file path=ppt/notesSlides/_rels/notesSlide1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5.xml"/></Relationships>
</file>

<file path=ppt/notesSlides/_rels/notesSlide1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6.xml"/></Relationships>
</file>

<file path=ppt/notesSlides/_rels/notesSlide1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7.xml"/></Relationships>
</file>

<file path=ppt/notesSlides/_rels/notesSlide1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8.xml"/></Relationships>
</file>

<file path=ppt/notesSlides/_rels/notesSlide1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9.xml"/></Relationships>
</file>

<file path=ppt/notesSlides/_rels/notesSlide1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0.xml"/></Relationships>
</file>

<file path=ppt/notesSlides/_rels/notesSlide1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1.xml"/></Relationships>
</file>

<file path=ppt/notesSlides/_rels/notesSlide1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2.xml"/></Relationships>
</file>

<file path=ppt/notesSlides/_rels/notesSlide1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3.xml"/></Relationships>
</file>

<file path=ppt/notesSlides/_rels/notesSlide1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4.xml"/></Relationships>
</file>

<file path=ppt/notesSlides/_rels/notesSlide1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5.xml"/></Relationships>
</file>

<file path=ppt/notesSlides/_rels/notesSlide1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6.xml"/></Relationships>
</file>

<file path=ppt/notesSlides/_rels/notesSlide1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7.xml"/></Relationships>
</file>

<file path=ppt/notesSlides/_rels/notesSlide1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8.xml"/></Relationships>
</file>

<file path=ppt/notesSlides/_rels/notesSlide1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9.xml"/></Relationships>
</file>

<file path=ppt/notesSlides/_rels/notesSlide1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0.xml"/></Relationships>
</file>

<file path=ppt/notesSlides/_rels/notesSlide1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1.xml"/></Relationships>
</file>

<file path=ppt/notesSlides/_rels/notesSlide1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2.xml"/></Relationships>
</file>

<file path=ppt/notesSlides/_rels/notesSlide1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3.xml"/></Relationships>
</file>

<file path=ppt/notesSlides/_rels/notesSlide1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4.xml"/></Relationships>
</file>

<file path=ppt/notesSlides/_rels/notesSlide1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5.xml"/></Relationships>
</file>

<file path=ppt/notesSlides/_rels/notesSlide1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6.xml"/></Relationships>
</file>

<file path=ppt/notesSlides/_rels/notesSlide1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7.xml"/></Relationships>
</file>

<file path=ppt/notesSlides/_rels/notesSlide1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8.xml"/></Relationships>
</file>

<file path=ppt/notesSlides/_rels/notesSlide1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9.xml"/></Relationships>
</file>

<file path=ppt/notesSlides/_rels/notesSlide1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0.xml"/></Relationships>
</file>

<file path=ppt/notesSlides/_rels/notesSlide13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1.xml"/></Relationships>
</file>

<file path=ppt/notesSlides/_rels/notesSlide13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2.xml"/></Relationships>
</file>

<file path=ppt/notesSlides/_rels/notesSlide14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3.xml"/></Relationships>
</file>

<file path=ppt/notesSlides/_rels/notesSlide14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4.xml"/></Relationships>
</file>

<file path=ppt/notesSlides/_rels/notesSlide14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5.xml"/></Relationships>
</file>

<file path=ppt/notesSlides/_rels/notesSlide14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6.xml"/></Relationships>
</file>

<file path=ppt/notesSlides/_rels/notesSlide14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7.xml"/></Relationships>
</file>

<file path=ppt/notesSlides/_rels/notesSlide14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8.xml"/></Relationships>
</file>

<file path=ppt/notesSlides/_rels/notesSlide14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9.xml"/></Relationships>
</file>

<file path=ppt/notesSlides/_rels/notesSlide14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0.xml"/></Relationships>
</file>

<file path=ppt/notesSlides/_rels/notesSlide14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1.xml"/></Relationships>
</file>

<file path=ppt/notesSlides/_rels/notesSlide14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2.xml"/></Relationships>
</file>

<file path=ppt/notesSlides/_rels/notesSlide15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3.xml"/></Relationships>
</file>

<file path=ppt/notesSlides/_rels/notesSlide15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4.xml"/></Relationships>
</file>

<file path=ppt/notesSlides/_rels/notesSlide15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5.xml"/></Relationships>
</file>

<file path=ppt/notesSlides/_rels/notesSlide15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6.xml"/></Relationships>
</file>

<file path=ppt/notesSlides/_rels/notesSlide15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7.xml"/></Relationships>
</file>

<file path=ppt/notesSlides/_rels/notesSlide15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8.xml"/></Relationships>
</file>

<file path=ppt/notesSlides/_rels/notesSlide15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9.xml"/></Relationships>
</file>

<file path=ppt/notesSlides/_rels/notesSlide15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0.xml"/></Relationships>
</file>

<file path=ppt/notesSlides/_rels/notesSlide15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1.xml"/></Relationships>
</file>

<file path=ppt/notesSlides/_rels/notesSlide15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2.xml"/></Relationships>
</file>

<file path=ppt/notesSlides/_rels/notesSlide16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3.xml"/></Relationships>
</file>

<file path=ppt/notesSlides/_rels/notesSlide16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4.xml"/></Relationships>
</file>

<file path=ppt/notesSlides/_rels/notesSlide16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5.xml"/></Relationships>
</file>

<file path=ppt/notesSlides/_rels/notesSlide16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6.xml"/></Relationships>
</file>

<file path=ppt/notesSlides/_rels/notesSlide16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7.xml"/></Relationships>
</file>

<file path=ppt/notesSlides/_rels/notesSlide16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8.xml"/></Relationships>
</file>

<file path=ppt/notesSlides/_rels/notesSlide16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9.xml"/></Relationships>
</file>

<file path=ppt/notesSlides/_rels/notesSlide16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0.xml"/></Relationships>
</file>

<file path=ppt/notesSlides/_rels/notesSlide16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1.xml"/></Relationships>
</file>

<file path=ppt/notesSlides/_rels/notesSlide16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2.xml"/></Relationships>
</file>

<file path=ppt/notesSlides/_rels/notesSlide17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3.xml"/></Relationships>
</file>

<file path=ppt/notesSlides/_rels/notesSlide17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4.xml"/></Relationships>
</file>

<file path=ppt/notesSlides/_rels/notesSlide17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5.xml"/></Relationships>
</file>

<file path=ppt/notesSlides/_rels/notesSlide17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6.xml"/></Relationships>
</file>

<file path=ppt/notesSlides/_rels/notesSlide17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7.xml"/></Relationships>
</file>

<file path=ppt/notesSlides/_rels/notesSlide17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8.xml"/></Relationships>
</file>

<file path=ppt/notesSlides/_rels/notesSlide17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9.xml"/></Relationships>
</file>

<file path=ppt/notesSlides/_rels/notesSlide17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0.xml"/></Relationships>
</file>

<file path=ppt/notesSlides/_rels/notesSlide17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1.xml"/></Relationships>
</file>

<file path=ppt/notesSlides/_rels/notesSlide17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2.xml"/></Relationships>
</file>

<file path=ppt/notesSlides/_rels/notesSlide18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3.xml"/></Relationships>
</file>

<file path=ppt/notesSlides/_rels/notesSlide18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4.xml"/></Relationships>
</file>

<file path=ppt/notesSlides/_rels/notesSlide18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5.xml"/></Relationships>
</file>

<file path=ppt/notesSlides/_rels/notesSlide18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6.xml"/></Relationships>
</file>

<file path=ppt/notesSlides/_rels/notesSlide18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7.xml"/></Relationships>
</file>

<file path=ppt/notesSlides/_rels/notesSlide18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8.xml"/></Relationships>
</file>

<file path=ppt/notesSlides/_rels/notesSlide18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9.xml"/></Relationships>
</file>

<file path=ppt/notesSlides/_rels/notesSlide18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0.xml"/></Relationships>
</file>

<file path=ppt/notesSlides/_rels/notesSlide18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1.xml"/></Relationships>
</file>

<file path=ppt/notesSlides/_rels/notesSlide18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2.xml"/></Relationships>
</file>

<file path=ppt/notesSlides/_rels/notesSlide19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3.xml"/></Relationships>
</file>

<file path=ppt/notesSlides/_rels/notesSlide19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4.xml"/></Relationships>
</file>

<file path=ppt/notesSlides/_rels/notesSlide19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5.xml"/></Relationships>
</file>

<file path=ppt/notesSlides/_rels/notesSlide19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6.xml"/></Relationships>
</file>

<file path=ppt/notesSlides/_rels/notesSlide19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7.xml"/></Relationships>
</file>

<file path=ppt/notesSlides/_rels/notesSlide19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8.xml"/></Relationships>
</file>

<file path=ppt/notesSlides/_rels/notesSlide19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9.xml"/></Relationships>
</file>

<file path=ppt/notesSlides/_rels/notesSlide19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0.xml"/></Relationships>
</file>

<file path=ppt/notesSlides/_rels/notesSlide19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1.xml"/></Relationships>
</file>

<file path=ppt/notesSlides/_rels/notesSlide19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2.xml"/></Relationships>
</file>

<file path=ppt/notesSlides/_rels/notesSlide20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3.xml"/></Relationships>
</file>

<file path=ppt/notesSlides/_rels/notesSlide20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4.xml"/></Relationships>
</file>

<file path=ppt/notesSlides/_rels/notesSlide20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5.xml"/></Relationships>
</file>

<file path=ppt/notesSlides/_rels/notesSlide20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6.xml"/></Relationships>
</file>

<file path=ppt/notesSlides/_rels/notesSlide20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7.xml"/></Relationships>
</file>

<file path=ppt/notesSlides/_rels/notesSlide20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8.xml"/></Relationships>
</file>

<file path=ppt/notesSlides/_rels/notesSlide20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9.xml"/></Relationships>
</file>

<file path=ppt/notesSlides/_rels/notesSlide20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0.xml"/></Relationships>
</file>

<file path=ppt/notesSlides/_rels/notesSlide20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1.xml"/></Relationships>
</file>

<file path=ppt/notesSlides/_rels/notesSlide20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2.xml"/></Relationships>
</file>

<file path=ppt/notesSlides/_rels/notesSlide2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3.xml"/></Relationships>
</file>

<file path=ppt/notesSlides/_rels/notesSlide2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4.xml"/></Relationships>
</file>

<file path=ppt/notesSlides/_rels/notesSlide2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5.xml"/></Relationships>
</file>

<file path=ppt/notesSlides/_rels/notesSlide2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6.xml"/></Relationships>
</file>

<file path=ppt/notesSlides/_rels/notesSlide2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7.xml"/></Relationships>
</file>

<file path=ppt/notesSlides/_rels/notesSlide2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8.xml"/></Relationships>
</file>

<file path=ppt/notesSlides/_rels/notesSlide2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9.xml"/></Relationships>
</file>

<file path=ppt/notesSlides/_rels/notesSlide2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0.xml"/></Relationships>
</file>

<file path=ppt/notesSlides/_rels/notesSlide2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1.xml"/></Relationships>
</file>

<file path=ppt/notesSlides/_rels/notesSlide2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2.xml"/></Relationships>
</file>

<file path=ppt/notesSlides/_rels/notesSlide2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3.xml"/></Relationships>
</file>

<file path=ppt/notesSlides/_rels/notesSlide2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4.xml"/></Relationships>
</file>

<file path=ppt/notesSlides/_rels/notesSlide2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5.xml"/></Relationships>
</file>

<file path=ppt/notesSlides/_rels/notesSlide2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6.xml"/></Relationships>
</file>

<file path=ppt/notesSlides/_rels/notesSlide2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7.xml"/></Relationships>
</file>

<file path=ppt/notesSlides/_rels/notesSlide2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8.xml"/></Relationships>
</file>

<file path=ppt/notesSlides/_rels/notesSlide2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9.xml"/></Relationships>
</file>

<file path=ppt/notesSlides/_rels/notesSlide2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0.xml"/></Relationships>
</file>

<file path=ppt/notesSlides/_rels/notesSlide2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1.xml"/></Relationships>
</file>

<file path=ppt/notesSlides/_rels/notesSlide2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2.xml"/></Relationships>
</file>

<file path=ppt/notesSlides/_rels/notesSlide2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3.xml"/></Relationships>
</file>

<file path=ppt/notesSlides/_rels/notesSlide2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4.xml"/></Relationships>
</file>

<file path=ppt/notesSlides/_rels/notesSlide2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5.xml"/></Relationships>
</file>

<file path=ppt/notesSlides/_rels/notesSlide2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6.xml"/></Relationships>
</file>

<file path=ppt/notesSlides/_rels/notesSlide2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7.xml"/></Relationships>
</file>

<file path=ppt/notesSlides/_rels/notesSlide2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8.xml"/></Relationships>
</file>

<file path=ppt/notesSlides/_rels/notesSlide2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9.xml"/></Relationships>
</file>

<file path=ppt/notesSlides/_rels/notesSlide2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0.xml"/></Relationships>
</file>

<file path=ppt/notesSlides/_rels/notesSlide23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1.xml"/></Relationships>
</file>

<file path=ppt/notesSlides/_rels/notesSlide23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2.xml"/></Relationships>
</file>

<file path=ppt/notesSlides/_rels/notesSlide24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3.xml"/></Relationships>
</file>

<file path=ppt/notesSlides/_rels/notesSlide24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4.xml"/></Relationships>
</file>

<file path=ppt/notesSlides/_rels/notesSlide24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5.xml"/></Relationships>
</file>

<file path=ppt/notesSlides/_rels/notesSlide24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6.xml"/></Relationships>
</file>

<file path=ppt/notesSlides/_rels/notesSlide24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7.xml"/></Relationships>
</file>

<file path=ppt/notesSlides/_rels/notesSlide24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8.xml"/></Relationships>
</file>

<file path=ppt/notesSlides/_rels/notesSlide24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9.xml"/></Relationships>
</file>

<file path=ppt/notesSlides/_rels/notesSlide24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0.xml"/></Relationships>
</file>

<file path=ppt/notesSlides/_rels/notesSlide24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1.xml"/></Relationships>
</file>

<file path=ppt/notesSlides/_rels/notesSlide24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2.xml"/></Relationships>
</file>

<file path=ppt/notesSlides/_rels/notesSlide25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3.xml"/></Relationships>
</file>

<file path=ppt/notesSlides/_rels/notesSlide25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4.xml"/></Relationships>
</file>

<file path=ppt/notesSlides/_rels/notesSlide25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5.xml"/></Relationships>
</file>

<file path=ppt/notesSlides/_rels/notesSlide25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6.xml"/></Relationships>
</file>

<file path=ppt/notesSlides/_rels/notesSlide25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7.xml"/></Relationships>
</file>

<file path=ppt/notesSlides/_rels/notesSlide25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8.xml"/></Relationships>
</file>

<file path=ppt/notesSlides/_rels/notesSlide25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9.xml"/></Relationships>
</file>

<file path=ppt/notesSlides/_rels/notesSlide25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0.xml"/></Relationships>
</file>

<file path=ppt/notesSlides/_rels/notesSlide25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1.xml"/></Relationships>
</file>

<file path=ppt/notesSlides/_rels/notesSlide25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2.xml"/></Relationships>
</file>

<file path=ppt/notesSlides/_rels/notesSlide26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3.xml"/></Relationships>
</file>

<file path=ppt/notesSlides/_rels/notesSlide26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4.xml"/></Relationships>
</file>

<file path=ppt/notesSlides/_rels/notesSlide26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5.xml"/></Relationships>
</file>

<file path=ppt/notesSlides/_rels/notesSlide26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6.xml"/></Relationships>
</file>

<file path=ppt/notesSlides/_rels/notesSlide26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7.xml"/></Relationships>
</file>

<file path=ppt/notesSlides/_rels/notesSlide26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8.xml"/></Relationships>
</file>

<file path=ppt/notesSlides/_rels/notesSlide26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9.xml"/></Relationships>
</file>

<file path=ppt/notesSlides/_rels/notesSlide26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0.xml"/></Relationships>
</file>

<file path=ppt/notesSlides/_rels/notesSlide26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1.xml"/></Relationships>
</file>

<file path=ppt/notesSlides/_rels/notesSlide26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2.xml"/></Relationships>
</file>

<file path=ppt/notesSlides/_rels/notesSlide27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3.xml"/></Relationships>
</file>

<file path=ppt/notesSlides/_rels/notesSlide27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4.xml"/></Relationships>
</file>

<file path=ppt/notesSlides/_rels/notesSlide27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5.xml"/></Relationships>
</file>

<file path=ppt/notesSlides/_rels/notesSlide27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6.xml"/></Relationships>
</file>

<file path=ppt/notesSlides/_rels/notesSlide27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7.xml"/></Relationships>
</file>

<file path=ppt/notesSlides/_rels/notesSlide27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8.xml"/></Relationships>
</file>

<file path=ppt/notesSlides/_rels/notesSlide27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9.xml"/></Relationships>
</file>

<file path=ppt/notesSlides/_rels/notesSlide27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0.xml"/></Relationships>
</file>

<file path=ppt/notesSlides/_rels/notesSlide27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1.xml"/></Relationships>
</file>

<file path=ppt/notesSlides/_rels/notesSlide27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2.xml"/></Relationships>
</file>

<file path=ppt/notesSlides/_rels/notesSlide28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3.xml"/></Relationships>
</file>

<file path=ppt/notesSlides/_rels/notesSlide28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4.xml"/></Relationships>
</file>

<file path=ppt/notesSlides/_rels/notesSlide28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5.xml"/></Relationships>
</file>

<file path=ppt/notesSlides/_rels/notesSlide28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6.xml"/></Relationships>
</file>

<file path=ppt/notesSlides/_rels/notesSlide28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7.xml"/></Relationships>
</file>

<file path=ppt/notesSlides/_rels/notesSlide28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8.xml"/></Relationships>
</file>

<file path=ppt/notesSlides/_rels/notesSlide28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9.xml"/></Relationships>
</file>

<file path=ppt/notesSlides/_rels/notesSlide28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0.xml"/></Relationships>
</file>

<file path=ppt/notesSlides/_rels/notesSlide28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1.xml"/></Relationships>
</file>

<file path=ppt/notesSlides/_rels/notesSlide28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2.xml"/></Relationships>
</file>

<file path=ppt/notesSlides/_rels/notesSlide29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3.xml"/></Relationships>
</file>

<file path=ppt/notesSlides/_rels/notesSlide29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4.xml"/></Relationships>
</file>

<file path=ppt/notesSlides/_rels/notesSlide29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5.xml"/></Relationships>
</file>

<file path=ppt/notesSlides/_rels/notesSlide29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6.xml"/></Relationships>
</file>

<file path=ppt/notesSlides/_rels/notesSlide29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7.xml"/></Relationships>
</file>

<file path=ppt/notesSlides/_rels/notesSlide29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8.xml"/></Relationships>
</file>

<file path=ppt/notesSlides/_rels/notesSlide29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9.xml"/></Relationships>
</file>

<file path=ppt/notesSlides/_rels/notesSlide29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0.xml"/></Relationships>
</file>

<file path=ppt/notesSlides/_rels/notesSlide29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1.xml"/></Relationships>
</file>

<file path=ppt/notesSlides/_rels/notesSlide29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the class. No previous AI knowledge is needed for this course.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clear with students: everything they can use today is narrow AI, however impressive it looks.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Hinton, LeCun and Bengio shared the 2018 ACM Turing Award for their work on deep learning.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Draw this as four circles inside each other on the board: AI contains ML, which contains DL, which contains Gen AI.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Avoid ranking specific products. Capabilities and prices change frequently.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this at awareness and prevention level. Do not describe how cloning is performed.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Awareness and prevention only. Never explain how to create a deepfake of a real person.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a fictional example built to show the idea clearly.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Emphasise strongly: every high-stakes healthcare output requires professional review.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Awareness and prevention only. Never describe how to create 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Tell students to re-check specific capability claims; this area moves faster than any textbook.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Invite questions. Point students to the roadmap slide as their concrete next step.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I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R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4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.x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2.png"/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4.xml"/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image" Target="../media/image11.png"/><Relationship Id="rId7" Type="http://schemas.openxmlformats.org/officeDocument/2006/relationships/image" Target="../media/image24.png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0" Type="http://schemas.openxmlformats.org/officeDocument/2006/relationships/notesSlide" Target="../notesSlides/notesSlide5.xml"/><Relationship Id="rId1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5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7.jpeg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image" Target="../media/image28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image" Target="../media/image6.png"/><Relationship Id="rId7" Type="http://schemas.openxmlformats.org/officeDocument/2006/relationships/image" Target="../media/image5.png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0" Type="http://schemas.openxmlformats.org/officeDocument/2006/relationships/notesSlide" Target="../notesSlides/notesSlide9.xml"/><Relationship Id="rId1" Type="http://schemas.openxmlformats.org/officeDocument/2006/relationships/image" Target="../media/image31.png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image" Target="../media/image42.png"/><Relationship Id="rId7" Type="http://schemas.openxmlformats.org/officeDocument/2006/relationships/image" Target="../media/image41.png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Relationship Id="rId3" Type="http://schemas.openxmlformats.org/officeDocument/2006/relationships/image" Target="../media/image37.png"/><Relationship Id="rId2" Type="http://schemas.openxmlformats.org/officeDocument/2006/relationships/image" Target="../media/image32.png"/><Relationship Id="rId10" Type="http://schemas.openxmlformats.org/officeDocument/2006/relationships/notesSlide" Target="../notesSlides/notesSlide10.xml"/><Relationship Id="rId1" Type="http://schemas.openxmlformats.org/officeDocument/2006/relationships/image" Target="../media/image31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2.xml"/><Relationship Id="rId6" Type="http://schemas.openxmlformats.org/officeDocument/2006/relationships/slideLayout" Target="../slideLayouts/slideLayout3.xml"/><Relationship Id="rId5" Type="http://schemas.openxmlformats.org/officeDocument/2006/relationships/image" Target="../media/image46.png"/><Relationship Id="rId4" Type="http://schemas.openxmlformats.org/officeDocument/2006/relationships/image" Target="../media/image45.png"/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3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7.png"/><Relationship Id="rId1" Type="http://schemas.openxmlformats.org/officeDocument/2006/relationships/image" Target="../media/image4.png"/></Relationships>
</file>

<file path=ppt/slides/_rels/slide17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4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51.png"/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image" Target="../media/image48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6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image" Target="../media/image52.png"/></Relationships>
</file>

<file path=ppt/slides/_rels/slide20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7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58.png"/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image" Target="../media/image55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0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51.png"/><Relationship Id="rId3" Type="http://schemas.openxmlformats.org/officeDocument/2006/relationships/image" Target="../media/image33.png"/><Relationship Id="rId2" Type="http://schemas.openxmlformats.org/officeDocument/2006/relationships/image" Target="../media/image60.png"/><Relationship Id="rId1" Type="http://schemas.openxmlformats.org/officeDocument/2006/relationships/image" Target="../media/image59.png"/></Relationships>
</file>

<file path=ppt/slides/_rels/slide2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1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9.png"/><Relationship Id="rId1" Type="http://schemas.openxmlformats.org/officeDocument/2006/relationships/image" Target="../media/image61.png"/></Relationships>
</file>

<file path=ppt/slides/_rels/slide25.xml.rels><?xml version="1.0" encoding="UTF-8" standalone="yes"?>
<Relationships xmlns="http://schemas.openxmlformats.org/package/2006/relationships"><Relationship Id="rId9" Type="http://schemas.openxmlformats.org/officeDocument/2006/relationships/image" Target="../media/image69.png"/><Relationship Id="rId8" Type="http://schemas.openxmlformats.org/officeDocument/2006/relationships/image" Target="../media/image68.png"/><Relationship Id="rId7" Type="http://schemas.openxmlformats.org/officeDocument/2006/relationships/image" Target="../media/image67.png"/><Relationship Id="rId6" Type="http://schemas.openxmlformats.org/officeDocument/2006/relationships/image" Target="../media/image66.png"/><Relationship Id="rId5" Type="http://schemas.openxmlformats.org/officeDocument/2006/relationships/image" Target="../media/image65.png"/><Relationship Id="rId4" Type="http://schemas.openxmlformats.org/officeDocument/2006/relationships/image" Target="../media/image64.png"/><Relationship Id="rId3" Type="http://schemas.openxmlformats.org/officeDocument/2006/relationships/image" Target="../media/image63.png"/><Relationship Id="rId2" Type="http://schemas.openxmlformats.org/officeDocument/2006/relationships/image" Target="../media/image41.png"/><Relationship Id="rId11" Type="http://schemas.openxmlformats.org/officeDocument/2006/relationships/notesSlide" Target="../notesSlides/notesSlide22.xml"/><Relationship Id="rId10" Type="http://schemas.openxmlformats.org/officeDocument/2006/relationships/slideLayout" Target="../slideLayouts/slideLayout2.xml"/><Relationship Id="rId1" Type="http://schemas.openxmlformats.org/officeDocument/2006/relationships/image" Target="../media/image62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3.x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72.png"/><Relationship Id="rId5" Type="http://schemas.openxmlformats.org/officeDocument/2006/relationships/image" Target="../media/image17.png"/><Relationship Id="rId4" Type="http://schemas.openxmlformats.org/officeDocument/2006/relationships/image" Target="../media/image71.png"/><Relationship Id="rId3" Type="http://schemas.openxmlformats.org/officeDocument/2006/relationships/image" Target="../media/image70.png"/><Relationship Id="rId2" Type="http://schemas.openxmlformats.org/officeDocument/2006/relationships/image" Target="../media/image49.png"/><Relationship Id="rId1" Type="http://schemas.openxmlformats.org/officeDocument/2006/relationships/image" Target="../media/image48.png"/></Relationships>
</file>

<file path=ppt/slides/_rels/slide27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4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74.png"/><Relationship Id="rId3" Type="http://schemas.openxmlformats.org/officeDocument/2006/relationships/image" Target="../media/image73.png"/><Relationship Id="rId2" Type="http://schemas.openxmlformats.org/officeDocument/2006/relationships/image" Target="../media/image47.png"/><Relationship Id="rId1" Type="http://schemas.openxmlformats.org/officeDocument/2006/relationships/image" Target="../media/image4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6.xml"/><Relationship Id="rId6" Type="http://schemas.openxmlformats.org/officeDocument/2006/relationships/slideLayout" Target="../slideLayouts/slideLayout3.xml"/><Relationship Id="rId5" Type="http://schemas.openxmlformats.org/officeDocument/2006/relationships/image" Target="../media/image77.png"/><Relationship Id="rId4" Type="http://schemas.openxmlformats.org/officeDocument/2006/relationships/image" Target="../media/image76.png"/><Relationship Id="rId3" Type="http://schemas.openxmlformats.org/officeDocument/2006/relationships/image" Target="../media/image75.png"/><Relationship Id="rId2" Type="http://schemas.openxmlformats.org/officeDocument/2006/relationships/image" Target="../media/image5.png"/><Relationship Id="rId1" Type="http://schemas.openxmlformats.org/officeDocument/2006/relationships/image" Target="../media/image13.png"/></Relationships>
</file>

<file path=ppt/slides/_rels/slide30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7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2.png"/><Relationship Id="rId3" Type="http://schemas.openxmlformats.org/officeDocument/2006/relationships/image" Target="../media/image79.png"/><Relationship Id="rId2" Type="http://schemas.openxmlformats.org/officeDocument/2006/relationships/image" Target="../media/image5.png"/><Relationship Id="rId1" Type="http://schemas.openxmlformats.org/officeDocument/2006/relationships/image" Target="../media/image78.png"/></Relationships>
</file>

<file path=ppt/slides/_rels/slide3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8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81.png"/><Relationship Id="rId3" Type="http://schemas.openxmlformats.org/officeDocument/2006/relationships/image" Target="../media/image80.png"/><Relationship Id="rId2" Type="http://schemas.openxmlformats.org/officeDocument/2006/relationships/image" Target="../media/image61.png"/><Relationship Id="rId1" Type="http://schemas.openxmlformats.org/officeDocument/2006/relationships/image" Target="../media/image13.png"/></Relationships>
</file>

<file path=ppt/slides/_rels/slide3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9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85.png"/><Relationship Id="rId3" Type="http://schemas.openxmlformats.org/officeDocument/2006/relationships/image" Target="../media/image84.png"/><Relationship Id="rId2" Type="http://schemas.openxmlformats.org/officeDocument/2006/relationships/image" Target="../media/image83.png"/><Relationship Id="rId1" Type="http://schemas.openxmlformats.org/officeDocument/2006/relationships/image" Target="../media/image82.png"/></Relationships>
</file>

<file path=ppt/slides/_rels/slide3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0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85.png"/><Relationship Id="rId3" Type="http://schemas.openxmlformats.org/officeDocument/2006/relationships/image" Target="../media/image87.png"/><Relationship Id="rId2" Type="http://schemas.openxmlformats.org/officeDocument/2006/relationships/image" Target="../media/image5.png"/><Relationship Id="rId1" Type="http://schemas.openxmlformats.org/officeDocument/2006/relationships/image" Target="../media/image86.png"/></Relationships>
</file>

<file path=ppt/slides/_rels/slide3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1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90.png"/><Relationship Id="rId3" Type="http://schemas.openxmlformats.org/officeDocument/2006/relationships/image" Target="../media/image89.png"/><Relationship Id="rId2" Type="http://schemas.openxmlformats.org/officeDocument/2006/relationships/image" Target="../media/image14.png"/><Relationship Id="rId1" Type="http://schemas.openxmlformats.org/officeDocument/2006/relationships/image" Target="../media/image88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3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58.png"/><Relationship Id="rId3" Type="http://schemas.openxmlformats.org/officeDocument/2006/relationships/image" Target="../media/image80.png"/><Relationship Id="rId2" Type="http://schemas.openxmlformats.org/officeDocument/2006/relationships/image" Target="../media/image47.png"/><Relationship Id="rId1" Type="http://schemas.openxmlformats.org/officeDocument/2006/relationships/image" Target="../media/image91.png"/></Relationships>
</file>

<file path=ppt/slides/_rels/slide37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4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2.png"/><Relationship Id="rId3" Type="http://schemas.openxmlformats.org/officeDocument/2006/relationships/image" Target="../media/image93.png"/><Relationship Id="rId2" Type="http://schemas.openxmlformats.org/officeDocument/2006/relationships/image" Target="../media/image47.png"/><Relationship Id="rId1" Type="http://schemas.openxmlformats.org/officeDocument/2006/relationships/image" Target="../media/image92.png"/></Relationships>
</file>

<file path=ppt/slides/_rels/slide38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5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2.png"/><Relationship Id="rId3" Type="http://schemas.openxmlformats.org/officeDocument/2006/relationships/image" Target="../media/image80.png"/><Relationship Id="rId2" Type="http://schemas.openxmlformats.org/officeDocument/2006/relationships/image" Target="../media/image60.png"/><Relationship Id="rId1" Type="http://schemas.openxmlformats.org/officeDocument/2006/relationships/image" Target="../media/image78.png"/></Relationships>
</file>

<file path=ppt/slides/_rels/slide39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6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51.png"/><Relationship Id="rId3" Type="http://schemas.openxmlformats.org/officeDocument/2006/relationships/image" Target="../media/image95.png"/><Relationship Id="rId2" Type="http://schemas.openxmlformats.org/officeDocument/2006/relationships/image" Target="../media/image94.png"/><Relationship Id="rId1" Type="http://schemas.openxmlformats.org/officeDocument/2006/relationships/image" Target="../media/image61.pn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8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9.png"/><Relationship Id="rId1" Type="http://schemas.openxmlformats.org/officeDocument/2006/relationships/image" Target="../media/image96.pn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40.xml"/><Relationship Id="rId6" Type="http://schemas.openxmlformats.org/officeDocument/2006/relationships/slideLayout" Target="../slideLayouts/slideLayout3.xml"/><Relationship Id="rId5" Type="http://schemas.openxmlformats.org/officeDocument/2006/relationships/image" Target="../media/image94.png"/><Relationship Id="rId4" Type="http://schemas.openxmlformats.org/officeDocument/2006/relationships/image" Target="../media/image99.png"/><Relationship Id="rId3" Type="http://schemas.openxmlformats.org/officeDocument/2006/relationships/image" Target="../media/image98.png"/><Relationship Id="rId2" Type="http://schemas.openxmlformats.org/officeDocument/2006/relationships/image" Target="../media/image97.png"/><Relationship Id="rId1" Type="http://schemas.openxmlformats.org/officeDocument/2006/relationships/image" Target="../media/image40.png"/></Relationships>
</file>

<file path=ppt/slides/_rels/slide4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41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7.png"/><Relationship Id="rId3" Type="http://schemas.openxmlformats.org/officeDocument/2006/relationships/image" Target="../media/image101.png"/><Relationship Id="rId2" Type="http://schemas.openxmlformats.org/officeDocument/2006/relationships/image" Target="../media/image100.png"/><Relationship Id="rId1" Type="http://schemas.openxmlformats.org/officeDocument/2006/relationships/image" Target="../media/image40.png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43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2.png"/><Relationship Id="rId3" Type="http://schemas.openxmlformats.org/officeDocument/2006/relationships/image" Target="../media/image103.png"/><Relationship Id="rId2" Type="http://schemas.openxmlformats.org/officeDocument/2006/relationships/image" Target="../media/image102.png"/><Relationship Id="rId1" Type="http://schemas.openxmlformats.org/officeDocument/2006/relationships/image" Target="../media/image36.png"/></Relationships>
</file>

<file path=ppt/slides/_rels/slide47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44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51.png"/><Relationship Id="rId3" Type="http://schemas.openxmlformats.org/officeDocument/2006/relationships/image" Target="../media/image50.png"/><Relationship Id="rId2" Type="http://schemas.openxmlformats.org/officeDocument/2006/relationships/image" Target="../media/image10.png"/><Relationship Id="rId1" Type="http://schemas.openxmlformats.org/officeDocument/2006/relationships/image" Target="../media/image55.png"/></Relationships>
</file>

<file path=ppt/slides/_rels/slide48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45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2.png"/><Relationship Id="rId3" Type="http://schemas.openxmlformats.org/officeDocument/2006/relationships/image" Target="../media/image75.png"/><Relationship Id="rId2" Type="http://schemas.openxmlformats.org/officeDocument/2006/relationships/image" Target="../media/image47.png"/><Relationship Id="rId1" Type="http://schemas.openxmlformats.org/officeDocument/2006/relationships/image" Target="../media/image104.png"/></Relationships>
</file>

<file path=ppt/slides/_rels/slide4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6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05.png"/><Relationship Id="rId1" Type="http://schemas.openxmlformats.org/officeDocument/2006/relationships/image" Target="../media/image91.png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48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51.png"/><Relationship Id="rId3" Type="http://schemas.openxmlformats.org/officeDocument/2006/relationships/image" Target="../media/image50.png"/><Relationship Id="rId2" Type="http://schemas.openxmlformats.org/officeDocument/2006/relationships/image" Target="../media/image107.png"/><Relationship Id="rId1" Type="http://schemas.openxmlformats.org/officeDocument/2006/relationships/image" Target="../media/image106.png"/></Relationships>
</file>

<file path=ppt/slides/_rels/slide5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49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81.png"/><Relationship Id="rId3" Type="http://schemas.openxmlformats.org/officeDocument/2006/relationships/image" Target="../media/image33.png"/><Relationship Id="rId2" Type="http://schemas.openxmlformats.org/officeDocument/2006/relationships/image" Target="../media/image83.png"/><Relationship Id="rId1" Type="http://schemas.openxmlformats.org/officeDocument/2006/relationships/image" Target="../media/image108.png"/></Relationships>
</file>

<file path=ppt/slides/_rels/slide5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50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51.png"/><Relationship Id="rId3" Type="http://schemas.openxmlformats.org/officeDocument/2006/relationships/image" Target="../media/image109.png"/><Relationship Id="rId2" Type="http://schemas.openxmlformats.org/officeDocument/2006/relationships/image" Target="../media/image41.png"/><Relationship Id="rId1" Type="http://schemas.openxmlformats.org/officeDocument/2006/relationships/image" Target="../media/image55.png"/></Relationships>
</file>

<file path=ppt/slides/_rels/slide54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51.xml"/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111.png"/><Relationship Id="rId4" Type="http://schemas.openxmlformats.org/officeDocument/2006/relationships/image" Target="../media/image110.png"/><Relationship Id="rId3" Type="http://schemas.openxmlformats.org/officeDocument/2006/relationships/image" Target="../media/image87.png"/><Relationship Id="rId2" Type="http://schemas.openxmlformats.org/officeDocument/2006/relationships/image" Target="../media/image10.png"/><Relationship Id="rId1" Type="http://schemas.openxmlformats.org/officeDocument/2006/relationships/image" Target="../media/image59.png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53.xml"/><Relationship Id="rId6" Type="http://schemas.openxmlformats.org/officeDocument/2006/relationships/slideLayout" Target="../slideLayouts/slideLayout3.xml"/><Relationship Id="rId5" Type="http://schemas.openxmlformats.org/officeDocument/2006/relationships/image" Target="../media/image116.png"/><Relationship Id="rId4" Type="http://schemas.openxmlformats.org/officeDocument/2006/relationships/image" Target="../media/image115.png"/><Relationship Id="rId3" Type="http://schemas.openxmlformats.org/officeDocument/2006/relationships/image" Target="../media/image114.png"/><Relationship Id="rId2" Type="http://schemas.openxmlformats.org/officeDocument/2006/relationships/image" Target="../media/image113.png"/><Relationship Id="rId1" Type="http://schemas.openxmlformats.org/officeDocument/2006/relationships/image" Target="../media/image112.png"/></Relationships>
</file>

<file path=ppt/slides/_rels/slide57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54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74.png"/><Relationship Id="rId3" Type="http://schemas.openxmlformats.org/officeDocument/2006/relationships/image" Target="../media/image119.png"/><Relationship Id="rId2" Type="http://schemas.openxmlformats.org/officeDocument/2006/relationships/image" Target="../media/image118.png"/><Relationship Id="rId1" Type="http://schemas.openxmlformats.org/officeDocument/2006/relationships/image" Target="../media/image117.png"/></Relationships>
</file>

<file path=ppt/slides/_rels/slide58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55.xml"/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122.png"/><Relationship Id="rId4" Type="http://schemas.openxmlformats.org/officeDocument/2006/relationships/image" Target="../media/image121.png"/><Relationship Id="rId3" Type="http://schemas.openxmlformats.org/officeDocument/2006/relationships/image" Target="../media/image50.png"/><Relationship Id="rId2" Type="http://schemas.openxmlformats.org/officeDocument/2006/relationships/image" Target="../media/image120.png"/><Relationship Id="rId1" Type="http://schemas.openxmlformats.org/officeDocument/2006/relationships/image" Target="../media/image88.png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57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34.png"/><Relationship Id="rId3" Type="http://schemas.openxmlformats.org/officeDocument/2006/relationships/image" Target="../media/image37.png"/><Relationship Id="rId2" Type="http://schemas.openxmlformats.org/officeDocument/2006/relationships/image" Target="../media/image113.png"/><Relationship Id="rId1" Type="http://schemas.openxmlformats.org/officeDocument/2006/relationships/image" Target="../media/image123.png"/></Relationships>
</file>

<file path=ppt/slides/_rels/slide6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58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58.png"/><Relationship Id="rId3" Type="http://schemas.openxmlformats.org/officeDocument/2006/relationships/image" Target="../media/image126.png"/><Relationship Id="rId2" Type="http://schemas.openxmlformats.org/officeDocument/2006/relationships/image" Target="../media/image125.png"/><Relationship Id="rId1" Type="http://schemas.openxmlformats.org/officeDocument/2006/relationships/image" Target="../media/image124.png"/></Relationships>
</file>

<file path=ppt/slides/_rels/slide6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59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28.png"/><Relationship Id="rId3" Type="http://schemas.openxmlformats.org/officeDocument/2006/relationships/image" Target="../media/image68.png"/><Relationship Id="rId2" Type="http://schemas.openxmlformats.org/officeDocument/2006/relationships/image" Target="../media/image127.png"/><Relationship Id="rId1" Type="http://schemas.openxmlformats.org/officeDocument/2006/relationships/image" Target="../media/image31.png"/></Relationships>
</file>

<file path=ppt/slides/_rels/slide6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60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2.png"/><Relationship Id="rId3" Type="http://schemas.openxmlformats.org/officeDocument/2006/relationships/image" Target="../media/image33.png"/><Relationship Id="rId2" Type="http://schemas.openxmlformats.org/officeDocument/2006/relationships/image" Target="../media/image105.png"/><Relationship Id="rId1" Type="http://schemas.openxmlformats.org/officeDocument/2006/relationships/image" Target="../media/image129.png"/></Relationships>
</file>

<file path=ppt/slides/_rels/slide6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1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30.png"/><Relationship Id="rId1" Type="http://schemas.openxmlformats.org/officeDocument/2006/relationships/image" Target="../media/image10.png"/></Relationships>
</file>

<file path=ppt/slides/_rels/slide65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62.x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133.png"/><Relationship Id="rId5" Type="http://schemas.openxmlformats.org/officeDocument/2006/relationships/image" Target="../media/image132.png"/><Relationship Id="rId4" Type="http://schemas.openxmlformats.org/officeDocument/2006/relationships/image" Target="../media/image21.png"/><Relationship Id="rId3" Type="http://schemas.openxmlformats.org/officeDocument/2006/relationships/image" Target="../media/image57.png"/><Relationship Id="rId2" Type="http://schemas.openxmlformats.org/officeDocument/2006/relationships/image" Target="../media/image10.png"/><Relationship Id="rId1" Type="http://schemas.openxmlformats.org/officeDocument/2006/relationships/image" Target="../media/image131.png"/></Relationships>
</file>

<file path=ppt/slides/_rels/slide66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63.xml"/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132.png"/><Relationship Id="rId4" Type="http://schemas.openxmlformats.org/officeDocument/2006/relationships/image" Target="../media/image74.png"/><Relationship Id="rId3" Type="http://schemas.openxmlformats.org/officeDocument/2006/relationships/image" Target="../media/image50.png"/><Relationship Id="rId2" Type="http://schemas.openxmlformats.org/officeDocument/2006/relationships/image" Target="../media/image120.png"/><Relationship Id="rId1" Type="http://schemas.openxmlformats.org/officeDocument/2006/relationships/image" Target="../media/image123.png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66.xml"/><Relationship Id="rId6" Type="http://schemas.openxmlformats.org/officeDocument/2006/relationships/slideLayout" Target="../slideLayouts/slideLayout3.xml"/><Relationship Id="rId5" Type="http://schemas.openxmlformats.org/officeDocument/2006/relationships/image" Target="../media/image135.png"/><Relationship Id="rId4" Type="http://schemas.openxmlformats.org/officeDocument/2006/relationships/image" Target="../media/image134.png"/><Relationship Id="rId3" Type="http://schemas.openxmlformats.org/officeDocument/2006/relationships/image" Target="../media/image42.png"/><Relationship Id="rId2" Type="http://schemas.openxmlformats.org/officeDocument/2006/relationships/image" Target="../media/image102.png"/><Relationship Id="rId1" Type="http://schemas.openxmlformats.org/officeDocument/2006/relationships/image" Target="../media/image131.png"/></Relationships>
</file>

<file path=ppt/slides/_rels/slide70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67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85.png"/><Relationship Id="rId3" Type="http://schemas.openxmlformats.org/officeDocument/2006/relationships/image" Target="../media/image109.png"/><Relationship Id="rId2" Type="http://schemas.openxmlformats.org/officeDocument/2006/relationships/image" Target="../media/image136.png"/><Relationship Id="rId1" Type="http://schemas.openxmlformats.org/officeDocument/2006/relationships/image" Target="../media/image78.png"/></Relationships>
</file>

<file path=ppt/slides/_rels/slide71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68.xml"/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138.png"/><Relationship Id="rId4" Type="http://schemas.openxmlformats.org/officeDocument/2006/relationships/image" Target="../media/image137.png"/><Relationship Id="rId3" Type="http://schemas.openxmlformats.org/officeDocument/2006/relationships/image" Target="../media/image50.png"/><Relationship Id="rId2" Type="http://schemas.openxmlformats.org/officeDocument/2006/relationships/image" Target="../media/image56.png"/><Relationship Id="rId1" Type="http://schemas.openxmlformats.org/officeDocument/2006/relationships/image" Target="../media/image62.png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70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51.png"/><Relationship Id="rId3" Type="http://schemas.openxmlformats.org/officeDocument/2006/relationships/image" Target="../media/image37.png"/><Relationship Id="rId2" Type="http://schemas.openxmlformats.org/officeDocument/2006/relationships/image" Target="../media/image139.png"/><Relationship Id="rId1" Type="http://schemas.openxmlformats.org/officeDocument/2006/relationships/image" Target="../media/image123.png"/></Relationships>
</file>

<file path=ppt/slides/_rels/slide7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71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43.png"/><Relationship Id="rId3" Type="http://schemas.openxmlformats.org/officeDocument/2006/relationships/image" Target="../media/image142.png"/><Relationship Id="rId2" Type="http://schemas.openxmlformats.org/officeDocument/2006/relationships/image" Target="../media/image141.png"/><Relationship Id="rId1" Type="http://schemas.openxmlformats.org/officeDocument/2006/relationships/image" Target="../media/image140.png"/></Relationships>
</file>

<file path=ppt/slides/_rels/slide7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72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47.png"/><Relationship Id="rId3" Type="http://schemas.openxmlformats.org/officeDocument/2006/relationships/image" Target="../media/image146.png"/><Relationship Id="rId2" Type="http://schemas.openxmlformats.org/officeDocument/2006/relationships/image" Target="../media/image145.png"/><Relationship Id="rId1" Type="http://schemas.openxmlformats.org/officeDocument/2006/relationships/image" Target="../media/image144.png"/></Relationships>
</file>

<file path=ppt/slides/_rels/slide7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73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51.png"/><Relationship Id="rId3" Type="http://schemas.openxmlformats.org/officeDocument/2006/relationships/image" Target="../media/image150.png"/><Relationship Id="rId2" Type="http://schemas.openxmlformats.org/officeDocument/2006/relationships/image" Target="../media/image149.png"/><Relationship Id="rId1" Type="http://schemas.openxmlformats.org/officeDocument/2006/relationships/image" Target="../media/image148.png"/></Relationships>
</file>

<file path=ppt/slides/_rels/slide77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74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55.png"/><Relationship Id="rId3" Type="http://schemas.openxmlformats.org/officeDocument/2006/relationships/image" Target="../media/image154.png"/><Relationship Id="rId2" Type="http://schemas.openxmlformats.org/officeDocument/2006/relationships/image" Target="../media/image153.png"/><Relationship Id="rId1" Type="http://schemas.openxmlformats.org/officeDocument/2006/relationships/image" Target="../media/image152.png"/></Relationships>
</file>

<file path=ppt/slides/_rels/slide78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75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59.png"/><Relationship Id="rId3" Type="http://schemas.openxmlformats.org/officeDocument/2006/relationships/image" Target="../media/image158.png"/><Relationship Id="rId2" Type="http://schemas.openxmlformats.org/officeDocument/2006/relationships/image" Target="../media/image157.png"/><Relationship Id="rId1" Type="http://schemas.openxmlformats.org/officeDocument/2006/relationships/image" Target="../media/image156.png"/></Relationships>
</file>

<file path=ppt/slides/_rels/slide79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76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63.png"/><Relationship Id="rId3" Type="http://schemas.openxmlformats.org/officeDocument/2006/relationships/image" Target="../media/image162.png"/><Relationship Id="rId2" Type="http://schemas.openxmlformats.org/officeDocument/2006/relationships/image" Target="../media/image161.png"/><Relationship Id="rId1" Type="http://schemas.openxmlformats.org/officeDocument/2006/relationships/image" Target="../media/image160.png"/></Relationships>
</file>

<file path=ppt/slides/_rels/slide80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77.x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169.png"/><Relationship Id="rId5" Type="http://schemas.openxmlformats.org/officeDocument/2006/relationships/image" Target="../media/image168.png"/><Relationship Id="rId4" Type="http://schemas.openxmlformats.org/officeDocument/2006/relationships/image" Target="../media/image167.png"/><Relationship Id="rId3" Type="http://schemas.openxmlformats.org/officeDocument/2006/relationships/image" Target="../media/image166.png"/><Relationship Id="rId2" Type="http://schemas.openxmlformats.org/officeDocument/2006/relationships/image" Target="../media/image165.png"/><Relationship Id="rId1" Type="http://schemas.openxmlformats.org/officeDocument/2006/relationships/image" Target="../media/image164.png"/></Relationships>
</file>

<file path=ppt/slides/_rels/slide81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78.x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175.png"/><Relationship Id="rId5" Type="http://schemas.openxmlformats.org/officeDocument/2006/relationships/image" Target="../media/image174.png"/><Relationship Id="rId4" Type="http://schemas.openxmlformats.org/officeDocument/2006/relationships/image" Target="../media/image173.png"/><Relationship Id="rId3" Type="http://schemas.openxmlformats.org/officeDocument/2006/relationships/image" Target="../media/image172.png"/><Relationship Id="rId2" Type="http://schemas.openxmlformats.org/officeDocument/2006/relationships/image" Target="../media/image171.png"/><Relationship Id="rId1" Type="http://schemas.openxmlformats.org/officeDocument/2006/relationships/image" Target="../media/image170.png"/></Relationships>
</file>

<file path=ppt/slides/_rels/slide82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79.x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181.png"/><Relationship Id="rId5" Type="http://schemas.openxmlformats.org/officeDocument/2006/relationships/image" Target="../media/image180.png"/><Relationship Id="rId4" Type="http://schemas.openxmlformats.org/officeDocument/2006/relationships/image" Target="../media/image179.png"/><Relationship Id="rId3" Type="http://schemas.openxmlformats.org/officeDocument/2006/relationships/image" Target="../media/image178.png"/><Relationship Id="rId2" Type="http://schemas.openxmlformats.org/officeDocument/2006/relationships/image" Target="../media/image177.png"/><Relationship Id="rId1" Type="http://schemas.openxmlformats.org/officeDocument/2006/relationships/image" Target="../media/image176.png"/></Relationships>
</file>

<file path=ppt/slides/_rels/slide83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80.x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187.png"/><Relationship Id="rId5" Type="http://schemas.openxmlformats.org/officeDocument/2006/relationships/image" Target="../media/image186.png"/><Relationship Id="rId4" Type="http://schemas.openxmlformats.org/officeDocument/2006/relationships/image" Target="../media/image185.png"/><Relationship Id="rId3" Type="http://schemas.openxmlformats.org/officeDocument/2006/relationships/image" Target="../media/image184.png"/><Relationship Id="rId2" Type="http://schemas.openxmlformats.org/officeDocument/2006/relationships/image" Target="../media/image183.png"/><Relationship Id="rId1" Type="http://schemas.openxmlformats.org/officeDocument/2006/relationships/image" Target="../media/image182.png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82.xml"/><Relationship Id="rId6" Type="http://schemas.openxmlformats.org/officeDocument/2006/relationships/slideLayout" Target="../slideLayouts/slideLayout3.xml"/><Relationship Id="rId5" Type="http://schemas.openxmlformats.org/officeDocument/2006/relationships/image" Target="../media/image192.png"/><Relationship Id="rId4" Type="http://schemas.openxmlformats.org/officeDocument/2006/relationships/image" Target="../media/image191.png"/><Relationship Id="rId3" Type="http://schemas.openxmlformats.org/officeDocument/2006/relationships/image" Target="../media/image190.png"/><Relationship Id="rId2" Type="http://schemas.openxmlformats.org/officeDocument/2006/relationships/image" Target="../media/image189.png"/><Relationship Id="rId1" Type="http://schemas.openxmlformats.org/officeDocument/2006/relationships/image" Target="../media/image188.png"/></Relationships>
</file>

<file path=ppt/slides/_rels/slide8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83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96.png"/><Relationship Id="rId3" Type="http://schemas.openxmlformats.org/officeDocument/2006/relationships/image" Target="../media/image195.png"/><Relationship Id="rId2" Type="http://schemas.openxmlformats.org/officeDocument/2006/relationships/image" Target="../media/image194.png"/><Relationship Id="rId1" Type="http://schemas.openxmlformats.org/officeDocument/2006/relationships/image" Target="../media/image193.png"/></Relationships>
</file>

<file path=ppt/slides/_rels/slide87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84.xml"/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201.png"/><Relationship Id="rId4" Type="http://schemas.openxmlformats.org/officeDocument/2006/relationships/image" Target="../media/image200.png"/><Relationship Id="rId3" Type="http://schemas.openxmlformats.org/officeDocument/2006/relationships/image" Target="../media/image199.png"/><Relationship Id="rId2" Type="http://schemas.openxmlformats.org/officeDocument/2006/relationships/image" Target="../media/image198.png"/><Relationship Id="rId1" Type="http://schemas.openxmlformats.org/officeDocument/2006/relationships/image" Target="../media/image197.png"/></Relationships>
</file>

<file path=ppt/slides/_rels/slide88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85.x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207.png"/><Relationship Id="rId5" Type="http://schemas.openxmlformats.org/officeDocument/2006/relationships/image" Target="../media/image206.png"/><Relationship Id="rId4" Type="http://schemas.openxmlformats.org/officeDocument/2006/relationships/image" Target="../media/image205.png"/><Relationship Id="rId3" Type="http://schemas.openxmlformats.org/officeDocument/2006/relationships/image" Target="../media/image204.png"/><Relationship Id="rId2" Type="http://schemas.openxmlformats.org/officeDocument/2006/relationships/image" Target="../media/image203.png"/><Relationship Id="rId1" Type="http://schemas.openxmlformats.org/officeDocument/2006/relationships/image" Target="../media/image202.png"/></Relationships>
</file>

<file path=ppt/slides/_rels/slide8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6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09.png"/><Relationship Id="rId1" Type="http://schemas.openxmlformats.org/officeDocument/2006/relationships/image" Target="../media/image208.png"/></Relationships>
</file>

<file path=ppt/slides/_rels/slide90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87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213.png"/><Relationship Id="rId3" Type="http://schemas.openxmlformats.org/officeDocument/2006/relationships/image" Target="../media/image212.png"/><Relationship Id="rId2" Type="http://schemas.openxmlformats.org/officeDocument/2006/relationships/image" Target="../media/image211.png"/><Relationship Id="rId1" Type="http://schemas.openxmlformats.org/officeDocument/2006/relationships/image" Target="../media/image210.png"/></Relationships>
</file>

<file path=ppt/slides/_rels/slide9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88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217.png"/><Relationship Id="rId3" Type="http://schemas.openxmlformats.org/officeDocument/2006/relationships/image" Target="../media/image216.png"/><Relationship Id="rId2" Type="http://schemas.openxmlformats.org/officeDocument/2006/relationships/image" Target="../media/image215.png"/><Relationship Id="rId1" Type="http://schemas.openxmlformats.org/officeDocument/2006/relationships/image" Target="../media/image214.png"/></Relationships>
</file>

<file path=ppt/slides/_rels/slide9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89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221.png"/><Relationship Id="rId3" Type="http://schemas.openxmlformats.org/officeDocument/2006/relationships/image" Target="../media/image220.png"/><Relationship Id="rId2" Type="http://schemas.openxmlformats.org/officeDocument/2006/relationships/image" Target="../media/image219.png"/><Relationship Id="rId1" Type="http://schemas.openxmlformats.org/officeDocument/2006/relationships/image" Target="../media/image218.png"/></Relationships>
</file>

<file path=ppt/slides/_rels/slide9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90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225.png"/><Relationship Id="rId3" Type="http://schemas.openxmlformats.org/officeDocument/2006/relationships/image" Target="../media/image224.png"/><Relationship Id="rId2" Type="http://schemas.openxmlformats.org/officeDocument/2006/relationships/image" Target="../media/image223.png"/><Relationship Id="rId1" Type="http://schemas.openxmlformats.org/officeDocument/2006/relationships/image" Target="../media/image222.png"/></Relationships>
</file>

<file path=ppt/slides/_rels/slide9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91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229.png"/><Relationship Id="rId3" Type="http://schemas.openxmlformats.org/officeDocument/2006/relationships/image" Target="../media/image228.png"/><Relationship Id="rId2" Type="http://schemas.openxmlformats.org/officeDocument/2006/relationships/image" Target="../media/image227.png"/><Relationship Id="rId1" Type="http://schemas.openxmlformats.org/officeDocument/2006/relationships/image" Target="../media/image226.png"/></Relationships>
</file>

<file path=ppt/slides/_rels/slide9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92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233.png"/><Relationship Id="rId3" Type="http://schemas.openxmlformats.org/officeDocument/2006/relationships/image" Target="../media/image232.png"/><Relationship Id="rId2" Type="http://schemas.openxmlformats.org/officeDocument/2006/relationships/image" Target="../media/image231.png"/><Relationship Id="rId1" Type="http://schemas.openxmlformats.org/officeDocument/2006/relationships/image" Target="../media/image230.png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3.xml"/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94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237.png"/><Relationship Id="rId3" Type="http://schemas.openxmlformats.org/officeDocument/2006/relationships/image" Target="../media/image236.png"/><Relationship Id="rId2" Type="http://schemas.openxmlformats.org/officeDocument/2006/relationships/image" Target="../media/image235.png"/><Relationship Id="rId1" Type="http://schemas.openxmlformats.org/officeDocument/2006/relationships/image" Target="../media/image234.png"/></Relationships>
</file>

<file path=ppt/slides/_rels/slide98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95.xml"/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242.png"/><Relationship Id="rId4" Type="http://schemas.openxmlformats.org/officeDocument/2006/relationships/image" Target="../media/image241.png"/><Relationship Id="rId3" Type="http://schemas.openxmlformats.org/officeDocument/2006/relationships/image" Target="../media/image240.png"/><Relationship Id="rId2" Type="http://schemas.openxmlformats.org/officeDocument/2006/relationships/image" Target="../media/image239.png"/><Relationship Id="rId1" Type="http://schemas.openxmlformats.org/officeDocument/2006/relationships/image" Target="../media/image238.png"/></Relationships>
</file>

<file path=ppt/slides/_rels/slide99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96.xml"/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247.png"/><Relationship Id="rId4" Type="http://schemas.openxmlformats.org/officeDocument/2006/relationships/image" Target="../media/image246.png"/><Relationship Id="rId3" Type="http://schemas.openxmlformats.org/officeDocument/2006/relationships/image" Target="../media/image245.png"/><Relationship Id="rId2" Type="http://schemas.openxmlformats.org/officeDocument/2006/relationships/image" Target="../media/image244.png"/><Relationship Id="rId1" Type="http://schemas.openxmlformats.org/officeDocument/2006/relationships/image" Target="../media/image243.png"/></Relationships>
</file>

<file path=ppt/slides/_rels/slide100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97.xml"/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252.png"/><Relationship Id="rId4" Type="http://schemas.openxmlformats.org/officeDocument/2006/relationships/image" Target="../media/image251.png"/><Relationship Id="rId3" Type="http://schemas.openxmlformats.org/officeDocument/2006/relationships/image" Target="../media/image250.png"/><Relationship Id="rId2" Type="http://schemas.openxmlformats.org/officeDocument/2006/relationships/image" Target="../media/image249.png"/><Relationship Id="rId1" Type="http://schemas.openxmlformats.org/officeDocument/2006/relationships/image" Target="../media/image248.png"/></Relationships>
</file>

<file path=ppt/slides/_rels/slide101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98.xml"/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257.png"/><Relationship Id="rId4" Type="http://schemas.openxmlformats.org/officeDocument/2006/relationships/image" Target="../media/image256.png"/><Relationship Id="rId3" Type="http://schemas.openxmlformats.org/officeDocument/2006/relationships/image" Target="../media/image255.png"/><Relationship Id="rId2" Type="http://schemas.openxmlformats.org/officeDocument/2006/relationships/image" Target="../media/image254.png"/><Relationship Id="rId1" Type="http://schemas.openxmlformats.org/officeDocument/2006/relationships/image" Target="../media/image253.png"/></Relationships>
</file>

<file path=ppt/slides/_rels/slide102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99.xml"/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262.png"/><Relationship Id="rId4" Type="http://schemas.openxmlformats.org/officeDocument/2006/relationships/image" Target="../media/image261.png"/><Relationship Id="rId3" Type="http://schemas.openxmlformats.org/officeDocument/2006/relationships/image" Target="../media/image260.png"/><Relationship Id="rId2" Type="http://schemas.openxmlformats.org/officeDocument/2006/relationships/image" Target="../media/image259.png"/><Relationship Id="rId1" Type="http://schemas.openxmlformats.org/officeDocument/2006/relationships/image" Target="../media/image258.png"/></Relationships>
</file>

<file path=ppt/slides/_rels/slide103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00.xml"/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267.png"/><Relationship Id="rId4" Type="http://schemas.openxmlformats.org/officeDocument/2006/relationships/image" Target="../media/image266.png"/><Relationship Id="rId3" Type="http://schemas.openxmlformats.org/officeDocument/2006/relationships/image" Target="../media/image265.png"/><Relationship Id="rId2" Type="http://schemas.openxmlformats.org/officeDocument/2006/relationships/image" Target="../media/image264.png"/><Relationship Id="rId1" Type="http://schemas.openxmlformats.org/officeDocument/2006/relationships/image" Target="../media/image263.png"/></Relationships>
</file>

<file path=ppt/slides/_rels/slide104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01.x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273.png"/><Relationship Id="rId5" Type="http://schemas.openxmlformats.org/officeDocument/2006/relationships/image" Target="../media/image272.png"/><Relationship Id="rId4" Type="http://schemas.openxmlformats.org/officeDocument/2006/relationships/image" Target="../media/image271.png"/><Relationship Id="rId3" Type="http://schemas.openxmlformats.org/officeDocument/2006/relationships/image" Target="../media/image270.png"/><Relationship Id="rId2" Type="http://schemas.openxmlformats.org/officeDocument/2006/relationships/image" Target="../media/image269.png"/><Relationship Id="rId1" Type="http://schemas.openxmlformats.org/officeDocument/2006/relationships/image" Target="../media/image268.png"/></Relationships>
</file>

<file path=ppt/slides/_rels/slide105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02.x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279.png"/><Relationship Id="rId5" Type="http://schemas.openxmlformats.org/officeDocument/2006/relationships/image" Target="../media/image278.png"/><Relationship Id="rId4" Type="http://schemas.openxmlformats.org/officeDocument/2006/relationships/image" Target="../media/image277.png"/><Relationship Id="rId3" Type="http://schemas.openxmlformats.org/officeDocument/2006/relationships/image" Target="../media/image276.png"/><Relationship Id="rId2" Type="http://schemas.openxmlformats.org/officeDocument/2006/relationships/image" Target="../media/image275.png"/><Relationship Id="rId1" Type="http://schemas.openxmlformats.org/officeDocument/2006/relationships/image" Target="../media/image274.png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3.xml"/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04.xml"/><Relationship Id="rId6" Type="http://schemas.openxmlformats.org/officeDocument/2006/relationships/slideLayout" Target="../slideLayouts/slideLayout3.xml"/><Relationship Id="rId5" Type="http://schemas.openxmlformats.org/officeDocument/2006/relationships/image" Target="../media/image284.png"/><Relationship Id="rId4" Type="http://schemas.openxmlformats.org/officeDocument/2006/relationships/image" Target="../media/image283.png"/><Relationship Id="rId3" Type="http://schemas.openxmlformats.org/officeDocument/2006/relationships/image" Target="../media/image282.png"/><Relationship Id="rId2" Type="http://schemas.openxmlformats.org/officeDocument/2006/relationships/image" Target="../media/image281.png"/><Relationship Id="rId1" Type="http://schemas.openxmlformats.org/officeDocument/2006/relationships/image" Target="../media/image280.png"/></Relationships>
</file>

<file path=ppt/slides/_rels/slide108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05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288.png"/><Relationship Id="rId3" Type="http://schemas.openxmlformats.org/officeDocument/2006/relationships/image" Target="../media/image287.png"/><Relationship Id="rId2" Type="http://schemas.openxmlformats.org/officeDocument/2006/relationships/image" Target="../media/image286.png"/><Relationship Id="rId1" Type="http://schemas.openxmlformats.org/officeDocument/2006/relationships/image" Target="../media/image285.png"/></Relationships>
</file>

<file path=ppt/slides/_rels/slide109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06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292.png"/><Relationship Id="rId3" Type="http://schemas.openxmlformats.org/officeDocument/2006/relationships/image" Target="../media/image291.png"/><Relationship Id="rId2" Type="http://schemas.openxmlformats.org/officeDocument/2006/relationships/image" Target="../media/image290.png"/><Relationship Id="rId1" Type="http://schemas.openxmlformats.org/officeDocument/2006/relationships/image" Target="../media/image289.png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7.xml"/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08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296.png"/><Relationship Id="rId3" Type="http://schemas.openxmlformats.org/officeDocument/2006/relationships/image" Target="../media/image295.png"/><Relationship Id="rId2" Type="http://schemas.openxmlformats.org/officeDocument/2006/relationships/image" Target="../media/image294.png"/><Relationship Id="rId1" Type="http://schemas.openxmlformats.org/officeDocument/2006/relationships/image" Target="../media/image293.png"/></Relationships>
</file>

<file path=ppt/slides/_rels/slide11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09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300.png"/><Relationship Id="rId3" Type="http://schemas.openxmlformats.org/officeDocument/2006/relationships/image" Target="../media/image299.png"/><Relationship Id="rId2" Type="http://schemas.openxmlformats.org/officeDocument/2006/relationships/image" Target="../media/image298.png"/><Relationship Id="rId1" Type="http://schemas.openxmlformats.org/officeDocument/2006/relationships/image" Target="../media/image297.png"/></Relationships>
</file>

<file path=ppt/slides/_rels/slide11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10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304.png"/><Relationship Id="rId3" Type="http://schemas.openxmlformats.org/officeDocument/2006/relationships/image" Target="../media/image303.png"/><Relationship Id="rId2" Type="http://schemas.openxmlformats.org/officeDocument/2006/relationships/image" Target="../media/image302.png"/><Relationship Id="rId1" Type="http://schemas.openxmlformats.org/officeDocument/2006/relationships/image" Target="../media/image301.png"/></Relationships>
</file>

<file path=ppt/slides/_rels/slide11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11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308.png"/><Relationship Id="rId3" Type="http://schemas.openxmlformats.org/officeDocument/2006/relationships/image" Target="../media/image307.png"/><Relationship Id="rId2" Type="http://schemas.openxmlformats.org/officeDocument/2006/relationships/image" Target="../media/image306.png"/><Relationship Id="rId1" Type="http://schemas.openxmlformats.org/officeDocument/2006/relationships/image" Target="../media/image305.png"/></Relationships>
</file>

<file path=ppt/slides/_rels/slide11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12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312.png"/><Relationship Id="rId3" Type="http://schemas.openxmlformats.org/officeDocument/2006/relationships/image" Target="../media/image311.png"/><Relationship Id="rId2" Type="http://schemas.openxmlformats.org/officeDocument/2006/relationships/image" Target="../media/image310.png"/><Relationship Id="rId1" Type="http://schemas.openxmlformats.org/officeDocument/2006/relationships/image" Target="../media/image309.png"/></Relationships>
</file>

<file path=ppt/slides/_rels/slide11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13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316.png"/><Relationship Id="rId3" Type="http://schemas.openxmlformats.org/officeDocument/2006/relationships/image" Target="../media/image315.png"/><Relationship Id="rId2" Type="http://schemas.openxmlformats.org/officeDocument/2006/relationships/image" Target="../media/image314.png"/><Relationship Id="rId1" Type="http://schemas.openxmlformats.org/officeDocument/2006/relationships/image" Target="../media/image313.png"/></Relationships>
</file>

<file path=ppt/slides/_rels/slide117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14.x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322.png"/><Relationship Id="rId5" Type="http://schemas.openxmlformats.org/officeDocument/2006/relationships/image" Target="../media/image321.png"/><Relationship Id="rId4" Type="http://schemas.openxmlformats.org/officeDocument/2006/relationships/image" Target="../media/image320.png"/><Relationship Id="rId3" Type="http://schemas.openxmlformats.org/officeDocument/2006/relationships/image" Target="../media/image319.png"/><Relationship Id="rId2" Type="http://schemas.openxmlformats.org/officeDocument/2006/relationships/image" Target="../media/image318.png"/><Relationship Id="rId1" Type="http://schemas.openxmlformats.org/officeDocument/2006/relationships/image" Target="../media/image317.png"/></Relationships>
</file>

<file path=ppt/slides/_rels/slide118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15.x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328.png"/><Relationship Id="rId5" Type="http://schemas.openxmlformats.org/officeDocument/2006/relationships/image" Target="../media/image327.png"/><Relationship Id="rId4" Type="http://schemas.openxmlformats.org/officeDocument/2006/relationships/image" Target="../media/image326.png"/><Relationship Id="rId3" Type="http://schemas.openxmlformats.org/officeDocument/2006/relationships/image" Target="../media/image325.png"/><Relationship Id="rId2" Type="http://schemas.openxmlformats.org/officeDocument/2006/relationships/image" Target="../media/image324.png"/><Relationship Id="rId1" Type="http://schemas.openxmlformats.org/officeDocument/2006/relationships/image" Target="../media/image323.png"/></Relationships>
</file>

<file path=ppt/slides/_rels/slide1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6.xml"/><Relationship Id="rId1" Type="http://schemas.openxmlformats.org/officeDocument/2006/relationships/slideLayout" Target="../slideLayouts/slideLayout2.xml"/></Relationships>
</file>

<file path=ppt/slides/_rels/slide120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17.xml"/><Relationship Id="rId6" Type="http://schemas.openxmlformats.org/officeDocument/2006/relationships/slideLayout" Target="../slideLayouts/slideLayout3.xml"/><Relationship Id="rId5" Type="http://schemas.openxmlformats.org/officeDocument/2006/relationships/image" Target="../media/image333.png"/><Relationship Id="rId4" Type="http://schemas.openxmlformats.org/officeDocument/2006/relationships/image" Target="../media/image332.png"/><Relationship Id="rId3" Type="http://schemas.openxmlformats.org/officeDocument/2006/relationships/image" Target="../media/image331.png"/><Relationship Id="rId2" Type="http://schemas.openxmlformats.org/officeDocument/2006/relationships/image" Target="../media/image330.png"/><Relationship Id="rId1" Type="http://schemas.openxmlformats.org/officeDocument/2006/relationships/image" Target="../media/image329.png"/></Relationships>
</file>

<file path=ppt/slides/_rels/slide12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18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337.png"/><Relationship Id="rId3" Type="http://schemas.openxmlformats.org/officeDocument/2006/relationships/image" Target="../media/image336.png"/><Relationship Id="rId2" Type="http://schemas.openxmlformats.org/officeDocument/2006/relationships/image" Target="../media/image335.png"/><Relationship Id="rId1" Type="http://schemas.openxmlformats.org/officeDocument/2006/relationships/image" Target="../media/image334.png"/></Relationships>
</file>

<file path=ppt/slides/_rels/slide1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9.xml"/><Relationship Id="rId1" Type="http://schemas.openxmlformats.org/officeDocument/2006/relationships/slideLayout" Target="../slideLayouts/slideLayout2.xml"/></Relationships>
</file>

<file path=ppt/slides/_rels/slide12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20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341.png"/><Relationship Id="rId3" Type="http://schemas.openxmlformats.org/officeDocument/2006/relationships/image" Target="../media/image340.png"/><Relationship Id="rId2" Type="http://schemas.openxmlformats.org/officeDocument/2006/relationships/image" Target="../media/image339.png"/><Relationship Id="rId1" Type="http://schemas.openxmlformats.org/officeDocument/2006/relationships/image" Target="../media/image338.png"/></Relationships>
</file>

<file path=ppt/slides/_rels/slide12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21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345.png"/><Relationship Id="rId3" Type="http://schemas.openxmlformats.org/officeDocument/2006/relationships/image" Target="../media/image344.png"/><Relationship Id="rId2" Type="http://schemas.openxmlformats.org/officeDocument/2006/relationships/image" Target="../media/image343.png"/><Relationship Id="rId1" Type="http://schemas.openxmlformats.org/officeDocument/2006/relationships/image" Target="../media/image342.png"/></Relationships>
</file>

<file path=ppt/slides/_rels/slide125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22.x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351.png"/><Relationship Id="rId5" Type="http://schemas.openxmlformats.org/officeDocument/2006/relationships/image" Target="../media/image350.png"/><Relationship Id="rId4" Type="http://schemas.openxmlformats.org/officeDocument/2006/relationships/image" Target="../media/image349.png"/><Relationship Id="rId3" Type="http://schemas.openxmlformats.org/officeDocument/2006/relationships/image" Target="../media/image348.png"/><Relationship Id="rId2" Type="http://schemas.openxmlformats.org/officeDocument/2006/relationships/image" Target="../media/image347.png"/><Relationship Id="rId1" Type="http://schemas.openxmlformats.org/officeDocument/2006/relationships/image" Target="../media/image346.png"/></Relationships>
</file>

<file path=ppt/slides/_rels/slide126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23.x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357.png"/><Relationship Id="rId5" Type="http://schemas.openxmlformats.org/officeDocument/2006/relationships/image" Target="../media/image356.png"/><Relationship Id="rId4" Type="http://schemas.openxmlformats.org/officeDocument/2006/relationships/image" Target="../media/image355.png"/><Relationship Id="rId3" Type="http://schemas.openxmlformats.org/officeDocument/2006/relationships/image" Target="../media/image354.png"/><Relationship Id="rId2" Type="http://schemas.openxmlformats.org/officeDocument/2006/relationships/image" Target="../media/image353.png"/><Relationship Id="rId1" Type="http://schemas.openxmlformats.org/officeDocument/2006/relationships/image" Target="../media/image352.png"/></Relationships>
</file>

<file path=ppt/slides/_rels/slide12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image" Target="../media/image365.png"/><Relationship Id="rId7" Type="http://schemas.openxmlformats.org/officeDocument/2006/relationships/image" Target="../media/image364.png"/><Relationship Id="rId6" Type="http://schemas.openxmlformats.org/officeDocument/2006/relationships/image" Target="../media/image363.png"/><Relationship Id="rId5" Type="http://schemas.openxmlformats.org/officeDocument/2006/relationships/image" Target="../media/image362.png"/><Relationship Id="rId4" Type="http://schemas.openxmlformats.org/officeDocument/2006/relationships/image" Target="../media/image361.png"/><Relationship Id="rId3" Type="http://schemas.openxmlformats.org/officeDocument/2006/relationships/image" Target="../media/image360.png"/><Relationship Id="rId2" Type="http://schemas.openxmlformats.org/officeDocument/2006/relationships/image" Target="../media/image359.png"/><Relationship Id="rId10" Type="http://schemas.openxmlformats.org/officeDocument/2006/relationships/notesSlide" Target="../notesSlides/notesSlide124.xml"/><Relationship Id="rId1" Type="http://schemas.openxmlformats.org/officeDocument/2006/relationships/image" Target="../media/image358.png"/></Relationships>
</file>

<file path=ppt/slides/_rels/slide128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25.x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371.png"/><Relationship Id="rId5" Type="http://schemas.openxmlformats.org/officeDocument/2006/relationships/image" Target="../media/image370.png"/><Relationship Id="rId4" Type="http://schemas.openxmlformats.org/officeDocument/2006/relationships/image" Target="../media/image369.png"/><Relationship Id="rId3" Type="http://schemas.openxmlformats.org/officeDocument/2006/relationships/image" Target="../media/image368.png"/><Relationship Id="rId2" Type="http://schemas.openxmlformats.org/officeDocument/2006/relationships/image" Target="../media/image367.png"/><Relationship Id="rId1" Type="http://schemas.openxmlformats.org/officeDocument/2006/relationships/image" Target="../media/image366.png"/></Relationships>
</file>

<file path=ppt/slides/_rels/slide129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26.x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377.png"/><Relationship Id="rId5" Type="http://schemas.openxmlformats.org/officeDocument/2006/relationships/image" Target="../media/image376.png"/><Relationship Id="rId4" Type="http://schemas.openxmlformats.org/officeDocument/2006/relationships/image" Target="../media/image375.png"/><Relationship Id="rId3" Type="http://schemas.openxmlformats.org/officeDocument/2006/relationships/image" Target="../media/image374.png"/><Relationship Id="rId2" Type="http://schemas.openxmlformats.org/officeDocument/2006/relationships/image" Target="../media/image373.png"/><Relationship Id="rId1" Type="http://schemas.openxmlformats.org/officeDocument/2006/relationships/image" Target="../media/image372.png"/></Relationships>
</file>

<file path=ppt/slides/_rels/slide1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7.xml"/><Relationship Id="rId1" Type="http://schemas.openxmlformats.org/officeDocument/2006/relationships/slideLayout" Target="../slideLayouts/slideLayout2.xml"/></Relationships>
</file>

<file path=ppt/slides/_rels/slide131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28.xml"/><Relationship Id="rId6" Type="http://schemas.openxmlformats.org/officeDocument/2006/relationships/slideLayout" Target="../slideLayouts/slideLayout3.xml"/><Relationship Id="rId5" Type="http://schemas.openxmlformats.org/officeDocument/2006/relationships/image" Target="../media/image382.png"/><Relationship Id="rId4" Type="http://schemas.openxmlformats.org/officeDocument/2006/relationships/image" Target="../media/image381.png"/><Relationship Id="rId3" Type="http://schemas.openxmlformats.org/officeDocument/2006/relationships/image" Target="../media/image380.png"/><Relationship Id="rId2" Type="http://schemas.openxmlformats.org/officeDocument/2006/relationships/image" Target="../media/image379.png"/><Relationship Id="rId1" Type="http://schemas.openxmlformats.org/officeDocument/2006/relationships/image" Target="../media/image378.png"/></Relationships>
</file>

<file path=ppt/slides/_rels/slide13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29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386.png"/><Relationship Id="rId3" Type="http://schemas.openxmlformats.org/officeDocument/2006/relationships/image" Target="../media/image385.png"/><Relationship Id="rId2" Type="http://schemas.openxmlformats.org/officeDocument/2006/relationships/image" Target="../media/image384.png"/><Relationship Id="rId1" Type="http://schemas.openxmlformats.org/officeDocument/2006/relationships/image" Target="../media/image383.png"/></Relationships>
</file>

<file path=ppt/slides/_rels/slide13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30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390.png"/><Relationship Id="rId3" Type="http://schemas.openxmlformats.org/officeDocument/2006/relationships/image" Target="../media/image389.png"/><Relationship Id="rId2" Type="http://schemas.openxmlformats.org/officeDocument/2006/relationships/image" Target="../media/image388.png"/><Relationship Id="rId1" Type="http://schemas.openxmlformats.org/officeDocument/2006/relationships/image" Target="../media/image387.png"/></Relationships>
</file>

<file path=ppt/slides/_rels/slide13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31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394.png"/><Relationship Id="rId3" Type="http://schemas.openxmlformats.org/officeDocument/2006/relationships/image" Target="../media/image393.png"/><Relationship Id="rId2" Type="http://schemas.openxmlformats.org/officeDocument/2006/relationships/image" Target="../media/image392.png"/><Relationship Id="rId1" Type="http://schemas.openxmlformats.org/officeDocument/2006/relationships/image" Target="../media/image391.png"/></Relationships>
</file>

<file path=ppt/slides/_rels/slide13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32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398.png"/><Relationship Id="rId3" Type="http://schemas.openxmlformats.org/officeDocument/2006/relationships/image" Target="../media/image397.png"/><Relationship Id="rId2" Type="http://schemas.openxmlformats.org/officeDocument/2006/relationships/image" Target="../media/image396.png"/><Relationship Id="rId1" Type="http://schemas.openxmlformats.org/officeDocument/2006/relationships/image" Target="../media/image395.png"/></Relationships>
</file>

<file path=ppt/slides/_rels/slide13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33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402.png"/><Relationship Id="rId3" Type="http://schemas.openxmlformats.org/officeDocument/2006/relationships/image" Target="../media/image401.png"/><Relationship Id="rId2" Type="http://schemas.openxmlformats.org/officeDocument/2006/relationships/image" Target="../media/image400.png"/><Relationship Id="rId1" Type="http://schemas.openxmlformats.org/officeDocument/2006/relationships/image" Target="../media/image399.png"/></Relationships>
</file>

<file path=ppt/slides/_rels/slide137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34.x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408.png"/><Relationship Id="rId5" Type="http://schemas.openxmlformats.org/officeDocument/2006/relationships/image" Target="../media/image407.png"/><Relationship Id="rId4" Type="http://schemas.openxmlformats.org/officeDocument/2006/relationships/image" Target="../media/image406.png"/><Relationship Id="rId3" Type="http://schemas.openxmlformats.org/officeDocument/2006/relationships/image" Target="../media/image405.png"/><Relationship Id="rId2" Type="http://schemas.openxmlformats.org/officeDocument/2006/relationships/image" Target="../media/image404.png"/><Relationship Id="rId1" Type="http://schemas.openxmlformats.org/officeDocument/2006/relationships/image" Target="../media/image403.png"/></Relationships>
</file>

<file path=ppt/slides/_rels/slide138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35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412.png"/><Relationship Id="rId3" Type="http://schemas.openxmlformats.org/officeDocument/2006/relationships/image" Target="../media/image411.png"/><Relationship Id="rId2" Type="http://schemas.openxmlformats.org/officeDocument/2006/relationships/image" Target="../media/image410.png"/><Relationship Id="rId1" Type="http://schemas.openxmlformats.org/officeDocument/2006/relationships/image" Target="../media/image409.png"/></Relationships>
</file>

<file path=ppt/slides/_rels/slide139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36.x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418.png"/><Relationship Id="rId5" Type="http://schemas.openxmlformats.org/officeDocument/2006/relationships/image" Target="../media/image417.png"/><Relationship Id="rId4" Type="http://schemas.openxmlformats.org/officeDocument/2006/relationships/image" Target="../media/image416.png"/><Relationship Id="rId3" Type="http://schemas.openxmlformats.org/officeDocument/2006/relationships/image" Target="../media/image415.png"/><Relationship Id="rId2" Type="http://schemas.openxmlformats.org/officeDocument/2006/relationships/image" Target="../media/image414.png"/><Relationship Id="rId1" Type="http://schemas.openxmlformats.org/officeDocument/2006/relationships/image" Target="../media/image413.png"/></Relationships>
</file>

<file path=ppt/slides/_rels/slide140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37.x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424.png"/><Relationship Id="rId5" Type="http://schemas.openxmlformats.org/officeDocument/2006/relationships/image" Target="../media/image423.png"/><Relationship Id="rId4" Type="http://schemas.openxmlformats.org/officeDocument/2006/relationships/image" Target="../media/image422.png"/><Relationship Id="rId3" Type="http://schemas.openxmlformats.org/officeDocument/2006/relationships/image" Target="../media/image421.png"/><Relationship Id="rId2" Type="http://schemas.openxmlformats.org/officeDocument/2006/relationships/image" Target="../media/image420.png"/><Relationship Id="rId1" Type="http://schemas.openxmlformats.org/officeDocument/2006/relationships/image" Target="../media/image419.png"/></Relationships>
</file>

<file path=ppt/slides/_rels/slide1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8.xml"/><Relationship Id="rId1" Type="http://schemas.openxmlformats.org/officeDocument/2006/relationships/slideLayout" Target="../slideLayouts/slideLayout2.xml"/></Relationships>
</file>

<file path=ppt/slides/_rels/slide142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39.xml"/><Relationship Id="rId6" Type="http://schemas.openxmlformats.org/officeDocument/2006/relationships/slideLayout" Target="../slideLayouts/slideLayout3.xml"/><Relationship Id="rId5" Type="http://schemas.openxmlformats.org/officeDocument/2006/relationships/image" Target="../media/image429.png"/><Relationship Id="rId4" Type="http://schemas.openxmlformats.org/officeDocument/2006/relationships/image" Target="../media/image428.png"/><Relationship Id="rId3" Type="http://schemas.openxmlformats.org/officeDocument/2006/relationships/image" Target="../media/image427.png"/><Relationship Id="rId2" Type="http://schemas.openxmlformats.org/officeDocument/2006/relationships/image" Target="../media/image426.png"/><Relationship Id="rId1" Type="http://schemas.openxmlformats.org/officeDocument/2006/relationships/image" Target="../media/image425.png"/></Relationships>
</file>

<file path=ppt/slides/_rels/slide14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40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433.png"/><Relationship Id="rId3" Type="http://schemas.openxmlformats.org/officeDocument/2006/relationships/image" Target="../media/image432.png"/><Relationship Id="rId2" Type="http://schemas.openxmlformats.org/officeDocument/2006/relationships/image" Target="../media/image431.png"/><Relationship Id="rId1" Type="http://schemas.openxmlformats.org/officeDocument/2006/relationships/image" Target="../media/image430.png"/></Relationships>
</file>

<file path=ppt/slides/_rels/slide1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1.xml"/><Relationship Id="rId1" Type="http://schemas.openxmlformats.org/officeDocument/2006/relationships/slideLayout" Target="../slideLayouts/slideLayout2.xml"/></Relationships>
</file>

<file path=ppt/slides/_rels/slide14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42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437.png"/><Relationship Id="rId3" Type="http://schemas.openxmlformats.org/officeDocument/2006/relationships/image" Target="../media/image436.png"/><Relationship Id="rId2" Type="http://schemas.openxmlformats.org/officeDocument/2006/relationships/image" Target="../media/image435.png"/><Relationship Id="rId1" Type="http://schemas.openxmlformats.org/officeDocument/2006/relationships/image" Target="../media/image434.png"/></Relationships>
</file>

<file path=ppt/slides/_rels/slide14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43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441.png"/><Relationship Id="rId3" Type="http://schemas.openxmlformats.org/officeDocument/2006/relationships/image" Target="../media/image440.png"/><Relationship Id="rId2" Type="http://schemas.openxmlformats.org/officeDocument/2006/relationships/image" Target="../media/image439.png"/><Relationship Id="rId1" Type="http://schemas.openxmlformats.org/officeDocument/2006/relationships/image" Target="../media/image438.png"/></Relationships>
</file>

<file path=ppt/slides/_rels/slide147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44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445.png"/><Relationship Id="rId3" Type="http://schemas.openxmlformats.org/officeDocument/2006/relationships/image" Target="../media/image444.png"/><Relationship Id="rId2" Type="http://schemas.openxmlformats.org/officeDocument/2006/relationships/image" Target="../media/image443.png"/><Relationship Id="rId1" Type="http://schemas.openxmlformats.org/officeDocument/2006/relationships/image" Target="../media/image442.png"/></Relationships>
</file>

<file path=ppt/slides/_rels/slide148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45.x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451.png"/><Relationship Id="rId5" Type="http://schemas.openxmlformats.org/officeDocument/2006/relationships/image" Target="../media/image450.png"/><Relationship Id="rId4" Type="http://schemas.openxmlformats.org/officeDocument/2006/relationships/image" Target="../media/image449.png"/><Relationship Id="rId3" Type="http://schemas.openxmlformats.org/officeDocument/2006/relationships/image" Target="../media/image448.png"/><Relationship Id="rId2" Type="http://schemas.openxmlformats.org/officeDocument/2006/relationships/image" Target="../media/image447.png"/><Relationship Id="rId1" Type="http://schemas.openxmlformats.org/officeDocument/2006/relationships/image" Target="../media/image446.png"/></Relationships>
</file>

<file path=ppt/slides/_rels/slide149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46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455.png"/><Relationship Id="rId3" Type="http://schemas.openxmlformats.org/officeDocument/2006/relationships/image" Target="../media/image454.png"/><Relationship Id="rId2" Type="http://schemas.openxmlformats.org/officeDocument/2006/relationships/image" Target="../media/image453.png"/><Relationship Id="rId1" Type="http://schemas.openxmlformats.org/officeDocument/2006/relationships/image" Target="../media/image452.png"/></Relationships>
</file>

<file path=ppt/slides/_rels/slide150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47.x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461.png"/><Relationship Id="rId5" Type="http://schemas.openxmlformats.org/officeDocument/2006/relationships/image" Target="../media/image460.png"/><Relationship Id="rId4" Type="http://schemas.openxmlformats.org/officeDocument/2006/relationships/image" Target="../media/image459.png"/><Relationship Id="rId3" Type="http://schemas.openxmlformats.org/officeDocument/2006/relationships/image" Target="../media/image458.png"/><Relationship Id="rId2" Type="http://schemas.openxmlformats.org/officeDocument/2006/relationships/image" Target="../media/image457.png"/><Relationship Id="rId1" Type="http://schemas.openxmlformats.org/officeDocument/2006/relationships/image" Target="../media/image456.png"/></Relationships>
</file>

<file path=ppt/slides/_rels/slide1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8.xml"/><Relationship Id="rId1" Type="http://schemas.openxmlformats.org/officeDocument/2006/relationships/slideLayout" Target="../slideLayouts/slideLayout2.xml"/></Relationships>
</file>

<file path=ppt/slides/_rels/slide152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49.xml"/><Relationship Id="rId6" Type="http://schemas.openxmlformats.org/officeDocument/2006/relationships/slideLayout" Target="../slideLayouts/slideLayout3.xml"/><Relationship Id="rId5" Type="http://schemas.openxmlformats.org/officeDocument/2006/relationships/image" Target="../media/image466.png"/><Relationship Id="rId4" Type="http://schemas.openxmlformats.org/officeDocument/2006/relationships/image" Target="../media/image465.png"/><Relationship Id="rId3" Type="http://schemas.openxmlformats.org/officeDocument/2006/relationships/image" Target="../media/image464.png"/><Relationship Id="rId2" Type="http://schemas.openxmlformats.org/officeDocument/2006/relationships/image" Target="../media/image463.png"/><Relationship Id="rId1" Type="http://schemas.openxmlformats.org/officeDocument/2006/relationships/image" Target="../media/image462.png"/></Relationships>
</file>

<file path=ppt/slides/_rels/slide15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50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470.png"/><Relationship Id="rId3" Type="http://schemas.openxmlformats.org/officeDocument/2006/relationships/image" Target="../media/image469.png"/><Relationship Id="rId2" Type="http://schemas.openxmlformats.org/officeDocument/2006/relationships/image" Target="../media/image468.png"/><Relationship Id="rId1" Type="http://schemas.openxmlformats.org/officeDocument/2006/relationships/image" Target="../media/image467.png"/></Relationships>
</file>

<file path=ppt/slides/_rels/slide154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51.xml"/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475.png"/><Relationship Id="rId4" Type="http://schemas.openxmlformats.org/officeDocument/2006/relationships/image" Target="../media/image474.png"/><Relationship Id="rId3" Type="http://schemas.openxmlformats.org/officeDocument/2006/relationships/image" Target="../media/image473.png"/><Relationship Id="rId2" Type="http://schemas.openxmlformats.org/officeDocument/2006/relationships/image" Target="../media/image472.png"/><Relationship Id="rId1" Type="http://schemas.openxmlformats.org/officeDocument/2006/relationships/image" Target="../media/image471.png"/></Relationships>
</file>

<file path=ppt/slides/_rels/slide1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2.xml"/><Relationship Id="rId1" Type="http://schemas.openxmlformats.org/officeDocument/2006/relationships/slideLayout" Target="../slideLayouts/slideLayout2.xml"/></Relationships>
</file>

<file path=ppt/slides/_rels/slide15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53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479.png"/><Relationship Id="rId3" Type="http://schemas.openxmlformats.org/officeDocument/2006/relationships/image" Target="../media/image478.png"/><Relationship Id="rId2" Type="http://schemas.openxmlformats.org/officeDocument/2006/relationships/image" Target="../media/image477.png"/><Relationship Id="rId1" Type="http://schemas.openxmlformats.org/officeDocument/2006/relationships/image" Target="../media/image476.png"/></Relationships>
</file>

<file path=ppt/slides/_rels/slide15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54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81.png"/><Relationship Id="rId1" Type="http://schemas.openxmlformats.org/officeDocument/2006/relationships/image" Target="../media/image480.png"/></Relationships>
</file>

<file path=ppt/slides/_rels/slide158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55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485.png"/><Relationship Id="rId3" Type="http://schemas.openxmlformats.org/officeDocument/2006/relationships/image" Target="../media/image484.png"/><Relationship Id="rId2" Type="http://schemas.openxmlformats.org/officeDocument/2006/relationships/image" Target="../media/image483.png"/><Relationship Id="rId1" Type="http://schemas.openxmlformats.org/officeDocument/2006/relationships/image" Target="../media/image482.png"/></Relationships>
</file>

<file path=ppt/slides/_rels/slide1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6.xml"/><Relationship Id="rId1" Type="http://schemas.openxmlformats.org/officeDocument/2006/relationships/slideLayout" Target="../slideLayouts/slideLayout2.xml"/></Relationships>
</file>

<file path=ppt/slides/_rels/slide160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57.x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491.png"/><Relationship Id="rId5" Type="http://schemas.openxmlformats.org/officeDocument/2006/relationships/image" Target="../media/image490.png"/><Relationship Id="rId4" Type="http://schemas.openxmlformats.org/officeDocument/2006/relationships/image" Target="../media/image489.png"/><Relationship Id="rId3" Type="http://schemas.openxmlformats.org/officeDocument/2006/relationships/image" Target="../media/image488.png"/><Relationship Id="rId2" Type="http://schemas.openxmlformats.org/officeDocument/2006/relationships/image" Target="../media/image487.png"/><Relationship Id="rId1" Type="http://schemas.openxmlformats.org/officeDocument/2006/relationships/image" Target="../media/image486.png"/></Relationships>
</file>

<file path=ppt/slides/_rels/slide1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8.xml"/><Relationship Id="rId1" Type="http://schemas.openxmlformats.org/officeDocument/2006/relationships/slideLayout" Target="../slideLayouts/slideLayout2.xml"/></Relationships>
</file>

<file path=ppt/slides/_rels/slide162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59.xml"/><Relationship Id="rId6" Type="http://schemas.openxmlformats.org/officeDocument/2006/relationships/slideLayout" Target="../slideLayouts/slideLayout3.xml"/><Relationship Id="rId5" Type="http://schemas.openxmlformats.org/officeDocument/2006/relationships/image" Target="../media/image496.png"/><Relationship Id="rId4" Type="http://schemas.openxmlformats.org/officeDocument/2006/relationships/image" Target="../media/image495.png"/><Relationship Id="rId3" Type="http://schemas.openxmlformats.org/officeDocument/2006/relationships/image" Target="../media/image494.png"/><Relationship Id="rId2" Type="http://schemas.openxmlformats.org/officeDocument/2006/relationships/image" Target="../media/image493.png"/><Relationship Id="rId1" Type="http://schemas.openxmlformats.org/officeDocument/2006/relationships/image" Target="../media/image492.png"/></Relationships>
</file>

<file path=ppt/slides/_rels/slide16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60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500.png"/><Relationship Id="rId3" Type="http://schemas.openxmlformats.org/officeDocument/2006/relationships/image" Target="../media/image499.png"/><Relationship Id="rId2" Type="http://schemas.openxmlformats.org/officeDocument/2006/relationships/image" Target="../media/image498.png"/><Relationship Id="rId1" Type="http://schemas.openxmlformats.org/officeDocument/2006/relationships/image" Target="../media/image497.png"/></Relationships>
</file>

<file path=ppt/slides/_rels/slide164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61.xml"/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505.png"/><Relationship Id="rId4" Type="http://schemas.openxmlformats.org/officeDocument/2006/relationships/image" Target="../media/image504.png"/><Relationship Id="rId3" Type="http://schemas.openxmlformats.org/officeDocument/2006/relationships/image" Target="../media/image503.png"/><Relationship Id="rId2" Type="http://schemas.openxmlformats.org/officeDocument/2006/relationships/image" Target="../media/image502.png"/><Relationship Id="rId1" Type="http://schemas.openxmlformats.org/officeDocument/2006/relationships/image" Target="../media/image501.png"/></Relationships>
</file>

<file path=ppt/slides/_rels/slide1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2.xml"/><Relationship Id="rId1" Type="http://schemas.openxmlformats.org/officeDocument/2006/relationships/slideLayout" Target="../slideLayouts/slideLayout2.xml"/></Relationships>
</file>

<file path=ppt/slides/_rels/slide16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63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509.png"/><Relationship Id="rId3" Type="http://schemas.openxmlformats.org/officeDocument/2006/relationships/image" Target="../media/image508.png"/><Relationship Id="rId2" Type="http://schemas.openxmlformats.org/officeDocument/2006/relationships/image" Target="../media/image507.png"/><Relationship Id="rId1" Type="http://schemas.openxmlformats.org/officeDocument/2006/relationships/image" Target="../media/image506.png"/></Relationships>
</file>

<file path=ppt/slides/_rels/slide167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64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513.png"/><Relationship Id="rId3" Type="http://schemas.openxmlformats.org/officeDocument/2006/relationships/image" Target="../media/image512.png"/><Relationship Id="rId2" Type="http://schemas.openxmlformats.org/officeDocument/2006/relationships/image" Target="../media/image511.png"/><Relationship Id="rId1" Type="http://schemas.openxmlformats.org/officeDocument/2006/relationships/image" Target="../media/image510.png"/></Relationships>
</file>

<file path=ppt/slides/_rels/slide168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65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517.png"/><Relationship Id="rId3" Type="http://schemas.openxmlformats.org/officeDocument/2006/relationships/image" Target="../media/image516.png"/><Relationship Id="rId2" Type="http://schemas.openxmlformats.org/officeDocument/2006/relationships/image" Target="../media/image515.png"/><Relationship Id="rId1" Type="http://schemas.openxmlformats.org/officeDocument/2006/relationships/image" Target="../media/image514.png"/></Relationships>
</file>

<file path=ppt/slides/_rels/slide1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6.xml"/><Relationship Id="rId1" Type="http://schemas.openxmlformats.org/officeDocument/2006/relationships/slideLayout" Target="../slideLayouts/slideLayout2.xml"/></Relationships>
</file>

<file path=ppt/slides/_rels/slide1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7.xml"/><Relationship Id="rId1" Type="http://schemas.openxmlformats.org/officeDocument/2006/relationships/slideLayout" Target="../slideLayouts/slideLayout2.xml"/></Relationships>
</file>

<file path=ppt/slides/_rels/slide171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68.x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523.png"/><Relationship Id="rId5" Type="http://schemas.openxmlformats.org/officeDocument/2006/relationships/image" Target="../media/image522.png"/><Relationship Id="rId4" Type="http://schemas.openxmlformats.org/officeDocument/2006/relationships/image" Target="../media/image521.png"/><Relationship Id="rId3" Type="http://schemas.openxmlformats.org/officeDocument/2006/relationships/image" Target="../media/image520.png"/><Relationship Id="rId2" Type="http://schemas.openxmlformats.org/officeDocument/2006/relationships/image" Target="../media/image519.png"/><Relationship Id="rId1" Type="http://schemas.openxmlformats.org/officeDocument/2006/relationships/image" Target="../media/image518.png"/></Relationships>
</file>

<file path=ppt/slides/_rels/slide17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69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25.png"/><Relationship Id="rId1" Type="http://schemas.openxmlformats.org/officeDocument/2006/relationships/image" Target="../media/image524.png"/></Relationships>
</file>

<file path=ppt/slides/_rels/slide1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0.xml"/><Relationship Id="rId1" Type="http://schemas.openxmlformats.org/officeDocument/2006/relationships/slideLayout" Target="../slideLayouts/slideLayout2.xml"/></Relationships>
</file>

<file path=ppt/slides/_rels/slide174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71.xml"/><Relationship Id="rId6" Type="http://schemas.openxmlformats.org/officeDocument/2006/relationships/slideLayout" Target="../slideLayouts/slideLayout3.xml"/><Relationship Id="rId5" Type="http://schemas.openxmlformats.org/officeDocument/2006/relationships/image" Target="../media/image530.png"/><Relationship Id="rId4" Type="http://schemas.openxmlformats.org/officeDocument/2006/relationships/image" Target="../media/image529.png"/><Relationship Id="rId3" Type="http://schemas.openxmlformats.org/officeDocument/2006/relationships/image" Target="../media/image528.png"/><Relationship Id="rId2" Type="http://schemas.openxmlformats.org/officeDocument/2006/relationships/image" Target="../media/image527.png"/><Relationship Id="rId1" Type="http://schemas.openxmlformats.org/officeDocument/2006/relationships/image" Target="../media/image526.png"/></Relationships>
</file>

<file path=ppt/slides/_rels/slide17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72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534.png"/><Relationship Id="rId3" Type="http://schemas.openxmlformats.org/officeDocument/2006/relationships/image" Target="../media/image533.png"/><Relationship Id="rId2" Type="http://schemas.openxmlformats.org/officeDocument/2006/relationships/image" Target="../media/image532.png"/><Relationship Id="rId1" Type="http://schemas.openxmlformats.org/officeDocument/2006/relationships/image" Target="../media/image531.png"/></Relationships>
</file>

<file path=ppt/slides/_rels/slide1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3.xml"/><Relationship Id="rId1" Type="http://schemas.openxmlformats.org/officeDocument/2006/relationships/slideLayout" Target="../slideLayouts/slideLayout2.xml"/></Relationships>
</file>

<file path=ppt/slides/_rels/slide1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4.xml"/><Relationship Id="rId1" Type="http://schemas.openxmlformats.org/officeDocument/2006/relationships/slideLayout" Target="../slideLayouts/slideLayout2.xml"/></Relationships>
</file>

<file path=ppt/slides/_rels/slide178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75.x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540.png"/><Relationship Id="rId5" Type="http://schemas.openxmlformats.org/officeDocument/2006/relationships/image" Target="../media/image539.png"/><Relationship Id="rId4" Type="http://schemas.openxmlformats.org/officeDocument/2006/relationships/image" Target="../media/image538.png"/><Relationship Id="rId3" Type="http://schemas.openxmlformats.org/officeDocument/2006/relationships/image" Target="../media/image537.png"/><Relationship Id="rId2" Type="http://schemas.openxmlformats.org/officeDocument/2006/relationships/image" Target="../media/image536.png"/><Relationship Id="rId1" Type="http://schemas.openxmlformats.org/officeDocument/2006/relationships/image" Target="../media/image535.png"/></Relationships>
</file>

<file path=ppt/slides/_rels/slide179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76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544.png"/><Relationship Id="rId3" Type="http://schemas.openxmlformats.org/officeDocument/2006/relationships/image" Target="../media/image543.png"/><Relationship Id="rId2" Type="http://schemas.openxmlformats.org/officeDocument/2006/relationships/image" Target="../media/image542.png"/><Relationship Id="rId1" Type="http://schemas.openxmlformats.org/officeDocument/2006/relationships/image" Target="../media/image541.png"/></Relationships>
</file>

<file path=ppt/slides/_rels/slide180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77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548.png"/><Relationship Id="rId3" Type="http://schemas.openxmlformats.org/officeDocument/2006/relationships/image" Target="../media/image547.png"/><Relationship Id="rId2" Type="http://schemas.openxmlformats.org/officeDocument/2006/relationships/image" Target="../media/image546.png"/><Relationship Id="rId1" Type="http://schemas.openxmlformats.org/officeDocument/2006/relationships/image" Target="../media/image545.png"/></Relationships>
</file>

<file path=ppt/slides/_rels/slide1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8.xml"/><Relationship Id="rId1" Type="http://schemas.openxmlformats.org/officeDocument/2006/relationships/slideLayout" Target="../slideLayouts/slideLayout2.xml"/></Relationships>
</file>

<file path=ppt/slides/_rels/slide182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79.x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554.png"/><Relationship Id="rId5" Type="http://schemas.openxmlformats.org/officeDocument/2006/relationships/image" Target="../media/image553.png"/><Relationship Id="rId4" Type="http://schemas.openxmlformats.org/officeDocument/2006/relationships/image" Target="../media/image552.png"/><Relationship Id="rId3" Type="http://schemas.openxmlformats.org/officeDocument/2006/relationships/image" Target="../media/image551.png"/><Relationship Id="rId2" Type="http://schemas.openxmlformats.org/officeDocument/2006/relationships/image" Target="../media/image550.png"/><Relationship Id="rId1" Type="http://schemas.openxmlformats.org/officeDocument/2006/relationships/image" Target="../media/image549.png"/></Relationships>
</file>

<file path=ppt/slides/_rels/slide183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80.x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560.png"/><Relationship Id="rId5" Type="http://schemas.openxmlformats.org/officeDocument/2006/relationships/image" Target="../media/image559.png"/><Relationship Id="rId4" Type="http://schemas.openxmlformats.org/officeDocument/2006/relationships/image" Target="../media/image558.png"/><Relationship Id="rId3" Type="http://schemas.openxmlformats.org/officeDocument/2006/relationships/image" Target="../media/image557.png"/><Relationship Id="rId2" Type="http://schemas.openxmlformats.org/officeDocument/2006/relationships/image" Target="../media/image556.png"/><Relationship Id="rId1" Type="http://schemas.openxmlformats.org/officeDocument/2006/relationships/image" Target="../media/image555.png"/></Relationships>
</file>

<file path=ppt/slides/_rels/slide184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81.x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566.png"/><Relationship Id="rId5" Type="http://schemas.openxmlformats.org/officeDocument/2006/relationships/image" Target="../media/image565.png"/><Relationship Id="rId4" Type="http://schemas.openxmlformats.org/officeDocument/2006/relationships/image" Target="../media/image564.png"/><Relationship Id="rId3" Type="http://schemas.openxmlformats.org/officeDocument/2006/relationships/image" Target="../media/image563.png"/><Relationship Id="rId2" Type="http://schemas.openxmlformats.org/officeDocument/2006/relationships/image" Target="../media/image562.png"/><Relationship Id="rId1" Type="http://schemas.openxmlformats.org/officeDocument/2006/relationships/image" Target="../media/image561.png"/></Relationships>
</file>

<file path=ppt/slides/_rels/slide1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2.xml"/><Relationship Id="rId1" Type="http://schemas.openxmlformats.org/officeDocument/2006/relationships/slideLayout" Target="../slideLayouts/slideLayout2.xml"/></Relationships>
</file>

<file path=ppt/slides/_rels/slide186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83.xml"/><Relationship Id="rId6" Type="http://schemas.openxmlformats.org/officeDocument/2006/relationships/slideLayout" Target="../slideLayouts/slideLayout3.xml"/><Relationship Id="rId5" Type="http://schemas.openxmlformats.org/officeDocument/2006/relationships/image" Target="../media/image571.png"/><Relationship Id="rId4" Type="http://schemas.openxmlformats.org/officeDocument/2006/relationships/image" Target="../media/image570.png"/><Relationship Id="rId3" Type="http://schemas.openxmlformats.org/officeDocument/2006/relationships/image" Target="../media/image569.png"/><Relationship Id="rId2" Type="http://schemas.openxmlformats.org/officeDocument/2006/relationships/image" Target="../media/image568.png"/><Relationship Id="rId1" Type="http://schemas.openxmlformats.org/officeDocument/2006/relationships/image" Target="../media/image567.png"/></Relationships>
</file>

<file path=ppt/slides/_rels/slide18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image" Target="../media/image579.png"/><Relationship Id="rId7" Type="http://schemas.openxmlformats.org/officeDocument/2006/relationships/image" Target="../media/image578.png"/><Relationship Id="rId6" Type="http://schemas.openxmlformats.org/officeDocument/2006/relationships/image" Target="../media/image577.png"/><Relationship Id="rId5" Type="http://schemas.openxmlformats.org/officeDocument/2006/relationships/image" Target="../media/image576.png"/><Relationship Id="rId4" Type="http://schemas.openxmlformats.org/officeDocument/2006/relationships/image" Target="../media/image575.png"/><Relationship Id="rId3" Type="http://schemas.openxmlformats.org/officeDocument/2006/relationships/image" Target="../media/image574.png"/><Relationship Id="rId2" Type="http://schemas.openxmlformats.org/officeDocument/2006/relationships/image" Target="../media/image573.png"/><Relationship Id="rId10" Type="http://schemas.openxmlformats.org/officeDocument/2006/relationships/notesSlide" Target="../notesSlides/notesSlide184.xml"/><Relationship Id="rId1" Type="http://schemas.openxmlformats.org/officeDocument/2006/relationships/image" Target="../media/image572.png"/></Relationships>
</file>

<file path=ppt/slides/_rels/slide188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85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583.png"/><Relationship Id="rId3" Type="http://schemas.openxmlformats.org/officeDocument/2006/relationships/image" Target="../media/image582.png"/><Relationship Id="rId2" Type="http://schemas.openxmlformats.org/officeDocument/2006/relationships/image" Target="../media/image581.png"/><Relationship Id="rId1" Type="http://schemas.openxmlformats.org/officeDocument/2006/relationships/image" Target="../media/image580.png"/></Relationships>
</file>

<file path=ppt/slides/_rels/slide189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86.x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589.png"/><Relationship Id="rId5" Type="http://schemas.openxmlformats.org/officeDocument/2006/relationships/image" Target="../media/image588.png"/><Relationship Id="rId4" Type="http://schemas.openxmlformats.org/officeDocument/2006/relationships/image" Target="../media/image587.png"/><Relationship Id="rId3" Type="http://schemas.openxmlformats.org/officeDocument/2006/relationships/image" Target="../media/image586.png"/><Relationship Id="rId2" Type="http://schemas.openxmlformats.org/officeDocument/2006/relationships/image" Target="../media/image585.png"/><Relationship Id="rId1" Type="http://schemas.openxmlformats.org/officeDocument/2006/relationships/image" Target="../media/image584.png"/></Relationships>
</file>

<file path=ppt/slides/_rels/slide190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87.x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595.png"/><Relationship Id="rId5" Type="http://schemas.openxmlformats.org/officeDocument/2006/relationships/image" Target="../media/image594.png"/><Relationship Id="rId4" Type="http://schemas.openxmlformats.org/officeDocument/2006/relationships/image" Target="../media/image593.png"/><Relationship Id="rId3" Type="http://schemas.openxmlformats.org/officeDocument/2006/relationships/image" Target="../media/image592.png"/><Relationship Id="rId2" Type="http://schemas.openxmlformats.org/officeDocument/2006/relationships/image" Target="../media/image591.png"/><Relationship Id="rId1" Type="http://schemas.openxmlformats.org/officeDocument/2006/relationships/image" Target="../media/image590.png"/></Relationships>
</file>

<file path=ppt/slides/_rels/slide191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88.x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601.png"/><Relationship Id="rId5" Type="http://schemas.openxmlformats.org/officeDocument/2006/relationships/image" Target="../media/image600.png"/><Relationship Id="rId4" Type="http://schemas.openxmlformats.org/officeDocument/2006/relationships/image" Target="../media/image599.png"/><Relationship Id="rId3" Type="http://schemas.openxmlformats.org/officeDocument/2006/relationships/image" Target="../media/image598.png"/><Relationship Id="rId2" Type="http://schemas.openxmlformats.org/officeDocument/2006/relationships/image" Target="../media/image597.png"/><Relationship Id="rId1" Type="http://schemas.openxmlformats.org/officeDocument/2006/relationships/image" Target="../media/image596.png"/></Relationships>
</file>

<file path=ppt/slides/_rels/slide192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89.x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607.png"/><Relationship Id="rId5" Type="http://schemas.openxmlformats.org/officeDocument/2006/relationships/image" Target="../media/image606.png"/><Relationship Id="rId4" Type="http://schemas.openxmlformats.org/officeDocument/2006/relationships/image" Target="../media/image605.png"/><Relationship Id="rId3" Type="http://schemas.openxmlformats.org/officeDocument/2006/relationships/image" Target="../media/image604.png"/><Relationship Id="rId2" Type="http://schemas.openxmlformats.org/officeDocument/2006/relationships/image" Target="../media/image603.png"/><Relationship Id="rId1" Type="http://schemas.openxmlformats.org/officeDocument/2006/relationships/image" Target="../media/image602.png"/></Relationships>
</file>

<file path=ppt/slides/_rels/slide193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90.x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613.png"/><Relationship Id="rId5" Type="http://schemas.openxmlformats.org/officeDocument/2006/relationships/image" Target="../media/image612.png"/><Relationship Id="rId4" Type="http://schemas.openxmlformats.org/officeDocument/2006/relationships/image" Target="../media/image611.png"/><Relationship Id="rId3" Type="http://schemas.openxmlformats.org/officeDocument/2006/relationships/image" Target="../media/image610.png"/><Relationship Id="rId2" Type="http://schemas.openxmlformats.org/officeDocument/2006/relationships/image" Target="../media/image609.png"/><Relationship Id="rId1" Type="http://schemas.openxmlformats.org/officeDocument/2006/relationships/image" Target="../media/image608.png"/></Relationships>
</file>

<file path=ppt/slides/_rels/slide194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91.x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619.png"/><Relationship Id="rId5" Type="http://schemas.openxmlformats.org/officeDocument/2006/relationships/image" Target="../media/image618.png"/><Relationship Id="rId4" Type="http://schemas.openxmlformats.org/officeDocument/2006/relationships/image" Target="../media/image617.png"/><Relationship Id="rId3" Type="http://schemas.openxmlformats.org/officeDocument/2006/relationships/image" Target="../media/image616.png"/><Relationship Id="rId2" Type="http://schemas.openxmlformats.org/officeDocument/2006/relationships/image" Target="../media/image615.png"/><Relationship Id="rId1" Type="http://schemas.openxmlformats.org/officeDocument/2006/relationships/image" Target="../media/image614.png"/></Relationships>
</file>

<file path=ppt/slides/_rels/slide195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92.x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625.png"/><Relationship Id="rId5" Type="http://schemas.openxmlformats.org/officeDocument/2006/relationships/image" Target="../media/image624.png"/><Relationship Id="rId4" Type="http://schemas.openxmlformats.org/officeDocument/2006/relationships/image" Target="../media/image623.png"/><Relationship Id="rId3" Type="http://schemas.openxmlformats.org/officeDocument/2006/relationships/image" Target="../media/image622.png"/><Relationship Id="rId2" Type="http://schemas.openxmlformats.org/officeDocument/2006/relationships/image" Target="../media/image621.png"/><Relationship Id="rId1" Type="http://schemas.openxmlformats.org/officeDocument/2006/relationships/image" Target="../media/image620.png"/></Relationships>
</file>

<file path=ppt/slides/_rels/slide19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image" Target="../media/image633.png"/><Relationship Id="rId7" Type="http://schemas.openxmlformats.org/officeDocument/2006/relationships/image" Target="../media/image632.png"/><Relationship Id="rId6" Type="http://schemas.openxmlformats.org/officeDocument/2006/relationships/image" Target="../media/image631.png"/><Relationship Id="rId5" Type="http://schemas.openxmlformats.org/officeDocument/2006/relationships/image" Target="../media/image630.png"/><Relationship Id="rId4" Type="http://schemas.openxmlformats.org/officeDocument/2006/relationships/image" Target="../media/image629.png"/><Relationship Id="rId3" Type="http://schemas.openxmlformats.org/officeDocument/2006/relationships/image" Target="../media/image628.png"/><Relationship Id="rId2" Type="http://schemas.openxmlformats.org/officeDocument/2006/relationships/image" Target="../media/image627.png"/><Relationship Id="rId10" Type="http://schemas.openxmlformats.org/officeDocument/2006/relationships/notesSlide" Target="../notesSlides/notesSlide193.xml"/><Relationship Id="rId1" Type="http://schemas.openxmlformats.org/officeDocument/2006/relationships/image" Target="../media/image626.png"/></Relationships>
</file>

<file path=ppt/slides/_rels/slide19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4.xml"/><Relationship Id="rId1" Type="http://schemas.openxmlformats.org/officeDocument/2006/relationships/slideLayout" Target="../slideLayouts/slideLayout2.xml"/></Relationships>
</file>

<file path=ppt/slides/_rels/slide198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95.xml"/><Relationship Id="rId6" Type="http://schemas.openxmlformats.org/officeDocument/2006/relationships/slideLayout" Target="../slideLayouts/slideLayout3.xml"/><Relationship Id="rId5" Type="http://schemas.openxmlformats.org/officeDocument/2006/relationships/image" Target="../media/image638.png"/><Relationship Id="rId4" Type="http://schemas.openxmlformats.org/officeDocument/2006/relationships/image" Target="../media/image637.png"/><Relationship Id="rId3" Type="http://schemas.openxmlformats.org/officeDocument/2006/relationships/image" Target="../media/image636.png"/><Relationship Id="rId2" Type="http://schemas.openxmlformats.org/officeDocument/2006/relationships/image" Target="../media/image635.png"/><Relationship Id="rId1" Type="http://schemas.openxmlformats.org/officeDocument/2006/relationships/image" Target="../media/image634.png"/></Relationships>
</file>

<file path=ppt/slides/_rels/slide199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96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642.png"/><Relationship Id="rId3" Type="http://schemas.openxmlformats.org/officeDocument/2006/relationships/image" Target="../media/image641.png"/><Relationship Id="rId2" Type="http://schemas.openxmlformats.org/officeDocument/2006/relationships/image" Target="../media/image640.png"/><Relationship Id="rId1" Type="http://schemas.openxmlformats.org/officeDocument/2006/relationships/image" Target="../media/image639.png"/></Relationships>
</file>

<file path=ppt/slides/_rels/slide200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97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646.png"/><Relationship Id="rId3" Type="http://schemas.openxmlformats.org/officeDocument/2006/relationships/image" Target="../media/image645.png"/><Relationship Id="rId2" Type="http://schemas.openxmlformats.org/officeDocument/2006/relationships/image" Target="../media/image644.png"/><Relationship Id="rId1" Type="http://schemas.openxmlformats.org/officeDocument/2006/relationships/image" Target="../media/image643.png"/></Relationships>
</file>

<file path=ppt/slides/_rels/slide20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98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650.png"/><Relationship Id="rId3" Type="http://schemas.openxmlformats.org/officeDocument/2006/relationships/image" Target="../media/image649.png"/><Relationship Id="rId2" Type="http://schemas.openxmlformats.org/officeDocument/2006/relationships/image" Target="../media/image648.png"/><Relationship Id="rId1" Type="http://schemas.openxmlformats.org/officeDocument/2006/relationships/image" Target="../media/image647.png"/></Relationships>
</file>

<file path=ppt/slides/_rels/slide20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99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654.png"/><Relationship Id="rId3" Type="http://schemas.openxmlformats.org/officeDocument/2006/relationships/image" Target="../media/image653.png"/><Relationship Id="rId2" Type="http://schemas.openxmlformats.org/officeDocument/2006/relationships/image" Target="../media/image652.png"/><Relationship Id="rId1" Type="http://schemas.openxmlformats.org/officeDocument/2006/relationships/image" Target="../media/image651.png"/></Relationships>
</file>

<file path=ppt/slides/_rels/slide20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00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658.png"/><Relationship Id="rId3" Type="http://schemas.openxmlformats.org/officeDocument/2006/relationships/image" Target="../media/image657.png"/><Relationship Id="rId2" Type="http://schemas.openxmlformats.org/officeDocument/2006/relationships/image" Target="../media/image656.png"/><Relationship Id="rId1" Type="http://schemas.openxmlformats.org/officeDocument/2006/relationships/image" Target="../media/image655.png"/></Relationships>
</file>

<file path=ppt/slides/_rels/slide204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01.x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664.png"/><Relationship Id="rId5" Type="http://schemas.openxmlformats.org/officeDocument/2006/relationships/image" Target="../media/image663.png"/><Relationship Id="rId4" Type="http://schemas.openxmlformats.org/officeDocument/2006/relationships/image" Target="../media/image662.png"/><Relationship Id="rId3" Type="http://schemas.openxmlformats.org/officeDocument/2006/relationships/image" Target="../media/image661.png"/><Relationship Id="rId2" Type="http://schemas.openxmlformats.org/officeDocument/2006/relationships/image" Target="../media/image660.png"/><Relationship Id="rId1" Type="http://schemas.openxmlformats.org/officeDocument/2006/relationships/image" Target="../media/image659.png"/></Relationships>
</file>

<file path=ppt/slides/_rels/slide20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02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668.png"/><Relationship Id="rId3" Type="http://schemas.openxmlformats.org/officeDocument/2006/relationships/image" Target="../media/image667.png"/><Relationship Id="rId2" Type="http://schemas.openxmlformats.org/officeDocument/2006/relationships/image" Target="../media/image666.png"/><Relationship Id="rId1" Type="http://schemas.openxmlformats.org/officeDocument/2006/relationships/image" Target="../media/image665.png"/></Relationships>
</file>

<file path=ppt/slides/_rels/slide206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03.x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674.png"/><Relationship Id="rId5" Type="http://schemas.openxmlformats.org/officeDocument/2006/relationships/image" Target="../media/image673.png"/><Relationship Id="rId4" Type="http://schemas.openxmlformats.org/officeDocument/2006/relationships/image" Target="../media/image672.png"/><Relationship Id="rId3" Type="http://schemas.openxmlformats.org/officeDocument/2006/relationships/image" Target="../media/image671.png"/><Relationship Id="rId2" Type="http://schemas.openxmlformats.org/officeDocument/2006/relationships/image" Target="../media/image670.png"/><Relationship Id="rId1" Type="http://schemas.openxmlformats.org/officeDocument/2006/relationships/image" Target="../media/image669.png"/></Relationships>
</file>

<file path=ppt/slides/_rels/slide207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04.x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680.png"/><Relationship Id="rId5" Type="http://schemas.openxmlformats.org/officeDocument/2006/relationships/image" Target="../media/image679.png"/><Relationship Id="rId4" Type="http://schemas.openxmlformats.org/officeDocument/2006/relationships/image" Target="../media/image678.png"/><Relationship Id="rId3" Type="http://schemas.openxmlformats.org/officeDocument/2006/relationships/image" Target="../media/image677.png"/><Relationship Id="rId2" Type="http://schemas.openxmlformats.org/officeDocument/2006/relationships/image" Target="../media/image676.png"/><Relationship Id="rId1" Type="http://schemas.openxmlformats.org/officeDocument/2006/relationships/image" Target="../media/image675.png"/></Relationships>
</file>

<file path=ppt/slides/_rels/slide208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05.x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686.png"/><Relationship Id="rId5" Type="http://schemas.openxmlformats.org/officeDocument/2006/relationships/image" Target="../media/image685.png"/><Relationship Id="rId4" Type="http://schemas.openxmlformats.org/officeDocument/2006/relationships/image" Target="../media/image684.png"/><Relationship Id="rId3" Type="http://schemas.openxmlformats.org/officeDocument/2006/relationships/image" Target="../media/image683.png"/><Relationship Id="rId2" Type="http://schemas.openxmlformats.org/officeDocument/2006/relationships/image" Target="../media/image682.png"/><Relationship Id="rId1" Type="http://schemas.openxmlformats.org/officeDocument/2006/relationships/image" Target="../media/image681.png"/></Relationships>
</file>

<file path=ppt/slides/_rels/slide209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06.x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692.png"/><Relationship Id="rId5" Type="http://schemas.openxmlformats.org/officeDocument/2006/relationships/image" Target="../media/image691.png"/><Relationship Id="rId4" Type="http://schemas.openxmlformats.org/officeDocument/2006/relationships/image" Target="../media/image690.png"/><Relationship Id="rId3" Type="http://schemas.openxmlformats.org/officeDocument/2006/relationships/image" Target="../media/image689.png"/><Relationship Id="rId2" Type="http://schemas.openxmlformats.org/officeDocument/2006/relationships/image" Target="../media/image688.png"/><Relationship Id="rId1" Type="http://schemas.openxmlformats.org/officeDocument/2006/relationships/image" Target="../media/image687.png"/></Relationships>
</file>

<file path=ppt/slides/_rels/slide2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7.xml"/><Relationship Id="rId1" Type="http://schemas.openxmlformats.org/officeDocument/2006/relationships/slideLayout" Target="../slideLayouts/slideLayout2.xml"/></Relationships>
</file>

<file path=ppt/slides/_rels/slide211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08.xml"/><Relationship Id="rId6" Type="http://schemas.openxmlformats.org/officeDocument/2006/relationships/slideLayout" Target="../slideLayouts/slideLayout3.xml"/><Relationship Id="rId5" Type="http://schemas.openxmlformats.org/officeDocument/2006/relationships/image" Target="../media/image697.png"/><Relationship Id="rId4" Type="http://schemas.openxmlformats.org/officeDocument/2006/relationships/image" Target="../media/image696.png"/><Relationship Id="rId3" Type="http://schemas.openxmlformats.org/officeDocument/2006/relationships/image" Target="../media/image695.png"/><Relationship Id="rId2" Type="http://schemas.openxmlformats.org/officeDocument/2006/relationships/image" Target="../media/image694.png"/><Relationship Id="rId1" Type="http://schemas.openxmlformats.org/officeDocument/2006/relationships/image" Target="../media/image693.png"/></Relationships>
</file>

<file path=ppt/slides/_rels/slide21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09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701.png"/><Relationship Id="rId3" Type="http://schemas.openxmlformats.org/officeDocument/2006/relationships/image" Target="../media/image700.png"/><Relationship Id="rId2" Type="http://schemas.openxmlformats.org/officeDocument/2006/relationships/image" Target="../media/image699.png"/><Relationship Id="rId1" Type="http://schemas.openxmlformats.org/officeDocument/2006/relationships/image" Target="../media/image698.png"/></Relationships>
</file>

<file path=ppt/slides/_rels/slide213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10.x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707.png"/><Relationship Id="rId5" Type="http://schemas.openxmlformats.org/officeDocument/2006/relationships/image" Target="../media/image706.png"/><Relationship Id="rId4" Type="http://schemas.openxmlformats.org/officeDocument/2006/relationships/image" Target="../media/image705.png"/><Relationship Id="rId3" Type="http://schemas.openxmlformats.org/officeDocument/2006/relationships/image" Target="../media/image704.png"/><Relationship Id="rId2" Type="http://schemas.openxmlformats.org/officeDocument/2006/relationships/image" Target="../media/image703.png"/><Relationship Id="rId1" Type="http://schemas.openxmlformats.org/officeDocument/2006/relationships/image" Target="../media/image702.png"/></Relationships>
</file>

<file path=ppt/slides/_rels/slide214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11.x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713.png"/><Relationship Id="rId5" Type="http://schemas.openxmlformats.org/officeDocument/2006/relationships/image" Target="../media/image712.png"/><Relationship Id="rId4" Type="http://schemas.openxmlformats.org/officeDocument/2006/relationships/image" Target="../media/image711.png"/><Relationship Id="rId3" Type="http://schemas.openxmlformats.org/officeDocument/2006/relationships/image" Target="../media/image710.png"/><Relationship Id="rId2" Type="http://schemas.openxmlformats.org/officeDocument/2006/relationships/image" Target="../media/image709.png"/><Relationship Id="rId1" Type="http://schemas.openxmlformats.org/officeDocument/2006/relationships/image" Target="../media/image708.png"/></Relationships>
</file>

<file path=ppt/slides/_rels/slide215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12.x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719.png"/><Relationship Id="rId5" Type="http://schemas.openxmlformats.org/officeDocument/2006/relationships/image" Target="../media/image718.png"/><Relationship Id="rId4" Type="http://schemas.openxmlformats.org/officeDocument/2006/relationships/image" Target="../media/image717.png"/><Relationship Id="rId3" Type="http://schemas.openxmlformats.org/officeDocument/2006/relationships/image" Target="../media/image716.png"/><Relationship Id="rId2" Type="http://schemas.openxmlformats.org/officeDocument/2006/relationships/image" Target="../media/image715.png"/><Relationship Id="rId1" Type="http://schemas.openxmlformats.org/officeDocument/2006/relationships/image" Target="../media/image714.png"/></Relationships>
</file>

<file path=ppt/slides/_rels/slide216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13.x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725.png"/><Relationship Id="rId5" Type="http://schemas.openxmlformats.org/officeDocument/2006/relationships/image" Target="../media/image724.png"/><Relationship Id="rId4" Type="http://schemas.openxmlformats.org/officeDocument/2006/relationships/image" Target="../media/image723.png"/><Relationship Id="rId3" Type="http://schemas.openxmlformats.org/officeDocument/2006/relationships/image" Target="../media/image722.png"/><Relationship Id="rId2" Type="http://schemas.openxmlformats.org/officeDocument/2006/relationships/image" Target="../media/image721.png"/><Relationship Id="rId1" Type="http://schemas.openxmlformats.org/officeDocument/2006/relationships/image" Target="../media/image720.png"/></Relationships>
</file>

<file path=ppt/slides/_rels/slide217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14.x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731.png"/><Relationship Id="rId5" Type="http://schemas.openxmlformats.org/officeDocument/2006/relationships/image" Target="../media/image730.png"/><Relationship Id="rId4" Type="http://schemas.openxmlformats.org/officeDocument/2006/relationships/image" Target="../media/image729.png"/><Relationship Id="rId3" Type="http://schemas.openxmlformats.org/officeDocument/2006/relationships/image" Target="../media/image728.png"/><Relationship Id="rId2" Type="http://schemas.openxmlformats.org/officeDocument/2006/relationships/image" Target="../media/image727.png"/><Relationship Id="rId1" Type="http://schemas.openxmlformats.org/officeDocument/2006/relationships/image" Target="../media/image726.png"/></Relationships>
</file>

<file path=ppt/slides/_rels/slide218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15.x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737.png"/><Relationship Id="rId5" Type="http://schemas.openxmlformats.org/officeDocument/2006/relationships/image" Target="../media/image736.png"/><Relationship Id="rId4" Type="http://schemas.openxmlformats.org/officeDocument/2006/relationships/image" Target="../media/image735.png"/><Relationship Id="rId3" Type="http://schemas.openxmlformats.org/officeDocument/2006/relationships/image" Target="../media/image734.png"/><Relationship Id="rId2" Type="http://schemas.openxmlformats.org/officeDocument/2006/relationships/image" Target="../media/image733.png"/><Relationship Id="rId1" Type="http://schemas.openxmlformats.org/officeDocument/2006/relationships/image" Target="../media/image732.png"/></Relationships>
</file>

<file path=ppt/slides/_rels/slide219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16.x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743.png"/><Relationship Id="rId5" Type="http://schemas.openxmlformats.org/officeDocument/2006/relationships/image" Target="../media/image742.png"/><Relationship Id="rId4" Type="http://schemas.openxmlformats.org/officeDocument/2006/relationships/image" Target="../media/image741.png"/><Relationship Id="rId3" Type="http://schemas.openxmlformats.org/officeDocument/2006/relationships/image" Target="../media/image740.png"/><Relationship Id="rId2" Type="http://schemas.openxmlformats.org/officeDocument/2006/relationships/image" Target="../media/image739.png"/><Relationship Id="rId1" Type="http://schemas.openxmlformats.org/officeDocument/2006/relationships/image" Target="../media/image738.png"/></Relationships>
</file>

<file path=ppt/slides/_rels/slide220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17.x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749.png"/><Relationship Id="rId5" Type="http://schemas.openxmlformats.org/officeDocument/2006/relationships/image" Target="../media/image748.png"/><Relationship Id="rId4" Type="http://schemas.openxmlformats.org/officeDocument/2006/relationships/image" Target="../media/image747.png"/><Relationship Id="rId3" Type="http://schemas.openxmlformats.org/officeDocument/2006/relationships/image" Target="../media/image746.png"/><Relationship Id="rId2" Type="http://schemas.openxmlformats.org/officeDocument/2006/relationships/image" Target="../media/image745.png"/><Relationship Id="rId1" Type="http://schemas.openxmlformats.org/officeDocument/2006/relationships/image" Target="../media/image744.png"/></Relationships>
</file>

<file path=ppt/slides/_rels/slide221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18.x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755.png"/><Relationship Id="rId5" Type="http://schemas.openxmlformats.org/officeDocument/2006/relationships/image" Target="../media/image754.png"/><Relationship Id="rId4" Type="http://schemas.openxmlformats.org/officeDocument/2006/relationships/image" Target="../media/image753.png"/><Relationship Id="rId3" Type="http://schemas.openxmlformats.org/officeDocument/2006/relationships/image" Target="../media/image752.png"/><Relationship Id="rId2" Type="http://schemas.openxmlformats.org/officeDocument/2006/relationships/image" Target="../media/image751.png"/><Relationship Id="rId1" Type="http://schemas.openxmlformats.org/officeDocument/2006/relationships/image" Target="../media/image750.png"/></Relationships>
</file>

<file path=ppt/slides/_rels/slide222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19.x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761.png"/><Relationship Id="rId5" Type="http://schemas.openxmlformats.org/officeDocument/2006/relationships/image" Target="../media/image760.png"/><Relationship Id="rId4" Type="http://schemas.openxmlformats.org/officeDocument/2006/relationships/image" Target="../media/image759.png"/><Relationship Id="rId3" Type="http://schemas.openxmlformats.org/officeDocument/2006/relationships/image" Target="../media/image758.png"/><Relationship Id="rId2" Type="http://schemas.openxmlformats.org/officeDocument/2006/relationships/image" Target="../media/image757.png"/><Relationship Id="rId1" Type="http://schemas.openxmlformats.org/officeDocument/2006/relationships/image" Target="../media/image756.png"/></Relationships>
</file>

<file path=ppt/slides/_rels/slide2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0.xml"/><Relationship Id="rId1" Type="http://schemas.openxmlformats.org/officeDocument/2006/relationships/slideLayout" Target="../slideLayouts/slideLayout2.xml"/></Relationships>
</file>

<file path=ppt/slides/_rels/slide2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1.xml"/><Relationship Id="rId1" Type="http://schemas.openxmlformats.org/officeDocument/2006/relationships/slideLayout" Target="../slideLayouts/slideLayout2.xml"/></Relationships>
</file>

<file path=ppt/slides/_rels/slide225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22.xml"/><Relationship Id="rId6" Type="http://schemas.openxmlformats.org/officeDocument/2006/relationships/slideLayout" Target="../slideLayouts/slideLayout3.xml"/><Relationship Id="rId5" Type="http://schemas.openxmlformats.org/officeDocument/2006/relationships/image" Target="../media/image766.png"/><Relationship Id="rId4" Type="http://schemas.openxmlformats.org/officeDocument/2006/relationships/image" Target="../media/image765.png"/><Relationship Id="rId3" Type="http://schemas.openxmlformats.org/officeDocument/2006/relationships/image" Target="../media/image764.png"/><Relationship Id="rId2" Type="http://schemas.openxmlformats.org/officeDocument/2006/relationships/image" Target="../media/image763.png"/><Relationship Id="rId1" Type="http://schemas.openxmlformats.org/officeDocument/2006/relationships/image" Target="../media/image762.png"/></Relationships>
</file>

<file path=ppt/slides/_rels/slide22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23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770.png"/><Relationship Id="rId3" Type="http://schemas.openxmlformats.org/officeDocument/2006/relationships/image" Target="../media/image769.png"/><Relationship Id="rId2" Type="http://schemas.openxmlformats.org/officeDocument/2006/relationships/image" Target="../media/image768.png"/><Relationship Id="rId1" Type="http://schemas.openxmlformats.org/officeDocument/2006/relationships/image" Target="../media/image767.png"/></Relationships>
</file>

<file path=ppt/slides/_rels/slide227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24.x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776.png"/><Relationship Id="rId5" Type="http://schemas.openxmlformats.org/officeDocument/2006/relationships/image" Target="../media/image775.png"/><Relationship Id="rId4" Type="http://schemas.openxmlformats.org/officeDocument/2006/relationships/image" Target="../media/image774.png"/><Relationship Id="rId3" Type="http://schemas.openxmlformats.org/officeDocument/2006/relationships/image" Target="../media/image773.png"/><Relationship Id="rId2" Type="http://schemas.openxmlformats.org/officeDocument/2006/relationships/image" Target="../media/image772.png"/><Relationship Id="rId1" Type="http://schemas.openxmlformats.org/officeDocument/2006/relationships/image" Target="../media/image771.png"/></Relationships>
</file>

<file path=ppt/slides/_rels/slide22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25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778.png"/><Relationship Id="rId1" Type="http://schemas.openxmlformats.org/officeDocument/2006/relationships/image" Target="../media/image777.png"/></Relationships>
</file>

<file path=ppt/slides/_rels/slide229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26.x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784.png"/><Relationship Id="rId5" Type="http://schemas.openxmlformats.org/officeDocument/2006/relationships/image" Target="../media/image783.png"/><Relationship Id="rId4" Type="http://schemas.openxmlformats.org/officeDocument/2006/relationships/image" Target="../media/image782.png"/><Relationship Id="rId3" Type="http://schemas.openxmlformats.org/officeDocument/2006/relationships/image" Target="../media/image781.png"/><Relationship Id="rId2" Type="http://schemas.openxmlformats.org/officeDocument/2006/relationships/image" Target="../media/image780.png"/><Relationship Id="rId1" Type="http://schemas.openxmlformats.org/officeDocument/2006/relationships/image" Target="../media/image779.png"/></Relationships>
</file>

<file path=ppt/slides/_rels/slide230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27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788.png"/><Relationship Id="rId3" Type="http://schemas.openxmlformats.org/officeDocument/2006/relationships/image" Target="../media/image787.png"/><Relationship Id="rId2" Type="http://schemas.openxmlformats.org/officeDocument/2006/relationships/image" Target="../media/image786.png"/><Relationship Id="rId1" Type="http://schemas.openxmlformats.org/officeDocument/2006/relationships/image" Target="../media/image785.png"/></Relationships>
</file>

<file path=ppt/slides/_rels/slide23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image" Target="../media/image796.png"/><Relationship Id="rId7" Type="http://schemas.openxmlformats.org/officeDocument/2006/relationships/image" Target="../media/image795.png"/><Relationship Id="rId6" Type="http://schemas.openxmlformats.org/officeDocument/2006/relationships/image" Target="../media/image794.png"/><Relationship Id="rId5" Type="http://schemas.openxmlformats.org/officeDocument/2006/relationships/image" Target="../media/image793.png"/><Relationship Id="rId4" Type="http://schemas.openxmlformats.org/officeDocument/2006/relationships/image" Target="../media/image792.png"/><Relationship Id="rId3" Type="http://schemas.openxmlformats.org/officeDocument/2006/relationships/image" Target="../media/image791.png"/><Relationship Id="rId2" Type="http://schemas.openxmlformats.org/officeDocument/2006/relationships/image" Target="../media/image790.png"/><Relationship Id="rId10" Type="http://schemas.openxmlformats.org/officeDocument/2006/relationships/notesSlide" Target="../notesSlides/notesSlide228.xml"/><Relationship Id="rId1" Type="http://schemas.openxmlformats.org/officeDocument/2006/relationships/image" Target="../media/image789.png"/></Relationships>
</file>

<file path=ppt/slides/_rels/slide2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9.xml"/><Relationship Id="rId1" Type="http://schemas.openxmlformats.org/officeDocument/2006/relationships/slideLayout" Target="../slideLayouts/slideLayout2.xml"/></Relationships>
</file>

<file path=ppt/slides/_rels/slide233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30.xml"/><Relationship Id="rId6" Type="http://schemas.openxmlformats.org/officeDocument/2006/relationships/slideLayout" Target="../slideLayouts/slideLayout3.xml"/><Relationship Id="rId5" Type="http://schemas.openxmlformats.org/officeDocument/2006/relationships/image" Target="../media/image801.png"/><Relationship Id="rId4" Type="http://schemas.openxmlformats.org/officeDocument/2006/relationships/image" Target="../media/image800.png"/><Relationship Id="rId3" Type="http://schemas.openxmlformats.org/officeDocument/2006/relationships/image" Target="../media/image799.png"/><Relationship Id="rId2" Type="http://schemas.openxmlformats.org/officeDocument/2006/relationships/image" Target="../media/image798.png"/><Relationship Id="rId1" Type="http://schemas.openxmlformats.org/officeDocument/2006/relationships/image" Target="../media/image797.png"/></Relationships>
</file>

<file path=ppt/slides/_rels/slide234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31.x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807.png"/><Relationship Id="rId5" Type="http://schemas.openxmlformats.org/officeDocument/2006/relationships/image" Target="../media/image806.png"/><Relationship Id="rId4" Type="http://schemas.openxmlformats.org/officeDocument/2006/relationships/image" Target="../media/image805.png"/><Relationship Id="rId3" Type="http://schemas.openxmlformats.org/officeDocument/2006/relationships/image" Target="../media/image804.png"/><Relationship Id="rId2" Type="http://schemas.openxmlformats.org/officeDocument/2006/relationships/image" Target="../media/image803.png"/><Relationship Id="rId1" Type="http://schemas.openxmlformats.org/officeDocument/2006/relationships/image" Target="../media/image802.png"/></Relationships>
</file>

<file path=ppt/slides/_rels/slide235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32.x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813.png"/><Relationship Id="rId5" Type="http://schemas.openxmlformats.org/officeDocument/2006/relationships/image" Target="../media/image812.png"/><Relationship Id="rId4" Type="http://schemas.openxmlformats.org/officeDocument/2006/relationships/image" Target="../media/image811.png"/><Relationship Id="rId3" Type="http://schemas.openxmlformats.org/officeDocument/2006/relationships/image" Target="../media/image810.png"/><Relationship Id="rId2" Type="http://schemas.openxmlformats.org/officeDocument/2006/relationships/image" Target="../media/image809.png"/><Relationship Id="rId1" Type="http://schemas.openxmlformats.org/officeDocument/2006/relationships/image" Target="../media/image808.png"/></Relationships>
</file>

<file path=ppt/slides/_rels/slide23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33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817.png"/><Relationship Id="rId3" Type="http://schemas.openxmlformats.org/officeDocument/2006/relationships/image" Target="../media/image816.png"/><Relationship Id="rId2" Type="http://schemas.openxmlformats.org/officeDocument/2006/relationships/image" Target="../media/image815.png"/><Relationship Id="rId1" Type="http://schemas.openxmlformats.org/officeDocument/2006/relationships/image" Target="../media/image814.png"/></Relationships>
</file>

<file path=ppt/slides/_rels/slide237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34.x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823.png"/><Relationship Id="rId5" Type="http://schemas.openxmlformats.org/officeDocument/2006/relationships/image" Target="../media/image822.png"/><Relationship Id="rId4" Type="http://schemas.openxmlformats.org/officeDocument/2006/relationships/image" Target="../media/image821.png"/><Relationship Id="rId3" Type="http://schemas.openxmlformats.org/officeDocument/2006/relationships/image" Target="../media/image820.png"/><Relationship Id="rId2" Type="http://schemas.openxmlformats.org/officeDocument/2006/relationships/image" Target="../media/image819.png"/><Relationship Id="rId1" Type="http://schemas.openxmlformats.org/officeDocument/2006/relationships/image" Target="../media/image818.png"/></Relationships>
</file>

<file path=ppt/slides/_rels/slide238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35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827.png"/><Relationship Id="rId3" Type="http://schemas.openxmlformats.org/officeDocument/2006/relationships/image" Target="../media/image826.png"/><Relationship Id="rId2" Type="http://schemas.openxmlformats.org/officeDocument/2006/relationships/image" Target="../media/image825.png"/><Relationship Id="rId1" Type="http://schemas.openxmlformats.org/officeDocument/2006/relationships/image" Target="../media/image824.png"/></Relationships>
</file>

<file path=ppt/slides/_rels/slide239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36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831.png"/><Relationship Id="rId3" Type="http://schemas.openxmlformats.org/officeDocument/2006/relationships/image" Target="../media/image830.png"/><Relationship Id="rId2" Type="http://schemas.openxmlformats.org/officeDocument/2006/relationships/image" Target="../media/image829.png"/><Relationship Id="rId1" Type="http://schemas.openxmlformats.org/officeDocument/2006/relationships/image" Target="../media/image828.png"/></Relationships>
</file>

<file path=ppt/slides/_rels/slide240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37.x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837.png"/><Relationship Id="rId5" Type="http://schemas.openxmlformats.org/officeDocument/2006/relationships/image" Target="../media/image836.png"/><Relationship Id="rId4" Type="http://schemas.openxmlformats.org/officeDocument/2006/relationships/image" Target="../media/image835.png"/><Relationship Id="rId3" Type="http://schemas.openxmlformats.org/officeDocument/2006/relationships/image" Target="../media/image834.png"/><Relationship Id="rId2" Type="http://schemas.openxmlformats.org/officeDocument/2006/relationships/image" Target="../media/image833.png"/><Relationship Id="rId1" Type="http://schemas.openxmlformats.org/officeDocument/2006/relationships/image" Target="../media/image832.png"/></Relationships>
</file>

<file path=ppt/slides/_rels/slide24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38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841.png"/><Relationship Id="rId3" Type="http://schemas.openxmlformats.org/officeDocument/2006/relationships/image" Target="../media/image840.png"/><Relationship Id="rId2" Type="http://schemas.openxmlformats.org/officeDocument/2006/relationships/image" Target="../media/image839.png"/><Relationship Id="rId1" Type="http://schemas.openxmlformats.org/officeDocument/2006/relationships/image" Target="../media/image838.png"/></Relationships>
</file>

<file path=ppt/slides/_rels/slide242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39.x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847.png"/><Relationship Id="rId5" Type="http://schemas.openxmlformats.org/officeDocument/2006/relationships/image" Target="../media/image846.png"/><Relationship Id="rId4" Type="http://schemas.openxmlformats.org/officeDocument/2006/relationships/image" Target="../media/image845.png"/><Relationship Id="rId3" Type="http://schemas.openxmlformats.org/officeDocument/2006/relationships/image" Target="../media/image844.png"/><Relationship Id="rId2" Type="http://schemas.openxmlformats.org/officeDocument/2006/relationships/image" Target="../media/image843.png"/><Relationship Id="rId1" Type="http://schemas.openxmlformats.org/officeDocument/2006/relationships/image" Target="../media/image842.png"/></Relationships>
</file>

<file path=ppt/slides/_rels/slide24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40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849.png"/><Relationship Id="rId1" Type="http://schemas.openxmlformats.org/officeDocument/2006/relationships/image" Target="../media/image848.png"/></Relationships>
</file>

<file path=ppt/slides/_rels/slide244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41.x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855.png"/><Relationship Id="rId5" Type="http://schemas.openxmlformats.org/officeDocument/2006/relationships/image" Target="../media/image854.png"/><Relationship Id="rId4" Type="http://schemas.openxmlformats.org/officeDocument/2006/relationships/image" Target="../media/image853.png"/><Relationship Id="rId3" Type="http://schemas.openxmlformats.org/officeDocument/2006/relationships/image" Target="../media/image852.png"/><Relationship Id="rId2" Type="http://schemas.openxmlformats.org/officeDocument/2006/relationships/image" Target="../media/image851.png"/><Relationship Id="rId1" Type="http://schemas.openxmlformats.org/officeDocument/2006/relationships/image" Target="../media/image850.png"/></Relationships>
</file>

<file path=ppt/slides/_rels/slide2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2.xml"/><Relationship Id="rId1" Type="http://schemas.openxmlformats.org/officeDocument/2006/relationships/slideLayout" Target="../slideLayouts/slideLayout2.xml"/></Relationships>
</file>

<file path=ppt/slides/_rels/slide246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43.xml"/><Relationship Id="rId6" Type="http://schemas.openxmlformats.org/officeDocument/2006/relationships/slideLayout" Target="../slideLayouts/slideLayout3.xml"/><Relationship Id="rId5" Type="http://schemas.openxmlformats.org/officeDocument/2006/relationships/image" Target="../media/image860.png"/><Relationship Id="rId4" Type="http://schemas.openxmlformats.org/officeDocument/2006/relationships/image" Target="../media/image859.png"/><Relationship Id="rId3" Type="http://schemas.openxmlformats.org/officeDocument/2006/relationships/image" Target="../media/image858.png"/><Relationship Id="rId2" Type="http://schemas.openxmlformats.org/officeDocument/2006/relationships/image" Target="../media/image857.png"/><Relationship Id="rId1" Type="http://schemas.openxmlformats.org/officeDocument/2006/relationships/image" Target="../media/image856.png"/></Relationships>
</file>

<file path=ppt/slides/_rels/slide2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4.xml"/><Relationship Id="rId1" Type="http://schemas.openxmlformats.org/officeDocument/2006/relationships/slideLayout" Target="../slideLayouts/slideLayout2.xml"/></Relationships>
</file>

<file path=ppt/slides/_rels/slide248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45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864.png"/><Relationship Id="rId3" Type="http://schemas.openxmlformats.org/officeDocument/2006/relationships/image" Target="../media/image863.png"/><Relationship Id="rId2" Type="http://schemas.openxmlformats.org/officeDocument/2006/relationships/image" Target="../media/image862.png"/><Relationship Id="rId1" Type="http://schemas.openxmlformats.org/officeDocument/2006/relationships/image" Target="../media/image861.png"/></Relationships>
</file>

<file path=ppt/slides/_rels/slide2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6.xml"/><Relationship Id="rId1" Type="http://schemas.openxmlformats.org/officeDocument/2006/relationships/slideLayout" Target="../slideLayouts/slideLayout2.xml"/></Relationships>
</file>

<file path=ppt/slides/_rels/slide2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7.xml"/><Relationship Id="rId1" Type="http://schemas.openxmlformats.org/officeDocument/2006/relationships/slideLayout" Target="../slideLayouts/slideLayout2.xml"/></Relationships>
</file>

<file path=ppt/slides/_rels/slide251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48.x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870.png"/><Relationship Id="rId5" Type="http://schemas.openxmlformats.org/officeDocument/2006/relationships/image" Target="../media/image869.png"/><Relationship Id="rId4" Type="http://schemas.openxmlformats.org/officeDocument/2006/relationships/image" Target="../media/image868.png"/><Relationship Id="rId3" Type="http://schemas.openxmlformats.org/officeDocument/2006/relationships/image" Target="../media/image867.png"/><Relationship Id="rId2" Type="http://schemas.openxmlformats.org/officeDocument/2006/relationships/image" Target="../media/image866.png"/><Relationship Id="rId1" Type="http://schemas.openxmlformats.org/officeDocument/2006/relationships/image" Target="../media/image865.png"/></Relationships>
</file>

<file path=ppt/slides/_rels/slide2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9.xml"/><Relationship Id="rId1" Type="http://schemas.openxmlformats.org/officeDocument/2006/relationships/slideLayout" Target="../slideLayouts/slideLayout2.xml"/></Relationships>
</file>

<file path=ppt/slides/_rels/slide25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image" Target="../media/image878.png"/><Relationship Id="rId7" Type="http://schemas.openxmlformats.org/officeDocument/2006/relationships/image" Target="../media/image877.png"/><Relationship Id="rId6" Type="http://schemas.openxmlformats.org/officeDocument/2006/relationships/image" Target="../media/image876.png"/><Relationship Id="rId5" Type="http://schemas.openxmlformats.org/officeDocument/2006/relationships/image" Target="../media/image875.png"/><Relationship Id="rId4" Type="http://schemas.openxmlformats.org/officeDocument/2006/relationships/image" Target="../media/image874.png"/><Relationship Id="rId3" Type="http://schemas.openxmlformats.org/officeDocument/2006/relationships/image" Target="../media/image873.png"/><Relationship Id="rId2" Type="http://schemas.openxmlformats.org/officeDocument/2006/relationships/image" Target="../media/image872.png"/><Relationship Id="rId10" Type="http://schemas.openxmlformats.org/officeDocument/2006/relationships/notesSlide" Target="../notesSlides/notesSlide250.xml"/><Relationship Id="rId1" Type="http://schemas.openxmlformats.org/officeDocument/2006/relationships/image" Target="../media/image871.png"/></Relationships>
</file>

<file path=ppt/slides/_rels/slide2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1.xml"/><Relationship Id="rId1" Type="http://schemas.openxmlformats.org/officeDocument/2006/relationships/slideLayout" Target="../slideLayouts/slideLayout2.xml"/></Relationships>
</file>

<file path=ppt/slides/_rels/slide255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52.xml"/><Relationship Id="rId6" Type="http://schemas.openxmlformats.org/officeDocument/2006/relationships/slideLayout" Target="../slideLayouts/slideLayout3.xml"/><Relationship Id="rId5" Type="http://schemas.openxmlformats.org/officeDocument/2006/relationships/image" Target="../media/image883.png"/><Relationship Id="rId4" Type="http://schemas.openxmlformats.org/officeDocument/2006/relationships/image" Target="../media/image882.png"/><Relationship Id="rId3" Type="http://schemas.openxmlformats.org/officeDocument/2006/relationships/image" Target="../media/image881.png"/><Relationship Id="rId2" Type="http://schemas.openxmlformats.org/officeDocument/2006/relationships/image" Target="../media/image880.png"/><Relationship Id="rId1" Type="http://schemas.openxmlformats.org/officeDocument/2006/relationships/image" Target="../media/image879.png"/></Relationships>
</file>

<file path=ppt/slides/_rels/slide256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53.x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889.png"/><Relationship Id="rId5" Type="http://schemas.openxmlformats.org/officeDocument/2006/relationships/image" Target="../media/image888.png"/><Relationship Id="rId4" Type="http://schemas.openxmlformats.org/officeDocument/2006/relationships/image" Target="../media/image887.png"/><Relationship Id="rId3" Type="http://schemas.openxmlformats.org/officeDocument/2006/relationships/image" Target="../media/image886.png"/><Relationship Id="rId2" Type="http://schemas.openxmlformats.org/officeDocument/2006/relationships/image" Target="../media/image885.png"/><Relationship Id="rId1" Type="http://schemas.openxmlformats.org/officeDocument/2006/relationships/image" Target="../media/image884.png"/></Relationships>
</file>

<file path=ppt/slides/_rels/slide257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54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893.png"/><Relationship Id="rId3" Type="http://schemas.openxmlformats.org/officeDocument/2006/relationships/image" Target="../media/image892.png"/><Relationship Id="rId2" Type="http://schemas.openxmlformats.org/officeDocument/2006/relationships/image" Target="../media/image891.png"/><Relationship Id="rId1" Type="http://schemas.openxmlformats.org/officeDocument/2006/relationships/image" Target="../media/image890.png"/></Relationships>
</file>

<file path=ppt/slides/_rels/slide258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55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897.png"/><Relationship Id="rId3" Type="http://schemas.openxmlformats.org/officeDocument/2006/relationships/image" Target="../media/image896.png"/><Relationship Id="rId2" Type="http://schemas.openxmlformats.org/officeDocument/2006/relationships/image" Target="../media/image895.png"/><Relationship Id="rId1" Type="http://schemas.openxmlformats.org/officeDocument/2006/relationships/image" Target="../media/image894.png"/></Relationships>
</file>

<file path=ppt/slides/_rels/slide259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56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901.png"/><Relationship Id="rId3" Type="http://schemas.openxmlformats.org/officeDocument/2006/relationships/image" Target="../media/image900.png"/><Relationship Id="rId2" Type="http://schemas.openxmlformats.org/officeDocument/2006/relationships/image" Target="../media/image899.png"/><Relationship Id="rId1" Type="http://schemas.openxmlformats.org/officeDocument/2006/relationships/image" Target="../media/image898.png"/></Relationships>
</file>

<file path=ppt/slides/_rels/slide260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57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905.png"/><Relationship Id="rId3" Type="http://schemas.openxmlformats.org/officeDocument/2006/relationships/image" Target="../media/image904.png"/><Relationship Id="rId2" Type="http://schemas.openxmlformats.org/officeDocument/2006/relationships/image" Target="../media/image903.png"/><Relationship Id="rId1" Type="http://schemas.openxmlformats.org/officeDocument/2006/relationships/image" Target="../media/image902.png"/></Relationships>
</file>

<file path=ppt/slides/_rels/slide26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58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909.png"/><Relationship Id="rId3" Type="http://schemas.openxmlformats.org/officeDocument/2006/relationships/image" Target="../media/image908.png"/><Relationship Id="rId2" Type="http://schemas.openxmlformats.org/officeDocument/2006/relationships/image" Target="../media/image907.png"/><Relationship Id="rId1" Type="http://schemas.openxmlformats.org/officeDocument/2006/relationships/image" Target="../media/image906.png"/></Relationships>
</file>

<file path=ppt/slides/_rels/slide26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59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913.png"/><Relationship Id="rId3" Type="http://schemas.openxmlformats.org/officeDocument/2006/relationships/image" Target="../media/image912.png"/><Relationship Id="rId2" Type="http://schemas.openxmlformats.org/officeDocument/2006/relationships/image" Target="../media/image911.png"/><Relationship Id="rId1" Type="http://schemas.openxmlformats.org/officeDocument/2006/relationships/image" Target="../media/image910.png"/></Relationships>
</file>

<file path=ppt/slides/_rels/slide26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60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917.png"/><Relationship Id="rId3" Type="http://schemas.openxmlformats.org/officeDocument/2006/relationships/image" Target="../media/image916.png"/><Relationship Id="rId2" Type="http://schemas.openxmlformats.org/officeDocument/2006/relationships/image" Target="../media/image915.png"/><Relationship Id="rId1" Type="http://schemas.openxmlformats.org/officeDocument/2006/relationships/image" Target="../media/image914.png"/></Relationships>
</file>

<file path=ppt/slides/_rels/slide26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61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921.png"/><Relationship Id="rId3" Type="http://schemas.openxmlformats.org/officeDocument/2006/relationships/image" Target="../media/image920.png"/><Relationship Id="rId2" Type="http://schemas.openxmlformats.org/officeDocument/2006/relationships/image" Target="../media/image919.png"/><Relationship Id="rId1" Type="http://schemas.openxmlformats.org/officeDocument/2006/relationships/image" Target="../media/image918.png"/></Relationships>
</file>

<file path=ppt/slides/_rels/slide26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62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925.png"/><Relationship Id="rId3" Type="http://schemas.openxmlformats.org/officeDocument/2006/relationships/image" Target="../media/image924.png"/><Relationship Id="rId2" Type="http://schemas.openxmlformats.org/officeDocument/2006/relationships/image" Target="../media/image923.png"/><Relationship Id="rId1" Type="http://schemas.openxmlformats.org/officeDocument/2006/relationships/image" Target="../media/image922.png"/></Relationships>
</file>

<file path=ppt/slides/_rels/slide266.xml.rels><?xml version="1.0" encoding="UTF-8" standalone="yes"?>
<Relationships xmlns="http://schemas.openxmlformats.org/package/2006/relationships"><Relationship Id="rId9" Type="http://schemas.openxmlformats.org/officeDocument/2006/relationships/image" Target="../media/image934.png"/><Relationship Id="rId8" Type="http://schemas.openxmlformats.org/officeDocument/2006/relationships/image" Target="../media/image933.png"/><Relationship Id="rId7" Type="http://schemas.openxmlformats.org/officeDocument/2006/relationships/image" Target="../media/image932.png"/><Relationship Id="rId6" Type="http://schemas.openxmlformats.org/officeDocument/2006/relationships/image" Target="../media/image931.png"/><Relationship Id="rId5" Type="http://schemas.openxmlformats.org/officeDocument/2006/relationships/image" Target="../media/image930.png"/><Relationship Id="rId4" Type="http://schemas.openxmlformats.org/officeDocument/2006/relationships/image" Target="../media/image929.png"/><Relationship Id="rId3" Type="http://schemas.openxmlformats.org/officeDocument/2006/relationships/image" Target="../media/image928.png"/><Relationship Id="rId2" Type="http://schemas.openxmlformats.org/officeDocument/2006/relationships/image" Target="../media/image927.png"/><Relationship Id="rId14" Type="http://schemas.openxmlformats.org/officeDocument/2006/relationships/notesSlide" Target="../notesSlides/notesSlide263.xml"/><Relationship Id="rId13" Type="http://schemas.openxmlformats.org/officeDocument/2006/relationships/slideLayout" Target="../slideLayouts/slideLayout2.xml"/><Relationship Id="rId12" Type="http://schemas.openxmlformats.org/officeDocument/2006/relationships/image" Target="../media/image937.png"/><Relationship Id="rId11" Type="http://schemas.openxmlformats.org/officeDocument/2006/relationships/image" Target="../media/image936.png"/><Relationship Id="rId10" Type="http://schemas.openxmlformats.org/officeDocument/2006/relationships/image" Target="../media/image935.png"/><Relationship Id="rId1" Type="http://schemas.openxmlformats.org/officeDocument/2006/relationships/image" Target="../media/image926.png"/></Relationships>
</file>

<file path=ppt/slides/_rels/slide2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4.xml"/><Relationship Id="rId1" Type="http://schemas.openxmlformats.org/officeDocument/2006/relationships/slideLayout" Target="../slideLayouts/slideLayout2.xml"/></Relationships>
</file>

<file path=ppt/slides/_rels/slide2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5.xml"/><Relationship Id="rId1" Type="http://schemas.openxmlformats.org/officeDocument/2006/relationships/slideLayout" Target="../slideLayouts/slideLayout2.xml"/></Relationships>
</file>

<file path=ppt/slides/_rels/slide269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66.xml"/><Relationship Id="rId6" Type="http://schemas.openxmlformats.org/officeDocument/2006/relationships/slideLayout" Target="../slideLayouts/slideLayout3.xml"/><Relationship Id="rId5" Type="http://schemas.openxmlformats.org/officeDocument/2006/relationships/image" Target="../media/image942.png"/><Relationship Id="rId4" Type="http://schemas.openxmlformats.org/officeDocument/2006/relationships/image" Target="../media/image941.png"/><Relationship Id="rId3" Type="http://schemas.openxmlformats.org/officeDocument/2006/relationships/image" Target="../media/image940.png"/><Relationship Id="rId2" Type="http://schemas.openxmlformats.org/officeDocument/2006/relationships/image" Target="../media/image939.png"/><Relationship Id="rId1" Type="http://schemas.openxmlformats.org/officeDocument/2006/relationships/image" Target="../media/image938.png"/></Relationships>
</file>

<file path=ppt/slides/_rels/slide270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67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946.png"/><Relationship Id="rId3" Type="http://schemas.openxmlformats.org/officeDocument/2006/relationships/image" Target="../media/image945.png"/><Relationship Id="rId2" Type="http://schemas.openxmlformats.org/officeDocument/2006/relationships/image" Target="../media/image944.png"/><Relationship Id="rId1" Type="http://schemas.openxmlformats.org/officeDocument/2006/relationships/image" Target="../media/image943.png"/></Relationships>
</file>

<file path=ppt/slides/_rels/slide2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8.xml"/><Relationship Id="rId1" Type="http://schemas.openxmlformats.org/officeDocument/2006/relationships/slideLayout" Target="../slideLayouts/slideLayout2.xml"/></Relationships>
</file>

<file path=ppt/slides/_rels/slide27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69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950.png"/><Relationship Id="rId3" Type="http://schemas.openxmlformats.org/officeDocument/2006/relationships/image" Target="../media/image949.png"/><Relationship Id="rId2" Type="http://schemas.openxmlformats.org/officeDocument/2006/relationships/image" Target="../media/image948.png"/><Relationship Id="rId1" Type="http://schemas.openxmlformats.org/officeDocument/2006/relationships/image" Target="../media/image947.png"/></Relationships>
</file>

<file path=ppt/slides/_rels/slide273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70.x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956.png"/><Relationship Id="rId5" Type="http://schemas.openxmlformats.org/officeDocument/2006/relationships/image" Target="../media/image955.png"/><Relationship Id="rId4" Type="http://schemas.openxmlformats.org/officeDocument/2006/relationships/image" Target="../media/image954.png"/><Relationship Id="rId3" Type="http://schemas.openxmlformats.org/officeDocument/2006/relationships/image" Target="../media/image953.png"/><Relationship Id="rId2" Type="http://schemas.openxmlformats.org/officeDocument/2006/relationships/image" Target="../media/image952.png"/><Relationship Id="rId1" Type="http://schemas.openxmlformats.org/officeDocument/2006/relationships/image" Target="../media/image951.png"/></Relationships>
</file>

<file path=ppt/slides/_rels/slide274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71.x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962.png"/><Relationship Id="rId5" Type="http://schemas.openxmlformats.org/officeDocument/2006/relationships/image" Target="../media/image961.png"/><Relationship Id="rId4" Type="http://schemas.openxmlformats.org/officeDocument/2006/relationships/image" Target="../media/image960.png"/><Relationship Id="rId3" Type="http://schemas.openxmlformats.org/officeDocument/2006/relationships/image" Target="../media/image959.png"/><Relationship Id="rId2" Type="http://schemas.openxmlformats.org/officeDocument/2006/relationships/image" Target="../media/image958.png"/><Relationship Id="rId1" Type="http://schemas.openxmlformats.org/officeDocument/2006/relationships/image" Target="../media/image957.png"/></Relationships>
</file>

<file path=ppt/slides/_rels/slide275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72.x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968.png"/><Relationship Id="rId5" Type="http://schemas.openxmlformats.org/officeDocument/2006/relationships/image" Target="../media/image967.png"/><Relationship Id="rId4" Type="http://schemas.openxmlformats.org/officeDocument/2006/relationships/image" Target="../media/image966.png"/><Relationship Id="rId3" Type="http://schemas.openxmlformats.org/officeDocument/2006/relationships/image" Target="../media/image965.png"/><Relationship Id="rId2" Type="http://schemas.openxmlformats.org/officeDocument/2006/relationships/image" Target="../media/image964.png"/><Relationship Id="rId1" Type="http://schemas.openxmlformats.org/officeDocument/2006/relationships/image" Target="../media/image963.png"/></Relationships>
</file>

<file path=ppt/slides/_rels/slide27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73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972.png"/><Relationship Id="rId3" Type="http://schemas.openxmlformats.org/officeDocument/2006/relationships/image" Target="../media/image971.png"/><Relationship Id="rId2" Type="http://schemas.openxmlformats.org/officeDocument/2006/relationships/image" Target="../media/image970.png"/><Relationship Id="rId1" Type="http://schemas.openxmlformats.org/officeDocument/2006/relationships/image" Target="../media/image969.png"/></Relationships>
</file>

<file path=ppt/slides/_rels/slide27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74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974.png"/><Relationship Id="rId1" Type="http://schemas.openxmlformats.org/officeDocument/2006/relationships/image" Target="../media/image973.png"/></Relationships>
</file>

<file path=ppt/slides/_rels/slide27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image" Target="../media/image982.png"/><Relationship Id="rId7" Type="http://schemas.openxmlformats.org/officeDocument/2006/relationships/image" Target="../media/image981.png"/><Relationship Id="rId6" Type="http://schemas.openxmlformats.org/officeDocument/2006/relationships/image" Target="../media/image980.png"/><Relationship Id="rId5" Type="http://schemas.openxmlformats.org/officeDocument/2006/relationships/image" Target="../media/image979.png"/><Relationship Id="rId4" Type="http://schemas.openxmlformats.org/officeDocument/2006/relationships/image" Target="../media/image978.png"/><Relationship Id="rId3" Type="http://schemas.openxmlformats.org/officeDocument/2006/relationships/image" Target="../media/image977.png"/><Relationship Id="rId2" Type="http://schemas.openxmlformats.org/officeDocument/2006/relationships/image" Target="../media/image976.png"/><Relationship Id="rId10" Type="http://schemas.openxmlformats.org/officeDocument/2006/relationships/notesSlide" Target="../notesSlides/notesSlide275.xml"/><Relationship Id="rId1" Type="http://schemas.openxmlformats.org/officeDocument/2006/relationships/image" Target="../media/image975.png"/></Relationships>
</file>

<file path=ppt/slides/_rels/slide279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76.x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988.png"/><Relationship Id="rId5" Type="http://schemas.openxmlformats.org/officeDocument/2006/relationships/image" Target="../media/image987.png"/><Relationship Id="rId4" Type="http://schemas.openxmlformats.org/officeDocument/2006/relationships/image" Target="../media/image986.png"/><Relationship Id="rId3" Type="http://schemas.openxmlformats.org/officeDocument/2006/relationships/image" Target="../media/image985.png"/><Relationship Id="rId2" Type="http://schemas.openxmlformats.org/officeDocument/2006/relationships/image" Target="../media/image984.png"/><Relationship Id="rId1" Type="http://schemas.openxmlformats.org/officeDocument/2006/relationships/image" Target="../media/image983.png"/></Relationships>
</file>

<file path=ppt/slides/_rels/slide280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77.x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994.png"/><Relationship Id="rId5" Type="http://schemas.openxmlformats.org/officeDocument/2006/relationships/image" Target="../media/image993.png"/><Relationship Id="rId4" Type="http://schemas.openxmlformats.org/officeDocument/2006/relationships/image" Target="../media/image992.png"/><Relationship Id="rId3" Type="http://schemas.openxmlformats.org/officeDocument/2006/relationships/image" Target="../media/image991.png"/><Relationship Id="rId2" Type="http://schemas.openxmlformats.org/officeDocument/2006/relationships/image" Target="../media/image990.png"/><Relationship Id="rId1" Type="http://schemas.openxmlformats.org/officeDocument/2006/relationships/image" Target="../media/image989.png"/></Relationships>
</file>

<file path=ppt/slides/_rels/slide2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8.xml"/><Relationship Id="rId1" Type="http://schemas.openxmlformats.org/officeDocument/2006/relationships/slideLayout" Target="../slideLayouts/slideLayout2.xml"/></Relationships>
</file>

<file path=ppt/slides/_rels/slide282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79.xml"/><Relationship Id="rId6" Type="http://schemas.openxmlformats.org/officeDocument/2006/relationships/slideLayout" Target="../slideLayouts/slideLayout3.xml"/><Relationship Id="rId5" Type="http://schemas.openxmlformats.org/officeDocument/2006/relationships/image" Target="../media/image999.png"/><Relationship Id="rId4" Type="http://schemas.openxmlformats.org/officeDocument/2006/relationships/image" Target="../media/image998.png"/><Relationship Id="rId3" Type="http://schemas.openxmlformats.org/officeDocument/2006/relationships/image" Target="../media/image997.png"/><Relationship Id="rId2" Type="http://schemas.openxmlformats.org/officeDocument/2006/relationships/image" Target="../media/image996.png"/><Relationship Id="rId1" Type="http://schemas.openxmlformats.org/officeDocument/2006/relationships/image" Target="../media/image995.png"/></Relationships>
</file>

<file path=ppt/slides/_rels/slide283.xml.rels><?xml version="1.0" encoding="UTF-8" standalone="yes"?>
<Relationships xmlns="http://schemas.openxmlformats.org/package/2006/relationships"><Relationship Id="rId9" Type="http://schemas.openxmlformats.org/officeDocument/2006/relationships/image" Target="../media/image1008.png"/><Relationship Id="rId8" Type="http://schemas.openxmlformats.org/officeDocument/2006/relationships/image" Target="../media/image1007.png"/><Relationship Id="rId7" Type="http://schemas.openxmlformats.org/officeDocument/2006/relationships/image" Target="../media/image1006.png"/><Relationship Id="rId6" Type="http://schemas.openxmlformats.org/officeDocument/2006/relationships/image" Target="../media/image1005.png"/><Relationship Id="rId5" Type="http://schemas.openxmlformats.org/officeDocument/2006/relationships/image" Target="../media/image1004.png"/><Relationship Id="rId4" Type="http://schemas.openxmlformats.org/officeDocument/2006/relationships/image" Target="../media/image1003.png"/><Relationship Id="rId3" Type="http://schemas.openxmlformats.org/officeDocument/2006/relationships/image" Target="../media/image1002.png"/><Relationship Id="rId2" Type="http://schemas.openxmlformats.org/officeDocument/2006/relationships/image" Target="../media/image1001.png"/><Relationship Id="rId14" Type="http://schemas.openxmlformats.org/officeDocument/2006/relationships/notesSlide" Target="../notesSlides/notesSlide280.xml"/><Relationship Id="rId13" Type="http://schemas.openxmlformats.org/officeDocument/2006/relationships/slideLayout" Target="../slideLayouts/slideLayout2.xml"/><Relationship Id="rId12" Type="http://schemas.openxmlformats.org/officeDocument/2006/relationships/image" Target="../media/image1011.png"/><Relationship Id="rId11" Type="http://schemas.openxmlformats.org/officeDocument/2006/relationships/image" Target="../media/image1010.png"/><Relationship Id="rId10" Type="http://schemas.openxmlformats.org/officeDocument/2006/relationships/image" Target="../media/image1009.png"/><Relationship Id="rId1" Type="http://schemas.openxmlformats.org/officeDocument/2006/relationships/image" Target="../media/image1000.png"/></Relationships>
</file>

<file path=ppt/slides/_rels/slide28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image" Target="../media/image1019.png"/><Relationship Id="rId7" Type="http://schemas.openxmlformats.org/officeDocument/2006/relationships/image" Target="../media/image1018.png"/><Relationship Id="rId6" Type="http://schemas.openxmlformats.org/officeDocument/2006/relationships/image" Target="../media/image1017.png"/><Relationship Id="rId5" Type="http://schemas.openxmlformats.org/officeDocument/2006/relationships/image" Target="../media/image1016.png"/><Relationship Id="rId4" Type="http://schemas.openxmlformats.org/officeDocument/2006/relationships/image" Target="../media/image1015.png"/><Relationship Id="rId3" Type="http://schemas.openxmlformats.org/officeDocument/2006/relationships/image" Target="../media/image1014.png"/><Relationship Id="rId2" Type="http://schemas.openxmlformats.org/officeDocument/2006/relationships/image" Target="../media/image1013.png"/><Relationship Id="rId10" Type="http://schemas.openxmlformats.org/officeDocument/2006/relationships/notesSlide" Target="../notesSlides/notesSlide281.xml"/><Relationship Id="rId1" Type="http://schemas.openxmlformats.org/officeDocument/2006/relationships/image" Target="../media/image1012.png"/></Relationships>
</file>

<file path=ppt/slides/_rels/slide28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image" Target="../media/image1027.png"/><Relationship Id="rId7" Type="http://schemas.openxmlformats.org/officeDocument/2006/relationships/image" Target="../media/image1026.png"/><Relationship Id="rId6" Type="http://schemas.openxmlformats.org/officeDocument/2006/relationships/image" Target="../media/image1025.png"/><Relationship Id="rId5" Type="http://schemas.openxmlformats.org/officeDocument/2006/relationships/image" Target="../media/image1024.png"/><Relationship Id="rId4" Type="http://schemas.openxmlformats.org/officeDocument/2006/relationships/image" Target="../media/image1023.png"/><Relationship Id="rId3" Type="http://schemas.openxmlformats.org/officeDocument/2006/relationships/image" Target="../media/image1022.png"/><Relationship Id="rId2" Type="http://schemas.openxmlformats.org/officeDocument/2006/relationships/image" Target="../media/image1021.png"/><Relationship Id="rId10" Type="http://schemas.openxmlformats.org/officeDocument/2006/relationships/notesSlide" Target="../notesSlides/notesSlide282.xml"/><Relationship Id="rId1" Type="http://schemas.openxmlformats.org/officeDocument/2006/relationships/image" Target="../media/image1020.png"/></Relationships>
</file>

<file path=ppt/slides/_rels/slide28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image" Target="../media/image1035.png"/><Relationship Id="rId7" Type="http://schemas.openxmlformats.org/officeDocument/2006/relationships/image" Target="../media/image1034.png"/><Relationship Id="rId6" Type="http://schemas.openxmlformats.org/officeDocument/2006/relationships/image" Target="../media/image1033.png"/><Relationship Id="rId5" Type="http://schemas.openxmlformats.org/officeDocument/2006/relationships/image" Target="../media/image1032.png"/><Relationship Id="rId4" Type="http://schemas.openxmlformats.org/officeDocument/2006/relationships/image" Target="../media/image1031.png"/><Relationship Id="rId3" Type="http://schemas.openxmlformats.org/officeDocument/2006/relationships/image" Target="../media/image1030.png"/><Relationship Id="rId2" Type="http://schemas.openxmlformats.org/officeDocument/2006/relationships/image" Target="../media/image1029.png"/><Relationship Id="rId10" Type="http://schemas.openxmlformats.org/officeDocument/2006/relationships/notesSlide" Target="../notesSlides/notesSlide283.xml"/><Relationship Id="rId1" Type="http://schemas.openxmlformats.org/officeDocument/2006/relationships/image" Target="../media/image1028.png"/></Relationships>
</file>

<file path=ppt/slides/_rels/slide287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84.x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1041.png"/><Relationship Id="rId5" Type="http://schemas.openxmlformats.org/officeDocument/2006/relationships/image" Target="../media/image1040.png"/><Relationship Id="rId4" Type="http://schemas.openxmlformats.org/officeDocument/2006/relationships/image" Target="../media/image1039.png"/><Relationship Id="rId3" Type="http://schemas.openxmlformats.org/officeDocument/2006/relationships/image" Target="../media/image1038.png"/><Relationship Id="rId2" Type="http://schemas.openxmlformats.org/officeDocument/2006/relationships/image" Target="../media/image1037.png"/><Relationship Id="rId1" Type="http://schemas.openxmlformats.org/officeDocument/2006/relationships/image" Target="../media/image1036.png"/></Relationships>
</file>

<file path=ppt/slides/_rels/slide288.xml.rels><?xml version="1.0" encoding="UTF-8" standalone="yes"?>
<Relationships xmlns="http://schemas.openxmlformats.org/package/2006/relationships"><Relationship Id="rId9" Type="http://schemas.openxmlformats.org/officeDocument/2006/relationships/image" Target="../media/image1050.png"/><Relationship Id="rId8" Type="http://schemas.openxmlformats.org/officeDocument/2006/relationships/image" Target="../media/image1049.png"/><Relationship Id="rId7" Type="http://schemas.openxmlformats.org/officeDocument/2006/relationships/image" Target="../media/image1048.png"/><Relationship Id="rId6" Type="http://schemas.openxmlformats.org/officeDocument/2006/relationships/image" Target="../media/image1047.png"/><Relationship Id="rId5" Type="http://schemas.openxmlformats.org/officeDocument/2006/relationships/image" Target="../media/image1046.png"/><Relationship Id="rId4" Type="http://schemas.openxmlformats.org/officeDocument/2006/relationships/image" Target="../media/image1045.png"/><Relationship Id="rId3" Type="http://schemas.openxmlformats.org/officeDocument/2006/relationships/image" Target="../media/image1044.png"/><Relationship Id="rId2" Type="http://schemas.openxmlformats.org/officeDocument/2006/relationships/image" Target="../media/image1043.png"/><Relationship Id="rId11" Type="http://schemas.openxmlformats.org/officeDocument/2006/relationships/notesSlide" Target="../notesSlides/notesSlide285.xml"/><Relationship Id="rId10" Type="http://schemas.openxmlformats.org/officeDocument/2006/relationships/slideLayout" Target="../slideLayouts/slideLayout2.xml"/><Relationship Id="rId1" Type="http://schemas.openxmlformats.org/officeDocument/2006/relationships/image" Target="../media/image1042.png"/></Relationships>
</file>

<file path=ppt/slides/_rels/slide289.xml.rels><?xml version="1.0" encoding="UTF-8" standalone="yes"?>
<Relationships xmlns="http://schemas.openxmlformats.org/package/2006/relationships"><Relationship Id="rId9" Type="http://schemas.openxmlformats.org/officeDocument/2006/relationships/image" Target="../media/image1059.png"/><Relationship Id="rId8" Type="http://schemas.openxmlformats.org/officeDocument/2006/relationships/image" Target="../media/image1058.png"/><Relationship Id="rId7" Type="http://schemas.openxmlformats.org/officeDocument/2006/relationships/image" Target="../media/image1057.png"/><Relationship Id="rId6" Type="http://schemas.openxmlformats.org/officeDocument/2006/relationships/image" Target="../media/image1056.png"/><Relationship Id="rId5" Type="http://schemas.openxmlformats.org/officeDocument/2006/relationships/image" Target="../media/image1055.png"/><Relationship Id="rId4" Type="http://schemas.openxmlformats.org/officeDocument/2006/relationships/image" Target="../media/image1054.png"/><Relationship Id="rId3" Type="http://schemas.openxmlformats.org/officeDocument/2006/relationships/image" Target="../media/image1053.png"/><Relationship Id="rId2" Type="http://schemas.openxmlformats.org/officeDocument/2006/relationships/image" Target="../media/image1052.png"/><Relationship Id="rId11" Type="http://schemas.openxmlformats.org/officeDocument/2006/relationships/notesSlide" Target="../notesSlides/notesSlide286.xml"/><Relationship Id="rId10" Type="http://schemas.openxmlformats.org/officeDocument/2006/relationships/slideLayout" Target="../slideLayouts/slideLayout2.xml"/><Relationship Id="rId1" Type="http://schemas.openxmlformats.org/officeDocument/2006/relationships/image" Target="../media/image1051.png"/></Relationships>
</file>

<file path=ppt/slides/_rels/slide290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287.xml"/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1066.png"/><Relationship Id="rId6" Type="http://schemas.openxmlformats.org/officeDocument/2006/relationships/image" Target="../media/image1065.png"/><Relationship Id="rId5" Type="http://schemas.openxmlformats.org/officeDocument/2006/relationships/image" Target="../media/image1064.png"/><Relationship Id="rId4" Type="http://schemas.openxmlformats.org/officeDocument/2006/relationships/image" Target="../media/image1063.png"/><Relationship Id="rId3" Type="http://schemas.openxmlformats.org/officeDocument/2006/relationships/image" Target="../media/image1062.png"/><Relationship Id="rId2" Type="http://schemas.openxmlformats.org/officeDocument/2006/relationships/image" Target="../media/image1061.png"/><Relationship Id="rId1" Type="http://schemas.openxmlformats.org/officeDocument/2006/relationships/image" Target="../media/image1060.png"/></Relationships>
</file>

<file path=ppt/slides/_rels/slide291.xml.rels><?xml version="1.0" encoding="UTF-8" standalone="yes"?>
<Relationships xmlns="http://schemas.openxmlformats.org/package/2006/relationships"><Relationship Id="rId9" Type="http://schemas.openxmlformats.org/officeDocument/2006/relationships/image" Target="../media/image1075.png"/><Relationship Id="rId8" Type="http://schemas.openxmlformats.org/officeDocument/2006/relationships/image" Target="../media/image1074.png"/><Relationship Id="rId7" Type="http://schemas.openxmlformats.org/officeDocument/2006/relationships/image" Target="../media/image1073.png"/><Relationship Id="rId6" Type="http://schemas.openxmlformats.org/officeDocument/2006/relationships/image" Target="../media/image1072.png"/><Relationship Id="rId5" Type="http://schemas.openxmlformats.org/officeDocument/2006/relationships/image" Target="../media/image1071.png"/><Relationship Id="rId4" Type="http://schemas.openxmlformats.org/officeDocument/2006/relationships/image" Target="../media/image1070.png"/><Relationship Id="rId3" Type="http://schemas.openxmlformats.org/officeDocument/2006/relationships/image" Target="../media/image1069.png"/><Relationship Id="rId2" Type="http://schemas.openxmlformats.org/officeDocument/2006/relationships/image" Target="../media/image1068.png"/><Relationship Id="rId11" Type="http://schemas.openxmlformats.org/officeDocument/2006/relationships/notesSlide" Target="../notesSlides/notesSlide288.xml"/><Relationship Id="rId10" Type="http://schemas.openxmlformats.org/officeDocument/2006/relationships/slideLayout" Target="../slideLayouts/slideLayout2.xml"/><Relationship Id="rId1" Type="http://schemas.openxmlformats.org/officeDocument/2006/relationships/image" Target="../media/image1067.png"/></Relationships>
</file>

<file path=ppt/slides/_rels/slide292.xml.rels><?xml version="1.0" encoding="UTF-8" standalone="yes"?>
<Relationships xmlns="http://schemas.openxmlformats.org/package/2006/relationships"><Relationship Id="rId9" Type="http://schemas.openxmlformats.org/officeDocument/2006/relationships/image" Target="../media/image1084.png"/><Relationship Id="rId8" Type="http://schemas.openxmlformats.org/officeDocument/2006/relationships/image" Target="../media/image1083.png"/><Relationship Id="rId7" Type="http://schemas.openxmlformats.org/officeDocument/2006/relationships/image" Target="../media/image1082.png"/><Relationship Id="rId6" Type="http://schemas.openxmlformats.org/officeDocument/2006/relationships/image" Target="../media/image1081.png"/><Relationship Id="rId5" Type="http://schemas.openxmlformats.org/officeDocument/2006/relationships/image" Target="../media/image1080.png"/><Relationship Id="rId4" Type="http://schemas.openxmlformats.org/officeDocument/2006/relationships/image" Target="../media/image1079.png"/><Relationship Id="rId3" Type="http://schemas.openxmlformats.org/officeDocument/2006/relationships/image" Target="../media/image1078.png"/><Relationship Id="rId2" Type="http://schemas.openxmlformats.org/officeDocument/2006/relationships/image" Target="../media/image1077.png"/><Relationship Id="rId11" Type="http://schemas.openxmlformats.org/officeDocument/2006/relationships/notesSlide" Target="../notesSlides/notesSlide289.xml"/><Relationship Id="rId10" Type="http://schemas.openxmlformats.org/officeDocument/2006/relationships/slideLayout" Target="../slideLayouts/slideLayout2.xml"/><Relationship Id="rId1" Type="http://schemas.openxmlformats.org/officeDocument/2006/relationships/image" Target="../media/image1076.png"/></Relationships>
</file>

<file path=ppt/slides/_rels/slide293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290.xml"/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1091.png"/><Relationship Id="rId6" Type="http://schemas.openxmlformats.org/officeDocument/2006/relationships/image" Target="../media/image1090.png"/><Relationship Id="rId5" Type="http://schemas.openxmlformats.org/officeDocument/2006/relationships/image" Target="../media/image1089.png"/><Relationship Id="rId4" Type="http://schemas.openxmlformats.org/officeDocument/2006/relationships/image" Target="../media/image1088.png"/><Relationship Id="rId3" Type="http://schemas.openxmlformats.org/officeDocument/2006/relationships/image" Target="../media/image1087.png"/><Relationship Id="rId2" Type="http://schemas.openxmlformats.org/officeDocument/2006/relationships/image" Target="../media/image1086.png"/><Relationship Id="rId1" Type="http://schemas.openxmlformats.org/officeDocument/2006/relationships/image" Target="../media/image1085.png"/></Relationships>
</file>

<file path=ppt/slides/_rels/slide294.xml.rels><?xml version="1.0" encoding="UTF-8" standalone="yes"?>
<Relationships xmlns="http://schemas.openxmlformats.org/package/2006/relationships"><Relationship Id="rId9" Type="http://schemas.openxmlformats.org/officeDocument/2006/relationships/image" Target="../media/image1100.png"/><Relationship Id="rId8" Type="http://schemas.openxmlformats.org/officeDocument/2006/relationships/image" Target="../media/image1099.png"/><Relationship Id="rId7" Type="http://schemas.openxmlformats.org/officeDocument/2006/relationships/image" Target="../media/image1098.png"/><Relationship Id="rId6" Type="http://schemas.openxmlformats.org/officeDocument/2006/relationships/image" Target="../media/image1097.png"/><Relationship Id="rId5" Type="http://schemas.openxmlformats.org/officeDocument/2006/relationships/image" Target="../media/image1096.png"/><Relationship Id="rId4" Type="http://schemas.openxmlformats.org/officeDocument/2006/relationships/image" Target="../media/image1095.png"/><Relationship Id="rId3" Type="http://schemas.openxmlformats.org/officeDocument/2006/relationships/image" Target="../media/image1094.png"/><Relationship Id="rId2" Type="http://schemas.openxmlformats.org/officeDocument/2006/relationships/image" Target="../media/image1093.png"/><Relationship Id="rId11" Type="http://schemas.openxmlformats.org/officeDocument/2006/relationships/notesSlide" Target="../notesSlides/notesSlide291.xml"/><Relationship Id="rId10" Type="http://schemas.openxmlformats.org/officeDocument/2006/relationships/slideLayout" Target="../slideLayouts/slideLayout2.xml"/><Relationship Id="rId1" Type="http://schemas.openxmlformats.org/officeDocument/2006/relationships/image" Target="../media/image1092.png"/></Relationships>
</file>

<file path=ppt/slides/_rels/slide295.xml.rels><?xml version="1.0" encoding="UTF-8" standalone="yes"?>
<Relationships xmlns="http://schemas.openxmlformats.org/package/2006/relationships"><Relationship Id="rId9" Type="http://schemas.openxmlformats.org/officeDocument/2006/relationships/image" Target="../media/image1109.png"/><Relationship Id="rId8" Type="http://schemas.openxmlformats.org/officeDocument/2006/relationships/image" Target="../media/image1108.png"/><Relationship Id="rId7" Type="http://schemas.openxmlformats.org/officeDocument/2006/relationships/image" Target="../media/image1107.png"/><Relationship Id="rId6" Type="http://schemas.openxmlformats.org/officeDocument/2006/relationships/image" Target="../media/image1106.png"/><Relationship Id="rId5" Type="http://schemas.openxmlformats.org/officeDocument/2006/relationships/image" Target="../media/image1105.png"/><Relationship Id="rId4" Type="http://schemas.openxmlformats.org/officeDocument/2006/relationships/image" Target="../media/image1104.png"/><Relationship Id="rId3" Type="http://schemas.openxmlformats.org/officeDocument/2006/relationships/image" Target="../media/image1103.png"/><Relationship Id="rId2" Type="http://schemas.openxmlformats.org/officeDocument/2006/relationships/image" Target="../media/image1102.png"/><Relationship Id="rId11" Type="http://schemas.openxmlformats.org/officeDocument/2006/relationships/notesSlide" Target="../notesSlides/notesSlide292.xml"/><Relationship Id="rId10" Type="http://schemas.openxmlformats.org/officeDocument/2006/relationships/slideLayout" Target="../slideLayouts/slideLayout2.xml"/><Relationship Id="rId1" Type="http://schemas.openxmlformats.org/officeDocument/2006/relationships/image" Target="../media/image1101.png"/></Relationships>
</file>

<file path=ppt/slides/_rels/slide296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293.xml"/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1116.png"/><Relationship Id="rId6" Type="http://schemas.openxmlformats.org/officeDocument/2006/relationships/image" Target="../media/image1115.png"/><Relationship Id="rId5" Type="http://schemas.openxmlformats.org/officeDocument/2006/relationships/image" Target="../media/image1114.png"/><Relationship Id="rId4" Type="http://schemas.openxmlformats.org/officeDocument/2006/relationships/image" Target="../media/image1113.png"/><Relationship Id="rId3" Type="http://schemas.openxmlformats.org/officeDocument/2006/relationships/image" Target="../media/image1112.png"/><Relationship Id="rId2" Type="http://schemas.openxmlformats.org/officeDocument/2006/relationships/image" Target="../media/image1111.png"/><Relationship Id="rId1" Type="http://schemas.openxmlformats.org/officeDocument/2006/relationships/image" Target="../media/image1110.png"/></Relationships>
</file>

<file path=ppt/slides/_rels/slide29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94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118.png"/><Relationship Id="rId1" Type="http://schemas.openxmlformats.org/officeDocument/2006/relationships/image" Target="../media/image1117.png"/></Relationships>
</file>

<file path=ppt/slides/_rels/slide29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5.xml"/><Relationship Id="rId1" Type="http://schemas.openxmlformats.org/officeDocument/2006/relationships/slideLayout" Target="../slideLayouts/slideLayout2.xml"/></Relationships>
</file>

<file path=ppt/slides/_rels/slide29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image" Target="../media/image1126.png"/><Relationship Id="rId7" Type="http://schemas.openxmlformats.org/officeDocument/2006/relationships/image" Target="../media/image1125.png"/><Relationship Id="rId6" Type="http://schemas.openxmlformats.org/officeDocument/2006/relationships/image" Target="../media/image1124.png"/><Relationship Id="rId5" Type="http://schemas.openxmlformats.org/officeDocument/2006/relationships/image" Target="../media/image1123.png"/><Relationship Id="rId4" Type="http://schemas.openxmlformats.org/officeDocument/2006/relationships/image" Target="../media/image1122.png"/><Relationship Id="rId3" Type="http://schemas.openxmlformats.org/officeDocument/2006/relationships/image" Target="../media/image1121.png"/><Relationship Id="rId2" Type="http://schemas.openxmlformats.org/officeDocument/2006/relationships/image" Target="../media/image1120.png"/><Relationship Id="rId10" Type="http://schemas.openxmlformats.org/officeDocument/2006/relationships/notesSlide" Target="../notesSlides/notesSlide296.xml"/><Relationship Id="rId1" Type="http://schemas.openxmlformats.org/officeDocument/2006/relationships/image" Target="../media/image1119.png"/></Relationships>
</file>

<file path=ppt/slides/_rels/slide30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7.xml"/><Relationship Id="rId1" Type="http://schemas.openxmlformats.org/officeDocument/2006/relationships/slideLayout" Target="../slideLayouts/slideLayout2.xml"/></Relationships>
</file>

<file path=ppt/slides/_rels/slide30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8.xml"/><Relationship Id="rId1" Type="http://schemas.openxmlformats.org/officeDocument/2006/relationships/slideLayout" Target="../slideLayouts/slideLayout2.xml"/></Relationships>
</file>

<file path=ppt/slides/_rels/slide30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99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12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15788" y="1170432"/>
            <a:ext cx="960120" cy="960120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55818" y="1410462"/>
            <a:ext cx="480060" cy="48006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0" y="2331720"/>
            <a:ext cx="12191695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400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BEGINNER TO INTERMEDIATE COURSE</a:t>
            </a:r>
            <a:endParaRPr lang="en-US" sz="1300" dirty="0"/>
          </a:p>
        </p:txBody>
      </p:sp>
      <p:sp>
        <p:nvSpPr>
          <p:cNvPr id="5" name="Text 2"/>
          <p:cNvSpPr txBox="1"/>
          <p:nvPr/>
        </p:nvSpPr>
        <p:spPr>
          <a:xfrm>
            <a:off x="0" y="2697480"/>
            <a:ext cx="12191695" cy="1143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kern="0" spc="2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GENERATIVE AI</a:t>
            </a:r>
            <a:endParaRPr lang="en-US" sz="6000" dirty="0"/>
          </a:p>
        </p:txBody>
      </p:sp>
      <p:sp>
        <p:nvSpPr>
          <p:cNvPr id="6" name="Text 3"/>
          <p:cNvSpPr txBox="1"/>
          <p:nvPr/>
        </p:nvSpPr>
        <p:spPr>
          <a:xfrm>
            <a:off x="0" y="3886200"/>
            <a:ext cx="12191695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dirty="0">
                <a:solidFill>
                  <a:srgbClr val="22D3E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Complete Beginner to Intermediate Guide</a:t>
            </a:r>
            <a:endParaRPr lang="en-US" sz="2100" dirty="0"/>
          </a:p>
        </p:txBody>
      </p:sp>
      <p:sp>
        <p:nvSpPr>
          <p:cNvPr id="7" name="Text 4"/>
          <p:cNvSpPr txBox="1"/>
          <p:nvPr/>
        </p:nvSpPr>
        <p:spPr>
          <a:xfrm>
            <a:off x="2011680" y="4480560"/>
            <a:ext cx="8168335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4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classroom-style course for students and professionals who are meeting Generative AI for the very first time.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2465680" y="5257800"/>
            <a:ext cx="2286000" cy="475488"/>
          </a:xfrm>
          <a:prstGeom prst="roundRect">
            <a:avLst>
              <a:gd name="adj" fmla="val 19231"/>
            </a:avLst>
          </a:prstGeom>
          <a:solidFill>
            <a:srgbClr val="191640">
              <a:alpha val="90000"/>
            </a:srgbClr>
          </a:solidFill>
          <a:ln w="12700">
            <a:solidFill>
              <a:srgbClr val="322C63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2465680" y="5257800"/>
            <a:ext cx="228600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22 SECTIONS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952848" y="5257800"/>
            <a:ext cx="2286000" cy="475488"/>
          </a:xfrm>
          <a:prstGeom prst="roundRect">
            <a:avLst>
              <a:gd name="adj" fmla="val 19231"/>
            </a:avLst>
          </a:prstGeom>
          <a:solidFill>
            <a:srgbClr val="191640">
              <a:alpha val="90000"/>
            </a:srgbClr>
          </a:solidFill>
          <a:ln w="12700">
            <a:solidFill>
              <a:srgbClr val="322C63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952848" y="5257800"/>
            <a:ext cx="228600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2D3EE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245+ SLIDES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7440016" y="5257800"/>
            <a:ext cx="2286000" cy="475488"/>
          </a:xfrm>
          <a:prstGeom prst="roundRect">
            <a:avLst>
              <a:gd name="adj" fmla="val 19231"/>
            </a:avLst>
          </a:prstGeom>
          <a:solidFill>
            <a:srgbClr val="191640">
              <a:alpha val="90000"/>
            </a:srgbClr>
          </a:solidFill>
          <a:ln w="12700">
            <a:solidFill>
              <a:srgbClr val="322C63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440016" y="5257800"/>
            <a:ext cx="228600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BBF2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115 QUIZ QUESTIONS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SLIDE 2 · LEARNING JOURNEY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What Will You Learn?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Generative AI — Complete Beginner to Intermediate Guide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002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11057839" cy="877824"/>
          </a:xfrm>
          <a:prstGeom prst="roundRect">
            <a:avLst>
              <a:gd name="adj" fmla="val 8333"/>
            </a:avLst>
          </a:prstGeom>
          <a:solidFill>
            <a:srgbClr val="191640">
              <a:alpha val="96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6928" y="1627632"/>
            <a:ext cx="64008" cy="585216"/>
          </a:xfrm>
          <a:prstGeom prst="roundRect">
            <a:avLst>
              <a:gd name="adj" fmla="val 42857"/>
            </a:avLst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59536" y="1572768"/>
            <a:ext cx="10472623" cy="6949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DDD9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We start from "what is AI" and finish with how real Generative AI applications are built and used responsibly.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66928" y="2615184"/>
            <a:ext cx="3503066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22960" y="2816352"/>
            <a:ext cx="457200" cy="457200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2930652"/>
            <a:ext cx="228600" cy="22860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499616" y="2816352"/>
            <a:ext cx="229605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Foundations</a:t>
            </a:r>
            <a:endParaRPr lang="en-US" sz="1450" dirty="0"/>
          </a:p>
        </p:txBody>
      </p:sp>
      <p:sp>
        <p:nvSpPr>
          <p:cNvPr id="13" name="Text 10"/>
          <p:cNvSpPr txBox="1"/>
          <p:nvPr/>
        </p:nvSpPr>
        <p:spPr>
          <a:xfrm>
            <a:off x="841248" y="3419856"/>
            <a:ext cx="2954426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AI, ML and Deep Learning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Neural networks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Generative AI is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4344314" y="2615184"/>
            <a:ext cx="3503066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600346" y="2816352"/>
            <a:ext cx="457200" cy="457200"/>
          </a:xfrm>
          <a:prstGeom prst="ellipse">
            <a:avLst/>
          </a:prstGeom>
          <a:solidFill>
            <a:srgbClr val="22D3EE">
              <a:alpha val="16000"/>
            </a:srgbClr>
          </a:solidFill>
          <a:ln w="12700">
            <a:solidFill>
              <a:srgbClr val="22D3EE">
                <a:alpha val="45000"/>
              </a:srgbClr>
            </a:solidFill>
            <a:prstDash val="solid"/>
          </a:ln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4646" y="2930652"/>
            <a:ext cx="228600" cy="22860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5277002" y="2816352"/>
            <a:ext cx="229605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How It Works</a:t>
            </a:r>
            <a:endParaRPr lang="en-US" sz="1450" dirty="0"/>
          </a:p>
        </p:txBody>
      </p:sp>
      <p:sp>
        <p:nvSpPr>
          <p:cNvPr id="18" name="Text 14"/>
          <p:cNvSpPr txBox="1"/>
          <p:nvPr/>
        </p:nvSpPr>
        <p:spPr>
          <a:xfrm>
            <a:off x="4618634" y="3419856"/>
            <a:ext cx="2954426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Data, training, inference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Tokens and parameters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Transformers and attention</a:t>
            </a:r>
            <a:endParaRPr lang="en-US" sz="1150" dirty="0"/>
          </a:p>
        </p:txBody>
      </p:sp>
      <p:sp>
        <p:nvSpPr>
          <p:cNvPr id="19" name="Shape 15"/>
          <p:cNvSpPr/>
          <p:nvPr/>
        </p:nvSpPr>
        <p:spPr>
          <a:xfrm>
            <a:off x="8121701" y="2615184"/>
            <a:ext cx="3503066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8377733" y="2816352"/>
            <a:ext cx="457200" cy="457200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2033" y="2930652"/>
            <a:ext cx="228600" cy="22860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9054389" y="2816352"/>
            <a:ext cx="229605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LLMs &amp; Prompting</a:t>
            </a:r>
            <a:endParaRPr lang="en-US" sz="1450" dirty="0"/>
          </a:p>
        </p:txBody>
      </p:sp>
      <p:sp>
        <p:nvSpPr>
          <p:cNvPr id="23" name="Text 18"/>
          <p:cNvSpPr txBox="1"/>
          <p:nvPr/>
        </p:nvSpPr>
        <p:spPr>
          <a:xfrm>
            <a:off x="8396021" y="3419856"/>
            <a:ext cx="2954426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How LLMs predict text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Writing strong prompts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Prompt patterns</a:t>
            </a:r>
            <a:endParaRPr lang="en-US" sz="1150" dirty="0"/>
          </a:p>
        </p:txBody>
      </p:sp>
      <p:sp>
        <p:nvSpPr>
          <p:cNvPr id="24" name="Shape 19"/>
          <p:cNvSpPr/>
          <p:nvPr/>
        </p:nvSpPr>
        <p:spPr>
          <a:xfrm>
            <a:off x="566928" y="4530149"/>
            <a:ext cx="3503066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822960" y="4731317"/>
            <a:ext cx="457200" cy="457200"/>
          </a:xfrm>
          <a:prstGeom prst="ellipse">
            <a:avLst/>
          </a:prstGeom>
          <a:solidFill>
            <a:srgbClr val="34D399">
              <a:alpha val="16000"/>
            </a:srgbClr>
          </a:solidFill>
          <a:ln w="12700">
            <a:solidFill>
              <a:srgbClr val="34D399">
                <a:alpha val="45000"/>
              </a:srgbClr>
            </a:solidFill>
            <a:prstDash val="solid"/>
          </a:ln>
        </p:spPr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7260" y="4845617"/>
            <a:ext cx="228600" cy="228600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1499616" y="4731317"/>
            <a:ext cx="229605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Multimodal Gen AI</a:t>
            </a:r>
            <a:endParaRPr lang="en-US" sz="1450" dirty="0"/>
          </a:p>
        </p:txBody>
      </p:sp>
      <p:sp>
        <p:nvSpPr>
          <p:cNvPr id="28" name="Text 22"/>
          <p:cNvSpPr txBox="1"/>
          <p:nvPr/>
        </p:nvSpPr>
        <p:spPr>
          <a:xfrm>
            <a:off x="841248" y="5334821"/>
            <a:ext cx="2954426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Text, image, audio, video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How each is generated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Practical uses</a:t>
            </a:r>
            <a:endParaRPr lang="en-US" sz="1150" dirty="0"/>
          </a:p>
        </p:txBody>
      </p:sp>
      <p:sp>
        <p:nvSpPr>
          <p:cNvPr id="29" name="Shape 23"/>
          <p:cNvSpPr/>
          <p:nvPr/>
        </p:nvSpPr>
        <p:spPr>
          <a:xfrm>
            <a:off x="4344314" y="4530149"/>
            <a:ext cx="3503066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4600346" y="4731317"/>
            <a:ext cx="457200" cy="457200"/>
          </a:xfrm>
          <a:prstGeom prst="ellipse">
            <a:avLst/>
          </a:prstGeom>
          <a:solidFill>
            <a:srgbClr val="F472B6">
              <a:alpha val="16000"/>
            </a:srgbClr>
          </a:solidFill>
          <a:ln w="12700">
            <a:solidFill>
              <a:srgbClr val="F472B6">
                <a:alpha val="45000"/>
              </a:srgbClr>
            </a:solidFill>
            <a:prstDash val="solid"/>
          </a:ln>
        </p:spPr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14646" y="4845617"/>
            <a:ext cx="228600" cy="228600"/>
          </a:xfrm>
          <a:prstGeom prst="rect">
            <a:avLst/>
          </a:prstGeom>
        </p:spPr>
      </p:pic>
      <p:sp>
        <p:nvSpPr>
          <p:cNvPr id="32" name="Text 25"/>
          <p:cNvSpPr txBox="1"/>
          <p:nvPr/>
        </p:nvSpPr>
        <p:spPr>
          <a:xfrm>
            <a:off x="5277002" y="4731317"/>
            <a:ext cx="229605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Building With AI</a:t>
            </a:r>
            <a:endParaRPr lang="en-US" sz="1450" dirty="0"/>
          </a:p>
        </p:txBody>
      </p:sp>
      <p:sp>
        <p:nvSpPr>
          <p:cNvPr id="33" name="Text 26"/>
          <p:cNvSpPr txBox="1"/>
          <p:nvPr/>
        </p:nvSpPr>
        <p:spPr>
          <a:xfrm>
            <a:off x="4618634" y="5334821"/>
            <a:ext cx="2954426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Embeddings and vectors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RAG for your own data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 agents and tools</a:t>
            </a:r>
            <a:endParaRPr lang="en-US" sz="1150" dirty="0"/>
          </a:p>
        </p:txBody>
      </p:sp>
      <p:sp>
        <p:nvSpPr>
          <p:cNvPr id="34" name="Shape 27"/>
          <p:cNvSpPr/>
          <p:nvPr/>
        </p:nvSpPr>
        <p:spPr>
          <a:xfrm>
            <a:off x="8121701" y="4530149"/>
            <a:ext cx="3503066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35" name="Shape 28"/>
          <p:cNvSpPr/>
          <p:nvPr/>
        </p:nvSpPr>
        <p:spPr>
          <a:xfrm>
            <a:off x="8377733" y="4731317"/>
            <a:ext cx="457200" cy="457200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36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92033" y="4845617"/>
            <a:ext cx="228600" cy="228600"/>
          </a:xfrm>
          <a:prstGeom prst="rect">
            <a:avLst/>
          </a:prstGeom>
        </p:spPr>
      </p:pic>
      <p:sp>
        <p:nvSpPr>
          <p:cNvPr id="37" name="Text 29"/>
          <p:cNvSpPr txBox="1"/>
          <p:nvPr/>
        </p:nvSpPr>
        <p:spPr>
          <a:xfrm>
            <a:off x="9054389" y="4731317"/>
            <a:ext cx="229605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Use It Well</a:t>
            </a:r>
            <a:endParaRPr lang="en-US" sz="1450" dirty="0"/>
          </a:p>
        </p:txBody>
      </p:sp>
      <p:sp>
        <p:nvSpPr>
          <p:cNvPr id="38" name="Text 30"/>
          <p:cNvSpPr txBox="1"/>
          <p:nvPr/>
        </p:nvSpPr>
        <p:spPr>
          <a:xfrm>
            <a:off x="8396021" y="5334821"/>
            <a:ext cx="2954426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Hallucinations and limits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Responsible AI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Careers and roadmap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SLIDE 3 · DEFINITION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What is Artificial Intelligence?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Generative AI — Complete Beginner to Intermediate Guide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003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11057839" cy="877824"/>
          </a:xfrm>
          <a:prstGeom prst="roundRect">
            <a:avLst>
              <a:gd name="adj" fmla="val 8333"/>
            </a:avLst>
          </a:prstGeom>
          <a:solidFill>
            <a:srgbClr val="191640">
              <a:alpha val="96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6928" y="1627632"/>
            <a:ext cx="64008" cy="585216"/>
          </a:xfrm>
          <a:prstGeom prst="roundRect">
            <a:avLst>
              <a:gd name="adj" fmla="val 42857"/>
            </a:avLst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59536" y="1572768"/>
            <a:ext cx="10472623" cy="6949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DDD9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Artificial Intelligence means making computers do tasks that normally need human thinking.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66928" y="2615184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22960" y="2816352"/>
            <a:ext cx="457200" cy="457200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2930652"/>
            <a:ext cx="228600" cy="22860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499616" y="2816352"/>
            <a:ext cx="41847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In Simple Words</a:t>
            </a:r>
            <a:endParaRPr lang="en-US" sz="1450" dirty="0"/>
          </a:p>
        </p:txBody>
      </p:sp>
      <p:sp>
        <p:nvSpPr>
          <p:cNvPr id="13" name="Text 10"/>
          <p:cNvSpPr txBox="1"/>
          <p:nvPr/>
        </p:nvSpPr>
        <p:spPr>
          <a:xfrm>
            <a:off x="841248" y="3419856"/>
            <a:ext cx="484312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normal program follows fixed rules you wrote. An AI system learns patterns from examples and then makes decisions.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33008" y="2615184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489040" y="2816352"/>
            <a:ext cx="457200" cy="457200"/>
          </a:xfrm>
          <a:prstGeom prst="ellipse">
            <a:avLst/>
          </a:prstGeom>
          <a:solidFill>
            <a:srgbClr val="22D3EE">
              <a:alpha val="16000"/>
            </a:srgbClr>
          </a:solidFill>
          <a:ln w="12700">
            <a:solidFill>
              <a:srgbClr val="22D3EE">
                <a:alpha val="45000"/>
              </a:srgbClr>
            </a:solidFill>
            <a:prstDash val="solid"/>
          </a:ln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3340" y="2930652"/>
            <a:ext cx="228600" cy="22860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7165696" y="2816352"/>
            <a:ext cx="41847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What Counts As AI</a:t>
            </a:r>
            <a:endParaRPr lang="en-US" sz="1450" dirty="0"/>
          </a:p>
        </p:txBody>
      </p:sp>
      <p:sp>
        <p:nvSpPr>
          <p:cNvPr id="18" name="Text 14"/>
          <p:cNvSpPr txBox="1"/>
          <p:nvPr/>
        </p:nvSpPr>
        <p:spPr>
          <a:xfrm>
            <a:off x="6507328" y="3419856"/>
            <a:ext cx="484312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200"/>
              </a:spcAft>
              <a:buSzPct val="100000"/>
              <a:buChar char="▪"/>
            </a:pPr>
            <a:r>
              <a:rPr lang="en-US" sz="9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Understanding language</a:t>
            </a:r>
            <a:endParaRPr lang="en-US" sz="900" dirty="0"/>
          </a:p>
          <a:p>
            <a:pPr marL="342900" indent="-342900">
              <a:lnSpc>
                <a:spcPct val="110000"/>
              </a:lnSpc>
              <a:spcAft>
                <a:spcPts val="200"/>
              </a:spcAft>
              <a:buSzPct val="100000"/>
              <a:buChar char="▪"/>
            </a:pPr>
            <a:r>
              <a:rPr lang="en-US" sz="9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Recognising images and speech</a:t>
            </a:r>
            <a:endParaRPr lang="en-US" sz="900" dirty="0"/>
          </a:p>
          <a:p>
            <a:pPr marL="342900" indent="-342900">
              <a:lnSpc>
                <a:spcPct val="110000"/>
              </a:lnSpc>
              <a:spcAft>
                <a:spcPts val="200"/>
              </a:spcAft>
              <a:buSzPct val="100000"/>
              <a:buChar char="▪"/>
            </a:pPr>
            <a:r>
              <a:rPr lang="en-US" sz="9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Making predictions</a:t>
            </a:r>
            <a:endParaRPr lang="en-US" sz="900" dirty="0"/>
          </a:p>
          <a:p>
            <a:pPr marL="342900" indent="-342900">
              <a:lnSpc>
                <a:spcPct val="110000"/>
              </a:lnSpc>
              <a:spcAft>
                <a:spcPts val="200"/>
              </a:spcAft>
              <a:buSzPct val="100000"/>
              <a:buChar char="▪"/>
            </a:pPr>
            <a:r>
              <a:rPr lang="en-US" sz="9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Taking decisions</a:t>
            </a:r>
            <a:endParaRPr lang="en-US" sz="900" dirty="0"/>
          </a:p>
        </p:txBody>
      </p:sp>
      <p:sp>
        <p:nvSpPr>
          <p:cNvPr id="19" name="Shape 15"/>
          <p:cNvSpPr/>
          <p:nvPr/>
        </p:nvSpPr>
        <p:spPr>
          <a:xfrm>
            <a:off x="566928" y="4530149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822960" y="4731317"/>
            <a:ext cx="457200" cy="457200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260" y="4845617"/>
            <a:ext cx="228600" cy="22860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499616" y="4731317"/>
            <a:ext cx="41847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Simple Example</a:t>
            </a:r>
            <a:endParaRPr lang="en-US" sz="1450" dirty="0"/>
          </a:p>
        </p:txBody>
      </p:sp>
      <p:sp>
        <p:nvSpPr>
          <p:cNvPr id="23" name="Text 18"/>
          <p:cNvSpPr txBox="1"/>
          <p:nvPr/>
        </p:nvSpPr>
        <p:spPr>
          <a:xfrm>
            <a:off x="841248" y="5334821"/>
            <a:ext cx="484312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Your email app learns which messages look like spam, without anyone writing a rule for every possible spam email.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6233008" y="4530149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6489040" y="4731317"/>
            <a:ext cx="457200" cy="457200"/>
          </a:xfrm>
          <a:prstGeom prst="ellipse">
            <a:avLst/>
          </a:prstGeom>
          <a:solidFill>
            <a:srgbClr val="34D399">
              <a:alpha val="16000"/>
            </a:srgbClr>
          </a:solidFill>
          <a:ln w="12700">
            <a:solidFill>
              <a:srgbClr val="34D399">
                <a:alpha val="45000"/>
              </a:srgbClr>
            </a:solidFill>
            <a:prstDash val="solid"/>
          </a:ln>
        </p:spPr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3340" y="4845617"/>
            <a:ext cx="228600" cy="228600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7165696" y="4731317"/>
            <a:ext cx="41847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Key Idea</a:t>
            </a:r>
            <a:endParaRPr lang="en-US" sz="1450" dirty="0"/>
          </a:p>
        </p:txBody>
      </p:sp>
      <p:sp>
        <p:nvSpPr>
          <p:cNvPr id="28" name="Text 22"/>
          <p:cNvSpPr txBox="1"/>
          <p:nvPr/>
        </p:nvSpPr>
        <p:spPr>
          <a:xfrm>
            <a:off x="6507328" y="5334821"/>
            <a:ext cx="484312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 does not "think" like a human. It finds patterns in data extremely well, at a very large scale.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SLIDE 4 · WHY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Why Do We Need AI?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Generative AI — Complete Beginner to Intermediate Guide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004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481328"/>
            <a:ext cx="11057839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DDD9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 helps where the work is too large, too fast, or too repetitive for people to do alone.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66928" y="2103120"/>
            <a:ext cx="11057839" cy="709574"/>
          </a:xfrm>
          <a:prstGeom prst="roundRect">
            <a:avLst>
              <a:gd name="adj" fmla="val 10309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04672" y="2221992"/>
            <a:ext cx="471830" cy="471830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2630" y="2339950"/>
            <a:ext cx="235915" cy="235915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514246" y="2212848"/>
            <a:ext cx="9836201" cy="49011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Too much data for humans</a:t>
            </a:r>
            <a:endParaRPr lang="en-US" sz="13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Millions of messages, images and records arrive every day. AI can read all of them.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566928" y="2958998"/>
            <a:ext cx="11057839" cy="709574"/>
          </a:xfrm>
          <a:prstGeom prst="roundRect">
            <a:avLst>
              <a:gd name="adj" fmla="val 10309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804672" y="3077870"/>
            <a:ext cx="471830" cy="471830"/>
          </a:xfrm>
          <a:prstGeom prst="ellipse">
            <a:avLst/>
          </a:prstGeom>
          <a:solidFill>
            <a:srgbClr val="22D3EE">
              <a:alpha val="16000"/>
            </a:srgbClr>
          </a:solidFill>
          <a:ln w="12700">
            <a:solidFill>
              <a:srgbClr val="22D3EE">
                <a:alpha val="45000"/>
              </a:srgbClr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2630" y="3195828"/>
            <a:ext cx="235915" cy="235915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1514246" y="3068726"/>
            <a:ext cx="9836201" cy="49011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Speed</a:t>
            </a:r>
            <a:endParaRPr lang="en-US" sz="13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 answer in two seconds instead of two hours changes how work gets done.</a:t>
            </a:r>
            <a:endParaRPr lang="en-US" sz="1350" dirty="0"/>
          </a:p>
        </p:txBody>
      </p:sp>
      <p:sp>
        <p:nvSpPr>
          <p:cNvPr id="15" name="Shape 11"/>
          <p:cNvSpPr/>
          <p:nvPr/>
        </p:nvSpPr>
        <p:spPr>
          <a:xfrm>
            <a:off x="566928" y="3814877"/>
            <a:ext cx="11057839" cy="709574"/>
          </a:xfrm>
          <a:prstGeom prst="roundRect">
            <a:avLst>
              <a:gd name="adj" fmla="val 10309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04672" y="3933749"/>
            <a:ext cx="471830" cy="471830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2630" y="4051706"/>
            <a:ext cx="235915" cy="235915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514246" y="3924605"/>
            <a:ext cx="9836201" cy="49011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Repetitive work</a:t>
            </a:r>
            <a:endParaRPr lang="en-US" sz="13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Sorting, tagging, summarising and form-filling can be handled automatically.</a:t>
            </a:r>
            <a:endParaRPr lang="en-US" sz="1350" dirty="0"/>
          </a:p>
        </p:txBody>
      </p:sp>
      <p:sp>
        <p:nvSpPr>
          <p:cNvPr id="19" name="Shape 14"/>
          <p:cNvSpPr/>
          <p:nvPr/>
        </p:nvSpPr>
        <p:spPr>
          <a:xfrm>
            <a:off x="566928" y="4670755"/>
            <a:ext cx="11057839" cy="709574"/>
          </a:xfrm>
          <a:prstGeom prst="roundRect">
            <a:avLst>
              <a:gd name="adj" fmla="val 10309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04672" y="4789627"/>
            <a:ext cx="471830" cy="471830"/>
          </a:xfrm>
          <a:prstGeom prst="ellipse">
            <a:avLst/>
          </a:prstGeom>
          <a:solidFill>
            <a:srgbClr val="34D399">
              <a:alpha val="16000"/>
            </a:srgbClr>
          </a:solidFill>
          <a:ln w="12700">
            <a:solidFill>
              <a:srgbClr val="34D399">
                <a:alpha val="45000"/>
              </a:srgbClr>
            </a:solidFill>
            <a:prstDash val="solid"/>
          </a:ln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2630" y="4907585"/>
            <a:ext cx="235915" cy="235915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514246" y="4780483"/>
            <a:ext cx="9836201" cy="49011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Personalisation</a:t>
            </a:r>
            <a:endParaRPr lang="en-US" sz="13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Different people get different recommendations, lessons or answers.</a:t>
            </a:r>
            <a:endParaRPr lang="en-US" sz="1350" dirty="0"/>
          </a:p>
        </p:txBody>
      </p:sp>
      <p:sp>
        <p:nvSpPr>
          <p:cNvPr id="23" name="Shape 17"/>
          <p:cNvSpPr/>
          <p:nvPr/>
        </p:nvSpPr>
        <p:spPr>
          <a:xfrm>
            <a:off x="566928" y="5526634"/>
            <a:ext cx="11057839" cy="709574"/>
          </a:xfrm>
          <a:prstGeom prst="roundRect">
            <a:avLst>
              <a:gd name="adj" fmla="val 10309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804672" y="5645506"/>
            <a:ext cx="471830" cy="471830"/>
          </a:xfrm>
          <a:prstGeom prst="ellipse">
            <a:avLst/>
          </a:prstGeom>
          <a:solidFill>
            <a:srgbClr val="F472B6">
              <a:alpha val="16000"/>
            </a:srgbClr>
          </a:solidFill>
          <a:ln w="12700">
            <a:solidFill>
              <a:srgbClr val="F472B6">
                <a:alpha val="45000"/>
              </a:srgbClr>
            </a:solidFill>
            <a:prstDash val="solid"/>
          </a:ln>
        </p:spPr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2630" y="5763463"/>
            <a:ext cx="235915" cy="235915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1514246" y="5636362"/>
            <a:ext cx="9836201" cy="49011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Finding patterns</a:t>
            </a:r>
            <a:endParaRPr lang="en-US" sz="13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 notices trends in data that a person would simply never see.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SLIDE 5 · EVERYDAY AI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AI in Everyday Life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Generative AI — Complete Beginner to Intermediate Guide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005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11057839" cy="877824"/>
          </a:xfrm>
          <a:prstGeom prst="roundRect">
            <a:avLst>
              <a:gd name="adj" fmla="val 8333"/>
            </a:avLst>
          </a:prstGeom>
          <a:solidFill>
            <a:srgbClr val="191640">
              <a:alpha val="96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6928" y="1627632"/>
            <a:ext cx="64008" cy="585216"/>
          </a:xfrm>
          <a:prstGeom prst="roundRect">
            <a:avLst>
              <a:gd name="adj" fmla="val 42857"/>
            </a:avLst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59536" y="1572768"/>
            <a:ext cx="10472623" cy="6949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DDD9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You already use AI many times a day, usually without noticing it.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66928" y="2615184"/>
            <a:ext cx="255872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22960" y="2816352"/>
            <a:ext cx="457200" cy="457200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2930652"/>
            <a:ext cx="228600" cy="22860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499616" y="2816352"/>
            <a:ext cx="135171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Search engines</a:t>
            </a:r>
            <a:endParaRPr lang="en-US" sz="1450" dirty="0"/>
          </a:p>
        </p:txBody>
      </p:sp>
      <p:sp>
        <p:nvSpPr>
          <p:cNvPr id="13" name="Text 10"/>
          <p:cNvSpPr txBox="1"/>
          <p:nvPr/>
        </p:nvSpPr>
        <p:spPr>
          <a:xfrm>
            <a:off x="841248" y="3419856"/>
            <a:ext cx="201008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Understand what you meant, not only the exact words you typed.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3399968" y="2615184"/>
            <a:ext cx="255872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3656000" y="2816352"/>
            <a:ext cx="457200" cy="457200"/>
          </a:xfrm>
          <a:prstGeom prst="ellipse">
            <a:avLst/>
          </a:prstGeom>
          <a:solidFill>
            <a:srgbClr val="22D3EE">
              <a:alpha val="16000"/>
            </a:srgbClr>
          </a:solidFill>
          <a:ln w="12700">
            <a:solidFill>
              <a:srgbClr val="22D3EE">
                <a:alpha val="45000"/>
              </a:srgbClr>
            </a:solidFill>
            <a:prstDash val="solid"/>
          </a:ln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0300" y="2930652"/>
            <a:ext cx="228600" cy="22860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4332656" y="2816352"/>
            <a:ext cx="135171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Maps</a:t>
            </a:r>
            <a:endParaRPr lang="en-US" sz="1450" dirty="0"/>
          </a:p>
        </p:txBody>
      </p:sp>
      <p:sp>
        <p:nvSpPr>
          <p:cNvPr id="18" name="Text 14"/>
          <p:cNvSpPr txBox="1"/>
          <p:nvPr/>
        </p:nvSpPr>
        <p:spPr>
          <a:xfrm>
            <a:off x="3674288" y="3419856"/>
            <a:ext cx="201008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Predict traffic and suggest the fastest route right now.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6233008" y="2615184"/>
            <a:ext cx="255872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6489040" y="2816352"/>
            <a:ext cx="457200" cy="457200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3340" y="2930652"/>
            <a:ext cx="228600" cy="22860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7165696" y="2816352"/>
            <a:ext cx="135171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Recommendations</a:t>
            </a:r>
            <a:endParaRPr lang="en-US" sz="1450" dirty="0"/>
          </a:p>
        </p:txBody>
      </p:sp>
      <p:sp>
        <p:nvSpPr>
          <p:cNvPr id="23" name="Text 18"/>
          <p:cNvSpPr txBox="1"/>
          <p:nvPr/>
        </p:nvSpPr>
        <p:spPr>
          <a:xfrm>
            <a:off x="6507328" y="3419856"/>
            <a:ext cx="201008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Suggest videos, songs and products based on what you liked before.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9066047" y="2615184"/>
            <a:ext cx="255872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9322079" y="2816352"/>
            <a:ext cx="457200" cy="457200"/>
          </a:xfrm>
          <a:prstGeom prst="ellipse">
            <a:avLst/>
          </a:prstGeom>
          <a:solidFill>
            <a:srgbClr val="34D399">
              <a:alpha val="16000"/>
            </a:srgbClr>
          </a:solidFill>
          <a:ln w="12700">
            <a:solidFill>
              <a:srgbClr val="34D399">
                <a:alpha val="45000"/>
              </a:srgbClr>
            </a:solidFill>
            <a:prstDash val="solid"/>
          </a:ln>
        </p:spPr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36379" y="2930652"/>
            <a:ext cx="228600" cy="228600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9998735" y="2816352"/>
            <a:ext cx="135171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Voice assistants</a:t>
            </a:r>
            <a:endParaRPr lang="en-US" sz="1450" dirty="0"/>
          </a:p>
        </p:txBody>
      </p:sp>
      <p:sp>
        <p:nvSpPr>
          <p:cNvPr id="28" name="Text 22"/>
          <p:cNvSpPr txBox="1"/>
          <p:nvPr/>
        </p:nvSpPr>
        <p:spPr>
          <a:xfrm>
            <a:off x="9340367" y="3419856"/>
            <a:ext cx="201008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Turn your speech into text and then into an action.</a:t>
            </a:r>
            <a:endParaRPr lang="en-US" sz="1200" dirty="0"/>
          </a:p>
        </p:txBody>
      </p:sp>
      <p:sp>
        <p:nvSpPr>
          <p:cNvPr id="29" name="Shape 23"/>
          <p:cNvSpPr/>
          <p:nvPr/>
        </p:nvSpPr>
        <p:spPr>
          <a:xfrm>
            <a:off x="566928" y="4530149"/>
            <a:ext cx="255872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822960" y="4731317"/>
            <a:ext cx="457200" cy="457200"/>
          </a:xfrm>
          <a:prstGeom prst="ellipse">
            <a:avLst/>
          </a:prstGeom>
          <a:solidFill>
            <a:srgbClr val="F472B6">
              <a:alpha val="16000"/>
            </a:srgbClr>
          </a:solidFill>
          <a:ln w="12700">
            <a:solidFill>
              <a:srgbClr val="F472B6">
                <a:alpha val="45000"/>
              </a:srgbClr>
            </a:solidFill>
            <a:prstDash val="solid"/>
          </a:ln>
        </p:spPr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7260" y="4845617"/>
            <a:ext cx="228600" cy="228600"/>
          </a:xfrm>
          <a:prstGeom prst="rect">
            <a:avLst/>
          </a:prstGeom>
        </p:spPr>
      </p:pic>
      <p:sp>
        <p:nvSpPr>
          <p:cNvPr id="32" name="Text 25"/>
          <p:cNvSpPr txBox="1"/>
          <p:nvPr/>
        </p:nvSpPr>
        <p:spPr>
          <a:xfrm>
            <a:off x="1499616" y="4731317"/>
            <a:ext cx="135171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Face unlock</a:t>
            </a:r>
            <a:endParaRPr lang="en-US" sz="1450" dirty="0"/>
          </a:p>
        </p:txBody>
      </p:sp>
      <p:sp>
        <p:nvSpPr>
          <p:cNvPr id="33" name="Text 26"/>
          <p:cNvSpPr txBox="1"/>
          <p:nvPr/>
        </p:nvSpPr>
        <p:spPr>
          <a:xfrm>
            <a:off x="841248" y="5334821"/>
            <a:ext cx="201008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Recognise your face in a fraction of a second.</a:t>
            </a:r>
            <a:endParaRPr lang="en-US" sz="1200" dirty="0"/>
          </a:p>
        </p:txBody>
      </p:sp>
      <p:sp>
        <p:nvSpPr>
          <p:cNvPr id="34" name="Shape 27"/>
          <p:cNvSpPr/>
          <p:nvPr/>
        </p:nvSpPr>
        <p:spPr>
          <a:xfrm>
            <a:off x="3399968" y="4530149"/>
            <a:ext cx="255872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35" name="Shape 28"/>
          <p:cNvSpPr/>
          <p:nvPr/>
        </p:nvSpPr>
        <p:spPr>
          <a:xfrm>
            <a:off x="3656000" y="4731317"/>
            <a:ext cx="457200" cy="457200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36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70300" y="4845617"/>
            <a:ext cx="228600" cy="228600"/>
          </a:xfrm>
          <a:prstGeom prst="rect">
            <a:avLst/>
          </a:prstGeom>
        </p:spPr>
      </p:pic>
      <p:sp>
        <p:nvSpPr>
          <p:cNvPr id="37" name="Text 29"/>
          <p:cNvSpPr txBox="1"/>
          <p:nvPr/>
        </p:nvSpPr>
        <p:spPr>
          <a:xfrm>
            <a:off x="4332656" y="4731317"/>
            <a:ext cx="135171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Banking</a:t>
            </a:r>
            <a:endParaRPr lang="en-US" sz="1450" dirty="0"/>
          </a:p>
        </p:txBody>
      </p:sp>
      <p:sp>
        <p:nvSpPr>
          <p:cNvPr id="38" name="Text 30"/>
          <p:cNvSpPr txBox="1"/>
          <p:nvPr/>
        </p:nvSpPr>
        <p:spPr>
          <a:xfrm>
            <a:off x="3674288" y="5334821"/>
            <a:ext cx="201008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Spot unusual transactions that may be fraud.</a:t>
            </a:r>
            <a:endParaRPr lang="en-US" sz="1200" dirty="0"/>
          </a:p>
        </p:txBody>
      </p:sp>
      <p:sp>
        <p:nvSpPr>
          <p:cNvPr id="39" name="Shape 31"/>
          <p:cNvSpPr/>
          <p:nvPr/>
        </p:nvSpPr>
        <p:spPr>
          <a:xfrm>
            <a:off x="6233008" y="4530149"/>
            <a:ext cx="255872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40" name="Shape 32"/>
          <p:cNvSpPr/>
          <p:nvPr/>
        </p:nvSpPr>
        <p:spPr>
          <a:xfrm>
            <a:off x="6489040" y="4731317"/>
            <a:ext cx="457200" cy="457200"/>
          </a:xfrm>
          <a:prstGeom prst="ellipse">
            <a:avLst/>
          </a:prstGeom>
          <a:solidFill>
            <a:srgbClr val="22D3EE">
              <a:alpha val="16000"/>
            </a:srgbClr>
          </a:solidFill>
          <a:ln w="12700">
            <a:solidFill>
              <a:srgbClr val="22D3EE">
                <a:alpha val="45000"/>
              </a:srgbClr>
            </a:solidFill>
            <a:prstDash val="solid"/>
          </a:ln>
        </p:spPr>
      </p:sp>
      <p:pic>
        <p:nvPicPr>
          <p:cNvPr id="41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03340" y="4845617"/>
            <a:ext cx="228600" cy="228600"/>
          </a:xfrm>
          <a:prstGeom prst="rect">
            <a:avLst/>
          </a:prstGeom>
        </p:spPr>
      </p:pic>
      <p:sp>
        <p:nvSpPr>
          <p:cNvPr id="42" name="Text 33"/>
          <p:cNvSpPr txBox="1"/>
          <p:nvPr/>
        </p:nvSpPr>
        <p:spPr>
          <a:xfrm>
            <a:off x="7165696" y="4731317"/>
            <a:ext cx="135171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Shopping</a:t>
            </a:r>
            <a:endParaRPr lang="en-US" sz="1450" dirty="0"/>
          </a:p>
        </p:txBody>
      </p:sp>
      <p:sp>
        <p:nvSpPr>
          <p:cNvPr id="43" name="Text 34"/>
          <p:cNvSpPr txBox="1"/>
          <p:nvPr/>
        </p:nvSpPr>
        <p:spPr>
          <a:xfrm>
            <a:off x="6507328" y="5334821"/>
            <a:ext cx="201008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Rank search results and personalise offers for you.</a:t>
            </a:r>
            <a:endParaRPr lang="en-US" sz="1200" dirty="0"/>
          </a:p>
        </p:txBody>
      </p:sp>
      <p:sp>
        <p:nvSpPr>
          <p:cNvPr id="44" name="Shape 35"/>
          <p:cNvSpPr/>
          <p:nvPr/>
        </p:nvSpPr>
        <p:spPr>
          <a:xfrm>
            <a:off x="9066047" y="4530149"/>
            <a:ext cx="255872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45" name="Shape 36"/>
          <p:cNvSpPr/>
          <p:nvPr/>
        </p:nvSpPr>
        <p:spPr>
          <a:xfrm>
            <a:off x="9322079" y="4731317"/>
            <a:ext cx="457200" cy="457200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46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36379" y="4845617"/>
            <a:ext cx="228600" cy="228600"/>
          </a:xfrm>
          <a:prstGeom prst="rect">
            <a:avLst/>
          </a:prstGeom>
        </p:spPr>
      </p:pic>
      <p:sp>
        <p:nvSpPr>
          <p:cNvPr id="47" name="Text 37"/>
          <p:cNvSpPr txBox="1"/>
          <p:nvPr/>
        </p:nvSpPr>
        <p:spPr>
          <a:xfrm>
            <a:off x="9998735" y="4731317"/>
            <a:ext cx="135171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Smartphones</a:t>
            </a:r>
            <a:endParaRPr lang="en-US" sz="1450" dirty="0"/>
          </a:p>
        </p:txBody>
      </p:sp>
      <p:sp>
        <p:nvSpPr>
          <p:cNvPr id="48" name="Text 38"/>
          <p:cNvSpPr txBox="1"/>
          <p:nvPr/>
        </p:nvSpPr>
        <p:spPr>
          <a:xfrm>
            <a:off x="9340367" y="5334821"/>
            <a:ext cx="201008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Auto-correct, photo enhancement and battery management.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AI WORKFLOW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promtunderstand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635" y="0"/>
            <a:ext cx="1219263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AI INTRODUCED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SLIDE 6 · CATEGORIES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Types of AI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Generative AI — Complete Beginner to Intermediate Guide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006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11057839" cy="877824"/>
          </a:xfrm>
          <a:prstGeom prst="roundRect">
            <a:avLst>
              <a:gd name="adj" fmla="val 8333"/>
            </a:avLst>
          </a:prstGeom>
          <a:solidFill>
            <a:srgbClr val="191640">
              <a:alpha val="96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6928" y="1627632"/>
            <a:ext cx="64008" cy="585216"/>
          </a:xfrm>
          <a:prstGeom prst="roundRect">
            <a:avLst>
              <a:gd name="adj" fmla="val 42857"/>
            </a:avLst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59536" y="1572768"/>
            <a:ext cx="10472623" cy="6949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DDD9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 is often described in three levels. Only the first one exists today.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66928" y="2615184"/>
            <a:ext cx="3503066" cy="3621024"/>
          </a:xfrm>
          <a:prstGeom prst="roundRect">
            <a:avLst>
              <a:gd name="adj" fmla="val 20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22960" y="2871216"/>
            <a:ext cx="566928" cy="566928"/>
          </a:xfrm>
          <a:prstGeom prst="ellipse">
            <a:avLst/>
          </a:prstGeom>
          <a:solidFill>
            <a:srgbClr val="34D399">
              <a:alpha val="16000"/>
            </a:srgbClr>
          </a:solidFill>
          <a:ln w="12700">
            <a:solidFill>
              <a:srgbClr val="34D399">
                <a:alpha val="45000"/>
              </a:srgbClr>
            </a:solidFill>
            <a:prstDash val="solid"/>
          </a:ln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4692" y="3012948"/>
            <a:ext cx="283464" cy="283464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609344" y="2871216"/>
            <a:ext cx="218633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Narrow AI — exists today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841248" y="3639312"/>
            <a:ext cx="2954426" cy="241401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Very good at one specific task: translation, image recognition, text generation. All AI you use is narrow AI.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4344314" y="2615184"/>
            <a:ext cx="3503066" cy="3621024"/>
          </a:xfrm>
          <a:prstGeom prst="roundRect">
            <a:avLst>
              <a:gd name="adj" fmla="val 20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600346" y="2871216"/>
            <a:ext cx="566928" cy="566928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2078" y="3012948"/>
            <a:ext cx="283464" cy="283464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5386730" y="2871216"/>
            <a:ext cx="218633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General AI — theoretical</a:t>
            </a:r>
            <a:endParaRPr lang="en-US" sz="1600" dirty="0"/>
          </a:p>
        </p:txBody>
      </p:sp>
      <p:sp>
        <p:nvSpPr>
          <p:cNvPr id="18" name="Text 14"/>
          <p:cNvSpPr txBox="1"/>
          <p:nvPr/>
        </p:nvSpPr>
        <p:spPr>
          <a:xfrm>
            <a:off x="4618634" y="3639312"/>
            <a:ext cx="2954426" cy="241401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system that could learn any task a human can, across all areas. This does not exist today.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8121701" y="2615184"/>
            <a:ext cx="3503066" cy="3621024"/>
          </a:xfrm>
          <a:prstGeom prst="roundRect">
            <a:avLst>
              <a:gd name="adj" fmla="val 20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8377733" y="2871216"/>
            <a:ext cx="566928" cy="566928"/>
          </a:xfrm>
          <a:prstGeom prst="ellipse">
            <a:avLst/>
          </a:prstGeom>
          <a:solidFill>
            <a:srgbClr val="F472B6">
              <a:alpha val="16000"/>
            </a:srgbClr>
          </a:solidFill>
          <a:ln w="12700">
            <a:solidFill>
              <a:srgbClr val="F472B6">
                <a:alpha val="45000"/>
              </a:srgbClr>
            </a:solidFill>
            <a:prstDash val="solid"/>
          </a:ln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9465" y="3012948"/>
            <a:ext cx="283464" cy="283464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9164117" y="2871216"/>
            <a:ext cx="218633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Superintelligence — theoretical</a:t>
            </a:r>
            <a:endParaRPr lang="en-US" sz="1600" dirty="0"/>
          </a:p>
        </p:txBody>
      </p:sp>
      <p:sp>
        <p:nvSpPr>
          <p:cNvPr id="23" name="Text 18"/>
          <p:cNvSpPr txBox="1"/>
          <p:nvPr/>
        </p:nvSpPr>
        <p:spPr>
          <a:xfrm>
            <a:off x="8396021" y="3639312"/>
            <a:ext cx="2954426" cy="241401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 idea of intelligence far beyond humans in every field. It is a discussion topic, not a product.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SLIDE 7 · COMPARE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AI vs Human Intelligence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Generative AI — Complete Beginner to Intermediate Guide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007</a:t>
            </a:r>
            <a:endParaRPr lang="en-US" sz="9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/>
        </p:nvGraphicFramePr>
        <p:xfrm>
          <a:off x="566928" y="1481328"/>
          <a:ext cx="11057839" cy="3533243"/>
        </p:xfrm>
        <a:graphic>
          <a:graphicData uri="http://schemas.openxmlformats.org/drawingml/2006/table">
            <a:tbl>
              <a:tblPr/>
              <a:tblGrid>
                <a:gridCol w="2926080"/>
                <a:gridCol w="4069080"/>
                <a:gridCol w="4062679"/>
              </a:tblGrid>
              <a:tr h="50474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0B0A1E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Point</a:t>
                      </a:r>
                      <a:endParaRPr lang="en-US" sz="13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22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22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22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22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78B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0B0A1E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Human Intelligence</a:t>
                      </a:r>
                      <a:endParaRPr lang="en-US" sz="13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22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22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22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22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78B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0B0A1E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Artificial Intelligence</a:t>
                      </a:r>
                      <a:endParaRPr lang="en-US" sz="13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22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22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22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22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78BFA"/>
                    </a:solidFill>
                  </a:tcPr>
                </a:tc>
              </a:tr>
              <a:tr h="50474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Learning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22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22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22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22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6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BFC2E4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Learns from few examples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22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22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22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22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6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BFC2E4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Usually needs very many examples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22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22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22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22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640"/>
                    </a:solidFill>
                  </a:tcPr>
                </a:tc>
              </a:tr>
              <a:tr h="50474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Speed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22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22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22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22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0F2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BFC2E4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Slower, gets tired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22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22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22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22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0F2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BFC2E4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Extremely fast, works non-stop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22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22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22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22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0F29"/>
                    </a:solidFill>
                  </a:tcPr>
                </a:tc>
              </a:tr>
              <a:tr h="50474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Understanding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22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22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22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22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6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BFC2E4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Real understanding and feelings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22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22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22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22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6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BFC2E4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Pattern matching, no feelings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22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22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22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22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640"/>
                    </a:solidFill>
                  </a:tcPr>
                </a:tc>
              </a:tr>
              <a:tr h="50474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Common sense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22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22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22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22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0F2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BFC2E4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Strong, built from life experience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22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22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22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22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0F2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BFC2E4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Weak and can fail in odd ways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22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22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22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22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0F29"/>
                    </a:solidFill>
                  </a:tcPr>
                </a:tc>
              </a:tr>
              <a:tr h="50474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Creativity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22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22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22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22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6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BFC2E4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Original ideas and intent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22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22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22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22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6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BFC2E4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Recombines patterns it has seen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22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22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22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22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640"/>
                    </a:solidFill>
                  </a:tcPr>
                </a:tc>
              </a:tr>
              <a:tr h="50474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Responsibility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22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22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22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22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0F2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BFC2E4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Can be held accountable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22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22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22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22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0F2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BFC2E4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Cannot be responsible for its output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22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22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22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22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0F29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66928" y="5458968"/>
            <a:ext cx="11057839" cy="777240"/>
          </a:xfrm>
          <a:prstGeom prst="roundRect">
            <a:avLst>
              <a:gd name="adj" fmla="val 9412"/>
            </a:avLst>
          </a:prstGeom>
          <a:solidFill>
            <a:srgbClr val="191640">
              <a:alpha val="96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6" name="Text 5"/>
          <p:cNvSpPr txBox="1"/>
          <p:nvPr/>
        </p:nvSpPr>
        <p:spPr>
          <a:xfrm>
            <a:off x="841248" y="5550408"/>
            <a:ext cx="10509199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BBF2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Tip:  </a:t>
            </a:r>
            <a:r>
              <a:rPr lang="en-US" sz="13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 is best used as a helper that works with a person, not as a replacement for human judgement.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SLIDE 8 · TIMELINE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AI History Timeline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Generative AI — Complete Beginner to Intermediate Guide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008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2387270" cy="1600200"/>
          </a:xfrm>
          <a:prstGeom prst="roundRect">
            <a:avLst>
              <a:gd name="adj" fmla="val 4571"/>
            </a:avLst>
          </a:prstGeom>
          <a:solidFill>
            <a:srgbClr val="191640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586827" y="1307592"/>
            <a:ext cx="347472" cy="347472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586827" y="1307592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0A1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94944" y="1755648"/>
            <a:ext cx="213123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A78BF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1950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94944" y="2212848"/>
            <a:ext cx="2131238" cy="731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Alan Turing asks whether machines can think and proposes a famous test.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045638" y="2162556"/>
            <a:ext cx="320040" cy="237744"/>
          </a:xfrm>
          <a:prstGeom prst="rightArrow">
            <a:avLst/>
          </a:prstGeom>
          <a:solidFill>
            <a:srgbClr val="22D3EE">
              <a:alpha val="70000"/>
            </a:srgbClr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57118" y="1481328"/>
            <a:ext cx="2387270" cy="1600200"/>
          </a:xfrm>
          <a:prstGeom prst="roundRect">
            <a:avLst>
              <a:gd name="adj" fmla="val 4571"/>
            </a:avLst>
          </a:prstGeom>
          <a:solidFill>
            <a:srgbClr val="191640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477017" y="1307592"/>
            <a:ext cx="347472" cy="34747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477017" y="1307592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0A1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3585134" y="1755648"/>
            <a:ext cx="213123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2D3E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1956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3585134" y="2212848"/>
            <a:ext cx="2131238" cy="731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Dartmouth workshop gives the field the name "artificial intelligence".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935828" y="2162556"/>
            <a:ext cx="320040" cy="237744"/>
          </a:xfrm>
          <a:prstGeom prst="rightArrow">
            <a:avLst/>
          </a:prstGeom>
          <a:solidFill>
            <a:srgbClr val="22D3EE">
              <a:alpha val="70000"/>
            </a:srgbClr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347308" y="1481328"/>
            <a:ext cx="2387270" cy="1600200"/>
          </a:xfrm>
          <a:prstGeom prst="roundRect">
            <a:avLst>
              <a:gd name="adj" fmla="val 4571"/>
            </a:avLst>
          </a:prstGeom>
          <a:solidFill>
            <a:srgbClr val="191640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367207" y="1307592"/>
            <a:ext cx="347472" cy="347472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367207" y="1307592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0A1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6475324" y="1755648"/>
            <a:ext cx="213123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BBF2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1960s–70s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475324" y="2212848"/>
            <a:ext cx="2131238" cy="731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Early rule-based programs. Progress is slower than expected.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8826017" y="2162556"/>
            <a:ext cx="320040" cy="237744"/>
          </a:xfrm>
          <a:prstGeom prst="rightArrow">
            <a:avLst/>
          </a:prstGeom>
          <a:solidFill>
            <a:srgbClr val="22D3EE">
              <a:alpha val="70000"/>
            </a:srgbClr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237497" y="1481328"/>
            <a:ext cx="2387270" cy="1600200"/>
          </a:xfrm>
          <a:prstGeom prst="roundRect">
            <a:avLst>
              <a:gd name="adj" fmla="val 4571"/>
            </a:avLst>
          </a:prstGeom>
          <a:solidFill>
            <a:srgbClr val="191640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10257396" y="1307592"/>
            <a:ext cx="347472" cy="347472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10257396" y="1307592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0A1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4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9365513" y="1755648"/>
            <a:ext cx="213123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4D39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1980s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9365513" y="2212848"/>
            <a:ext cx="2131238" cy="731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Expert systems apply hand-written rules to real business problems.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2012023" y="3538728"/>
            <a:ext cx="2387270" cy="1600200"/>
          </a:xfrm>
          <a:prstGeom prst="roundRect">
            <a:avLst>
              <a:gd name="adj" fmla="val 4571"/>
            </a:avLst>
          </a:prstGeom>
          <a:solidFill>
            <a:srgbClr val="191640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031922" y="3364992"/>
            <a:ext cx="347472" cy="347472"/>
          </a:xfrm>
          <a:prstGeom prst="ellipse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3031922" y="3364992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0A1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5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2140039" y="3813048"/>
            <a:ext cx="213123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472B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1990s–2000s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2140039" y="4270248"/>
            <a:ext cx="2131238" cy="731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Machine learning grows as data and computing power increase.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4490733" y="4219956"/>
            <a:ext cx="320040" cy="237744"/>
          </a:xfrm>
          <a:prstGeom prst="rightArrow">
            <a:avLst/>
          </a:prstGeom>
          <a:solidFill>
            <a:srgbClr val="22D3EE">
              <a:alpha val="70000"/>
            </a:srgbClr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902213" y="3538728"/>
            <a:ext cx="2387270" cy="1600200"/>
          </a:xfrm>
          <a:prstGeom prst="roundRect">
            <a:avLst>
              <a:gd name="adj" fmla="val 4571"/>
            </a:avLst>
          </a:prstGeom>
          <a:solidFill>
            <a:srgbClr val="191640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5922112" y="3364992"/>
            <a:ext cx="347472" cy="347472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5922112" y="3364992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0A1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6</a:t>
            </a:r>
            <a:endParaRPr lang="en-US" sz="1200" dirty="0"/>
          </a:p>
        </p:txBody>
      </p:sp>
      <p:sp>
        <p:nvSpPr>
          <p:cNvPr id="38" name="Text 36"/>
          <p:cNvSpPr txBox="1"/>
          <p:nvPr/>
        </p:nvSpPr>
        <p:spPr>
          <a:xfrm>
            <a:off x="5030229" y="3813048"/>
            <a:ext cx="213123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A78BF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2012 onwards</a:t>
            </a:r>
            <a:endParaRPr lang="en-US" sz="1400" dirty="0"/>
          </a:p>
        </p:txBody>
      </p:sp>
      <p:sp>
        <p:nvSpPr>
          <p:cNvPr id="39" name="Text 37"/>
          <p:cNvSpPr txBox="1"/>
          <p:nvPr/>
        </p:nvSpPr>
        <p:spPr>
          <a:xfrm>
            <a:off x="5030229" y="4270248"/>
            <a:ext cx="2131238" cy="731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Deep learning succeeds strongly in image recognition.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7380923" y="4219956"/>
            <a:ext cx="320040" cy="237744"/>
          </a:xfrm>
          <a:prstGeom prst="rightArrow">
            <a:avLst/>
          </a:prstGeom>
          <a:solidFill>
            <a:srgbClr val="22D3EE">
              <a:alpha val="70000"/>
            </a:srgbClr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792403" y="3538728"/>
            <a:ext cx="2387270" cy="1600200"/>
          </a:xfrm>
          <a:prstGeom prst="roundRect">
            <a:avLst>
              <a:gd name="adj" fmla="val 4571"/>
            </a:avLst>
          </a:prstGeom>
          <a:solidFill>
            <a:srgbClr val="191640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8812301" y="3364992"/>
            <a:ext cx="347472" cy="34747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8812301" y="3364992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0A1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7</a:t>
            </a:r>
            <a:endParaRPr lang="en-US" sz="1200" dirty="0"/>
          </a:p>
        </p:txBody>
      </p:sp>
      <p:sp>
        <p:nvSpPr>
          <p:cNvPr id="44" name="Text 42"/>
          <p:cNvSpPr txBox="1"/>
          <p:nvPr/>
        </p:nvSpPr>
        <p:spPr>
          <a:xfrm>
            <a:off x="7920419" y="3813048"/>
            <a:ext cx="213123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2D3E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2017–today</a:t>
            </a:r>
            <a:endParaRPr lang="en-US" sz="1400" dirty="0"/>
          </a:p>
        </p:txBody>
      </p:sp>
      <p:sp>
        <p:nvSpPr>
          <p:cNvPr id="45" name="Text 43"/>
          <p:cNvSpPr txBox="1"/>
          <p:nvPr/>
        </p:nvSpPr>
        <p:spPr>
          <a:xfrm>
            <a:off x="7920419" y="4270248"/>
            <a:ext cx="2131238" cy="731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Transformers, then large language models and modern Generative AI.</a:t>
            </a:r>
            <a:endParaRPr lang="en-US" sz="1150" dirty="0"/>
          </a:p>
        </p:txBody>
      </p:sp>
      <p:sp>
        <p:nvSpPr>
          <p:cNvPr id="46" name="Shape 44"/>
          <p:cNvSpPr/>
          <p:nvPr/>
        </p:nvSpPr>
        <p:spPr>
          <a:xfrm>
            <a:off x="566928" y="5276088"/>
            <a:ext cx="11057839" cy="960120"/>
          </a:xfrm>
          <a:prstGeom prst="roundRect">
            <a:avLst>
              <a:gd name="adj" fmla="val 7619"/>
            </a:avLst>
          </a:prstGeom>
          <a:solidFill>
            <a:srgbClr val="191640">
              <a:alpha val="96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47" name="Text 45"/>
          <p:cNvSpPr txBox="1"/>
          <p:nvPr/>
        </p:nvSpPr>
        <p:spPr>
          <a:xfrm>
            <a:off x="841248" y="5385816"/>
            <a:ext cx="10509199" cy="7406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A78BF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Remember:  </a:t>
            </a:r>
            <a:r>
              <a:rPr lang="en-US" sz="13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 is not new. What changed recently is the amount of data, the computing power, and the transformer design.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SLIDE 9 · MILESTONES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Important AI Milestones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Generative AI — Complete Beginner to Intermediate Guide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009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2558720" cy="2240280"/>
          </a:xfrm>
          <a:prstGeom prst="roundRect">
            <a:avLst>
              <a:gd name="adj" fmla="val 3265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1737360"/>
            <a:ext cx="566928" cy="566928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4692" y="1879092"/>
            <a:ext cx="283464" cy="283464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609344" y="1737360"/>
            <a:ext cx="1241984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Turing Test (1950)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841248" y="2505456"/>
            <a:ext cx="2010080" cy="10332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Alan Turing publishes his paper on machine intelligence and the imitation game.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3399968" y="1481328"/>
            <a:ext cx="2558720" cy="2240280"/>
          </a:xfrm>
          <a:prstGeom prst="roundRect">
            <a:avLst>
              <a:gd name="adj" fmla="val 3265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656000" y="1737360"/>
            <a:ext cx="566928" cy="566928"/>
          </a:xfrm>
          <a:prstGeom prst="ellipse">
            <a:avLst/>
          </a:prstGeom>
          <a:solidFill>
            <a:srgbClr val="22D3EE">
              <a:alpha val="16000"/>
            </a:srgbClr>
          </a:solidFill>
          <a:ln w="12700">
            <a:solidFill>
              <a:srgbClr val="22D3EE">
                <a:alpha val="45000"/>
              </a:srgbClr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7732" y="1879092"/>
            <a:ext cx="283464" cy="283464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4442384" y="1737360"/>
            <a:ext cx="1241984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Dartmouth Workshop (1956)</a:t>
            </a:r>
            <a:endParaRPr lang="en-US" sz="1600" dirty="0"/>
          </a:p>
        </p:txBody>
      </p:sp>
      <p:sp>
        <p:nvSpPr>
          <p:cNvPr id="15" name="Text 11"/>
          <p:cNvSpPr txBox="1"/>
          <p:nvPr/>
        </p:nvSpPr>
        <p:spPr>
          <a:xfrm>
            <a:off x="3674288" y="2505456"/>
            <a:ext cx="2010080" cy="10332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summer project where the term "artificial intelligence" was adopted.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233008" y="1481328"/>
            <a:ext cx="2558720" cy="2240280"/>
          </a:xfrm>
          <a:prstGeom prst="roundRect">
            <a:avLst>
              <a:gd name="adj" fmla="val 3265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89040" y="1737360"/>
            <a:ext cx="566928" cy="566928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0772" y="1879092"/>
            <a:ext cx="283464" cy="283464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7275424" y="1737360"/>
            <a:ext cx="1241984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Expert Systems (1970s–80s)</a:t>
            </a:r>
            <a:endParaRPr lang="en-US" sz="1600" dirty="0"/>
          </a:p>
        </p:txBody>
      </p:sp>
      <p:sp>
        <p:nvSpPr>
          <p:cNvPr id="20" name="Text 15"/>
          <p:cNvSpPr txBox="1"/>
          <p:nvPr/>
        </p:nvSpPr>
        <p:spPr>
          <a:xfrm>
            <a:off x="6507328" y="2505456"/>
            <a:ext cx="2010080" cy="10332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Programs that used written rules from human experts to give advice.</a:t>
            </a:r>
            <a:endParaRPr lang="en-US" sz="1300" dirty="0"/>
          </a:p>
        </p:txBody>
      </p:sp>
      <p:sp>
        <p:nvSpPr>
          <p:cNvPr id="21" name="Shape 16"/>
          <p:cNvSpPr/>
          <p:nvPr/>
        </p:nvSpPr>
        <p:spPr>
          <a:xfrm>
            <a:off x="9066047" y="1481328"/>
            <a:ext cx="2558720" cy="2240280"/>
          </a:xfrm>
          <a:prstGeom prst="roundRect">
            <a:avLst>
              <a:gd name="adj" fmla="val 3265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9322079" y="1737360"/>
            <a:ext cx="566928" cy="566928"/>
          </a:xfrm>
          <a:prstGeom prst="ellipse">
            <a:avLst/>
          </a:prstGeom>
          <a:solidFill>
            <a:srgbClr val="34D399">
              <a:alpha val="16000"/>
            </a:srgbClr>
          </a:solidFill>
          <a:ln w="12700">
            <a:solidFill>
              <a:srgbClr val="34D399">
                <a:alpha val="45000"/>
              </a:srgbClr>
            </a:solidFill>
            <a:prstDash val="solid"/>
          </a:ln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63811" y="1879092"/>
            <a:ext cx="283464" cy="283464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10108463" y="1737360"/>
            <a:ext cx="1241984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Machine Learning Growth (1990s)</a:t>
            </a:r>
            <a:endParaRPr lang="en-US" sz="1600" dirty="0"/>
          </a:p>
        </p:txBody>
      </p:sp>
      <p:sp>
        <p:nvSpPr>
          <p:cNvPr id="25" name="Text 19"/>
          <p:cNvSpPr txBox="1"/>
          <p:nvPr/>
        </p:nvSpPr>
        <p:spPr>
          <a:xfrm>
            <a:off x="9340367" y="2505456"/>
            <a:ext cx="2010080" cy="10332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Systems begin learning from data instead of only following written rules.</a:t>
            </a:r>
            <a:endParaRPr lang="en-US" sz="1300" dirty="0"/>
          </a:p>
        </p:txBody>
      </p:sp>
      <p:sp>
        <p:nvSpPr>
          <p:cNvPr id="26" name="Shape 20"/>
          <p:cNvSpPr/>
          <p:nvPr/>
        </p:nvSpPr>
        <p:spPr>
          <a:xfrm>
            <a:off x="566928" y="3995928"/>
            <a:ext cx="2558720" cy="2240280"/>
          </a:xfrm>
          <a:prstGeom prst="roundRect">
            <a:avLst>
              <a:gd name="adj" fmla="val 3265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822960" y="4251960"/>
            <a:ext cx="566928" cy="566928"/>
          </a:xfrm>
          <a:prstGeom prst="ellipse">
            <a:avLst/>
          </a:prstGeom>
          <a:solidFill>
            <a:srgbClr val="F472B6">
              <a:alpha val="16000"/>
            </a:srgbClr>
          </a:solidFill>
          <a:ln w="12700">
            <a:solidFill>
              <a:srgbClr val="F472B6">
                <a:alpha val="45000"/>
              </a:srgbClr>
            </a:solidFill>
            <a:prstDash val="solid"/>
          </a:ln>
        </p:spPr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4692" y="4393692"/>
            <a:ext cx="283464" cy="283464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1609344" y="4251960"/>
            <a:ext cx="1241984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Deep Learning (2012)</a:t>
            </a:r>
            <a:endParaRPr lang="en-US" sz="1600" dirty="0"/>
          </a:p>
        </p:txBody>
      </p:sp>
      <p:sp>
        <p:nvSpPr>
          <p:cNvPr id="30" name="Text 23"/>
          <p:cNvSpPr txBox="1"/>
          <p:nvPr/>
        </p:nvSpPr>
        <p:spPr>
          <a:xfrm>
            <a:off x="841248" y="5020056"/>
            <a:ext cx="2010080" cy="10332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Deep neural networks win a major image recognition competition convincingly.</a:t>
            </a:r>
            <a:endParaRPr lang="en-US" sz="1300" dirty="0"/>
          </a:p>
        </p:txBody>
      </p:sp>
      <p:sp>
        <p:nvSpPr>
          <p:cNvPr id="31" name="Shape 24"/>
          <p:cNvSpPr/>
          <p:nvPr/>
        </p:nvSpPr>
        <p:spPr>
          <a:xfrm>
            <a:off x="3399968" y="3995928"/>
            <a:ext cx="2558720" cy="2240280"/>
          </a:xfrm>
          <a:prstGeom prst="roundRect">
            <a:avLst>
              <a:gd name="adj" fmla="val 3265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3656000" y="4251960"/>
            <a:ext cx="566928" cy="566928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33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97732" y="4393692"/>
            <a:ext cx="283464" cy="283464"/>
          </a:xfrm>
          <a:prstGeom prst="rect">
            <a:avLst/>
          </a:prstGeom>
        </p:spPr>
      </p:pic>
      <p:sp>
        <p:nvSpPr>
          <p:cNvPr id="34" name="Text 26"/>
          <p:cNvSpPr txBox="1"/>
          <p:nvPr/>
        </p:nvSpPr>
        <p:spPr>
          <a:xfrm>
            <a:off x="4442384" y="4251960"/>
            <a:ext cx="1241984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Image Generation (2014 onwards)</a:t>
            </a:r>
            <a:endParaRPr lang="en-US" sz="1600" dirty="0"/>
          </a:p>
        </p:txBody>
      </p:sp>
      <p:sp>
        <p:nvSpPr>
          <p:cNvPr id="35" name="Text 27"/>
          <p:cNvSpPr txBox="1"/>
          <p:nvPr/>
        </p:nvSpPr>
        <p:spPr>
          <a:xfrm>
            <a:off x="3674288" y="5020056"/>
            <a:ext cx="2010080" cy="10332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Generative adversarial networks, and later diffusion models, create realistic images.</a:t>
            </a:r>
            <a:endParaRPr lang="en-US" sz="1300" dirty="0"/>
          </a:p>
        </p:txBody>
      </p:sp>
      <p:sp>
        <p:nvSpPr>
          <p:cNvPr id="36" name="Shape 28"/>
          <p:cNvSpPr/>
          <p:nvPr/>
        </p:nvSpPr>
        <p:spPr>
          <a:xfrm>
            <a:off x="6233008" y="3995928"/>
            <a:ext cx="2558720" cy="2240280"/>
          </a:xfrm>
          <a:prstGeom prst="roundRect">
            <a:avLst>
              <a:gd name="adj" fmla="val 3265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37" name="Shape 29"/>
          <p:cNvSpPr/>
          <p:nvPr/>
        </p:nvSpPr>
        <p:spPr>
          <a:xfrm>
            <a:off x="6489040" y="4251960"/>
            <a:ext cx="566928" cy="566928"/>
          </a:xfrm>
          <a:prstGeom prst="ellipse">
            <a:avLst/>
          </a:prstGeom>
          <a:solidFill>
            <a:srgbClr val="22D3EE">
              <a:alpha val="16000"/>
            </a:srgbClr>
          </a:solidFill>
          <a:ln w="12700">
            <a:solidFill>
              <a:srgbClr val="22D3EE">
                <a:alpha val="45000"/>
              </a:srgbClr>
            </a:solidFill>
            <a:prstDash val="solid"/>
          </a:ln>
        </p:spPr>
      </p:sp>
      <p:pic>
        <p:nvPicPr>
          <p:cNvPr id="38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30772" y="4393692"/>
            <a:ext cx="283464" cy="283464"/>
          </a:xfrm>
          <a:prstGeom prst="rect">
            <a:avLst/>
          </a:prstGeom>
        </p:spPr>
      </p:pic>
      <p:sp>
        <p:nvSpPr>
          <p:cNvPr id="39" name="Text 30"/>
          <p:cNvSpPr txBox="1"/>
          <p:nvPr/>
        </p:nvSpPr>
        <p:spPr>
          <a:xfrm>
            <a:off x="7275424" y="4251960"/>
            <a:ext cx="1241984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Transformers (2017)</a:t>
            </a:r>
            <a:endParaRPr lang="en-US" sz="1600" dirty="0"/>
          </a:p>
        </p:txBody>
      </p:sp>
      <p:sp>
        <p:nvSpPr>
          <p:cNvPr id="40" name="Text 31"/>
          <p:cNvSpPr txBox="1"/>
          <p:nvPr/>
        </p:nvSpPr>
        <p:spPr>
          <a:xfrm>
            <a:off x="6507328" y="5020056"/>
            <a:ext cx="2010080" cy="10332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paper "Attention Is All You Need" introduces the transformer architecture.</a:t>
            </a:r>
            <a:endParaRPr lang="en-US" sz="1300" dirty="0"/>
          </a:p>
        </p:txBody>
      </p:sp>
      <p:sp>
        <p:nvSpPr>
          <p:cNvPr id="41" name="Shape 32"/>
          <p:cNvSpPr/>
          <p:nvPr/>
        </p:nvSpPr>
        <p:spPr>
          <a:xfrm>
            <a:off x="9066047" y="3995928"/>
            <a:ext cx="2558720" cy="2240280"/>
          </a:xfrm>
          <a:prstGeom prst="roundRect">
            <a:avLst>
              <a:gd name="adj" fmla="val 3265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42" name="Shape 33"/>
          <p:cNvSpPr/>
          <p:nvPr/>
        </p:nvSpPr>
        <p:spPr>
          <a:xfrm>
            <a:off x="9322079" y="4251960"/>
            <a:ext cx="566928" cy="566928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43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63811" y="4393692"/>
            <a:ext cx="283464" cy="283464"/>
          </a:xfrm>
          <a:prstGeom prst="rect">
            <a:avLst/>
          </a:prstGeom>
        </p:spPr>
      </p:pic>
      <p:sp>
        <p:nvSpPr>
          <p:cNvPr id="44" name="Text 34"/>
          <p:cNvSpPr txBox="1"/>
          <p:nvPr/>
        </p:nvSpPr>
        <p:spPr>
          <a:xfrm>
            <a:off x="10108463" y="4251960"/>
            <a:ext cx="1241984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Large Language Models (2018 onwards)</a:t>
            </a:r>
            <a:endParaRPr lang="en-US" sz="1600" dirty="0"/>
          </a:p>
        </p:txBody>
      </p:sp>
      <p:sp>
        <p:nvSpPr>
          <p:cNvPr id="45" name="Text 35"/>
          <p:cNvSpPr txBox="1"/>
          <p:nvPr/>
        </p:nvSpPr>
        <p:spPr>
          <a:xfrm>
            <a:off x="9340367" y="5020056"/>
            <a:ext cx="2010080" cy="10332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Very large transformer models trained on huge text collections become widely available.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SLIDE 10 · PEOPLE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Who Started Artificial Intelligence?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Generative AI — Complete Beginner to Intermediate Guide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010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11057839" cy="877824"/>
          </a:xfrm>
          <a:prstGeom prst="roundRect">
            <a:avLst>
              <a:gd name="adj" fmla="val 8333"/>
            </a:avLst>
          </a:prstGeom>
          <a:solidFill>
            <a:srgbClr val="191640">
              <a:alpha val="96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6928" y="1627632"/>
            <a:ext cx="64008" cy="585216"/>
          </a:xfrm>
          <a:prstGeom prst="roundRect">
            <a:avLst>
              <a:gd name="adj" fmla="val 42857"/>
            </a:avLst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59536" y="1572768"/>
            <a:ext cx="10472623" cy="6949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DDD9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 was not invented by one person. Many researchers over many decades built it step by step.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66928" y="2615184"/>
            <a:ext cx="255872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22960" y="2816352"/>
            <a:ext cx="457200" cy="457200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2930652"/>
            <a:ext cx="228600" cy="22860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499616" y="2816352"/>
            <a:ext cx="135171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Alan Turing</a:t>
            </a:r>
            <a:endParaRPr lang="en-US" sz="1450" dirty="0"/>
          </a:p>
        </p:txBody>
      </p:sp>
      <p:sp>
        <p:nvSpPr>
          <p:cNvPr id="13" name="Text 10"/>
          <p:cNvSpPr txBox="1"/>
          <p:nvPr/>
        </p:nvSpPr>
        <p:spPr>
          <a:xfrm>
            <a:off x="841248" y="3419856"/>
            <a:ext cx="201008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British mathematician whose 1950 paper asked whether machines can think.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3399968" y="2615184"/>
            <a:ext cx="255872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3656000" y="2816352"/>
            <a:ext cx="457200" cy="457200"/>
          </a:xfrm>
          <a:prstGeom prst="ellipse">
            <a:avLst/>
          </a:prstGeom>
          <a:solidFill>
            <a:srgbClr val="22D3EE">
              <a:alpha val="16000"/>
            </a:srgbClr>
          </a:solidFill>
          <a:ln w="12700">
            <a:solidFill>
              <a:srgbClr val="22D3EE">
                <a:alpha val="45000"/>
              </a:srgbClr>
            </a:solidFill>
            <a:prstDash val="solid"/>
          </a:ln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0300" y="2930652"/>
            <a:ext cx="228600" cy="22860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4332656" y="2816352"/>
            <a:ext cx="135171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John McCarthy</a:t>
            </a:r>
            <a:endParaRPr lang="en-US" sz="1450" dirty="0"/>
          </a:p>
        </p:txBody>
      </p:sp>
      <p:sp>
        <p:nvSpPr>
          <p:cNvPr id="18" name="Text 14"/>
          <p:cNvSpPr txBox="1"/>
          <p:nvPr/>
        </p:nvSpPr>
        <p:spPr>
          <a:xfrm>
            <a:off x="3674288" y="3419856"/>
            <a:ext cx="201008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Organised the 1956 Dartmouth workshop and is credited with the term "artificial intelligence".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6233008" y="2615184"/>
            <a:ext cx="255872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6489040" y="2816352"/>
            <a:ext cx="457200" cy="457200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3340" y="2930652"/>
            <a:ext cx="228600" cy="22860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7165696" y="2816352"/>
            <a:ext cx="135171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Marvin Minsky</a:t>
            </a:r>
            <a:endParaRPr lang="en-US" sz="1450" dirty="0"/>
          </a:p>
        </p:txBody>
      </p:sp>
      <p:sp>
        <p:nvSpPr>
          <p:cNvPr id="23" name="Text 18"/>
          <p:cNvSpPr txBox="1"/>
          <p:nvPr/>
        </p:nvSpPr>
        <p:spPr>
          <a:xfrm>
            <a:off x="6507328" y="3419856"/>
            <a:ext cx="201008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founder of the field and of the MIT AI laboratory.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9066047" y="2615184"/>
            <a:ext cx="255872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9322079" y="2816352"/>
            <a:ext cx="457200" cy="457200"/>
          </a:xfrm>
          <a:prstGeom prst="ellipse">
            <a:avLst/>
          </a:prstGeom>
          <a:solidFill>
            <a:srgbClr val="34D399">
              <a:alpha val="16000"/>
            </a:srgbClr>
          </a:solidFill>
          <a:ln w="12700">
            <a:solidFill>
              <a:srgbClr val="34D399">
                <a:alpha val="45000"/>
              </a:srgbClr>
            </a:solidFill>
            <a:prstDash val="solid"/>
          </a:ln>
        </p:spPr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36379" y="2930652"/>
            <a:ext cx="228600" cy="228600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9998735" y="2816352"/>
            <a:ext cx="135171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Claude Shannon</a:t>
            </a:r>
            <a:endParaRPr lang="en-US" sz="1450" dirty="0"/>
          </a:p>
        </p:txBody>
      </p:sp>
      <p:sp>
        <p:nvSpPr>
          <p:cNvPr id="28" name="Text 22"/>
          <p:cNvSpPr txBox="1"/>
          <p:nvPr/>
        </p:nvSpPr>
        <p:spPr>
          <a:xfrm>
            <a:off x="9340367" y="3419856"/>
            <a:ext cx="201008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Founder of information theory, which underpins how machines handle information.</a:t>
            </a:r>
            <a:endParaRPr lang="en-US" sz="1200" dirty="0"/>
          </a:p>
        </p:txBody>
      </p:sp>
      <p:sp>
        <p:nvSpPr>
          <p:cNvPr id="29" name="Shape 23"/>
          <p:cNvSpPr/>
          <p:nvPr/>
        </p:nvSpPr>
        <p:spPr>
          <a:xfrm>
            <a:off x="566928" y="4530149"/>
            <a:ext cx="255872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822960" y="4731317"/>
            <a:ext cx="457200" cy="457200"/>
          </a:xfrm>
          <a:prstGeom prst="ellipse">
            <a:avLst/>
          </a:prstGeom>
          <a:solidFill>
            <a:srgbClr val="F472B6">
              <a:alpha val="16000"/>
            </a:srgbClr>
          </a:solidFill>
          <a:ln w="12700">
            <a:solidFill>
              <a:srgbClr val="F472B6">
                <a:alpha val="45000"/>
              </a:srgbClr>
            </a:solidFill>
            <a:prstDash val="solid"/>
          </a:ln>
        </p:spPr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7260" y="4845617"/>
            <a:ext cx="228600" cy="228600"/>
          </a:xfrm>
          <a:prstGeom prst="rect">
            <a:avLst/>
          </a:prstGeom>
        </p:spPr>
      </p:pic>
      <p:sp>
        <p:nvSpPr>
          <p:cNvPr id="32" name="Text 25"/>
          <p:cNvSpPr txBox="1"/>
          <p:nvPr/>
        </p:nvSpPr>
        <p:spPr>
          <a:xfrm>
            <a:off x="1499616" y="4731317"/>
            <a:ext cx="135171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Arthur Samuel</a:t>
            </a:r>
            <a:endParaRPr lang="en-US" sz="1450" dirty="0"/>
          </a:p>
        </p:txBody>
      </p:sp>
      <p:sp>
        <p:nvSpPr>
          <p:cNvPr id="33" name="Text 26"/>
          <p:cNvSpPr txBox="1"/>
          <p:nvPr/>
        </p:nvSpPr>
        <p:spPr>
          <a:xfrm>
            <a:off x="841248" y="5334821"/>
            <a:ext cx="201008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Built an early self-improving checkers program and popularised the term "machine learning".</a:t>
            </a:r>
            <a:endParaRPr lang="en-US" sz="1150" dirty="0"/>
          </a:p>
        </p:txBody>
      </p:sp>
      <p:sp>
        <p:nvSpPr>
          <p:cNvPr id="34" name="Shape 27"/>
          <p:cNvSpPr/>
          <p:nvPr/>
        </p:nvSpPr>
        <p:spPr>
          <a:xfrm>
            <a:off x="3399968" y="4530149"/>
            <a:ext cx="255872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35" name="Shape 28"/>
          <p:cNvSpPr/>
          <p:nvPr/>
        </p:nvSpPr>
        <p:spPr>
          <a:xfrm>
            <a:off x="3656000" y="4731317"/>
            <a:ext cx="457200" cy="457200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36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70300" y="4845617"/>
            <a:ext cx="228600" cy="228600"/>
          </a:xfrm>
          <a:prstGeom prst="rect">
            <a:avLst/>
          </a:prstGeom>
        </p:spPr>
      </p:pic>
      <p:sp>
        <p:nvSpPr>
          <p:cNvPr id="37" name="Text 29"/>
          <p:cNvSpPr txBox="1"/>
          <p:nvPr/>
        </p:nvSpPr>
        <p:spPr>
          <a:xfrm>
            <a:off x="4332656" y="4731317"/>
            <a:ext cx="135171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Geoffrey Hinton</a:t>
            </a:r>
            <a:endParaRPr lang="en-US" sz="1450" dirty="0"/>
          </a:p>
        </p:txBody>
      </p:sp>
      <p:sp>
        <p:nvSpPr>
          <p:cNvPr id="38" name="Text 30"/>
          <p:cNvSpPr txBox="1"/>
          <p:nvPr/>
        </p:nvSpPr>
        <p:spPr>
          <a:xfrm>
            <a:off x="3674288" y="5334821"/>
            <a:ext cx="201008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Long-time neural network researcher, central to the deep learning revival.</a:t>
            </a:r>
            <a:endParaRPr lang="en-US" sz="1200" dirty="0"/>
          </a:p>
        </p:txBody>
      </p:sp>
      <p:sp>
        <p:nvSpPr>
          <p:cNvPr id="39" name="Shape 31"/>
          <p:cNvSpPr/>
          <p:nvPr/>
        </p:nvSpPr>
        <p:spPr>
          <a:xfrm>
            <a:off x="6233008" y="4530149"/>
            <a:ext cx="255872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40" name="Shape 32"/>
          <p:cNvSpPr/>
          <p:nvPr/>
        </p:nvSpPr>
        <p:spPr>
          <a:xfrm>
            <a:off x="6489040" y="4731317"/>
            <a:ext cx="457200" cy="457200"/>
          </a:xfrm>
          <a:prstGeom prst="ellipse">
            <a:avLst/>
          </a:prstGeom>
          <a:solidFill>
            <a:srgbClr val="22D3EE">
              <a:alpha val="16000"/>
            </a:srgbClr>
          </a:solidFill>
          <a:ln w="12700">
            <a:solidFill>
              <a:srgbClr val="22D3EE">
                <a:alpha val="45000"/>
              </a:srgbClr>
            </a:solidFill>
            <a:prstDash val="solid"/>
          </a:ln>
        </p:spPr>
      </p:sp>
      <p:pic>
        <p:nvPicPr>
          <p:cNvPr id="41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03340" y="4845617"/>
            <a:ext cx="228600" cy="228600"/>
          </a:xfrm>
          <a:prstGeom prst="rect">
            <a:avLst/>
          </a:prstGeom>
        </p:spPr>
      </p:pic>
      <p:sp>
        <p:nvSpPr>
          <p:cNvPr id="42" name="Text 33"/>
          <p:cNvSpPr txBox="1"/>
          <p:nvPr/>
        </p:nvSpPr>
        <p:spPr>
          <a:xfrm>
            <a:off x="7165696" y="4731317"/>
            <a:ext cx="135171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Yann LeCun</a:t>
            </a:r>
            <a:endParaRPr lang="en-US" sz="1450" dirty="0"/>
          </a:p>
        </p:txBody>
      </p:sp>
      <p:sp>
        <p:nvSpPr>
          <p:cNvPr id="43" name="Text 34"/>
          <p:cNvSpPr txBox="1"/>
          <p:nvPr/>
        </p:nvSpPr>
        <p:spPr>
          <a:xfrm>
            <a:off x="6507328" y="5334821"/>
            <a:ext cx="201008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Pioneer of convolutional networks, widely used for images.</a:t>
            </a:r>
            <a:endParaRPr lang="en-US" sz="1200" dirty="0"/>
          </a:p>
        </p:txBody>
      </p:sp>
      <p:sp>
        <p:nvSpPr>
          <p:cNvPr id="44" name="Shape 35"/>
          <p:cNvSpPr/>
          <p:nvPr/>
        </p:nvSpPr>
        <p:spPr>
          <a:xfrm>
            <a:off x="9066047" y="4530149"/>
            <a:ext cx="255872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45" name="Shape 36"/>
          <p:cNvSpPr/>
          <p:nvPr/>
        </p:nvSpPr>
        <p:spPr>
          <a:xfrm>
            <a:off x="9322079" y="4731317"/>
            <a:ext cx="457200" cy="457200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46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36379" y="4845617"/>
            <a:ext cx="228600" cy="228600"/>
          </a:xfrm>
          <a:prstGeom prst="rect">
            <a:avLst/>
          </a:prstGeom>
        </p:spPr>
      </p:pic>
      <p:sp>
        <p:nvSpPr>
          <p:cNvPr id="47" name="Text 37"/>
          <p:cNvSpPr txBox="1"/>
          <p:nvPr/>
        </p:nvSpPr>
        <p:spPr>
          <a:xfrm>
            <a:off x="9998735" y="4731317"/>
            <a:ext cx="135171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Yoshua Bengio</a:t>
            </a:r>
            <a:endParaRPr lang="en-US" sz="1450" dirty="0"/>
          </a:p>
        </p:txBody>
      </p:sp>
      <p:sp>
        <p:nvSpPr>
          <p:cNvPr id="48" name="Text 38"/>
          <p:cNvSpPr txBox="1"/>
          <p:nvPr/>
        </p:nvSpPr>
        <p:spPr>
          <a:xfrm>
            <a:off x="9340367" y="5334821"/>
            <a:ext cx="201008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Deep learning researcher, especially on learning representations of language.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BBF2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QUIZ 1 · SLIDES 1–10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Quiz 1 — Introduction to AI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Generative AI — Complete Beginner to Intermediate Guide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011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11057839" cy="848563"/>
          </a:xfrm>
          <a:prstGeom prst="roundRect">
            <a:avLst>
              <a:gd name="adj" fmla="val 8621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68096" y="1627632"/>
            <a:ext cx="310896" cy="310896"/>
          </a:xfrm>
          <a:prstGeom prst="ellipse">
            <a:avLst/>
          </a:prstGeom>
          <a:solidFill>
            <a:srgbClr val="FBBF24">
              <a:alpha val="22000"/>
            </a:srgbClr>
          </a:solidFill>
          <a:ln w="12700">
            <a:solidFill>
              <a:srgbClr val="FBBF24">
                <a:alpha val="5000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68096" y="1627632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BBF2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Q1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188720" y="1600200"/>
            <a:ext cx="8726119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Artificial Intelligence means: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10207447" y="1618488"/>
            <a:ext cx="1371600" cy="347472"/>
          </a:xfrm>
          <a:prstGeom prst="roundRect">
            <a:avLst>
              <a:gd name="adj" fmla="val 15789"/>
            </a:avLst>
          </a:prstGeom>
          <a:solidFill>
            <a:srgbClr val="A78BFA">
              <a:alpha val="20000"/>
            </a:srgbClr>
          </a:solidFill>
          <a:ln w="12700">
            <a:solidFill>
              <a:srgbClr val="A78BFA">
                <a:alpha val="60000"/>
              </a:srgbClr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207447" y="1618488"/>
            <a:ext cx="13716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Answer: A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1115568" y="2011680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A. </a:t>
            </a: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Computers doing tasks that need thinking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3674288" y="2011680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B. </a:t>
            </a:r>
            <a:r>
              <a:rPr lang="en-US" sz="11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Any computer program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6233008" y="2011680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C. </a:t>
            </a:r>
            <a:r>
              <a:rPr lang="en-US" sz="11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Only robots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8791727" y="2011680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D. </a:t>
            </a:r>
            <a:r>
              <a:rPr lang="en-US" sz="11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Only websites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66928" y="2457907"/>
            <a:ext cx="11057839" cy="848563"/>
          </a:xfrm>
          <a:prstGeom prst="roundRect">
            <a:avLst>
              <a:gd name="adj" fmla="val 8621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68096" y="2604211"/>
            <a:ext cx="310896" cy="310896"/>
          </a:xfrm>
          <a:prstGeom prst="ellipse">
            <a:avLst/>
          </a:prstGeom>
          <a:solidFill>
            <a:srgbClr val="FBBF24">
              <a:alpha val="22000"/>
            </a:srgbClr>
          </a:solidFill>
          <a:ln w="12700">
            <a:solidFill>
              <a:srgbClr val="FBBF24">
                <a:alpha val="50000"/>
              </a:srgbClr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68096" y="2604211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BBF2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Q2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1188720" y="2576779"/>
            <a:ext cx="8726119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Which type of AI exists today?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10207447" y="2595067"/>
            <a:ext cx="1371600" cy="347472"/>
          </a:xfrm>
          <a:prstGeom prst="roundRect">
            <a:avLst>
              <a:gd name="adj" fmla="val 15789"/>
            </a:avLst>
          </a:prstGeom>
          <a:solidFill>
            <a:srgbClr val="A78BFA">
              <a:alpha val="20000"/>
            </a:srgbClr>
          </a:solidFill>
          <a:ln w="12700">
            <a:solidFill>
              <a:srgbClr val="A78BFA">
                <a:alpha val="60000"/>
              </a:srgbClr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0207447" y="2595067"/>
            <a:ext cx="13716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Answer: B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1115568" y="2988259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A. </a:t>
            </a:r>
            <a:r>
              <a:rPr lang="en-US" sz="11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General AI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3674288" y="2988259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B. </a:t>
            </a: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Narrow AI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6233008" y="2988259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C. </a:t>
            </a:r>
            <a:r>
              <a:rPr lang="en-US" sz="11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Superintelligence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8791727" y="2988259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D. </a:t>
            </a:r>
            <a:r>
              <a:rPr lang="en-US" sz="11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Conscious AI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66928" y="3434486"/>
            <a:ext cx="11057839" cy="848563"/>
          </a:xfrm>
          <a:prstGeom prst="roundRect">
            <a:avLst>
              <a:gd name="adj" fmla="val 8621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768096" y="3580790"/>
            <a:ext cx="310896" cy="310896"/>
          </a:xfrm>
          <a:prstGeom prst="ellipse">
            <a:avLst/>
          </a:prstGeom>
          <a:solidFill>
            <a:srgbClr val="FBBF24">
              <a:alpha val="22000"/>
            </a:srgbClr>
          </a:solidFill>
          <a:ln w="12700">
            <a:solidFill>
              <a:srgbClr val="FBBF24">
                <a:alpha val="50000"/>
              </a:srgbClr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68096" y="3580790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BBF2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Q3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1188720" y="3553358"/>
            <a:ext cx="8726119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The term "artificial intelligence" was adopted at: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10207447" y="3571646"/>
            <a:ext cx="1371600" cy="347472"/>
          </a:xfrm>
          <a:prstGeom prst="roundRect">
            <a:avLst>
              <a:gd name="adj" fmla="val 15789"/>
            </a:avLst>
          </a:prstGeom>
          <a:solidFill>
            <a:srgbClr val="A78BFA">
              <a:alpha val="20000"/>
            </a:srgbClr>
          </a:solidFill>
          <a:ln w="12700">
            <a:solidFill>
              <a:srgbClr val="A78BFA">
                <a:alpha val="60000"/>
              </a:srgbClr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10207447" y="3571646"/>
            <a:ext cx="13716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Answer: C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1115568" y="3964838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A. </a:t>
            </a:r>
            <a:r>
              <a:rPr lang="en-US" sz="11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1990 conference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3674288" y="3964838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B. </a:t>
            </a:r>
            <a:r>
              <a:rPr lang="en-US" sz="11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2017 paper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6233008" y="3964838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C. </a:t>
            </a: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Dartmouth workshop, 1956</a:t>
            </a:r>
            <a:endParaRPr lang="en-US" sz="1050" dirty="0"/>
          </a:p>
        </p:txBody>
      </p:sp>
      <p:sp>
        <p:nvSpPr>
          <p:cNvPr id="35" name="Text 33"/>
          <p:cNvSpPr txBox="1"/>
          <p:nvPr/>
        </p:nvSpPr>
        <p:spPr>
          <a:xfrm>
            <a:off x="8791727" y="3964838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D. </a:t>
            </a:r>
            <a:r>
              <a:rPr lang="en-US" sz="11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2022 product launch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66928" y="4411066"/>
            <a:ext cx="11057839" cy="848563"/>
          </a:xfrm>
          <a:prstGeom prst="roundRect">
            <a:avLst>
              <a:gd name="adj" fmla="val 8621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768096" y="4557370"/>
            <a:ext cx="310896" cy="310896"/>
          </a:xfrm>
          <a:prstGeom prst="ellipse">
            <a:avLst/>
          </a:prstGeom>
          <a:solidFill>
            <a:srgbClr val="FBBF24">
              <a:alpha val="22000"/>
            </a:srgbClr>
          </a:solidFill>
          <a:ln w="12700">
            <a:solidFill>
              <a:srgbClr val="FBBF24">
                <a:alpha val="50000"/>
              </a:srgbClr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768096" y="4557370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BBF2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Q4</a:t>
            </a:r>
            <a:endParaRPr lang="en-US" sz="900" dirty="0"/>
          </a:p>
        </p:txBody>
      </p:sp>
      <p:sp>
        <p:nvSpPr>
          <p:cNvPr id="39" name="Text 37"/>
          <p:cNvSpPr txBox="1"/>
          <p:nvPr/>
        </p:nvSpPr>
        <p:spPr>
          <a:xfrm>
            <a:off x="1188720" y="4529938"/>
            <a:ext cx="8726119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Which is an everyday example of AI?</a:t>
            </a:r>
            <a:endParaRPr lang="en-US" sz="1250" dirty="0"/>
          </a:p>
        </p:txBody>
      </p:sp>
      <p:sp>
        <p:nvSpPr>
          <p:cNvPr id="40" name="Shape 38"/>
          <p:cNvSpPr/>
          <p:nvPr/>
        </p:nvSpPr>
        <p:spPr>
          <a:xfrm>
            <a:off x="10207447" y="4548226"/>
            <a:ext cx="1371600" cy="347472"/>
          </a:xfrm>
          <a:prstGeom prst="roundRect">
            <a:avLst>
              <a:gd name="adj" fmla="val 15789"/>
            </a:avLst>
          </a:prstGeom>
          <a:solidFill>
            <a:srgbClr val="A78BFA">
              <a:alpha val="20000"/>
            </a:srgbClr>
          </a:solidFill>
          <a:ln w="12700">
            <a:solidFill>
              <a:srgbClr val="A78BFA">
                <a:alpha val="60000"/>
              </a:srgbClr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10207447" y="4548226"/>
            <a:ext cx="13716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Answer: D</a:t>
            </a:r>
            <a:endParaRPr lang="en-US" sz="1050" dirty="0"/>
          </a:p>
        </p:txBody>
      </p:sp>
      <p:sp>
        <p:nvSpPr>
          <p:cNvPr id="42" name="Text 40"/>
          <p:cNvSpPr txBox="1"/>
          <p:nvPr/>
        </p:nvSpPr>
        <p:spPr>
          <a:xfrm>
            <a:off x="1115568" y="4941418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A. </a:t>
            </a:r>
            <a:r>
              <a:rPr lang="en-US" sz="11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paper calendar</a:t>
            </a:r>
            <a:endParaRPr lang="en-US" sz="1050" dirty="0"/>
          </a:p>
        </p:txBody>
      </p:sp>
      <p:sp>
        <p:nvSpPr>
          <p:cNvPr id="43" name="Text 41"/>
          <p:cNvSpPr txBox="1"/>
          <p:nvPr/>
        </p:nvSpPr>
        <p:spPr>
          <a:xfrm>
            <a:off x="3674288" y="4941418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B. </a:t>
            </a:r>
            <a:r>
              <a:rPr lang="en-US" sz="11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calculator key</a:t>
            </a:r>
            <a:endParaRPr lang="en-US" sz="1050" dirty="0"/>
          </a:p>
        </p:txBody>
      </p:sp>
      <p:sp>
        <p:nvSpPr>
          <p:cNvPr id="44" name="Text 42"/>
          <p:cNvSpPr txBox="1"/>
          <p:nvPr/>
        </p:nvSpPr>
        <p:spPr>
          <a:xfrm>
            <a:off x="6233008" y="4941418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C. </a:t>
            </a:r>
            <a:r>
              <a:rPr lang="en-US" sz="11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light switch</a:t>
            </a:r>
            <a:endParaRPr lang="en-US" sz="1050" dirty="0"/>
          </a:p>
        </p:txBody>
      </p:sp>
      <p:sp>
        <p:nvSpPr>
          <p:cNvPr id="45" name="Text 43"/>
          <p:cNvSpPr txBox="1"/>
          <p:nvPr/>
        </p:nvSpPr>
        <p:spPr>
          <a:xfrm>
            <a:off x="8791727" y="4941418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D. </a:t>
            </a: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Video recommendations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566928" y="5387645"/>
            <a:ext cx="11057839" cy="848563"/>
          </a:xfrm>
          <a:prstGeom prst="roundRect">
            <a:avLst>
              <a:gd name="adj" fmla="val 8621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768096" y="5533949"/>
            <a:ext cx="310896" cy="310896"/>
          </a:xfrm>
          <a:prstGeom prst="ellipse">
            <a:avLst/>
          </a:prstGeom>
          <a:solidFill>
            <a:srgbClr val="FBBF24">
              <a:alpha val="22000"/>
            </a:srgbClr>
          </a:solidFill>
          <a:ln w="12700">
            <a:solidFill>
              <a:srgbClr val="FBBF24">
                <a:alpha val="50000"/>
              </a:srgbClr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768096" y="5533949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BBF2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Q5</a:t>
            </a:r>
            <a:endParaRPr lang="en-US" sz="900" dirty="0"/>
          </a:p>
        </p:txBody>
      </p:sp>
      <p:sp>
        <p:nvSpPr>
          <p:cNvPr id="49" name="Text 47"/>
          <p:cNvSpPr txBox="1"/>
          <p:nvPr/>
        </p:nvSpPr>
        <p:spPr>
          <a:xfrm>
            <a:off x="1188720" y="5506517"/>
            <a:ext cx="8726119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AI was invented by:</a:t>
            </a:r>
            <a:endParaRPr lang="en-US" sz="1250" dirty="0"/>
          </a:p>
        </p:txBody>
      </p:sp>
      <p:sp>
        <p:nvSpPr>
          <p:cNvPr id="50" name="Shape 48"/>
          <p:cNvSpPr/>
          <p:nvPr/>
        </p:nvSpPr>
        <p:spPr>
          <a:xfrm>
            <a:off x="10207447" y="5524805"/>
            <a:ext cx="1371600" cy="347472"/>
          </a:xfrm>
          <a:prstGeom prst="roundRect">
            <a:avLst>
              <a:gd name="adj" fmla="val 15789"/>
            </a:avLst>
          </a:prstGeom>
          <a:solidFill>
            <a:srgbClr val="A78BFA">
              <a:alpha val="20000"/>
            </a:srgbClr>
          </a:solidFill>
          <a:ln w="12700">
            <a:solidFill>
              <a:srgbClr val="A78BFA">
                <a:alpha val="60000"/>
              </a:srgbClr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10207447" y="5524805"/>
            <a:ext cx="13716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Answer: A</a:t>
            </a:r>
            <a:endParaRPr lang="en-US" sz="1050" dirty="0"/>
          </a:p>
        </p:txBody>
      </p:sp>
      <p:sp>
        <p:nvSpPr>
          <p:cNvPr id="52" name="Text 50"/>
          <p:cNvSpPr txBox="1"/>
          <p:nvPr/>
        </p:nvSpPr>
        <p:spPr>
          <a:xfrm>
            <a:off x="1115568" y="5917997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A. </a:t>
            </a: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Many researchers over decades</a:t>
            </a:r>
            <a:endParaRPr lang="en-US" sz="1050" dirty="0"/>
          </a:p>
        </p:txBody>
      </p:sp>
      <p:sp>
        <p:nvSpPr>
          <p:cNvPr id="53" name="Text 51"/>
          <p:cNvSpPr txBox="1"/>
          <p:nvPr/>
        </p:nvSpPr>
        <p:spPr>
          <a:xfrm>
            <a:off x="3674288" y="5917997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B. </a:t>
            </a:r>
            <a:r>
              <a:rPr lang="en-US" sz="11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One single inventor</a:t>
            </a:r>
            <a:endParaRPr lang="en-US" sz="1050" dirty="0"/>
          </a:p>
        </p:txBody>
      </p:sp>
      <p:sp>
        <p:nvSpPr>
          <p:cNvPr id="54" name="Text 52"/>
          <p:cNvSpPr txBox="1"/>
          <p:nvPr/>
        </p:nvSpPr>
        <p:spPr>
          <a:xfrm>
            <a:off x="6233008" y="5917997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C. </a:t>
            </a:r>
            <a:r>
              <a:rPr lang="en-US" sz="11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One company in 2020</a:t>
            </a:r>
            <a:endParaRPr lang="en-US" sz="1050" dirty="0"/>
          </a:p>
        </p:txBody>
      </p:sp>
      <p:sp>
        <p:nvSpPr>
          <p:cNvPr id="55" name="Text 53"/>
          <p:cNvSpPr txBox="1"/>
          <p:nvPr/>
        </p:nvSpPr>
        <p:spPr>
          <a:xfrm>
            <a:off x="8791727" y="5917997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D. </a:t>
            </a:r>
            <a:r>
              <a:rPr lang="en-US" sz="11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One government office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49808" y="1874520"/>
            <a:ext cx="58521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SECTION 02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49808" y="2240280"/>
            <a:ext cx="6035040" cy="1554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From AI to Generative AI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749808" y="3886200"/>
            <a:ext cx="5852160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How the four big words fit inside each other, and what makes Gen AI different.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49808" y="4846320"/>
            <a:ext cx="1463040" cy="64008"/>
          </a:xfrm>
          <a:prstGeom prst="roundRect">
            <a:avLst>
              <a:gd name="adj" fmla="val 42857"/>
            </a:avLst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32320" y="1143000"/>
            <a:ext cx="4492447" cy="797357"/>
          </a:xfrm>
          <a:prstGeom prst="roundRect">
            <a:avLst>
              <a:gd name="adj" fmla="val 9174"/>
            </a:avLst>
          </a:prstGeom>
          <a:solidFill>
            <a:srgbClr val="191640"/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51776" y="1313078"/>
            <a:ext cx="457200" cy="457200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66076" y="1427378"/>
            <a:ext cx="228600" cy="22860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8010144" y="1143000"/>
            <a:ext cx="3303727" cy="79735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Machine Learning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7132320" y="2086661"/>
            <a:ext cx="4492447" cy="797357"/>
          </a:xfrm>
          <a:prstGeom prst="roundRect">
            <a:avLst>
              <a:gd name="adj" fmla="val 9174"/>
            </a:avLst>
          </a:prstGeom>
          <a:solidFill>
            <a:srgbClr val="191640"/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7351776" y="2256739"/>
            <a:ext cx="457200" cy="457200"/>
          </a:xfrm>
          <a:prstGeom prst="ellipse">
            <a:avLst/>
          </a:prstGeom>
          <a:solidFill>
            <a:srgbClr val="22D3EE">
              <a:alpha val="16000"/>
            </a:srgbClr>
          </a:solidFill>
          <a:ln w="12700">
            <a:solidFill>
              <a:srgbClr val="22D3EE">
                <a:alpha val="45000"/>
              </a:srgbClr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6076" y="2371039"/>
            <a:ext cx="228600" cy="22860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8010144" y="2086661"/>
            <a:ext cx="3303727" cy="79735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Deep Learning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7132320" y="3030322"/>
            <a:ext cx="4492447" cy="797357"/>
          </a:xfrm>
          <a:prstGeom prst="roundRect">
            <a:avLst>
              <a:gd name="adj" fmla="val 9174"/>
            </a:avLst>
          </a:prstGeom>
          <a:solidFill>
            <a:srgbClr val="191640"/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351776" y="3200400"/>
            <a:ext cx="457200" cy="457200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6076" y="3314700"/>
            <a:ext cx="228600" cy="22860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010144" y="3030322"/>
            <a:ext cx="3303727" cy="79735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Generative AI</a:t>
            </a:r>
            <a:endParaRPr lang="en-US" sz="1350" dirty="0"/>
          </a:p>
        </p:txBody>
      </p:sp>
      <p:sp>
        <p:nvSpPr>
          <p:cNvPr id="18" name="Shape 13"/>
          <p:cNvSpPr/>
          <p:nvPr/>
        </p:nvSpPr>
        <p:spPr>
          <a:xfrm>
            <a:off x="7132320" y="3973982"/>
            <a:ext cx="4492447" cy="797357"/>
          </a:xfrm>
          <a:prstGeom prst="roundRect">
            <a:avLst>
              <a:gd name="adj" fmla="val 9174"/>
            </a:avLst>
          </a:prstGeom>
          <a:solidFill>
            <a:srgbClr val="191640"/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7351776" y="4144061"/>
            <a:ext cx="457200" cy="457200"/>
          </a:xfrm>
          <a:prstGeom prst="ellipse">
            <a:avLst/>
          </a:prstGeom>
          <a:solidFill>
            <a:srgbClr val="34D399">
              <a:alpha val="16000"/>
            </a:srgbClr>
          </a:solidFill>
          <a:ln w="12700">
            <a:solidFill>
              <a:srgbClr val="34D399">
                <a:alpha val="45000"/>
              </a:srgbClr>
            </a:solidFill>
            <a:prstDash val="solid"/>
          </a:ln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66076" y="4258361"/>
            <a:ext cx="228600" cy="22860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8010144" y="3973982"/>
            <a:ext cx="3303727" cy="79735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Clear Comparisons</a:t>
            </a:r>
            <a:endParaRPr lang="en-US" sz="1350" dirty="0"/>
          </a:p>
        </p:txBody>
      </p:sp>
      <p:sp>
        <p:nvSpPr>
          <p:cNvPr id="22" name="Shape 16"/>
          <p:cNvSpPr/>
          <p:nvPr/>
        </p:nvSpPr>
        <p:spPr>
          <a:xfrm>
            <a:off x="7132320" y="4917643"/>
            <a:ext cx="4492447" cy="797357"/>
          </a:xfrm>
          <a:prstGeom prst="roundRect">
            <a:avLst>
              <a:gd name="adj" fmla="val 9174"/>
            </a:avLst>
          </a:prstGeom>
          <a:solidFill>
            <a:srgbClr val="191640"/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7351776" y="5087722"/>
            <a:ext cx="457200" cy="457200"/>
          </a:xfrm>
          <a:prstGeom prst="ellipse">
            <a:avLst/>
          </a:prstGeom>
          <a:solidFill>
            <a:srgbClr val="F472B6">
              <a:alpha val="16000"/>
            </a:srgbClr>
          </a:solidFill>
          <a:ln w="12700">
            <a:solidFill>
              <a:srgbClr val="F472B6">
                <a:alpha val="45000"/>
              </a:srgbClr>
            </a:solidFill>
            <a:prstDash val="solid"/>
          </a:ln>
        </p:spPr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66076" y="5202022"/>
            <a:ext cx="228600" cy="228600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8010144" y="4917643"/>
            <a:ext cx="3303727" cy="79735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What Gen AI Creates</a:t>
            </a:r>
            <a:endParaRPr lang="en-US" sz="1350" dirty="0"/>
          </a:p>
        </p:txBody>
      </p:sp>
      <p:sp>
        <p:nvSpPr>
          <p:cNvPr id="26" name="Text 19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Section 2 · AI → ML → Deep Learning → Gen AI</a:t>
            </a:r>
            <a:endParaRPr lang="en-US" sz="950" dirty="0"/>
          </a:p>
        </p:txBody>
      </p:sp>
      <p:sp>
        <p:nvSpPr>
          <p:cNvPr id="27" name="Text 20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012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SLIDE 11 · COMPARE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AI vs Machine Learning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Section 2 · AI → ML → Deep Learning → Gen AI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013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5364328" cy="3840480"/>
          </a:xfrm>
          <a:prstGeom prst="roundRect">
            <a:avLst>
              <a:gd name="adj" fmla="val 1905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41248" y="1737360"/>
            <a:ext cx="530352" cy="530352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3836" y="1869948"/>
            <a:ext cx="265176" cy="265176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591056" y="1737360"/>
            <a:ext cx="4047592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A78BF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Artificial Intelligence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877824" y="2505456"/>
            <a:ext cx="4742536" cy="261518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▪"/>
            </a:pPr>
            <a:r>
              <a:rPr lang="en-US" sz="135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wide goal: make machines act intelligently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▪"/>
            </a:pPr>
            <a:r>
              <a:rPr lang="en-US" sz="135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Includes rule-based systems too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▪"/>
            </a:pPr>
            <a:r>
              <a:rPr lang="en-US" sz="135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Older idea, from the 1950s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▪"/>
            </a:pPr>
            <a:r>
              <a:rPr lang="en-US" sz="135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Example: a rule-based chess program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6260440" y="1481328"/>
            <a:ext cx="5364328" cy="3840480"/>
          </a:xfrm>
          <a:prstGeom prst="roundRect">
            <a:avLst>
              <a:gd name="adj" fmla="val 1905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534760" y="1737360"/>
            <a:ext cx="530352" cy="530352"/>
          </a:xfrm>
          <a:prstGeom prst="ellipse">
            <a:avLst/>
          </a:prstGeom>
          <a:solidFill>
            <a:srgbClr val="22D3EE">
              <a:alpha val="16000"/>
            </a:srgbClr>
          </a:solidFill>
          <a:ln w="12700">
            <a:solidFill>
              <a:srgbClr val="22D3EE">
                <a:alpha val="45000"/>
              </a:srgbClr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7348" y="1869948"/>
            <a:ext cx="265176" cy="265176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7284568" y="1737360"/>
            <a:ext cx="4047592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2D3E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Machine Learning</a:t>
            </a:r>
            <a:endParaRPr lang="en-US" sz="1800" dirty="0"/>
          </a:p>
        </p:txBody>
      </p:sp>
      <p:sp>
        <p:nvSpPr>
          <p:cNvPr id="15" name="Text 11"/>
          <p:cNvSpPr txBox="1"/>
          <p:nvPr/>
        </p:nvSpPr>
        <p:spPr>
          <a:xfrm>
            <a:off x="6571336" y="2505456"/>
            <a:ext cx="4742536" cy="261518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▪"/>
            </a:pPr>
            <a:r>
              <a:rPr lang="en-US" sz="135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One way of achieving AI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▪"/>
            </a:pPr>
            <a:r>
              <a:rPr lang="en-US" sz="135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machine learns patterns from data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▪"/>
            </a:pPr>
            <a:r>
              <a:rPr lang="en-US" sz="135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Nobody writes the rules by hand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▪"/>
            </a:pPr>
            <a:r>
              <a:rPr lang="en-US" sz="135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Example: a spam filter trained on real emails</a:t>
            </a:r>
            <a:endParaRPr lang="en-US" sz="1350" dirty="0"/>
          </a:p>
        </p:txBody>
      </p:sp>
      <p:sp>
        <p:nvSpPr>
          <p:cNvPr id="16" name="Shape 12"/>
          <p:cNvSpPr/>
          <p:nvPr/>
        </p:nvSpPr>
        <p:spPr>
          <a:xfrm>
            <a:off x="566928" y="5458968"/>
            <a:ext cx="11057839" cy="777240"/>
          </a:xfrm>
          <a:prstGeom prst="roundRect">
            <a:avLst>
              <a:gd name="adj" fmla="val 9412"/>
            </a:avLst>
          </a:prstGeom>
          <a:solidFill>
            <a:srgbClr val="191640">
              <a:alpha val="96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7" name="Text 13"/>
          <p:cNvSpPr txBox="1"/>
          <p:nvPr/>
        </p:nvSpPr>
        <p:spPr>
          <a:xfrm>
            <a:off x="841248" y="5550408"/>
            <a:ext cx="10509199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22D3E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Key point:  </a:t>
            </a:r>
            <a:r>
              <a:rPr lang="en-US" sz="13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Machine learning is a part of AI. All machine learning is AI, but not all AI is machine learning.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SLIDE 12 · DEFINITION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What is Machine Learning?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Section 2 · AI → ML → Deep Learning → Gen AI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014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11057839" cy="877824"/>
          </a:xfrm>
          <a:prstGeom prst="roundRect">
            <a:avLst>
              <a:gd name="adj" fmla="val 8333"/>
            </a:avLst>
          </a:prstGeom>
          <a:solidFill>
            <a:srgbClr val="191640">
              <a:alpha val="96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6928" y="1627632"/>
            <a:ext cx="64008" cy="585216"/>
          </a:xfrm>
          <a:prstGeom prst="roundRect">
            <a:avLst>
              <a:gd name="adj" fmla="val 42857"/>
            </a:avLst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59536" y="1572768"/>
            <a:ext cx="10472623" cy="6949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DDD9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Machine learning means a computer learns rules from examples instead of being given the rules.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66928" y="2615184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22960" y="2816352"/>
            <a:ext cx="457200" cy="457200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2930652"/>
            <a:ext cx="228600" cy="22860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499616" y="2816352"/>
            <a:ext cx="41847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Simple Explanation</a:t>
            </a:r>
            <a:endParaRPr lang="en-US" sz="1450" dirty="0"/>
          </a:p>
        </p:txBody>
      </p:sp>
      <p:sp>
        <p:nvSpPr>
          <p:cNvPr id="13" name="Text 10"/>
          <p:cNvSpPr txBox="1"/>
          <p:nvPr/>
        </p:nvSpPr>
        <p:spPr>
          <a:xfrm>
            <a:off x="841248" y="3419856"/>
            <a:ext cx="484312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Show a child many photos of cats and dogs and they learn the difference. Machine learning works in a similar way.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33008" y="2615184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489040" y="2816352"/>
            <a:ext cx="457200" cy="457200"/>
          </a:xfrm>
          <a:prstGeom prst="ellipse">
            <a:avLst/>
          </a:prstGeom>
          <a:solidFill>
            <a:srgbClr val="22D3EE">
              <a:alpha val="16000"/>
            </a:srgbClr>
          </a:solidFill>
          <a:ln w="12700">
            <a:solidFill>
              <a:srgbClr val="22D3EE">
                <a:alpha val="45000"/>
              </a:srgbClr>
            </a:solidFill>
            <a:prstDash val="solid"/>
          </a:ln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3340" y="2930652"/>
            <a:ext cx="228600" cy="22860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7165696" y="2816352"/>
            <a:ext cx="41847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Traditional Programming</a:t>
            </a:r>
            <a:endParaRPr lang="en-US" sz="1450" dirty="0"/>
          </a:p>
        </p:txBody>
      </p:sp>
      <p:sp>
        <p:nvSpPr>
          <p:cNvPr id="18" name="Text 14"/>
          <p:cNvSpPr txBox="1"/>
          <p:nvPr/>
        </p:nvSpPr>
        <p:spPr>
          <a:xfrm>
            <a:off x="6507328" y="3419856"/>
            <a:ext cx="484312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You write: if the email contains this word, mark it as spam. Every rule is written by a human.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566928" y="4530149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822960" y="4731317"/>
            <a:ext cx="457200" cy="457200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260" y="4845617"/>
            <a:ext cx="228600" cy="22860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499616" y="4731317"/>
            <a:ext cx="41847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Machine Learning</a:t>
            </a:r>
            <a:endParaRPr lang="en-US" sz="1450" dirty="0"/>
          </a:p>
        </p:txBody>
      </p:sp>
      <p:sp>
        <p:nvSpPr>
          <p:cNvPr id="23" name="Text 18"/>
          <p:cNvSpPr txBox="1"/>
          <p:nvPr/>
        </p:nvSpPr>
        <p:spPr>
          <a:xfrm>
            <a:off x="841248" y="5334821"/>
            <a:ext cx="484312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You give thousands of labelled emails. The system works out the pattern by itself.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6233008" y="4530149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6489040" y="4731317"/>
            <a:ext cx="457200" cy="457200"/>
          </a:xfrm>
          <a:prstGeom prst="ellipse">
            <a:avLst/>
          </a:prstGeom>
          <a:solidFill>
            <a:srgbClr val="34D399">
              <a:alpha val="16000"/>
            </a:srgbClr>
          </a:solidFill>
          <a:ln w="12700">
            <a:solidFill>
              <a:srgbClr val="34D399">
                <a:alpha val="45000"/>
              </a:srgbClr>
            </a:solidFill>
            <a:prstDash val="solid"/>
          </a:ln>
        </p:spPr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3340" y="4845617"/>
            <a:ext cx="228600" cy="228600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7165696" y="4731317"/>
            <a:ext cx="41847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Important Limit</a:t>
            </a:r>
            <a:endParaRPr lang="en-US" sz="1450" dirty="0"/>
          </a:p>
        </p:txBody>
      </p:sp>
      <p:sp>
        <p:nvSpPr>
          <p:cNvPr id="28" name="Text 22"/>
          <p:cNvSpPr txBox="1"/>
          <p:nvPr/>
        </p:nvSpPr>
        <p:spPr>
          <a:xfrm>
            <a:off x="6507328" y="5334821"/>
            <a:ext cx="484312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result is only as good as the data. Poor or biased data gives a poor or biased model.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SLIDE 13 · PROCESS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How Machine Learning Works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Section 2 · AI → ML → Deep Learning → Gen AI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015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2464308"/>
            <a:ext cx="2387270" cy="1691640"/>
          </a:xfrm>
          <a:prstGeom prst="roundRect">
            <a:avLst>
              <a:gd name="adj" fmla="val 4324"/>
            </a:avLst>
          </a:prstGeom>
          <a:solidFill>
            <a:srgbClr val="191640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586827" y="2290572"/>
            <a:ext cx="347472" cy="347472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586827" y="2290572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0A1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94944" y="2738628"/>
            <a:ext cx="213123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A78BF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Data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94944" y="3195828"/>
            <a:ext cx="2131238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Collect many examples, often with labels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045638" y="3191256"/>
            <a:ext cx="320040" cy="237744"/>
          </a:xfrm>
          <a:prstGeom prst="rightArrow">
            <a:avLst/>
          </a:prstGeom>
          <a:solidFill>
            <a:srgbClr val="22D3EE">
              <a:alpha val="70000"/>
            </a:srgbClr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57118" y="2464308"/>
            <a:ext cx="2387270" cy="1691640"/>
          </a:xfrm>
          <a:prstGeom prst="roundRect">
            <a:avLst>
              <a:gd name="adj" fmla="val 4324"/>
            </a:avLst>
          </a:prstGeom>
          <a:solidFill>
            <a:srgbClr val="191640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477017" y="2290572"/>
            <a:ext cx="347472" cy="34747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477017" y="2290572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0A1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3585134" y="2738628"/>
            <a:ext cx="213123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2D3E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Training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3585134" y="3195828"/>
            <a:ext cx="2131238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system adjusts itself to fit the patterns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935828" y="3191256"/>
            <a:ext cx="320040" cy="237744"/>
          </a:xfrm>
          <a:prstGeom prst="rightArrow">
            <a:avLst/>
          </a:prstGeom>
          <a:solidFill>
            <a:srgbClr val="22D3EE">
              <a:alpha val="70000"/>
            </a:srgbClr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347308" y="2464308"/>
            <a:ext cx="2387270" cy="1691640"/>
          </a:xfrm>
          <a:prstGeom prst="roundRect">
            <a:avLst>
              <a:gd name="adj" fmla="val 4324"/>
            </a:avLst>
          </a:prstGeom>
          <a:solidFill>
            <a:srgbClr val="191640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367207" y="2290572"/>
            <a:ext cx="347472" cy="347472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367207" y="2290572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0A1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6475324" y="2738628"/>
            <a:ext cx="213123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BBF2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Model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475324" y="3195828"/>
            <a:ext cx="2131238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learned result is saved as a model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8826017" y="3191256"/>
            <a:ext cx="320040" cy="237744"/>
          </a:xfrm>
          <a:prstGeom prst="rightArrow">
            <a:avLst/>
          </a:prstGeom>
          <a:solidFill>
            <a:srgbClr val="22D3EE">
              <a:alpha val="70000"/>
            </a:srgbClr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237497" y="2464308"/>
            <a:ext cx="2387270" cy="1691640"/>
          </a:xfrm>
          <a:prstGeom prst="roundRect">
            <a:avLst>
              <a:gd name="adj" fmla="val 4324"/>
            </a:avLst>
          </a:prstGeom>
          <a:solidFill>
            <a:srgbClr val="191640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10257396" y="2290572"/>
            <a:ext cx="347472" cy="347472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10257396" y="2290572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0A1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4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9365513" y="2738628"/>
            <a:ext cx="213123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4D39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Prediction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9365513" y="3195828"/>
            <a:ext cx="2131238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New data goes in, an answer comes out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566928" y="5276088"/>
            <a:ext cx="11057839" cy="960120"/>
          </a:xfrm>
          <a:prstGeom prst="roundRect">
            <a:avLst>
              <a:gd name="adj" fmla="val 7619"/>
            </a:avLst>
          </a:prstGeom>
          <a:solidFill>
            <a:srgbClr val="191640">
              <a:alpha val="96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30" name="Text 28"/>
          <p:cNvSpPr txBox="1"/>
          <p:nvPr/>
        </p:nvSpPr>
        <p:spPr>
          <a:xfrm>
            <a:off x="841248" y="5385816"/>
            <a:ext cx="10509199" cy="7406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A78BF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Remember:  </a:t>
            </a:r>
            <a:r>
              <a:rPr lang="en-US" sz="13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Training happens once and takes a long time. Prediction happens millions of times and is very fast.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SLIDE 14 · CATEGORIES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Types of Machine Learning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Section 2 · AI → ML → Deep Learning → Gen AI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016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3503066" cy="4754880"/>
          </a:xfrm>
          <a:prstGeom prst="roundRect">
            <a:avLst>
              <a:gd name="adj" fmla="val 20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1737360"/>
            <a:ext cx="566928" cy="566928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4692" y="1879092"/>
            <a:ext cx="283464" cy="283464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609344" y="1737360"/>
            <a:ext cx="218633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Supervised Learning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841248" y="2505456"/>
            <a:ext cx="2954426" cy="35478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Learns from labelled examples. Example: photos already marked "cat" or "dog". Used for prediction and classification.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344314" y="1481328"/>
            <a:ext cx="3503066" cy="4754880"/>
          </a:xfrm>
          <a:prstGeom prst="roundRect">
            <a:avLst>
              <a:gd name="adj" fmla="val 20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600346" y="1737360"/>
            <a:ext cx="566928" cy="566928"/>
          </a:xfrm>
          <a:prstGeom prst="ellipse">
            <a:avLst/>
          </a:prstGeom>
          <a:solidFill>
            <a:srgbClr val="22D3EE">
              <a:alpha val="16000"/>
            </a:srgbClr>
          </a:solidFill>
          <a:ln w="12700">
            <a:solidFill>
              <a:srgbClr val="22D3EE">
                <a:alpha val="45000"/>
              </a:srgbClr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2078" y="1879092"/>
            <a:ext cx="283464" cy="283464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5386730" y="1737360"/>
            <a:ext cx="218633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Unsupervised Learning</a:t>
            </a:r>
            <a:endParaRPr lang="en-US" sz="1600" dirty="0"/>
          </a:p>
        </p:txBody>
      </p:sp>
      <p:sp>
        <p:nvSpPr>
          <p:cNvPr id="15" name="Text 11"/>
          <p:cNvSpPr txBox="1"/>
          <p:nvPr/>
        </p:nvSpPr>
        <p:spPr>
          <a:xfrm>
            <a:off x="4618634" y="2505456"/>
            <a:ext cx="2954426" cy="35478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 labels given. The system finds groups and structure by itself. Example: grouping customers by behaviour.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8121701" y="1481328"/>
            <a:ext cx="3503066" cy="4754880"/>
          </a:xfrm>
          <a:prstGeom prst="roundRect">
            <a:avLst>
              <a:gd name="adj" fmla="val 20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377733" y="1737360"/>
            <a:ext cx="566928" cy="566928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9465" y="1879092"/>
            <a:ext cx="283464" cy="283464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9164117" y="1737360"/>
            <a:ext cx="218633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Reinforcement Learning</a:t>
            </a:r>
            <a:endParaRPr lang="en-US" sz="1600" dirty="0"/>
          </a:p>
        </p:txBody>
      </p:sp>
      <p:sp>
        <p:nvSpPr>
          <p:cNvPr id="20" name="Text 15"/>
          <p:cNvSpPr txBox="1"/>
          <p:nvPr/>
        </p:nvSpPr>
        <p:spPr>
          <a:xfrm>
            <a:off x="8396021" y="2505456"/>
            <a:ext cx="2954426" cy="35478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Learns by trying actions and receiving rewards or penalties. Example: a program learning to play a game.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SLIDE 15 · DEFINITION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What is Deep Learning?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Section 2 · AI → ML → Deep Learning → Gen AI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017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11057839" cy="877824"/>
          </a:xfrm>
          <a:prstGeom prst="roundRect">
            <a:avLst>
              <a:gd name="adj" fmla="val 8333"/>
            </a:avLst>
          </a:prstGeom>
          <a:solidFill>
            <a:srgbClr val="191640">
              <a:alpha val="96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6928" y="1627632"/>
            <a:ext cx="64008" cy="585216"/>
          </a:xfrm>
          <a:prstGeom prst="roundRect">
            <a:avLst>
              <a:gd name="adj" fmla="val 42857"/>
            </a:avLst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59536" y="1572768"/>
            <a:ext cx="10472623" cy="6949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DDD9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Deep learning is machine learning that uses neural networks with many layers.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66928" y="2615184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22960" y="2816352"/>
            <a:ext cx="457200" cy="457200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2930652"/>
            <a:ext cx="228600" cy="22860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499616" y="2816352"/>
            <a:ext cx="41847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Why "Deep"</a:t>
            </a:r>
            <a:endParaRPr lang="en-US" sz="1450" dirty="0"/>
          </a:p>
        </p:txBody>
      </p:sp>
      <p:sp>
        <p:nvSpPr>
          <p:cNvPr id="13" name="Text 10"/>
          <p:cNvSpPr txBox="1"/>
          <p:nvPr/>
        </p:nvSpPr>
        <p:spPr>
          <a:xfrm>
            <a:off x="841248" y="3419856"/>
            <a:ext cx="484312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Because the network has many layers stacked one after another — sometimes dozens or hundreds.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33008" y="2615184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489040" y="2816352"/>
            <a:ext cx="457200" cy="457200"/>
          </a:xfrm>
          <a:prstGeom prst="ellipse">
            <a:avLst/>
          </a:prstGeom>
          <a:solidFill>
            <a:srgbClr val="22D3EE">
              <a:alpha val="16000"/>
            </a:srgbClr>
          </a:solidFill>
          <a:ln w="12700">
            <a:solidFill>
              <a:srgbClr val="22D3EE">
                <a:alpha val="45000"/>
              </a:srgbClr>
            </a:solidFill>
            <a:prstDash val="solid"/>
          </a:ln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3340" y="2930652"/>
            <a:ext cx="228600" cy="22860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7165696" y="2816352"/>
            <a:ext cx="41847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The Big Advantage</a:t>
            </a:r>
            <a:endParaRPr lang="en-US" sz="1450" dirty="0"/>
          </a:p>
        </p:txBody>
      </p:sp>
      <p:sp>
        <p:nvSpPr>
          <p:cNvPr id="18" name="Text 14"/>
          <p:cNvSpPr txBox="1"/>
          <p:nvPr/>
        </p:nvSpPr>
        <p:spPr>
          <a:xfrm>
            <a:off x="6507328" y="3419856"/>
            <a:ext cx="484312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It finds useful features by itself. Older methods needed humans to decide which features mattered.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566928" y="4530149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822960" y="4731317"/>
            <a:ext cx="457200" cy="457200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260" y="4845617"/>
            <a:ext cx="228600" cy="22860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499616" y="4731317"/>
            <a:ext cx="41847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Where It Shines</a:t>
            </a:r>
            <a:endParaRPr lang="en-US" sz="1450" dirty="0"/>
          </a:p>
        </p:txBody>
      </p:sp>
      <p:sp>
        <p:nvSpPr>
          <p:cNvPr id="23" name="Text 18"/>
          <p:cNvSpPr txBox="1"/>
          <p:nvPr/>
        </p:nvSpPr>
        <p:spPr>
          <a:xfrm>
            <a:off x="841248" y="5334821"/>
            <a:ext cx="484312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Images and video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Speech and audio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Language and text</a:t>
            </a:r>
            <a:endParaRPr lang="en-US" sz="1150" dirty="0"/>
          </a:p>
        </p:txBody>
      </p:sp>
      <p:sp>
        <p:nvSpPr>
          <p:cNvPr id="24" name="Shape 19"/>
          <p:cNvSpPr/>
          <p:nvPr/>
        </p:nvSpPr>
        <p:spPr>
          <a:xfrm>
            <a:off x="6233008" y="4530149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6489040" y="4731317"/>
            <a:ext cx="457200" cy="457200"/>
          </a:xfrm>
          <a:prstGeom prst="ellipse">
            <a:avLst/>
          </a:prstGeom>
          <a:solidFill>
            <a:srgbClr val="34D399">
              <a:alpha val="16000"/>
            </a:srgbClr>
          </a:solidFill>
          <a:ln w="12700">
            <a:solidFill>
              <a:srgbClr val="34D399">
                <a:alpha val="45000"/>
              </a:srgbClr>
            </a:solidFill>
            <a:prstDash val="solid"/>
          </a:ln>
        </p:spPr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3340" y="4845617"/>
            <a:ext cx="228600" cy="228600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7165696" y="4731317"/>
            <a:ext cx="41847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What It Needs</a:t>
            </a:r>
            <a:endParaRPr lang="en-US" sz="1450" dirty="0"/>
          </a:p>
        </p:txBody>
      </p:sp>
      <p:sp>
        <p:nvSpPr>
          <p:cNvPr id="28" name="Text 22"/>
          <p:cNvSpPr txBox="1"/>
          <p:nvPr/>
        </p:nvSpPr>
        <p:spPr>
          <a:xfrm>
            <a:off x="6507328" y="5334821"/>
            <a:ext cx="484312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Large amounts of data and strong computing hardware such as GPUs.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SLIDE 16 · STRUCTURE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Neural Networks — The Basic Shape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Section 2 · AI → ML → Deep Learning → Gen AI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018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481328"/>
            <a:ext cx="11057839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DDD9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Information flows from left to right through simple connected units.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66928" y="2747772"/>
            <a:ext cx="3350666" cy="1691640"/>
          </a:xfrm>
          <a:prstGeom prst="roundRect">
            <a:avLst>
              <a:gd name="adj" fmla="val 4324"/>
            </a:avLst>
          </a:prstGeom>
          <a:solidFill>
            <a:srgbClr val="191640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068525" y="2574036"/>
            <a:ext cx="347472" cy="347472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068525" y="2574036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0A1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94944" y="3022092"/>
            <a:ext cx="3094634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A78BF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Input Layer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94944" y="3479292"/>
            <a:ext cx="3094634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Receives the raw data: pixels, words or numbers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009034" y="3474720"/>
            <a:ext cx="320040" cy="237744"/>
          </a:xfrm>
          <a:prstGeom prst="rightArrow">
            <a:avLst/>
          </a:prstGeom>
          <a:solidFill>
            <a:srgbClr val="22D3EE">
              <a:alpha val="70000"/>
            </a:srgbClr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420514" y="2747772"/>
            <a:ext cx="3350666" cy="1691640"/>
          </a:xfrm>
          <a:prstGeom prst="roundRect">
            <a:avLst>
              <a:gd name="adj" fmla="val 4324"/>
            </a:avLst>
          </a:prstGeom>
          <a:solidFill>
            <a:srgbClr val="191640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922112" y="2574036"/>
            <a:ext cx="347472" cy="34747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922112" y="2574036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0A1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4548530" y="3022092"/>
            <a:ext cx="3094634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2D3E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Hidden Layers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4548530" y="3479292"/>
            <a:ext cx="3094634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Find patterns, from simple shapes to complex meaning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7862621" y="3474720"/>
            <a:ext cx="320040" cy="237744"/>
          </a:xfrm>
          <a:prstGeom prst="rightArrow">
            <a:avLst/>
          </a:prstGeom>
          <a:solidFill>
            <a:srgbClr val="22D3EE">
              <a:alpha val="70000"/>
            </a:srgbClr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274101" y="2747772"/>
            <a:ext cx="3350666" cy="1691640"/>
          </a:xfrm>
          <a:prstGeom prst="roundRect">
            <a:avLst>
              <a:gd name="adj" fmla="val 4324"/>
            </a:avLst>
          </a:prstGeom>
          <a:solidFill>
            <a:srgbClr val="191640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775698" y="2574036"/>
            <a:ext cx="347472" cy="347472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775698" y="2574036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0A1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8402117" y="3022092"/>
            <a:ext cx="3094634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4D39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Output Layer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8402117" y="3479292"/>
            <a:ext cx="3094634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Produces the final answer or prediction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66928" y="5276088"/>
            <a:ext cx="11057839" cy="960120"/>
          </a:xfrm>
          <a:prstGeom prst="roundRect">
            <a:avLst>
              <a:gd name="adj" fmla="val 7619"/>
            </a:avLst>
          </a:prstGeom>
          <a:solidFill>
            <a:srgbClr val="191640">
              <a:alpha val="96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841248" y="5385816"/>
            <a:ext cx="10509199" cy="7406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A78BF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Remember:  </a:t>
            </a:r>
            <a:r>
              <a:rPr lang="en-US" sz="13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Each connection has a weight. Training means adjusting millions of these weights until the answers become good.</a:t>
            </a:r>
            <a:endParaRPr lang="en-US" sz="13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SLIDE 17 · COMPARE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Machine Learning vs Deep Learning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Section 2 · AI → ML → Deep Learning → Gen AI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019</a:t>
            </a:r>
            <a:endParaRPr lang="en-US" sz="95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/>
        </p:nvGraphicFramePr>
        <p:xfrm>
          <a:off x="566928" y="1481328"/>
          <a:ext cx="11057839" cy="3533244"/>
        </p:xfrm>
        <a:graphic>
          <a:graphicData uri="http://schemas.openxmlformats.org/drawingml/2006/table">
            <a:tbl>
              <a:tblPr/>
              <a:tblGrid>
                <a:gridCol w="2926080"/>
                <a:gridCol w="4069080"/>
                <a:gridCol w="4062679"/>
              </a:tblGrid>
              <a:tr h="58887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0B0A1E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Point</a:t>
                      </a:r>
                      <a:endParaRPr lang="en-US" sz="13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22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22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22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22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78B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0B0A1E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Machine Learning</a:t>
                      </a:r>
                      <a:endParaRPr lang="en-US" sz="13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22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22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22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22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78B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0B0A1E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Deep Learning</a:t>
                      </a:r>
                      <a:endParaRPr lang="en-US" sz="13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22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22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22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22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78BFA"/>
                    </a:solidFill>
                  </a:tcPr>
                </a:tc>
              </a:tr>
              <a:tr h="58887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Features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22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22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22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22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6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BFC2E4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Humans choose the useful features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22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22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22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22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6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BFC2E4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The network learns features itself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22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22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22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22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640"/>
                    </a:solidFill>
                  </a:tcPr>
                </a:tc>
              </a:tr>
              <a:tr h="58887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Data needed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22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22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22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22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0F2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BFC2E4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Works with smaller datasets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22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22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22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22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0F2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BFC2E4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Usually needs very large datasets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22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22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22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22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0F29"/>
                    </a:solidFill>
                  </a:tcPr>
                </a:tc>
              </a:tr>
              <a:tr h="58887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Hardware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22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22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22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22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6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BFC2E4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 normal computer is often enough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22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22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22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22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6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BFC2E4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Usually needs GPUs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22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22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22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22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640"/>
                    </a:solidFill>
                  </a:tcPr>
                </a:tc>
              </a:tr>
              <a:tr h="58887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Best for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22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22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22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22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0F2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BFC2E4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Tables, numbers, simple prediction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22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22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22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22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0F2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BFC2E4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Images, speech, language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22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22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22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22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0F29"/>
                    </a:solidFill>
                  </a:tcPr>
                </a:tc>
              </a:tr>
              <a:tr h="58887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Explainability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22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22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22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22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6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BFC2E4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Often easier to explain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22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22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22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22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6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BFC2E4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Much harder to explain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22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22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22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22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640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66928" y="5458968"/>
            <a:ext cx="11057839" cy="777240"/>
          </a:xfrm>
          <a:prstGeom prst="roundRect">
            <a:avLst>
              <a:gd name="adj" fmla="val 9412"/>
            </a:avLst>
          </a:prstGeom>
          <a:solidFill>
            <a:srgbClr val="191640">
              <a:alpha val="96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841248" y="5550408"/>
            <a:ext cx="10509199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BBF2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Tip:  </a:t>
            </a:r>
            <a:r>
              <a:rPr lang="en-US" sz="13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Deep learning is a part of machine learning, which is a part of AI. Generative AI sits inside deep learning.</a:t>
            </a:r>
            <a:endParaRPr lang="en-US" sz="13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SLIDE 18 · DEFINITION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What is Generative AI?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Section 2 · AI → ML → Deep Learning → Gen AI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020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11057839" cy="877824"/>
          </a:xfrm>
          <a:prstGeom prst="roundRect">
            <a:avLst>
              <a:gd name="adj" fmla="val 8333"/>
            </a:avLst>
          </a:prstGeom>
          <a:solidFill>
            <a:srgbClr val="191640">
              <a:alpha val="96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6928" y="1627632"/>
            <a:ext cx="64008" cy="585216"/>
          </a:xfrm>
          <a:prstGeom prst="roundRect">
            <a:avLst>
              <a:gd name="adj" fmla="val 42857"/>
            </a:avLst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59536" y="1572768"/>
            <a:ext cx="10472623" cy="6949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DDD9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Generative AI is AI that creates new content — text, images, audio, video or code — rather than only classifying or predicting.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66928" y="2615184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22960" y="2816352"/>
            <a:ext cx="457200" cy="457200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2930652"/>
            <a:ext cx="228600" cy="22860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499616" y="2816352"/>
            <a:ext cx="41847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Simple Explanation</a:t>
            </a:r>
            <a:endParaRPr lang="en-US" sz="1450" dirty="0"/>
          </a:p>
        </p:txBody>
      </p:sp>
      <p:sp>
        <p:nvSpPr>
          <p:cNvPr id="13" name="Text 10"/>
          <p:cNvSpPr txBox="1"/>
          <p:nvPr/>
        </p:nvSpPr>
        <p:spPr>
          <a:xfrm>
            <a:off x="841248" y="3419856"/>
            <a:ext cx="484312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Older AI answered "which category is this?" Generative AI answers "make me something new that fits this request."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33008" y="2615184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489040" y="2816352"/>
            <a:ext cx="457200" cy="457200"/>
          </a:xfrm>
          <a:prstGeom prst="ellipse">
            <a:avLst/>
          </a:prstGeom>
          <a:solidFill>
            <a:srgbClr val="22D3EE">
              <a:alpha val="16000"/>
            </a:srgbClr>
          </a:solidFill>
          <a:ln w="12700">
            <a:solidFill>
              <a:srgbClr val="22D3EE">
                <a:alpha val="45000"/>
              </a:srgbClr>
            </a:solidFill>
            <a:prstDash val="solid"/>
          </a:ln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3340" y="2930652"/>
            <a:ext cx="228600" cy="22860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7165696" y="2816352"/>
            <a:ext cx="41847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Example</a:t>
            </a:r>
            <a:endParaRPr lang="en-US" sz="1450" dirty="0"/>
          </a:p>
        </p:txBody>
      </p:sp>
      <p:sp>
        <p:nvSpPr>
          <p:cNvPr id="18" name="Text 14"/>
          <p:cNvSpPr txBox="1"/>
          <p:nvPr/>
        </p:nvSpPr>
        <p:spPr>
          <a:xfrm>
            <a:off x="6507328" y="3419856"/>
            <a:ext cx="484312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You ask for a short poem about rain, and the system writes one that never existed before.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566928" y="4530149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822960" y="4731317"/>
            <a:ext cx="457200" cy="457200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260" y="4845617"/>
            <a:ext cx="228600" cy="22860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499616" y="4731317"/>
            <a:ext cx="41847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How It Does It</a:t>
            </a:r>
            <a:endParaRPr lang="en-US" sz="1450" dirty="0"/>
          </a:p>
        </p:txBody>
      </p:sp>
      <p:sp>
        <p:nvSpPr>
          <p:cNvPr id="23" name="Text 18"/>
          <p:cNvSpPr txBox="1"/>
          <p:nvPr/>
        </p:nvSpPr>
        <p:spPr>
          <a:xfrm>
            <a:off x="841248" y="5334821"/>
            <a:ext cx="484312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It learned patterns from an enormous amount of content, and then produces new content that follows those patterns.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6233008" y="4530149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6489040" y="4731317"/>
            <a:ext cx="457200" cy="457200"/>
          </a:xfrm>
          <a:prstGeom prst="ellipse">
            <a:avLst/>
          </a:prstGeom>
          <a:solidFill>
            <a:srgbClr val="34D399">
              <a:alpha val="16000"/>
            </a:srgbClr>
          </a:solidFill>
          <a:ln w="12700">
            <a:solidFill>
              <a:srgbClr val="34D399">
                <a:alpha val="45000"/>
              </a:srgbClr>
            </a:solidFill>
            <a:prstDash val="solid"/>
          </a:ln>
        </p:spPr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3340" y="4845617"/>
            <a:ext cx="228600" cy="228600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7165696" y="4731317"/>
            <a:ext cx="41847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Important</a:t>
            </a:r>
            <a:endParaRPr lang="en-US" sz="1450" dirty="0"/>
          </a:p>
        </p:txBody>
      </p:sp>
      <p:sp>
        <p:nvSpPr>
          <p:cNvPr id="28" name="Text 22"/>
          <p:cNvSpPr txBox="1"/>
          <p:nvPr/>
        </p:nvSpPr>
        <p:spPr>
          <a:xfrm>
            <a:off x="6507328" y="5334821"/>
            <a:ext cx="484312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It produces what is likely, not what is verified true. Checking the output remains your job.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SLIDE 19 · COMPARE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Generative AI vs Traditional AI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Section 2 · AI → ML → Deep Learning → Gen AI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021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5364328" cy="3840480"/>
          </a:xfrm>
          <a:prstGeom prst="roundRect">
            <a:avLst>
              <a:gd name="adj" fmla="val 1905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41248" y="1737360"/>
            <a:ext cx="530352" cy="530352"/>
          </a:xfrm>
          <a:prstGeom prst="ellipse">
            <a:avLst/>
          </a:prstGeom>
          <a:solidFill>
            <a:srgbClr val="22D3EE">
              <a:alpha val="16000"/>
            </a:srgbClr>
          </a:solidFill>
          <a:ln w="12700">
            <a:solidFill>
              <a:srgbClr val="22D3EE">
                <a:alpha val="45000"/>
              </a:srgbClr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3836" y="1869948"/>
            <a:ext cx="265176" cy="265176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591056" y="1737360"/>
            <a:ext cx="4047592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2D3E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Traditional AI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877824" y="2505456"/>
            <a:ext cx="4742536" cy="261518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▪"/>
            </a:pPr>
            <a:r>
              <a:rPr lang="en-US" sz="135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Classifies, predicts or ranks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▪"/>
            </a:pPr>
            <a:r>
              <a:rPr lang="en-US" sz="135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Output is a label or a number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▪"/>
            </a:pPr>
            <a:r>
              <a:rPr lang="en-US" sz="135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Example: "this email is spam"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▪"/>
            </a:pPr>
            <a:r>
              <a:rPr lang="en-US" sz="135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Answer chosen from fixed options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▪"/>
            </a:pPr>
            <a:r>
              <a:rPr lang="en-US" sz="135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Trained for one narrow task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6260440" y="1481328"/>
            <a:ext cx="5364328" cy="3840480"/>
          </a:xfrm>
          <a:prstGeom prst="roundRect">
            <a:avLst>
              <a:gd name="adj" fmla="val 1905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534760" y="1737360"/>
            <a:ext cx="530352" cy="530352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7348" y="1869948"/>
            <a:ext cx="265176" cy="265176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7284568" y="1737360"/>
            <a:ext cx="4047592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A78BF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Generative AI</a:t>
            </a:r>
            <a:endParaRPr lang="en-US" sz="1800" dirty="0"/>
          </a:p>
        </p:txBody>
      </p:sp>
      <p:sp>
        <p:nvSpPr>
          <p:cNvPr id="15" name="Text 11"/>
          <p:cNvSpPr txBox="1"/>
          <p:nvPr/>
        </p:nvSpPr>
        <p:spPr>
          <a:xfrm>
            <a:off x="6571336" y="2505456"/>
            <a:ext cx="4742536" cy="261518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▪"/>
            </a:pPr>
            <a:r>
              <a:rPr lang="en-US" sz="135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Creates new content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▪"/>
            </a:pPr>
            <a:r>
              <a:rPr lang="en-US" sz="135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Output is text, image, audio or video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▪"/>
            </a:pPr>
            <a:r>
              <a:rPr lang="en-US" sz="135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Example: "write a reply to this email"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▪"/>
            </a:pPr>
            <a:r>
              <a:rPr lang="en-US" sz="135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Answer is generated fresh each time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▪"/>
            </a:pPr>
            <a:r>
              <a:rPr lang="en-US" sz="135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One model handles many tasks</a:t>
            </a:r>
            <a:endParaRPr lang="en-US" sz="1350" dirty="0"/>
          </a:p>
        </p:txBody>
      </p:sp>
      <p:sp>
        <p:nvSpPr>
          <p:cNvPr id="16" name="Shape 12"/>
          <p:cNvSpPr/>
          <p:nvPr/>
        </p:nvSpPr>
        <p:spPr>
          <a:xfrm>
            <a:off x="566928" y="5458968"/>
            <a:ext cx="11057839" cy="777240"/>
          </a:xfrm>
          <a:prstGeom prst="roundRect">
            <a:avLst>
              <a:gd name="adj" fmla="val 9412"/>
            </a:avLst>
          </a:prstGeom>
          <a:solidFill>
            <a:srgbClr val="191640">
              <a:alpha val="96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7" name="Text 13"/>
          <p:cNvSpPr txBox="1"/>
          <p:nvPr/>
        </p:nvSpPr>
        <p:spPr>
          <a:xfrm>
            <a:off x="841248" y="5550408"/>
            <a:ext cx="10509199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22D3E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Key point:  </a:t>
            </a:r>
            <a:r>
              <a:rPr lang="en-US" sz="13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Both are useful. A real product often uses traditional AI for decisions and Generative AI for content.</a:t>
            </a:r>
            <a:endParaRPr lang="en-US" sz="13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SLIDE 20 · OUTPUT TYPES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What Can Generative AI Create?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Section 2 · AI → ML → Deep Learning → Gen AI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022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3503066" cy="1402080"/>
          </a:xfrm>
          <a:prstGeom prst="roundRect">
            <a:avLst>
              <a:gd name="adj" fmla="val 5217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1682496"/>
            <a:ext cx="457200" cy="457200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1796796"/>
            <a:ext cx="228600" cy="22860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499616" y="1682496"/>
            <a:ext cx="229605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Text</a:t>
            </a:r>
            <a:endParaRPr lang="en-US" sz="1450" dirty="0"/>
          </a:p>
        </p:txBody>
      </p:sp>
      <p:sp>
        <p:nvSpPr>
          <p:cNvPr id="10" name="Text 7"/>
          <p:cNvSpPr txBox="1"/>
          <p:nvPr/>
        </p:nvSpPr>
        <p:spPr>
          <a:xfrm>
            <a:off x="841248" y="2286000"/>
            <a:ext cx="2954426" cy="4145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Articles, emails, summaries, answers and translations.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344314" y="1481328"/>
            <a:ext cx="3503066" cy="1402080"/>
          </a:xfrm>
          <a:prstGeom prst="roundRect">
            <a:avLst>
              <a:gd name="adj" fmla="val 5217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600346" y="1682496"/>
            <a:ext cx="457200" cy="457200"/>
          </a:xfrm>
          <a:prstGeom prst="ellipse">
            <a:avLst/>
          </a:prstGeom>
          <a:solidFill>
            <a:srgbClr val="22D3EE">
              <a:alpha val="16000"/>
            </a:srgbClr>
          </a:solidFill>
          <a:ln w="12700">
            <a:solidFill>
              <a:srgbClr val="22D3EE">
                <a:alpha val="45000"/>
              </a:srgbClr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4646" y="1796796"/>
            <a:ext cx="228600" cy="22860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5277002" y="1682496"/>
            <a:ext cx="229605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Images</a:t>
            </a:r>
            <a:endParaRPr lang="en-US" sz="1450" dirty="0"/>
          </a:p>
        </p:txBody>
      </p:sp>
      <p:sp>
        <p:nvSpPr>
          <p:cNvPr id="15" name="Text 11"/>
          <p:cNvSpPr txBox="1"/>
          <p:nvPr/>
        </p:nvSpPr>
        <p:spPr>
          <a:xfrm>
            <a:off x="4618634" y="2286000"/>
            <a:ext cx="2954426" cy="4145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Illustrations, product mock-ups, posters and concept art.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8121701" y="1481328"/>
            <a:ext cx="3503066" cy="1402080"/>
          </a:xfrm>
          <a:prstGeom prst="roundRect">
            <a:avLst>
              <a:gd name="adj" fmla="val 5217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377733" y="1682496"/>
            <a:ext cx="457200" cy="457200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2033" y="1796796"/>
            <a:ext cx="228600" cy="22860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9054389" y="1682496"/>
            <a:ext cx="229605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Audio</a:t>
            </a:r>
            <a:endParaRPr lang="en-US" sz="1450" dirty="0"/>
          </a:p>
        </p:txBody>
      </p:sp>
      <p:sp>
        <p:nvSpPr>
          <p:cNvPr id="20" name="Text 15"/>
          <p:cNvSpPr txBox="1"/>
          <p:nvPr/>
        </p:nvSpPr>
        <p:spPr>
          <a:xfrm>
            <a:off x="8396021" y="2286000"/>
            <a:ext cx="2954426" cy="4145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Speech from text, narration and sound effects.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566928" y="3157728"/>
            <a:ext cx="3503066" cy="1402080"/>
          </a:xfrm>
          <a:prstGeom prst="roundRect">
            <a:avLst>
              <a:gd name="adj" fmla="val 5217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822960" y="3358896"/>
            <a:ext cx="457200" cy="457200"/>
          </a:xfrm>
          <a:prstGeom prst="ellipse">
            <a:avLst/>
          </a:prstGeom>
          <a:solidFill>
            <a:srgbClr val="34D399">
              <a:alpha val="16000"/>
            </a:srgbClr>
          </a:solidFill>
          <a:ln w="12700">
            <a:solidFill>
              <a:srgbClr val="34D399">
                <a:alpha val="45000"/>
              </a:srgbClr>
            </a:solidFill>
            <a:prstDash val="solid"/>
          </a:ln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7260" y="3473196"/>
            <a:ext cx="228600" cy="228600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1499616" y="3358896"/>
            <a:ext cx="229605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Video</a:t>
            </a:r>
            <a:endParaRPr lang="en-US" sz="1450" dirty="0"/>
          </a:p>
        </p:txBody>
      </p:sp>
      <p:sp>
        <p:nvSpPr>
          <p:cNvPr id="25" name="Text 19"/>
          <p:cNvSpPr txBox="1"/>
          <p:nvPr/>
        </p:nvSpPr>
        <p:spPr>
          <a:xfrm>
            <a:off x="841248" y="3962400"/>
            <a:ext cx="2954426" cy="4145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Short clips, animations and edited footage.</a:t>
            </a:r>
            <a:endParaRPr lang="en-US" sz="1200" dirty="0"/>
          </a:p>
        </p:txBody>
      </p:sp>
      <p:sp>
        <p:nvSpPr>
          <p:cNvPr id="26" name="Shape 20"/>
          <p:cNvSpPr/>
          <p:nvPr/>
        </p:nvSpPr>
        <p:spPr>
          <a:xfrm>
            <a:off x="4344314" y="3157728"/>
            <a:ext cx="3503066" cy="1402080"/>
          </a:xfrm>
          <a:prstGeom prst="roundRect">
            <a:avLst>
              <a:gd name="adj" fmla="val 5217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4600346" y="3358896"/>
            <a:ext cx="457200" cy="457200"/>
          </a:xfrm>
          <a:prstGeom prst="ellipse">
            <a:avLst/>
          </a:prstGeom>
          <a:solidFill>
            <a:srgbClr val="F472B6">
              <a:alpha val="16000"/>
            </a:srgbClr>
          </a:solidFill>
          <a:ln w="12700">
            <a:solidFill>
              <a:srgbClr val="F472B6">
                <a:alpha val="45000"/>
              </a:srgbClr>
            </a:solidFill>
            <a:prstDash val="solid"/>
          </a:ln>
        </p:spPr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14646" y="3473196"/>
            <a:ext cx="228600" cy="228600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5277002" y="3358896"/>
            <a:ext cx="229605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Code</a:t>
            </a:r>
            <a:endParaRPr lang="en-US" sz="1450" dirty="0"/>
          </a:p>
        </p:txBody>
      </p:sp>
      <p:sp>
        <p:nvSpPr>
          <p:cNvPr id="30" name="Text 23"/>
          <p:cNvSpPr txBox="1"/>
          <p:nvPr/>
        </p:nvSpPr>
        <p:spPr>
          <a:xfrm>
            <a:off x="4618634" y="3962400"/>
            <a:ext cx="2954426" cy="4145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Functions, scripts, tests and explanations of existing code.</a:t>
            </a:r>
            <a:endParaRPr lang="en-US" sz="1200" dirty="0"/>
          </a:p>
        </p:txBody>
      </p:sp>
      <p:sp>
        <p:nvSpPr>
          <p:cNvPr id="31" name="Shape 24"/>
          <p:cNvSpPr/>
          <p:nvPr/>
        </p:nvSpPr>
        <p:spPr>
          <a:xfrm>
            <a:off x="8121701" y="3157728"/>
            <a:ext cx="3503066" cy="1402080"/>
          </a:xfrm>
          <a:prstGeom prst="roundRect">
            <a:avLst>
              <a:gd name="adj" fmla="val 5217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8377733" y="3358896"/>
            <a:ext cx="457200" cy="457200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33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92033" y="3473196"/>
            <a:ext cx="228600" cy="228600"/>
          </a:xfrm>
          <a:prstGeom prst="rect">
            <a:avLst/>
          </a:prstGeom>
        </p:spPr>
      </p:pic>
      <p:sp>
        <p:nvSpPr>
          <p:cNvPr id="34" name="Text 26"/>
          <p:cNvSpPr txBox="1"/>
          <p:nvPr/>
        </p:nvSpPr>
        <p:spPr>
          <a:xfrm>
            <a:off x="9054389" y="3358896"/>
            <a:ext cx="229605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Music</a:t>
            </a:r>
            <a:endParaRPr lang="en-US" sz="1450" dirty="0"/>
          </a:p>
        </p:txBody>
      </p:sp>
      <p:sp>
        <p:nvSpPr>
          <p:cNvPr id="35" name="Text 27"/>
          <p:cNvSpPr txBox="1"/>
          <p:nvPr/>
        </p:nvSpPr>
        <p:spPr>
          <a:xfrm>
            <a:off x="8396021" y="3962400"/>
            <a:ext cx="2954426" cy="4145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Background tracks and melody ideas.</a:t>
            </a:r>
            <a:endParaRPr lang="en-US" sz="1200" dirty="0"/>
          </a:p>
        </p:txBody>
      </p:sp>
      <p:sp>
        <p:nvSpPr>
          <p:cNvPr id="36" name="Shape 28"/>
          <p:cNvSpPr/>
          <p:nvPr/>
        </p:nvSpPr>
        <p:spPr>
          <a:xfrm>
            <a:off x="566928" y="4834128"/>
            <a:ext cx="3503066" cy="1402080"/>
          </a:xfrm>
          <a:prstGeom prst="roundRect">
            <a:avLst>
              <a:gd name="adj" fmla="val 5217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37" name="Shape 29"/>
          <p:cNvSpPr/>
          <p:nvPr/>
        </p:nvSpPr>
        <p:spPr>
          <a:xfrm>
            <a:off x="822960" y="5035296"/>
            <a:ext cx="457200" cy="457200"/>
          </a:xfrm>
          <a:prstGeom prst="ellipse">
            <a:avLst/>
          </a:prstGeom>
          <a:solidFill>
            <a:srgbClr val="22D3EE">
              <a:alpha val="16000"/>
            </a:srgbClr>
          </a:solidFill>
          <a:ln w="12700">
            <a:solidFill>
              <a:srgbClr val="22D3EE">
                <a:alpha val="45000"/>
              </a:srgbClr>
            </a:solidFill>
            <a:prstDash val="solid"/>
          </a:ln>
        </p:spPr>
      </p:sp>
      <p:pic>
        <p:nvPicPr>
          <p:cNvPr id="38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7260" y="5149596"/>
            <a:ext cx="228600" cy="228600"/>
          </a:xfrm>
          <a:prstGeom prst="rect">
            <a:avLst/>
          </a:prstGeom>
        </p:spPr>
      </p:pic>
      <p:sp>
        <p:nvSpPr>
          <p:cNvPr id="39" name="Text 30"/>
          <p:cNvSpPr txBox="1"/>
          <p:nvPr/>
        </p:nvSpPr>
        <p:spPr>
          <a:xfrm>
            <a:off x="1499616" y="5035296"/>
            <a:ext cx="229605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Presentations</a:t>
            </a:r>
            <a:endParaRPr lang="en-US" sz="1450" dirty="0"/>
          </a:p>
        </p:txBody>
      </p:sp>
      <p:sp>
        <p:nvSpPr>
          <p:cNvPr id="40" name="Text 31"/>
          <p:cNvSpPr txBox="1"/>
          <p:nvPr/>
        </p:nvSpPr>
        <p:spPr>
          <a:xfrm>
            <a:off x="841248" y="5638800"/>
            <a:ext cx="2954426" cy="4145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Slide outlines, speaker notes and draft decks.</a:t>
            </a:r>
            <a:endParaRPr lang="en-US" sz="1200" dirty="0"/>
          </a:p>
        </p:txBody>
      </p:sp>
      <p:sp>
        <p:nvSpPr>
          <p:cNvPr id="41" name="Shape 32"/>
          <p:cNvSpPr/>
          <p:nvPr/>
        </p:nvSpPr>
        <p:spPr>
          <a:xfrm>
            <a:off x="4344314" y="4834128"/>
            <a:ext cx="3503066" cy="1402080"/>
          </a:xfrm>
          <a:prstGeom prst="roundRect">
            <a:avLst>
              <a:gd name="adj" fmla="val 5217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42" name="Shape 33"/>
          <p:cNvSpPr/>
          <p:nvPr/>
        </p:nvSpPr>
        <p:spPr>
          <a:xfrm>
            <a:off x="4600346" y="5035296"/>
            <a:ext cx="457200" cy="457200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43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14646" y="5149596"/>
            <a:ext cx="228600" cy="228600"/>
          </a:xfrm>
          <a:prstGeom prst="rect">
            <a:avLst/>
          </a:prstGeom>
        </p:spPr>
      </p:pic>
      <p:sp>
        <p:nvSpPr>
          <p:cNvPr id="44" name="Text 34"/>
          <p:cNvSpPr txBox="1"/>
          <p:nvPr/>
        </p:nvSpPr>
        <p:spPr>
          <a:xfrm>
            <a:off x="5277002" y="5035296"/>
            <a:ext cx="229605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Documents</a:t>
            </a:r>
            <a:endParaRPr lang="en-US" sz="1450" dirty="0"/>
          </a:p>
        </p:txBody>
      </p:sp>
      <p:sp>
        <p:nvSpPr>
          <p:cNvPr id="45" name="Text 35"/>
          <p:cNvSpPr txBox="1"/>
          <p:nvPr/>
        </p:nvSpPr>
        <p:spPr>
          <a:xfrm>
            <a:off x="4618634" y="5638800"/>
            <a:ext cx="2954426" cy="4145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Reports, letters, plans and structured tables.</a:t>
            </a:r>
            <a:endParaRPr lang="en-US" sz="1200" dirty="0"/>
          </a:p>
        </p:txBody>
      </p:sp>
      <p:sp>
        <p:nvSpPr>
          <p:cNvPr id="46" name="Shape 36"/>
          <p:cNvSpPr/>
          <p:nvPr/>
        </p:nvSpPr>
        <p:spPr>
          <a:xfrm>
            <a:off x="8121701" y="4834128"/>
            <a:ext cx="3503066" cy="1402080"/>
          </a:xfrm>
          <a:prstGeom prst="roundRect">
            <a:avLst>
              <a:gd name="adj" fmla="val 5217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47" name="Shape 37"/>
          <p:cNvSpPr/>
          <p:nvPr/>
        </p:nvSpPr>
        <p:spPr>
          <a:xfrm>
            <a:off x="8377733" y="5035296"/>
            <a:ext cx="457200" cy="457200"/>
          </a:xfrm>
          <a:prstGeom prst="ellipse">
            <a:avLst/>
          </a:prstGeom>
          <a:solidFill>
            <a:srgbClr val="34D399">
              <a:alpha val="16000"/>
            </a:srgbClr>
          </a:solidFill>
          <a:ln w="12700">
            <a:solidFill>
              <a:srgbClr val="34D399">
                <a:alpha val="45000"/>
              </a:srgbClr>
            </a:solidFill>
            <a:prstDash val="solid"/>
          </a:ln>
        </p:spPr>
      </p:sp>
      <p:pic>
        <p:nvPicPr>
          <p:cNvPr id="48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92033" y="5149596"/>
            <a:ext cx="228600" cy="228600"/>
          </a:xfrm>
          <a:prstGeom prst="rect">
            <a:avLst/>
          </a:prstGeom>
        </p:spPr>
      </p:pic>
      <p:sp>
        <p:nvSpPr>
          <p:cNvPr id="49" name="Text 38"/>
          <p:cNvSpPr txBox="1"/>
          <p:nvPr/>
        </p:nvSpPr>
        <p:spPr>
          <a:xfrm>
            <a:off x="9054389" y="5035296"/>
            <a:ext cx="229605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3D content</a:t>
            </a:r>
            <a:endParaRPr lang="en-US" sz="1450" dirty="0"/>
          </a:p>
        </p:txBody>
      </p:sp>
      <p:sp>
        <p:nvSpPr>
          <p:cNvPr id="50" name="Text 39"/>
          <p:cNvSpPr txBox="1"/>
          <p:nvPr/>
        </p:nvSpPr>
        <p:spPr>
          <a:xfrm>
            <a:off x="8396021" y="5638800"/>
            <a:ext cx="2954426" cy="4145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Early 3D models and textures for design work.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SLIDE 21 · USES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Generative AI Applications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Section 2 · AI → ML → Deep Learning → Gen AI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023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3503066" cy="2240280"/>
          </a:xfrm>
          <a:prstGeom prst="roundRect">
            <a:avLst>
              <a:gd name="adj" fmla="val 3265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1737360"/>
            <a:ext cx="566928" cy="566928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4692" y="1879092"/>
            <a:ext cx="283464" cy="283464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609344" y="1737360"/>
            <a:ext cx="218633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Education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841248" y="2505456"/>
            <a:ext cx="2954426" cy="10332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Explanations, practice questions, study plans and feedback on drafts.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344314" y="1481328"/>
            <a:ext cx="3503066" cy="2240280"/>
          </a:xfrm>
          <a:prstGeom prst="roundRect">
            <a:avLst>
              <a:gd name="adj" fmla="val 3265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600346" y="1737360"/>
            <a:ext cx="566928" cy="566928"/>
          </a:xfrm>
          <a:prstGeom prst="ellipse">
            <a:avLst/>
          </a:prstGeom>
          <a:solidFill>
            <a:srgbClr val="22D3EE">
              <a:alpha val="16000"/>
            </a:srgbClr>
          </a:solidFill>
          <a:ln w="12700">
            <a:solidFill>
              <a:srgbClr val="22D3EE">
                <a:alpha val="45000"/>
              </a:srgbClr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2078" y="1879092"/>
            <a:ext cx="283464" cy="283464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5386730" y="1737360"/>
            <a:ext cx="218633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Software</a:t>
            </a:r>
            <a:endParaRPr lang="en-US" sz="1600" dirty="0"/>
          </a:p>
        </p:txBody>
      </p:sp>
      <p:sp>
        <p:nvSpPr>
          <p:cNvPr id="15" name="Text 11"/>
          <p:cNvSpPr txBox="1"/>
          <p:nvPr/>
        </p:nvSpPr>
        <p:spPr>
          <a:xfrm>
            <a:off x="4618634" y="2505456"/>
            <a:ext cx="2954426" cy="10332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Writing code, explaining errors and generating documentation.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8121701" y="1481328"/>
            <a:ext cx="3503066" cy="2240280"/>
          </a:xfrm>
          <a:prstGeom prst="roundRect">
            <a:avLst>
              <a:gd name="adj" fmla="val 3265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377733" y="1737360"/>
            <a:ext cx="566928" cy="566928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9465" y="1879092"/>
            <a:ext cx="283464" cy="283464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9164117" y="1737360"/>
            <a:ext cx="218633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Marketing</a:t>
            </a:r>
            <a:endParaRPr lang="en-US" sz="1600" dirty="0"/>
          </a:p>
        </p:txBody>
      </p:sp>
      <p:sp>
        <p:nvSpPr>
          <p:cNvPr id="20" name="Text 15"/>
          <p:cNvSpPr txBox="1"/>
          <p:nvPr/>
        </p:nvSpPr>
        <p:spPr>
          <a:xfrm>
            <a:off x="8396021" y="2505456"/>
            <a:ext cx="2954426" cy="10332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Draft campaigns, social posts and product descriptions.</a:t>
            </a:r>
            <a:endParaRPr lang="en-US" sz="1300" dirty="0"/>
          </a:p>
        </p:txBody>
      </p:sp>
      <p:sp>
        <p:nvSpPr>
          <p:cNvPr id="21" name="Shape 16"/>
          <p:cNvSpPr/>
          <p:nvPr/>
        </p:nvSpPr>
        <p:spPr>
          <a:xfrm>
            <a:off x="566928" y="3995928"/>
            <a:ext cx="3503066" cy="2240280"/>
          </a:xfrm>
          <a:prstGeom prst="roundRect">
            <a:avLst>
              <a:gd name="adj" fmla="val 3265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822960" y="4251960"/>
            <a:ext cx="566928" cy="566928"/>
          </a:xfrm>
          <a:prstGeom prst="ellipse">
            <a:avLst/>
          </a:prstGeom>
          <a:solidFill>
            <a:srgbClr val="34D399">
              <a:alpha val="16000"/>
            </a:srgbClr>
          </a:solidFill>
          <a:ln w="12700">
            <a:solidFill>
              <a:srgbClr val="34D399">
                <a:alpha val="45000"/>
              </a:srgbClr>
            </a:solidFill>
            <a:prstDash val="solid"/>
          </a:ln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4692" y="4393692"/>
            <a:ext cx="283464" cy="283464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1609344" y="4251960"/>
            <a:ext cx="218633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Customer support</a:t>
            </a:r>
            <a:endParaRPr lang="en-US" sz="1600" dirty="0"/>
          </a:p>
        </p:txBody>
      </p:sp>
      <p:sp>
        <p:nvSpPr>
          <p:cNvPr id="25" name="Text 19"/>
          <p:cNvSpPr txBox="1"/>
          <p:nvPr/>
        </p:nvSpPr>
        <p:spPr>
          <a:xfrm>
            <a:off x="841248" y="5020056"/>
            <a:ext cx="2954426" cy="10332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Draft replies and answer questions from company documents.</a:t>
            </a:r>
            <a:endParaRPr lang="en-US" sz="1300" dirty="0"/>
          </a:p>
        </p:txBody>
      </p:sp>
      <p:sp>
        <p:nvSpPr>
          <p:cNvPr id="26" name="Shape 20"/>
          <p:cNvSpPr/>
          <p:nvPr/>
        </p:nvSpPr>
        <p:spPr>
          <a:xfrm>
            <a:off x="4344314" y="3995928"/>
            <a:ext cx="3503066" cy="2240280"/>
          </a:xfrm>
          <a:prstGeom prst="roundRect">
            <a:avLst>
              <a:gd name="adj" fmla="val 3265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4600346" y="4251960"/>
            <a:ext cx="566928" cy="566928"/>
          </a:xfrm>
          <a:prstGeom prst="ellipse">
            <a:avLst/>
          </a:prstGeom>
          <a:solidFill>
            <a:srgbClr val="F472B6">
              <a:alpha val="16000"/>
            </a:srgbClr>
          </a:solidFill>
          <a:ln w="12700">
            <a:solidFill>
              <a:srgbClr val="F472B6">
                <a:alpha val="45000"/>
              </a:srgbClr>
            </a:solidFill>
            <a:prstDash val="solid"/>
          </a:ln>
        </p:spPr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42078" y="4393692"/>
            <a:ext cx="283464" cy="283464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5386730" y="4251960"/>
            <a:ext cx="218633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Research</a:t>
            </a:r>
            <a:endParaRPr lang="en-US" sz="1600" dirty="0"/>
          </a:p>
        </p:txBody>
      </p:sp>
      <p:sp>
        <p:nvSpPr>
          <p:cNvPr id="30" name="Text 23"/>
          <p:cNvSpPr txBox="1"/>
          <p:nvPr/>
        </p:nvSpPr>
        <p:spPr>
          <a:xfrm>
            <a:off x="4618634" y="5020056"/>
            <a:ext cx="2954426" cy="10332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Summarising long documents and organising information.</a:t>
            </a:r>
            <a:endParaRPr lang="en-US" sz="1300" dirty="0"/>
          </a:p>
        </p:txBody>
      </p:sp>
      <p:sp>
        <p:nvSpPr>
          <p:cNvPr id="31" name="Shape 24"/>
          <p:cNvSpPr/>
          <p:nvPr/>
        </p:nvSpPr>
        <p:spPr>
          <a:xfrm>
            <a:off x="8121701" y="3995928"/>
            <a:ext cx="3503066" cy="2240280"/>
          </a:xfrm>
          <a:prstGeom prst="roundRect">
            <a:avLst>
              <a:gd name="adj" fmla="val 3265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8377733" y="4251960"/>
            <a:ext cx="566928" cy="566928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33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19465" y="4393692"/>
            <a:ext cx="283464" cy="283464"/>
          </a:xfrm>
          <a:prstGeom prst="rect">
            <a:avLst/>
          </a:prstGeom>
        </p:spPr>
      </p:pic>
      <p:sp>
        <p:nvSpPr>
          <p:cNvPr id="34" name="Text 26"/>
          <p:cNvSpPr txBox="1"/>
          <p:nvPr/>
        </p:nvSpPr>
        <p:spPr>
          <a:xfrm>
            <a:off x="9164117" y="4251960"/>
            <a:ext cx="218633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Business operations</a:t>
            </a:r>
            <a:endParaRPr lang="en-US" sz="1600" dirty="0"/>
          </a:p>
        </p:txBody>
      </p:sp>
      <p:sp>
        <p:nvSpPr>
          <p:cNvPr id="35" name="Text 27"/>
          <p:cNvSpPr txBox="1"/>
          <p:nvPr/>
        </p:nvSpPr>
        <p:spPr>
          <a:xfrm>
            <a:off x="8396021" y="5020056"/>
            <a:ext cx="2954426" cy="10332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Meeting notes, reports and routine document work.</a:t>
            </a:r>
            <a:endParaRPr lang="en-US" sz="13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SLIDE 22 · THE HIERARCHY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AI vs ML vs Deep Learning vs Gen AI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Section 2 · AI → ML → Deep Learning → Gen AI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024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 flipH="1">
            <a:off x="6095848" y="1938528"/>
            <a:ext cx="1508760" cy="1920240"/>
          </a:xfrm>
          <a:prstGeom prst="line">
            <a:avLst/>
          </a:prstGeom>
          <a:noFill/>
          <a:ln w="19050">
            <a:solidFill>
              <a:srgbClr val="322C63"/>
            </a:solidFill>
            <a:prstDash val="sysDot"/>
          </a:ln>
        </p:spPr>
      </p:sp>
      <p:sp>
        <p:nvSpPr>
          <p:cNvPr id="7" name="Shape 5"/>
          <p:cNvSpPr/>
          <p:nvPr/>
        </p:nvSpPr>
        <p:spPr>
          <a:xfrm flipH="1">
            <a:off x="6095848" y="3858768"/>
            <a:ext cx="2423160" cy="0"/>
          </a:xfrm>
          <a:prstGeom prst="line">
            <a:avLst/>
          </a:prstGeom>
          <a:noFill/>
          <a:ln w="19050">
            <a:solidFill>
              <a:srgbClr val="322C63"/>
            </a:solidFill>
            <a:prstDash val="sysDot"/>
          </a:ln>
        </p:spPr>
      </p:sp>
      <p:sp>
        <p:nvSpPr>
          <p:cNvPr id="8" name="Shape 6"/>
          <p:cNvSpPr/>
          <p:nvPr/>
        </p:nvSpPr>
        <p:spPr>
          <a:xfrm flipH="1" flipV="1">
            <a:off x="6095848" y="3858768"/>
            <a:ext cx="1508760" cy="1920240"/>
          </a:xfrm>
          <a:prstGeom prst="line">
            <a:avLst/>
          </a:prstGeom>
          <a:noFill/>
          <a:ln w="19050">
            <a:solidFill>
              <a:srgbClr val="322C63"/>
            </a:solidFill>
            <a:prstDash val="sysDot"/>
          </a:ln>
        </p:spPr>
      </p:sp>
      <p:sp>
        <p:nvSpPr>
          <p:cNvPr id="9" name="Shape 7"/>
          <p:cNvSpPr/>
          <p:nvPr/>
        </p:nvSpPr>
        <p:spPr>
          <a:xfrm>
            <a:off x="3672688" y="3858768"/>
            <a:ext cx="2423160" cy="0"/>
          </a:xfrm>
          <a:prstGeom prst="line">
            <a:avLst/>
          </a:prstGeom>
          <a:noFill/>
          <a:ln w="19050">
            <a:solidFill>
              <a:srgbClr val="322C63"/>
            </a:solidFill>
            <a:prstDash val="sysDot"/>
          </a:ln>
        </p:spPr>
      </p:sp>
      <p:sp>
        <p:nvSpPr>
          <p:cNvPr id="10" name="Shape 8"/>
          <p:cNvSpPr/>
          <p:nvPr/>
        </p:nvSpPr>
        <p:spPr>
          <a:xfrm>
            <a:off x="4587088" y="1472184"/>
            <a:ext cx="3017520" cy="932688"/>
          </a:xfrm>
          <a:prstGeom prst="roundRect">
            <a:avLst>
              <a:gd name="adj" fmla="val 7843"/>
            </a:avLst>
          </a:prstGeom>
          <a:solidFill>
            <a:srgbClr val="191640"/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1680" y="1737360"/>
            <a:ext cx="402336" cy="402336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52264" y="1837944"/>
            <a:ext cx="201168" cy="201168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5318608" y="1545336"/>
            <a:ext cx="2157984" cy="7863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1. Artificial Intelligence</a:t>
            </a:r>
            <a:endParaRPr lang="en-US" sz="12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widest idea: machines acting intelligently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8519008" y="3392424"/>
            <a:ext cx="3017520" cy="932688"/>
          </a:xfrm>
          <a:prstGeom prst="roundRect">
            <a:avLst>
              <a:gd name="adj" fmla="val 7843"/>
            </a:avLst>
          </a:prstGeom>
          <a:solidFill>
            <a:srgbClr val="191640"/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8683600" y="3657600"/>
            <a:ext cx="402336" cy="402336"/>
          </a:xfrm>
          <a:prstGeom prst="ellipse">
            <a:avLst/>
          </a:prstGeom>
          <a:solidFill>
            <a:srgbClr val="22D3EE">
              <a:alpha val="16000"/>
            </a:srgbClr>
          </a:solidFill>
          <a:ln w="12700">
            <a:solidFill>
              <a:srgbClr val="22D3EE">
                <a:alpha val="45000"/>
              </a:srgbClr>
            </a:solidFill>
            <a:prstDash val="solid"/>
          </a:ln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84184" y="3758184"/>
            <a:ext cx="201168" cy="201168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9250528" y="3465576"/>
            <a:ext cx="2157984" cy="7863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2. Machine Learning</a:t>
            </a:r>
            <a:endParaRPr lang="en-US" sz="12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Inside AI: learning patterns from data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4587088" y="5312664"/>
            <a:ext cx="3017520" cy="932688"/>
          </a:xfrm>
          <a:prstGeom prst="roundRect">
            <a:avLst>
              <a:gd name="adj" fmla="val 7843"/>
            </a:avLst>
          </a:prstGeom>
          <a:solidFill>
            <a:srgbClr val="191640"/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4751680" y="5577840"/>
            <a:ext cx="402336" cy="402336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2264" y="5678424"/>
            <a:ext cx="201168" cy="201168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5318608" y="5385816"/>
            <a:ext cx="2157984" cy="7863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3. Deep Learning</a:t>
            </a:r>
            <a:endParaRPr lang="en-US" sz="12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Inside ML: neural networks with many layers</a:t>
            </a:r>
            <a:endParaRPr lang="en-US" sz="1250" dirty="0"/>
          </a:p>
        </p:txBody>
      </p:sp>
      <p:sp>
        <p:nvSpPr>
          <p:cNvPr id="22" name="Shape 17"/>
          <p:cNvSpPr/>
          <p:nvPr/>
        </p:nvSpPr>
        <p:spPr>
          <a:xfrm>
            <a:off x="655168" y="3392424"/>
            <a:ext cx="3017520" cy="932688"/>
          </a:xfrm>
          <a:prstGeom prst="roundRect">
            <a:avLst>
              <a:gd name="adj" fmla="val 7843"/>
            </a:avLst>
          </a:prstGeom>
          <a:solidFill>
            <a:srgbClr val="191640"/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819760" y="3657600"/>
            <a:ext cx="402336" cy="402336"/>
          </a:xfrm>
          <a:prstGeom prst="ellipse">
            <a:avLst/>
          </a:prstGeom>
          <a:solidFill>
            <a:srgbClr val="34D399">
              <a:alpha val="16000"/>
            </a:srgbClr>
          </a:solidFill>
          <a:ln w="12700">
            <a:solidFill>
              <a:srgbClr val="34D399">
                <a:alpha val="45000"/>
              </a:srgbClr>
            </a:solidFill>
            <a:prstDash val="solid"/>
          </a:ln>
        </p:spPr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0344" y="3758184"/>
            <a:ext cx="201168" cy="201168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1386688" y="3465576"/>
            <a:ext cx="2157984" cy="7863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4. Generative AI</a:t>
            </a:r>
            <a:endParaRPr lang="en-US" sz="12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Inside deep learning: creating new content</a:t>
            </a:r>
            <a:endParaRPr lang="en-US" sz="1250" dirty="0"/>
          </a:p>
        </p:txBody>
      </p:sp>
      <p:sp>
        <p:nvSpPr>
          <p:cNvPr id="26" name="Shape 20"/>
          <p:cNvSpPr/>
          <p:nvPr/>
        </p:nvSpPr>
        <p:spPr>
          <a:xfrm>
            <a:off x="4769968" y="3310128"/>
            <a:ext cx="2651760" cy="1097280"/>
          </a:xfrm>
          <a:prstGeom prst="roundRect">
            <a:avLst>
              <a:gd name="adj" fmla="val 8333"/>
            </a:avLst>
          </a:prstGeom>
          <a:solidFill>
            <a:srgbClr val="0B0A1E"/>
          </a:solidFill>
          <a:ln w="12700">
            <a:solidFill>
              <a:srgbClr val="0B0A1E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4769968" y="3310128"/>
            <a:ext cx="2651760" cy="1097280"/>
          </a:xfrm>
          <a:prstGeom prst="roundRect">
            <a:avLst>
              <a:gd name="adj" fmla="val 8333"/>
            </a:avLst>
          </a:prstGeom>
          <a:solidFill>
            <a:srgbClr val="A78BFA">
              <a:alpha val="20000"/>
            </a:srgbClr>
          </a:solidFill>
          <a:ln w="25400">
            <a:solidFill>
              <a:srgbClr val="A78BFA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8" name="Text 22"/>
          <p:cNvSpPr txBox="1"/>
          <p:nvPr/>
        </p:nvSpPr>
        <p:spPr>
          <a:xfrm>
            <a:off x="4769968" y="3310128"/>
            <a:ext cx="265176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AI</a:t>
            </a:r>
            <a:endParaRPr lang="en-US" sz="17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BBF2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QUIZ 2 · SLIDES 11–22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Quiz 2 — AI to Generative AI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Section 2 · AI → ML → Deep Learning → Gen AI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025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11057839" cy="848563"/>
          </a:xfrm>
          <a:prstGeom prst="roundRect">
            <a:avLst>
              <a:gd name="adj" fmla="val 8621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68096" y="1627632"/>
            <a:ext cx="310896" cy="310896"/>
          </a:xfrm>
          <a:prstGeom prst="ellipse">
            <a:avLst/>
          </a:prstGeom>
          <a:solidFill>
            <a:srgbClr val="FBBF24">
              <a:alpha val="22000"/>
            </a:srgbClr>
          </a:solidFill>
          <a:ln w="12700">
            <a:solidFill>
              <a:srgbClr val="FBBF24">
                <a:alpha val="5000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68096" y="1627632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BBF2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Q1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188720" y="1600200"/>
            <a:ext cx="8726119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Machine learning means the computer: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10207447" y="1618488"/>
            <a:ext cx="1371600" cy="347472"/>
          </a:xfrm>
          <a:prstGeom prst="roundRect">
            <a:avLst>
              <a:gd name="adj" fmla="val 15789"/>
            </a:avLst>
          </a:prstGeom>
          <a:solidFill>
            <a:srgbClr val="A78BFA">
              <a:alpha val="20000"/>
            </a:srgbClr>
          </a:solidFill>
          <a:ln w="12700">
            <a:solidFill>
              <a:srgbClr val="A78BFA">
                <a:alpha val="60000"/>
              </a:srgbClr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207447" y="1618488"/>
            <a:ext cx="13716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Answer: B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1115568" y="2011680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A. </a:t>
            </a:r>
            <a:r>
              <a:rPr lang="en-US" sz="11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Follows only written rules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3674288" y="2011680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B. </a:t>
            </a: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Learns patterns from data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6233008" y="2011680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C. </a:t>
            </a:r>
            <a:r>
              <a:rPr lang="en-US" sz="11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Never needs data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8791727" y="2011680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D. </a:t>
            </a:r>
            <a:r>
              <a:rPr lang="en-US" sz="11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Only stores files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66928" y="2457907"/>
            <a:ext cx="11057839" cy="848563"/>
          </a:xfrm>
          <a:prstGeom prst="roundRect">
            <a:avLst>
              <a:gd name="adj" fmla="val 8621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68096" y="2604211"/>
            <a:ext cx="310896" cy="310896"/>
          </a:xfrm>
          <a:prstGeom prst="ellipse">
            <a:avLst/>
          </a:prstGeom>
          <a:solidFill>
            <a:srgbClr val="FBBF24">
              <a:alpha val="22000"/>
            </a:srgbClr>
          </a:solidFill>
          <a:ln w="12700">
            <a:solidFill>
              <a:srgbClr val="FBBF24">
                <a:alpha val="50000"/>
              </a:srgbClr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68096" y="2604211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BBF2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Q2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1188720" y="2576779"/>
            <a:ext cx="8726119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Learning from labelled examples is called: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10207447" y="2595067"/>
            <a:ext cx="1371600" cy="347472"/>
          </a:xfrm>
          <a:prstGeom prst="roundRect">
            <a:avLst>
              <a:gd name="adj" fmla="val 15789"/>
            </a:avLst>
          </a:prstGeom>
          <a:solidFill>
            <a:srgbClr val="A78BFA">
              <a:alpha val="20000"/>
            </a:srgbClr>
          </a:solidFill>
          <a:ln w="12700">
            <a:solidFill>
              <a:srgbClr val="A78BFA">
                <a:alpha val="60000"/>
              </a:srgbClr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0207447" y="2595067"/>
            <a:ext cx="13716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Answer: C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1115568" y="2988259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A. </a:t>
            </a:r>
            <a:r>
              <a:rPr lang="en-US" sz="11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Unsupervised learning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3674288" y="2988259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B. </a:t>
            </a:r>
            <a:r>
              <a:rPr lang="en-US" sz="11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Reinforcement learning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6233008" y="2988259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C. </a:t>
            </a: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Supervised learning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8791727" y="2988259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D. </a:t>
            </a:r>
            <a:r>
              <a:rPr lang="en-US" sz="11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Random learning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66928" y="3434486"/>
            <a:ext cx="11057839" cy="848563"/>
          </a:xfrm>
          <a:prstGeom prst="roundRect">
            <a:avLst>
              <a:gd name="adj" fmla="val 8621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768096" y="3580790"/>
            <a:ext cx="310896" cy="310896"/>
          </a:xfrm>
          <a:prstGeom prst="ellipse">
            <a:avLst/>
          </a:prstGeom>
          <a:solidFill>
            <a:srgbClr val="FBBF24">
              <a:alpha val="22000"/>
            </a:srgbClr>
          </a:solidFill>
          <a:ln w="12700">
            <a:solidFill>
              <a:srgbClr val="FBBF24">
                <a:alpha val="50000"/>
              </a:srgbClr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68096" y="3580790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BBF2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Q3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1188720" y="3553358"/>
            <a:ext cx="8726119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Deep learning uses: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10207447" y="3571646"/>
            <a:ext cx="1371600" cy="347472"/>
          </a:xfrm>
          <a:prstGeom prst="roundRect">
            <a:avLst>
              <a:gd name="adj" fmla="val 15789"/>
            </a:avLst>
          </a:prstGeom>
          <a:solidFill>
            <a:srgbClr val="A78BFA">
              <a:alpha val="20000"/>
            </a:srgbClr>
          </a:solidFill>
          <a:ln w="12700">
            <a:solidFill>
              <a:srgbClr val="A78BFA">
                <a:alpha val="60000"/>
              </a:srgbClr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10207447" y="3571646"/>
            <a:ext cx="13716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Answer: D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1115568" y="3964838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A. </a:t>
            </a:r>
            <a:r>
              <a:rPr lang="en-US" sz="11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Only spreadsheets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3674288" y="3964838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B. </a:t>
            </a:r>
            <a:r>
              <a:rPr lang="en-US" sz="11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Only written rules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6233008" y="3964838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C. </a:t>
            </a:r>
            <a:r>
              <a:rPr lang="en-US" sz="11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Only databases</a:t>
            </a:r>
            <a:endParaRPr lang="en-US" sz="1050" dirty="0"/>
          </a:p>
        </p:txBody>
      </p:sp>
      <p:sp>
        <p:nvSpPr>
          <p:cNvPr id="35" name="Text 33"/>
          <p:cNvSpPr txBox="1"/>
          <p:nvPr/>
        </p:nvSpPr>
        <p:spPr>
          <a:xfrm>
            <a:off x="8791727" y="3964838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D. </a:t>
            </a: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Neural networks with many layers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66928" y="4411066"/>
            <a:ext cx="11057839" cy="848563"/>
          </a:xfrm>
          <a:prstGeom prst="roundRect">
            <a:avLst>
              <a:gd name="adj" fmla="val 8621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768096" y="4557370"/>
            <a:ext cx="310896" cy="310896"/>
          </a:xfrm>
          <a:prstGeom prst="ellipse">
            <a:avLst/>
          </a:prstGeom>
          <a:solidFill>
            <a:srgbClr val="FBBF24">
              <a:alpha val="22000"/>
            </a:srgbClr>
          </a:solidFill>
          <a:ln w="12700">
            <a:solidFill>
              <a:srgbClr val="FBBF24">
                <a:alpha val="50000"/>
              </a:srgbClr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768096" y="4557370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BBF2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Q4</a:t>
            </a:r>
            <a:endParaRPr lang="en-US" sz="900" dirty="0"/>
          </a:p>
        </p:txBody>
      </p:sp>
      <p:sp>
        <p:nvSpPr>
          <p:cNvPr id="39" name="Text 37"/>
          <p:cNvSpPr txBox="1"/>
          <p:nvPr/>
        </p:nvSpPr>
        <p:spPr>
          <a:xfrm>
            <a:off x="1188720" y="4529938"/>
            <a:ext cx="8726119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Generative AI is different because it:</a:t>
            </a:r>
            <a:endParaRPr lang="en-US" sz="1250" dirty="0"/>
          </a:p>
        </p:txBody>
      </p:sp>
      <p:sp>
        <p:nvSpPr>
          <p:cNvPr id="40" name="Shape 38"/>
          <p:cNvSpPr/>
          <p:nvPr/>
        </p:nvSpPr>
        <p:spPr>
          <a:xfrm>
            <a:off x="10207447" y="4548226"/>
            <a:ext cx="1371600" cy="347472"/>
          </a:xfrm>
          <a:prstGeom prst="roundRect">
            <a:avLst>
              <a:gd name="adj" fmla="val 15789"/>
            </a:avLst>
          </a:prstGeom>
          <a:solidFill>
            <a:srgbClr val="A78BFA">
              <a:alpha val="20000"/>
            </a:srgbClr>
          </a:solidFill>
          <a:ln w="12700">
            <a:solidFill>
              <a:srgbClr val="A78BFA">
                <a:alpha val="60000"/>
              </a:srgbClr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10207447" y="4548226"/>
            <a:ext cx="13716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Answer: A</a:t>
            </a:r>
            <a:endParaRPr lang="en-US" sz="1050" dirty="0"/>
          </a:p>
        </p:txBody>
      </p:sp>
      <p:sp>
        <p:nvSpPr>
          <p:cNvPr id="42" name="Text 40"/>
          <p:cNvSpPr txBox="1"/>
          <p:nvPr/>
        </p:nvSpPr>
        <p:spPr>
          <a:xfrm>
            <a:off x="1115568" y="4941418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A. </a:t>
            </a: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Creates new content</a:t>
            </a:r>
            <a:endParaRPr lang="en-US" sz="1050" dirty="0"/>
          </a:p>
        </p:txBody>
      </p:sp>
      <p:sp>
        <p:nvSpPr>
          <p:cNvPr id="43" name="Text 41"/>
          <p:cNvSpPr txBox="1"/>
          <p:nvPr/>
        </p:nvSpPr>
        <p:spPr>
          <a:xfrm>
            <a:off x="3674288" y="4941418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B. </a:t>
            </a:r>
            <a:r>
              <a:rPr lang="en-US" sz="11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Only sorts emails</a:t>
            </a:r>
            <a:endParaRPr lang="en-US" sz="1050" dirty="0"/>
          </a:p>
        </p:txBody>
      </p:sp>
      <p:sp>
        <p:nvSpPr>
          <p:cNvPr id="44" name="Text 42"/>
          <p:cNvSpPr txBox="1"/>
          <p:nvPr/>
        </p:nvSpPr>
        <p:spPr>
          <a:xfrm>
            <a:off x="6233008" y="4941418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C. </a:t>
            </a:r>
            <a:r>
              <a:rPr lang="en-US" sz="11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Only counts numbers</a:t>
            </a:r>
            <a:endParaRPr lang="en-US" sz="1050" dirty="0"/>
          </a:p>
        </p:txBody>
      </p:sp>
      <p:sp>
        <p:nvSpPr>
          <p:cNvPr id="45" name="Text 43"/>
          <p:cNvSpPr txBox="1"/>
          <p:nvPr/>
        </p:nvSpPr>
        <p:spPr>
          <a:xfrm>
            <a:off x="8791727" y="4941418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D. </a:t>
            </a:r>
            <a:r>
              <a:rPr lang="en-US" sz="11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Only stores data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566928" y="5387645"/>
            <a:ext cx="11057839" cy="848563"/>
          </a:xfrm>
          <a:prstGeom prst="roundRect">
            <a:avLst>
              <a:gd name="adj" fmla="val 8621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768096" y="5533949"/>
            <a:ext cx="310896" cy="310896"/>
          </a:xfrm>
          <a:prstGeom prst="ellipse">
            <a:avLst/>
          </a:prstGeom>
          <a:solidFill>
            <a:srgbClr val="FBBF24">
              <a:alpha val="22000"/>
            </a:srgbClr>
          </a:solidFill>
          <a:ln w="12700">
            <a:solidFill>
              <a:srgbClr val="FBBF24">
                <a:alpha val="50000"/>
              </a:srgbClr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768096" y="5533949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BBF2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Q5</a:t>
            </a:r>
            <a:endParaRPr lang="en-US" sz="900" dirty="0"/>
          </a:p>
        </p:txBody>
      </p:sp>
      <p:sp>
        <p:nvSpPr>
          <p:cNvPr id="49" name="Text 47"/>
          <p:cNvSpPr txBox="1"/>
          <p:nvPr/>
        </p:nvSpPr>
        <p:spPr>
          <a:xfrm>
            <a:off x="1188720" y="5506517"/>
            <a:ext cx="8726119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Which order is correct, widest first?</a:t>
            </a:r>
            <a:endParaRPr lang="en-US" sz="1250" dirty="0"/>
          </a:p>
        </p:txBody>
      </p:sp>
      <p:sp>
        <p:nvSpPr>
          <p:cNvPr id="50" name="Shape 48"/>
          <p:cNvSpPr/>
          <p:nvPr/>
        </p:nvSpPr>
        <p:spPr>
          <a:xfrm>
            <a:off x="10207447" y="5524805"/>
            <a:ext cx="1371600" cy="347472"/>
          </a:xfrm>
          <a:prstGeom prst="roundRect">
            <a:avLst>
              <a:gd name="adj" fmla="val 15789"/>
            </a:avLst>
          </a:prstGeom>
          <a:solidFill>
            <a:srgbClr val="A78BFA">
              <a:alpha val="20000"/>
            </a:srgbClr>
          </a:solidFill>
          <a:ln w="12700">
            <a:solidFill>
              <a:srgbClr val="A78BFA">
                <a:alpha val="60000"/>
              </a:srgbClr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10207447" y="5524805"/>
            <a:ext cx="13716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Answer: B</a:t>
            </a:r>
            <a:endParaRPr lang="en-US" sz="1050" dirty="0"/>
          </a:p>
        </p:txBody>
      </p:sp>
      <p:sp>
        <p:nvSpPr>
          <p:cNvPr id="52" name="Text 50"/>
          <p:cNvSpPr txBox="1"/>
          <p:nvPr/>
        </p:nvSpPr>
        <p:spPr>
          <a:xfrm>
            <a:off x="1115568" y="5917997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A. </a:t>
            </a:r>
            <a:r>
              <a:rPr lang="en-US" sz="11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Gen AI, AI, ML, DL</a:t>
            </a:r>
            <a:endParaRPr lang="en-US" sz="1050" dirty="0"/>
          </a:p>
        </p:txBody>
      </p:sp>
      <p:sp>
        <p:nvSpPr>
          <p:cNvPr id="53" name="Text 51"/>
          <p:cNvSpPr txBox="1"/>
          <p:nvPr/>
        </p:nvSpPr>
        <p:spPr>
          <a:xfrm>
            <a:off x="3674288" y="5917997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B. </a:t>
            </a: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AI, ML, Deep Learning, Gen AI</a:t>
            </a:r>
            <a:endParaRPr lang="en-US" sz="1050" dirty="0"/>
          </a:p>
        </p:txBody>
      </p:sp>
      <p:sp>
        <p:nvSpPr>
          <p:cNvPr id="54" name="Text 52"/>
          <p:cNvSpPr txBox="1"/>
          <p:nvPr/>
        </p:nvSpPr>
        <p:spPr>
          <a:xfrm>
            <a:off x="6233008" y="5917997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C. </a:t>
            </a:r>
            <a:r>
              <a:rPr lang="en-US" sz="11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ML, AI, Gen AI, DL</a:t>
            </a:r>
            <a:endParaRPr lang="en-US" sz="1050" dirty="0"/>
          </a:p>
        </p:txBody>
      </p:sp>
      <p:sp>
        <p:nvSpPr>
          <p:cNvPr id="55" name="Text 53"/>
          <p:cNvSpPr txBox="1"/>
          <p:nvPr/>
        </p:nvSpPr>
        <p:spPr>
          <a:xfrm>
            <a:off x="8791727" y="5917997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D. </a:t>
            </a:r>
            <a:r>
              <a:rPr lang="en-US" sz="11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DL, Gen AI, AI, ML</a:t>
            </a:r>
            <a:endParaRPr lang="en-US" sz="10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49808" y="1874520"/>
            <a:ext cx="58521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SECTION 03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49808" y="2240280"/>
            <a:ext cx="6035040" cy="1554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How Generative AI Works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749808" y="3886200"/>
            <a:ext cx="5852160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Data, training, models, tokens and what actually happens when you press Enter.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49808" y="4846320"/>
            <a:ext cx="1463040" cy="64008"/>
          </a:xfrm>
          <a:prstGeom prst="roundRect">
            <a:avLst>
              <a:gd name="adj" fmla="val 42857"/>
            </a:avLst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32320" y="1143000"/>
            <a:ext cx="4492447" cy="797357"/>
          </a:xfrm>
          <a:prstGeom prst="roundRect">
            <a:avLst>
              <a:gd name="adj" fmla="val 9174"/>
            </a:avLst>
          </a:prstGeom>
          <a:solidFill>
            <a:srgbClr val="191640"/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51776" y="1313078"/>
            <a:ext cx="457200" cy="457200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66076" y="1427378"/>
            <a:ext cx="228600" cy="22860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8010144" y="1143000"/>
            <a:ext cx="3303727" cy="79735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Data &amp; Training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7132320" y="2086661"/>
            <a:ext cx="4492447" cy="797357"/>
          </a:xfrm>
          <a:prstGeom prst="roundRect">
            <a:avLst>
              <a:gd name="adj" fmla="val 9174"/>
            </a:avLst>
          </a:prstGeom>
          <a:solidFill>
            <a:srgbClr val="191640"/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7351776" y="2256739"/>
            <a:ext cx="457200" cy="457200"/>
          </a:xfrm>
          <a:prstGeom prst="ellipse">
            <a:avLst/>
          </a:prstGeom>
          <a:solidFill>
            <a:srgbClr val="22D3EE">
              <a:alpha val="16000"/>
            </a:srgbClr>
          </a:solidFill>
          <a:ln w="12700">
            <a:solidFill>
              <a:srgbClr val="22D3EE">
                <a:alpha val="45000"/>
              </a:srgbClr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6076" y="2371039"/>
            <a:ext cx="228600" cy="22860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8010144" y="2086661"/>
            <a:ext cx="3303727" cy="79735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Models &amp; Parameters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7132320" y="3030322"/>
            <a:ext cx="4492447" cy="797357"/>
          </a:xfrm>
          <a:prstGeom prst="roundRect">
            <a:avLst>
              <a:gd name="adj" fmla="val 9174"/>
            </a:avLst>
          </a:prstGeom>
          <a:solidFill>
            <a:srgbClr val="191640"/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351776" y="3200400"/>
            <a:ext cx="457200" cy="457200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6076" y="3314700"/>
            <a:ext cx="228600" cy="22860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010144" y="3030322"/>
            <a:ext cx="3303727" cy="79735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Tokens</a:t>
            </a:r>
            <a:endParaRPr lang="en-US" sz="1350" dirty="0"/>
          </a:p>
        </p:txBody>
      </p:sp>
      <p:sp>
        <p:nvSpPr>
          <p:cNvPr id="18" name="Shape 13"/>
          <p:cNvSpPr/>
          <p:nvPr/>
        </p:nvSpPr>
        <p:spPr>
          <a:xfrm>
            <a:off x="7132320" y="3973982"/>
            <a:ext cx="4492447" cy="797357"/>
          </a:xfrm>
          <a:prstGeom prst="roundRect">
            <a:avLst>
              <a:gd name="adj" fmla="val 9174"/>
            </a:avLst>
          </a:prstGeom>
          <a:solidFill>
            <a:srgbClr val="191640"/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7351776" y="4144061"/>
            <a:ext cx="457200" cy="457200"/>
          </a:xfrm>
          <a:prstGeom prst="ellipse">
            <a:avLst/>
          </a:prstGeom>
          <a:solidFill>
            <a:srgbClr val="34D399">
              <a:alpha val="16000"/>
            </a:srgbClr>
          </a:solidFill>
          <a:ln w="12700">
            <a:solidFill>
              <a:srgbClr val="34D399">
                <a:alpha val="45000"/>
              </a:srgbClr>
            </a:solidFill>
            <a:prstDash val="solid"/>
          </a:ln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66076" y="4258361"/>
            <a:ext cx="228600" cy="22860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8010144" y="3973982"/>
            <a:ext cx="3303727" cy="79735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Context &amp; Temperature</a:t>
            </a:r>
            <a:endParaRPr lang="en-US" sz="1350" dirty="0"/>
          </a:p>
        </p:txBody>
      </p:sp>
      <p:sp>
        <p:nvSpPr>
          <p:cNvPr id="22" name="Shape 16"/>
          <p:cNvSpPr/>
          <p:nvPr/>
        </p:nvSpPr>
        <p:spPr>
          <a:xfrm>
            <a:off x="7132320" y="4917643"/>
            <a:ext cx="4492447" cy="797357"/>
          </a:xfrm>
          <a:prstGeom prst="roundRect">
            <a:avLst>
              <a:gd name="adj" fmla="val 9174"/>
            </a:avLst>
          </a:prstGeom>
          <a:solidFill>
            <a:srgbClr val="191640"/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7351776" y="5087722"/>
            <a:ext cx="457200" cy="457200"/>
          </a:xfrm>
          <a:prstGeom prst="ellipse">
            <a:avLst/>
          </a:prstGeom>
          <a:solidFill>
            <a:srgbClr val="F472B6">
              <a:alpha val="16000"/>
            </a:srgbClr>
          </a:solidFill>
          <a:ln w="12700">
            <a:solidFill>
              <a:srgbClr val="F472B6">
                <a:alpha val="45000"/>
              </a:srgbClr>
            </a:solidFill>
            <a:prstDash val="solid"/>
          </a:ln>
        </p:spPr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66076" y="5202022"/>
            <a:ext cx="228600" cy="228600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8010144" y="4917643"/>
            <a:ext cx="3303727" cy="79735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The Full Flow</a:t>
            </a:r>
            <a:endParaRPr lang="en-US" sz="1350" dirty="0"/>
          </a:p>
        </p:txBody>
      </p:sp>
      <p:sp>
        <p:nvSpPr>
          <p:cNvPr id="26" name="Text 19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Section 3 · How Generative AI Works</a:t>
            </a:r>
            <a:endParaRPr lang="en-US" sz="950" dirty="0"/>
          </a:p>
        </p:txBody>
      </p:sp>
      <p:sp>
        <p:nvSpPr>
          <p:cNvPr id="27" name="Text 20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026</a:t>
            </a:r>
            <a:endParaRPr lang="en-US" sz="9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SLIDE 23 · OVERVIEW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How Does Generative AI Work?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Section 3 · How Generative AI Works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027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11057839" cy="877824"/>
          </a:xfrm>
          <a:prstGeom prst="roundRect">
            <a:avLst>
              <a:gd name="adj" fmla="val 8333"/>
            </a:avLst>
          </a:prstGeom>
          <a:solidFill>
            <a:srgbClr val="191640">
              <a:alpha val="96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6928" y="1627632"/>
            <a:ext cx="64008" cy="585216"/>
          </a:xfrm>
          <a:prstGeom prst="roundRect">
            <a:avLst>
              <a:gd name="adj" fmla="val 42857"/>
            </a:avLst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59536" y="1572768"/>
            <a:ext cx="10472623" cy="6949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DDD9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 one sentence: it learned patterns from a huge amount of content, and now it predicts what should come next.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66928" y="2615184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22960" y="2816352"/>
            <a:ext cx="457200" cy="457200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2930652"/>
            <a:ext cx="228600" cy="22860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499616" y="2816352"/>
            <a:ext cx="41847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Step 1 — Learn</a:t>
            </a:r>
            <a:endParaRPr lang="en-US" sz="1450" dirty="0"/>
          </a:p>
        </p:txBody>
      </p:sp>
      <p:sp>
        <p:nvSpPr>
          <p:cNvPr id="13" name="Text 10"/>
          <p:cNvSpPr txBox="1"/>
          <p:nvPr/>
        </p:nvSpPr>
        <p:spPr>
          <a:xfrm>
            <a:off x="841248" y="3419856"/>
            <a:ext cx="484312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model reads an enormous amount of text (or images) and learns which pieces usually follow which.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33008" y="2615184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489040" y="2816352"/>
            <a:ext cx="457200" cy="457200"/>
          </a:xfrm>
          <a:prstGeom prst="ellipse">
            <a:avLst/>
          </a:prstGeom>
          <a:solidFill>
            <a:srgbClr val="22D3EE">
              <a:alpha val="16000"/>
            </a:srgbClr>
          </a:solidFill>
          <a:ln w="12700">
            <a:solidFill>
              <a:srgbClr val="22D3EE">
                <a:alpha val="45000"/>
              </a:srgbClr>
            </a:solidFill>
            <a:prstDash val="solid"/>
          </a:ln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3340" y="2930652"/>
            <a:ext cx="228600" cy="22860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7165696" y="2816352"/>
            <a:ext cx="41847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Step 2 — Store</a:t>
            </a:r>
            <a:endParaRPr lang="en-US" sz="1450" dirty="0"/>
          </a:p>
        </p:txBody>
      </p:sp>
      <p:sp>
        <p:nvSpPr>
          <p:cNvPr id="18" name="Text 14"/>
          <p:cNvSpPr txBox="1"/>
          <p:nvPr/>
        </p:nvSpPr>
        <p:spPr>
          <a:xfrm>
            <a:off x="6507328" y="3419856"/>
            <a:ext cx="484312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it learned is stored as billions of numbers called parameters, inside a file called a model.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566928" y="4530149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822960" y="4731317"/>
            <a:ext cx="457200" cy="457200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260" y="4845617"/>
            <a:ext cx="228600" cy="22860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499616" y="4731317"/>
            <a:ext cx="41847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Step 3 — Generate</a:t>
            </a:r>
            <a:endParaRPr lang="en-US" sz="1450" dirty="0"/>
          </a:p>
        </p:txBody>
      </p:sp>
      <p:sp>
        <p:nvSpPr>
          <p:cNvPr id="23" name="Text 18"/>
          <p:cNvSpPr txBox="1"/>
          <p:nvPr/>
        </p:nvSpPr>
        <p:spPr>
          <a:xfrm>
            <a:off x="841248" y="5334821"/>
            <a:ext cx="484312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You give a prompt. The model predicts the most suitable next piece, again and again, until the answer is complete.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6233008" y="4530149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6489040" y="4731317"/>
            <a:ext cx="457200" cy="457200"/>
          </a:xfrm>
          <a:prstGeom prst="ellipse">
            <a:avLst/>
          </a:prstGeom>
          <a:solidFill>
            <a:srgbClr val="34D399">
              <a:alpha val="16000"/>
            </a:srgbClr>
          </a:solidFill>
          <a:ln w="12700">
            <a:solidFill>
              <a:srgbClr val="34D399">
                <a:alpha val="45000"/>
              </a:srgbClr>
            </a:solidFill>
            <a:prstDash val="solid"/>
          </a:ln>
        </p:spPr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3340" y="4845617"/>
            <a:ext cx="228600" cy="228600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7165696" y="4731317"/>
            <a:ext cx="41847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The Key Insight</a:t>
            </a:r>
            <a:endParaRPr lang="en-US" sz="1450" dirty="0"/>
          </a:p>
        </p:txBody>
      </p:sp>
      <p:sp>
        <p:nvSpPr>
          <p:cNvPr id="28" name="Text 22"/>
          <p:cNvSpPr txBox="1"/>
          <p:nvPr/>
        </p:nvSpPr>
        <p:spPr>
          <a:xfrm>
            <a:off x="6507328" y="5334821"/>
            <a:ext cx="484312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There is no database of answers inside. Every response is built piece by piece at the moment you ask.</a:t>
            </a:r>
            <a:endParaRPr lang="en-US" sz="12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SLIDE 24 · INGREDIENT 1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Data — The Fuel of Gen AI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Section 3 · How Generative AI Works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028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11057839" cy="877824"/>
          </a:xfrm>
          <a:prstGeom prst="roundRect">
            <a:avLst>
              <a:gd name="adj" fmla="val 8333"/>
            </a:avLst>
          </a:prstGeom>
          <a:solidFill>
            <a:srgbClr val="191640">
              <a:alpha val="96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6928" y="1627632"/>
            <a:ext cx="64008" cy="585216"/>
          </a:xfrm>
          <a:prstGeom prst="roundRect">
            <a:avLst>
              <a:gd name="adj" fmla="val 42857"/>
            </a:avLst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59536" y="1572768"/>
            <a:ext cx="10472623" cy="6949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DDD9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is the collection of examples a model learns from. Without data there is no model.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66928" y="2615184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22960" y="2816352"/>
            <a:ext cx="457200" cy="457200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2930652"/>
            <a:ext cx="228600" cy="22860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499616" y="2816352"/>
            <a:ext cx="41847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What Data Is Used</a:t>
            </a:r>
            <a:endParaRPr lang="en-US" sz="1450" dirty="0"/>
          </a:p>
        </p:txBody>
      </p:sp>
      <p:sp>
        <p:nvSpPr>
          <p:cNvPr id="13" name="Text 10"/>
          <p:cNvSpPr txBox="1"/>
          <p:nvPr/>
        </p:nvSpPr>
        <p:spPr>
          <a:xfrm>
            <a:off x="841248" y="3419856"/>
            <a:ext cx="484312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200"/>
              </a:spcAft>
              <a:buSzPct val="100000"/>
              <a:buChar char="▪"/>
            </a:pPr>
            <a:r>
              <a:rPr lang="en-US" sz="9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Web pages and books</a:t>
            </a:r>
            <a:endParaRPr lang="en-US" sz="900" dirty="0"/>
          </a:p>
          <a:p>
            <a:pPr marL="342900" indent="-342900">
              <a:lnSpc>
                <a:spcPct val="110000"/>
              </a:lnSpc>
              <a:spcAft>
                <a:spcPts val="200"/>
              </a:spcAft>
              <a:buSzPct val="100000"/>
              <a:buChar char="▪"/>
            </a:pPr>
            <a:r>
              <a:rPr lang="en-US" sz="9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Code repositories</a:t>
            </a:r>
            <a:endParaRPr lang="en-US" sz="900" dirty="0"/>
          </a:p>
          <a:p>
            <a:pPr marL="342900" indent="-342900">
              <a:lnSpc>
                <a:spcPct val="110000"/>
              </a:lnSpc>
              <a:spcAft>
                <a:spcPts val="200"/>
              </a:spcAft>
              <a:buSzPct val="100000"/>
              <a:buChar char="▪"/>
            </a:pPr>
            <a:r>
              <a:rPr lang="en-US" sz="9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Images with descriptions</a:t>
            </a:r>
            <a:endParaRPr lang="en-US" sz="900" dirty="0"/>
          </a:p>
          <a:p>
            <a:pPr marL="342900" indent="-342900">
              <a:lnSpc>
                <a:spcPct val="110000"/>
              </a:lnSpc>
              <a:spcAft>
                <a:spcPts val="200"/>
              </a:spcAft>
              <a:buSzPct val="100000"/>
              <a:buChar char="▪"/>
            </a:pPr>
            <a:r>
              <a:rPr lang="en-US" sz="9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Licensed and public datasets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6233008" y="2615184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489040" y="2816352"/>
            <a:ext cx="457200" cy="457200"/>
          </a:xfrm>
          <a:prstGeom prst="ellipse">
            <a:avLst/>
          </a:prstGeom>
          <a:solidFill>
            <a:srgbClr val="22D3EE">
              <a:alpha val="16000"/>
            </a:srgbClr>
          </a:solidFill>
          <a:ln w="12700">
            <a:solidFill>
              <a:srgbClr val="22D3EE">
                <a:alpha val="45000"/>
              </a:srgbClr>
            </a:solidFill>
            <a:prstDash val="solid"/>
          </a:ln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3340" y="2930652"/>
            <a:ext cx="228600" cy="22860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7165696" y="2816352"/>
            <a:ext cx="41847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Data Quality Matters</a:t>
            </a:r>
            <a:endParaRPr lang="en-US" sz="1450" dirty="0"/>
          </a:p>
        </p:txBody>
      </p:sp>
      <p:sp>
        <p:nvSpPr>
          <p:cNvPr id="18" name="Text 14"/>
          <p:cNvSpPr txBox="1"/>
          <p:nvPr/>
        </p:nvSpPr>
        <p:spPr>
          <a:xfrm>
            <a:off x="6507328" y="3419856"/>
            <a:ext cx="484312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Teams clean the data, remove duplicates and filter harmful content before training begins.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566928" y="4530149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822960" y="4731317"/>
            <a:ext cx="457200" cy="457200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260" y="4845617"/>
            <a:ext cx="228600" cy="22860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499616" y="4731317"/>
            <a:ext cx="41847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Bias Comes From Data</a:t>
            </a:r>
            <a:endParaRPr lang="en-US" sz="1450" dirty="0"/>
          </a:p>
        </p:txBody>
      </p:sp>
      <p:sp>
        <p:nvSpPr>
          <p:cNvPr id="23" name="Text 18"/>
          <p:cNvSpPr txBox="1"/>
          <p:nvPr/>
        </p:nvSpPr>
        <p:spPr>
          <a:xfrm>
            <a:off x="841248" y="5334821"/>
            <a:ext cx="484312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If the data over-represents one viewpoint, the model will repeat that viewpoint.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6233008" y="4530149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6489040" y="4731317"/>
            <a:ext cx="457200" cy="457200"/>
          </a:xfrm>
          <a:prstGeom prst="ellipse">
            <a:avLst/>
          </a:prstGeom>
          <a:solidFill>
            <a:srgbClr val="34D399">
              <a:alpha val="16000"/>
            </a:srgbClr>
          </a:solidFill>
          <a:ln w="12700">
            <a:solidFill>
              <a:srgbClr val="34D399">
                <a:alpha val="45000"/>
              </a:srgbClr>
            </a:solidFill>
            <a:prstDash val="solid"/>
          </a:ln>
        </p:spPr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3340" y="4845617"/>
            <a:ext cx="228600" cy="228600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7165696" y="4731317"/>
            <a:ext cx="41847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Data Has A Cut-Off</a:t>
            </a:r>
            <a:endParaRPr lang="en-US" sz="1450" dirty="0"/>
          </a:p>
        </p:txBody>
      </p:sp>
      <p:sp>
        <p:nvSpPr>
          <p:cNvPr id="28" name="Text 22"/>
          <p:cNvSpPr txBox="1"/>
          <p:nvPr/>
        </p:nvSpPr>
        <p:spPr>
          <a:xfrm>
            <a:off x="6507328" y="5334821"/>
            <a:ext cx="484312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model only knows what existed in its training data. Newer events need search or documents supplied at question time.</a:t>
            </a:r>
            <a:endParaRPr lang="en-US" sz="12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SLIDE 25 · INGREDIENT 2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Training — Teaching the Model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Section 3 · How Generative AI Works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029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11057839" cy="877824"/>
          </a:xfrm>
          <a:prstGeom prst="roundRect">
            <a:avLst>
              <a:gd name="adj" fmla="val 8333"/>
            </a:avLst>
          </a:prstGeom>
          <a:solidFill>
            <a:srgbClr val="191640">
              <a:alpha val="96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6928" y="1627632"/>
            <a:ext cx="64008" cy="585216"/>
          </a:xfrm>
          <a:prstGeom prst="roundRect">
            <a:avLst>
              <a:gd name="adj" fmla="val 42857"/>
            </a:avLst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59536" y="1572768"/>
            <a:ext cx="10472623" cy="6949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DDD9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Training is the process where the model adjusts its internal numbers until its predictions become good.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66928" y="2615184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22960" y="2816352"/>
            <a:ext cx="457200" cy="457200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2930652"/>
            <a:ext cx="228600" cy="22860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499616" y="2816352"/>
            <a:ext cx="41847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How It Works</a:t>
            </a:r>
            <a:endParaRPr lang="en-US" sz="1450" dirty="0"/>
          </a:p>
        </p:txBody>
      </p:sp>
      <p:sp>
        <p:nvSpPr>
          <p:cNvPr id="13" name="Text 10"/>
          <p:cNvSpPr txBox="1"/>
          <p:nvPr/>
        </p:nvSpPr>
        <p:spPr>
          <a:xfrm>
            <a:off x="841248" y="3419856"/>
            <a:ext cx="484312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model guesses the next word, compares its guess with the real word, and slightly corrects itself. This repeats billions of times.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33008" y="2615184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489040" y="2816352"/>
            <a:ext cx="457200" cy="457200"/>
          </a:xfrm>
          <a:prstGeom prst="ellipse">
            <a:avLst/>
          </a:prstGeom>
          <a:solidFill>
            <a:srgbClr val="22D3EE">
              <a:alpha val="16000"/>
            </a:srgbClr>
          </a:solidFill>
          <a:ln w="12700">
            <a:solidFill>
              <a:srgbClr val="22D3EE">
                <a:alpha val="45000"/>
              </a:srgbClr>
            </a:solidFill>
            <a:prstDash val="solid"/>
          </a:ln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3340" y="2930652"/>
            <a:ext cx="228600" cy="22860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7165696" y="2816352"/>
            <a:ext cx="41847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What It Costs</a:t>
            </a:r>
            <a:endParaRPr lang="en-US" sz="1450" dirty="0"/>
          </a:p>
        </p:txBody>
      </p:sp>
      <p:sp>
        <p:nvSpPr>
          <p:cNvPr id="18" name="Text 14"/>
          <p:cNvSpPr txBox="1"/>
          <p:nvPr/>
        </p:nvSpPr>
        <p:spPr>
          <a:xfrm>
            <a:off x="6507328" y="3419856"/>
            <a:ext cx="484312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Training a large model needs thousands of specialised chips running for weeks, which is very expensive.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566928" y="4530149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822960" y="4731317"/>
            <a:ext cx="457200" cy="457200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260" y="4845617"/>
            <a:ext cx="228600" cy="22860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499616" y="4731317"/>
            <a:ext cx="41847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When It Happens</a:t>
            </a:r>
            <a:endParaRPr lang="en-US" sz="1450" dirty="0"/>
          </a:p>
        </p:txBody>
      </p:sp>
      <p:sp>
        <p:nvSpPr>
          <p:cNvPr id="23" name="Text 18"/>
          <p:cNvSpPr txBox="1"/>
          <p:nvPr/>
        </p:nvSpPr>
        <p:spPr>
          <a:xfrm>
            <a:off x="841248" y="5334821"/>
            <a:ext cx="484312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Once, before the model is released. It does not learn from your chat messages afterwards.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6233008" y="4530149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6489040" y="4731317"/>
            <a:ext cx="457200" cy="457200"/>
          </a:xfrm>
          <a:prstGeom prst="ellipse">
            <a:avLst/>
          </a:prstGeom>
          <a:solidFill>
            <a:srgbClr val="34D399">
              <a:alpha val="16000"/>
            </a:srgbClr>
          </a:solidFill>
          <a:ln w="12700">
            <a:solidFill>
              <a:srgbClr val="34D399">
                <a:alpha val="45000"/>
              </a:srgbClr>
            </a:solidFill>
            <a:prstDash val="solid"/>
          </a:ln>
        </p:spPr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3340" y="4845617"/>
            <a:ext cx="228600" cy="228600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7165696" y="4731317"/>
            <a:ext cx="41847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Analogy</a:t>
            </a:r>
            <a:endParaRPr lang="en-US" sz="1450" dirty="0"/>
          </a:p>
        </p:txBody>
      </p:sp>
      <p:sp>
        <p:nvSpPr>
          <p:cNvPr id="28" name="Text 22"/>
          <p:cNvSpPr txBox="1"/>
          <p:nvPr/>
        </p:nvSpPr>
        <p:spPr>
          <a:xfrm>
            <a:off x="6507328" y="5334821"/>
            <a:ext cx="484312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Like years of study before an exam. Once the exam starts, you use what you already learned.</a:t>
            </a:r>
            <a:endParaRPr lang="en-US" sz="12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SLIDE 26 · INGREDIENT 3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What is an AI Model?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Section 3 · How Generative AI Works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030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11057839" cy="877824"/>
          </a:xfrm>
          <a:prstGeom prst="roundRect">
            <a:avLst>
              <a:gd name="adj" fmla="val 8333"/>
            </a:avLst>
          </a:prstGeom>
          <a:solidFill>
            <a:srgbClr val="191640">
              <a:alpha val="96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6928" y="1627632"/>
            <a:ext cx="64008" cy="585216"/>
          </a:xfrm>
          <a:prstGeom prst="roundRect">
            <a:avLst>
              <a:gd name="adj" fmla="val 42857"/>
            </a:avLst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59536" y="1572768"/>
            <a:ext cx="10472623" cy="6949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DDD9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model is the saved result of training — a large file of numbers that knows how to turn input into output.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66928" y="2615184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22960" y="2816352"/>
            <a:ext cx="457200" cy="457200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2930652"/>
            <a:ext cx="228600" cy="22860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499616" y="2816352"/>
            <a:ext cx="41847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Simple Explanation</a:t>
            </a:r>
            <a:endParaRPr lang="en-US" sz="1450" dirty="0"/>
          </a:p>
        </p:txBody>
      </p:sp>
      <p:sp>
        <p:nvSpPr>
          <p:cNvPr id="13" name="Text 10"/>
          <p:cNvSpPr txBox="1"/>
          <p:nvPr/>
        </p:nvSpPr>
        <p:spPr>
          <a:xfrm>
            <a:off x="841248" y="3419856"/>
            <a:ext cx="484312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It is not a program full of rules. It is a huge set of learned numbers plus the structure that uses them.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33008" y="2615184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489040" y="2816352"/>
            <a:ext cx="457200" cy="457200"/>
          </a:xfrm>
          <a:prstGeom prst="ellipse">
            <a:avLst/>
          </a:prstGeom>
          <a:solidFill>
            <a:srgbClr val="22D3EE">
              <a:alpha val="16000"/>
            </a:srgbClr>
          </a:solidFill>
          <a:ln w="12700">
            <a:solidFill>
              <a:srgbClr val="22D3EE">
                <a:alpha val="45000"/>
              </a:srgbClr>
            </a:solidFill>
            <a:prstDash val="solid"/>
          </a:ln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3340" y="2930652"/>
            <a:ext cx="228600" cy="22860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7165696" y="2816352"/>
            <a:ext cx="41847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What Is Inside</a:t>
            </a:r>
            <a:endParaRPr lang="en-US" sz="1450" dirty="0"/>
          </a:p>
        </p:txBody>
      </p:sp>
      <p:sp>
        <p:nvSpPr>
          <p:cNvPr id="18" name="Text 14"/>
          <p:cNvSpPr txBox="1"/>
          <p:nvPr/>
        </p:nvSpPr>
        <p:spPr>
          <a:xfrm>
            <a:off x="6507328" y="3419856"/>
            <a:ext cx="484312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Parameters (learned numbers)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architecture, e.g. a transformer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tokenizer that splits text</a:t>
            </a:r>
            <a:endParaRPr lang="en-US" sz="1150" dirty="0"/>
          </a:p>
        </p:txBody>
      </p:sp>
      <p:sp>
        <p:nvSpPr>
          <p:cNvPr id="19" name="Shape 15"/>
          <p:cNvSpPr/>
          <p:nvPr/>
        </p:nvSpPr>
        <p:spPr>
          <a:xfrm>
            <a:off x="566928" y="4530149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822960" y="4731317"/>
            <a:ext cx="457200" cy="457200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260" y="4845617"/>
            <a:ext cx="228600" cy="22860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499616" y="4731317"/>
            <a:ext cx="41847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Model Families</a:t>
            </a:r>
            <a:endParaRPr lang="en-US" sz="1450" dirty="0"/>
          </a:p>
        </p:txBody>
      </p:sp>
      <p:sp>
        <p:nvSpPr>
          <p:cNvPr id="23" name="Text 18"/>
          <p:cNvSpPr txBox="1"/>
          <p:nvPr/>
        </p:nvSpPr>
        <p:spPr>
          <a:xfrm>
            <a:off x="841248" y="5334821"/>
            <a:ext cx="484312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Text models, image models, speech models and multimodal models that handle several types at once.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6233008" y="4530149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6489040" y="4731317"/>
            <a:ext cx="457200" cy="457200"/>
          </a:xfrm>
          <a:prstGeom prst="ellipse">
            <a:avLst/>
          </a:prstGeom>
          <a:solidFill>
            <a:srgbClr val="34D399">
              <a:alpha val="16000"/>
            </a:srgbClr>
          </a:solidFill>
          <a:ln w="12700">
            <a:solidFill>
              <a:srgbClr val="34D399">
                <a:alpha val="45000"/>
              </a:srgbClr>
            </a:solidFill>
            <a:prstDash val="solid"/>
          </a:ln>
        </p:spPr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3340" y="4845617"/>
            <a:ext cx="228600" cy="228600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7165696" y="4731317"/>
            <a:ext cx="41847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Analogy</a:t>
            </a:r>
            <a:endParaRPr lang="en-US" sz="1450" dirty="0"/>
          </a:p>
        </p:txBody>
      </p:sp>
      <p:sp>
        <p:nvSpPr>
          <p:cNvPr id="28" name="Text 22"/>
          <p:cNvSpPr txBox="1"/>
          <p:nvPr/>
        </p:nvSpPr>
        <p:spPr>
          <a:xfrm>
            <a:off x="6507328" y="5334821"/>
            <a:ext cx="484312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recipe book written by experience. The recipes are the parameters; the cook is the software running them.</a:t>
            </a:r>
            <a:endParaRPr lang="en-US" sz="12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SLIDE 27 · INGREDIENT 4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Inference — When You Ask a Question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Section 3 · How Generative AI Works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031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11057839" cy="877824"/>
          </a:xfrm>
          <a:prstGeom prst="roundRect">
            <a:avLst>
              <a:gd name="adj" fmla="val 8333"/>
            </a:avLst>
          </a:prstGeom>
          <a:solidFill>
            <a:srgbClr val="191640">
              <a:alpha val="96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6928" y="1627632"/>
            <a:ext cx="64008" cy="585216"/>
          </a:xfrm>
          <a:prstGeom prst="roundRect">
            <a:avLst>
              <a:gd name="adj" fmla="val 42857"/>
            </a:avLst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59536" y="1572768"/>
            <a:ext cx="10472623" cy="6949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DDD9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Inference is what happens when a trained model is actually used to produce an answer.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66928" y="2615184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22960" y="2816352"/>
            <a:ext cx="457200" cy="457200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2930652"/>
            <a:ext cx="228600" cy="22860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499616" y="2816352"/>
            <a:ext cx="41847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What Happens</a:t>
            </a:r>
            <a:endParaRPr lang="en-US" sz="1450" dirty="0"/>
          </a:p>
        </p:txBody>
      </p:sp>
      <p:sp>
        <p:nvSpPr>
          <p:cNvPr id="13" name="Text 10"/>
          <p:cNvSpPr txBox="1"/>
          <p:nvPr/>
        </p:nvSpPr>
        <p:spPr>
          <a:xfrm>
            <a:off x="841248" y="3419856"/>
            <a:ext cx="484312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Your prompt is split into tokens, passed through the model, and the model predicts the output one token at a time.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33008" y="2615184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489040" y="2816352"/>
            <a:ext cx="457200" cy="457200"/>
          </a:xfrm>
          <a:prstGeom prst="ellipse">
            <a:avLst/>
          </a:prstGeom>
          <a:solidFill>
            <a:srgbClr val="22D3EE">
              <a:alpha val="16000"/>
            </a:srgbClr>
          </a:solidFill>
          <a:ln w="12700">
            <a:solidFill>
              <a:srgbClr val="22D3EE">
                <a:alpha val="45000"/>
              </a:srgbClr>
            </a:solidFill>
            <a:prstDash val="solid"/>
          </a:ln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3340" y="2930652"/>
            <a:ext cx="228600" cy="22860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7165696" y="2816352"/>
            <a:ext cx="41847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How Long It Takes</a:t>
            </a:r>
            <a:endParaRPr lang="en-US" sz="1450" dirty="0"/>
          </a:p>
        </p:txBody>
      </p:sp>
      <p:sp>
        <p:nvSpPr>
          <p:cNvPr id="18" name="Text 14"/>
          <p:cNvSpPr txBox="1"/>
          <p:nvPr/>
        </p:nvSpPr>
        <p:spPr>
          <a:xfrm>
            <a:off x="6507328" y="3419856"/>
            <a:ext cx="484312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Usually seconds. This is why you see the answer appearing word by word on screen.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566928" y="4530149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822960" y="4731317"/>
            <a:ext cx="457200" cy="457200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260" y="4845617"/>
            <a:ext cx="228600" cy="22860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499616" y="4731317"/>
            <a:ext cx="41847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Nothing Is Learned</a:t>
            </a:r>
            <a:endParaRPr lang="en-US" sz="1450" dirty="0"/>
          </a:p>
        </p:txBody>
      </p:sp>
      <p:sp>
        <p:nvSpPr>
          <p:cNvPr id="23" name="Text 18"/>
          <p:cNvSpPr txBox="1"/>
          <p:nvPr/>
        </p:nvSpPr>
        <p:spPr>
          <a:xfrm>
            <a:off x="841248" y="5334821"/>
            <a:ext cx="484312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Inference does not change the model. Your question does not become part of its knowledge.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6233008" y="4530149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6489040" y="4731317"/>
            <a:ext cx="457200" cy="457200"/>
          </a:xfrm>
          <a:prstGeom prst="ellipse">
            <a:avLst/>
          </a:prstGeom>
          <a:solidFill>
            <a:srgbClr val="34D399">
              <a:alpha val="16000"/>
            </a:srgbClr>
          </a:solidFill>
          <a:ln w="12700">
            <a:solidFill>
              <a:srgbClr val="34D399">
                <a:alpha val="45000"/>
              </a:srgbClr>
            </a:solidFill>
            <a:prstDash val="solid"/>
          </a:ln>
        </p:spPr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3340" y="4845617"/>
            <a:ext cx="228600" cy="228600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7165696" y="4731317"/>
            <a:ext cx="41847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Where The Cost Is</a:t>
            </a:r>
            <a:endParaRPr lang="en-US" sz="1450" dirty="0"/>
          </a:p>
        </p:txBody>
      </p:sp>
      <p:sp>
        <p:nvSpPr>
          <p:cNvPr id="28" name="Text 22"/>
          <p:cNvSpPr txBox="1"/>
          <p:nvPr/>
        </p:nvSpPr>
        <p:spPr>
          <a:xfrm>
            <a:off x="6507328" y="5334821"/>
            <a:ext cx="484312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Training is a huge one-time cost. Inference is a small cost paid every single time someone asks.</a:t>
            </a:r>
            <a:endParaRPr lang="en-US" sz="12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SLIDE 28 · COMPARE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Training vs Inference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Section 3 · How Generative AI Works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032</a:t>
            </a:r>
            <a:endParaRPr lang="en-US" sz="950" dirty="0"/>
          </a:p>
        </p:txBody>
      </p:sp>
      <p:graphicFrame>
        <p:nvGraphicFramePr>
          <p:cNvPr id="33" name="Table 0"/>
          <p:cNvGraphicFramePr>
            <a:graphicFrameLocks noGrp="1"/>
          </p:cNvGraphicFramePr>
          <p:nvPr/>
        </p:nvGraphicFramePr>
        <p:xfrm>
          <a:off x="566928" y="1481328"/>
          <a:ext cx="11057839" cy="4374489"/>
        </p:xfrm>
        <a:graphic>
          <a:graphicData uri="http://schemas.openxmlformats.org/drawingml/2006/table">
            <a:tbl>
              <a:tblPr/>
              <a:tblGrid>
                <a:gridCol w="2926080"/>
                <a:gridCol w="4069080"/>
                <a:gridCol w="4062679"/>
              </a:tblGrid>
              <a:tr h="62492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0B0A1E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Point</a:t>
                      </a:r>
                      <a:endParaRPr lang="en-US" sz="13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22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22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22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22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78B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0B0A1E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Training</a:t>
                      </a:r>
                      <a:endParaRPr lang="en-US" sz="13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22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22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22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22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78B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0B0A1E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Inference</a:t>
                      </a:r>
                      <a:endParaRPr lang="en-US" sz="13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22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22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22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22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78BFA"/>
                    </a:solidFill>
                  </a:tcPr>
                </a:tc>
              </a:tr>
              <a:tr h="62492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What happens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22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22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22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22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6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BFC2E4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The model learns from data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22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22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22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22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6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BFC2E4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The model answers a request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22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22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22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22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640"/>
                    </a:solidFill>
                  </a:tcPr>
                </a:tc>
              </a:tr>
              <a:tr h="62492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How often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22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22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22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22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0F2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BFC2E4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Once, before release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22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22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22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22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0F2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BFC2E4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Every time a user asks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22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22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22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22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0F29"/>
                    </a:solidFill>
                  </a:tcPr>
                </a:tc>
              </a:tr>
              <a:tr h="62492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Time taken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22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22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22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22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6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BFC2E4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Weeks or months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22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22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22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22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6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BFC2E4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Seconds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22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22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22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22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640"/>
                    </a:solidFill>
                  </a:tcPr>
                </a:tc>
              </a:tr>
              <a:tr h="62492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Cost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22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22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22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22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0F2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BFC2E4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Very high, one time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22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22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22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22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0F2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BFC2E4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Small each time, but adds up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22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22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22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22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0F29"/>
                    </a:solidFill>
                  </a:tcPr>
                </a:tc>
              </a:tr>
              <a:tr h="62492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Does the model change?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22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22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22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22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6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BFC2E4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Yes, parameters are updated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22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22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22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22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6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BFC2E4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No, parameters stay fixed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22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22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22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22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640"/>
                    </a:solidFill>
                  </a:tcPr>
                </a:tc>
              </a:tr>
              <a:tr h="62492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Who does it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22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22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22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22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0F2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BFC2E4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The organisation building the model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22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22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22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22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0F2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BFC2E4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Anyone using the model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22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22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22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22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0F2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SLIDE 29 · INSIDE THE MODEL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Model Parameters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Section 3 · How Generative AI Works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033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11057839" cy="877824"/>
          </a:xfrm>
          <a:prstGeom prst="roundRect">
            <a:avLst>
              <a:gd name="adj" fmla="val 8333"/>
            </a:avLst>
          </a:prstGeom>
          <a:solidFill>
            <a:srgbClr val="191640">
              <a:alpha val="96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6928" y="1627632"/>
            <a:ext cx="64008" cy="585216"/>
          </a:xfrm>
          <a:prstGeom prst="roundRect">
            <a:avLst>
              <a:gd name="adj" fmla="val 42857"/>
            </a:avLst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59536" y="1572768"/>
            <a:ext cx="10472623" cy="6949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DDD9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Parameters are the learned numbers inside a model. They hold everything the model knows.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66928" y="2615184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22960" y="2816352"/>
            <a:ext cx="457200" cy="457200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2930652"/>
            <a:ext cx="228600" cy="22860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499616" y="2816352"/>
            <a:ext cx="41847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Simple Analogy</a:t>
            </a:r>
            <a:endParaRPr lang="en-US" sz="1450" dirty="0"/>
          </a:p>
        </p:txBody>
      </p:sp>
      <p:sp>
        <p:nvSpPr>
          <p:cNvPr id="13" name="Text 10"/>
          <p:cNvSpPr txBox="1"/>
          <p:nvPr/>
        </p:nvSpPr>
        <p:spPr>
          <a:xfrm>
            <a:off x="841248" y="3419856"/>
            <a:ext cx="484312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Imagine a mixing board with millions of small knobs. Training turns each knob to the right position.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33008" y="2615184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489040" y="2816352"/>
            <a:ext cx="457200" cy="457200"/>
          </a:xfrm>
          <a:prstGeom prst="ellipse">
            <a:avLst/>
          </a:prstGeom>
          <a:solidFill>
            <a:srgbClr val="22D3EE">
              <a:alpha val="16000"/>
            </a:srgbClr>
          </a:solidFill>
          <a:ln w="12700">
            <a:solidFill>
              <a:srgbClr val="22D3EE">
                <a:alpha val="45000"/>
              </a:srgbClr>
            </a:solidFill>
            <a:prstDash val="solid"/>
          </a:ln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3340" y="2930652"/>
            <a:ext cx="228600" cy="22860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7165696" y="2816352"/>
            <a:ext cx="41847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How Many</a:t>
            </a:r>
            <a:endParaRPr lang="en-US" sz="1450" dirty="0"/>
          </a:p>
        </p:txBody>
      </p:sp>
      <p:sp>
        <p:nvSpPr>
          <p:cNvPr id="18" name="Text 14"/>
          <p:cNvSpPr txBox="1"/>
          <p:nvPr/>
        </p:nvSpPr>
        <p:spPr>
          <a:xfrm>
            <a:off x="6507328" y="3419856"/>
            <a:ext cx="484312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Modern large models have billions of parameters. More parameters can mean more capability, but also more cost.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566928" y="4530149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822960" y="4731317"/>
            <a:ext cx="457200" cy="457200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260" y="4845617"/>
            <a:ext cx="228600" cy="22860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499616" y="4731317"/>
            <a:ext cx="41847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Bigger Is Not Always Better</a:t>
            </a:r>
            <a:endParaRPr lang="en-US" sz="1450" dirty="0"/>
          </a:p>
        </p:txBody>
      </p:sp>
      <p:sp>
        <p:nvSpPr>
          <p:cNvPr id="23" name="Text 18"/>
          <p:cNvSpPr txBox="1"/>
          <p:nvPr/>
        </p:nvSpPr>
        <p:spPr>
          <a:xfrm>
            <a:off x="841248" y="5334821"/>
            <a:ext cx="484312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smaller model that is well trained and well suited to the task often beats a larger one for that job.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6233008" y="4530149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6489040" y="4731317"/>
            <a:ext cx="457200" cy="457200"/>
          </a:xfrm>
          <a:prstGeom prst="ellipse">
            <a:avLst/>
          </a:prstGeom>
          <a:solidFill>
            <a:srgbClr val="34D399">
              <a:alpha val="16000"/>
            </a:srgbClr>
          </a:solidFill>
          <a:ln w="12700">
            <a:solidFill>
              <a:srgbClr val="34D399">
                <a:alpha val="45000"/>
              </a:srgbClr>
            </a:solidFill>
            <a:prstDash val="solid"/>
          </a:ln>
        </p:spPr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3340" y="4845617"/>
            <a:ext cx="228600" cy="228600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7165696" y="4731317"/>
            <a:ext cx="41847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Practical Effect</a:t>
            </a:r>
            <a:endParaRPr lang="en-US" sz="1450" dirty="0"/>
          </a:p>
        </p:txBody>
      </p:sp>
      <p:sp>
        <p:nvSpPr>
          <p:cNvPr id="28" name="Text 22"/>
          <p:cNvSpPr txBox="1"/>
          <p:nvPr/>
        </p:nvSpPr>
        <p:spPr>
          <a:xfrm>
            <a:off x="6507328" y="5334821"/>
            <a:ext cx="484312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Parameter count affects memory needed, speed of answers and price per use.</a:t>
            </a:r>
            <a:endParaRPr lang="en-US" sz="12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SLIDE 30 · TEXT PIECES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Tokens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Section 3 · How Generative AI Works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034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11057839" cy="877824"/>
          </a:xfrm>
          <a:prstGeom prst="roundRect">
            <a:avLst>
              <a:gd name="adj" fmla="val 8333"/>
            </a:avLst>
          </a:prstGeom>
          <a:solidFill>
            <a:srgbClr val="191640">
              <a:alpha val="96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6928" y="1627632"/>
            <a:ext cx="64008" cy="585216"/>
          </a:xfrm>
          <a:prstGeom prst="roundRect">
            <a:avLst>
              <a:gd name="adj" fmla="val 42857"/>
            </a:avLst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59536" y="1572768"/>
            <a:ext cx="10472623" cy="6949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DDD9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token is a small piece of text. Models do not read letters or whole words — they read tokens.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66928" y="2615184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22960" y="2816352"/>
            <a:ext cx="457200" cy="457200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2930652"/>
            <a:ext cx="228600" cy="22860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499616" y="2816352"/>
            <a:ext cx="41847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What A Token Looks Like</a:t>
            </a:r>
            <a:endParaRPr lang="en-US" sz="1450" dirty="0"/>
          </a:p>
        </p:txBody>
      </p:sp>
      <p:sp>
        <p:nvSpPr>
          <p:cNvPr id="13" name="Text 10"/>
          <p:cNvSpPr txBox="1"/>
          <p:nvPr/>
        </p:nvSpPr>
        <p:spPr>
          <a:xfrm>
            <a:off x="841248" y="3419856"/>
            <a:ext cx="484312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short word is often one token. A long word may split, for example "unbelievable" into "un", "believ", "able".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33008" y="2615184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489040" y="2816352"/>
            <a:ext cx="457200" cy="457200"/>
          </a:xfrm>
          <a:prstGeom prst="ellipse">
            <a:avLst/>
          </a:prstGeom>
          <a:solidFill>
            <a:srgbClr val="22D3EE">
              <a:alpha val="16000"/>
            </a:srgbClr>
          </a:solidFill>
          <a:ln w="12700">
            <a:solidFill>
              <a:srgbClr val="22D3EE">
                <a:alpha val="45000"/>
              </a:srgbClr>
            </a:solidFill>
            <a:prstDash val="solid"/>
          </a:ln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3340" y="2930652"/>
            <a:ext cx="228600" cy="22860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7165696" y="2816352"/>
            <a:ext cx="41847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Rough Guide For English</a:t>
            </a:r>
            <a:endParaRPr lang="en-US" sz="1450" dirty="0"/>
          </a:p>
        </p:txBody>
      </p:sp>
      <p:sp>
        <p:nvSpPr>
          <p:cNvPr id="18" name="Text 14"/>
          <p:cNvSpPr txBox="1"/>
          <p:nvPr/>
        </p:nvSpPr>
        <p:spPr>
          <a:xfrm>
            <a:off x="6507328" y="3419856"/>
            <a:ext cx="484312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About 3 to 4 characters per token, so roughly 750 words is about 1000 tokens.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566928" y="4530149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822960" y="4731317"/>
            <a:ext cx="457200" cy="457200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260" y="4845617"/>
            <a:ext cx="228600" cy="22860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499616" y="4731317"/>
            <a:ext cx="41847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Why Tokens Matter</a:t>
            </a:r>
            <a:endParaRPr lang="en-US" sz="1450" dirty="0"/>
          </a:p>
        </p:txBody>
      </p:sp>
      <p:sp>
        <p:nvSpPr>
          <p:cNvPr id="23" name="Text 18"/>
          <p:cNvSpPr txBox="1"/>
          <p:nvPr/>
        </p:nvSpPr>
        <p:spPr>
          <a:xfrm>
            <a:off x="841248" y="5334821"/>
            <a:ext cx="484312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Pricing is usually per token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Limits are measured in tokens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Both your input and the reply count</a:t>
            </a:r>
            <a:endParaRPr lang="en-US" sz="1150" dirty="0"/>
          </a:p>
        </p:txBody>
      </p:sp>
      <p:sp>
        <p:nvSpPr>
          <p:cNvPr id="24" name="Shape 19"/>
          <p:cNvSpPr/>
          <p:nvPr/>
        </p:nvSpPr>
        <p:spPr>
          <a:xfrm>
            <a:off x="6233008" y="4530149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6489040" y="4731317"/>
            <a:ext cx="457200" cy="457200"/>
          </a:xfrm>
          <a:prstGeom prst="ellipse">
            <a:avLst/>
          </a:prstGeom>
          <a:solidFill>
            <a:srgbClr val="34D399">
              <a:alpha val="16000"/>
            </a:srgbClr>
          </a:solidFill>
          <a:ln w="12700">
            <a:solidFill>
              <a:srgbClr val="34D399">
                <a:alpha val="45000"/>
              </a:srgbClr>
            </a:solidFill>
            <a:prstDash val="solid"/>
          </a:ln>
        </p:spPr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3340" y="4845617"/>
            <a:ext cx="228600" cy="228600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7165696" y="4731317"/>
            <a:ext cx="41847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Practical Tip</a:t>
            </a:r>
            <a:endParaRPr lang="en-US" sz="1450" dirty="0"/>
          </a:p>
        </p:txBody>
      </p:sp>
      <p:sp>
        <p:nvSpPr>
          <p:cNvPr id="28" name="Text 22"/>
          <p:cNvSpPr txBox="1"/>
          <p:nvPr/>
        </p:nvSpPr>
        <p:spPr>
          <a:xfrm>
            <a:off x="6507328" y="5334821"/>
            <a:ext cx="484312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Shorter, clearer prompts cost less and often produce better answers than very long rambling ones.</a:t>
            </a:r>
            <a:endParaRPr lang="en-US" sz="12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SLIDE 31 · MEMORY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Context Window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Section 3 · How Generative AI Works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035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11057839" cy="877824"/>
          </a:xfrm>
          <a:prstGeom prst="roundRect">
            <a:avLst>
              <a:gd name="adj" fmla="val 8333"/>
            </a:avLst>
          </a:prstGeom>
          <a:solidFill>
            <a:srgbClr val="191640">
              <a:alpha val="96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6928" y="1627632"/>
            <a:ext cx="64008" cy="585216"/>
          </a:xfrm>
          <a:prstGeom prst="roundRect">
            <a:avLst>
              <a:gd name="adj" fmla="val 42857"/>
            </a:avLst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59536" y="1572768"/>
            <a:ext cx="10472623" cy="6949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DDD9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context window is how much text the model can look at in one request — your prompt plus its answer.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66928" y="2615184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22960" y="2816352"/>
            <a:ext cx="457200" cy="457200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2930652"/>
            <a:ext cx="228600" cy="22860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499616" y="2816352"/>
            <a:ext cx="41847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Simple Explanation</a:t>
            </a:r>
            <a:endParaRPr lang="en-US" sz="1450" dirty="0"/>
          </a:p>
        </p:txBody>
      </p:sp>
      <p:sp>
        <p:nvSpPr>
          <p:cNvPr id="13" name="Text 10"/>
          <p:cNvSpPr txBox="1"/>
          <p:nvPr/>
        </p:nvSpPr>
        <p:spPr>
          <a:xfrm>
            <a:off x="841248" y="3419856"/>
            <a:ext cx="484312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Think of a desk. Only what fits on the desk can be used right now. Everything else is out of view.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33008" y="2615184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489040" y="2816352"/>
            <a:ext cx="457200" cy="457200"/>
          </a:xfrm>
          <a:prstGeom prst="ellipse">
            <a:avLst/>
          </a:prstGeom>
          <a:solidFill>
            <a:srgbClr val="22D3EE">
              <a:alpha val="16000"/>
            </a:srgbClr>
          </a:solidFill>
          <a:ln w="12700">
            <a:solidFill>
              <a:srgbClr val="22D3EE">
                <a:alpha val="45000"/>
              </a:srgbClr>
            </a:solidFill>
            <a:prstDash val="solid"/>
          </a:ln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3340" y="2930652"/>
            <a:ext cx="228600" cy="22860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7165696" y="2816352"/>
            <a:ext cx="41847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In A Chat</a:t>
            </a:r>
            <a:endParaRPr lang="en-US" sz="1450" dirty="0"/>
          </a:p>
        </p:txBody>
      </p:sp>
      <p:sp>
        <p:nvSpPr>
          <p:cNvPr id="18" name="Text 14"/>
          <p:cNvSpPr txBox="1"/>
          <p:nvPr/>
        </p:nvSpPr>
        <p:spPr>
          <a:xfrm>
            <a:off x="6507328" y="3419856"/>
            <a:ext cx="484312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Earlier messages are re-sent with each new question. That is how the model appears to remember the conversation.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566928" y="4530149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822960" y="4731317"/>
            <a:ext cx="457200" cy="457200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260" y="4845617"/>
            <a:ext cx="228600" cy="22860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499616" y="4731317"/>
            <a:ext cx="41847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When It Fills Up</a:t>
            </a:r>
            <a:endParaRPr lang="en-US" sz="1450" dirty="0"/>
          </a:p>
        </p:txBody>
      </p:sp>
      <p:sp>
        <p:nvSpPr>
          <p:cNvPr id="23" name="Text 18"/>
          <p:cNvSpPr txBox="1"/>
          <p:nvPr/>
        </p:nvSpPr>
        <p:spPr>
          <a:xfrm>
            <a:off x="841248" y="5334821"/>
            <a:ext cx="484312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Very old messages fall out of the window, and the model can start to forget earlier details.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6233008" y="4530149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6489040" y="4731317"/>
            <a:ext cx="457200" cy="457200"/>
          </a:xfrm>
          <a:prstGeom prst="ellipse">
            <a:avLst/>
          </a:prstGeom>
          <a:solidFill>
            <a:srgbClr val="34D399">
              <a:alpha val="16000"/>
            </a:srgbClr>
          </a:solidFill>
          <a:ln w="12700">
            <a:solidFill>
              <a:srgbClr val="34D399">
                <a:alpha val="45000"/>
              </a:srgbClr>
            </a:solidFill>
            <a:prstDash val="solid"/>
          </a:ln>
        </p:spPr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3340" y="4845617"/>
            <a:ext cx="228600" cy="228600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7165696" y="4731317"/>
            <a:ext cx="41847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Practical Tip</a:t>
            </a:r>
            <a:endParaRPr lang="en-US" sz="1450" dirty="0"/>
          </a:p>
        </p:txBody>
      </p:sp>
      <p:sp>
        <p:nvSpPr>
          <p:cNvPr id="28" name="Text 22"/>
          <p:cNvSpPr txBox="1"/>
          <p:nvPr/>
        </p:nvSpPr>
        <p:spPr>
          <a:xfrm>
            <a:off x="6507328" y="5334821"/>
            <a:ext cx="484312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For long conversations, restate the key facts, or start a fresh chat with a short summary.</a:t>
            </a:r>
            <a:endParaRPr lang="en-US" sz="12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SLIDE 32 · SETTING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Temperature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Section 3 · How Generative AI Works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036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11057839" cy="877824"/>
          </a:xfrm>
          <a:prstGeom prst="roundRect">
            <a:avLst>
              <a:gd name="adj" fmla="val 8333"/>
            </a:avLst>
          </a:prstGeom>
          <a:solidFill>
            <a:srgbClr val="191640">
              <a:alpha val="96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6928" y="1627632"/>
            <a:ext cx="64008" cy="585216"/>
          </a:xfrm>
          <a:prstGeom prst="roundRect">
            <a:avLst>
              <a:gd name="adj" fmla="val 42857"/>
            </a:avLst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59536" y="1572768"/>
            <a:ext cx="10472623" cy="6949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DDD9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Temperature is a setting that controls how predictable or how varied the output will be.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66928" y="2615184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22960" y="2816352"/>
            <a:ext cx="457200" cy="457200"/>
          </a:xfrm>
          <a:prstGeom prst="ellipse">
            <a:avLst/>
          </a:prstGeom>
          <a:solidFill>
            <a:srgbClr val="22D3EE">
              <a:alpha val="16000"/>
            </a:srgbClr>
          </a:solidFill>
          <a:ln w="12700">
            <a:solidFill>
              <a:srgbClr val="22D3EE">
                <a:alpha val="45000"/>
              </a:srgbClr>
            </a:solidFill>
            <a:prstDash val="solid"/>
          </a:ln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2930652"/>
            <a:ext cx="228600" cy="22860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499616" y="2816352"/>
            <a:ext cx="41847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Low Temperature</a:t>
            </a:r>
            <a:endParaRPr lang="en-US" sz="1450" dirty="0"/>
          </a:p>
        </p:txBody>
      </p:sp>
      <p:sp>
        <p:nvSpPr>
          <p:cNvPr id="13" name="Text 10"/>
          <p:cNvSpPr txBox="1"/>
          <p:nvPr/>
        </p:nvSpPr>
        <p:spPr>
          <a:xfrm>
            <a:off x="841248" y="3419856"/>
            <a:ext cx="484312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model picks the most likely option. Output is focused and repeatable. Good for facts, code and data.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33008" y="2615184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489040" y="2816352"/>
            <a:ext cx="457200" cy="457200"/>
          </a:xfrm>
          <a:prstGeom prst="ellipse">
            <a:avLst/>
          </a:prstGeom>
          <a:solidFill>
            <a:srgbClr val="F472B6">
              <a:alpha val="16000"/>
            </a:srgbClr>
          </a:solidFill>
          <a:ln w="12700">
            <a:solidFill>
              <a:srgbClr val="F472B6">
                <a:alpha val="45000"/>
              </a:srgbClr>
            </a:solidFill>
            <a:prstDash val="solid"/>
          </a:ln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3340" y="2930652"/>
            <a:ext cx="228600" cy="22860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7165696" y="2816352"/>
            <a:ext cx="41847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High Temperature</a:t>
            </a:r>
            <a:endParaRPr lang="en-US" sz="1450" dirty="0"/>
          </a:p>
        </p:txBody>
      </p:sp>
      <p:sp>
        <p:nvSpPr>
          <p:cNvPr id="18" name="Text 14"/>
          <p:cNvSpPr txBox="1"/>
          <p:nvPr/>
        </p:nvSpPr>
        <p:spPr>
          <a:xfrm>
            <a:off x="6507328" y="3419856"/>
            <a:ext cx="484312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model takes more chances. Output is more varied and creative, but also more likely to drift.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566928" y="4530149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822960" y="4731317"/>
            <a:ext cx="457200" cy="457200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260" y="4845617"/>
            <a:ext cx="228600" cy="22860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499616" y="4731317"/>
            <a:ext cx="41847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How To Choose</a:t>
            </a:r>
            <a:endParaRPr lang="en-US" sz="1450" dirty="0"/>
          </a:p>
        </p:txBody>
      </p:sp>
      <p:sp>
        <p:nvSpPr>
          <p:cNvPr id="23" name="Text 18"/>
          <p:cNvSpPr txBox="1"/>
          <p:nvPr/>
        </p:nvSpPr>
        <p:spPr>
          <a:xfrm>
            <a:off x="841248" y="5334821"/>
            <a:ext cx="484312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Summaries and technical answers: low. Brainstorming and story ideas: higher.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6233008" y="4530149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6489040" y="4731317"/>
            <a:ext cx="457200" cy="457200"/>
          </a:xfrm>
          <a:prstGeom prst="ellipse">
            <a:avLst/>
          </a:prstGeom>
          <a:solidFill>
            <a:srgbClr val="34D399">
              <a:alpha val="16000"/>
            </a:srgbClr>
          </a:solidFill>
          <a:ln w="12700">
            <a:solidFill>
              <a:srgbClr val="34D399">
                <a:alpha val="45000"/>
              </a:srgbClr>
            </a:solidFill>
            <a:prstDash val="solid"/>
          </a:ln>
        </p:spPr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3340" y="4845617"/>
            <a:ext cx="228600" cy="228600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7165696" y="4731317"/>
            <a:ext cx="41847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Important</a:t>
            </a:r>
            <a:endParaRPr lang="en-US" sz="1450" dirty="0"/>
          </a:p>
        </p:txBody>
      </p:sp>
      <p:sp>
        <p:nvSpPr>
          <p:cNvPr id="28" name="Text 22"/>
          <p:cNvSpPr txBox="1"/>
          <p:nvPr/>
        </p:nvSpPr>
        <p:spPr>
          <a:xfrm>
            <a:off x="6507328" y="5334821"/>
            <a:ext cx="484312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Low temperature does not mean true. It only means consistent. Verification is still needed.</a:t>
            </a:r>
            <a:endParaRPr lang="en-US" sz="12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SLIDE 33 · FULL JOURNEY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The Complete Generative AI Flow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Section 3 · How Generative AI Works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037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3350666" cy="1600200"/>
          </a:xfrm>
          <a:prstGeom prst="roundRect">
            <a:avLst>
              <a:gd name="adj" fmla="val 4571"/>
            </a:avLst>
          </a:prstGeom>
          <a:solidFill>
            <a:srgbClr val="191640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068525" y="1307592"/>
            <a:ext cx="347472" cy="347472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068525" y="1307592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0A1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94944" y="1755648"/>
            <a:ext cx="3094634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A78BF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User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94944" y="2212848"/>
            <a:ext cx="3094634" cy="731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person has a question or a task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009034" y="2162556"/>
            <a:ext cx="320040" cy="237744"/>
          </a:xfrm>
          <a:prstGeom prst="rightArrow">
            <a:avLst/>
          </a:prstGeom>
          <a:solidFill>
            <a:srgbClr val="22D3EE">
              <a:alpha val="70000"/>
            </a:srgbClr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420514" y="1481328"/>
            <a:ext cx="3350666" cy="1600200"/>
          </a:xfrm>
          <a:prstGeom prst="roundRect">
            <a:avLst>
              <a:gd name="adj" fmla="val 4571"/>
            </a:avLst>
          </a:prstGeom>
          <a:solidFill>
            <a:srgbClr val="191640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922112" y="1307592"/>
            <a:ext cx="347472" cy="34747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922112" y="1307592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0A1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4548530" y="1755648"/>
            <a:ext cx="3094634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2D3E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Prompt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4548530" y="2212848"/>
            <a:ext cx="3094634" cy="731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request is written in plain language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7862621" y="2162556"/>
            <a:ext cx="320040" cy="237744"/>
          </a:xfrm>
          <a:prstGeom prst="rightArrow">
            <a:avLst/>
          </a:prstGeom>
          <a:solidFill>
            <a:srgbClr val="22D3EE">
              <a:alpha val="70000"/>
            </a:srgbClr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274101" y="1481328"/>
            <a:ext cx="3350666" cy="1600200"/>
          </a:xfrm>
          <a:prstGeom prst="roundRect">
            <a:avLst>
              <a:gd name="adj" fmla="val 4571"/>
            </a:avLst>
          </a:prstGeom>
          <a:solidFill>
            <a:srgbClr val="191640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9775698" y="1307592"/>
            <a:ext cx="347472" cy="347472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775698" y="1307592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0A1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8402117" y="1755648"/>
            <a:ext cx="3094634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BBF2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Tokenization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8402117" y="2212848"/>
            <a:ext cx="3094634" cy="731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Text is split into tokens the model can read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66928" y="3538728"/>
            <a:ext cx="3350666" cy="1600200"/>
          </a:xfrm>
          <a:prstGeom prst="roundRect">
            <a:avLst>
              <a:gd name="adj" fmla="val 4571"/>
            </a:avLst>
          </a:prstGeom>
          <a:solidFill>
            <a:srgbClr val="191640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068525" y="3364992"/>
            <a:ext cx="347472" cy="347472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2068525" y="3364992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0A1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4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694944" y="3813048"/>
            <a:ext cx="3094634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4D39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Model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694944" y="4270248"/>
            <a:ext cx="3094634" cy="731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Tokens pass through the neural network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4009034" y="4219956"/>
            <a:ext cx="320040" cy="237744"/>
          </a:xfrm>
          <a:prstGeom prst="rightArrow">
            <a:avLst/>
          </a:prstGeom>
          <a:solidFill>
            <a:srgbClr val="22D3EE">
              <a:alpha val="70000"/>
            </a:srgbClr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420514" y="3538728"/>
            <a:ext cx="3350666" cy="1600200"/>
          </a:xfrm>
          <a:prstGeom prst="roundRect">
            <a:avLst>
              <a:gd name="adj" fmla="val 4571"/>
            </a:avLst>
          </a:prstGeom>
          <a:solidFill>
            <a:srgbClr val="191640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922112" y="3364992"/>
            <a:ext cx="347472" cy="347472"/>
          </a:xfrm>
          <a:prstGeom prst="ellipse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5922112" y="3364992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0A1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5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4548530" y="3813048"/>
            <a:ext cx="3094634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472B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Processing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4548530" y="4270248"/>
            <a:ext cx="3094634" cy="731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next token is predicted, again and again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7862621" y="4219956"/>
            <a:ext cx="320040" cy="237744"/>
          </a:xfrm>
          <a:prstGeom prst="rightArrow">
            <a:avLst/>
          </a:prstGeom>
          <a:solidFill>
            <a:srgbClr val="22D3EE">
              <a:alpha val="70000"/>
            </a:srgbClr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274101" y="3538728"/>
            <a:ext cx="3350666" cy="1600200"/>
          </a:xfrm>
          <a:prstGeom prst="roundRect">
            <a:avLst>
              <a:gd name="adj" fmla="val 4571"/>
            </a:avLst>
          </a:prstGeom>
          <a:solidFill>
            <a:srgbClr val="191640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9775698" y="3364992"/>
            <a:ext cx="347472" cy="347472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9775698" y="3364992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0A1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6</a:t>
            </a:r>
            <a:endParaRPr lang="en-US" sz="1200" dirty="0"/>
          </a:p>
        </p:txBody>
      </p:sp>
      <p:sp>
        <p:nvSpPr>
          <p:cNvPr id="38" name="Text 36"/>
          <p:cNvSpPr txBox="1"/>
          <p:nvPr/>
        </p:nvSpPr>
        <p:spPr>
          <a:xfrm>
            <a:off x="8402117" y="3813048"/>
            <a:ext cx="3094634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A78BF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Output</a:t>
            </a:r>
            <a:endParaRPr lang="en-US" sz="1400" dirty="0"/>
          </a:p>
        </p:txBody>
      </p:sp>
      <p:sp>
        <p:nvSpPr>
          <p:cNvPr id="39" name="Text 37"/>
          <p:cNvSpPr txBox="1"/>
          <p:nvPr/>
        </p:nvSpPr>
        <p:spPr>
          <a:xfrm>
            <a:off x="8402117" y="4270248"/>
            <a:ext cx="3094634" cy="731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Tokens are joined back into readable text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566928" y="5276088"/>
            <a:ext cx="11057839" cy="960120"/>
          </a:xfrm>
          <a:prstGeom prst="roundRect">
            <a:avLst>
              <a:gd name="adj" fmla="val 7619"/>
            </a:avLst>
          </a:prstGeom>
          <a:solidFill>
            <a:srgbClr val="191640">
              <a:alpha val="96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41" name="Text 39"/>
          <p:cNvSpPr txBox="1"/>
          <p:nvPr/>
        </p:nvSpPr>
        <p:spPr>
          <a:xfrm>
            <a:off x="841248" y="5385816"/>
            <a:ext cx="10509199" cy="7406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A78BF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Remember:  </a:t>
            </a:r>
            <a:r>
              <a:rPr lang="en-US" sz="13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Every answer you have ever seen from a chat assistant followed exactly these six steps.</a:t>
            </a:r>
            <a:endParaRPr lang="en-US" sz="13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SLIDE 34 · EXAMPLE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 Simple Example of AI Generation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Section 3 · How Generative AI Works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038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5364328" cy="3840480"/>
          </a:xfrm>
          <a:prstGeom prst="roundRect">
            <a:avLst>
              <a:gd name="adj" fmla="val 1905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41248" y="1737360"/>
            <a:ext cx="530352" cy="530352"/>
          </a:xfrm>
          <a:prstGeom prst="ellipse">
            <a:avLst/>
          </a:prstGeom>
          <a:solidFill>
            <a:srgbClr val="22D3EE">
              <a:alpha val="16000"/>
            </a:srgbClr>
          </a:solidFill>
          <a:ln w="12700">
            <a:solidFill>
              <a:srgbClr val="22D3EE">
                <a:alpha val="45000"/>
              </a:srgbClr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3836" y="1869948"/>
            <a:ext cx="265176" cy="265176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591056" y="1737360"/>
            <a:ext cx="4047592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2D3E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The Prompt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877824" y="2505456"/>
            <a:ext cx="4742536" cy="261518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▪"/>
            </a:pPr>
            <a:r>
              <a:rPr lang="en-US" sz="135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"Explain photosynthesis in simple English for a 10-year-old, in 3 short sentences."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▪"/>
            </a:pPr>
            <a:r>
              <a:rPr lang="en-US" sz="135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Role: none given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▪"/>
            </a:pPr>
            <a:r>
              <a:rPr lang="en-US" sz="135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Task: explain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▪"/>
            </a:pPr>
            <a:r>
              <a:rPr lang="en-US" sz="135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Constraint: 3 sentences, simple English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6260440" y="1481328"/>
            <a:ext cx="5364328" cy="3840480"/>
          </a:xfrm>
          <a:prstGeom prst="roundRect">
            <a:avLst>
              <a:gd name="adj" fmla="val 1905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534760" y="1737360"/>
            <a:ext cx="530352" cy="530352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7348" y="1869948"/>
            <a:ext cx="265176" cy="265176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7284568" y="1737360"/>
            <a:ext cx="4047592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A78BF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The Generated Answer</a:t>
            </a:r>
            <a:endParaRPr lang="en-US" sz="1800" dirty="0"/>
          </a:p>
        </p:txBody>
      </p:sp>
      <p:sp>
        <p:nvSpPr>
          <p:cNvPr id="15" name="Text 11"/>
          <p:cNvSpPr txBox="1"/>
          <p:nvPr/>
        </p:nvSpPr>
        <p:spPr>
          <a:xfrm>
            <a:off x="6571336" y="2505456"/>
            <a:ext cx="4742536" cy="261518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▪"/>
            </a:pPr>
            <a:r>
              <a:rPr lang="en-US" sz="135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"Plants make their own food using sunlight."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▪"/>
            </a:pPr>
            <a:r>
              <a:rPr lang="en-US" sz="135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"They take in water from the soil and a gas called carbon dioxide from the air."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▪"/>
            </a:pPr>
            <a:r>
              <a:rPr lang="en-US" sz="135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"Sunlight helps them turn these into food, and they release oxygen that we breathe."</a:t>
            </a:r>
            <a:endParaRPr lang="en-US" sz="1350" dirty="0"/>
          </a:p>
        </p:txBody>
      </p:sp>
      <p:sp>
        <p:nvSpPr>
          <p:cNvPr id="16" name="Shape 12"/>
          <p:cNvSpPr/>
          <p:nvPr/>
        </p:nvSpPr>
        <p:spPr>
          <a:xfrm>
            <a:off x="566928" y="5458968"/>
            <a:ext cx="11057839" cy="777240"/>
          </a:xfrm>
          <a:prstGeom prst="roundRect">
            <a:avLst>
              <a:gd name="adj" fmla="val 9412"/>
            </a:avLst>
          </a:prstGeom>
          <a:solidFill>
            <a:srgbClr val="191640">
              <a:alpha val="96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7" name="Text 13"/>
          <p:cNvSpPr txBox="1"/>
          <p:nvPr/>
        </p:nvSpPr>
        <p:spPr>
          <a:xfrm>
            <a:off x="841248" y="5550408"/>
            <a:ext cx="10509199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22D3E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Key point:  </a:t>
            </a:r>
            <a:r>
              <a:rPr lang="en-US" sz="13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This is a fictional illustration. Notice how the constraints in the prompt directly shaped the length and the language level.</a:t>
            </a:r>
            <a:endParaRPr lang="en-US" sz="13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BBF2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QUIZ 3 · SLIDES 23–34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Quiz 3 — How Generative AI Works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Section 3 · How Generative AI Works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039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11057839" cy="848563"/>
          </a:xfrm>
          <a:prstGeom prst="roundRect">
            <a:avLst>
              <a:gd name="adj" fmla="val 8621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68096" y="1627632"/>
            <a:ext cx="310896" cy="310896"/>
          </a:xfrm>
          <a:prstGeom prst="ellipse">
            <a:avLst/>
          </a:prstGeom>
          <a:solidFill>
            <a:srgbClr val="FBBF24">
              <a:alpha val="22000"/>
            </a:srgbClr>
          </a:solidFill>
          <a:ln w="12700">
            <a:solidFill>
              <a:srgbClr val="FBBF24">
                <a:alpha val="5000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68096" y="1627632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BBF2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Q1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188720" y="1600200"/>
            <a:ext cx="8726119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 token is: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10207447" y="1618488"/>
            <a:ext cx="1371600" cy="347472"/>
          </a:xfrm>
          <a:prstGeom prst="roundRect">
            <a:avLst>
              <a:gd name="adj" fmla="val 15789"/>
            </a:avLst>
          </a:prstGeom>
          <a:solidFill>
            <a:srgbClr val="A78BFA">
              <a:alpha val="20000"/>
            </a:srgbClr>
          </a:solidFill>
          <a:ln w="12700">
            <a:solidFill>
              <a:srgbClr val="A78BFA">
                <a:alpha val="60000"/>
              </a:srgbClr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207447" y="1618488"/>
            <a:ext cx="13716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Answer: C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1115568" y="2011680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A. </a:t>
            </a:r>
            <a:r>
              <a:rPr lang="en-US" sz="11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password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3674288" y="2011680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B. </a:t>
            </a:r>
            <a:r>
              <a:rPr lang="en-US" sz="11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type of computer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6233008" y="2011680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C. </a:t>
            </a: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small piece of text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8791727" y="2011680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D. </a:t>
            </a:r>
            <a:r>
              <a:rPr lang="en-US" sz="11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network cable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66928" y="2457907"/>
            <a:ext cx="11057839" cy="848563"/>
          </a:xfrm>
          <a:prstGeom prst="roundRect">
            <a:avLst>
              <a:gd name="adj" fmla="val 8621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68096" y="2604211"/>
            <a:ext cx="310896" cy="310896"/>
          </a:xfrm>
          <a:prstGeom prst="ellipse">
            <a:avLst/>
          </a:prstGeom>
          <a:solidFill>
            <a:srgbClr val="FBBF24">
              <a:alpha val="22000"/>
            </a:srgbClr>
          </a:solidFill>
          <a:ln w="12700">
            <a:solidFill>
              <a:srgbClr val="FBBF24">
                <a:alpha val="50000"/>
              </a:srgbClr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68096" y="2604211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BBF2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Q2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1188720" y="2576779"/>
            <a:ext cx="8726119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Training happens: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10207447" y="2595067"/>
            <a:ext cx="1371600" cy="347472"/>
          </a:xfrm>
          <a:prstGeom prst="roundRect">
            <a:avLst>
              <a:gd name="adj" fmla="val 15789"/>
            </a:avLst>
          </a:prstGeom>
          <a:solidFill>
            <a:srgbClr val="A78BFA">
              <a:alpha val="20000"/>
            </a:srgbClr>
          </a:solidFill>
          <a:ln w="12700">
            <a:solidFill>
              <a:srgbClr val="A78BFA">
                <a:alpha val="60000"/>
              </a:srgbClr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0207447" y="2595067"/>
            <a:ext cx="13716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Answer: D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1115568" y="2988259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A. </a:t>
            </a:r>
            <a:r>
              <a:rPr lang="en-US" sz="11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Every time you ask a question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3674288" y="2988259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B. </a:t>
            </a:r>
            <a:r>
              <a:rPr lang="en-US" sz="11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Only at night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6233008" y="2988259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C. </a:t>
            </a:r>
            <a:r>
              <a:rPr lang="en-US" sz="11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Never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8791727" y="2988259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D. </a:t>
            </a: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Before the model is released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66928" y="3434486"/>
            <a:ext cx="11057839" cy="848563"/>
          </a:xfrm>
          <a:prstGeom prst="roundRect">
            <a:avLst>
              <a:gd name="adj" fmla="val 8621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768096" y="3580790"/>
            <a:ext cx="310896" cy="310896"/>
          </a:xfrm>
          <a:prstGeom prst="ellipse">
            <a:avLst/>
          </a:prstGeom>
          <a:solidFill>
            <a:srgbClr val="FBBF24">
              <a:alpha val="22000"/>
            </a:srgbClr>
          </a:solidFill>
          <a:ln w="12700">
            <a:solidFill>
              <a:srgbClr val="FBBF24">
                <a:alpha val="50000"/>
              </a:srgbClr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68096" y="3580790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BBF2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Q3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1188720" y="3553358"/>
            <a:ext cx="8726119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Parameters are best described as: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10207447" y="3571646"/>
            <a:ext cx="1371600" cy="347472"/>
          </a:xfrm>
          <a:prstGeom prst="roundRect">
            <a:avLst>
              <a:gd name="adj" fmla="val 15789"/>
            </a:avLst>
          </a:prstGeom>
          <a:solidFill>
            <a:srgbClr val="A78BFA">
              <a:alpha val="20000"/>
            </a:srgbClr>
          </a:solidFill>
          <a:ln w="12700">
            <a:solidFill>
              <a:srgbClr val="A78BFA">
                <a:alpha val="60000"/>
              </a:srgbClr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10207447" y="3571646"/>
            <a:ext cx="13716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Answer: A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1115568" y="3964838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A. </a:t>
            </a: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Learned numbers inside the model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3674288" y="3964838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B. </a:t>
            </a:r>
            <a:r>
              <a:rPr lang="en-US" sz="11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Files on your desktop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6233008" y="3964838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C. </a:t>
            </a:r>
            <a:r>
              <a:rPr lang="en-US" sz="11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User passwords</a:t>
            </a:r>
            <a:endParaRPr lang="en-US" sz="1050" dirty="0"/>
          </a:p>
        </p:txBody>
      </p:sp>
      <p:sp>
        <p:nvSpPr>
          <p:cNvPr id="35" name="Text 33"/>
          <p:cNvSpPr txBox="1"/>
          <p:nvPr/>
        </p:nvSpPr>
        <p:spPr>
          <a:xfrm>
            <a:off x="8791727" y="3964838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D. </a:t>
            </a:r>
            <a:r>
              <a:rPr lang="en-US" sz="11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Screen settings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66928" y="4411066"/>
            <a:ext cx="11057839" cy="848563"/>
          </a:xfrm>
          <a:prstGeom prst="roundRect">
            <a:avLst>
              <a:gd name="adj" fmla="val 8621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768096" y="4557370"/>
            <a:ext cx="310896" cy="310896"/>
          </a:xfrm>
          <a:prstGeom prst="ellipse">
            <a:avLst/>
          </a:prstGeom>
          <a:solidFill>
            <a:srgbClr val="FBBF24">
              <a:alpha val="22000"/>
            </a:srgbClr>
          </a:solidFill>
          <a:ln w="12700">
            <a:solidFill>
              <a:srgbClr val="FBBF24">
                <a:alpha val="50000"/>
              </a:srgbClr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768096" y="4557370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BBF2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Q4</a:t>
            </a:r>
            <a:endParaRPr lang="en-US" sz="900" dirty="0"/>
          </a:p>
        </p:txBody>
      </p:sp>
      <p:sp>
        <p:nvSpPr>
          <p:cNvPr id="39" name="Text 37"/>
          <p:cNvSpPr txBox="1"/>
          <p:nvPr/>
        </p:nvSpPr>
        <p:spPr>
          <a:xfrm>
            <a:off x="1188720" y="4529938"/>
            <a:ext cx="8726119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The context window controls:</a:t>
            </a:r>
            <a:endParaRPr lang="en-US" sz="1250" dirty="0"/>
          </a:p>
        </p:txBody>
      </p:sp>
      <p:sp>
        <p:nvSpPr>
          <p:cNvPr id="40" name="Shape 38"/>
          <p:cNvSpPr/>
          <p:nvPr/>
        </p:nvSpPr>
        <p:spPr>
          <a:xfrm>
            <a:off x="10207447" y="4548226"/>
            <a:ext cx="1371600" cy="347472"/>
          </a:xfrm>
          <a:prstGeom prst="roundRect">
            <a:avLst>
              <a:gd name="adj" fmla="val 15789"/>
            </a:avLst>
          </a:prstGeom>
          <a:solidFill>
            <a:srgbClr val="A78BFA">
              <a:alpha val="20000"/>
            </a:srgbClr>
          </a:solidFill>
          <a:ln w="12700">
            <a:solidFill>
              <a:srgbClr val="A78BFA">
                <a:alpha val="60000"/>
              </a:srgbClr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10207447" y="4548226"/>
            <a:ext cx="13716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Answer: B</a:t>
            </a:r>
            <a:endParaRPr lang="en-US" sz="1050" dirty="0"/>
          </a:p>
        </p:txBody>
      </p:sp>
      <p:sp>
        <p:nvSpPr>
          <p:cNvPr id="42" name="Text 40"/>
          <p:cNvSpPr txBox="1"/>
          <p:nvPr/>
        </p:nvSpPr>
        <p:spPr>
          <a:xfrm>
            <a:off x="1115568" y="4941418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A. </a:t>
            </a:r>
            <a:r>
              <a:rPr lang="en-US" sz="11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screen brightness</a:t>
            </a:r>
            <a:endParaRPr lang="en-US" sz="1050" dirty="0"/>
          </a:p>
        </p:txBody>
      </p:sp>
      <p:sp>
        <p:nvSpPr>
          <p:cNvPr id="43" name="Text 41"/>
          <p:cNvSpPr txBox="1"/>
          <p:nvPr/>
        </p:nvSpPr>
        <p:spPr>
          <a:xfrm>
            <a:off x="3674288" y="4941418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B. </a:t>
            </a: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How much text the model can see</a:t>
            </a:r>
            <a:endParaRPr lang="en-US" sz="1050" dirty="0"/>
          </a:p>
        </p:txBody>
      </p:sp>
      <p:sp>
        <p:nvSpPr>
          <p:cNvPr id="44" name="Text 42"/>
          <p:cNvSpPr txBox="1"/>
          <p:nvPr/>
        </p:nvSpPr>
        <p:spPr>
          <a:xfrm>
            <a:off x="6233008" y="4941418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C. </a:t>
            </a:r>
            <a:r>
              <a:rPr lang="en-US" sz="11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internet speed</a:t>
            </a:r>
            <a:endParaRPr lang="en-US" sz="1050" dirty="0"/>
          </a:p>
        </p:txBody>
      </p:sp>
      <p:sp>
        <p:nvSpPr>
          <p:cNvPr id="45" name="Text 43"/>
          <p:cNvSpPr txBox="1"/>
          <p:nvPr/>
        </p:nvSpPr>
        <p:spPr>
          <a:xfrm>
            <a:off x="8791727" y="4941418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D. </a:t>
            </a:r>
            <a:r>
              <a:rPr lang="en-US" sz="11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keyboard layout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566928" y="5387645"/>
            <a:ext cx="11057839" cy="848563"/>
          </a:xfrm>
          <a:prstGeom prst="roundRect">
            <a:avLst>
              <a:gd name="adj" fmla="val 8621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768096" y="5533949"/>
            <a:ext cx="310896" cy="310896"/>
          </a:xfrm>
          <a:prstGeom prst="ellipse">
            <a:avLst/>
          </a:prstGeom>
          <a:solidFill>
            <a:srgbClr val="FBBF24">
              <a:alpha val="22000"/>
            </a:srgbClr>
          </a:solidFill>
          <a:ln w="12700">
            <a:solidFill>
              <a:srgbClr val="FBBF24">
                <a:alpha val="50000"/>
              </a:srgbClr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768096" y="5533949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BBF2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Q5</a:t>
            </a:r>
            <a:endParaRPr lang="en-US" sz="900" dirty="0"/>
          </a:p>
        </p:txBody>
      </p:sp>
      <p:sp>
        <p:nvSpPr>
          <p:cNvPr id="49" name="Text 47"/>
          <p:cNvSpPr txBox="1"/>
          <p:nvPr/>
        </p:nvSpPr>
        <p:spPr>
          <a:xfrm>
            <a:off x="1188720" y="5506517"/>
            <a:ext cx="8726119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 low temperature setting gives answers that are:</a:t>
            </a:r>
            <a:endParaRPr lang="en-US" sz="1250" dirty="0"/>
          </a:p>
        </p:txBody>
      </p:sp>
      <p:sp>
        <p:nvSpPr>
          <p:cNvPr id="50" name="Shape 48"/>
          <p:cNvSpPr/>
          <p:nvPr/>
        </p:nvSpPr>
        <p:spPr>
          <a:xfrm>
            <a:off x="10207447" y="5524805"/>
            <a:ext cx="1371600" cy="347472"/>
          </a:xfrm>
          <a:prstGeom prst="roundRect">
            <a:avLst>
              <a:gd name="adj" fmla="val 15789"/>
            </a:avLst>
          </a:prstGeom>
          <a:solidFill>
            <a:srgbClr val="A78BFA">
              <a:alpha val="20000"/>
            </a:srgbClr>
          </a:solidFill>
          <a:ln w="12700">
            <a:solidFill>
              <a:srgbClr val="A78BFA">
                <a:alpha val="60000"/>
              </a:srgbClr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10207447" y="5524805"/>
            <a:ext cx="13716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Answer: C</a:t>
            </a:r>
            <a:endParaRPr lang="en-US" sz="1050" dirty="0"/>
          </a:p>
        </p:txBody>
      </p:sp>
      <p:sp>
        <p:nvSpPr>
          <p:cNvPr id="52" name="Text 50"/>
          <p:cNvSpPr txBox="1"/>
          <p:nvPr/>
        </p:nvSpPr>
        <p:spPr>
          <a:xfrm>
            <a:off x="1115568" y="5917997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A. </a:t>
            </a:r>
            <a:r>
              <a:rPr lang="en-US" sz="11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Always correct</a:t>
            </a:r>
            <a:endParaRPr lang="en-US" sz="1050" dirty="0"/>
          </a:p>
        </p:txBody>
      </p:sp>
      <p:sp>
        <p:nvSpPr>
          <p:cNvPr id="53" name="Text 51"/>
          <p:cNvSpPr txBox="1"/>
          <p:nvPr/>
        </p:nvSpPr>
        <p:spPr>
          <a:xfrm>
            <a:off x="3674288" y="5917997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B. </a:t>
            </a:r>
            <a:r>
              <a:rPr lang="en-US" sz="11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Longer</a:t>
            </a:r>
            <a:endParaRPr lang="en-US" sz="1050" dirty="0"/>
          </a:p>
        </p:txBody>
      </p:sp>
      <p:sp>
        <p:nvSpPr>
          <p:cNvPr id="54" name="Text 52"/>
          <p:cNvSpPr txBox="1"/>
          <p:nvPr/>
        </p:nvSpPr>
        <p:spPr>
          <a:xfrm>
            <a:off x="6233008" y="5917997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C. </a:t>
            </a: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More focused and repeatable</a:t>
            </a:r>
            <a:endParaRPr lang="en-US" sz="1050" dirty="0"/>
          </a:p>
        </p:txBody>
      </p:sp>
      <p:sp>
        <p:nvSpPr>
          <p:cNvPr id="55" name="Text 53"/>
          <p:cNvSpPr txBox="1"/>
          <p:nvPr/>
        </p:nvSpPr>
        <p:spPr>
          <a:xfrm>
            <a:off x="8791727" y="5917997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D. </a:t>
            </a:r>
            <a:r>
              <a:rPr lang="en-US" sz="11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Free of cost</a:t>
            </a:r>
            <a:endParaRPr lang="en-US" sz="105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49808" y="1874520"/>
            <a:ext cx="58521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SECTION 04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49808" y="2240280"/>
            <a:ext cx="6035040" cy="1554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Neural Networks &amp; Deep Learning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749808" y="3886200"/>
            <a:ext cx="5852160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building blocks that every modern Gen AI model is made from.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49808" y="4846320"/>
            <a:ext cx="1463040" cy="64008"/>
          </a:xfrm>
          <a:prstGeom prst="roundRect">
            <a:avLst>
              <a:gd name="adj" fmla="val 42857"/>
            </a:avLst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32320" y="1143000"/>
            <a:ext cx="4492447" cy="797357"/>
          </a:xfrm>
          <a:prstGeom prst="roundRect">
            <a:avLst>
              <a:gd name="adj" fmla="val 9174"/>
            </a:avLst>
          </a:prstGeom>
          <a:solidFill>
            <a:srgbClr val="191640"/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51776" y="1313078"/>
            <a:ext cx="457200" cy="457200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66076" y="1427378"/>
            <a:ext cx="228600" cy="22860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8010144" y="1143000"/>
            <a:ext cx="3303727" cy="79735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Neurons and Layers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7132320" y="2086661"/>
            <a:ext cx="4492447" cy="797357"/>
          </a:xfrm>
          <a:prstGeom prst="roundRect">
            <a:avLst>
              <a:gd name="adj" fmla="val 9174"/>
            </a:avLst>
          </a:prstGeom>
          <a:solidFill>
            <a:srgbClr val="191640"/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7351776" y="2256739"/>
            <a:ext cx="457200" cy="457200"/>
          </a:xfrm>
          <a:prstGeom prst="ellipse">
            <a:avLst/>
          </a:prstGeom>
          <a:solidFill>
            <a:srgbClr val="22D3EE">
              <a:alpha val="16000"/>
            </a:srgbClr>
          </a:solidFill>
          <a:ln w="12700">
            <a:solidFill>
              <a:srgbClr val="22D3EE">
                <a:alpha val="45000"/>
              </a:srgbClr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6076" y="2371039"/>
            <a:ext cx="228600" cy="22860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8010144" y="2086661"/>
            <a:ext cx="3303727" cy="79735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Weights and Bias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7132320" y="3030322"/>
            <a:ext cx="4492447" cy="797357"/>
          </a:xfrm>
          <a:prstGeom prst="roundRect">
            <a:avLst>
              <a:gd name="adj" fmla="val 9174"/>
            </a:avLst>
          </a:prstGeom>
          <a:solidFill>
            <a:srgbClr val="191640"/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351776" y="3200400"/>
            <a:ext cx="457200" cy="457200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6076" y="3314700"/>
            <a:ext cx="228600" cy="22860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010144" y="3030322"/>
            <a:ext cx="3303727" cy="79735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Loss and Optimization</a:t>
            </a:r>
            <a:endParaRPr lang="en-US" sz="1350" dirty="0"/>
          </a:p>
        </p:txBody>
      </p:sp>
      <p:sp>
        <p:nvSpPr>
          <p:cNvPr id="18" name="Shape 13"/>
          <p:cNvSpPr/>
          <p:nvPr/>
        </p:nvSpPr>
        <p:spPr>
          <a:xfrm>
            <a:off x="7132320" y="3973982"/>
            <a:ext cx="4492447" cy="797357"/>
          </a:xfrm>
          <a:prstGeom prst="roundRect">
            <a:avLst>
              <a:gd name="adj" fmla="val 9174"/>
            </a:avLst>
          </a:prstGeom>
          <a:solidFill>
            <a:srgbClr val="191640"/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7351776" y="4144061"/>
            <a:ext cx="457200" cy="457200"/>
          </a:xfrm>
          <a:prstGeom prst="ellipse">
            <a:avLst/>
          </a:prstGeom>
          <a:solidFill>
            <a:srgbClr val="34D399">
              <a:alpha val="16000"/>
            </a:srgbClr>
          </a:solidFill>
          <a:ln w="12700">
            <a:solidFill>
              <a:srgbClr val="34D399">
                <a:alpha val="45000"/>
              </a:srgbClr>
            </a:solidFill>
            <a:prstDash val="solid"/>
          </a:ln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66076" y="4258361"/>
            <a:ext cx="228600" cy="22860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8010144" y="3973982"/>
            <a:ext cx="3303727" cy="79735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Deep Networks</a:t>
            </a:r>
            <a:endParaRPr lang="en-US" sz="1350" dirty="0"/>
          </a:p>
        </p:txBody>
      </p:sp>
      <p:sp>
        <p:nvSpPr>
          <p:cNvPr id="22" name="Shape 16"/>
          <p:cNvSpPr/>
          <p:nvPr/>
        </p:nvSpPr>
        <p:spPr>
          <a:xfrm>
            <a:off x="7132320" y="4917643"/>
            <a:ext cx="4492447" cy="797357"/>
          </a:xfrm>
          <a:prstGeom prst="roundRect">
            <a:avLst>
              <a:gd name="adj" fmla="val 9174"/>
            </a:avLst>
          </a:prstGeom>
          <a:solidFill>
            <a:srgbClr val="191640"/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7351776" y="5087722"/>
            <a:ext cx="457200" cy="457200"/>
          </a:xfrm>
          <a:prstGeom prst="ellipse">
            <a:avLst/>
          </a:prstGeom>
          <a:solidFill>
            <a:srgbClr val="F472B6">
              <a:alpha val="16000"/>
            </a:srgbClr>
          </a:solidFill>
          <a:ln w="12700">
            <a:solidFill>
              <a:srgbClr val="F472B6">
                <a:alpha val="45000"/>
              </a:srgbClr>
            </a:solidFill>
            <a:prstDash val="solid"/>
          </a:ln>
        </p:spPr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66076" y="5202022"/>
            <a:ext cx="228600" cy="228600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8010144" y="4917643"/>
            <a:ext cx="3303727" cy="79735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Why It Matters for Gen AI</a:t>
            </a:r>
            <a:endParaRPr lang="en-US" sz="1350" dirty="0"/>
          </a:p>
        </p:txBody>
      </p:sp>
      <p:sp>
        <p:nvSpPr>
          <p:cNvPr id="26" name="Text 19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Section 4 · Neural Networks &amp; Deep Learning</a:t>
            </a:r>
            <a:endParaRPr lang="en-US" sz="950" dirty="0"/>
          </a:p>
        </p:txBody>
      </p:sp>
      <p:sp>
        <p:nvSpPr>
          <p:cNvPr id="27" name="Text 20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040</a:t>
            </a:r>
            <a:endParaRPr lang="en-US" sz="95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SLIDE 35 · DEFINITION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What is a Neural Network?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Section 4 · Neural Networks &amp; Deep Learning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041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11057839" cy="877824"/>
          </a:xfrm>
          <a:prstGeom prst="roundRect">
            <a:avLst>
              <a:gd name="adj" fmla="val 8333"/>
            </a:avLst>
          </a:prstGeom>
          <a:solidFill>
            <a:srgbClr val="191640">
              <a:alpha val="96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6928" y="1627632"/>
            <a:ext cx="64008" cy="585216"/>
          </a:xfrm>
          <a:prstGeom prst="roundRect">
            <a:avLst>
              <a:gd name="adj" fmla="val 42857"/>
            </a:avLst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59536" y="1572768"/>
            <a:ext cx="10472623" cy="6949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DDD9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neural network is a set of simple connected units that together learn to turn an input into an output.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66928" y="2615184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22960" y="2816352"/>
            <a:ext cx="457200" cy="457200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2930652"/>
            <a:ext cx="228600" cy="22860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499616" y="2816352"/>
            <a:ext cx="41847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Simple Explanation</a:t>
            </a:r>
            <a:endParaRPr lang="en-US" sz="1450" dirty="0"/>
          </a:p>
        </p:txBody>
      </p:sp>
      <p:sp>
        <p:nvSpPr>
          <p:cNvPr id="13" name="Text 10"/>
          <p:cNvSpPr txBox="1"/>
          <p:nvPr/>
        </p:nvSpPr>
        <p:spPr>
          <a:xfrm>
            <a:off x="841248" y="3419856"/>
            <a:ext cx="484312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Each unit does a very small calculation. Millions of them working together can do something impressive.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33008" y="2615184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489040" y="2816352"/>
            <a:ext cx="457200" cy="457200"/>
          </a:xfrm>
          <a:prstGeom prst="ellipse">
            <a:avLst/>
          </a:prstGeom>
          <a:solidFill>
            <a:srgbClr val="22D3EE">
              <a:alpha val="16000"/>
            </a:srgbClr>
          </a:solidFill>
          <a:ln w="12700">
            <a:solidFill>
              <a:srgbClr val="22D3EE">
                <a:alpha val="45000"/>
              </a:srgbClr>
            </a:solidFill>
            <a:prstDash val="solid"/>
          </a:ln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3340" y="2930652"/>
            <a:ext cx="228600" cy="22860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7165696" y="2816352"/>
            <a:ext cx="41847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Why The Name</a:t>
            </a:r>
            <a:endParaRPr lang="en-US" sz="1450" dirty="0"/>
          </a:p>
        </p:txBody>
      </p:sp>
      <p:sp>
        <p:nvSpPr>
          <p:cNvPr id="18" name="Text 14"/>
          <p:cNvSpPr txBox="1"/>
          <p:nvPr/>
        </p:nvSpPr>
        <p:spPr>
          <a:xfrm>
            <a:off x="6507328" y="3419856"/>
            <a:ext cx="484312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design was loosely inspired by brain cells. It is an inspiration, not a copy of a real brain.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566928" y="4530149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822960" y="4731317"/>
            <a:ext cx="457200" cy="457200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260" y="4845617"/>
            <a:ext cx="228600" cy="22860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499616" y="4731317"/>
            <a:ext cx="41847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The Structure</a:t>
            </a:r>
            <a:endParaRPr lang="en-US" sz="1450" dirty="0"/>
          </a:p>
        </p:txBody>
      </p:sp>
      <p:sp>
        <p:nvSpPr>
          <p:cNvPr id="23" name="Text 18"/>
          <p:cNvSpPr txBox="1"/>
          <p:nvPr/>
        </p:nvSpPr>
        <p:spPr>
          <a:xfrm>
            <a:off x="841248" y="5334821"/>
            <a:ext cx="484312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Units are arranged in layers: an input layer, one or more hidden layers, and an output layer.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6233008" y="4530149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6489040" y="4731317"/>
            <a:ext cx="457200" cy="457200"/>
          </a:xfrm>
          <a:prstGeom prst="ellipse">
            <a:avLst/>
          </a:prstGeom>
          <a:solidFill>
            <a:srgbClr val="34D399">
              <a:alpha val="16000"/>
            </a:srgbClr>
          </a:solidFill>
          <a:ln w="12700">
            <a:solidFill>
              <a:srgbClr val="34D399">
                <a:alpha val="45000"/>
              </a:srgbClr>
            </a:solidFill>
            <a:prstDash val="solid"/>
          </a:ln>
        </p:spPr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3340" y="4845617"/>
            <a:ext cx="228600" cy="228600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7165696" y="4731317"/>
            <a:ext cx="41847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What It Can Learn</a:t>
            </a:r>
            <a:endParaRPr lang="en-US" sz="1450" dirty="0"/>
          </a:p>
        </p:txBody>
      </p:sp>
      <p:sp>
        <p:nvSpPr>
          <p:cNvPr id="28" name="Text 22"/>
          <p:cNvSpPr txBox="1"/>
          <p:nvPr/>
        </p:nvSpPr>
        <p:spPr>
          <a:xfrm>
            <a:off x="6507328" y="5334821"/>
            <a:ext cx="484312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Recognise a face, understand a sentence, or predict the next word — all with the same basic building block.</a:t>
            </a:r>
            <a:endParaRPr lang="en-US" sz="12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SLIDE 36 · BUILDING BLOCK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The Artificial Neuron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Section 4 · Neural Networks &amp; Deep Learning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042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481328"/>
            <a:ext cx="11057839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DDD9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Every neuron does the same four small steps.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66928" y="2747772"/>
            <a:ext cx="2387270" cy="1691640"/>
          </a:xfrm>
          <a:prstGeom prst="roundRect">
            <a:avLst>
              <a:gd name="adj" fmla="val 4324"/>
            </a:avLst>
          </a:prstGeom>
          <a:solidFill>
            <a:srgbClr val="191640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586827" y="2574036"/>
            <a:ext cx="347472" cy="347472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586827" y="2574036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0A1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94944" y="3022092"/>
            <a:ext cx="213123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A78BF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Receive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94944" y="3479292"/>
            <a:ext cx="2131238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Takes in numbers from the previous layer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045638" y="3474720"/>
            <a:ext cx="320040" cy="237744"/>
          </a:xfrm>
          <a:prstGeom prst="rightArrow">
            <a:avLst/>
          </a:prstGeom>
          <a:solidFill>
            <a:srgbClr val="22D3EE">
              <a:alpha val="70000"/>
            </a:srgbClr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457118" y="2747772"/>
            <a:ext cx="2387270" cy="1691640"/>
          </a:xfrm>
          <a:prstGeom prst="roundRect">
            <a:avLst>
              <a:gd name="adj" fmla="val 4324"/>
            </a:avLst>
          </a:prstGeom>
          <a:solidFill>
            <a:srgbClr val="191640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477017" y="2574036"/>
            <a:ext cx="347472" cy="34747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477017" y="2574036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0A1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3585134" y="3022092"/>
            <a:ext cx="213123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2D3E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Multiply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3585134" y="3479292"/>
            <a:ext cx="2131238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Each input is multiplied by its weight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935828" y="3474720"/>
            <a:ext cx="320040" cy="237744"/>
          </a:xfrm>
          <a:prstGeom prst="rightArrow">
            <a:avLst/>
          </a:prstGeom>
          <a:solidFill>
            <a:srgbClr val="22D3EE">
              <a:alpha val="70000"/>
            </a:srgbClr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347308" y="2747772"/>
            <a:ext cx="2387270" cy="1691640"/>
          </a:xfrm>
          <a:prstGeom prst="roundRect">
            <a:avLst>
              <a:gd name="adj" fmla="val 4324"/>
            </a:avLst>
          </a:prstGeom>
          <a:solidFill>
            <a:srgbClr val="191640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367207" y="2574036"/>
            <a:ext cx="347472" cy="347472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367207" y="2574036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0A1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6475324" y="3022092"/>
            <a:ext cx="213123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BBF2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Add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6475324" y="3479292"/>
            <a:ext cx="2131238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results are added up, plus a bias value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8826017" y="3474720"/>
            <a:ext cx="320040" cy="237744"/>
          </a:xfrm>
          <a:prstGeom prst="rightArrow">
            <a:avLst/>
          </a:prstGeom>
          <a:solidFill>
            <a:srgbClr val="22D3EE">
              <a:alpha val="70000"/>
            </a:srgbClr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237497" y="2747772"/>
            <a:ext cx="2387270" cy="1691640"/>
          </a:xfrm>
          <a:prstGeom prst="roundRect">
            <a:avLst>
              <a:gd name="adj" fmla="val 4324"/>
            </a:avLst>
          </a:prstGeom>
          <a:solidFill>
            <a:srgbClr val="191640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10257396" y="2574036"/>
            <a:ext cx="347472" cy="347472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10257396" y="2574036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0A1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4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9365513" y="3022092"/>
            <a:ext cx="213123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4D39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Activate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9365513" y="3479292"/>
            <a:ext cx="2131238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simple function decides the output signal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566928" y="5276088"/>
            <a:ext cx="11057839" cy="960120"/>
          </a:xfrm>
          <a:prstGeom prst="roundRect">
            <a:avLst>
              <a:gd name="adj" fmla="val 7619"/>
            </a:avLst>
          </a:prstGeom>
          <a:solidFill>
            <a:srgbClr val="191640">
              <a:alpha val="96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31" name="Text 29"/>
          <p:cNvSpPr txBox="1"/>
          <p:nvPr/>
        </p:nvSpPr>
        <p:spPr>
          <a:xfrm>
            <a:off x="841248" y="5385816"/>
            <a:ext cx="10509199" cy="7406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A78BF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Remember:  </a:t>
            </a:r>
            <a:r>
              <a:rPr lang="en-US" sz="13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That is the whole neuron. All the power of deep learning comes from connecting millions of these together.</a:t>
            </a:r>
            <a:endParaRPr lang="en-US" sz="13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SLIDE 37 · LAYER 1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The Input Layer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Section 4 · Neural Networks &amp; Deep Learning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043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11057839" cy="877824"/>
          </a:xfrm>
          <a:prstGeom prst="roundRect">
            <a:avLst>
              <a:gd name="adj" fmla="val 8333"/>
            </a:avLst>
          </a:prstGeom>
          <a:solidFill>
            <a:srgbClr val="191640">
              <a:alpha val="96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6928" y="1627632"/>
            <a:ext cx="64008" cy="585216"/>
          </a:xfrm>
          <a:prstGeom prst="roundRect">
            <a:avLst>
              <a:gd name="adj" fmla="val 42857"/>
            </a:avLst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59536" y="1572768"/>
            <a:ext cx="10472623" cy="6949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DDD9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input layer is where the raw data enters the network, converted into numbers.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66928" y="2615184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22960" y="2816352"/>
            <a:ext cx="457200" cy="457200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2930652"/>
            <a:ext cx="228600" cy="22860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499616" y="2816352"/>
            <a:ext cx="41847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For An Image</a:t>
            </a:r>
            <a:endParaRPr lang="en-US" sz="1450" dirty="0"/>
          </a:p>
        </p:txBody>
      </p:sp>
      <p:sp>
        <p:nvSpPr>
          <p:cNvPr id="13" name="Text 10"/>
          <p:cNvSpPr txBox="1"/>
          <p:nvPr/>
        </p:nvSpPr>
        <p:spPr>
          <a:xfrm>
            <a:off x="841248" y="3419856"/>
            <a:ext cx="484312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Each pixel becomes a number. A small 28x28 image gives 784 input values.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33008" y="2615184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489040" y="2816352"/>
            <a:ext cx="457200" cy="457200"/>
          </a:xfrm>
          <a:prstGeom prst="ellipse">
            <a:avLst/>
          </a:prstGeom>
          <a:solidFill>
            <a:srgbClr val="22D3EE">
              <a:alpha val="16000"/>
            </a:srgbClr>
          </a:solidFill>
          <a:ln w="12700">
            <a:solidFill>
              <a:srgbClr val="22D3EE">
                <a:alpha val="45000"/>
              </a:srgbClr>
            </a:solidFill>
            <a:prstDash val="solid"/>
          </a:ln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3340" y="2930652"/>
            <a:ext cx="228600" cy="22860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7165696" y="2816352"/>
            <a:ext cx="41847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For Text</a:t>
            </a:r>
            <a:endParaRPr lang="en-US" sz="1450" dirty="0"/>
          </a:p>
        </p:txBody>
      </p:sp>
      <p:sp>
        <p:nvSpPr>
          <p:cNvPr id="18" name="Text 14"/>
          <p:cNvSpPr txBox="1"/>
          <p:nvPr/>
        </p:nvSpPr>
        <p:spPr>
          <a:xfrm>
            <a:off x="6507328" y="3419856"/>
            <a:ext cx="484312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Each token is converted into a list of numbers before it enters the network.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566928" y="4530149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822960" y="4731317"/>
            <a:ext cx="457200" cy="457200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260" y="4845617"/>
            <a:ext cx="228600" cy="22860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499616" y="4731317"/>
            <a:ext cx="41847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For Tables</a:t>
            </a:r>
            <a:endParaRPr lang="en-US" sz="1450" dirty="0"/>
          </a:p>
        </p:txBody>
      </p:sp>
      <p:sp>
        <p:nvSpPr>
          <p:cNvPr id="23" name="Text 18"/>
          <p:cNvSpPr txBox="1"/>
          <p:nvPr/>
        </p:nvSpPr>
        <p:spPr>
          <a:xfrm>
            <a:off x="841248" y="5334821"/>
            <a:ext cx="484312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Each column — age, price, temperature — becomes one input value.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6233008" y="4530149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6489040" y="4731317"/>
            <a:ext cx="457200" cy="457200"/>
          </a:xfrm>
          <a:prstGeom prst="ellipse">
            <a:avLst/>
          </a:prstGeom>
          <a:solidFill>
            <a:srgbClr val="34D399">
              <a:alpha val="16000"/>
            </a:srgbClr>
          </a:solidFill>
          <a:ln w="12700">
            <a:solidFill>
              <a:srgbClr val="34D399">
                <a:alpha val="45000"/>
              </a:srgbClr>
            </a:solidFill>
            <a:prstDash val="solid"/>
          </a:ln>
        </p:spPr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3340" y="4845617"/>
            <a:ext cx="228600" cy="228600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7165696" y="4731317"/>
            <a:ext cx="41847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Key Point</a:t>
            </a:r>
            <a:endParaRPr lang="en-US" sz="1450" dirty="0"/>
          </a:p>
        </p:txBody>
      </p:sp>
      <p:sp>
        <p:nvSpPr>
          <p:cNvPr id="28" name="Text 22"/>
          <p:cNvSpPr txBox="1"/>
          <p:nvPr/>
        </p:nvSpPr>
        <p:spPr>
          <a:xfrm>
            <a:off x="6507328" y="5334821"/>
            <a:ext cx="484312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Computers only work with numbers. Everything must be converted before the network can use it.</a:t>
            </a:r>
            <a:endParaRPr lang="en-US" sz="12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SLIDE 38 · LAYER 2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Hidden Layers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Section 4 · Neural Networks &amp; Deep Learning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044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11057839" cy="877824"/>
          </a:xfrm>
          <a:prstGeom prst="roundRect">
            <a:avLst>
              <a:gd name="adj" fmla="val 8333"/>
            </a:avLst>
          </a:prstGeom>
          <a:solidFill>
            <a:srgbClr val="191640">
              <a:alpha val="96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6928" y="1627632"/>
            <a:ext cx="64008" cy="585216"/>
          </a:xfrm>
          <a:prstGeom prst="roundRect">
            <a:avLst>
              <a:gd name="adj" fmla="val 42857"/>
            </a:avLst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59536" y="1572768"/>
            <a:ext cx="10472623" cy="6949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DDD9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Hidden layers sit between input and output. They are where the actual pattern-finding happens.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66928" y="2615184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22960" y="2816352"/>
            <a:ext cx="457200" cy="457200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2930652"/>
            <a:ext cx="228600" cy="22860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499616" y="2816352"/>
            <a:ext cx="41847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Why "Hidden"</a:t>
            </a:r>
            <a:endParaRPr lang="en-US" sz="1450" dirty="0"/>
          </a:p>
        </p:txBody>
      </p:sp>
      <p:sp>
        <p:nvSpPr>
          <p:cNvPr id="13" name="Text 10"/>
          <p:cNvSpPr txBox="1"/>
          <p:nvPr/>
        </p:nvSpPr>
        <p:spPr>
          <a:xfrm>
            <a:off x="841248" y="3419856"/>
            <a:ext cx="484312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Because you never see their values directly. They are internal working steps.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33008" y="2615184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489040" y="2816352"/>
            <a:ext cx="457200" cy="457200"/>
          </a:xfrm>
          <a:prstGeom prst="ellipse">
            <a:avLst/>
          </a:prstGeom>
          <a:solidFill>
            <a:srgbClr val="22D3EE">
              <a:alpha val="16000"/>
            </a:srgbClr>
          </a:solidFill>
          <a:ln w="12700">
            <a:solidFill>
              <a:srgbClr val="22D3EE">
                <a:alpha val="45000"/>
              </a:srgbClr>
            </a:solidFill>
            <a:prstDash val="solid"/>
          </a:ln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3340" y="2930652"/>
            <a:ext cx="228600" cy="22860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7165696" y="2816352"/>
            <a:ext cx="41847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What They Learn</a:t>
            </a:r>
            <a:endParaRPr lang="en-US" sz="1450" dirty="0"/>
          </a:p>
        </p:txBody>
      </p:sp>
      <p:sp>
        <p:nvSpPr>
          <p:cNvPr id="18" name="Text 14"/>
          <p:cNvSpPr txBox="1"/>
          <p:nvPr/>
        </p:nvSpPr>
        <p:spPr>
          <a:xfrm>
            <a:off x="6507328" y="3419856"/>
            <a:ext cx="484312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Early layers find simple things such as edges. Later layers combine those into shapes, then objects, then meaning.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566928" y="4530149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822960" y="4731317"/>
            <a:ext cx="457200" cy="457200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260" y="4845617"/>
            <a:ext cx="228600" cy="22860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499616" y="4731317"/>
            <a:ext cx="41847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How Many</a:t>
            </a:r>
            <a:endParaRPr lang="en-US" sz="1450" dirty="0"/>
          </a:p>
        </p:txBody>
      </p:sp>
      <p:sp>
        <p:nvSpPr>
          <p:cNvPr id="23" name="Text 18"/>
          <p:cNvSpPr txBox="1"/>
          <p:nvPr/>
        </p:nvSpPr>
        <p:spPr>
          <a:xfrm>
            <a:off x="841248" y="5334821"/>
            <a:ext cx="484312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From a few in a small network to hundreds in a large one. More layers means "deeper".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6233008" y="4530149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6489040" y="4731317"/>
            <a:ext cx="457200" cy="457200"/>
          </a:xfrm>
          <a:prstGeom prst="ellipse">
            <a:avLst/>
          </a:prstGeom>
          <a:solidFill>
            <a:srgbClr val="34D399">
              <a:alpha val="16000"/>
            </a:srgbClr>
          </a:solidFill>
          <a:ln w="12700">
            <a:solidFill>
              <a:srgbClr val="34D399">
                <a:alpha val="45000"/>
              </a:srgbClr>
            </a:solidFill>
            <a:prstDash val="solid"/>
          </a:ln>
        </p:spPr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3340" y="4845617"/>
            <a:ext cx="228600" cy="228600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7165696" y="4731317"/>
            <a:ext cx="41847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The Trade-off</a:t>
            </a:r>
            <a:endParaRPr lang="en-US" sz="1450" dirty="0"/>
          </a:p>
        </p:txBody>
      </p:sp>
      <p:sp>
        <p:nvSpPr>
          <p:cNvPr id="28" name="Text 22"/>
          <p:cNvSpPr txBox="1"/>
          <p:nvPr/>
        </p:nvSpPr>
        <p:spPr>
          <a:xfrm>
            <a:off x="6507328" y="5334821"/>
            <a:ext cx="484312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More layers can learn more, but need more data, more computing power and more care to train.</a:t>
            </a:r>
            <a:endParaRPr lang="en-US" sz="12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SLIDE 39 · LAYER 3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The Output Layer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Section 4 · Neural Networks &amp; Deep Learning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045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11057839" cy="877824"/>
          </a:xfrm>
          <a:prstGeom prst="roundRect">
            <a:avLst>
              <a:gd name="adj" fmla="val 8333"/>
            </a:avLst>
          </a:prstGeom>
          <a:solidFill>
            <a:srgbClr val="191640">
              <a:alpha val="96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6928" y="1627632"/>
            <a:ext cx="64008" cy="585216"/>
          </a:xfrm>
          <a:prstGeom prst="roundRect">
            <a:avLst>
              <a:gd name="adj" fmla="val 42857"/>
            </a:avLst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59536" y="1572768"/>
            <a:ext cx="10472623" cy="6949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DDD9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output layer produces the final answer of the network.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66928" y="2615184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22960" y="2816352"/>
            <a:ext cx="457200" cy="457200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2930652"/>
            <a:ext cx="228600" cy="22860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499616" y="2816352"/>
            <a:ext cx="41847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For Classification</a:t>
            </a:r>
            <a:endParaRPr lang="en-US" sz="1450" dirty="0"/>
          </a:p>
        </p:txBody>
      </p:sp>
      <p:sp>
        <p:nvSpPr>
          <p:cNvPr id="13" name="Text 10"/>
          <p:cNvSpPr txBox="1"/>
          <p:nvPr/>
        </p:nvSpPr>
        <p:spPr>
          <a:xfrm>
            <a:off x="841248" y="3419856"/>
            <a:ext cx="484312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It gives a probability for each option, for example 92% cat and 8% dog.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33008" y="2615184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489040" y="2816352"/>
            <a:ext cx="457200" cy="457200"/>
          </a:xfrm>
          <a:prstGeom prst="ellipse">
            <a:avLst/>
          </a:prstGeom>
          <a:solidFill>
            <a:srgbClr val="22D3EE">
              <a:alpha val="16000"/>
            </a:srgbClr>
          </a:solidFill>
          <a:ln w="12700">
            <a:solidFill>
              <a:srgbClr val="22D3EE">
                <a:alpha val="45000"/>
              </a:srgbClr>
            </a:solidFill>
            <a:prstDash val="solid"/>
          </a:ln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3340" y="2930652"/>
            <a:ext cx="228600" cy="22860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7165696" y="2816352"/>
            <a:ext cx="41847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For Prediction</a:t>
            </a:r>
            <a:endParaRPr lang="en-US" sz="1450" dirty="0"/>
          </a:p>
        </p:txBody>
      </p:sp>
      <p:sp>
        <p:nvSpPr>
          <p:cNvPr id="18" name="Text 14"/>
          <p:cNvSpPr txBox="1"/>
          <p:nvPr/>
        </p:nvSpPr>
        <p:spPr>
          <a:xfrm>
            <a:off x="6507328" y="3419856"/>
            <a:ext cx="484312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It gives a single number, for example a predicted house price.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566928" y="4530149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822960" y="4731317"/>
            <a:ext cx="457200" cy="457200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260" y="4845617"/>
            <a:ext cx="228600" cy="22860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499616" y="4731317"/>
            <a:ext cx="41847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For Language Models</a:t>
            </a:r>
            <a:endParaRPr lang="en-US" sz="1450" dirty="0"/>
          </a:p>
        </p:txBody>
      </p:sp>
      <p:sp>
        <p:nvSpPr>
          <p:cNvPr id="23" name="Text 18"/>
          <p:cNvSpPr txBox="1"/>
          <p:nvPr/>
        </p:nvSpPr>
        <p:spPr>
          <a:xfrm>
            <a:off x="841248" y="5334821"/>
            <a:ext cx="484312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It gives a probability for every possible next token in the vocabulary.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6233008" y="4530149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6489040" y="4731317"/>
            <a:ext cx="457200" cy="457200"/>
          </a:xfrm>
          <a:prstGeom prst="ellipse">
            <a:avLst/>
          </a:prstGeom>
          <a:solidFill>
            <a:srgbClr val="34D399">
              <a:alpha val="16000"/>
            </a:srgbClr>
          </a:solidFill>
          <a:ln w="12700">
            <a:solidFill>
              <a:srgbClr val="34D399">
                <a:alpha val="45000"/>
              </a:srgbClr>
            </a:solidFill>
            <a:prstDash val="solid"/>
          </a:ln>
        </p:spPr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3340" y="4845617"/>
            <a:ext cx="228600" cy="228600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7165696" y="4731317"/>
            <a:ext cx="41847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Important</a:t>
            </a:r>
            <a:endParaRPr lang="en-US" sz="1450" dirty="0"/>
          </a:p>
        </p:txBody>
      </p:sp>
      <p:sp>
        <p:nvSpPr>
          <p:cNvPr id="28" name="Text 22"/>
          <p:cNvSpPr txBox="1"/>
          <p:nvPr/>
        </p:nvSpPr>
        <p:spPr>
          <a:xfrm>
            <a:off x="6507328" y="5334821"/>
            <a:ext cx="484312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output is always a probability or an estimate — never a guaranteed fact.</a:t>
            </a:r>
            <a:endParaRPr lang="en-US" sz="12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SLIDE 40 · THE LEARNED VALUES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Weights and Bias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Section 4 · Neural Networks &amp; Deep Learning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046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5364328" cy="3840480"/>
          </a:xfrm>
          <a:prstGeom prst="roundRect">
            <a:avLst>
              <a:gd name="adj" fmla="val 1905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41248" y="1737360"/>
            <a:ext cx="530352" cy="530352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3836" y="1869948"/>
            <a:ext cx="265176" cy="265176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591056" y="1737360"/>
            <a:ext cx="4047592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A78BF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Weight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877824" y="2505456"/>
            <a:ext cx="4742536" cy="261518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▪"/>
            </a:pPr>
            <a:r>
              <a:rPr lang="en-US" sz="135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number showing how important one input is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▪"/>
            </a:pPr>
            <a:r>
              <a:rPr lang="en-US" sz="135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high weight means this input strongly affects the result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▪"/>
            </a:pPr>
            <a:r>
              <a:rPr lang="en-US" sz="135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Weights start random and are corrected during training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▪"/>
            </a:pPr>
            <a:r>
              <a:rPr lang="en-US" sz="135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large model has billions of them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6260440" y="1481328"/>
            <a:ext cx="5364328" cy="3840480"/>
          </a:xfrm>
          <a:prstGeom prst="roundRect">
            <a:avLst>
              <a:gd name="adj" fmla="val 1905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534760" y="1737360"/>
            <a:ext cx="530352" cy="530352"/>
          </a:xfrm>
          <a:prstGeom prst="ellipse">
            <a:avLst/>
          </a:prstGeom>
          <a:solidFill>
            <a:srgbClr val="22D3EE">
              <a:alpha val="16000"/>
            </a:srgbClr>
          </a:solidFill>
          <a:ln w="12700">
            <a:solidFill>
              <a:srgbClr val="22D3EE">
                <a:alpha val="45000"/>
              </a:srgbClr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7348" y="1869948"/>
            <a:ext cx="265176" cy="265176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7284568" y="1737360"/>
            <a:ext cx="4047592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2D3E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Bias</a:t>
            </a:r>
            <a:endParaRPr lang="en-US" sz="1800" dirty="0"/>
          </a:p>
        </p:txBody>
      </p:sp>
      <p:sp>
        <p:nvSpPr>
          <p:cNvPr id="15" name="Text 11"/>
          <p:cNvSpPr txBox="1"/>
          <p:nvPr/>
        </p:nvSpPr>
        <p:spPr>
          <a:xfrm>
            <a:off x="6571336" y="2505456"/>
            <a:ext cx="4742536" cy="261518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▪"/>
            </a:pPr>
            <a:r>
              <a:rPr lang="en-US" sz="135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 extra number added after the weighted sum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▪"/>
            </a:pPr>
            <a:r>
              <a:rPr lang="en-US" sz="135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Lets the neuron shift its result up or down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▪"/>
            </a:pPr>
            <a:r>
              <a:rPr lang="en-US" sz="135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Helps the network fit patterns more flexibly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▪"/>
            </a:pPr>
            <a:r>
              <a:rPr lang="en-US" sz="135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Also learned automatically during training</a:t>
            </a:r>
            <a:endParaRPr lang="en-US" sz="1350" dirty="0"/>
          </a:p>
        </p:txBody>
      </p:sp>
      <p:sp>
        <p:nvSpPr>
          <p:cNvPr id="16" name="Shape 12"/>
          <p:cNvSpPr/>
          <p:nvPr/>
        </p:nvSpPr>
        <p:spPr>
          <a:xfrm>
            <a:off x="566928" y="5458968"/>
            <a:ext cx="11057839" cy="777240"/>
          </a:xfrm>
          <a:prstGeom prst="roundRect">
            <a:avLst>
              <a:gd name="adj" fmla="val 9412"/>
            </a:avLst>
          </a:prstGeom>
          <a:solidFill>
            <a:srgbClr val="191640">
              <a:alpha val="96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7" name="Text 13"/>
          <p:cNvSpPr txBox="1"/>
          <p:nvPr/>
        </p:nvSpPr>
        <p:spPr>
          <a:xfrm>
            <a:off x="841248" y="5550408"/>
            <a:ext cx="10509199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22D3E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Key point:  </a:t>
            </a:r>
            <a:r>
              <a:rPr lang="en-US" sz="13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Weights and bias together are the parameters. "Training the model" simply means finding good values for all of them.</a:t>
            </a:r>
            <a:endParaRPr lang="en-US" sz="13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SLIDE 41 · THE LEARNING LOOP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Training a Neural Network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Section 4 · Neural Networks &amp; Deep Learning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047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2464308"/>
            <a:ext cx="1809232" cy="1691640"/>
          </a:xfrm>
          <a:prstGeom prst="roundRect">
            <a:avLst>
              <a:gd name="adj" fmla="val 4324"/>
            </a:avLst>
          </a:prstGeom>
          <a:solidFill>
            <a:srgbClr val="191640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297808" y="2290572"/>
            <a:ext cx="347472" cy="347472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297808" y="2290572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0A1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94944" y="2738628"/>
            <a:ext cx="1553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A78BF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Forward pass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94944" y="3195828"/>
            <a:ext cx="1553200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goes in and the network makes a guess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2467600" y="3191256"/>
            <a:ext cx="320040" cy="237744"/>
          </a:xfrm>
          <a:prstGeom prst="rightArrow">
            <a:avLst/>
          </a:prstGeom>
          <a:solidFill>
            <a:srgbClr val="22D3EE">
              <a:alpha val="70000"/>
            </a:srgbClr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879080" y="2464308"/>
            <a:ext cx="1809232" cy="1691640"/>
          </a:xfrm>
          <a:prstGeom prst="roundRect">
            <a:avLst>
              <a:gd name="adj" fmla="val 4324"/>
            </a:avLst>
          </a:prstGeom>
          <a:solidFill>
            <a:srgbClr val="191640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09960" y="2290572"/>
            <a:ext cx="347472" cy="34747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609960" y="2290572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0A1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3007096" y="2738628"/>
            <a:ext cx="1553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2D3E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Compare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3007096" y="3195828"/>
            <a:ext cx="1553200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guess is compared with the correct answer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779752" y="3191256"/>
            <a:ext cx="320040" cy="237744"/>
          </a:xfrm>
          <a:prstGeom prst="rightArrow">
            <a:avLst/>
          </a:prstGeom>
          <a:solidFill>
            <a:srgbClr val="22D3EE">
              <a:alpha val="70000"/>
            </a:srgbClr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191232" y="2464308"/>
            <a:ext cx="1809232" cy="1691640"/>
          </a:xfrm>
          <a:prstGeom prst="roundRect">
            <a:avLst>
              <a:gd name="adj" fmla="val 4324"/>
            </a:avLst>
          </a:prstGeom>
          <a:solidFill>
            <a:srgbClr val="191640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922112" y="2290572"/>
            <a:ext cx="347472" cy="347472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922112" y="2290572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0A1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5319248" y="2738628"/>
            <a:ext cx="1553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BBF2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Loss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5319248" y="3195828"/>
            <a:ext cx="1553200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size of the mistake is measured as a number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7091904" y="3191256"/>
            <a:ext cx="320040" cy="237744"/>
          </a:xfrm>
          <a:prstGeom prst="rightArrow">
            <a:avLst/>
          </a:prstGeom>
          <a:solidFill>
            <a:srgbClr val="22D3EE">
              <a:alpha val="70000"/>
            </a:srgbClr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503384" y="2464308"/>
            <a:ext cx="1809232" cy="1691640"/>
          </a:xfrm>
          <a:prstGeom prst="roundRect">
            <a:avLst>
              <a:gd name="adj" fmla="val 4324"/>
            </a:avLst>
          </a:prstGeom>
          <a:solidFill>
            <a:srgbClr val="191640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234263" y="2290572"/>
            <a:ext cx="347472" cy="347472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234263" y="2290572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0A1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4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7631400" y="2738628"/>
            <a:ext cx="1553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4D39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Backward pass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7631400" y="3195828"/>
            <a:ext cx="1553200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error is traced back through the layers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9404055" y="3191256"/>
            <a:ext cx="320040" cy="237744"/>
          </a:xfrm>
          <a:prstGeom prst="rightArrow">
            <a:avLst/>
          </a:prstGeom>
          <a:solidFill>
            <a:srgbClr val="22D3EE">
              <a:alpha val="70000"/>
            </a:srgbClr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815535" y="2464308"/>
            <a:ext cx="1809232" cy="1691640"/>
          </a:xfrm>
          <a:prstGeom prst="roundRect">
            <a:avLst>
              <a:gd name="adj" fmla="val 4324"/>
            </a:avLst>
          </a:prstGeom>
          <a:solidFill>
            <a:srgbClr val="191640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10546415" y="2290572"/>
            <a:ext cx="347472" cy="347472"/>
          </a:xfrm>
          <a:prstGeom prst="ellipse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10546415" y="2290572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0A1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5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9943551" y="2738628"/>
            <a:ext cx="1553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472B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Update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9943551" y="3195828"/>
            <a:ext cx="1553200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Weights are adjusted slightly to reduce the error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566928" y="5276088"/>
            <a:ext cx="11057839" cy="960120"/>
          </a:xfrm>
          <a:prstGeom prst="roundRect">
            <a:avLst>
              <a:gd name="adj" fmla="val 7619"/>
            </a:avLst>
          </a:prstGeom>
          <a:solidFill>
            <a:srgbClr val="191640">
              <a:alpha val="96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36" name="Text 34"/>
          <p:cNvSpPr txBox="1"/>
          <p:nvPr/>
        </p:nvSpPr>
        <p:spPr>
          <a:xfrm>
            <a:off x="841248" y="5385816"/>
            <a:ext cx="10509199" cy="7406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A78BF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Remember:  </a:t>
            </a:r>
            <a:r>
              <a:rPr lang="en-US" sz="13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This loop repeats for millions of examples. Each pass makes the mistakes a little smaller.</a:t>
            </a:r>
            <a:endParaRPr lang="en-US" sz="13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SLIDE 42 · MEASURING ERROR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Loss — How Wrong Was It?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Section 4 · Neural Networks &amp; Deep Learning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048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11057839" cy="877824"/>
          </a:xfrm>
          <a:prstGeom prst="roundRect">
            <a:avLst>
              <a:gd name="adj" fmla="val 8333"/>
            </a:avLst>
          </a:prstGeom>
          <a:solidFill>
            <a:srgbClr val="191640">
              <a:alpha val="96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6928" y="1627632"/>
            <a:ext cx="64008" cy="585216"/>
          </a:xfrm>
          <a:prstGeom prst="roundRect">
            <a:avLst>
              <a:gd name="adj" fmla="val 42857"/>
            </a:avLst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59536" y="1572768"/>
            <a:ext cx="10472623" cy="6949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DDD9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Loss is a single number that measures how far the model answer was from the correct answer.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66928" y="2615184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22960" y="2816352"/>
            <a:ext cx="457200" cy="457200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2930652"/>
            <a:ext cx="228600" cy="22860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499616" y="2816352"/>
            <a:ext cx="41847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Simple Explanation</a:t>
            </a:r>
            <a:endParaRPr lang="en-US" sz="1450" dirty="0"/>
          </a:p>
        </p:txBody>
      </p:sp>
      <p:sp>
        <p:nvSpPr>
          <p:cNvPr id="13" name="Text 10"/>
          <p:cNvSpPr txBox="1"/>
          <p:nvPr/>
        </p:nvSpPr>
        <p:spPr>
          <a:xfrm>
            <a:off x="841248" y="3419856"/>
            <a:ext cx="484312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High loss means very wrong. Low loss means close to correct. The goal of training is to push loss down.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33008" y="2615184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489040" y="2816352"/>
            <a:ext cx="457200" cy="457200"/>
          </a:xfrm>
          <a:prstGeom prst="ellipse">
            <a:avLst/>
          </a:prstGeom>
          <a:solidFill>
            <a:srgbClr val="22D3EE">
              <a:alpha val="16000"/>
            </a:srgbClr>
          </a:solidFill>
          <a:ln w="12700">
            <a:solidFill>
              <a:srgbClr val="22D3EE">
                <a:alpha val="45000"/>
              </a:srgbClr>
            </a:solidFill>
            <a:prstDash val="solid"/>
          </a:ln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3340" y="2930652"/>
            <a:ext cx="228600" cy="22860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7165696" y="2816352"/>
            <a:ext cx="41847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Analogy</a:t>
            </a:r>
            <a:endParaRPr lang="en-US" sz="1450" dirty="0"/>
          </a:p>
        </p:txBody>
      </p:sp>
      <p:sp>
        <p:nvSpPr>
          <p:cNvPr id="18" name="Text 14"/>
          <p:cNvSpPr txBox="1"/>
          <p:nvPr/>
        </p:nvSpPr>
        <p:spPr>
          <a:xfrm>
            <a:off x="6507328" y="3419856"/>
            <a:ext cx="484312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Like marks lost in an exam. You study to reduce the number of marks lost.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566928" y="4530149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822960" y="4731317"/>
            <a:ext cx="457200" cy="457200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260" y="4845617"/>
            <a:ext cx="228600" cy="22860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499616" y="4731317"/>
            <a:ext cx="41847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Watching Loss</a:t>
            </a:r>
            <a:endParaRPr lang="en-US" sz="1450" dirty="0"/>
          </a:p>
        </p:txBody>
      </p:sp>
      <p:sp>
        <p:nvSpPr>
          <p:cNvPr id="23" name="Text 18"/>
          <p:cNvSpPr txBox="1"/>
          <p:nvPr/>
        </p:nvSpPr>
        <p:spPr>
          <a:xfrm>
            <a:off x="841248" y="5334821"/>
            <a:ext cx="484312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Engineers plot loss over time. A falling curve means the model is learning successfully.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6233008" y="4530149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6489040" y="4731317"/>
            <a:ext cx="457200" cy="457200"/>
          </a:xfrm>
          <a:prstGeom prst="ellipse">
            <a:avLst/>
          </a:prstGeom>
          <a:solidFill>
            <a:srgbClr val="34D399">
              <a:alpha val="16000"/>
            </a:srgbClr>
          </a:solidFill>
          <a:ln w="12700">
            <a:solidFill>
              <a:srgbClr val="34D399">
                <a:alpha val="45000"/>
              </a:srgbClr>
            </a:solidFill>
            <a:prstDash val="solid"/>
          </a:ln>
        </p:spPr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3340" y="4845617"/>
            <a:ext cx="228600" cy="228600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7165696" y="4731317"/>
            <a:ext cx="41847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Zero Loss Is A Warning</a:t>
            </a:r>
            <a:endParaRPr lang="en-US" sz="1450" dirty="0"/>
          </a:p>
        </p:txBody>
      </p:sp>
      <p:sp>
        <p:nvSpPr>
          <p:cNvPr id="28" name="Text 22"/>
          <p:cNvSpPr txBox="1"/>
          <p:nvPr/>
        </p:nvSpPr>
        <p:spPr>
          <a:xfrm>
            <a:off x="6507328" y="5334821"/>
            <a:ext cx="484312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model that is perfect on training data may have memorised it. This is called overfitting.</a:t>
            </a:r>
            <a:endParaRPr lang="en-US" sz="12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SLIDE 43 · IMPROVING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Optimization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Section 4 · Neural Networks &amp; Deep Learning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049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11057839" cy="877824"/>
          </a:xfrm>
          <a:prstGeom prst="roundRect">
            <a:avLst>
              <a:gd name="adj" fmla="val 8333"/>
            </a:avLst>
          </a:prstGeom>
          <a:solidFill>
            <a:srgbClr val="191640">
              <a:alpha val="96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6928" y="1627632"/>
            <a:ext cx="64008" cy="585216"/>
          </a:xfrm>
          <a:prstGeom prst="roundRect">
            <a:avLst>
              <a:gd name="adj" fmla="val 42857"/>
            </a:avLst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59536" y="1572768"/>
            <a:ext cx="10472623" cy="6949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DDD9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Optimization is the method used to change the weights so that loss goes down.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66928" y="2615184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22960" y="2816352"/>
            <a:ext cx="457200" cy="457200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2930652"/>
            <a:ext cx="228600" cy="22860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499616" y="2816352"/>
            <a:ext cx="41847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The Basic Idea</a:t>
            </a:r>
            <a:endParaRPr lang="en-US" sz="1450" dirty="0"/>
          </a:p>
        </p:txBody>
      </p:sp>
      <p:sp>
        <p:nvSpPr>
          <p:cNvPr id="13" name="Text 10"/>
          <p:cNvSpPr txBox="1"/>
          <p:nvPr/>
        </p:nvSpPr>
        <p:spPr>
          <a:xfrm>
            <a:off x="841248" y="3419856"/>
            <a:ext cx="484312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Imagine standing on a hill in fog and wanting to reach the valley. You take small steps downhill each time.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33008" y="2615184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489040" y="2816352"/>
            <a:ext cx="457200" cy="457200"/>
          </a:xfrm>
          <a:prstGeom prst="ellipse">
            <a:avLst/>
          </a:prstGeom>
          <a:solidFill>
            <a:srgbClr val="22D3EE">
              <a:alpha val="16000"/>
            </a:srgbClr>
          </a:solidFill>
          <a:ln w="12700">
            <a:solidFill>
              <a:srgbClr val="22D3EE">
                <a:alpha val="45000"/>
              </a:srgbClr>
            </a:solidFill>
            <a:prstDash val="solid"/>
          </a:ln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3340" y="2930652"/>
            <a:ext cx="228600" cy="22860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7165696" y="2816352"/>
            <a:ext cx="41847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Learning Rate</a:t>
            </a:r>
            <a:endParaRPr lang="en-US" sz="1450" dirty="0"/>
          </a:p>
        </p:txBody>
      </p:sp>
      <p:sp>
        <p:nvSpPr>
          <p:cNvPr id="18" name="Text 14"/>
          <p:cNvSpPr txBox="1"/>
          <p:nvPr/>
        </p:nvSpPr>
        <p:spPr>
          <a:xfrm>
            <a:off x="6507328" y="3419856"/>
            <a:ext cx="484312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size of each step. Too large and you overshoot. Too small and training takes far too long.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566928" y="4530149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822960" y="4731317"/>
            <a:ext cx="457200" cy="457200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260" y="4845617"/>
            <a:ext cx="228600" cy="22860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499616" y="4731317"/>
            <a:ext cx="41847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Common Method</a:t>
            </a:r>
            <a:endParaRPr lang="en-US" sz="1450" dirty="0"/>
          </a:p>
        </p:txBody>
      </p:sp>
      <p:sp>
        <p:nvSpPr>
          <p:cNvPr id="23" name="Text 18"/>
          <p:cNvSpPr txBox="1"/>
          <p:nvPr/>
        </p:nvSpPr>
        <p:spPr>
          <a:xfrm>
            <a:off x="841248" y="5334821"/>
            <a:ext cx="484312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Gradient descent, and its improved versions, are the standard approaches used in practice.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6233008" y="4530149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6489040" y="4731317"/>
            <a:ext cx="457200" cy="457200"/>
          </a:xfrm>
          <a:prstGeom prst="ellipse">
            <a:avLst/>
          </a:prstGeom>
          <a:solidFill>
            <a:srgbClr val="34D399">
              <a:alpha val="16000"/>
            </a:srgbClr>
          </a:solidFill>
          <a:ln w="12700">
            <a:solidFill>
              <a:srgbClr val="34D399">
                <a:alpha val="45000"/>
              </a:srgbClr>
            </a:solidFill>
            <a:prstDash val="solid"/>
          </a:ln>
        </p:spPr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3340" y="4845617"/>
            <a:ext cx="228600" cy="228600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7165696" y="4731317"/>
            <a:ext cx="41847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Reality</a:t>
            </a:r>
            <a:endParaRPr lang="en-US" sz="1450" dirty="0"/>
          </a:p>
        </p:txBody>
      </p:sp>
      <p:sp>
        <p:nvSpPr>
          <p:cNvPr id="28" name="Text 22"/>
          <p:cNvSpPr txBox="1"/>
          <p:nvPr/>
        </p:nvSpPr>
        <p:spPr>
          <a:xfrm>
            <a:off x="6507328" y="5334821"/>
            <a:ext cx="484312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This is repeated millions of times, which is why training large models needs so much computing power.</a:t>
            </a:r>
            <a:endParaRPr lang="en-US" sz="12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SLIDE 44 · GOING DEEPER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Deep Neural Networks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Section 4 · Neural Networks &amp; Deep Learning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050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11057839" cy="877824"/>
          </a:xfrm>
          <a:prstGeom prst="roundRect">
            <a:avLst>
              <a:gd name="adj" fmla="val 8333"/>
            </a:avLst>
          </a:prstGeom>
          <a:solidFill>
            <a:srgbClr val="191640">
              <a:alpha val="96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6928" y="1627632"/>
            <a:ext cx="64008" cy="585216"/>
          </a:xfrm>
          <a:prstGeom prst="roundRect">
            <a:avLst>
              <a:gd name="adj" fmla="val 42857"/>
            </a:avLst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59536" y="1572768"/>
            <a:ext cx="10472623" cy="6949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DDD9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deep neural network is simply a neural network with many hidden layers.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66928" y="2615184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22960" y="2816352"/>
            <a:ext cx="457200" cy="457200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2930652"/>
            <a:ext cx="228600" cy="22860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499616" y="2816352"/>
            <a:ext cx="41847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Why Depth Helps</a:t>
            </a:r>
            <a:endParaRPr lang="en-US" sz="1450" dirty="0"/>
          </a:p>
        </p:txBody>
      </p:sp>
      <p:sp>
        <p:nvSpPr>
          <p:cNvPr id="13" name="Text 10"/>
          <p:cNvSpPr txBox="1"/>
          <p:nvPr/>
        </p:nvSpPr>
        <p:spPr>
          <a:xfrm>
            <a:off x="841248" y="3419856"/>
            <a:ext cx="484312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Each layer builds on the previous one, so the network can represent very complex patterns step by step.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33008" y="2615184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489040" y="2816352"/>
            <a:ext cx="457200" cy="457200"/>
          </a:xfrm>
          <a:prstGeom prst="ellipse">
            <a:avLst/>
          </a:prstGeom>
          <a:solidFill>
            <a:srgbClr val="22D3EE">
              <a:alpha val="16000"/>
            </a:srgbClr>
          </a:solidFill>
          <a:ln w="12700">
            <a:solidFill>
              <a:srgbClr val="22D3EE">
                <a:alpha val="45000"/>
              </a:srgbClr>
            </a:solidFill>
            <a:prstDash val="solid"/>
          </a:ln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3340" y="2930652"/>
            <a:ext cx="228600" cy="22860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7165696" y="2816352"/>
            <a:ext cx="41847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Vision Example</a:t>
            </a:r>
            <a:endParaRPr lang="en-US" sz="1450" dirty="0"/>
          </a:p>
        </p:txBody>
      </p:sp>
      <p:sp>
        <p:nvSpPr>
          <p:cNvPr id="18" name="Text 14"/>
          <p:cNvSpPr txBox="1"/>
          <p:nvPr/>
        </p:nvSpPr>
        <p:spPr>
          <a:xfrm>
            <a:off x="6507328" y="3419856"/>
            <a:ext cx="484312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Layer 1 finds edges, layer 2 finds shapes, layer 3 finds parts such as eyes, later layers recognise a face.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566928" y="4530149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822960" y="4731317"/>
            <a:ext cx="457200" cy="457200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260" y="4845617"/>
            <a:ext cx="228600" cy="22860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499616" y="4731317"/>
            <a:ext cx="41847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What Made It Possible</a:t>
            </a:r>
            <a:endParaRPr lang="en-US" sz="1450" dirty="0"/>
          </a:p>
        </p:txBody>
      </p:sp>
      <p:sp>
        <p:nvSpPr>
          <p:cNvPr id="23" name="Text 18"/>
          <p:cNvSpPr txBox="1"/>
          <p:nvPr/>
        </p:nvSpPr>
        <p:spPr>
          <a:xfrm>
            <a:off x="841248" y="5334821"/>
            <a:ext cx="484312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Large datasets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GPUs for fast maths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Better training techniques</a:t>
            </a:r>
            <a:endParaRPr lang="en-US" sz="1150" dirty="0"/>
          </a:p>
        </p:txBody>
      </p:sp>
      <p:sp>
        <p:nvSpPr>
          <p:cNvPr id="24" name="Shape 19"/>
          <p:cNvSpPr/>
          <p:nvPr/>
        </p:nvSpPr>
        <p:spPr>
          <a:xfrm>
            <a:off x="6233008" y="4530149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6489040" y="4731317"/>
            <a:ext cx="457200" cy="457200"/>
          </a:xfrm>
          <a:prstGeom prst="ellipse">
            <a:avLst/>
          </a:prstGeom>
          <a:solidFill>
            <a:srgbClr val="34D399">
              <a:alpha val="16000"/>
            </a:srgbClr>
          </a:solidFill>
          <a:ln w="12700">
            <a:solidFill>
              <a:srgbClr val="34D399">
                <a:alpha val="45000"/>
              </a:srgbClr>
            </a:solidFill>
            <a:prstDash val="solid"/>
          </a:ln>
        </p:spPr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3340" y="4845617"/>
            <a:ext cx="228600" cy="228600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7165696" y="4731317"/>
            <a:ext cx="41847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The Cost</a:t>
            </a:r>
            <a:endParaRPr lang="en-US" sz="1450" dirty="0"/>
          </a:p>
        </p:txBody>
      </p:sp>
      <p:sp>
        <p:nvSpPr>
          <p:cNvPr id="28" name="Text 22"/>
          <p:cNvSpPr txBox="1"/>
          <p:nvPr/>
        </p:nvSpPr>
        <p:spPr>
          <a:xfrm>
            <a:off x="6507328" y="5334821"/>
            <a:ext cx="484312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Deeper networks are harder to train, harder to explain and more expensive to run.</a:t>
            </a:r>
            <a:endParaRPr lang="en-US" sz="12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SLIDE 45 · CONNECTION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Why Deep Learning Matters for Generative AI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Section 4 · Neural Networks &amp; Deep Learning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051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11057839" cy="833933"/>
          </a:xfrm>
          <a:prstGeom prst="roundRect">
            <a:avLst>
              <a:gd name="adj" fmla="val 8772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04672" y="1642262"/>
            <a:ext cx="512064" cy="512064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" y="1770278"/>
            <a:ext cx="256032" cy="256032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554480" y="1591056"/>
            <a:ext cx="9795967" cy="61447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Gen AI models are deep networks</a:t>
            </a:r>
            <a:endParaRPr lang="en-US" sz="13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Every large language model and image model is a very large deep neural network.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566928" y="2461565"/>
            <a:ext cx="11057839" cy="833933"/>
          </a:xfrm>
          <a:prstGeom prst="roundRect">
            <a:avLst>
              <a:gd name="adj" fmla="val 8772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804672" y="2622499"/>
            <a:ext cx="512064" cy="512064"/>
          </a:xfrm>
          <a:prstGeom prst="ellipse">
            <a:avLst/>
          </a:prstGeom>
          <a:solidFill>
            <a:srgbClr val="22D3EE">
              <a:alpha val="16000"/>
            </a:srgbClr>
          </a:solidFill>
          <a:ln w="12700">
            <a:solidFill>
              <a:srgbClr val="22D3EE">
                <a:alpha val="45000"/>
              </a:srgbClr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" y="2750515"/>
            <a:ext cx="256032" cy="256032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554480" y="2571293"/>
            <a:ext cx="9795967" cy="61447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It learns features by itself</a:t>
            </a:r>
            <a:endParaRPr lang="en-US" sz="13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Nobody told the model what grammar or style is. It learned them from examples.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566928" y="3441802"/>
            <a:ext cx="11057839" cy="833933"/>
          </a:xfrm>
          <a:prstGeom prst="roundRect">
            <a:avLst>
              <a:gd name="adj" fmla="val 8772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04672" y="3602736"/>
            <a:ext cx="512064" cy="512064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" y="3730752"/>
            <a:ext cx="256032" cy="256032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554480" y="3551530"/>
            <a:ext cx="9795967" cy="61447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It scales with data</a:t>
            </a:r>
            <a:endParaRPr lang="en-US" sz="13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Unlike older methods, deep networks keep improving as data and compute increase.</a:t>
            </a:r>
            <a:endParaRPr lang="en-US" sz="1350" dirty="0"/>
          </a:p>
        </p:txBody>
      </p:sp>
      <p:sp>
        <p:nvSpPr>
          <p:cNvPr id="18" name="Shape 13"/>
          <p:cNvSpPr/>
          <p:nvPr/>
        </p:nvSpPr>
        <p:spPr>
          <a:xfrm>
            <a:off x="566928" y="4422038"/>
            <a:ext cx="11057839" cy="833933"/>
          </a:xfrm>
          <a:prstGeom prst="roundRect">
            <a:avLst>
              <a:gd name="adj" fmla="val 8772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804672" y="4582973"/>
            <a:ext cx="512064" cy="512064"/>
          </a:xfrm>
          <a:prstGeom prst="ellipse">
            <a:avLst/>
          </a:prstGeom>
          <a:solidFill>
            <a:srgbClr val="34D399">
              <a:alpha val="16000"/>
            </a:srgbClr>
          </a:solidFill>
          <a:ln w="12700">
            <a:solidFill>
              <a:srgbClr val="34D399">
                <a:alpha val="45000"/>
              </a:srgbClr>
            </a:solidFill>
            <a:prstDash val="solid"/>
          </a:ln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688" y="4710989"/>
            <a:ext cx="256032" cy="256032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554480" y="4531766"/>
            <a:ext cx="9795967" cy="61447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It handles any data type</a:t>
            </a:r>
            <a:endParaRPr lang="en-US" sz="13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same basic idea works for text, images, audio and video.</a:t>
            </a:r>
            <a:endParaRPr lang="en-US" sz="1350" dirty="0"/>
          </a:p>
        </p:txBody>
      </p:sp>
      <p:sp>
        <p:nvSpPr>
          <p:cNvPr id="22" name="Shape 16"/>
          <p:cNvSpPr/>
          <p:nvPr/>
        </p:nvSpPr>
        <p:spPr>
          <a:xfrm>
            <a:off x="566928" y="5402275"/>
            <a:ext cx="11057839" cy="833933"/>
          </a:xfrm>
          <a:prstGeom prst="roundRect">
            <a:avLst>
              <a:gd name="adj" fmla="val 8772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804672" y="5563210"/>
            <a:ext cx="512064" cy="512064"/>
          </a:xfrm>
          <a:prstGeom prst="ellipse">
            <a:avLst/>
          </a:prstGeom>
          <a:solidFill>
            <a:srgbClr val="F472B6">
              <a:alpha val="16000"/>
            </a:srgbClr>
          </a:solidFill>
          <a:ln w="12700">
            <a:solidFill>
              <a:srgbClr val="F472B6">
                <a:alpha val="45000"/>
              </a:srgbClr>
            </a:solidFill>
            <a:prstDash val="solid"/>
          </a:ln>
        </p:spPr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2688" y="5691226"/>
            <a:ext cx="256032" cy="256032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1554480" y="5512003"/>
            <a:ext cx="9795967" cy="61447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Transformers are deep networks</a:t>
            </a:r>
            <a:endParaRPr lang="en-US" sz="13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transformer, which powers modern Gen AI, is a specific deep learning design.</a:t>
            </a:r>
            <a:endParaRPr lang="en-US" sz="135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BBF2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QUIZ 4 · SLIDES 35–45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Quiz 4 — Neural Networks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Section 4 · Neural Networks &amp; Deep Learning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052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11057839" cy="848563"/>
          </a:xfrm>
          <a:prstGeom prst="roundRect">
            <a:avLst>
              <a:gd name="adj" fmla="val 8621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68096" y="1627632"/>
            <a:ext cx="310896" cy="310896"/>
          </a:xfrm>
          <a:prstGeom prst="ellipse">
            <a:avLst/>
          </a:prstGeom>
          <a:solidFill>
            <a:srgbClr val="FBBF24">
              <a:alpha val="22000"/>
            </a:srgbClr>
          </a:solidFill>
          <a:ln w="12700">
            <a:solidFill>
              <a:srgbClr val="FBBF24">
                <a:alpha val="5000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68096" y="1627632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BBF2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Q1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188720" y="1600200"/>
            <a:ext cx="8726119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Hidden layers are the part that: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10207447" y="1618488"/>
            <a:ext cx="1371600" cy="347472"/>
          </a:xfrm>
          <a:prstGeom prst="roundRect">
            <a:avLst>
              <a:gd name="adj" fmla="val 15789"/>
            </a:avLst>
          </a:prstGeom>
          <a:solidFill>
            <a:srgbClr val="A78BFA">
              <a:alpha val="20000"/>
            </a:srgbClr>
          </a:solidFill>
          <a:ln w="12700">
            <a:solidFill>
              <a:srgbClr val="A78BFA">
                <a:alpha val="60000"/>
              </a:srgbClr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207447" y="1618488"/>
            <a:ext cx="13716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Answer: D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1115568" y="2011680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A. </a:t>
            </a:r>
            <a:r>
              <a:rPr lang="en-US" sz="11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Displays the screen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3674288" y="2011680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B. </a:t>
            </a:r>
            <a:r>
              <a:rPr lang="en-US" sz="11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Stores your files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6233008" y="2011680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C. </a:t>
            </a:r>
            <a:r>
              <a:rPr lang="en-US" sz="11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Connects to Wi-Fi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8791727" y="2011680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D. </a:t>
            </a: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Finds patterns inside the network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66928" y="2457907"/>
            <a:ext cx="11057839" cy="848563"/>
          </a:xfrm>
          <a:prstGeom prst="roundRect">
            <a:avLst>
              <a:gd name="adj" fmla="val 8621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68096" y="2604211"/>
            <a:ext cx="310896" cy="310896"/>
          </a:xfrm>
          <a:prstGeom prst="ellipse">
            <a:avLst/>
          </a:prstGeom>
          <a:solidFill>
            <a:srgbClr val="FBBF24">
              <a:alpha val="22000"/>
            </a:srgbClr>
          </a:solidFill>
          <a:ln w="12700">
            <a:solidFill>
              <a:srgbClr val="FBBF24">
                <a:alpha val="50000"/>
              </a:srgbClr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68096" y="2604211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BBF2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Q2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1188720" y="2576779"/>
            <a:ext cx="8726119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Weights and bias together are called: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10207447" y="2595067"/>
            <a:ext cx="1371600" cy="347472"/>
          </a:xfrm>
          <a:prstGeom prst="roundRect">
            <a:avLst>
              <a:gd name="adj" fmla="val 15789"/>
            </a:avLst>
          </a:prstGeom>
          <a:solidFill>
            <a:srgbClr val="A78BFA">
              <a:alpha val="20000"/>
            </a:srgbClr>
          </a:solidFill>
          <a:ln w="12700">
            <a:solidFill>
              <a:srgbClr val="A78BFA">
                <a:alpha val="60000"/>
              </a:srgbClr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0207447" y="2595067"/>
            <a:ext cx="13716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Answer: A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1115568" y="2988259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A. </a:t>
            </a: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Parameters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3674288" y="2988259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B. </a:t>
            </a:r>
            <a:r>
              <a:rPr lang="en-US" sz="11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Tokens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6233008" y="2988259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C. </a:t>
            </a:r>
            <a:r>
              <a:rPr lang="en-US" sz="11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Prompts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8791727" y="2988259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D. </a:t>
            </a:r>
            <a:r>
              <a:rPr lang="en-US" sz="11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Pixels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66928" y="3434486"/>
            <a:ext cx="11057839" cy="848563"/>
          </a:xfrm>
          <a:prstGeom prst="roundRect">
            <a:avLst>
              <a:gd name="adj" fmla="val 8621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768096" y="3580790"/>
            <a:ext cx="310896" cy="310896"/>
          </a:xfrm>
          <a:prstGeom prst="ellipse">
            <a:avLst/>
          </a:prstGeom>
          <a:solidFill>
            <a:srgbClr val="FBBF24">
              <a:alpha val="22000"/>
            </a:srgbClr>
          </a:solidFill>
          <a:ln w="12700">
            <a:solidFill>
              <a:srgbClr val="FBBF24">
                <a:alpha val="50000"/>
              </a:srgbClr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68096" y="3580790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BBF2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Q3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1188720" y="3553358"/>
            <a:ext cx="8726119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Loss measures: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10207447" y="3571646"/>
            <a:ext cx="1371600" cy="347472"/>
          </a:xfrm>
          <a:prstGeom prst="roundRect">
            <a:avLst>
              <a:gd name="adj" fmla="val 15789"/>
            </a:avLst>
          </a:prstGeom>
          <a:solidFill>
            <a:srgbClr val="A78BFA">
              <a:alpha val="20000"/>
            </a:srgbClr>
          </a:solidFill>
          <a:ln w="12700">
            <a:solidFill>
              <a:srgbClr val="A78BFA">
                <a:alpha val="60000"/>
              </a:srgbClr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10207447" y="3571646"/>
            <a:ext cx="13716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Answer: B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1115568" y="3964838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A. </a:t>
            </a:r>
            <a:r>
              <a:rPr lang="en-US" sz="11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How fast the computer is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3674288" y="3964838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B. </a:t>
            </a: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How wrong the model answer was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6233008" y="3964838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C. </a:t>
            </a:r>
            <a:r>
              <a:rPr lang="en-US" sz="11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How many users there are</a:t>
            </a:r>
            <a:endParaRPr lang="en-US" sz="1050" dirty="0"/>
          </a:p>
        </p:txBody>
      </p:sp>
      <p:sp>
        <p:nvSpPr>
          <p:cNvPr id="35" name="Text 33"/>
          <p:cNvSpPr txBox="1"/>
          <p:nvPr/>
        </p:nvSpPr>
        <p:spPr>
          <a:xfrm>
            <a:off x="8791727" y="3964838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D. </a:t>
            </a:r>
            <a:r>
              <a:rPr lang="en-US" sz="11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How big the file is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66928" y="4411066"/>
            <a:ext cx="11057839" cy="848563"/>
          </a:xfrm>
          <a:prstGeom prst="roundRect">
            <a:avLst>
              <a:gd name="adj" fmla="val 8621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768096" y="4557370"/>
            <a:ext cx="310896" cy="310896"/>
          </a:xfrm>
          <a:prstGeom prst="ellipse">
            <a:avLst/>
          </a:prstGeom>
          <a:solidFill>
            <a:srgbClr val="FBBF24">
              <a:alpha val="22000"/>
            </a:srgbClr>
          </a:solidFill>
          <a:ln w="12700">
            <a:solidFill>
              <a:srgbClr val="FBBF24">
                <a:alpha val="50000"/>
              </a:srgbClr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768096" y="4557370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BBF2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Q4</a:t>
            </a:r>
            <a:endParaRPr lang="en-US" sz="900" dirty="0"/>
          </a:p>
        </p:txBody>
      </p:sp>
      <p:sp>
        <p:nvSpPr>
          <p:cNvPr id="39" name="Text 37"/>
          <p:cNvSpPr txBox="1"/>
          <p:nvPr/>
        </p:nvSpPr>
        <p:spPr>
          <a:xfrm>
            <a:off x="1188720" y="4529938"/>
            <a:ext cx="8726119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Optimization tries to:</a:t>
            </a:r>
            <a:endParaRPr lang="en-US" sz="1250" dirty="0"/>
          </a:p>
        </p:txBody>
      </p:sp>
      <p:sp>
        <p:nvSpPr>
          <p:cNvPr id="40" name="Shape 38"/>
          <p:cNvSpPr/>
          <p:nvPr/>
        </p:nvSpPr>
        <p:spPr>
          <a:xfrm>
            <a:off x="10207447" y="4548226"/>
            <a:ext cx="1371600" cy="347472"/>
          </a:xfrm>
          <a:prstGeom prst="roundRect">
            <a:avLst>
              <a:gd name="adj" fmla="val 15789"/>
            </a:avLst>
          </a:prstGeom>
          <a:solidFill>
            <a:srgbClr val="A78BFA">
              <a:alpha val="20000"/>
            </a:srgbClr>
          </a:solidFill>
          <a:ln w="12700">
            <a:solidFill>
              <a:srgbClr val="A78BFA">
                <a:alpha val="60000"/>
              </a:srgbClr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10207447" y="4548226"/>
            <a:ext cx="13716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Answer: C</a:t>
            </a:r>
            <a:endParaRPr lang="en-US" sz="1050" dirty="0"/>
          </a:p>
        </p:txBody>
      </p:sp>
      <p:sp>
        <p:nvSpPr>
          <p:cNvPr id="42" name="Text 40"/>
          <p:cNvSpPr txBox="1"/>
          <p:nvPr/>
        </p:nvSpPr>
        <p:spPr>
          <a:xfrm>
            <a:off x="1115568" y="4941418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A. </a:t>
            </a:r>
            <a:r>
              <a:rPr lang="en-US" sz="11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Increase the loss</a:t>
            </a:r>
            <a:endParaRPr lang="en-US" sz="1050" dirty="0"/>
          </a:p>
        </p:txBody>
      </p:sp>
      <p:sp>
        <p:nvSpPr>
          <p:cNvPr id="43" name="Text 41"/>
          <p:cNvSpPr txBox="1"/>
          <p:nvPr/>
        </p:nvSpPr>
        <p:spPr>
          <a:xfrm>
            <a:off x="3674288" y="4941418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B. </a:t>
            </a:r>
            <a:r>
              <a:rPr lang="en-US" sz="11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Delete the data</a:t>
            </a:r>
            <a:endParaRPr lang="en-US" sz="1050" dirty="0"/>
          </a:p>
        </p:txBody>
      </p:sp>
      <p:sp>
        <p:nvSpPr>
          <p:cNvPr id="44" name="Text 42"/>
          <p:cNvSpPr txBox="1"/>
          <p:nvPr/>
        </p:nvSpPr>
        <p:spPr>
          <a:xfrm>
            <a:off x="6233008" y="4941418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C. </a:t>
            </a: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Reduce the loss</a:t>
            </a:r>
            <a:endParaRPr lang="en-US" sz="1050" dirty="0"/>
          </a:p>
        </p:txBody>
      </p:sp>
      <p:sp>
        <p:nvSpPr>
          <p:cNvPr id="45" name="Text 43"/>
          <p:cNvSpPr txBox="1"/>
          <p:nvPr/>
        </p:nvSpPr>
        <p:spPr>
          <a:xfrm>
            <a:off x="8791727" y="4941418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D. </a:t>
            </a:r>
            <a:r>
              <a:rPr lang="en-US" sz="11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Add more users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566928" y="5387645"/>
            <a:ext cx="11057839" cy="848563"/>
          </a:xfrm>
          <a:prstGeom prst="roundRect">
            <a:avLst>
              <a:gd name="adj" fmla="val 8621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768096" y="5533949"/>
            <a:ext cx="310896" cy="310896"/>
          </a:xfrm>
          <a:prstGeom prst="ellipse">
            <a:avLst/>
          </a:prstGeom>
          <a:solidFill>
            <a:srgbClr val="FBBF24">
              <a:alpha val="22000"/>
            </a:srgbClr>
          </a:solidFill>
          <a:ln w="12700">
            <a:solidFill>
              <a:srgbClr val="FBBF24">
                <a:alpha val="50000"/>
              </a:srgbClr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768096" y="5533949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BBF2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Q5</a:t>
            </a:r>
            <a:endParaRPr lang="en-US" sz="900" dirty="0"/>
          </a:p>
        </p:txBody>
      </p:sp>
      <p:sp>
        <p:nvSpPr>
          <p:cNvPr id="49" name="Text 47"/>
          <p:cNvSpPr txBox="1"/>
          <p:nvPr/>
        </p:nvSpPr>
        <p:spPr>
          <a:xfrm>
            <a:off x="1188720" y="5506517"/>
            <a:ext cx="8726119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 network is called "deep" when it has:</a:t>
            </a:r>
            <a:endParaRPr lang="en-US" sz="1250" dirty="0"/>
          </a:p>
        </p:txBody>
      </p:sp>
      <p:sp>
        <p:nvSpPr>
          <p:cNvPr id="50" name="Shape 48"/>
          <p:cNvSpPr/>
          <p:nvPr/>
        </p:nvSpPr>
        <p:spPr>
          <a:xfrm>
            <a:off x="10207447" y="5524805"/>
            <a:ext cx="1371600" cy="347472"/>
          </a:xfrm>
          <a:prstGeom prst="roundRect">
            <a:avLst>
              <a:gd name="adj" fmla="val 15789"/>
            </a:avLst>
          </a:prstGeom>
          <a:solidFill>
            <a:srgbClr val="A78BFA">
              <a:alpha val="20000"/>
            </a:srgbClr>
          </a:solidFill>
          <a:ln w="12700">
            <a:solidFill>
              <a:srgbClr val="A78BFA">
                <a:alpha val="60000"/>
              </a:srgbClr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10207447" y="5524805"/>
            <a:ext cx="13716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Answer: D</a:t>
            </a:r>
            <a:endParaRPr lang="en-US" sz="1050" dirty="0"/>
          </a:p>
        </p:txBody>
      </p:sp>
      <p:sp>
        <p:nvSpPr>
          <p:cNvPr id="52" name="Text 50"/>
          <p:cNvSpPr txBox="1"/>
          <p:nvPr/>
        </p:nvSpPr>
        <p:spPr>
          <a:xfrm>
            <a:off x="1115568" y="5917997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A. </a:t>
            </a:r>
            <a:r>
              <a:rPr lang="en-US" sz="11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One input only</a:t>
            </a:r>
            <a:endParaRPr lang="en-US" sz="1050" dirty="0"/>
          </a:p>
        </p:txBody>
      </p:sp>
      <p:sp>
        <p:nvSpPr>
          <p:cNvPr id="53" name="Text 51"/>
          <p:cNvSpPr txBox="1"/>
          <p:nvPr/>
        </p:nvSpPr>
        <p:spPr>
          <a:xfrm>
            <a:off x="3674288" y="5917997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B. </a:t>
            </a:r>
            <a:r>
              <a:rPr lang="en-US" sz="11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 weights</a:t>
            </a:r>
            <a:endParaRPr lang="en-US" sz="1050" dirty="0"/>
          </a:p>
        </p:txBody>
      </p:sp>
      <p:sp>
        <p:nvSpPr>
          <p:cNvPr id="54" name="Text 52"/>
          <p:cNvSpPr txBox="1"/>
          <p:nvPr/>
        </p:nvSpPr>
        <p:spPr>
          <a:xfrm>
            <a:off x="6233008" y="5917997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C. </a:t>
            </a:r>
            <a:r>
              <a:rPr lang="en-US" sz="11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 training data</a:t>
            </a:r>
            <a:endParaRPr lang="en-US" sz="1050" dirty="0"/>
          </a:p>
        </p:txBody>
      </p:sp>
      <p:sp>
        <p:nvSpPr>
          <p:cNvPr id="55" name="Text 53"/>
          <p:cNvSpPr txBox="1"/>
          <p:nvPr/>
        </p:nvSpPr>
        <p:spPr>
          <a:xfrm>
            <a:off x="8791727" y="5917997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D. </a:t>
            </a: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Many hidden layers</a:t>
            </a:r>
            <a:endParaRPr lang="en-US" sz="105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49808" y="1874520"/>
            <a:ext cx="58521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SECTION 05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49808" y="2240280"/>
            <a:ext cx="6035040" cy="1554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Transformers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749808" y="3886200"/>
            <a:ext cx="5852160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2017 design that made modern Generative AI possible.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49808" y="4846320"/>
            <a:ext cx="1463040" cy="64008"/>
          </a:xfrm>
          <a:prstGeom prst="roundRect">
            <a:avLst>
              <a:gd name="adj" fmla="val 42857"/>
            </a:avLst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32320" y="1143000"/>
            <a:ext cx="4492447" cy="797357"/>
          </a:xfrm>
          <a:prstGeom prst="roundRect">
            <a:avLst>
              <a:gd name="adj" fmla="val 9174"/>
            </a:avLst>
          </a:prstGeom>
          <a:solidFill>
            <a:srgbClr val="191640"/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51776" y="1313078"/>
            <a:ext cx="457200" cy="457200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66076" y="1427378"/>
            <a:ext cx="228600" cy="22860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8010144" y="1143000"/>
            <a:ext cx="3303727" cy="79735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What is a Transformer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7132320" y="2086661"/>
            <a:ext cx="4492447" cy="797357"/>
          </a:xfrm>
          <a:prstGeom prst="roundRect">
            <a:avLst>
              <a:gd name="adj" fmla="val 9174"/>
            </a:avLst>
          </a:prstGeom>
          <a:solidFill>
            <a:srgbClr val="191640"/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7351776" y="2256739"/>
            <a:ext cx="457200" cy="457200"/>
          </a:xfrm>
          <a:prstGeom prst="ellipse">
            <a:avLst/>
          </a:prstGeom>
          <a:solidFill>
            <a:srgbClr val="22D3EE">
              <a:alpha val="16000"/>
            </a:srgbClr>
          </a:solidFill>
          <a:ln w="12700">
            <a:solidFill>
              <a:srgbClr val="22D3EE">
                <a:alpha val="45000"/>
              </a:srgbClr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6076" y="2371039"/>
            <a:ext cx="228600" cy="22860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8010144" y="2086661"/>
            <a:ext cx="3303727" cy="79735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Attention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7132320" y="3030322"/>
            <a:ext cx="4492447" cy="797357"/>
          </a:xfrm>
          <a:prstGeom prst="roundRect">
            <a:avLst>
              <a:gd name="adj" fmla="val 9174"/>
            </a:avLst>
          </a:prstGeom>
          <a:solidFill>
            <a:srgbClr val="191640"/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351776" y="3200400"/>
            <a:ext cx="457200" cy="457200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6076" y="3314700"/>
            <a:ext cx="228600" cy="22860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010144" y="3030322"/>
            <a:ext cx="3303727" cy="79735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Query, Key, Value</a:t>
            </a:r>
            <a:endParaRPr lang="en-US" sz="1350" dirty="0"/>
          </a:p>
        </p:txBody>
      </p:sp>
      <p:sp>
        <p:nvSpPr>
          <p:cNvPr id="18" name="Shape 13"/>
          <p:cNvSpPr/>
          <p:nvPr/>
        </p:nvSpPr>
        <p:spPr>
          <a:xfrm>
            <a:off x="7132320" y="3973982"/>
            <a:ext cx="4492447" cy="797357"/>
          </a:xfrm>
          <a:prstGeom prst="roundRect">
            <a:avLst>
              <a:gd name="adj" fmla="val 9174"/>
            </a:avLst>
          </a:prstGeom>
          <a:solidFill>
            <a:srgbClr val="191640"/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7351776" y="4144061"/>
            <a:ext cx="457200" cy="457200"/>
          </a:xfrm>
          <a:prstGeom prst="ellipse">
            <a:avLst/>
          </a:prstGeom>
          <a:solidFill>
            <a:srgbClr val="34D399">
              <a:alpha val="16000"/>
            </a:srgbClr>
          </a:solidFill>
          <a:ln w="12700">
            <a:solidFill>
              <a:srgbClr val="34D399">
                <a:alpha val="45000"/>
              </a:srgbClr>
            </a:solidFill>
            <a:prstDash val="solid"/>
          </a:ln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66076" y="4258361"/>
            <a:ext cx="228600" cy="22860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8010144" y="3973982"/>
            <a:ext cx="3303727" cy="79735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Word Order</a:t>
            </a:r>
            <a:endParaRPr lang="en-US" sz="1350" dirty="0"/>
          </a:p>
        </p:txBody>
      </p:sp>
      <p:sp>
        <p:nvSpPr>
          <p:cNvPr id="22" name="Shape 16"/>
          <p:cNvSpPr/>
          <p:nvPr/>
        </p:nvSpPr>
        <p:spPr>
          <a:xfrm>
            <a:off x="7132320" y="4917643"/>
            <a:ext cx="4492447" cy="797357"/>
          </a:xfrm>
          <a:prstGeom prst="roundRect">
            <a:avLst>
              <a:gd name="adj" fmla="val 9174"/>
            </a:avLst>
          </a:prstGeom>
          <a:solidFill>
            <a:srgbClr val="191640"/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7351776" y="5087722"/>
            <a:ext cx="457200" cy="457200"/>
          </a:xfrm>
          <a:prstGeom prst="ellipse">
            <a:avLst/>
          </a:prstGeom>
          <a:solidFill>
            <a:srgbClr val="F472B6">
              <a:alpha val="16000"/>
            </a:srgbClr>
          </a:solidFill>
          <a:ln w="12700">
            <a:solidFill>
              <a:srgbClr val="F472B6">
                <a:alpha val="45000"/>
              </a:srgbClr>
            </a:solidFill>
            <a:prstDash val="solid"/>
          </a:ln>
        </p:spPr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66076" y="5202022"/>
            <a:ext cx="228600" cy="228600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8010144" y="4917643"/>
            <a:ext cx="3303727" cy="79735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Encoder &amp; Decoder</a:t>
            </a:r>
            <a:endParaRPr lang="en-US" sz="1350" dirty="0"/>
          </a:p>
        </p:txBody>
      </p:sp>
      <p:sp>
        <p:nvSpPr>
          <p:cNvPr id="26" name="Text 19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Section 5 · Transformers</a:t>
            </a:r>
            <a:endParaRPr lang="en-US" sz="950" dirty="0"/>
          </a:p>
        </p:txBody>
      </p:sp>
      <p:sp>
        <p:nvSpPr>
          <p:cNvPr id="27" name="Text 20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053</a:t>
            </a:r>
            <a:endParaRPr lang="en-US" sz="95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SLIDE 46 · DEFINITION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What is a Transformer?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Section 5 · Transformers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054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11057839" cy="877824"/>
          </a:xfrm>
          <a:prstGeom prst="roundRect">
            <a:avLst>
              <a:gd name="adj" fmla="val 8333"/>
            </a:avLst>
          </a:prstGeom>
          <a:solidFill>
            <a:srgbClr val="191640">
              <a:alpha val="96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6928" y="1627632"/>
            <a:ext cx="64008" cy="585216"/>
          </a:xfrm>
          <a:prstGeom prst="roundRect">
            <a:avLst>
              <a:gd name="adj" fmla="val 42857"/>
            </a:avLst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59536" y="1572768"/>
            <a:ext cx="10472623" cy="6949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DDD9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transformer is a neural network design that reads a whole sequence at once and works out how the parts relate to each other.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66928" y="2615184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22960" y="2816352"/>
            <a:ext cx="457200" cy="457200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2930652"/>
            <a:ext cx="228600" cy="22860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499616" y="2816352"/>
            <a:ext cx="41847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When It Appeared</a:t>
            </a:r>
            <a:endParaRPr lang="en-US" sz="1450" dirty="0"/>
          </a:p>
        </p:txBody>
      </p:sp>
      <p:sp>
        <p:nvSpPr>
          <p:cNvPr id="13" name="Text 10"/>
          <p:cNvSpPr txBox="1"/>
          <p:nvPr/>
        </p:nvSpPr>
        <p:spPr>
          <a:xfrm>
            <a:off x="841248" y="3419856"/>
            <a:ext cx="484312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Introduced in 2017 in the Google research paper "Attention Is All You Need".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33008" y="2615184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489040" y="2816352"/>
            <a:ext cx="457200" cy="457200"/>
          </a:xfrm>
          <a:prstGeom prst="ellipse">
            <a:avLst/>
          </a:prstGeom>
          <a:solidFill>
            <a:srgbClr val="22D3EE">
              <a:alpha val="16000"/>
            </a:srgbClr>
          </a:solidFill>
          <a:ln w="12700">
            <a:solidFill>
              <a:srgbClr val="22D3EE">
                <a:alpha val="45000"/>
              </a:srgbClr>
            </a:solidFill>
            <a:prstDash val="solid"/>
          </a:ln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3340" y="2930652"/>
            <a:ext cx="228600" cy="22860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7165696" y="2816352"/>
            <a:ext cx="41847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What Changed</a:t>
            </a:r>
            <a:endParaRPr lang="en-US" sz="1450" dirty="0"/>
          </a:p>
        </p:txBody>
      </p:sp>
      <p:sp>
        <p:nvSpPr>
          <p:cNvPr id="18" name="Text 14"/>
          <p:cNvSpPr txBox="1"/>
          <p:nvPr/>
        </p:nvSpPr>
        <p:spPr>
          <a:xfrm>
            <a:off x="6507328" y="3419856"/>
            <a:ext cx="484312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Older designs read text word by word in order. A transformer looks at all the words together, so training can run in parallel.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566928" y="4530149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822960" y="4731317"/>
            <a:ext cx="457200" cy="457200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260" y="4845617"/>
            <a:ext cx="228600" cy="22860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499616" y="4731317"/>
            <a:ext cx="41847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Its Main Trick</a:t>
            </a:r>
            <a:endParaRPr lang="en-US" sz="1450" dirty="0"/>
          </a:p>
        </p:txBody>
      </p:sp>
      <p:sp>
        <p:nvSpPr>
          <p:cNvPr id="23" name="Text 18"/>
          <p:cNvSpPr txBox="1"/>
          <p:nvPr/>
        </p:nvSpPr>
        <p:spPr>
          <a:xfrm>
            <a:off x="841248" y="5334821"/>
            <a:ext cx="484312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Attention — the ability to decide which other words matter most when understanding each word.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6233008" y="4530149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6489040" y="4731317"/>
            <a:ext cx="457200" cy="457200"/>
          </a:xfrm>
          <a:prstGeom prst="ellipse">
            <a:avLst/>
          </a:prstGeom>
          <a:solidFill>
            <a:srgbClr val="34D399">
              <a:alpha val="16000"/>
            </a:srgbClr>
          </a:solidFill>
          <a:ln w="12700">
            <a:solidFill>
              <a:srgbClr val="34D399">
                <a:alpha val="45000"/>
              </a:srgbClr>
            </a:solidFill>
            <a:prstDash val="solid"/>
          </a:ln>
        </p:spPr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3340" y="4845617"/>
            <a:ext cx="228600" cy="228600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7165696" y="4731317"/>
            <a:ext cx="41847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Where It Is Used</a:t>
            </a:r>
            <a:endParaRPr lang="en-US" sz="1450" dirty="0"/>
          </a:p>
        </p:txBody>
      </p:sp>
      <p:sp>
        <p:nvSpPr>
          <p:cNvPr id="28" name="Text 22"/>
          <p:cNvSpPr txBox="1"/>
          <p:nvPr/>
        </p:nvSpPr>
        <p:spPr>
          <a:xfrm>
            <a:off x="6507328" y="5334821"/>
            <a:ext cx="484312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Language models, image models, speech models and multimodal models all use transformer ideas today.</a:t>
            </a:r>
            <a:endParaRPr lang="en-US" sz="12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SLIDE 47 · IMPACT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Why Transformers Changed AI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Section 5 · Transformers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055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11057839" cy="833933"/>
          </a:xfrm>
          <a:prstGeom prst="roundRect">
            <a:avLst>
              <a:gd name="adj" fmla="val 8772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04672" y="1642262"/>
            <a:ext cx="512064" cy="512064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" y="1770278"/>
            <a:ext cx="256032" cy="256032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554480" y="1591056"/>
            <a:ext cx="9795967" cy="61447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Parallel training</a:t>
            </a:r>
            <a:endParaRPr lang="en-US" sz="13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All words can be processed at the same time, so huge models became practical to train.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566928" y="2461565"/>
            <a:ext cx="11057839" cy="833933"/>
          </a:xfrm>
          <a:prstGeom prst="roundRect">
            <a:avLst>
              <a:gd name="adj" fmla="val 8772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804672" y="2622499"/>
            <a:ext cx="512064" cy="512064"/>
          </a:xfrm>
          <a:prstGeom prst="ellipse">
            <a:avLst/>
          </a:prstGeom>
          <a:solidFill>
            <a:srgbClr val="22D3EE">
              <a:alpha val="16000"/>
            </a:srgbClr>
          </a:solidFill>
          <a:ln w="12700">
            <a:solidFill>
              <a:srgbClr val="22D3EE">
                <a:alpha val="45000"/>
              </a:srgbClr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" y="2750515"/>
            <a:ext cx="256032" cy="256032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554480" y="2571293"/>
            <a:ext cx="9795967" cy="61447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Long-range understanding</a:t>
            </a:r>
            <a:endParaRPr lang="en-US" sz="13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word at the end of a paragraph can be linked to a word at the beginning.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566928" y="3441802"/>
            <a:ext cx="11057839" cy="833933"/>
          </a:xfrm>
          <a:prstGeom prst="roundRect">
            <a:avLst>
              <a:gd name="adj" fmla="val 8772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04672" y="3602736"/>
            <a:ext cx="512064" cy="512064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" y="3730752"/>
            <a:ext cx="256032" cy="256032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554480" y="3551530"/>
            <a:ext cx="9795967" cy="61447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They scale well</a:t>
            </a:r>
            <a:endParaRPr lang="en-US" sz="13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Adding more data and more parameters kept improving results, which older designs did not do as well.</a:t>
            </a:r>
            <a:endParaRPr lang="en-US" sz="1350" dirty="0"/>
          </a:p>
        </p:txBody>
      </p:sp>
      <p:sp>
        <p:nvSpPr>
          <p:cNvPr id="18" name="Shape 13"/>
          <p:cNvSpPr/>
          <p:nvPr/>
        </p:nvSpPr>
        <p:spPr>
          <a:xfrm>
            <a:off x="566928" y="4422038"/>
            <a:ext cx="11057839" cy="833933"/>
          </a:xfrm>
          <a:prstGeom prst="roundRect">
            <a:avLst>
              <a:gd name="adj" fmla="val 8772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804672" y="4582973"/>
            <a:ext cx="512064" cy="512064"/>
          </a:xfrm>
          <a:prstGeom prst="ellipse">
            <a:avLst/>
          </a:prstGeom>
          <a:solidFill>
            <a:srgbClr val="34D399">
              <a:alpha val="16000"/>
            </a:srgbClr>
          </a:solidFill>
          <a:ln w="12700">
            <a:solidFill>
              <a:srgbClr val="34D399">
                <a:alpha val="45000"/>
              </a:srgbClr>
            </a:solidFill>
            <a:prstDash val="solid"/>
          </a:ln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688" y="4710989"/>
            <a:ext cx="256032" cy="256032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554480" y="4531766"/>
            <a:ext cx="9795967" cy="61447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One design, many jobs</a:t>
            </a:r>
            <a:endParaRPr lang="en-US" sz="13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same architecture works for text, images, audio and code.</a:t>
            </a:r>
            <a:endParaRPr lang="en-US" sz="1350" dirty="0"/>
          </a:p>
        </p:txBody>
      </p:sp>
      <p:sp>
        <p:nvSpPr>
          <p:cNvPr id="22" name="Shape 16"/>
          <p:cNvSpPr/>
          <p:nvPr/>
        </p:nvSpPr>
        <p:spPr>
          <a:xfrm>
            <a:off x="566928" y="5402275"/>
            <a:ext cx="11057839" cy="833933"/>
          </a:xfrm>
          <a:prstGeom prst="roundRect">
            <a:avLst>
              <a:gd name="adj" fmla="val 8772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804672" y="5563210"/>
            <a:ext cx="512064" cy="512064"/>
          </a:xfrm>
          <a:prstGeom prst="ellipse">
            <a:avLst/>
          </a:prstGeom>
          <a:solidFill>
            <a:srgbClr val="F472B6">
              <a:alpha val="16000"/>
            </a:srgbClr>
          </a:solidFill>
          <a:ln w="12700">
            <a:solidFill>
              <a:srgbClr val="F472B6">
                <a:alpha val="45000"/>
              </a:srgbClr>
            </a:solidFill>
            <a:prstDash val="solid"/>
          </a:ln>
        </p:spPr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2688" y="5691226"/>
            <a:ext cx="256032" cy="256032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1554480" y="5512003"/>
            <a:ext cx="9795967" cy="61447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Transfer learning</a:t>
            </a:r>
            <a:endParaRPr lang="en-US" sz="13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Train once on general data, then adapt cheaply to many specific tasks.</a:t>
            </a:r>
            <a:endParaRPr lang="en-US" sz="135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SLIDE 48 · ARCHITECTURE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Transformer Architecture — Simplified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Section 5 · Transformers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056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3350666" cy="1600200"/>
          </a:xfrm>
          <a:prstGeom prst="roundRect">
            <a:avLst>
              <a:gd name="adj" fmla="val 4571"/>
            </a:avLst>
          </a:prstGeom>
          <a:solidFill>
            <a:srgbClr val="191640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068525" y="1307592"/>
            <a:ext cx="347472" cy="347472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068525" y="1307592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0A1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94944" y="1755648"/>
            <a:ext cx="3094634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A78BF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Input tokens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94944" y="2212848"/>
            <a:ext cx="3094634" cy="731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Text is split into tokens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009034" y="2162556"/>
            <a:ext cx="320040" cy="237744"/>
          </a:xfrm>
          <a:prstGeom prst="rightArrow">
            <a:avLst/>
          </a:prstGeom>
          <a:solidFill>
            <a:srgbClr val="22D3EE">
              <a:alpha val="70000"/>
            </a:srgbClr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420514" y="1481328"/>
            <a:ext cx="3350666" cy="1600200"/>
          </a:xfrm>
          <a:prstGeom prst="roundRect">
            <a:avLst>
              <a:gd name="adj" fmla="val 4571"/>
            </a:avLst>
          </a:prstGeom>
          <a:solidFill>
            <a:srgbClr val="191640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922112" y="1307592"/>
            <a:ext cx="347472" cy="34747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922112" y="1307592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0A1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4548530" y="1755648"/>
            <a:ext cx="3094634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2D3E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Embeddings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4548530" y="2212848"/>
            <a:ext cx="3094634" cy="731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Each token becomes a list of numbers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7862621" y="2162556"/>
            <a:ext cx="320040" cy="237744"/>
          </a:xfrm>
          <a:prstGeom prst="rightArrow">
            <a:avLst/>
          </a:prstGeom>
          <a:solidFill>
            <a:srgbClr val="22D3EE">
              <a:alpha val="70000"/>
            </a:srgbClr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274101" y="1481328"/>
            <a:ext cx="3350666" cy="1600200"/>
          </a:xfrm>
          <a:prstGeom prst="roundRect">
            <a:avLst>
              <a:gd name="adj" fmla="val 4571"/>
            </a:avLst>
          </a:prstGeom>
          <a:solidFill>
            <a:srgbClr val="191640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9775698" y="1307592"/>
            <a:ext cx="347472" cy="347472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775698" y="1307592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0A1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8402117" y="1755648"/>
            <a:ext cx="3094634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BBF2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Position info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8402117" y="2212848"/>
            <a:ext cx="3094634" cy="731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Order information is added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66928" y="3538728"/>
            <a:ext cx="3350666" cy="1600200"/>
          </a:xfrm>
          <a:prstGeom prst="roundRect">
            <a:avLst>
              <a:gd name="adj" fmla="val 4571"/>
            </a:avLst>
          </a:prstGeom>
          <a:solidFill>
            <a:srgbClr val="191640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068525" y="3364992"/>
            <a:ext cx="347472" cy="347472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2068525" y="3364992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0A1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4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694944" y="3813048"/>
            <a:ext cx="3094634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4D39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Attention layers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694944" y="4270248"/>
            <a:ext cx="3094634" cy="731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Tokens look at each other repeatedly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4009034" y="4219956"/>
            <a:ext cx="320040" cy="237744"/>
          </a:xfrm>
          <a:prstGeom prst="rightArrow">
            <a:avLst/>
          </a:prstGeom>
          <a:solidFill>
            <a:srgbClr val="22D3EE">
              <a:alpha val="70000"/>
            </a:srgbClr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420514" y="3538728"/>
            <a:ext cx="3350666" cy="1600200"/>
          </a:xfrm>
          <a:prstGeom prst="roundRect">
            <a:avLst>
              <a:gd name="adj" fmla="val 4571"/>
            </a:avLst>
          </a:prstGeom>
          <a:solidFill>
            <a:srgbClr val="191640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922112" y="3364992"/>
            <a:ext cx="347472" cy="347472"/>
          </a:xfrm>
          <a:prstGeom prst="ellipse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5922112" y="3364992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0A1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5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4548530" y="3813048"/>
            <a:ext cx="3094634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472B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Feed-forward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4548530" y="4270248"/>
            <a:ext cx="3094634" cy="731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Each token is processed further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7862621" y="4219956"/>
            <a:ext cx="320040" cy="237744"/>
          </a:xfrm>
          <a:prstGeom prst="rightArrow">
            <a:avLst/>
          </a:prstGeom>
          <a:solidFill>
            <a:srgbClr val="22D3EE">
              <a:alpha val="70000"/>
            </a:srgbClr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274101" y="3538728"/>
            <a:ext cx="3350666" cy="1600200"/>
          </a:xfrm>
          <a:prstGeom prst="roundRect">
            <a:avLst>
              <a:gd name="adj" fmla="val 4571"/>
            </a:avLst>
          </a:prstGeom>
          <a:solidFill>
            <a:srgbClr val="191640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9775698" y="3364992"/>
            <a:ext cx="347472" cy="347472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9775698" y="3364992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0A1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6</a:t>
            </a:r>
            <a:endParaRPr lang="en-US" sz="1200" dirty="0"/>
          </a:p>
        </p:txBody>
      </p:sp>
      <p:sp>
        <p:nvSpPr>
          <p:cNvPr id="38" name="Text 36"/>
          <p:cNvSpPr txBox="1"/>
          <p:nvPr/>
        </p:nvSpPr>
        <p:spPr>
          <a:xfrm>
            <a:off x="8402117" y="3813048"/>
            <a:ext cx="3094634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A78BF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Output</a:t>
            </a:r>
            <a:endParaRPr lang="en-US" sz="1400" dirty="0"/>
          </a:p>
        </p:txBody>
      </p:sp>
      <p:sp>
        <p:nvSpPr>
          <p:cNvPr id="39" name="Text 37"/>
          <p:cNvSpPr txBox="1"/>
          <p:nvPr/>
        </p:nvSpPr>
        <p:spPr>
          <a:xfrm>
            <a:off x="8402117" y="4270248"/>
            <a:ext cx="3094634" cy="731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Probabilities for the next token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566928" y="5276088"/>
            <a:ext cx="11057839" cy="960120"/>
          </a:xfrm>
          <a:prstGeom prst="roundRect">
            <a:avLst>
              <a:gd name="adj" fmla="val 7619"/>
            </a:avLst>
          </a:prstGeom>
          <a:solidFill>
            <a:srgbClr val="191640">
              <a:alpha val="96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41" name="Text 39"/>
          <p:cNvSpPr txBox="1"/>
          <p:nvPr/>
        </p:nvSpPr>
        <p:spPr>
          <a:xfrm>
            <a:off x="841248" y="5385816"/>
            <a:ext cx="10509199" cy="7406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A78BF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Remember:  </a:t>
            </a:r>
            <a:r>
              <a:rPr lang="en-US" sz="13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Real transformers stack the attention and feed-forward blocks dozens of times. The picture above is one block, repeated.</a:t>
            </a:r>
            <a:endParaRPr lang="en-US" sz="13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SLIDE 49 · THE KEY IDEA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Attention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Section 5 · Transformers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057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11057839" cy="877824"/>
          </a:xfrm>
          <a:prstGeom prst="roundRect">
            <a:avLst>
              <a:gd name="adj" fmla="val 8333"/>
            </a:avLst>
          </a:prstGeom>
          <a:solidFill>
            <a:srgbClr val="191640">
              <a:alpha val="96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6928" y="1627632"/>
            <a:ext cx="64008" cy="585216"/>
          </a:xfrm>
          <a:prstGeom prst="roundRect">
            <a:avLst>
              <a:gd name="adj" fmla="val 42857"/>
            </a:avLst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59536" y="1572768"/>
            <a:ext cx="10472623" cy="6949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DDD9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Attention lets the model decide which other words are important when understanding a particular word.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66928" y="2615184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22960" y="2816352"/>
            <a:ext cx="457200" cy="457200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2930652"/>
            <a:ext cx="228600" cy="22860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499616" y="2816352"/>
            <a:ext cx="41847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Example Sentence</a:t>
            </a:r>
            <a:endParaRPr lang="en-US" sz="1450" dirty="0"/>
          </a:p>
        </p:txBody>
      </p:sp>
      <p:sp>
        <p:nvSpPr>
          <p:cNvPr id="13" name="Text 10"/>
          <p:cNvSpPr txBox="1"/>
          <p:nvPr/>
        </p:nvSpPr>
        <p:spPr>
          <a:xfrm>
            <a:off x="841248" y="3419856"/>
            <a:ext cx="484312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"The trophy did not fit in the suitcase because it was too big." What does "it" refer to?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33008" y="2615184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489040" y="2816352"/>
            <a:ext cx="457200" cy="457200"/>
          </a:xfrm>
          <a:prstGeom prst="ellipse">
            <a:avLst/>
          </a:prstGeom>
          <a:solidFill>
            <a:srgbClr val="22D3EE">
              <a:alpha val="16000"/>
            </a:srgbClr>
          </a:solidFill>
          <a:ln w="12700">
            <a:solidFill>
              <a:srgbClr val="22D3EE">
                <a:alpha val="45000"/>
              </a:srgbClr>
            </a:solidFill>
            <a:prstDash val="solid"/>
          </a:ln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3340" y="2930652"/>
            <a:ext cx="228600" cy="22860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7165696" y="2816352"/>
            <a:ext cx="41847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What Attention Does</a:t>
            </a:r>
            <a:endParaRPr lang="en-US" sz="1450" dirty="0"/>
          </a:p>
        </p:txBody>
      </p:sp>
      <p:sp>
        <p:nvSpPr>
          <p:cNvPr id="18" name="Text 14"/>
          <p:cNvSpPr txBox="1"/>
          <p:nvPr/>
        </p:nvSpPr>
        <p:spPr>
          <a:xfrm>
            <a:off x="6507328" y="3419856"/>
            <a:ext cx="484312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model gives high attention from "it" to "trophy", so it understands the trophy was too big.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566928" y="4530149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822960" y="4731317"/>
            <a:ext cx="457200" cy="457200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260" y="4845617"/>
            <a:ext cx="228600" cy="22860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499616" y="4731317"/>
            <a:ext cx="41847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Human Comparison</a:t>
            </a:r>
            <a:endParaRPr lang="en-US" sz="1450" dirty="0"/>
          </a:p>
        </p:txBody>
      </p:sp>
      <p:sp>
        <p:nvSpPr>
          <p:cNvPr id="23" name="Text 18"/>
          <p:cNvSpPr txBox="1"/>
          <p:nvPr/>
        </p:nvSpPr>
        <p:spPr>
          <a:xfrm>
            <a:off x="841248" y="5334821"/>
            <a:ext cx="484312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When you read a sentence, you naturally connect words to earlier words. Attention is a maths version of that.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6233008" y="4530149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6489040" y="4731317"/>
            <a:ext cx="457200" cy="457200"/>
          </a:xfrm>
          <a:prstGeom prst="ellipse">
            <a:avLst/>
          </a:prstGeom>
          <a:solidFill>
            <a:srgbClr val="34D399">
              <a:alpha val="16000"/>
            </a:srgbClr>
          </a:solidFill>
          <a:ln w="12700">
            <a:solidFill>
              <a:srgbClr val="34D399">
                <a:alpha val="45000"/>
              </a:srgbClr>
            </a:solidFill>
            <a:prstDash val="solid"/>
          </a:ln>
        </p:spPr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3340" y="4845617"/>
            <a:ext cx="228600" cy="228600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7165696" y="4731317"/>
            <a:ext cx="41847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How It Is Stored</a:t>
            </a:r>
            <a:endParaRPr lang="en-US" sz="1450" dirty="0"/>
          </a:p>
        </p:txBody>
      </p:sp>
      <p:sp>
        <p:nvSpPr>
          <p:cNvPr id="28" name="Text 22"/>
          <p:cNvSpPr txBox="1"/>
          <p:nvPr/>
        </p:nvSpPr>
        <p:spPr>
          <a:xfrm>
            <a:off x="6507328" y="5334821"/>
            <a:ext cx="484312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As attention scores — numbers showing how strongly each word should look at every other word.</a:t>
            </a:r>
            <a:endParaRPr lang="en-US" sz="12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SLIDE 50 · SAME SENTENCE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Self-Attention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Section 5 · Transformers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058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11057839" cy="877824"/>
          </a:xfrm>
          <a:prstGeom prst="roundRect">
            <a:avLst>
              <a:gd name="adj" fmla="val 8333"/>
            </a:avLst>
          </a:prstGeom>
          <a:solidFill>
            <a:srgbClr val="191640">
              <a:alpha val="96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6928" y="1627632"/>
            <a:ext cx="64008" cy="585216"/>
          </a:xfrm>
          <a:prstGeom prst="roundRect">
            <a:avLst>
              <a:gd name="adj" fmla="val 42857"/>
            </a:avLst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59536" y="1572768"/>
            <a:ext cx="10472623" cy="6949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DDD9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Self-attention means the words of one sentence pay attention to each other, rather than to a different sentence.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66928" y="2615184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22960" y="2816352"/>
            <a:ext cx="457200" cy="457200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2930652"/>
            <a:ext cx="228600" cy="22860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499616" y="2816352"/>
            <a:ext cx="41847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Why "Self"</a:t>
            </a:r>
            <a:endParaRPr lang="en-US" sz="1450" dirty="0"/>
          </a:p>
        </p:txBody>
      </p:sp>
      <p:sp>
        <p:nvSpPr>
          <p:cNvPr id="13" name="Text 10"/>
          <p:cNvSpPr txBox="1"/>
          <p:nvPr/>
        </p:nvSpPr>
        <p:spPr>
          <a:xfrm>
            <a:off x="841248" y="3419856"/>
            <a:ext cx="484312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Because the input is comparing itself with itself. Every token looks at every other token in the same input.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33008" y="2615184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489040" y="2816352"/>
            <a:ext cx="457200" cy="457200"/>
          </a:xfrm>
          <a:prstGeom prst="ellipse">
            <a:avLst/>
          </a:prstGeom>
          <a:solidFill>
            <a:srgbClr val="22D3EE">
              <a:alpha val="16000"/>
            </a:srgbClr>
          </a:solidFill>
          <a:ln w="12700">
            <a:solidFill>
              <a:srgbClr val="22D3EE">
                <a:alpha val="45000"/>
              </a:srgbClr>
            </a:solidFill>
            <a:prstDash val="solid"/>
          </a:ln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3340" y="2930652"/>
            <a:ext cx="228600" cy="22860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7165696" y="2816352"/>
            <a:ext cx="41847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Multi-Head Attention</a:t>
            </a:r>
            <a:endParaRPr lang="en-US" sz="1450" dirty="0"/>
          </a:p>
        </p:txBody>
      </p:sp>
      <p:sp>
        <p:nvSpPr>
          <p:cNvPr id="18" name="Text 14"/>
          <p:cNvSpPr txBox="1"/>
          <p:nvPr/>
        </p:nvSpPr>
        <p:spPr>
          <a:xfrm>
            <a:off x="6507328" y="3419856"/>
            <a:ext cx="484312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model runs several attention calculations in parallel. One may track grammar, another may track subject matter.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566928" y="4530149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822960" y="4731317"/>
            <a:ext cx="457200" cy="457200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260" y="4845617"/>
            <a:ext cx="228600" cy="22860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499616" y="4731317"/>
            <a:ext cx="41847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Classroom Analogy</a:t>
            </a:r>
            <a:endParaRPr lang="en-US" sz="1450" dirty="0"/>
          </a:p>
        </p:txBody>
      </p:sp>
      <p:sp>
        <p:nvSpPr>
          <p:cNvPr id="23" name="Text 18"/>
          <p:cNvSpPr txBox="1"/>
          <p:nvPr/>
        </p:nvSpPr>
        <p:spPr>
          <a:xfrm>
            <a:off x="841248" y="5334821"/>
            <a:ext cx="484312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Like every student in a group discussion listening to every other student before forming an opinion.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6233008" y="4530149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6489040" y="4731317"/>
            <a:ext cx="457200" cy="457200"/>
          </a:xfrm>
          <a:prstGeom prst="ellipse">
            <a:avLst/>
          </a:prstGeom>
          <a:solidFill>
            <a:srgbClr val="34D399">
              <a:alpha val="16000"/>
            </a:srgbClr>
          </a:solidFill>
          <a:ln w="12700">
            <a:solidFill>
              <a:srgbClr val="34D399">
                <a:alpha val="45000"/>
              </a:srgbClr>
            </a:solidFill>
            <a:prstDash val="solid"/>
          </a:ln>
        </p:spPr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3340" y="4845617"/>
            <a:ext cx="228600" cy="228600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7165696" y="4731317"/>
            <a:ext cx="41847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The Cost</a:t>
            </a:r>
            <a:endParaRPr lang="en-US" sz="1450" dirty="0"/>
          </a:p>
        </p:txBody>
      </p:sp>
      <p:sp>
        <p:nvSpPr>
          <p:cNvPr id="28" name="Text 22"/>
          <p:cNvSpPr txBox="1"/>
          <p:nvPr/>
        </p:nvSpPr>
        <p:spPr>
          <a:xfrm>
            <a:off x="6507328" y="5334821"/>
            <a:ext cx="484312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Comparing every token with every token grows quickly with length, which is one reason context windows have limits.</a:t>
            </a:r>
            <a:endParaRPr lang="en-US" sz="12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SLIDE 51 · THE MECHANISM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Query, Key and Value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Section 5 · Transformers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059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11057839" cy="877824"/>
          </a:xfrm>
          <a:prstGeom prst="roundRect">
            <a:avLst>
              <a:gd name="adj" fmla="val 8333"/>
            </a:avLst>
          </a:prstGeom>
          <a:solidFill>
            <a:srgbClr val="191640">
              <a:alpha val="96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6928" y="1627632"/>
            <a:ext cx="64008" cy="585216"/>
          </a:xfrm>
          <a:prstGeom prst="roundRect">
            <a:avLst>
              <a:gd name="adj" fmla="val 42857"/>
            </a:avLst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59536" y="1572768"/>
            <a:ext cx="10472623" cy="6949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DDD9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Attention is calculated using three versions of each token: a query, a key and a value.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66928" y="2615184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22960" y="2816352"/>
            <a:ext cx="457200" cy="457200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2930652"/>
            <a:ext cx="228600" cy="22860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499616" y="2816352"/>
            <a:ext cx="41847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Query — what am I looking for?</a:t>
            </a:r>
            <a:endParaRPr lang="en-US" sz="1450" dirty="0"/>
          </a:p>
        </p:txBody>
      </p:sp>
      <p:sp>
        <p:nvSpPr>
          <p:cNvPr id="13" name="Text 10"/>
          <p:cNvSpPr txBox="1"/>
          <p:nvPr/>
        </p:nvSpPr>
        <p:spPr>
          <a:xfrm>
            <a:off x="841248" y="3419856"/>
            <a:ext cx="484312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current word asks a question, for example "who does this word refer to?"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33008" y="2615184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489040" y="2816352"/>
            <a:ext cx="457200" cy="457200"/>
          </a:xfrm>
          <a:prstGeom prst="ellipse">
            <a:avLst/>
          </a:prstGeom>
          <a:solidFill>
            <a:srgbClr val="22D3EE">
              <a:alpha val="16000"/>
            </a:srgbClr>
          </a:solidFill>
          <a:ln w="12700">
            <a:solidFill>
              <a:srgbClr val="22D3EE">
                <a:alpha val="45000"/>
              </a:srgbClr>
            </a:solidFill>
            <a:prstDash val="solid"/>
          </a:ln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3340" y="2930652"/>
            <a:ext cx="228600" cy="22860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7165696" y="2816352"/>
            <a:ext cx="41847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Key — what do I offer?</a:t>
            </a:r>
            <a:endParaRPr lang="en-US" sz="1450" dirty="0"/>
          </a:p>
        </p:txBody>
      </p:sp>
      <p:sp>
        <p:nvSpPr>
          <p:cNvPr id="18" name="Text 14"/>
          <p:cNvSpPr txBox="1"/>
          <p:nvPr/>
        </p:nvSpPr>
        <p:spPr>
          <a:xfrm>
            <a:off x="6507328" y="3419856"/>
            <a:ext cx="484312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Every other word advertises what information it holds.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566928" y="4530149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822960" y="4731317"/>
            <a:ext cx="457200" cy="457200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260" y="4845617"/>
            <a:ext cx="228600" cy="22860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499616" y="4731317"/>
            <a:ext cx="41847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Value — the actual content</a:t>
            </a:r>
            <a:endParaRPr lang="en-US" sz="1450" dirty="0"/>
          </a:p>
        </p:txBody>
      </p:sp>
      <p:sp>
        <p:nvSpPr>
          <p:cNvPr id="23" name="Text 18"/>
          <p:cNvSpPr txBox="1"/>
          <p:nvPr/>
        </p:nvSpPr>
        <p:spPr>
          <a:xfrm>
            <a:off x="841248" y="5334821"/>
            <a:ext cx="484312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Once a match is found, the value is the information that gets passed along.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6233008" y="4530149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6489040" y="4731317"/>
            <a:ext cx="457200" cy="457200"/>
          </a:xfrm>
          <a:prstGeom prst="ellipse">
            <a:avLst/>
          </a:prstGeom>
          <a:solidFill>
            <a:srgbClr val="34D399">
              <a:alpha val="16000"/>
            </a:srgbClr>
          </a:solidFill>
          <a:ln w="12700">
            <a:solidFill>
              <a:srgbClr val="34D399">
                <a:alpha val="45000"/>
              </a:srgbClr>
            </a:solidFill>
            <a:prstDash val="solid"/>
          </a:ln>
        </p:spPr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3340" y="4845617"/>
            <a:ext cx="228600" cy="228600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7165696" y="4731317"/>
            <a:ext cx="41847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Library Analogy</a:t>
            </a:r>
            <a:endParaRPr lang="en-US" sz="1450" dirty="0"/>
          </a:p>
        </p:txBody>
      </p:sp>
      <p:sp>
        <p:nvSpPr>
          <p:cNvPr id="28" name="Text 22"/>
          <p:cNvSpPr txBox="1"/>
          <p:nvPr/>
        </p:nvSpPr>
        <p:spPr>
          <a:xfrm>
            <a:off x="6507328" y="5334821"/>
            <a:ext cx="484312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Your search request is the query. Book titles are the keys. The book contents are the values.</a:t>
            </a:r>
            <a:endParaRPr lang="en-US" sz="12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SLIDE 52 · ORDER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Positional Information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Section 5 · Transformers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060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11057839" cy="877824"/>
          </a:xfrm>
          <a:prstGeom prst="roundRect">
            <a:avLst>
              <a:gd name="adj" fmla="val 8333"/>
            </a:avLst>
          </a:prstGeom>
          <a:solidFill>
            <a:srgbClr val="191640">
              <a:alpha val="96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6928" y="1627632"/>
            <a:ext cx="64008" cy="585216"/>
          </a:xfrm>
          <a:prstGeom prst="roundRect">
            <a:avLst>
              <a:gd name="adj" fmla="val 42857"/>
            </a:avLst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59536" y="1572768"/>
            <a:ext cx="10472623" cy="6949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DDD9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Transformers see all words at once, so they need extra information to know the order of the words.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66928" y="2615184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22960" y="2816352"/>
            <a:ext cx="457200" cy="457200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2930652"/>
            <a:ext cx="228600" cy="22860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499616" y="2816352"/>
            <a:ext cx="41847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Why Order Matters</a:t>
            </a:r>
            <a:endParaRPr lang="en-US" sz="1450" dirty="0"/>
          </a:p>
        </p:txBody>
      </p:sp>
      <p:sp>
        <p:nvSpPr>
          <p:cNvPr id="13" name="Text 10"/>
          <p:cNvSpPr txBox="1"/>
          <p:nvPr/>
        </p:nvSpPr>
        <p:spPr>
          <a:xfrm>
            <a:off x="841248" y="3419856"/>
            <a:ext cx="484312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"The dog bit the man" and "The man bit the dog" use the same words with completely different meanings.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33008" y="2615184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489040" y="2816352"/>
            <a:ext cx="457200" cy="457200"/>
          </a:xfrm>
          <a:prstGeom prst="ellipse">
            <a:avLst/>
          </a:prstGeom>
          <a:solidFill>
            <a:srgbClr val="22D3EE">
              <a:alpha val="16000"/>
            </a:srgbClr>
          </a:solidFill>
          <a:ln w="12700">
            <a:solidFill>
              <a:srgbClr val="22D3EE">
                <a:alpha val="45000"/>
              </a:srgbClr>
            </a:solidFill>
            <a:prstDash val="solid"/>
          </a:ln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3340" y="2930652"/>
            <a:ext cx="228600" cy="22860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7165696" y="2816352"/>
            <a:ext cx="41847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How It Is Added</a:t>
            </a:r>
            <a:endParaRPr lang="en-US" sz="1450" dirty="0"/>
          </a:p>
        </p:txBody>
      </p:sp>
      <p:sp>
        <p:nvSpPr>
          <p:cNvPr id="18" name="Text 14"/>
          <p:cNvSpPr txBox="1"/>
          <p:nvPr/>
        </p:nvSpPr>
        <p:spPr>
          <a:xfrm>
            <a:off x="6507328" y="3419856"/>
            <a:ext cx="484312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position signal is added to each token embedding, so each word carries its place in the sequence.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566928" y="4530149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822960" y="4731317"/>
            <a:ext cx="457200" cy="457200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260" y="4845617"/>
            <a:ext cx="228600" cy="22860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499616" y="4731317"/>
            <a:ext cx="41847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Common Methods</a:t>
            </a:r>
            <a:endParaRPr lang="en-US" sz="1450" dirty="0"/>
          </a:p>
        </p:txBody>
      </p:sp>
      <p:sp>
        <p:nvSpPr>
          <p:cNvPr id="23" name="Text 18"/>
          <p:cNvSpPr txBox="1"/>
          <p:nvPr/>
        </p:nvSpPr>
        <p:spPr>
          <a:xfrm>
            <a:off x="841248" y="5334821"/>
            <a:ext cx="484312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Fixed mathematical patterns, learned position vectors, or rotary position embeddings.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6233008" y="4530149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6489040" y="4731317"/>
            <a:ext cx="457200" cy="457200"/>
          </a:xfrm>
          <a:prstGeom prst="ellipse">
            <a:avLst/>
          </a:prstGeom>
          <a:solidFill>
            <a:srgbClr val="34D399">
              <a:alpha val="16000"/>
            </a:srgbClr>
          </a:solidFill>
          <a:ln w="12700">
            <a:solidFill>
              <a:srgbClr val="34D399">
                <a:alpha val="45000"/>
              </a:srgbClr>
            </a:solidFill>
            <a:prstDash val="solid"/>
          </a:ln>
        </p:spPr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3340" y="4845617"/>
            <a:ext cx="228600" cy="228600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7165696" y="4731317"/>
            <a:ext cx="41847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Key Point</a:t>
            </a:r>
            <a:endParaRPr lang="en-US" sz="1450" dirty="0"/>
          </a:p>
        </p:txBody>
      </p:sp>
      <p:sp>
        <p:nvSpPr>
          <p:cNvPr id="28" name="Text 22"/>
          <p:cNvSpPr txBox="1"/>
          <p:nvPr/>
        </p:nvSpPr>
        <p:spPr>
          <a:xfrm>
            <a:off x="6507328" y="5334821"/>
            <a:ext cx="484312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Without position information a transformer would treat a sentence as an unordered bag of words.</a:t>
            </a:r>
            <a:endParaRPr lang="en-US" sz="12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SLIDE 53 · TWO HALVES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Encoder and Decoder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Section 5 · Transformers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061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5364328" cy="3840480"/>
          </a:xfrm>
          <a:prstGeom prst="roundRect">
            <a:avLst>
              <a:gd name="adj" fmla="val 1905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41248" y="1737360"/>
            <a:ext cx="530352" cy="530352"/>
          </a:xfrm>
          <a:prstGeom prst="ellipse">
            <a:avLst/>
          </a:prstGeom>
          <a:solidFill>
            <a:srgbClr val="22D3EE">
              <a:alpha val="16000"/>
            </a:srgbClr>
          </a:solidFill>
          <a:ln w="12700">
            <a:solidFill>
              <a:srgbClr val="22D3EE">
                <a:alpha val="45000"/>
              </a:srgbClr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3836" y="1869948"/>
            <a:ext cx="265176" cy="265176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591056" y="1737360"/>
            <a:ext cx="4047592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2D3E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Encoder — understanding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877824" y="2505456"/>
            <a:ext cx="4742536" cy="261518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▪"/>
            </a:pPr>
            <a:r>
              <a:rPr lang="en-US" sz="135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Reads the whole input at once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▪"/>
            </a:pPr>
            <a:r>
              <a:rPr lang="en-US" sz="135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Builds a rich representation of meaning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▪"/>
            </a:pPr>
            <a:r>
              <a:rPr lang="en-US" sz="135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Good for classification and search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▪"/>
            </a:pPr>
            <a:r>
              <a:rPr lang="en-US" sz="135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Example task: is this review positive?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6260440" y="1481328"/>
            <a:ext cx="5364328" cy="3840480"/>
          </a:xfrm>
          <a:prstGeom prst="roundRect">
            <a:avLst>
              <a:gd name="adj" fmla="val 1905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534760" y="1737360"/>
            <a:ext cx="530352" cy="530352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7348" y="1869948"/>
            <a:ext cx="265176" cy="265176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7284568" y="1737360"/>
            <a:ext cx="4047592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A78BF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Decoder — generating</a:t>
            </a:r>
            <a:endParaRPr lang="en-US" sz="1800" dirty="0"/>
          </a:p>
        </p:txBody>
      </p:sp>
      <p:sp>
        <p:nvSpPr>
          <p:cNvPr id="15" name="Text 11"/>
          <p:cNvSpPr txBox="1"/>
          <p:nvPr/>
        </p:nvSpPr>
        <p:spPr>
          <a:xfrm>
            <a:off x="6571336" y="2505456"/>
            <a:ext cx="4742536" cy="261518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▪"/>
            </a:pPr>
            <a:r>
              <a:rPr lang="en-US" sz="135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Produces output one token at a time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▪"/>
            </a:pPr>
            <a:r>
              <a:rPr lang="en-US" sz="135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Each new token can only see earlier ones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▪"/>
            </a:pPr>
            <a:r>
              <a:rPr lang="en-US" sz="135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Good for writing and completion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▪"/>
            </a:pPr>
            <a:r>
              <a:rPr lang="en-US" sz="135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Most chat-style LLMs are decoder models</a:t>
            </a:r>
            <a:endParaRPr lang="en-US" sz="1350" dirty="0"/>
          </a:p>
        </p:txBody>
      </p:sp>
      <p:sp>
        <p:nvSpPr>
          <p:cNvPr id="16" name="Shape 12"/>
          <p:cNvSpPr/>
          <p:nvPr/>
        </p:nvSpPr>
        <p:spPr>
          <a:xfrm>
            <a:off x="566928" y="5458968"/>
            <a:ext cx="11057839" cy="777240"/>
          </a:xfrm>
          <a:prstGeom prst="roundRect">
            <a:avLst>
              <a:gd name="adj" fmla="val 9412"/>
            </a:avLst>
          </a:prstGeom>
          <a:solidFill>
            <a:srgbClr val="191640">
              <a:alpha val="96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7" name="Text 13"/>
          <p:cNvSpPr txBox="1"/>
          <p:nvPr/>
        </p:nvSpPr>
        <p:spPr>
          <a:xfrm>
            <a:off x="841248" y="5550408"/>
            <a:ext cx="10509199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22D3E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Key point:  </a:t>
            </a:r>
            <a:r>
              <a:rPr lang="en-US" sz="13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Some models use only an encoder, some only a decoder, and translation-style models use both together.</a:t>
            </a:r>
            <a:endParaRPr lang="en-US" sz="13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SLIDE 54 · MODEL FAMILIES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Transformer-Based Models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Section 5 · Transformers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062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11057839" cy="877824"/>
          </a:xfrm>
          <a:prstGeom prst="roundRect">
            <a:avLst>
              <a:gd name="adj" fmla="val 8333"/>
            </a:avLst>
          </a:prstGeom>
          <a:solidFill>
            <a:srgbClr val="191640">
              <a:alpha val="96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6928" y="1627632"/>
            <a:ext cx="64008" cy="585216"/>
          </a:xfrm>
          <a:prstGeom prst="roundRect">
            <a:avLst>
              <a:gd name="adj" fmla="val 42857"/>
            </a:avLst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59536" y="1572768"/>
            <a:ext cx="10472623" cy="6949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DDD9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Most modern AI models are built on the transformer idea, adapted to different kinds of data.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66928" y="2615184"/>
            <a:ext cx="3503066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22960" y="2816352"/>
            <a:ext cx="457200" cy="457200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2930652"/>
            <a:ext cx="228600" cy="22860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499616" y="2816352"/>
            <a:ext cx="229605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Text Models</a:t>
            </a:r>
            <a:endParaRPr lang="en-US" sz="1450" dirty="0"/>
          </a:p>
        </p:txBody>
      </p:sp>
      <p:sp>
        <p:nvSpPr>
          <p:cNvPr id="13" name="Text 10"/>
          <p:cNvSpPr txBox="1"/>
          <p:nvPr/>
        </p:nvSpPr>
        <p:spPr>
          <a:xfrm>
            <a:off x="841248" y="3419856"/>
            <a:ext cx="2954426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Decoder-style models that generate text, used in chat assistants and writing tools.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344314" y="2615184"/>
            <a:ext cx="3503066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600346" y="2816352"/>
            <a:ext cx="457200" cy="457200"/>
          </a:xfrm>
          <a:prstGeom prst="ellipse">
            <a:avLst/>
          </a:prstGeom>
          <a:solidFill>
            <a:srgbClr val="22D3EE">
              <a:alpha val="16000"/>
            </a:srgbClr>
          </a:solidFill>
          <a:ln w="12700">
            <a:solidFill>
              <a:srgbClr val="22D3EE">
                <a:alpha val="45000"/>
              </a:srgbClr>
            </a:solidFill>
            <a:prstDash val="solid"/>
          </a:ln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4646" y="2930652"/>
            <a:ext cx="228600" cy="22860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5277002" y="2816352"/>
            <a:ext cx="229605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Understanding Models</a:t>
            </a:r>
            <a:endParaRPr lang="en-US" sz="1450" dirty="0"/>
          </a:p>
        </p:txBody>
      </p:sp>
      <p:sp>
        <p:nvSpPr>
          <p:cNvPr id="18" name="Text 14"/>
          <p:cNvSpPr txBox="1"/>
          <p:nvPr/>
        </p:nvSpPr>
        <p:spPr>
          <a:xfrm>
            <a:off x="4618634" y="3419856"/>
            <a:ext cx="2954426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Encoder-style models used for search, classification and producing embeddings.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8121701" y="2615184"/>
            <a:ext cx="3503066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8377733" y="2816352"/>
            <a:ext cx="457200" cy="457200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2033" y="2930652"/>
            <a:ext cx="228600" cy="22860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9054389" y="2816352"/>
            <a:ext cx="229605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Vision Models</a:t>
            </a:r>
            <a:endParaRPr lang="en-US" sz="1450" dirty="0"/>
          </a:p>
        </p:txBody>
      </p:sp>
      <p:sp>
        <p:nvSpPr>
          <p:cNvPr id="23" name="Text 18"/>
          <p:cNvSpPr txBox="1"/>
          <p:nvPr/>
        </p:nvSpPr>
        <p:spPr>
          <a:xfrm>
            <a:off x="8396021" y="3419856"/>
            <a:ext cx="2954426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Vision transformers split an image into patches and apply attention to those patches.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566928" y="4530149"/>
            <a:ext cx="3503066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822960" y="4731317"/>
            <a:ext cx="457200" cy="457200"/>
          </a:xfrm>
          <a:prstGeom prst="ellipse">
            <a:avLst/>
          </a:prstGeom>
          <a:solidFill>
            <a:srgbClr val="34D399">
              <a:alpha val="16000"/>
            </a:srgbClr>
          </a:solidFill>
          <a:ln w="12700">
            <a:solidFill>
              <a:srgbClr val="34D399">
                <a:alpha val="45000"/>
              </a:srgbClr>
            </a:solidFill>
            <a:prstDash val="solid"/>
          </a:ln>
        </p:spPr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7260" y="4845617"/>
            <a:ext cx="228600" cy="228600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1499616" y="4731317"/>
            <a:ext cx="229605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Speech Models</a:t>
            </a:r>
            <a:endParaRPr lang="en-US" sz="1450" dirty="0"/>
          </a:p>
        </p:txBody>
      </p:sp>
      <p:sp>
        <p:nvSpPr>
          <p:cNvPr id="28" name="Text 22"/>
          <p:cNvSpPr txBox="1"/>
          <p:nvPr/>
        </p:nvSpPr>
        <p:spPr>
          <a:xfrm>
            <a:off x="841248" y="5334821"/>
            <a:ext cx="2954426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Transformers convert audio into text and text into speech.</a:t>
            </a:r>
            <a:endParaRPr lang="en-US" sz="1200" dirty="0"/>
          </a:p>
        </p:txBody>
      </p:sp>
      <p:sp>
        <p:nvSpPr>
          <p:cNvPr id="29" name="Shape 23"/>
          <p:cNvSpPr/>
          <p:nvPr/>
        </p:nvSpPr>
        <p:spPr>
          <a:xfrm>
            <a:off x="4344314" y="4530149"/>
            <a:ext cx="3503066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4600346" y="4731317"/>
            <a:ext cx="457200" cy="457200"/>
          </a:xfrm>
          <a:prstGeom prst="ellipse">
            <a:avLst/>
          </a:prstGeom>
          <a:solidFill>
            <a:srgbClr val="F472B6">
              <a:alpha val="16000"/>
            </a:srgbClr>
          </a:solidFill>
          <a:ln w="12700">
            <a:solidFill>
              <a:srgbClr val="F472B6">
                <a:alpha val="45000"/>
              </a:srgbClr>
            </a:solidFill>
            <a:prstDash val="solid"/>
          </a:ln>
        </p:spPr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14646" y="4845617"/>
            <a:ext cx="228600" cy="228600"/>
          </a:xfrm>
          <a:prstGeom prst="rect">
            <a:avLst/>
          </a:prstGeom>
        </p:spPr>
      </p:pic>
      <p:sp>
        <p:nvSpPr>
          <p:cNvPr id="32" name="Text 25"/>
          <p:cNvSpPr txBox="1"/>
          <p:nvPr/>
        </p:nvSpPr>
        <p:spPr>
          <a:xfrm>
            <a:off x="5277002" y="4731317"/>
            <a:ext cx="229605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Multimodal Models</a:t>
            </a:r>
            <a:endParaRPr lang="en-US" sz="1450" dirty="0"/>
          </a:p>
        </p:txBody>
      </p:sp>
      <p:sp>
        <p:nvSpPr>
          <p:cNvPr id="33" name="Text 26"/>
          <p:cNvSpPr txBox="1"/>
          <p:nvPr/>
        </p:nvSpPr>
        <p:spPr>
          <a:xfrm>
            <a:off x="4618634" y="5334821"/>
            <a:ext cx="2954426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Handle text, images and audio together in one shared context.</a:t>
            </a:r>
            <a:endParaRPr lang="en-US" sz="1200" dirty="0"/>
          </a:p>
        </p:txBody>
      </p:sp>
      <p:sp>
        <p:nvSpPr>
          <p:cNvPr id="34" name="Shape 27"/>
          <p:cNvSpPr/>
          <p:nvPr/>
        </p:nvSpPr>
        <p:spPr>
          <a:xfrm>
            <a:off x="8121701" y="4530149"/>
            <a:ext cx="3503066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35" name="Shape 28"/>
          <p:cNvSpPr/>
          <p:nvPr/>
        </p:nvSpPr>
        <p:spPr>
          <a:xfrm>
            <a:off x="8377733" y="4731317"/>
            <a:ext cx="457200" cy="457200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36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92033" y="4845617"/>
            <a:ext cx="228600" cy="228600"/>
          </a:xfrm>
          <a:prstGeom prst="rect">
            <a:avLst/>
          </a:prstGeom>
        </p:spPr>
      </p:pic>
      <p:sp>
        <p:nvSpPr>
          <p:cNvPr id="37" name="Text 29"/>
          <p:cNvSpPr txBox="1"/>
          <p:nvPr/>
        </p:nvSpPr>
        <p:spPr>
          <a:xfrm>
            <a:off x="9054389" y="4731317"/>
            <a:ext cx="229605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Fair Comparison</a:t>
            </a:r>
            <a:endParaRPr lang="en-US" sz="1450" dirty="0"/>
          </a:p>
        </p:txBody>
      </p:sp>
      <p:sp>
        <p:nvSpPr>
          <p:cNvPr id="38" name="Text 30"/>
          <p:cNvSpPr txBox="1"/>
          <p:nvPr/>
        </p:nvSpPr>
        <p:spPr>
          <a:xfrm>
            <a:off x="8396021" y="5334821"/>
            <a:ext cx="2954426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Capabilities change quickly and vary by task. Avoid saying any one model is permanently best.</a:t>
            </a:r>
            <a:endParaRPr lang="en-US" sz="12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SLIDE 55 · FIT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Why Transformers Suit Generative AI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Section 5 · Transformers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063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11057839" cy="833933"/>
          </a:xfrm>
          <a:prstGeom prst="roundRect">
            <a:avLst>
              <a:gd name="adj" fmla="val 8772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04672" y="1642262"/>
            <a:ext cx="512064" cy="512064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" y="1770278"/>
            <a:ext cx="256032" cy="256032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554480" y="1591056"/>
            <a:ext cx="9795967" cy="61447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Generation is sequential</a:t>
            </a:r>
            <a:endParaRPr lang="en-US" sz="13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decoder naturally produces one token at a time, which is exactly how text is written.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566928" y="2461565"/>
            <a:ext cx="11057839" cy="833933"/>
          </a:xfrm>
          <a:prstGeom prst="roundRect">
            <a:avLst>
              <a:gd name="adj" fmla="val 8772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804672" y="2622499"/>
            <a:ext cx="512064" cy="512064"/>
          </a:xfrm>
          <a:prstGeom prst="ellipse">
            <a:avLst/>
          </a:prstGeom>
          <a:solidFill>
            <a:srgbClr val="22D3EE">
              <a:alpha val="16000"/>
            </a:srgbClr>
          </a:solidFill>
          <a:ln w="12700">
            <a:solidFill>
              <a:srgbClr val="22D3EE">
                <a:alpha val="45000"/>
              </a:srgbClr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" y="2750515"/>
            <a:ext cx="256032" cy="256032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554480" y="2571293"/>
            <a:ext cx="9795967" cy="61447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Context is preserved</a:t>
            </a:r>
            <a:endParaRPr lang="en-US" sz="13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Attention lets the model keep long instructions and earlier messages in mind.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566928" y="3441802"/>
            <a:ext cx="11057839" cy="833933"/>
          </a:xfrm>
          <a:prstGeom prst="roundRect">
            <a:avLst>
              <a:gd name="adj" fmla="val 8772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04672" y="3602736"/>
            <a:ext cx="512064" cy="512064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" y="3730752"/>
            <a:ext cx="256032" cy="256032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554480" y="3551530"/>
            <a:ext cx="9795967" cy="61447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They improve with scale</a:t>
            </a:r>
            <a:endParaRPr lang="en-US" sz="13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More data and larger models kept producing better results, which enabled today's systems.</a:t>
            </a:r>
            <a:endParaRPr lang="en-US" sz="1350" dirty="0"/>
          </a:p>
        </p:txBody>
      </p:sp>
      <p:sp>
        <p:nvSpPr>
          <p:cNvPr id="18" name="Shape 13"/>
          <p:cNvSpPr/>
          <p:nvPr/>
        </p:nvSpPr>
        <p:spPr>
          <a:xfrm>
            <a:off x="566928" y="4422038"/>
            <a:ext cx="11057839" cy="833933"/>
          </a:xfrm>
          <a:prstGeom prst="roundRect">
            <a:avLst>
              <a:gd name="adj" fmla="val 8772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804672" y="4582973"/>
            <a:ext cx="512064" cy="512064"/>
          </a:xfrm>
          <a:prstGeom prst="ellipse">
            <a:avLst/>
          </a:prstGeom>
          <a:solidFill>
            <a:srgbClr val="34D399">
              <a:alpha val="16000"/>
            </a:srgbClr>
          </a:solidFill>
          <a:ln w="12700">
            <a:solidFill>
              <a:srgbClr val="34D399">
                <a:alpha val="45000"/>
              </a:srgbClr>
            </a:solidFill>
            <a:prstDash val="solid"/>
          </a:ln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688" y="4710989"/>
            <a:ext cx="256032" cy="256032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554480" y="4531766"/>
            <a:ext cx="9795967" cy="61447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One model, many tasks</a:t>
            </a:r>
            <a:endParaRPr lang="en-US" sz="13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same model can summarise, translate, explain and write code without retraining.</a:t>
            </a:r>
            <a:endParaRPr lang="en-US" sz="1350" dirty="0"/>
          </a:p>
        </p:txBody>
      </p:sp>
      <p:sp>
        <p:nvSpPr>
          <p:cNvPr id="22" name="Shape 16"/>
          <p:cNvSpPr/>
          <p:nvPr/>
        </p:nvSpPr>
        <p:spPr>
          <a:xfrm>
            <a:off x="566928" y="5402275"/>
            <a:ext cx="11057839" cy="833933"/>
          </a:xfrm>
          <a:prstGeom prst="roundRect">
            <a:avLst>
              <a:gd name="adj" fmla="val 8772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804672" y="5563210"/>
            <a:ext cx="512064" cy="512064"/>
          </a:xfrm>
          <a:prstGeom prst="ellipse">
            <a:avLst/>
          </a:prstGeom>
          <a:solidFill>
            <a:srgbClr val="F472B6">
              <a:alpha val="16000"/>
            </a:srgbClr>
          </a:solidFill>
          <a:ln w="12700">
            <a:solidFill>
              <a:srgbClr val="F472B6">
                <a:alpha val="45000"/>
              </a:srgbClr>
            </a:solidFill>
            <a:prstDash val="solid"/>
          </a:ln>
        </p:spPr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2688" y="5691226"/>
            <a:ext cx="256032" cy="256032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1554480" y="5512003"/>
            <a:ext cx="9795967" cy="61447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They extend to other media</a:t>
            </a:r>
            <a:endParaRPr lang="en-US" sz="13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same idea is reused for images, audio and video generation.</a:t>
            </a:r>
            <a:endParaRPr lang="en-US" sz="135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SLIDE 56 · RECAP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Simple Transformer Flow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Section 5 · Transformers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064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481328"/>
            <a:ext cx="11057839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DDD9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happens from your sentence to the next predicted word.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66928" y="2747772"/>
            <a:ext cx="1809232" cy="1691640"/>
          </a:xfrm>
          <a:prstGeom prst="roundRect">
            <a:avLst>
              <a:gd name="adj" fmla="val 4324"/>
            </a:avLst>
          </a:prstGeom>
          <a:solidFill>
            <a:srgbClr val="191640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297808" y="2574036"/>
            <a:ext cx="347472" cy="347472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297808" y="2574036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0A1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94944" y="3022092"/>
            <a:ext cx="1553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A78BF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Text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94944" y="3479292"/>
            <a:ext cx="1553200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"The capital of France is"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2467600" y="3474720"/>
            <a:ext cx="320040" cy="237744"/>
          </a:xfrm>
          <a:prstGeom prst="rightArrow">
            <a:avLst/>
          </a:prstGeom>
          <a:solidFill>
            <a:srgbClr val="22D3EE">
              <a:alpha val="70000"/>
            </a:srgbClr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879080" y="2747772"/>
            <a:ext cx="1809232" cy="1691640"/>
          </a:xfrm>
          <a:prstGeom prst="roundRect">
            <a:avLst>
              <a:gd name="adj" fmla="val 4324"/>
            </a:avLst>
          </a:prstGeom>
          <a:solidFill>
            <a:srgbClr val="191640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09960" y="2574036"/>
            <a:ext cx="347472" cy="34747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609960" y="2574036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0A1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3007096" y="3022092"/>
            <a:ext cx="1553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2D3E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Tokens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3007096" y="3479292"/>
            <a:ext cx="1553200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Split into small pieces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779752" y="3474720"/>
            <a:ext cx="320040" cy="237744"/>
          </a:xfrm>
          <a:prstGeom prst="rightArrow">
            <a:avLst/>
          </a:prstGeom>
          <a:solidFill>
            <a:srgbClr val="22D3EE">
              <a:alpha val="70000"/>
            </a:srgbClr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191232" y="2747772"/>
            <a:ext cx="1809232" cy="1691640"/>
          </a:xfrm>
          <a:prstGeom prst="roundRect">
            <a:avLst>
              <a:gd name="adj" fmla="val 4324"/>
            </a:avLst>
          </a:prstGeom>
          <a:solidFill>
            <a:srgbClr val="191640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922112" y="2574036"/>
            <a:ext cx="347472" cy="347472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922112" y="2574036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0A1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5319248" y="3022092"/>
            <a:ext cx="1553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BBF2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Attention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5319248" y="3479292"/>
            <a:ext cx="1553200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Each token looks at the others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7091904" y="3474720"/>
            <a:ext cx="320040" cy="237744"/>
          </a:xfrm>
          <a:prstGeom prst="rightArrow">
            <a:avLst/>
          </a:prstGeom>
          <a:solidFill>
            <a:srgbClr val="22D3EE">
              <a:alpha val="70000"/>
            </a:srgbClr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503384" y="2747772"/>
            <a:ext cx="1809232" cy="1691640"/>
          </a:xfrm>
          <a:prstGeom prst="roundRect">
            <a:avLst>
              <a:gd name="adj" fmla="val 4324"/>
            </a:avLst>
          </a:prstGeom>
          <a:solidFill>
            <a:srgbClr val="191640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8234263" y="2574036"/>
            <a:ext cx="347472" cy="347472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234263" y="2574036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0A1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4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7631400" y="3022092"/>
            <a:ext cx="1553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4D39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Prediction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7631400" y="3479292"/>
            <a:ext cx="1553200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Probabilities for the next token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9404055" y="3474720"/>
            <a:ext cx="320040" cy="237744"/>
          </a:xfrm>
          <a:prstGeom prst="rightArrow">
            <a:avLst/>
          </a:prstGeom>
          <a:solidFill>
            <a:srgbClr val="22D3EE">
              <a:alpha val="70000"/>
            </a:srgbClr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815535" y="2747772"/>
            <a:ext cx="1809232" cy="1691640"/>
          </a:xfrm>
          <a:prstGeom prst="roundRect">
            <a:avLst>
              <a:gd name="adj" fmla="val 4324"/>
            </a:avLst>
          </a:prstGeom>
          <a:solidFill>
            <a:srgbClr val="191640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10546415" y="2574036"/>
            <a:ext cx="347472" cy="347472"/>
          </a:xfrm>
          <a:prstGeom prst="ellipse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10546415" y="2574036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0A1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5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9943551" y="3022092"/>
            <a:ext cx="1553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472B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Output</a:t>
            </a:r>
            <a:endParaRPr lang="en-US" sz="1400" dirty="0"/>
          </a:p>
        </p:txBody>
      </p:sp>
      <p:sp>
        <p:nvSpPr>
          <p:cNvPr id="35" name="Text 33"/>
          <p:cNvSpPr txBox="1"/>
          <p:nvPr/>
        </p:nvSpPr>
        <p:spPr>
          <a:xfrm>
            <a:off x="9943551" y="3479292"/>
            <a:ext cx="1553200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most suitable token is chosen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566928" y="5276088"/>
            <a:ext cx="11057839" cy="960120"/>
          </a:xfrm>
          <a:prstGeom prst="roundRect">
            <a:avLst>
              <a:gd name="adj" fmla="val 7619"/>
            </a:avLst>
          </a:prstGeom>
          <a:solidFill>
            <a:srgbClr val="191640">
              <a:alpha val="96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37" name="Text 35"/>
          <p:cNvSpPr txBox="1"/>
          <p:nvPr/>
        </p:nvSpPr>
        <p:spPr>
          <a:xfrm>
            <a:off x="841248" y="5385816"/>
            <a:ext cx="10509199" cy="7406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A78BF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Remember:  </a:t>
            </a:r>
            <a:r>
              <a:rPr lang="en-US" sz="13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This whole loop then repeats, with the new token added to the input, until the answer is finished.</a:t>
            </a:r>
            <a:endParaRPr lang="en-US" sz="130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BBF2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QUIZ 5 · SLIDES 46–56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Quiz 5 — Transformers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Section 5 · Transformers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065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11057839" cy="848563"/>
          </a:xfrm>
          <a:prstGeom prst="roundRect">
            <a:avLst>
              <a:gd name="adj" fmla="val 8621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68096" y="1627632"/>
            <a:ext cx="310896" cy="310896"/>
          </a:xfrm>
          <a:prstGeom prst="ellipse">
            <a:avLst/>
          </a:prstGeom>
          <a:solidFill>
            <a:srgbClr val="FBBF24">
              <a:alpha val="22000"/>
            </a:srgbClr>
          </a:solidFill>
          <a:ln w="12700">
            <a:solidFill>
              <a:srgbClr val="FBBF24">
                <a:alpha val="5000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68096" y="1627632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BBF2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Q1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188720" y="1600200"/>
            <a:ext cx="8726119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The transformer design was introduced in: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10207447" y="1618488"/>
            <a:ext cx="1371600" cy="347472"/>
          </a:xfrm>
          <a:prstGeom prst="roundRect">
            <a:avLst>
              <a:gd name="adj" fmla="val 15789"/>
            </a:avLst>
          </a:prstGeom>
          <a:solidFill>
            <a:srgbClr val="A78BFA">
              <a:alpha val="20000"/>
            </a:srgbClr>
          </a:solidFill>
          <a:ln w="12700">
            <a:solidFill>
              <a:srgbClr val="A78BFA">
                <a:alpha val="60000"/>
              </a:srgbClr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207447" y="1618488"/>
            <a:ext cx="13716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Answer: A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1115568" y="2011680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A. </a:t>
            </a: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2017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3674288" y="2011680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B. </a:t>
            </a:r>
            <a:r>
              <a:rPr lang="en-US" sz="11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1995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6233008" y="2011680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C. </a:t>
            </a:r>
            <a:r>
              <a:rPr lang="en-US" sz="11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2005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8791727" y="2011680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D. </a:t>
            </a:r>
            <a:r>
              <a:rPr lang="en-US" sz="11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2023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66928" y="2457907"/>
            <a:ext cx="11057839" cy="848563"/>
          </a:xfrm>
          <a:prstGeom prst="roundRect">
            <a:avLst>
              <a:gd name="adj" fmla="val 8621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68096" y="2604211"/>
            <a:ext cx="310896" cy="310896"/>
          </a:xfrm>
          <a:prstGeom prst="ellipse">
            <a:avLst/>
          </a:prstGeom>
          <a:solidFill>
            <a:srgbClr val="FBBF24">
              <a:alpha val="22000"/>
            </a:srgbClr>
          </a:solidFill>
          <a:ln w="12700">
            <a:solidFill>
              <a:srgbClr val="FBBF24">
                <a:alpha val="50000"/>
              </a:srgbClr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68096" y="2604211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BBF2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Q2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1188720" y="2576779"/>
            <a:ext cx="8726119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Attention helps the model to: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10207447" y="2595067"/>
            <a:ext cx="1371600" cy="347472"/>
          </a:xfrm>
          <a:prstGeom prst="roundRect">
            <a:avLst>
              <a:gd name="adj" fmla="val 15789"/>
            </a:avLst>
          </a:prstGeom>
          <a:solidFill>
            <a:srgbClr val="A78BFA">
              <a:alpha val="20000"/>
            </a:srgbClr>
          </a:solidFill>
          <a:ln w="12700">
            <a:solidFill>
              <a:srgbClr val="A78BFA">
                <a:alpha val="60000"/>
              </a:srgbClr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0207447" y="2595067"/>
            <a:ext cx="13716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Answer: B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1115568" y="2988259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A. </a:t>
            </a:r>
            <a:r>
              <a:rPr lang="en-US" sz="11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Print documents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3674288" y="2988259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B. </a:t>
            </a: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Link related words together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6233008" y="2988259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C. </a:t>
            </a:r>
            <a:r>
              <a:rPr lang="en-US" sz="11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Save disk space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8791727" y="2988259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D. </a:t>
            </a:r>
            <a:r>
              <a:rPr lang="en-US" sz="11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Connect to Wi-Fi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66928" y="3434486"/>
            <a:ext cx="11057839" cy="848563"/>
          </a:xfrm>
          <a:prstGeom prst="roundRect">
            <a:avLst>
              <a:gd name="adj" fmla="val 8621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768096" y="3580790"/>
            <a:ext cx="310896" cy="310896"/>
          </a:xfrm>
          <a:prstGeom prst="ellipse">
            <a:avLst/>
          </a:prstGeom>
          <a:solidFill>
            <a:srgbClr val="FBBF24">
              <a:alpha val="22000"/>
            </a:srgbClr>
          </a:solidFill>
          <a:ln w="12700">
            <a:solidFill>
              <a:srgbClr val="FBBF24">
                <a:alpha val="50000"/>
              </a:srgbClr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68096" y="3580790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BBF2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Q3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1188720" y="3553358"/>
            <a:ext cx="8726119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Self-attention means tokens pay attention to: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10207447" y="3571646"/>
            <a:ext cx="1371600" cy="347472"/>
          </a:xfrm>
          <a:prstGeom prst="roundRect">
            <a:avLst>
              <a:gd name="adj" fmla="val 15789"/>
            </a:avLst>
          </a:prstGeom>
          <a:solidFill>
            <a:srgbClr val="A78BFA">
              <a:alpha val="20000"/>
            </a:srgbClr>
          </a:solidFill>
          <a:ln w="12700">
            <a:solidFill>
              <a:srgbClr val="A78BFA">
                <a:alpha val="60000"/>
              </a:srgbClr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10207447" y="3571646"/>
            <a:ext cx="13716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Answer: C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1115568" y="3964838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A. </a:t>
            </a:r>
            <a:r>
              <a:rPr lang="en-US" sz="11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different document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3674288" y="3964838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B. </a:t>
            </a:r>
            <a:r>
              <a:rPr lang="en-US" sz="11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user password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6233008" y="3964838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C. </a:t>
            </a: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Each other in the same input</a:t>
            </a:r>
            <a:endParaRPr lang="en-US" sz="1050" dirty="0"/>
          </a:p>
        </p:txBody>
      </p:sp>
      <p:sp>
        <p:nvSpPr>
          <p:cNvPr id="35" name="Text 33"/>
          <p:cNvSpPr txBox="1"/>
          <p:nvPr/>
        </p:nvSpPr>
        <p:spPr>
          <a:xfrm>
            <a:off x="8791727" y="3964838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D. </a:t>
            </a:r>
            <a:r>
              <a:rPr lang="en-US" sz="11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screen size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66928" y="4411066"/>
            <a:ext cx="11057839" cy="848563"/>
          </a:xfrm>
          <a:prstGeom prst="roundRect">
            <a:avLst>
              <a:gd name="adj" fmla="val 8621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768096" y="4557370"/>
            <a:ext cx="310896" cy="310896"/>
          </a:xfrm>
          <a:prstGeom prst="ellipse">
            <a:avLst/>
          </a:prstGeom>
          <a:solidFill>
            <a:srgbClr val="FBBF24">
              <a:alpha val="22000"/>
            </a:srgbClr>
          </a:solidFill>
          <a:ln w="12700">
            <a:solidFill>
              <a:srgbClr val="FBBF24">
                <a:alpha val="50000"/>
              </a:srgbClr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768096" y="4557370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BBF2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Q4</a:t>
            </a:r>
            <a:endParaRPr lang="en-US" sz="900" dirty="0"/>
          </a:p>
        </p:txBody>
      </p:sp>
      <p:sp>
        <p:nvSpPr>
          <p:cNvPr id="39" name="Text 37"/>
          <p:cNvSpPr txBox="1"/>
          <p:nvPr/>
        </p:nvSpPr>
        <p:spPr>
          <a:xfrm>
            <a:off x="1188720" y="4529938"/>
            <a:ext cx="8726119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Position information is needed because:</a:t>
            </a:r>
            <a:endParaRPr lang="en-US" sz="1250" dirty="0"/>
          </a:p>
        </p:txBody>
      </p:sp>
      <p:sp>
        <p:nvSpPr>
          <p:cNvPr id="40" name="Shape 38"/>
          <p:cNvSpPr/>
          <p:nvPr/>
        </p:nvSpPr>
        <p:spPr>
          <a:xfrm>
            <a:off x="10207447" y="4548226"/>
            <a:ext cx="1371600" cy="347472"/>
          </a:xfrm>
          <a:prstGeom prst="roundRect">
            <a:avLst>
              <a:gd name="adj" fmla="val 15789"/>
            </a:avLst>
          </a:prstGeom>
          <a:solidFill>
            <a:srgbClr val="A78BFA">
              <a:alpha val="20000"/>
            </a:srgbClr>
          </a:solidFill>
          <a:ln w="12700">
            <a:solidFill>
              <a:srgbClr val="A78BFA">
                <a:alpha val="60000"/>
              </a:srgbClr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10207447" y="4548226"/>
            <a:ext cx="13716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Answer: D</a:t>
            </a:r>
            <a:endParaRPr lang="en-US" sz="1050" dirty="0"/>
          </a:p>
        </p:txBody>
      </p:sp>
      <p:sp>
        <p:nvSpPr>
          <p:cNvPr id="42" name="Text 40"/>
          <p:cNvSpPr txBox="1"/>
          <p:nvPr/>
        </p:nvSpPr>
        <p:spPr>
          <a:xfrm>
            <a:off x="1115568" y="4941418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A. </a:t>
            </a:r>
            <a:r>
              <a:rPr lang="en-US" sz="11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Colours matter</a:t>
            </a:r>
            <a:endParaRPr lang="en-US" sz="1050" dirty="0"/>
          </a:p>
        </p:txBody>
      </p:sp>
      <p:sp>
        <p:nvSpPr>
          <p:cNvPr id="43" name="Text 41"/>
          <p:cNvSpPr txBox="1"/>
          <p:nvPr/>
        </p:nvSpPr>
        <p:spPr>
          <a:xfrm>
            <a:off x="3674288" y="4941418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B. </a:t>
            </a:r>
            <a:r>
              <a:rPr lang="en-US" sz="11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Files are large</a:t>
            </a:r>
            <a:endParaRPr lang="en-US" sz="1050" dirty="0"/>
          </a:p>
        </p:txBody>
      </p:sp>
      <p:sp>
        <p:nvSpPr>
          <p:cNvPr id="44" name="Text 42"/>
          <p:cNvSpPr txBox="1"/>
          <p:nvPr/>
        </p:nvSpPr>
        <p:spPr>
          <a:xfrm>
            <a:off x="6233008" y="4941418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C. </a:t>
            </a:r>
            <a:r>
              <a:rPr lang="en-US" sz="11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Users type slowly</a:t>
            </a:r>
            <a:endParaRPr lang="en-US" sz="1050" dirty="0"/>
          </a:p>
        </p:txBody>
      </p:sp>
      <p:sp>
        <p:nvSpPr>
          <p:cNvPr id="45" name="Text 43"/>
          <p:cNvSpPr txBox="1"/>
          <p:nvPr/>
        </p:nvSpPr>
        <p:spPr>
          <a:xfrm>
            <a:off x="8791727" y="4941418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D. </a:t>
            </a: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Word order changes meaning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566928" y="5387645"/>
            <a:ext cx="11057839" cy="848563"/>
          </a:xfrm>
          <a:prstGeom prst="roundRect">
            <a:avLst>
              <a:gd name="adj" fmla="val 8621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768096" y="5533949"/>
            <a:ext cx="310896" cy="310896"/>
          </a:xfrm>
          <a:prstGeom prst="ellipse">
            <a:avLst/>
          </a:prstGeom>
          <a:solidFill>
            <a:srgbClr val="FBBF24">
              <a:alpha val="22000"/>
            </a:srgbClr>
          </a:solidFill>
          <a:ln w="12700">
            <a:solidFill>
              <a:srgbClr val="FBBF24">
                <a:alpha val="50000"/>
              </a:srgbClr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768096" y="5533949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BBF2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Q5</a:t>
            </a:r>
            <a:endParaRPr lang="en-US" sz="900" dirty="0"/>
          </a:p>
        </p:txBody>
      </p:sp>
      <p:sp>
        <p:nvSpPr>
          <p:cNvPr id="49" name="Text 47"/>
          <p:cNvSpPr txBox="1"/>
          <p:nvPr/>
        </p:nvSpPr>
        <p:spPr>
          <a:xfrm>
            <a:off x="1188720" y="5506517"/>
            <a:ext cx="8726119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Most chat-style LLMs are built as:</a:t>
            </a:r>
            <a:endParaRPr lang="en-US" sz="1250" dirty="0"/>
          </a:p>
        </p:txBody>
      </p:sp>
      <p:sp>
        <p:nvSpPr>
          <p:cNvPr id="50" name="Shape 48"/>
          <p:cNvSpPr/>
          <p:nvPr/>
        </p:nvSpPr>
        <p:spPr>
          <a:xfrm>
            <a:off x="10207447" y="5524805"/>
            <a:ext cx="1371600" cy="347472"/>
          </a:xfrm>
          <a:prstGeom prst="roundRect">
            <a:avLst>
              <a:gd name="adj" fmla="val 15789"/>
            </a:avLst>
          </a:prstGeom>
          <a:solidFill>
            <a:srgbClr val="A78BFA">
              <a:alpha val="20000"/>
            </a:srgbClr>
          </a:solidFill>
          <a:ln w="12700">
            <a:solidFill>
              <a:srgbClr val="A78BFA">
                <a:alpha val="60000"/>
              </a:srgbClr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10207447" y="5524805"/>
            <a:ext cx="13716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Answer: A</a:t>
            </a:r>
            <a:endParaRPr lang="en-US" sz="1050" dirty="0"/>
          </a:p>
        </p:txBody>
      </p:sp>
      <p:sp>
        <p:nvSpPr>
          <p:cNvPr id="52" name="Text 50"/>
          <p:cNvSpPr txBox="1"/>
          <p:nvPr/>
        </p:nvSpPr>
        <p:spPr>
          <a:xfrm>
            <a:off x="1115568" y="5917997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A. </a:t>
            </a: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Decoder models</a:t>
            </a:r>
            <a:endParaRPr lang="en-US" sz="1050" dirty="0"/>
          </a:p>
        </p:txBody>
      </p:sp>
      <p:sp>
        <p:nvSpPr>
          <p:cNvPr id="53" name="Text 51"/>
          <p:cNvSpPr txBox="1"/>
          <p:nvPr/>
        </p:nvSpPr>
        <p:spPr>
          <a:xfrm>
            <a:off x="3674288" y="5917997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B. </a:t>
            </a:r>
            <a:r>
              <a:rPr lang="en-US" sz="11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Printers</a:t>
            </a:r>
            <a:endParaRPr lang="en-US" sz="1050" dirty="0"/>
          </a:p>
        </p:txBody>
      </p:sp>
      <p:sp>
        <p:nvSpPr>
          <p:cNvPr id="54" name="Text 52"/>
          <p:cNvSpPr txBox="1"/>
          <p:nvPr/>
        </p:nvSpPr>
        <p:spPr>
          <a:xfrm>
            <a:off x="6233008" y="5917997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C. </a:t>
            </a:r>
            <a:r>
              <a:rPr lang="en-US" sz="11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Spreadsheets</a:t>
            </a:r>
            <a:endParaRPr lang="en-US" sz="1050" dirty="0"/>
          </a:p>
        </p:txBody>
      </p:sp>
      <p:sp>
        <p:nvSpPr>
          <p:cNvPr id="55" name="Text 53"/>
          <p:cNvSpPr txBox="1"/>
          <p:nvPr/>
        </p:nvSpPr>
        <p:spPr>
          <a:xfrm>
            <a:off x="8791727" y="5917997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D. </a:t>
            </a:r>
            <a:r>
              <a:rPr lang="en-US" sz="11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Databases</a:t>
            </a:r>
            <a:endParaRPr lang="en-US" sz="105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49808" y="1874520"/>
            <a:ext cx="58521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SECTION 06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49808" y="2240280"/>
            <a:ext cx="6035040" cy="1554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Large Language Models (LLMs)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749808" y="3886200"/>
            <a:ext cx="5852160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they are, how they learn, what they do well and where they fail.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49808" y="4846320"/>
            <a:ext cx="1463040" cy="64008"/>
          </a:xfrm>
          <a:prstGeom prst="roundRect">
            <a:avLst>
              <a:gd name="adj" fmla="val 42857"/>
            </a:avLst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32320" y="1143000"/>
            <a:ext cx="4492447" cy="797357"/>
          </a:xfrm>
          <a:prstGeom prst="roundRect">
            <a:avLst>
              <a:gd name="adj" fmla="val 9174"/>
            </a:avLst>
          </a:prstGeom>
          <a:solidFill>
            <a:srgbClr val="191640"/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51776" y="1313078"/>
            <a:ext cx="457200" cy="457200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66076" y="1427378"/>
            <a:ext cx="228600" cy="22860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8010144" y="1143000"/>
            <a:ext cx="3303727" cy="79735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What is an LLM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7132320" y="2086661"/>
            <a:ext cx="4492447" cy="797357"/>
          </a:xfrm>
          <a:prstGeom prst="roundRect">
            <a:avLst>
              <a:gd name="adj" fmla="val 9174"/>
            </a:avLst>
          </a:prstGeom>
          <a:solidFill>
            <a:srgbClr val="191640"/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7351776" y="2256739"/>
            <a:ext cx="457200" cy="457200"/>
          </a:xfrm>
          <a:prstGeom prst="ellipse">
            <a:avLst/>
          </a:prstGeom>
          <a:solidFill>
            <a:srgbClr val="22D3EE">
              <a:alpha val="16000"/>
            </a:srgbClr>
          </a:solidFill>
          <a:ln w="12700">
            <a:solidFill>
              <a:srgbClr val="22D3EE">
                <a:alpha val="45000"/>
              </a:srgbClr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6076" y="2371039"/>
            <a:ext cx="228600" cy="22860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8010144" y="2086661"/>
            <a:ext cx="3303727" cy="79735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Next-Token Prediction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7132320" y="3030322"/>
            <a:ext cx="4492447" cy="797357"/>
          </a:xfrm>
          <a:prstGeom prst="roundRect">
            <a:avLst>
              <a:gd name="adj" fmla="val 9174"/>
            </a:avLst>
          </a:prstGeom>
          <a:solidFill>
            <a:srgbClr val="191640"/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351776" y="3200400"/>
            <a:ext cx="457200" cy="457200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6076" y="3314700"/>
            <a:ext cx="228600" cy="22860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010144" y="3030322"/>
            <a:ext cx="3303727" cy="79735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Pretraining &amp; Fine-Tuning</a:t>
            </a:r>
            <a:endParaRPr lang="en-US" sz="1350" dirty="0"/>
          </a:p>
        </p:txBody>
      </p:sp>
      <p:sp>
        <p:nvSpPr>
          <p:cNvPr id="18" name="Shape 13"/>
          <p:cNvSpPr/>
          <p:nvPr/>
        </p:nvSpPr>
        <p:spPr>
          <a:xfrm>
            <a:off x="7132320" y="3973982"/>
            <a:ext cx="4492447" cy="797357"/>
          </a:xfrm>
          <a:prstGeom prst="roundRect">
            <a:avLst>
              <a:gd name="adj" fmla="val 9174"/>
            </a:avLst>
          </a:prstGeom>
          <a:solidFill>
            <a:srgbClr val="191640"/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7351776" y="4144061"/>
            <a:ext cx="457200" cy="457200"/>
          </a:xfrm>
          <a:prstGeom prst="ellipse">
            <a:avLst/>
          </a:prstGeom>
          <a:solidFill>
            <a:srgbClr val="34D399">
              <a:alpha val="16000"/>
            </a:srgbClr>
          </a:solidFill>
          <a:ln w="12700">
            <a:solidFill>
              <a:srgbClr val="34D399">
                <a:alpha val="45000"/>
              </a:srgbClr>
            </a:solidFill>
            <a:prstDash val="solid"/>
          </a:ln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66076" y="4258361"/>
            <a:ext cx="228600" cy="22860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8010144" y="3973982"/>
            <a:ext cx="3303727" cy="79735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Human Feedback</a:t>
            </a:r>
            <a:endParaRPr lang="en-US" sz="1350" dirty="0"/>
          </a:p>
        </p:txBody>
      </p:sp>
      <p:sp>
        <p:nvSpPr>
          <p:cNvPr id="22" name="Shape 16"/>
          <p:cNvSpPr/>
          <p:nvPr/>
        </p:nvSpPr>
        <p:spPr>
          <a:xfrm>
            <a:off x="7132320" y="4917643"/>
            <a:ext cx="4492447" cy="797357"/>
          </a:xfrm>
          <a:prstGeom prst="roundRect">
            <a:avLst>
              <a:gd name="adj" fmla="val 9174"/>
            </a:avLst>
          </a:prstGeom>
          <a:solidFill>
            <a:srgbClr val="191640"/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7351776" y="5087722"/>
            <a:ext cx="457200" cy="457200"/>
          </a:xfrm>
          <a:prstGeom prst="ellipse">
            <a:avLst/>
          </a:prstGeom>
          <a:solidFill>
            <a:srgbClr val="F472B6">
              <a:alpha val="16000"/>
            </a:srgbClr>
          </a:solidFill>
          <a:ln w="12700">
            <a:solidFill>
              <a:srgbClr val="F472B6">
                <a:alpha val="45000"/>
              </a:srgbClr>
            </a:solidFill>
            <a:prstDash val="solid"/>
          </a:ln>
        </p:spPr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66076" y="5202022"/>
            <a:ext cx="228600" cy="228600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8010144" y="4917643"/>
            <a:ext cx="3303727" cy="79735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Strengths &amp; Limits</a:t>
            </a:r>
            <a:endParaRPr lang="en-US" sz="1350" dirty="0"/>
          </a:p>
        </p:txBody>
      </p:sp>
      <p:sp>
        <p:nvSpPr>
          <p:cNvPr id="26" name="Text 19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Section 6 · Large Language Models</a:t>
            </a:r>
            <a:endParaRPr lang="en-US" sz="950" dirty="0"/>
          </a:p>
        </p:txBody>
      </p:sp>
      <p:sp>
        <p:nvSpPr>
          <p:cNvPr id="27" name="Text 20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066</a:t>
            </a:r>
            <a:endParaRPr lang="en-US" sz="95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SLIDE 57 · DEFINITION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What is an LLM?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Section 6 · Large Language Models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067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11057839" cy="877824"/>
          </a:xfrm>
          <a:prstGeom prst="roundRect">
            <a:avLst>
              <a:gd name="adj" fmla="val 8333"/>
            </a:avLst>
          </a:prstGeom>
          <a:solidFill>
            <a:srgbClr val="191640">
              <a:alpha val="96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6928" y="1627632"/>
            <a:ext cx="64008" cy="585216"/>
          </a:xfrm>
          <a:prstGeom prst="roundRect">
            <a:avLst>
              <a:gd name="adj" fmla="val 42857"/>
            </a:avLst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59536" y="1572768"/>
            <a:ext cx="10472623" cy="6949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DDD9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Large Language Model is a very large transformer trained on an enormous amount of text to predict what comes next.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66928" y="2615184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22960" y="2816352"/>
            <a:ext cx="457200" cy="457200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2930652"/>
            <a:ext cx="228600" cy="22860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499616" y="2816352"/>
            <a:ext cx="41847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Why "Large"</a:t>
            </a:r>
            <a:endParaRPr lang="en-US" sz="1450" dirty="0"/>
          </a:p>
        </p:txBody>
      </p:sp>
      <p:sp>
        <p:nvSpPr>
          <p:cNvPr id="13" name="Text 10"/>
          <p:cNvSpPr txBox="1"/>
          <p:nvPr/>
        </p:nvSpPr>
        <p:spPr>
          <a:xfrm>
            <a:off x="841248" y="3419856"/>
            <a:ext cx="484312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Because of the amount of training text and the number of parameters — often billions.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33008" y="2615184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489040" y="2816352"/>
            <a:ext cx="457200" cy="457200"/>
          </a:xfrm>
          <a:prstGeom prst="ellipse">
            <a:avLst/>
          </a:prstGeom>
          <a:solidFill>
            <a:srgbClr val="22D3EE">
              <a:alpha val="16000"/>
            </a:srgbClr>
          </a:solidFill>
          <a:ln w="12700">
            <a:solidFill>
              <a:srgbClr val="22D3EE">
                <a:alpha val="45000"/>
              </a:srgbClr>
            </a:solidFill>
            <a:prstDash val="solid"/>
          </a:ln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3340" y="2930652"/>
            <a:ext cx="228600" cy="22860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7165696" y="2816352"/>
            <a:ext cx="41847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Why "Language"</a:t>
            </a:r>
            <a:endParaRPr lang="en-US" sz="1450" dirty="0"/>
          </a:p>
        </p:txBody>
      </p:sp>
      <p:sp>
        <p:nvSpPr>
          <p:cNvPr id="18" name="Text 14"/>
          <p:cNvSpPr txBox="1"/>
          <p:nvPr/>
        </p:nvSpPr>
        <p:spPr>
          <a:xfrm>
            <a:off x="6507328" y="3419856"/>
            <a:ext cx="484312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Its job is working with human language: reading it, continuing it and transforming it.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566928" y="4530149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822960" y="4731317"/>
            <a:ext cx="457200" cy="457200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260" y="4845617"/>
            <a:ext cx="228600" cy="22860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499616" y="4731317"/>
            <a:ext cx="41847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Why "Model"</a:t>
            </a:r>
            <a:endParaRPr lang="en-US" sz="1450" dirty="0"/>
          </a:p>
        </p:txBody>
      </p:sp>
      <p:sp>
        <p:nvSpPr>
          <p:cNvPr id="23" name="Text 18"/>
          <p:cNvSpPr txBox="1"/>
          <p:nvPr/>
        </p:nvSpPr>
        <p:spPr>
          <a:xfrm>
            <a:off x="841248" y="5334821"/>
            <a:ext cx="484312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It is a learned system of numbers, not a database of stored answers.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6233008" y="4530149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6489040" y="4731317"/>
            <a:ext cx="457200" cy="457200"/>
          </a:xfrm>
          <a:prstGeom prst="ellipse">
            <a:avLst/>
          </a:prstGeom>
          <a:solidFill>
            <a:srgbClr val="34D399">
              <a:alpha val="16000"/>
            </a:srgbClr>
          </a:solidFill>
          <a:ln w="12700">
            <a:solidFill>
              <a:srgbClr val="34D399">
                <a:alpha val="45000"/>
              </a:srgbClr>
            </a:solidFill>
            <a:prstDash val="solid"/>
          </a:ln>
        </p:spPr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3340" y="4845617"/>
            <a:ext cx="228600" cy="228600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7165696" y="4731317"/>
            <a:ext cx="41847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Simple Analogy</a:t>
            </a:r>
            <a:endParaRPr lang="en-US" sz="1450" dirty="0"/>
          </a:p>
        </p:txBody>
      </p:sp>
      <p:sp>
        <p:nvSpPr>
          <p:cNvPr id="28" name="Text 22"/>
          <p:cNvSpPr txBox="1"/>
          <p:nvPr/>
        </p:nvSpPr>
        <p:spPr>
          <a:xfrm>
            <a:off x="6507328" y="5334821"/>
            <a:ext cx="484312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Like someone who has read an extraordinary amount and has become very good at continuing any sentence sensibly.</a:t>
            </a:r>
            <a:endParaRPr lang="en-US" sz="120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SLIDE 58 · WHY NOW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Why LLMs Became Important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Section 6 · Large Language Models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068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11057839" cy="833933"/>
          </a:xfrm>
          <a:prstGeom prst="roundRect">
            <a:avLst>
              <a:gd name="adj" fmla="val 8772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04672" y="1642262"/>
            <a:ext cx="512064" cy="512064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" y="1770278"/>
            <a:ext cx="256032" cy="256032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554480" y="1591056"/>
            <a:ext cx="9795967" cy="61447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You talk to them in plain language</a:t>
            </a:r>
            <a:endParaRPr lang="en-US" sz="13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 programming needed. Anyone who can write a sentence can use one.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566928" y="2461565"/>
            <a:ext cx="11057839" cy="833933"/>
          </a:xfrm>
          <a:prstGeom prst="roundRect">
            <a:avLst>
              <a:gd name="adj" fmla="val 8772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804672" y="2622499"/>
            <a:ext cx="512064" cy="512064"/>
          </a:xfrm>
          <a:prstGeom prst="ellipse">
            <a:avLst/>
          </a:prstGeom>
          <a:solidFill>
            <a:srgbClr val="22D3EE">
              <a:alpha val="16000"/>
            </a:srgbClr>
          </a:solidFill>
          <a:ln w="12700">
            <a:solidFill>
              <a:srgbClr val="22D3EE">
                <a:alpha val="45000"/>
              </a:srgbClr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" y="2750515"/>
            <a:ext cx="256032" cy="256032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554480" y="2571293"/>
            <a:ext cx="9795967" cy="61447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One model does many tasks</a:t>
            </a:r>
            <a:endParaRPr lang="en-US" sz="13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Summarise, translate, explain, write code and answer questions — without separate systems.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566928" y="3441802"/>
            <a:ext cx="11057839" cy="833933"/>
          </a:xfrm>
          <a:prstGeom prst="roundRect">
            <a:avLst>
              <a:gd name="adj" fmla="val 8772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04672" y="3602736"/>
            <a:ext cx="512064" cy="512064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" y="3730752"/>
            <a:ext cx="256032" cy="256032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554480" y="3551530"/>
            <a:ext cx="9795967" cy="61447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Quality crossed a useful line</a:t>
            </a:r>
            <a:endParaRPr lang="en-US" sz="13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Around 2022 the output became good enough for real everyday work, not just demos.</a:t>
            </a:r>
            <a:endParaRPr lang="en-US" sz="1350" dirty="0"/>
          </a:p>
        </p:txBody>
      </p:sp>
      <p:sp>
        <p:nvSpPr>
          <p:cNvPr id="18" name="Shape 13"/>
          <p:cNvSpPr/>
          <p:nvPr/>
        </p:nvSpPr>
        <p:spPr>
          <a:xfrm>
            <a:off x="566928" y="4422038"/>
            <a:ext cx="11057839" cy="833933"/>
          </a:xfrm>
          <a:prstGeom prst="roundRect">
            <a:avLst>
              <a:gd name="adj" fmla="val 8772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804672" y="4582973"/>
            <a:ext cx="512064" cy="512064"/>
          </a:xfrm>
          <a:prstGeom prst="ellipse">
            <a:avLst/>
          </a:prstGeom>
          <a:solidFill>
            <a:srgbClr val="34D399">
              <a:alpha val="16000"/>
            </a:srgbClr>
          </a:solidFill>
          <a:ln w="12700">
            <a:solidFill>
              <a:srgbClr val="34D399">
                <a:alpha val="45000"/>
              </a:srgbClr>
            </a:solidFill>
            <a:prstDash val="solid"/>
          </a:ln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688" y="4710989"/>
            <a:ext cx="256032" cy="256032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554480" y="4531766"/>
            <a:ext cx="9795967" cy="61447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They plug into other software</a:t>
            </a:r>
            <a:endParaRPr lang="en-US" sz="13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APIs let any application add language ability in a few lines of code.</a:t>
            </a:r>
            <a:endParaRPr lang="en-US" sz="1350" dirty="0"/>
          </a:p>
        </p:txBody>
      </p:sp>
      <p:sp>
        <p:nvSpPr>
          <p:cNvPr id="22" name="Shape 16"/>
          <p:cNvSpPr/>
          <p:nvPr/>
        </p:nvSpPr>
        <p:spPr>
          <a:xfrm>
            <a:off x="566928" y="5402275"/>
            <a:ext cx="11057839" cy="833933"/>
          </a:xfrm>
          <a:prstGeom prst="roundRect">
            <a:avLst>
              <a:gd name="adj" fmla="val 8772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804672" y="5563210"/>
            <a:ext cx="512064" cy="512064"/>
          </a:xfrm>
          <a:prstGeom prst="ellipse">
            <a:avLst/>
          </a:prstGeom>
          <a:solidFill>
            <a:srgbClr val="F472B6">
              <a:alpha val="16000"/>
            </a:srgbClr>
          </a:solidFill>
          <a:ln w="12700">
            <a:solidFill>
              <a:srgbClr val="F472B6">
                <a:alpha val="45000"/>
              </a:srgbClr>
            </a:solidFill>
            <a:prstDash val="solid"/>
          </a:ln>
        </p:spPr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2688" y="5691226"/>
            <a:ext cx="256032" cy="256032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1554480" y="5512003"/>
            <a:ext cx="9795967" cy="61447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Very fast adoption</a:t>
            </a:r>
            <a:endParaRPr lang="en-US" sz="13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Students, teachers, developers and businesses all found uses within months.</a:t>
            </a:r>
            <a:endParaRPr lang="en-US" sz="135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SLIDE 59 · PROCESSING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How an LLM Processes Text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Section 6 · Large Language Models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069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2464308"/>
            <a:ext cx="1809232" cy="1691640"/>
          </a:xfrm>
          <a:prstGeom prst="roundRect">
            <a:avLst>
              <a:gd name="adj" fmla="val 4324"/>
            </a:avLst>
          </a:prstGeom>
          <a:solidFill>
            <a:srgbClr val="191640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297808" y="2290572"/>
            <a:ext cx="347472" cy="347472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297808" y="2290572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0A1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94944" y="2738628"/>
            <a:ext cx="1553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A78BF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Text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94944" y="3195828"/>
            <a:ext cx="1553200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Your prompt in plain language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2467600" y="3191256"/>
            <a:ext cx="320040" cy="237744"/>
          </a:xfrm>
          <a:prstGeom prst="rightArrow">
            <a:avLst/>
          </a:prstGeom>
          <a:solidFill>
            <a:srgbClr val="22D3EE">
              <a:alpha val="70000"/>
            </a:srgbClr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879080" y="2464308"/>
            <a:ext cx="1809232" cy="1691640"/>
          </a:xfrm>
          <a:prstGeom prst="roundRect">
            <a:avLst>
              <a:gd name="adj" fmla="val 4324"/>
            </a:avLst>
          </a:prstGeom>
          <a:solidFill>
            <a:srgbClr val="191640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09960" y="2290572"/>
            <a:ext cx="347472" cy="34747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609960" y="2290572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0A1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3007096" y="2738628"/>
            <a:ext cx="1553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2D3E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Tokens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3007096" y="3195828"/>
            <a:ext cx="1553200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Split into small pieces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779752" y="3191256"/>
            <a:ext cx="320040" cy="237744"/>
          </a:xfrm>
          <a:prstGeom prst="rightArrow">
            <a:avLst/>
          </a:prstGeom>
          <a:solidFill>
            <a:srgbClr val="22D3EE">
              <a:alpha val="70000"/>
            </a:srgbClr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191232" y="2464308"/>
            <a:ext cx="1809232" cy="1691640"/>
          </a:xfrm>
          <a:prstGeom prst="roundRect">
            <a:avLst>
              <a:gd name="adj" fmla="val 4324"/>
            </a:avLst>
          </a:prstGeom>
          <a:solidFill>
            <a:srgbClr val="191640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922112" y="2290572"/>
            <a:ext cx="347472" cy="347472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922112" y="2290572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0A1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5319248" y="2738628"/>
            <a:ext cx="1553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BBF2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Model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5319248" y="3195828"/>
            <a:ext cx="1553200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Tokens pass through many layers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7091904" y="3191256"/>
            <a:ext cx="320040" cy="237744"/>
          </a:xfrm>
          <a:prstGeom prst="rightArrow">
            <a:avLst/>
          </a:prstGeom>
          <a:solidFill>
            <a:srgbClr val="22D3EE">
              <a:alpha val="70000"/>
            </a:srgbClr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503384" y="2464308"/>
            <a:ext cx="1809232" cy="1691640"/>
          </a:xfrm>
          <a:prstGeom prst="roundRect">
            <a:avLst>
              <a:gd name="adj" fmla="val 4324"/>
            </a:avLst>
          </a:prstGeom>
          <a:solidFill>
            <a:srgbClr val="191640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234263" y="2290572"/>
            <a:ext cx="347472" cy="347472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234263" y="2290572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0A1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4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7631400" y="2738628"/>
            <a:ext cx="1553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4D39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Probability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7631400" y="3195828"/>
            <a:ext cx="1553200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score for every possible next token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9404055" y="3191256"/>
            <a:ext cx="320040" cy="237744"/>
          </a:xfrm>
          <a:prstGeom prst="rightArrow">
            <a:avLst/>
          </a:prstGeom>
          <a:solidFill>
            <a:srgbClr val="22D3EE">
              <a:alpha val="70000"/>
            </a:srgbClr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815535" y="2464308"/>
            <a:ext cx="1809232" cy="1691640"/>
          </a:xfrm>
          <a:prstGeom prst="roundRect">
            <a:avLst>
              <a:gd name="adj" fmla="val 4324"/>
            </a:avLst>
          </a:prstGeom>
          <a:solidFill>
            <a:srgbClr val="191640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10546415" y="2290572"/>
            <a:ext cx="347472" cy="347472"/>
          </a:xfrm>
          <a:prstGeom prst="ellipse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10546415" y="2290572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0A1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5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9943551" y="2738628"/>
            <a:ext cx="1553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472B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Output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9943551" y="3195828"/>
            <a:ext cx="1553200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One token is picked and added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566928" y="5276088"/>
            <a:ext cx="11057839" cy="960120"/>
          </a:xfrm>
          <a:prstGeom prst="roundRect">
            <a:avLst>
              <a:gd name="adj" fmla="val 7619"/>
            </a:avLst>
          </a:prstGeom>
          <a:solidFill>
            <a:srgbClr val="191640">
              <a:alpha val="96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36" name="Text 34"/>
          <p:cNvSpPr txBox="1"/>
          <p:nvPr/>
        </p:nvSpPr>
        <p:spPr>
          <a:xfrm>
            <a:off x="841248" y="5385816"/>
            <a:ext cx="10509199" cy="7406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A78BF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Remember:  </a:t>
            </a:r>
            <a:r>
              <a:rPr lang="en-US" sz="13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loop repeats. Each new token becomes part of the input for the next step, which is why answers appear word by word.</a:t>
            </a:r>
            <a:endParaRPr lang="en-US" sz="130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SLIDE 60 · THE CORE BEHAVIOUR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Next-Token Prediction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Section 6 · Large Language Models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070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11057839" cy="877824"/>
          </a:xfrm>
          <a:prstGeom prst="roundRect">
            <a:avLst>
              <a:gd name="adj" fmla="val 8333"/>
            </a:avLst>
          </a:prstGeom>
          <a:solidFill>
            <a:srgbClr val="191640">
              <a:alpha val="96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6928" y="1627632"/>
            <a:ext cx="64008" cy="585216"/>
          </a:xfrm>
          <a:prstGeom prst="roundRect">
            <a:avLst>
              <a:gd name="adj" fmla="val 42857"/>
            </a:avLst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59536" y="1572768"/>
            <a:ext cx="10472623" cy="6949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DDD9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 LLM generates text by predicting what should come next, one token at a time.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66928" y="2615184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22960" y="2816352"/>
            <a:ext cx="457200" cy="457200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2930652"/>
            <a:ext cx="228600" cy="22860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499616" y="2816352"/>
            <a:ext cx="41847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Simple Example</a:t>
            </a:r>
            <a:endParaRPr lang="en-US" sz="1450" dirty="0"/>
          </a:p>
        </p:txBody>
      </p:sp>
      <p:sp>
        <p:nvSpPr>
          <p:cNvPr id="13" name="Text 10"/>
          <p:cNvSpPr txBox="1"/>
          <p:nvPr/>
        </p:nvSpPr>
        <p:spPr>
          <a:xfrm>
            <a:off x="841248" y="3419856"/>
            <a:ext cx="484312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Given "The sun rises in the", the model gives "east" a very high probability and "kitchen" a very low one.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33008" y="2615184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489040" y="2816352"/>
            <a:ext cx="457200" cy="457200"/>
          </a:xfrm>
          <a:prstGeom prst="ellipse">
            <a:avLst/>
          </a:prstGeom>
          <a:solidFill>
            <a:srgbClr val="22D3EE">
              <a:alpha val="16000"/>
            </a:srgbClr>
          </a:solidFill>
          <a:ln w="12700">
            <a:solidFill>
              <a:srgbClr val="22D3EE">
                <a:alpha val="45000"/>
              </a:srgbClr>
            </a:solidFill>
            <a:prstDash val="solid"/>
          </a:ln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3340" y="2930652"/>
            <a:ext cx="228600" cy="22860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7165696" y="2816352"/>
            <a:ext cx="41847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Then It Repeats</a:t>
            </a:r>
            <a:endParaRPr lang="en-US" sz="1450" dirty="0"/>
          </a:p>
        </p:txBody>
      </p:sp>
      <p:sp>
        <p:nvSpPr>
          <p:cNvPr id="18" name="Text 14"/>
          <p:cNvSpPr txBox="1"/>
          <p:nvPr/>
        </p:nvSpPr>
        <p:spPr>
          <a:xfrm>
            <a:off x="6507328" y="3419856"/>
            <a:ext cx="484312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chosen token joins the sentence and the model predicts the next one, until the answer is complete.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566928" y="4530149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822960" y="4731317"/>
            <a:ext cx="457200" cy="457200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260" y="4845617"/>
            <a:ext cx="228600" cy="22860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499616" y="4731317"/>
            <a:ext cx="41847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Why It Feels Intelligent</a:t>
            </a:r>
            <a:endParaRPr lang="en-US" sz="1450" dirty="0"/>
          </a:p>
        </p:txBody>
      </p:sp>
      <p:sp>
        <p:nvSpPr>
          <p:cNvPr id="23" name="Text 18"/>
          <p:cNvSpPr txBox="1"/>
          <p:nvPr/>
        </p:nvSpPr>
        <p:spPr>
          <a:xfrm>
            <a:off x="841248" y="5334821"/>
            <a:ext cx="484312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 predict text well across every topic, the model had to learn grammar, facts, style and reasoning patterns.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6233008" y="4530149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6489040" y="4731317"/>
            <a:ext cx="457200" cy="457200"/>
          </a:xfrm>
          <a:prstGeom prst="ellipse">
            <a:avLst/>
          </a:prstGeom>
          <a:solidFill>
            <a:srgbClr val="34D399">
              <a:alpha val="16000"/>
            </a:srgbClr>
          </a:solidFill>
          <a:ln w="12700">
            <a:solidFill>
              <a:srgbClr val="34D399">
                <a:alpha val="45000"/>
              </a:srgbClr>
            </a:solidFill>
            <a:prstDash val="solid"/>
          </a:ln>
        </p:spPr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3340" y="4845617"/>
            <a:ext cx="228600" cy="228600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7165696" y="4731317"/>
            <a:ext cx="41847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Why It Can Be Wrong</a:t>
            </a:r>
            <a:endParaRPr lang="en-US" sz="1450" dirty="0"/>
          </a:p>
        </p:txBody>
      </p:sp>
      <p:sp>
        <p:nvSpPr>
          <p:cNvPr id="28" name="Text 22"/>
          <p:cNvSpPr txBox="1"/>
          <p:nvPr/>
        </p:nvSpPr>
        <p:spPr>
          <a:xfrm>
            <a:off x="6507328" y="5334821"/>
            <a:ext cx="484312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It predicts what is likely, not what is verified. A confident-sounding sentence can still be false.</a:t>
            </a:r>
            <a:endParaRPr lang="en-US" sz="1200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SLIDE 61 · LEARNING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How LLMs Learn Patterns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Section 6 · Large Language Models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071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11057839" cy="877824"/>
          </a:xfrm>
          <a:prstGeom prst="roundRect">
            <a:avLst>
              <a:gd name="adj" fmla="val 8333"/>
            </a:avLst>
          </a:prstGeom>
          <a:solidFill>
            <a:srgbClr val="191640">
              <a:alpha val="96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6928" y="1627632"/>
            <a:ext cx="64008" cy="585216"/>
          </a:xfrm>
          <a:prstGeom prst="roundRect">
            <a:avLst>
              <a:gd name="adj" fmla="val 42857"/>
            </a:avLst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59536" y="1572768"/>
            <a:ext cx="10472623" cy="6949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DDD9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During training the model repeatedly tries to predict hidden words and corrects itself when wrong.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66928" y="2615184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22960" y="2816352"/>
            <a:ext cx="457200" cy="457200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2930652"/>
            <a:ext cx="228600" cy="22860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499616" y="2816352"/>
            <a:ext cx="41847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Grammar</a:t>
            </a:r>
            <a:endParaRPr lang="en-US" sz="1450" dirty="0"/>
          </a:p>
        </p:txBody>
      </p:sp>
      <p:sp>
        <p:nvSpPr>
          <p:cNvPr id="13" name="Text 10"/>
          <p:cNvSpPr txBox="1"/>
          <p:nvPr/>
        </p:nvSpPr>
        <p:spPr>
          <a:xfrm>
            <a:off x="841248" y="3419856"/>
            <a:ext cx="484312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It learns which word forms follow which, without ever being taught grammar rules.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33008" y="2615184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489040" y="2816352"/>
            <a:ext cx="457200" cy="457200"/>
          </a:xfrm>
          <a:prstGeom prst="ellipse">
            <a:avLst/>
          </a:prstGeom>
          <a:solidFill>
            <a:srgbClr val="22D3EE">
              <a:alpha val="16000"/>
            </a:srgbClr>
          </a:solidFill>
          <a:ln w="12700">
            <a:solidFill>
              <a:srgbClr val="22D3EE">
                <a:alpha val="45000"/>
              </a:srgbClr>
            </a:solidFill>
            <a:prstDash val="solid"/>
          </a:ln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3340" y="2930652"/>
            <a:ext cx="228600" cy="22860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7165696" y="2816352"/>
            <a:ext cx="41847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Facts</a:t>
            </a:r>
            <a:endParaRPr lang="en-US" sz="1450" dirty="0"/>
          </a:p>
        </p:txBody>
      </p:sp>
      <p:sp>
        <p:nvSpPr>
          <p:cNvPr id="18" name="Text 14"/>
          <p:cNvSpPr txBox="1"/>
          <p:nvPr/>
        </p:nvSpPr>
        <p:spPr>
          <a:xfrm>
            <a:off x="6507328" y="3419856"/>
            <a:ext cx="484312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Facts that appear often and consistently get stored indirectly in the parameters.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566928" y="4530149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822960" y="4731317"/>
            <a:ext cx="457200" cy="457200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260" y="4845617"/>
            <a:ext cx="228600" cy="22860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499616" y="4731317"/>
            <a:ext cx="41847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Style</a:t>
            </a:r>
            <a:endParaRPr lang="en-US" sz="1450" dirty="0"/>
          </a:p>
        </p:txBody>
      </p:sp>
      <p:sp>
        <p:nvSpPr>
          <p:cNvPr id="23" name="Text 18"/>
          <p:cNvSpPr txBox="1"/>
          <p:nvPr/>
        </p:nvSpPr>
        <p:spPr>
          <a:xfrm>
            <a:off x="841248" y="5334821"/>
            <a:ext cx="484312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It learns the difference between a formal letter, a poem and a technical manual.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6233008" y="4530149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6489040" y="4731317"/>
            <a:ext cx="457200" cy="457200"/>
          </a:xfrm>
          <a:prstGeom prst="ellipse">
            <a:avLst/>
          </a:prstGeom>
          <a:solidFill>
            <a:srgbClr val="34D399">
              <a:alpha val="16000"/>
            </a:srgbClr>
          </a:solidFill>
          <a:ln w="12700">
            <a:solidFill>
              <a:srgbClr val="34D399">
                <a:alpha val="45000"/>
              </a:srgbClr>
            </a:solidFill>
            <a:prstDash val="solid"/>
          </a:ln>
        </p:spPr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3340" y="4845617"/>
            <a:ext cx="228600" cy="228600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7165696" y="4731317"/>
            <a:ext cx="41847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Reasoning patterns</a:t>
            </a:r>
            <a:endParaRPr lang="en-US" sz="1450" dirty="0"/>
          </a:p>
        </p:txBody>
      </p:sp>
      <p:sp>
        <p:nvSpPr>
          <p:cNvPr id="28" name="Text 22"/>
          <p:cNvSpPr txBox="1"/>
          <p:nvPr/>
        </p:nvSpPr>
        <p:spPr>
          <a:xfrm>
            <a:off x="6507328" y="5334821"/>
            <a:ext cx="484312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By reading many worked explanations, it learns to produce step-by-step reasoning in a similar shape.</a:t>
            </a:r>
            <a:endParaRPr lang="en-US" sz="1200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SLIDE 62 · STAGE 1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Pretraining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Section 6 · Large Language Models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072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11057839" cy="877824"/>
          </a:xfrm>
          <a:prstGeom prst="roundRect">
            <a:avLst>
              <a:gd name="adj" fmla="val 8333"/>
            </a:avLst>
          </a:prstGeom>
          <a:solidFill>
            <a:srgbClr val="191640">
              <a:alpha val="96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6928" y="1627632"/>
            <a:ext cx="64008" cy="585216"/>
          </a:xfrm>
          <a:prstGeom prst="roundRect">
            <a:avLst>
              <a:gd name="adj" fmla="val 42857"/>
            </a:avLst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59536" y="1572768"/>
            <a:ext cx="10472623" cy="6949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DDD9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Pretraining is the first and largest stage, where the model learns general language from a huge amount of text.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66928" y="2615184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22960" y="2816352"/>
            <a:ext cx="457200" cy="457200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2930652"/>
            <a:ext cx="228600" cy="22860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499616" y="2816352"/>
            <a:ext cx="41847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What Happens</a:t>
            </a:r>
            <a:endParaRPr lang="en-US" sz="1450" dirty="0"/>
          </a:p>
        </p:txBody>
      </p:sp>
      <p:sp>
        <p:nvSpPr>
          <p:cNvPr id="13" name="Text 10"/>
          <p:cNvSpPr txBox="1"/>
          <p:nvPr/>
        </p:nvSpPr>
        <p:spPr>
          <a:xfrm>
            <a:off x="841248" y="3419856"/>
            <a:ext cx="484312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model reads enormous amounts of text and repeatedly predicts the next token, adjusting itself each time.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33008" y="2615184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489040" y="2816352"/>
            <a:ext cx="457200" cy="457200"/>
          </a:xfrm>
          <a:prstGeom prst="ellipse">
            <a:avLst/>
          </a:prstGeom>
          <a:solidFill>
            <a:srgbClr val="22D3EE">
              <a:alpha val="16000"/>
            </a:srgbClr>
          </a:solidFill>
          <a:ln w="12700">
            <a:solidFill>
              <a:srgbClr val="22D3EE">
                <a:alpha val="45000"/>
              </a:srgbClr>
            </a:solidFill>
            <a:prstDash val="solid"/>
          </a:ln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3340" y="2930652"/>
            <a:ext cx="228600" cy="22860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7165696" y="2816352"/>
            <a:ext cx="41847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How Long</a:t>
            </a:r>
            <a:endParaRPr lang="en-US" sz="1450" dirty="0"/>
          </a:p>
        </p:txBody>
      </p:sp>
      <p:sp>
        <p:nvSpPr>
          <p:cNvPr id="18" name="Text 14"/>
          <p:cNvSpPr txBox="1"/>
          <p:nvPr/>
        </p:nvSpPr>
        <p:spPr>
          <a:xfrm>
            <a:off x="6507328" y="3419856"/>
            <a:ext cx="484312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Weeks or months on very large clusters of specialised chips.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566928" y="4530149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822960" y="4731317"/>
            <a:ext cx="457200" cy="457200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260" y="4845617"/>
            <a:ext cx="228600" cy="22860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499616" y="4731317"/>
            <a:ext cx="41847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What Comes Out</a:t>
            </a:r>
            <a:endParaRPr lang="en-US" sz="1450" dirty="0"/>
          </a:p>
        </p:txBody>
      </p:sp>
      <p:sp>
        <p:nvSpPr>
          <p:cNvPr id="23" name="Text 18"/>
          <p:cNvSpPr txBox="1"/>
          <p:nvPr/>
        </p:nvSpPr>
        <p:spPr>
          <a:xfrm>
            <a:off x="841248" y="5334821"/>
            <a:ext cx="484312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"base model" that understands language well but is not yet good at following instructions.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6233008" y="4530149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6489040" y="4731317"/>
            <a:ext cx="457200" cy="457200"/>
          </a:xfrm>
          <a:prstGeom prst="ellipse">
            <a:avLst/>
          </a:prstGeom>
          <a:solidFill>
            <a:srgbClr val="34D399">
              <a:alpha val="16000"/>
            </a:srgbClr>
          </a:solidFill>
          <a:ln w="12700">
            <a:solidFill>
              <a:srgbClr val="34D399">
                <a:alpha val="45000"/>
              </a:srgbClr>
            </a:solidFill>
            <a:prstDash val="solid"/>
          </a:ln>
        </p:spPr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3340" y="4845617"/>
            <a:ext cx="228600" cy="228600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7165696" y="4731317"/>
            <a:ext cx="41847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Who Can Do It</a:t>
            </a:r>
            <a:endParaRPr lang="en-US" sz="1450" dirty="0"/>
          </a:p>
        </p:txBody>
      </p:sp>
      <p:sp>
        <p:nvSpPr>
          <p:cNvPr id="28" name="Text 22"/>
          <p:cNvSpPr txBox="1"/>
          <p:nvPr/>
        </p:nvSpPr>
        <p:spPr>
          <a:xfrm>
            <a:off x="6507328" y="5334821"/>
            <a:ext cx="484312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Very few organisations, because of the extreme cost. Most teams start from an existing model instead.</a:t>
            </a:r>
            <a:endParaRPr lang="en-US" sz="1200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SLIDE 63 · STAGE 2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Fine-Tuning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Section 6 · Large Language Models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073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11057839" cy="877824"/>
          </a:xfrm>
          <a:prstGeom prst="roundRect">
            <a:avLst>
              <a:gd name="adj" fmla="val 8333"/>
            </a:avLst>
          </a:prstGeom>
          <a:solidFill>
            <a:srgbClr val="191640">
              <a:alpha val="96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6928" y="1627632"/>
            <a:ext cx="64008" cy="585216"/>
          </a:xfrm>
          <a:prstGeom prst="roundRect">
            <a:avLst>
              <a:gd name="adj" fmla="val 42857"/>
            </a:avLst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59536" y="1572768"/>
            <a:ext cx="10472623" cy="6949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DDD9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Fine-tuning takes an already trained model and trains it further on a smaller, focused dataset.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66928" y="2615184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22960" y="2816352"/>
            <a:ext cx="457200" cy="457200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2930652"/>
            <a:ext cx="228600" cy="22860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499616" y="2816352"/>
            <a:ext cx="41847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Why Do It</a:t>
            </a:r>
            <a:endParaRPr lang="en-US" sz="1450" dirty="0"/>
          </a:p>
        </p:txBody>
      </p:sp>
      <p:sp>
        <p:nvSpPr>
          <p:cNvPr id="13" name="Text 10"/>
          <p:cNvSpPr txBox="1"/>
          <p:nvPr/>
        </p:nvSpPr>
        <p:spPr>
          <a:xfrm>
            <a:off x="841248" y="3419856"/>
            <a:ext cx="484312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 make a general model good at one particular domain, style or task.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33008" y="2615184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489040" y="2816352"/>
            <a:ext cx="457200" cy="457200"/>
          </a:xfrm>
          <a:prstGeom prst="ellipse">
            <a:avLst/>
          </a:prstGeom>
          <a:solidFill>
            <a:srgbClr val="22D3EE">
              <a:alpha val="16000"/>
            </a:srgbClr>
          </a:solidFill>
          <a:ln w="12700">
            <a:solidFill>
              <a:srgbClr val="22D3EE">
                <a:alpha val="45000"/>
              </a:srgbClr>
            </a:solidFill>
            <a:prstDash val="solid"/>
          </a:ln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3340" y="2930652"/>
            <a:ext cx="228600" cy="22860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7165696" y="2816352"/>
            <a:ext cx="41847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Example</a:t>
            </a:r>
            <a:endParaRPr lang="en-US" sz="1450" dirty="0"/>
          </a:p>
        </p:txBody>
      </p:sp>
      <p:sp>
        <p:nvSpPr>
          <p:cNvPr id="18" name="Text 14"/>
          <p:cNvSpPr txBox="1"/>
          <p:nvPr/>
        </p:nvSpPr>
        <p:spPr>
          <a:xfrm>
            <a:off x="6507328" y="3419856"/>
            <a:ext cx="484312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bank fine-tunes a model on its own approved documents so replies follow its tone and terminology.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566928" y="4530149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822960" y="4731317"/>
            <a:ext cx="457200" cy="457200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260" y="4845617"/>
            <a:ext cx="228600" cy="22860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499616" y="4731317"/>
            <a:ext cx="41847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Cost</a:t>
            </a:r>
            <a:endParaRPr lang="en-US" sz="1450" dirty="0"/>
          </a:p>
        </p:txBody>
      </p:sp>
      <p:sp>
        <p:nvSpPr>
          <p:cNvPr id="23" name="Text 18"/>
          <p:cNvSpPr txBox="1"/>
          <p:nvPr/>
        </p:nvSpPr>
        <p:spPr>
          <a:xfrm>
            <a:off x="841248" y="5334821"/>
            <a:ext cx="484312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Far cheaper than pretraining — hours or days instead of months.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6233008" y="4530149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6489040" y="4731317"/>
            <a:ext cx="457200" cy="457200"/>
          </a:xfrm>
          <a:prstGeom prst="ellipse">
            <a:avLst/>
          </a:prstGeom>
          <a:solidFill>
            <a:srgbClr val="34D399">
              <a:alpha val="16000"/>
            </a:srgbClr>
          </a:solidFill>
          <a:ln w="12700">
            <a:solidFill>
              <a:srgbClr val="34D399">
                <a:alpha val="45000"/>
              </a:srgbClr>
            </a:solidFill>
            <a:prstDash val="solid"/>
          </a:ln>
        </p:spPr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3340" y="4845617"/>
            <a:ext cx="228600" cy="228600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7165696" y="4731317"/>
            <a:ext cx="41847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When Not To Use It</a:t>
            </a:r>
            <a:endParaRPr lang="en-US" sz="1450" dirty="0"/>
          </a:p>
        </p:txBody>
      </p:sp>
      <p:sp>
        <p:nvSpPr>
          <p:cNvPr id="28" name="Text 22"/>
          <p:cNvSpPr txBox="1"/>
          <p:nvPr/>
        </p:nvSpPr>
        <p:spPr>
          <a:xfrm>
            <a:off x="6507328" y="5334821"/>
            <a:ext cx="484312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If you only need the model to know some documents, RAG is usually simpler and cheaper than fine-tuning.</a:t>
            </a:r>
            <a:endParaRPr lang="en-US" sz="1200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SLIDE 64 · STAGE 3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Instruction Tuning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Section 6 · Large Language Models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074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11057839" cy="877824"/>
          </a:xfrm>
          <a:prstGeom prst="roundRect">
            <a:avLst>
              <a:gd name="adj" fmla="val 8333"/>
            </a:avLst>
          </a:prstGeom>
          <a:solidFill>
            <a:srgbClr val="191640">
              <a:alpha val="96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6928" y="1627632"/>
            <a:ext cx="64008" cy="585216"/>
          </a:xfrm>
          <a:prstGeom prst="roundRect">
            <a:avLst>
              <a:gd name="adj" fmla="val 42857"/>
            </a:avLst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59536" y="1572768"/>
            <a:ext cx="10472623" cy="6949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DDD9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Instruction tuning teaches a base model to actually follow instructions instead of just continuing text.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66928" y="2615184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22960" y="2816352"/>
            <a:ext cx="457200" cy="457200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2930652"/>
            <a:ext cx="228600" cy="22860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499616" y="2816352"/>
            <a:ext cx="41847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The Problem It Solves</a:t>
            </a:r>
            <a:endParaRPr lang="en-US" sz="1450" dirty="0"/>
          </a:p>
        </p:txBody>
      </p:sp>
      <p:sp>
        <p:nvSpPr>
          <p:cNvPr id="13" name="Text 10"/>
          <p:cNvSpPr txBox="1"/>
          <p:nvPr/>
        </p:nvSpPr>
        <p:spPr>
          <a:xfrm>
            <a:off x="841248" y="3419856"/>
            <a:ext cx="484312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base model given "Write an email to my teacher" might continue with more instructions rather than writing the email.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33008" y="2615184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489040" y="2816352"/>
            <a:ext cx="457200" cy="457200"/>
          </a:xfrm>
          <a:prstGeom prst="ellipse">
            <a:avLst/>
          </a:prstGeom>
          <a:solidFill>
            <a:srgbClr val="22D3EE">
              <a:alpha val="16000"/>
            </a:srgbClr>
          </a:solidFill>
          <a:ln w="12700">
            <a:solidFill>
              <a:srgbClr val="22D3EE">
                <a:alpha val="45000"/>
              </a:srgbClr>
            </a:solidFill>
            <a:prstDash val="solid"/>
          </a:ln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3340" y="2930652"/>
            <a:ext cx="228600" cy="22860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7165696" y="2816352"/>
            <a:ext cx="41847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How It Works</a:t>
            </a:r>
            <a:endParaRPr lang="en-US" sz="1450" dirty="0"/>
          </a:p>
        </p:txBody>
      </p:sp>
      <p:sp>
        <p:nvSpPr>
          <p:cNvPr id="18" name="Text 14"/>
          <p:cNvSpPr txBox="1"/>
          <p:nvPr/>
        </p:nvSpPr>
        <p:spPr>
          <a:xfrm>
            <a:off x="6507328" y="3419856"/>
            <a:ext cx="484312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model is trained on many examples of instruction and a good response, so it learns the expected behaviour.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566928" y="4530149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822960" y="4731317"/>
            <a:ext cx="457200" cy="457200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260" y="4845617"/>
            <a:ext cx="228600" cy="22860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499616" y="4731317"/>
            <a:ext cx="41847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The Result</a:t>
            </a:r>
            <a:endParaRPr lang="en-US" sz="1450" dirty="0"/>
          </a:p>
        </p:txBody>
      </p:sp>
      <p:sp>
        <p:nvSpPr>
          <p:cNvPr id="23" name="Text 18"/>
          <p:cNvSpPr txBox="1"/>
          <p:nvPr/>
        </p:nvSpPr>
        <p:spPr>
          <a:xfrm>
            <a:off x="841248" y="5334821"/>
            <a:ext cx="484312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helpful assistant-style model that answers questions and follows the format you asked for.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6233008" y="4530149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6489040" y="4731317"/>
            <a:ext cx="457200" cy="457200"/>
          </a:xfrm>
          <a:prstGeom prst="ellipse">
            <a:avLst/>
          </a:prstGeom>
          <a:solidFill>
            <a:srgbClr val="34D399">
              <a:alpha val="16000"/>
            </a:srgbClr>
          </a:solidFill>
          <a:ln w="12700">
            <a:solidFill>
              <a:srgbClr val="34D399">
                <a:alpha val="45000"/>
              </a:srgbClr>
            </a:solidFill>
            <a:prstDash val="solid"/>
          </a:ln>
        </p:spPr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3340" y="4845617"/>
            <a:ext cx="228600" cy="228600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7165696" y="4731317"/>
            <a:ext cx="41847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Why It Matters To You</a:t>
            </a:r>
            <a:endParaRPr lang="en-US" sz="1450" dirty="0"/>
          </a:p>
        </p:txBody>
      </p:sp>
      <p:sp>
        <p:nvSpPr>
          <p:cNvPr id="28" name="Text 22"/>
          <p:cNvSpPr txBox="1"/>
          <p:nvPr/>
        </p:nvSpPr>
        <p:spPr>
          <a:xfrm>
            <a:off x="6507328" y="5334821"/>
            <a:ext cx="484312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This stage is the reason plain-English prompting works at all.</a:t>
            </a:r>
            <a:endParaRPr lang="en-US" sz="1200"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SLIDE 65 · STAGE 4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Learning from Human Feedback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Section 6 · Large Language Models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075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11057839" cy="877824"/>
          </a:xfrm>
          <a:prstGeom prst="roundRect">
            <a:avLst>
              <a:gd name="adj" fmla="val 8333"/>
            </a:avLst>
          </a:prstGeom>
          <a:solidFill>
            <a:srgbClr val="191640">
              <a:alpha val="96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6928" y="1627632"/>
            <a:ext cx="64008" cy="585216"/>
          </a:xfrm>
          <a:prstGeom prst="roundRect">
            <a:avLst>
              <a:gd name="adj" fmla="val 42857"/>
            </a:avLst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59536" y="1572768"/>
            <a:ext cx="10472623" cy="6949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DDD9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Human feedback is used to make responses more helpful, more honest and safer.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66928" y="2615184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22960" y="2816352"/>
            <a:ext cx="457200" cy="457200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2930652"/>
            <a:ext cx="228600" cy="22860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499616" y="2816352"/>
            <a:ext cx="41847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The General Idea</a:t>
            </a:r>
            <a:endParaRPr lang="en-US" sz="1450" dirty="0"/>
          </a:p>
        </p:txBody>
      </p:sp>
      <p:sp>
        <p:nvSpPr>
          <p:cNvPr id="13" name="Text 10"/>
          <p:cNvSpPr txBox="1"/>
          <p:nvPr/>
        </p:nvSpPr>
        <p:spPr>
          <a:xfrm>
            <a:off x="841248" y="3419856"/>
            <a:ext cx="484312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People compare different model answers and indicate which is better. That preference data is used to guide further training.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33008" y="2615184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489040" y="2816352"/>
            <a:ext cx="457200" cy="457200"/>
          </a:xfrm>
          <a:prstGeom prst="ellipse">
            <a:avLst/>
          </a:prstGeom>
          <a:solidFill>
            <a:srgbClr val="22D3EE">
              <a:alpha val="16000"/>
            </a:srgbClr>
          </a:solidFill>
          <a:ln w="12700">
            <a:solidFill>
              <a:srgbClr val="22D3EE">
                <a:alpha val="45000"/>
              </a:srgbClr>
            </a:solidFill>
            <a:prstDash val="solid"/>
          </a:ln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3340" y="2930652"/>
            <a:ext cx="228600" cy="22860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7165696" y="2816352"/>
            <a:ext cx="41847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What It Improves</a:t>
            </a:r>
            <a:endParaRPr lang="en-US" sz="1450" dirty="0"/>
          </a:p>
        </p:txBody>
      </p:sp>
      <p:sp>
        <p:nvSpPr>
          <p:cNvPr id="18" name="Text 14"/>
          <p:cNvSpPr txBox="1"/>
          <p:nvPr/>
        </p:nvSpPr>
        <p:spPr>
          <a:xfrm>
            <a:off x="6507328" y="3419856"/>
            <a:ext cx="484312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200"/>
              </a:spcAft>
              <a:buSzPct val="100000"/>
              <a:buChar char="▪"/>
            </a:pPr>
            <a:r>
              <a:rPr lang="en-US" sz="9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Following the request properly</a:t>
            </a:r>
            <a:endParaRPr lang="en-US" sz="900" dirty="0"/>
          </a:p>
          <a:p>
            <a:pPr marL="342900" indent="-342900">
              <a:lnSpc>
                <a:spcPct val="110000"/>
              </a:lnSpc>
              <a:spcAft>
                <a:spcPts val="200"/>
              </a:spcAft>
              <a:buSzPct val="100000"/>
              <a:buChar char="▪"/>
            </a:pPr>
            <a:r>
              <a:rPr lang="en-US" sz="9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Being clear and well structured</a:t>
            </a:r>
            <a:endParaRPr lang="en-US" sz="900" dirty="0"/>
          </a:p>
          <a:p>
            <a:pPr marL="342900" indent="-342900">
              <a:lnSpc>
                <a:spcPct val="110000"/>
              </a:lnSpc>
              <a:spcAft>
                <a:spcPts val="200"/>
              </a:spcAft>
              <a:buSzPct val="100000"/>
              <a:buChar char="▪"/>
            </a:pPr>
            <a:r>
              <a:rPr lang="en-US" sz="9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Refusing harmful requests</a:t>
            </a:r>
            <a:endParaRPr lang="en-US" sz="900" dirty="0"/>
          </a:p>
          <a:p>
            <a:pPr marL="342900" indent="-342900">
              <a:lnSpc>
                <a:spcPct val="110000"/>
              </a:lnSpc>
              <a:spcAft>
                <a:spcPts val="200"/>
              </a:spcAft>
              <a:buSzPct val="100000"/>
              <a:buChar char="▪"/>
            </a:pPr>
            <a:r>
              <a:rPr lang="en-US" sz="9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Admitting uncertainty</a:t>
            </a:r>
            <a:endParaRPr lang="en-US" sz="900" dirty="0"/>
          </a:p>
        </p:txBody>
      </p:sp>
      <p:sp>
        <p:nvSpPr>
          <p:cNvPr id="19" name="Shape 15"/>
          <p:cNvSpPr/>
          <p:nvPr/>
        </p:nvSpPr>
        <p:spPr>
          <a:xfrm>
            <a:off x="566928" y="4530149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822960" y="4731317"/>
            <a:ext cx="457200" cy="457200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260" y="4845617"/>
            <a:ext cx="228600" cy="22860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499616" y="4731317"/>
            <a:ext cx="41847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Common Name</a:t>
            </a:r>
            <a:endParaRPr lang="en-US" sz="1450" dirty="0"/>
          </a:p>
        </p:txBody>
      </p:sp>
      <p:sp>
        <p:nvSpPr>
          <p:cNvPr id="23" name="Text 18"/>
          <p:cNvSpPr txBox="1"/>
          <p:nvPr/>
        </p:nvSpPr>
        <p:spPr>
          <a:xfrm>
            <a:off x="841248" y="5334821"/>
            <a:ext cx="484312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Often called reinforcement learning from human feedback, or RLHF.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6233008" y="4530149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6489040" y="4731317"/>
            <a:ext cx="457200" cy="457200"/>
          </a:xfrm>
          <a:prstGeom prst="ellipse">
            <a:avLst/>
          </a:prstGeom>
          <a:solidFill>
            <a:srgbClr val="34D399">
              <a:alpha val="16000"/>
            </a:srgbClr>
          </a:solidFill>
          <a:ln w="12700">
            <a:solidFill>
              <a:srgbClr val="34D399">
                <a:alpha val="45000"/>
              </a:srgbClr>
            </a:solidFill>
            <a:prstDash val="solid"/>
          </a:ln>
        </p:spPr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3340" y="4845617"/>
            <a:ext cx="228600" cy="228600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7165696" y="4731317"/>
            <a:ext cx="41847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Limitation</a:t>
            </a:r>
            <a:endParaRPr lang="en-US" sz="1450" dirty="0"/>
          </a:p>
        </p:txBody>
      </p:sp>
      <p:sp>
        <p:nvSpPr>
          <p:cNvPr id="28" name="Text 22"/>
          <p:cNvSpPr txBox="1"/>
          <p:nvPr/>
        </p:nvSpPr>
        <p:spPr>
          <a:xfrm>
            <a:off x="6507328" y="5334821"/>
            <a:ext cx="484312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Human judgement varies, so this stage can also pass human preferences and biases into the model.</a:t>
            </a:r>
            <a:endParaRPr lang="en-US" sz="1200"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SLIDE 66 · WORKING MEMORY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LLM Context Window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Section 6 · Large Language Models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076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11057839" cy="877824"/>
          </a:xfrm>
          <a:prstGeom prst="roundRect">
            <a:avLst>
              <a:gd name="adj" fmla="val 8333"/>
            </a:avLst>
          </a:prstGeom>
          <a:solidFill>
            <a:srgbClr val="191640">
              <a:alpha val="96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6928" y="1627632"/>
            <a:ext cx="64008" cy="585216"/>
          </a:xfrm>
          <a:prstGeom prst="roundRect">
            <a:avLst>
              <a:gd name="adj" fmla="val 42857"/>
            </a:avLst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59536" y="1572768"/>
            <a:ext cx="10472623" cy="6949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DDD9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context window is the total amount of text the model can consider for one request.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66928" y="2615184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22960" y="2816352"/>
            <a:ext cx="457200" cy="457200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2930652"/>
            <a:ext cx="228600" cy="22860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499616" y="2816352"/>
            <a:ext cx="41847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What Fills It</a:t>
            </a:r>
            <a:endParaRPr lang="en-US" sz="1450" dirty="0"/>
          </a:p>
        </p:txBody>
      </p:sp>
      <p:sp>
        <p:nvSpPr>
          <p:cNvPr id="13" name="Text 10"/>
          <p:cNvSpPr txBox="1"/>
          <p:nvPr/>
        </p:nvSpPr>
        <p:spPr>
          <a:xfrm>
            <a:off x="841248" y="3419856"/>
            <a:ext cx="484312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200"/>
              </a:spcAft>
              <a:buSzPct val="100000"/>
              <a:buChar char="▪"/>
            </a:pPr>
            <a:r>
              <a:rPr lang="en-US" sz="9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System instructions</a:t>
            </a:r>
            <a:endParaRPr lang="en-US" sz="900" dirty="0"/>
          </a:p>
          <a:p>
            <a:pPr marL="342900" indent="-342900">
              <a:lnSpc>
                <a:spcPct val="110000"/>
              </a:lnSpc>
              <a:spcAft>
                <a:spcPts val="200"/>
              </a:spcAft>
              <a:buSzPct val="100000"/>
              <a:buChar char="▪"/>
            </a:pPr>
            <a:r>
              <a:rPr lang="en-US" sz="9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Earlier chat messages</a:t>
            </a:r>
            <a:endParaRPr lang="en-US" sz="900" dirty="0"/>
          </a:p>
          <a:p>
            <a:pPr marL="342900" indent="-342900">
              <a:lnSpc>
                <a:spcPct val="110000"/>
              </a:lnSpc>
              <a:spcAft>
                <a:spcPts val="200"/>
              </a:spcAft>
              <a:buSzPct val="100000"/>
              <a:buChar char="▪"/>
            </a:pPr>
            <a:r>
              <a:rPr lang="en-US" sz="9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Documents you paste</a:t>
            </a:r>
            <a:endParaRPr lang="en-US" sz="900" dirty="0"/>
          </a:p>
          <a:p>
            <a:pPr marL="342900" indent="-342900">
              <a:lnSpc>
                <a:spcPct val="110000"/>
              </a:lnSpc>
              <a:spcAft>
                <a:spcPts val="200"/>
              </a:spcAft>
              <a:buSzPct val="100000"/>
              <a:buChar char="▪"/>
            </a:pPr>
            <a:r>
              <a:rPr lang="en-US" sz="9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answer being generated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6233008" y="2615184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489040" y="2816352"/>
            <a:ext cx="457200" cy="457200"/>
          </a:xfrm>
          <a:prstGeom prst="ellipse">
            <a:avLst/>
          </a:prstGeom>
          <a:solidFill>
            <a:srgbClr val="22D3EE">
              <a:alpha val="16000"/>
            </a:srgbClr>
          </a:solidFill>
          <a:ln w="12700">
            <a:solidFill>
              <a:srgbClr val="22D3EE">
                <a:alpha val="45000"/>
              </a:srgbClr>
            </a:solidFill>
            <a:prstDash val="solid"/>
          </a:ln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3340" y="2930652"/>
            <a:ext cx="228600" cy="22860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7165696" y="2816352"/>
            <a:ext cx="41847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Sizes Vary</a:t>
            </a:r>
            <a:endParaRPr lang="en-US" sz="1450" dirty="0"/>
          </a:p>
        </p:txBody>
      </p:sp>
      <p:sp>
        <p:nvSpPr>
          <p:cNvPr id="18" name="Text 14"/>
          <p:cNvSpPr txBox="1"/>
          <p:nvPr/>
        </p:nvSpPr>
        <p:spPr>
          <a:xfrm>
            <a:off x="6507328" y="3419856"/>
            <a:ext cx="484312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Some models handle a few thousand tokens, others hundreds of thousands. Larger windows usually cost more per request.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566928" y="4530149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822960" y="4731317"/>
            <a:ext cx="457200" cy="457200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260" y="4845617"/>
            <a:ext cx="228600" cy="22860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499616" y="4731317"/>
            <a:ext cx="41847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Bigger Is Not Automatically Better</a:t>
            </a:r>
            <a:endParaRPr lang="en-US" sz="1450" dirty="0"/>
          </a:p>
        </p:txBody>
      </p:sp>
      <p:sp>
        <p:nvSpPr>
          <p:cNvPr id="23" name="Text 18"/>
          <p:cNvSpPr txBox="1"/>
          <p:nvPr/>
        </p:nvSpPr>
        <p:spPr>
          <a:xfrm>
            <a:off x="841248" y="5334821"/>
            <a:ext cx="484312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Models can pay less attention to material buried in the middle of a very long context.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6233008" y="4530149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6489040" y="4731317"/>
            <a:ext cx="457200" cy="457200"/>
          </a:xfrm>
          <a:prstGeom prst="ellipse">
            <a:avLst/>
          </a:prstGeom>
          <a:solidFill>
            <a:srgbClr val="34D399">
              <a:alpha val="16000"/>
            </a:srgbClr>
          </a:solidFill>
          <a:ln w="12700">
            <a:solidFill>
              <a:srgbClr val="34D399">
                <a:alpha val="45000"/>
              </a:srgbClr>
            </a:solidFill>
            <a:prstDash val="solid"/>
          </a:ln>
        </p:spPr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3340" y="4845617"/>
            <a:ext cx="228600" cy="228600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7165696" y="4731317"/>
            <a:ext cx="41847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Practical Advice</a:t>
            </a:r>
            <a:endParaRPr lang="en-US" sz="1450" dirty="0"/>
          </a:p>
        </p:txBody>
      </p:sp>
      <p:sp>
        <p:nvSpPr>
          <p:cNvPr id="28" name="Text 22"/>
          <p:cNvSpPr txBox="1"/>
          <p:nvPr/>
        </p:nvSpPr>
        <p:spPr>
          <a:xfrm>
            <a:off x="6507328" y="5334821"/>
            <a:ext cx="484312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Put the most important instructions near the start or the end, and remove text that is not needed.</a:t>
            </a:r>
            <a:endParaRPr lang="en-US" sz="1200" dirty="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SLIDE 67 · STRENGTHS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What LLMs Do Well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Section 6 · Large Language Models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077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3503066" cy="2240280"/>
          </a:xfrm>
          <a:prstGeom prst="roundRect">
            <a:avLst>
              <a:gd name="adj" fmla="val 3265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1737360"/>
            <a:ext cx="566928" cy="566928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4692" y="1879092"/>
            <a:ext cx="283464" cy="283464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609344" y="1737360"/>
            <a:ext cx="218633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Summarising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841248" y="2505456"/>
            <a:ext cx="2954426" cy="10332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Turning long text into short, clear points.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344314" y="1481328"/>
            <a:ext cx="3503066" cy="2240280"/>
          </a:xfrm>
          <a:prstGeom prst="roundRect">
            <a:avLst>
              <a:gd name="adj" fmla="val 3265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600346" y="1737360"/>
            <a:ext cx="566928" cy="566928"/>
          </a:xfrm>
          <a:prstGeom prst="ellipse">
            <a:avLst/>
          </a:prstGeom>
          <a:solidFill>
            <a:srgbClr val="22D3EE">
              <a:alpha val="16000"/>
            </a:srgbClr>
          </a:solidFill>
          <a:ln w="12700">
            <a:solidFill>
              <a:srgbClr val="22D3EE">
                <a:alpha val="45000"/>
              </a:srgbClr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2078" y="1879092"/>
            <a:ext cx="283464" cy="283464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5386730" y="1737360"/>
            <a:ext cx="218633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Drafting</a:t>
            </a:r>
            <a:endParaRPr lang="en-US" sz="1600" dirty="0"/>
          </a:p>
        </p:txBody>
      </p:sp>
      <p:sp>
        <p:nvSpPr>
          <p:cNvPr id="15" name="Text 11"/>
          <p:cNvSpPr txBox="1"/>
          <p:nvPr/>
        </p:nvSpPr>
        <p:spPr>
          <a:xfrm>
            <a:off x="4618634" y="2505456"/>
            <a:ext cx="2954426" cy="10332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Producing a first version of an email, report or article quickly.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8121701" y="1481328"/>
            <a:ext cx="3503066" cy="2240280"/>
          </a:xfrm>
          <a:prstGeom prst="roundRect">
            <a:avLst>
              <a:gd name="adj" fmla="val 3265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377733" y="1737360"/>
            <a:ext cx="566928" cy="566928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9465" y="1879092"/>
            <a:ext cx="283464" cy="283464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9164117" y="1737360"/>
            <a:ext cx="218633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Translating</a:t>
            </a:r>
            <a:endParaRPr lang="en-US" sz="1600" dirty="0"/>
          </a:p>
        </p:txBody>
      </p:sp>
      <p:sp>
        <p:nvSpPr>
          <p:cNvPr id="20" name="Text 15"/>
          <p:cNvSpPr txBox="1"/>
          <p:nvPr/>
        </p:nvSpPr>
        <p:spPr>
          <a:xfrm>
            <a:off x="8396021" y="2505456"/>
            <a:ext cx="2954426" cy="10332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Converting between languages with reasonable quality.</a:t>
            </a:r>
            <a:endParaRPr lang="en-US" sz="1300" dirty="0"/>
          </a:p>
        </p:txBody>
      </p:sp>
      <p:sp>
        <p:nvSpPr>
          <p:cNvPr id="21" name="Shape 16"/>
          <p:cNvSpPr/>
          <p:nvPr/>
        </p:nvSpPr>
        <p:spPr>
          <a:xfrm>
            <a:off x="566928" y="3995928"/>
            <a:ext cx="3503066" cy="2240280"/>
          </a:xfrm>
          <a:prstGeom prst="roundRect">
            <a:avLst>
              <a:gd name="adj" fmla="val 3265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822960" y="4251960"/>
            <a:ext cx="566928" cy="566928"/>
          </a:xfrm>
          <a:prstGeom prst="ellipse">
            <a:avLst/>
          </a:prstGeom>
          <a:solidFill>
            <a:srgbClr val="34D399">
              <a:alpha val="16000"/>
            </a:srgbClr>
          </a:solidFill>
          <a:ln w="12700">
            <a:solidFill>
              <a:srgbClr val="34D399">
                <a:alpha val="45000"/>
              </a:srgbClr>
            </a:solidFill>
            <a:prstDash val="solid"/>
          </a:ln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4692" y="4393692"/>
            <a:ext cx="283464" cy="283464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1609344" y="4251960"/>
            <a:ext cx="218633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Explaining</a:t>
            </a:r>
            <a:endParaRPr lang="en-US" sz="1600" dirty="0"/>
          </a:p>
        </p:txBody>
      </p:sp>
      <p:sp>
        <p:nvSpPr>
          <p:cNvPr id="25" name="Text 19"/>
          <p:cNvSpPr txBox="1"/>
          <p:nvPr/>
        </p:nvSpPr>
        <p:spPr>
          <a:xfrm>
            <a:off x="841248" y="5020056"/>
            <a:ext cx="2954426" cy="10332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Re-explaining a difficult topic at a simpler level.</a:t>
            </a:r>
            <a:endParaRPr lang="en-US" sz="1300" dirty="0"/>
          </a:p>
        </p:txBody>
      </p:sp>
      <p:sp>
        <p:nvSpPr>
          <p:cNvPr id="26" name="Shape 20"/>
          <p:cNvSpPr/>
          <p:nvPr/>
        </p:nvSpPr>
        <p:spPr>
          <a:xfrm>
            <a:off x="4344314" y="3995928"/>
            <a:ext cx="3503066" cy="2240280"/>
          </a:xfrm>
          <a:prstGeom prst="roundRect">
            <a:avLst>
              <a:gd name="adj" fmla="val 3265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4600346" y="4251960"/>
            <a:ext cx="566928" cy="566928"/>
          </a:xfrm>
          <a:prstGeom prst="ellipse">
            <a:avLst/>
          </a:prstGeom>
          <a:solidFill>
            <a:srgbClr val="F472B6">
              <a:alpha val="16000"/>
            </a:srgbClr>
          </a:solidFill>
          <a:ln w="12700">
            <a:solidFill>
              <a:srgbClr val="F472B6">
                <a:alpha val="45000"/>
              </a:srgbClr>
            </a:solidFill>
            <a:prstDash val="solid"/>
          </a:ln>
        </p:spPr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42078" y="4393692"/>
            <a:ext cx="283464" cy="283464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5386730" y="4251960"/>
            <a:ext cx="218633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Coding help</a:t>
            </a:r>
            <a:endParaRPr lang="en-US" sz="1600" dirty="0"/>
          </a:p>
        </p:txBody>
      </p:sp>
      <p:sp>
        <p:nvSpPr>
          <p:cNvPr id="30" name="Text 23"/>
          <p:cNvSpPr txBox="1"/>
          <p:nvPr/>
        </p:nvSpPr>
        <p:spPr>
          <a:xfrm>
            <a:off x="4618634" y="5020056"/>
            <a:ext cx="2954426" cy="10332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Writing small functions, explaining errors and adding comments.</a:t>
            </a:r>
            <a:endParaRPr lang="en-US" sz="1300" dirty="0"/>
          </a:p>
        </p:txBody>
      </p:sp>
      <p:sp>
        <p:nvSpPr>
          <p:cNvPr id="31" name="Shape 24"/>
          <p:cNvSpPr/>
          <p:nvPr/>
        </p:nvSpPr>
        <p:spPr>
          <a:xfrm>
            <a:off x="8121701" y="3995928"/>
            <a:ext cx="3503066" cy="2240280"/>
          </a:xfrm>
          <a:prstGeom prst="roundRect">
            <a:avLst>
              <a:gd name="adj" fmla="val 3265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8377733" y="4251960"/>
            <a:ext cx="566928" cy="566928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33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19465" y="4393692"/>
            <a:ext cx="283464" cy="283464"/>
          </a:xfrm>
          <a:prstGeom prst="rect">
            <a:avLst/>
          </a:prstGeom>
        </p:spPr>
      </p:pic>
      <p:sp>
        <p:nvSpPr>
          <p:cNvPr id="34" name="Text 26"/>
          <p:cNvSpPr txBox="1"/>
          <p:nvPr/>
        </p:nvSpPr>
        <p:spPr>
          <a:xfrm>
            <a:off x="9164117" y="4251960"/>
            <a:ext cx="218633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Reformatting</a:t>
            </a:r>
            <a:endParaRPr lang="en-US" sz="1600" dirty="0"/>
          </a:p>
        </p:txBody>
      </p:sp>
      <p:sp>
        <p:nvSpPr>
          <p:cNvPr id="35" name="Text 27"/>
          <p:cNvSpPr txBox="1"/>
          <p:nvPr/>
        </p:nvSpPr>
        <p:spPr>
          <a:xfrm>
            <a:off x="8396021" y="5020056"/>
            <a:ext cx="2954426" cy="10332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Turning messy notes into tables, lists or structured data.</a:t>
            </a:r>
            <a:endParaRPr lang="en-US" sz="1300" dirty="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SLIDE 68 · LIMITATIONS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What LLMs Do Badly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Section 6 · Large Language Models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078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3503066" cy="2240280"/>
          </a:xfrm>
          <a:prstGeom prst="roundRect">
            <a:avLst>
              <a:gd name="adj" fmla="val 3265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1737360"/>
            <a:ext cx="566928" cy="566928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4692" y="1879092"/>
            <a:ext cx="283464" cy="283464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609344" y="1737360"/>
            <a:ext cx="218633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Confident mistakes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841248" y="2505456"/>
            <a:ext cx="2954426" cy="10332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They can state wrong facts in a very convincing tone. This is called hallucination.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344314" y="1481328"/>
            <a:ext cx="3503066" cy="2240280"/>
          </a:xfrm>
          <a:prstGeom prst="roundRect">
            <a:avLst>
              <a:gd name="adj" fmla="val 3265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600346" y="1737360"/>
            <a:ext cx="566928" cy="566928"/>
          </a:xfrm>
          <a:prstGeom prst="ellipse">
            <a:avLst/>
          </a:prstGeom>
          <a:solidFill>
            <a:srgbClr val="22D3EE">
              <a:alpha val="16000"/>
            </a:srgbClr>
          </a:solidFill>
          <a:ln w="12700">
            <a:solidFill>
              <a:srgbClr val="22D3EE">
                <a:alpha val="45000"/>
              </a:srgbClr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2078" y="1879092"/>
            <a:ext cx="283464" cy="283464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5386730" y="1737360"/>
            <a:ext cx="218633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Knowledge cut-off</a:t>
            </a:r>
            <a:endParaRPr lang="en-US" sz="1600" dirty="0"/>
          </a:p>
        </p:txBody>
      </p:sp>
      <p:sp>
        <p:nvSpPr>
          <p:cNvPr id="15" name="Text 11"/>
          <p:cNvSpPr txBox="1"/>
          <p:nvPr/>
        </p:nvSpPr>
        <p:spPr>
          <a:xfrm>
            <a:off x="4618634" y="2505456"/>
            <a:ext cx="2954426" cy="10332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They do not know events after their training data unless given search or documents.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8121701" y="1481328"/>
            <a:ext cx="3503066" cy="2240280"/>
          </a:xfrm>
          <a:prstGeom prst="roundRect">
            <a:avLst>
              <a:gd name="adj" fmla="val 3265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377733" y="1737360"/>
            <a:ext cx="566928" cy="566928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9465" y="1879092"/>
            <a:ext cx="283464" cy="283464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9164117" y="1737360"/>
            <a:ext cx="218633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Exact maths and counting</a:t>
            </a:r>
            <a:endParaRPr lang="en-US" sz="1600" dirty="0"/>
          </a:p>
        </p:txBody>
      </p:sp>
      <p:sp>
        <p:nvSpPr>
          <p:cNvPr id="20" name="Text 15"/>
          <p:cNvSpPr txBox="1"/>
          <p:nvPr/>
        </p:nvSpPr>
        <p:spPr>
          <a:xfrm>
            <a:off x="8396021" y="2505456"/>
            <a:ext cx="2954426" cy="10332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Arithmetic and counting can fail, because text prediction is not calculation.</a:t>
            </a:r>
            <a:endParaRPr lang="en-US" sz="1300" dirty="0"/>
          </a:p>
        </p:txBody>
      </p:sp>
      <p:sp>
        <p:nvSpPr>
          <p:cNvPr id="21" name="Shape 16"/>
          <p:cNvSpPr/>
          <p:nvPr/>
        </p:nvSpPr>
        <p:spPr>
          <a:xfrm>
            <a:off x="566928" y="3995928"/>
            <a:ext cx="3503066" cy="2240280"/>
          </a:xfrm>
          <a:prstGeom prst="roundRect">
            <a:avLst>
              <a:gd name="adj" fmla="val 3265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822960" y="4251960"/>
            <a:ext cx="566928" cy="566928"/>
          </a:xfrm>
          <a:prstGeom prst="ellipse">
            <a:avLst/>
          </a:prstGeom>
          <a:solidFill>
            <a:srgbClr val="34D399">
              <a:alpha val="16000"/>
            </a:srgbClr>
          </a:solidFill>
          <a:ln w="12700">
            <a:solidFill>
              <a:srgbClr val="34D399">
                <a:alpha val="45000"/>
              </a:srgbClr>
            </a:solidFill>
            <a:prstDash val="solid"/>
          </a:ln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4692" y="4393692"/>
            <a:ext cx="283464" cy="283464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1609344" y="4251960"/>
            <a:ext cx="218633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Bias</a:t>
            </a:r>
            <a:endParaRPr lang="en-US" sz="1600" dirty="0"/>
          </a:p>
        </p:txBody>
      </p:sp>
      <p:sp>
        <p:nvSpPr>
          <p:cNvPr id="25" name="Text 19"/>
          <p:cNvSpPr txBox="1"/>
          <p:nvPr/>
        </p:nvSpPr>
        <p:spPr>
          <a:xfrm>
            <a:off x="841248" y="5020056"/>
            <a:ext cx="2954426" cy="10332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Patterns in the training data, including unfair ones, can appear in the output.</a:t>
            </a:r>
            <a:endParaRPr lang="en-US" sz="1300" dirty="0"/>
          </a:p>
        </p:txBody>
      </p:sp>
      <p:sp>
        <p:nvSpPr>
          <p:cNvPr id="26" name="Shape 20"/>
          <p:cNvSpPr/>
          <p:nvPr/>
        </p:nvSpPr>
        <p:spPr>
          <a:xfrm>
            <a:off x="4344314" y="3995928"/>
            <a:ext cx="3503066" cy="2240280"/>
          </a:xfrm>
          <a:prstGeom prst="roundRect">
            <a:avLst>
              <a:gd name="adj" fmla="val 3265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4600346" y="4251960"/>
            <a:ext cx="566928" cy="566928"/>
          </a:xfrm>
          <a:prstGeom prst="ellipse">
            <a:avLst/>
          </a:prstGeom>
          <a:solidFill>
            <a:srgbClr val="F472B6">
              <a:alpha val="16000"/>
            </a:srgbClr>
          </a:solidFill>
          <a:ln w="12700">
            <a:solidFill>
              <a:srgbClr val="F472B6">
                <a:alpha val="45000"/>
              </a:srgbClr>
            </a:solidFill>
            <a:prstDash val="solid"/>
          </a:ln>
        </p:spPr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42078" y="4393692"/>
            <a:ext cx="283464" cy="283464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5386730" y="4251960"/>
            <a:ext cx="218633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Deep multi-step reasoning</a:t>
            </a:r>
            <a:endParaRPr lang="en-US" sz="1600" dirty="0"/>
          </a:p>
        </p:txBody>
      </p:sp>
      <p:sp>
        <p:nvSpPr>
          <p:cNvPr id="30" name="Text 23"/>
          <p:cNvSpPr txBox="1"/>
          <p:nvPr/>
        </p:nvSpPr>
        <p:spPr>
          <a:xfrm>
            <a:off x="4618634" y="5020056"/>
            <a:ext cx="2954426" cy="10332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Long chains of logic can drift, especially on unusual problems.</a:t>
            </a:r>
            <a:endParaRPr lang="en-US" sz="1300" dirty="0"/>
          </a:p>
        </p:txBody>
      </p:sp>
      <p:sp>
        <p:nvSpPr>
          <p:cNvPr id="31" name="Shape 24"/>
          <p:cNvSpPr/>
          <p:nvPr/>
        </p:nvSpPr>
        <p:spPr>
          <a:xfrm>
            <a:off x="8121701" y="3995928"/>
            <a:ext cx="3503066" cy="2240280"/>
          </a:xfrm>
          <a:prstGeom prst="roundRect">
            <a:avLst>
              <a:gd name="adj" fmla="val 3265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8377733" y="4251960"/>
            <a:ext cx="566928" cy="566928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33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19465" y="4393692"/>
            <a:ext cx="283464" cy="283464"/>
          </a:xfrm>
          <a:prstGeom prst="rect">
            <a:avLst/>
          </a:prstGeom>
        </p:spPr>
      </p:pic>
      <p:sp>
        <p:nvSpPr>
          <p:cNvPr id="34" name="Text 26"/>
          <p:cNvSpPr txBox="1"/>
          <p:nvPr/>
        </p:nvSpPr>
        <p:spPr>
          <a:xfrm>
            <a:off x="9164117" y="4251960"/>
            <a:ext cx="218633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Privacy</a:t>
            </a:r>
            <a:endParaRPr lang="en-US" sz="1600" dirty="0"/>
          </a:p>
        </p:txBody>
      </p:sp>
      <p:sp>
        <p:nvSpPr>
          <p:cNvPr id="35" name="Text 27"/>
          <p:cNvSpPr txBox="1"/>
          <p:nvPr/>
        </p:nvSpPr>
        <p:spPr>
          <a:xfrm>
            <a:off x="8396021" y="5020056"/>
            <a:ext cx="2954426" cy="10332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Anything you paste may be processed outside your organisation. Check the policy before sharing private data.</a:t>
            </a:r>
            <a:endParaRPr lang="en-US" sz="1300" dirty="0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SLIDE 69 · CATEGORIES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Popular Categories of LLM Applications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Section 6 · Large Language Models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079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11057839" cy="877824"/>
          </a:xfrm>
          <a:prstGeom prst="roundRect">
            <a:avLst>
              <a:gd name="adj" fmla="val 8333"/>
            </a:avLst>
          </a:prstGeom>
          <a:solidFill>
            <a:srgbClr val="191640">
              <a:alpha val="96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6928" y="1627632"/>
            <a:ext cx="64008" cy="585216"/>
          </a:xfrm>
          <a:prstGeom prst="roundRect">
            <a:avLst>
              <a:gd name="adj" fmla="val 42857"/>
            </a:avLst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59536" y="1572768"/>
            <a:ext cx="10472623" cy="6949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DDD9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Rather than naming a "best" model, it is more useful to know the categories of application.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66928" y="2615184"/>
            <a:ext cx="3503066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22960" y="2816352"/>
            <a:ext cx="457200" cy="457200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2930652"/>
            <a:ext cx="228600" cy="22860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499616" y="2816352"/>
            <a:ext cx="229605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Chat assistants</a:t>
            </a:r>
            <a:endParaRPr lang="en-US" sz="1450" dirty="0"/>
          </a:p>
        </p:txBody>
      </p:sp>
      <p:sp>
        <p:nvSpPr>
          <p:cNvPr id="13" name="Text 10"/>
          <p:cNvSpPr txBox="1"/>
          <p:nvPr/>
        </p:nvSpPr>
        <p:spPr>
          <a:xfrm>
            <a:off x="841248" y="3419856"/>
            <a:ext cx="2954426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General question answering and conversation.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344314" y="2615184"/>
            <a:ext cx="3503066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600346" y="2816352"/>
            <a:ext cx="457200" cy="457200"/>
          </a:xfrm>
          <a:prstGeom prst="ellipse">
            <a:avLst/>
          </a:prstGeom>
          <a:solidFill>
            <a:srgbClr val="22D3EE">
              <a:alpha val="16000"/>
            </a:srgbClr>
          </a:solidFill>
          <a:ln w="12700">
            <a:solidFill>
              <a:srgbClr val="22D3EE">
                <a:alpha val="45000"/>
              </a:srgbClr>
            </a:solidFill>
            <a:prstDash val="solid"/>
          </a:ln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4646" y="2930652"/>
            <a:ext cx="228600" cy="22860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5277002" y="2816352"/>
            <a:ext cx="229605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Coding assistants</a:t>
            </a:r>
            <a:endParaRPr lang="en-US" sz="1450" dirty="0"/>
          </a:p>
        </p:txBody>
      </p:sp>
      <p:sp>
        <p:nvSpPr>
          <p:cNvPr id="18" name="Text 14"/>
          <p:cNvSpPr txBox="1"/>
          <p:nvPr/>
        </p:nvSpPr>
        <p:spPr>
          <a:xfrm>
            <a:off x="4618634" y="3419856"/>
            <a:ext cx="2954426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Integrated into editors to suggest and explain code.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8121701" y="2615184"/>
            <a:ext cx="3503066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8377733" y="2816352"/>
            <a:ext cx="457200" cy="457200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2033" y="2930652"/>
            <a:ext cx="228600" cy="22860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9054389" y="2816352"/>
            <a:ext cx="229605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Search and knowledge tools</a:t>
            </a:r>
            <a:endParaRPr lang="en-US" sz="1450" dirty="0"/>
          </a:p>
        </p:txBody>
      </p:sp>
      <p:sp>
        <p:nvSpPr>
          <p:cNvPr id="23" name="Text 18"/>
          <p:cNvSpPr txBox="1"/>
          <p:nvPr/>
        </p:nvSpPr>
        <p:spPr>
          <a:xfrm>
            <a:off x="8396021" y="3419856"/>
            <a:ext cx="2954426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Answer questions using a specific set of documents.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566928" y="4530149"/>
            <a:ext cx="3503066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822960" y="4731317"/>
            <a:ext cx="457200" cy="457200"/>
          </a:xfrm>
          <a:prstGeom prst="ellipse">
            <a:avLst/>
          </a:prstGeom>
          <a:solidFill>
            <a:srgbClr val="34D399">
              <a:alpha val="16000"/>
            </a:srgbClr>
          </a:solidFill>
          <a:ln w="12700">
            <a:solidFill>
              <a:srgbClr val="34D399">
                <a:alpha val="45000"/>
              </a:srgbClr>
            </a:solidFill>
            <a:prstDash val="solid"/>
          </a:ln>
        </p:spPr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7260" y="4845617"/>
            <a:ext cx="228600" cy="228600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1499616" y="4731317"/>
            <a:ext cx="229605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Writing tools</a:t>
            </a:r>
            <a:endParaRPr lang="en-US" sz="1450" dirty="0"/>
          </a:p>
        </p:txBody>
      </p:sp>
      <p:sp>
        <p:nvSpPr>
          <p:cNvPr id="28" name="Text 22"/>
          <p:cNvSpPr txBox="1"/>
          <p:nvPr/>
        </p:nvSpPr>
        <p:spPr>
          <a:xfrm>
            <a:off x="841248" y="5334821"/>
            <a:ext cx="2954426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Drafting, editing and adjusting tone inside document apps.</a:t>
            </a:r>
            <a:endParaRPr lang="en-US" sz="1200" dirty="0"/>
          </a:p>
        </p:txBody>
      </p:sp>
      <p:sp>
        <p:nvSpPr>
          <p:cNvPr id="29" name="Shape 23"/>
          <p:cNvSpPr/>
          <p:nvPr/>
        </p:nvSpPr>
        <p:spPr>
          <a:xfrm>
            <a:off x="4344314" y="4530149"/>
            <a:ext cx="3503066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4600346" y="4731317"/>
            <a:ext cx="457200" cy="457200"/>
          </a:xfrm>
          <a:prstGeom prst="ellipse">
            <a:avLst/>
          </a:prstGeom>
          <a:solidFill>
            <a:srgbClr val="F472B6">
              <a:alpha val="16000"/>
            </a:srgbClr>
          </a:solidFill>
          <a:ln w="12700">
            <a:solidFill>
              <a:srgbClr val="F472B6">
                <a:alpha val="45000"/>
              </a:srgbClr>
            </a:solidFill>
            <a:prstDash val="solid"/>
          </a:ln>
        </p:spPr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14646" y="4845617"/>
            <a:ext cx="228600" cy="228600"/>
          </a:xfrm>
          <a:prstGeom prst="rect">
            <a:avLst/>
          </a:prstGeom>
        </p:spPr>
      </p:pic>
      <p:sp>
        <p:nvSpPr>
          <p:cNvPr id="32" name="Text 25"/>
          <p:cNvSpPr txBox="1"/>
          <p:nvPr/>
        </p:nvSpPr>
        <p:spPr>
          <a:xfrm>
            <a:off x="5277002" y="4731317"/>
            <a:ext cx="229605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Agent platforms</a:t>
            </a:r>
            <a:endParaRPr lang="en-US" sz="1450" dirty="0"/>
          </a:p>
        </p:txBody>
      </p:sp>
      <p:sp>
        <p:nvSpPr>
          <p:cNvPr id="33" name="Text 26"/>
          <p:cNvSpPr txBox="1"/>
          <p:nvPr/>
        </p:nvSpPr>
        <p:spPr>
          <a:xfrm>
            <a:off x="4618634" y="5334821"/>
            <a:ext cx="2954426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Systems where the model uses tools to complete multi-step tasks.</a:t>
            </a:r>
            <a:endParaRPr lang="en-US" sz="1200" dirty="0"/>
          </a:p>
        </p:txBody>
      </p:sp>
      <p:sp>
        <p:nvSpPr>
          <p:cNvPr id="34" name="Shape 27"/>
          <p:cNvSpPr/>
          <p:nvPr/>
        </p:nvSpPr>
        <p:spPr>
          <a:xfrm>
            <a:off x="8121701" y="4530149"/>
            <a:ext cx="3503066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35" name="Shape 28"/>
          <p:cNvSpPr/>
          <p:nvPr/>
        </p:nvSpPr>
        <p:spPr>
          <a:xfrm>
            <a:off x="8377733" y="4731317"/>
            <a:ext cx="457200" cy="457200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36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92033" y="4845617"/>
            <a:ext cx="228600" cy="228600"/>
          </a:xfrm>
          <a:prstGeom prst="rect">
            <a:avLst/>
          </a:prstGeom>
        </p:spPr>
      </p:pic>
      <p:sp>
        <p:nvSpPr>
          <p:cNvPr id="37" name="Text 29"/>
          <p:cNvSpPr txBox="1"/>
          <p:nvPr/>
        </p:nvSpPr>
        <p:spPr>
          <a:xfrm>
            <a:off x="9054389" y="4731317"/>
            <a:ext cx="229605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Embedded features</a:t>
            </a:r>
            <a:endParaRPr lang="en-US" sz="1450" dirty="0"/>
          </a:p>
        </p:txBody>
      </p:sp>
      <p:sp>
        <p:nvSpPr>
          <p:cNvPr id="38" name="Text 30"/>
          <p:cNvSpPr txBox="1"/>
          <p:nvPr/>
        </p:nvSpPr>
        <p:spPr>
          <a:xfrm>
            <a:off x="8396021" y="5334821"/>
            <a:ext cx="2954426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 features inside existing products such as email, spreadsheets and support desks.</a:t>
            </a:r>
            <a:endParaRPr lang="en-US" sz="1200" dirty="0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SLIDE 70 · PRACTICAL USES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LLM Use Cases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Section 6 · Large Language Models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080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11057839" cy="670560"/>
          </a:xfrm>
          <a:prstGeom prst="roundRect">
            <a:avLst>
              <a:gd name="adj" fmla="val 10909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04672" y="1600200"/>
            <a:ext cx="432816" cy="432816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2876" y="1708404"/>
            <a:ext cx="216408" cy="216408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475232" y="1591056"/>
            <a:ext cx="9875215" cy="4511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For students</a:t>
            </a:r>
            <a:endParaRPr lang="en-US" sz="13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Explain a concept simply, create practice questions, check an essay draft for clarity.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566928" y="2298192"/>
            <a:ext cx="11057839" cy="670560"/>
          </a:xfrm>
          <a:prstGeom prst="roundRect">
            <a:avLst>
              <a:gd name="adj" fmla="val 10909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804672" y="2417064"/>
            <a:ext cx="432816" cy="432816"/>
          </a:xfrm>
          <a:prstGeom prst="ellipse">
            <a:avLst/>
          </a:prstGeom>
          <a:solidFill>
            <a:srgbClr val="22D3EE">
              <a:alpha val="16000"/>
            </a:srgbClr>
          </a:solidFill>
          <a:ln w="12700">
            <a:solidFill>
              <a:srgbClr val="22D3EE">
                <a:alpha val="45000"/>
              </a:srgbClr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876" y="2525268"/>
            <a:ext cx="216408" cy="216408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475232" y="2407920"/>
            <a:ext cx="9875215" cy="4511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For teachers</a:t>
            </a:r>
            <a:endParaRPr lang="en-US" sz="13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Prepare lesson outlines, question banks and simplified explanations for different levels.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566928" y="3115056"/>
            <a:ext cx="11057839" cy="670560"/>
          </a:xfrm>
          <a:prstGeom prst="roundRect">
            <a:avLst>
              <a:gd name="adj" fmla="val 10909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04672" y="3233928"/>
            <a:ext cx="432816" cy="432816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2876" y="3342132"/>
            <a:ext cx="216408" cy="216408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475232" y="3224784"/>
            <a:ext cx="9875215" cy="4511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For developers</a:t>
            </a:r>
            <a:endParaRPr lang="en-US" sz="13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Explain an error message, write a small function, generate documentation and tests.</a:t>
            </a:r>
            <a:endParaRPr lang="en-US" sz="1350" dirty="0"/>
          </a:p>
        </p:txBody>
      </p:sp>
      <p:sp>
        <p:nvSpPr>
          <p:cNvPr id="18" name="Shape 13"/>
          <p:cNvSpPr/>
          <p:nvPr/>
        </p:nvSpPr>
        <p:spPr>
          <a:xfrm>
            <a:off x="566928" y="3931920"/>
            <a:ext cx="11057839" cy="670560"/>
          </a:xfrm>
          <a:prstGeom prst="roundRect">
            <a:avLst>
              <a:gd name="adj" fmla="val 10909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804672" y="4050792"/>
            <a:ext cx="432816" cy="432816"/>
          </a:xfrm>
          <a:prstGeom prst="ellipse">
            <a:avLst/>
          </a:prstGeom>
          <a:solidFill>
            <a:srgbClr val="34D399">
              <a:alpha val="16000"/>
            </a:srgbClr>
          </a:solidFill>
          <a:ln w="12700">
            <a:solidFill>
              <a:srgbClr val="34D399">
                <a:alpha val="45000"/>
              </a:srgbClr>
            </a:solidFill>
            <a:prstDash val="solid"/>
          </a:ln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876" y="4158996"/>
            <a:ext cx="216408" cy="216408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475232" y="4041648"/>
            <a:ext cx="9875215" cy="4511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For business</a:t>
            </a:r>
            <a:endParaRPr lang="en-US" sz="13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Summarise meeting notes, draft customer replies, turn feedback into themes.</a:t>
            </a:r>
            <a:endParaRPr lang="en-US" sz="1350" dirty="0"/>
          </a:p>
        </p:txBody>
      </p:sp>
      <p:sp>
        <p:nvSpPr>
          <p:cNvPr id="22" name="Shape 16"/>
          <p:cNvSpPr/>
          <p:nvPr/>
        </p:nvSpPr>
        <p:spPr>
          <a:xfrm>
            <a:off x="566928" y="4748784"/>
            <a:ext cx="11057839" cy="670560"/>
          </a:xfrm>
          <a:prstGeom prst="roundRect">
            <a:avLst>
              <a:gd name="adj" fmla="val 10909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804672" y="4867656"/>
            <a:ext cx="432816" cy="432816"/>
          </a:xfrm>
          <a:prstGeom prst="ellipse">
            <a:avLst/>
          </a:prstGeom>
          <a:solidFill>
            <a:srgbClr val="F472B6">
              <a:alpha val="16000"/>
            </a:srgbClr>
          </a:solidFill>
          <a:ln w="12700">
            <a:solidFill>
              <a:srgbClr val="F472B6">
                <a:alpha val="45000"/>
              </a:srgbClr>
            </a:solidFill>
            <a:prstDash val="solid"/>
          </a:ln>
        </p:spPr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2876" y="4975860"/>
            <a:ext cx="216408" cy="216408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1475232" y="4858512"/>
            <a:ext cx="9875215" cy="4511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For research</a:t>
            </a:r>
            <a:endParaRPr lang="en-US" sz="13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Summarise approved documents and organise findings into structured tables.</a:t>
            </a:r>
            <a:endParaRPr lang="en-US" sz="1350" dirty="0"/>
          </a:p>
        </p:txBody>
      </p:sp>
      <p:sp>
        <p:nvSpPr>
          <p:cNvPr id="26" name="Shape 19"/>
          <p:cNvSpPr/>
          <p:nvPr/>
        </p:nvSpPr>
        <p:spPr>
          <a:xfrm>
            <a:off x="566928" y="5565648"/>
            <a:ext cx="11057839" cy="670560"/>
          </a:xfrm>
          <a:prstGeom prst="roundRect">
            <a:avLst>
              <a:gd name="adj" fmla="val 10909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7" name="Shape 20"/>
          <p:cNvSpPr/>
          <p:nvPr/>
        </p:nvSpPr>
        <p:spPr>
          <a:xfrm>
            <a:off x="804672" y="5684520"/>
            <a:ext cx="432816" cy="432816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28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2876" y="5792724"/>
            <a:ext cx="216408" cy="216408"/>
          </a:xfrm>
          <a:prstGeom prst="rect">
            <a:avLst/>
          </a:prstGeom>
        </p:spPr>
      </p:pic>
      <p:sp>
        <p:nvSpPr>
          <p:cNvPr id="29" name="Text 21"/>
          <p:cNvSpPr txBox="1"/>
          <p:nvPr/>
        </p:nvSpPr>
        <p:spPr>
          <a:xfrm>
            <a:off x="1475232" y="5675376"/>
            <a:ext cx="9875215" cy="4511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For content</a:t>
            </a:r>
            <a:endParaRPr lang="en-US" sz="13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Draft posts, headlines and outlines, always reviewed by a person before publishing.</a:t>
            </a:r>
            <a:endParaRPr lang="en-US" sz="1350" dirty="0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BBF2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QUIZ 6 · SLIDES 57–70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Quiz 6 — Large Language Models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Section 6 · Large Language Models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081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11057839" cy="848563"/>
          </a:xfrm>
          <a:prstGeom prst="roundRect">
            <a:avLst>
              <a:gd name="adj" fmla="val 8621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68096" y="1627632"/>
            <a:ext cx="310896" cy="310896"/>
          </a:xfrm>
          <a:prstGeom prst="ellipse">
            <a:avLst/>
          </a:prstGeom>
          <a:solidFill>
            <a:srgbClr val="FBBF24">
              <a:alpha val="22000"/>
            </a:srgbClr>
          </a:solidFill>
          <a:ln w="12700">
            <a:solidFill>
              <a:srgbClr val="FBBF24">
                <a:alpha val="5000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68096" y="1627632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BBF2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Q1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188720" y="1600200"/>
            <a:ext cx="8726119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An LLM generates text by: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10207447" y="1618488"/>
            <a:ext cx="1371600" cy="347472"/>
          </a:xfrm>
          <a:prstGeom prst="roundRect">
            <a:avLst>
              <a:gd name="adj" fmla="val 15789"/>
            </a:avLst>
          </a:prstGeom>
          <a:solidFill>
            <a:srgbClr val="A78BFA">
              <a:alpha val="20000"/>
            </a:srgbClr>
          </a:solidFill>
          <a:ln w="12700">
            <a:solidFill>
              <a:srgbClr val="A78BFA">
                <a:alpha val="60000"/>
              </a:srgbClr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207447" y="1618488"/>
            <a:ext cx="13716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Answer: B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1115568" y="2011680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A. </a:t>
            </a:r>
            <a:r>
              <a:rPr lang="en-US" sz="11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Copying a stored answer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3674288" y="2011680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B. </a:t>
            </a: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Predicting the next token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6233008" y="2011680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C. </a:t>
            </a:r>
            <a:r>
              <a:rPr lang="en-US" sz="11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Searching your hard disk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8791727" y="2011680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D. </a:t>
            </a:r>
            <a:r>
              <a:rPr lang="en-US" sz="11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Asking another user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66928" y="2457907"/>
            <a:ext cx="11057839" cy="848563"/>
          </a:xfrm>
          <a:prstGeom prst="roundRect">
            <a:avLst>
              <a:gd name="adj" fmla="val 8621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68096" y="2604211"/>
            <a:ext cx="310896" cy="310896"/>
          </a:xfrm>
          <a:prstGeom prst="ellipse">
            <a:avLst/>
          </a:prstGeom>
          <a:solidFill>
            <a:srgbClr val="FBBF24">
              <a:alpha val="22000"/>
            </a:srgbClr>
          </a:solidFill>
          <a:ln w="12700">
            <a:solidFill>
              <a:srgbClr val="FBBF24">
                <a:alpha val="50000"/>
              </a:srgbClr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68096" y="2604211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BBF2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Q2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1188720" y="2576779"/>
            <a:ext cx="8726119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Pretraining is the stage where the model: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10207447" y="2595067"/>
            <a:ext cx="1371600" cy="347472"/>
          </a:xfrm>
          <a:prstGeom prst="roundRect">
            <a:avLst>
              <a:gd name="adj" fmla="val 15789"/>
            </a:avLst>
          </a:prstGeom>
          <a:solidFill>
            <a:srgbClr val="A78BFA">
              <a:alpha val="20000"/>
            </a:srgbClr>
          </a:solidFill>
          <a:ln w="12700">
            <a:solidFill>
              <a:srgbClr val="A78BFA">
                <a:alpha val="60000"/>
              </a:srgbClr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0207447" y="2595067"/>
            <a:ext cx="13716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Answer: C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1115568" y="2988259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A. </a:t>
            </a:r>
            <a:r>
              <a:rPr lang="en-US" sz="11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Answers your question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3674288" y="2988259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B. </a:t>
            </a:r>
            <a:r>
              <a:rPr lang="en-US" sz="11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Prints a report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6233008" y="2988259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C. </a:t>
            </a: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Learns general language from huge text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8791727" y="2988259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D. </a:t>
            </a:r>
            <a:r>
              <a:rPr lang="en-US" sz="11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Deletes old data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66928" y="3434486"/>
            <a:ext cx="11057839" cy="848563"/>
          </a:xfrm>
          <a:prstGeom prst="roundRect">
            <a:avLst>
              <a:gd name="adj" fmla="val 8621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768096" y="3580790"/>
            <a:ext cx="310896" cy="310896"/>
          </a:xfrm>
          <a:prstGeom prst="ellipse">
            <a:avLst/>
          </a:prstGeom>
          <a:solidFill>
            <a:srgbClr val="FBBF24">
              <a:alpha val="22000"/>
            </a:srgbClr>
          </a:solidFill>
          <a:ln w="12700">
            <a:solidFill>
              <a:srgbClr val="FBBF24">
                <a:alpha val="50000"/>
              </a:srgbClr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68096" y="3580790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BBF2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Q3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1188720" y="3553358"/>
            <a:ext cx="8726119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Instruction tuning helps the model to: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10207447" y="3571646"/>
            <a:ext cx="1371600" cy="347472"/>
          </a:xfrm>
          <a:prstGeom prst="roundRect">
            <a:avLst>
              <a:gd name="adj" fmla="val 15789"/>
            </a:avLst>
          </a:prstGeom>
          <a:solidFill>
            <a:srgbClr val="A78BFA">
              <a:alpha val="20000"/>
            </a:srgbClr>
          </a:solidFill>
          <a:ln w="12700">
            <a:solidFill>
              <a:srgbClr val="A78BFA">
                <a:alpha val="60000"/>
              </a:srgbClr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10207447" y="3571646"/>
            <a:ext cx="13716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Answer: D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1115568" y="3964838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A. </a:t>
            </a:r>
            <a:r>
              <a:rPr lang="en-US" sz="11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Run faster on old laptops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3674288" y="3964838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B. </a:t>
            </a:r>
            <a:r>
              <a:rPr lang="en-US" sz="11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 less electricity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6233008" y="3964838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C. </a:t>
            </a:r>
            <a:r>
              <a:rPr lang="en-US" sz="11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Store more files</a:t>
            </a:r>
            <a:endParaRPr lang="en-US" sz="1050" dirty="0"/>
          </a:p>
        </p:txBody>
      </p:sp>
      <p:sp>
        <p:nvSpPr>
          <p:cNvPr id="35" name="Text 33"/>
          <p:cNvSpPr txBox="1"/>
          <p:nvPr/>
        </p:nvSpPr>
        <p:spPr>
          <a:xfrm>
            <a:off x="8791727" y="3964838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D. </a:t>
            </a: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Follow instructions properly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66928" y="4411066"/>
            <a:ext cx="11057839" cy="848563"/>
          </a:xfrm>
          <a:prstGeom prst="roundRect">
            <a:avLst>
              <a:gd name="adj" fmla="val 8621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768096" y="4557370"/>
            <a:ext cx="310896" cy="310896"/>
          </a:xfrm>
          <a:prstGeom prst="ellipse">
            <a:avLst/>
          </a:prstGeom>
          <a:solidFill>
            <a:srgbClr val="FBBF24">
              <a:alpha val="22000"/>
            </a:srgbClr>
          </a:solidFill>
          <a:ln w="12700">
            <a:solidFill>
              <a:srgbClr val="FBBF24">
                <a:alpha val="50000"/>
              </a:srgbClr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768096" y="4557370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BBF2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Q4</a:t>
            </a:r>
            <a:endParaRPr lang="en-US" sz="900" dirty="0"/>
          </a:p>
        </p:txBody>
      </p:sp>
      <p:sp>
        <p:nvSpPr>
          <p:cNvPr id="39" name="Text 37"/>
          <p:cNvSpPr txBox="1"/>
          <p:nvPr/>
        </p:nvSpPr>
        <p:spPr>
          <a:xfrm>
            <a:off x="1188720" y="4529938"/>
            <a:ext cx="8726119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 knowledge cut-off means the model:</a:t>
            </a:r>
            <a:endParaRPr lang="en-US" sz="1250" dirty="0"/>
          </a:p>
        </p:txBody>
      </p:sp>
      <p:sp>
        <p:nvSpPr>
          <p:cNvPr id="40" name="Shape 38"/>
          <p:cNvSpPr/>
          <p:nvPr/>
        </p:nvSpPr>
        <p:spPr>
          <a:xfrm>
            <a:off x="10207447" y="4548226"/>
            <a:ext cx="1371600" cy="347472"/>
          </a:xfrm>
          <a:prstGeom prst="roundRect">
            <a:avLst>
              <a:gd name="adj" fmla="val 15789"/>
            </a:avLst>
          </a:prstGeom>
          <a:solidFill>
            <a:srgbClr val="A78BFA">
              <a:alpha val="20000"/>
            </a:srgbClr>
          </a:solidFill>
          <a:ln w="12700">
            <a:solidFill>
              <a:srgbClr val="A78BFA">
                <a:alpha val="60000"/>
              </a:srgbClr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10207447" y="4548226"/>
            <a:ext cx="13716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Answer: A</a:t>
            </a:r>
            <a:endParaRPr lang="en-US" sz="1050" dirty="0"/>
          </a:p>
        </p:txBody>
      </p:sp>
      <p:sp>
        <p:nvSpPr>
          <p:cNvPr id="42" name="Text 40"/>
          <p:cNvSpPr txBox="1"/>
          <p:nvPr/>
        </p:nvSpPr>
        <p:spPr>
          <a:xfrm>
            <a:off x="1115568" y="4941418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A. </a:t>
            </a: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May not know recent events</a:t>
            </a:r>
            <a:endParaRPr lang="en-US" sz="1050" dirty="0"/>
          </a:p>
        </p:txBody>
      </p:sp>
      <p:sp>
        <p:nvSpPr>
          <p:cNvPr id="43" name="Text 41"/>
          <p:cNvSpPr txBox="1"/>
          <p:nvPr/>
        </p:nvSpPr>
        <p:spPr>
          <a:xfrm>
            <a:off x="3674288" y="4941418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B. </a:t>
            </a:r>
            <a:r>
              <a:rPr lang="en-US" sz="11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Cannot read English</a:t>
            </a:r>
            <a:endParaRPr lang="en-US" sz="1050" dirty="0"/>
          </a:p>
        </p:txBody>
      </p:sp>
      <p:sp>
        <p:nvSpPr>
          <p:cNvPr id="44" name="Text 42"/>
          <p:cNvSpPr txBox="1"/>
          <p:nvPr/>
        </p:nvSpPr>
        <p:spPr>
          <a:xfrm>
            <a:off x="6233008" y="4941418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C. </a:t>
            </a:r>
            <a:r>
              <a:rPr lang="en-US" sz="11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Has no parameters</a:t>
            </a:r>
            <a:endParaRPr lang="en-US" sz="1050" dirty="0"/>
          </a:p>
        </p:txBody>
      </p:sp>
      <p:sp>
        <p:nvSpPr>
          <p:cNvPr id="45" name="Text 43"/>
          <p:cNvSpPr txBox="1"/>
          <p:nvPr/>
        </p:nvSpPr>
        <p:spPr>
          <a:xfrm>
            <a:off x="8791727" y="4941418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D. </a:t>
            </a:r>
            <a:r>
              <a:rPr lang="en-US" sz="11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Cannot be used offline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566928" y="5387645"/>
            <a:ext cx="11057839" cy="848563"/>
          </a:xfrm>
          <a:prstGeom prst="roundRect">
            <a:avLst>
              <a:gd name="adj" fmla="val 8621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768096" y="5533949"/>
            <a:ext cx="310896" cy="310896"/>
          </a:xfrm>
          <a:prstGeom prst="ellipse">
            <a:avLst/>
          </a:prstGeom>
          <a:solidFill>
            <a:srgbClr val="FBBF24">
              <a:alpha val="22000"/>
            </a:srgbClr>
          </a:solidFill>
          <a:ln w="12700">
            <a:solidFill>
              <a:srgbClr val="FBBF24">
                <a:alpha val="50000"/>
              </a:srgbClr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768096" y="5533949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BBF2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Q5</a:t>
            </a:r>
            <a:endParaRPr lang="en-US" sz="900" dirty="0"/>
          </a:p>
        </p:txBody>
      </p:sp>
      <p:sp>
        <p:nvSpPr>
          <p:cNvPr id="49" name="Text 47"/>
          <p:cNvSpPr txBox="1"/>
          <p:nvPr/>
        </p:nvSpPr>
        <p:spPr>
          <a:xfrm>
            <a:off x="1188720" y="5506517"/>
            <a:ext cx="8726119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Which task is an LLM usually weakest at?</a:t>
            </a:r>
            <a:endParaRPr lang="en-US" sz="1250" dirty="0"/>
          </a:p>
        </p:txBody>
      </p:sp>
      <p:sp>
        <p:nvSpPr>
          <p:cNvPr id="50" name="Shape 48"/>
          <p:cNvSpPr/>
          <p:nvPr/>
        </p:nvSpPr>
        <p:spPr>
          <a:xfrm>
            <a:off x="10207447" y="5524805"/>
            <a:ext cx="1371600" cy="347472"/>
          </a:xfrm>
          <a:prstGeom prst="roundRect">
            <a:avLst>
              <a:gd name="adj" fmla="val 15789"/>
            </a:avLst>
          </a:prstGeom>
          <a:solidFill>
            <a:srgbClr val="A78BFA">
              <a:alpha val="20000"/>
            </a:srgbClr>
          </a:solidFill>
          <a:ln w="12700">
            <a:solidFill>
              <a:srgbClr val="A78BFA">
                <a:alpha val="60000"/>
              </a:srgbClr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10207447" y="5524805"/>
            <a:ext cx="13716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Answer: B</a:t>
            </a:r>
            <a:endParaRPr lang="en-US" sz="1050" dirty="0"/>
          </a:p>
        </p:txBody>
      </p:sp>
      <p:sp>
        <p:nvSpPr>
          <p:cNvPr id="52" name="Text 50"/>
          <p:cNvSpPr txBox="1"/>
          <p:nvPr/>
        </p:nvSpPr>
        <p:spPr>
          <a:xfrm>
            <a:off x="1115568" y="5917997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A. </a:t>
            </a:r>
            <a:r>
              <a:rPr lang="en-US" sz="11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Summarising text</a:t>
            </a:r>
            <a:endParaRPr lang="en-US" sz="1050" dirty="0"/>
          </a:p>
        </p:txBody>
      </p:sp>
      <p:sp>
        <p:nvSpPr>
          <p:cNvPr id="53" name="Text 51"/>
          <p:cNvSpPr txBox="1"/>
          <p:nvPr/>
        </p:nvSpPr>
        <p:spPr>
          <a:xfrm>
            <a:off x="3674288" y="5917997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B. </a:t>
            </a: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Exact arithmetic</a:t>
            </a:r>
            <a:endParaRPr lang="en-US" sz="1050" dirty="0"/>
          </a:p>
        </p:txBody>
      </p:sp>
      <p:sp>
        <p:nvSpPr>
          <p:cNvPr id="54" name="Text 52"/>
          <p:cNvSpPr txBox="1"/>
          <p:nvPr/>
        </p:nvSpPr>
        <p:spPr>
          <a:xfrm>
            <a:off x="6233008" y="5917997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C. </a:t>
            </a:r>
            <a:r>
              <a:rPr lang="en-US" sz="11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Rewriting a paragraph</a:t>
            </a:r>
            <a:endParaRPr lang="en-US" sz="1050" dirty="0"/>
          </a:p>
        </p:txBody>
      </p:sp>
      <p:sp>
        <p:nvSpPr>
          <p:cNvPr id="55" name="Text 53"/>
          <p:cNvSpPr txBox="1"/>
          <p:nvPr/>
        </p:nvSpPr>
        <p:spPr>
          <a:xfrm>
            <a:off x="8791727" y="5917997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D. </a:t>
            </a:r>
            <a:r>
              <a:rPr lang="en-US" sz="11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Translating a sentence</a:t>
            </a:r>
            <a:endParaRPr lang="en-US" sz="1050" dirty="0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49808" y="1874520"/>
            <a:ext cx="58521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SECTION 07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49808" y="2240280"/>
            <a:ext cx="6035040" cy="1554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Prompt Engineering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749808" y="3886200"/>
            <a:ext cx="5852160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single most useful practical skill in this whole course.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49808" y="4846320"/>
            <a:ext cx="1463040" cy="64008"/>
          </a:xfrm>
          <a:prstGeom prst="roundRect">
            <a:avLst>
              <a:gd name="adj" fmla="val 42857"/>
            </a:avLst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32320" y="1143000"/>
            <a:ext cx="4492447" cy="797357"/>
          </a:xfrm>
          <a:prstGeom prst="roundRect">
            <a:avLst>
              <a:gd name="adj" fmla="val 9174"/>
            </a:avLst>
          </a:prstGeom>
          <a:solidFill>
            <a:srgbClr val="191640"/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51776" y="1313078"/>
            <a:ext cx="457200" cy="457200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66076" y="1427378"/>
            <a:ext cx="228600" cy="22860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8010144" y="1143000"/>
            <a:ext cx="3303727" cy="79735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What is a Prompt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7132320" y="2086661"/>
            <a:ext cx="4492447" cy="797357"/>
          </a:xfrm>
          <a:prstGeom prst="roundRect">
            <a:avLst>
              <a:gd name="adj" fmla="val 9174"/>
            </a:avLst>
          </a:prstGeom>
          <a:solidFill>
            <a:srgbClr val="191640"/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7351776" y="2256739"/>
            <a:ext cx="457200" cy="457200"/>
          </a:xfrm>
          <a:prstGeom prst="ellipse">
            <a:avLst/>
          </a:prstGeom>
          <a:solidFill>
            <a:srgbClr val="22D3EE">
              <a:alpha val="16000"/>
            </a:srgbClr>
          </a:solidFill>
          <a:ln w="12700">
            <a:solidFill>
              <a:srgbClr val="22D3EE">
                <a:alpha val="45000"/>
              </a:srgbClr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6076" y="2371039"/>
            <a:ext cx="228600" cy="22860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8010144" y="2086661"/>
            <a:ext cx="3303727" cy="79735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Anatomy of a Prompt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7132320" y="3030322"/>
            <a:ext cx="4492447" cy="797357"/>
          </a:xfrm>
          <a:prstGeom prst="roundRect">
            <a:avLst>
              <a:gd name="adj" fmla="val 9174"/>
            </a:avLst>
          </a:prstGeom>
          <a:solidFill>
            <a:srgbClr val="191640"/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351776" y="3200400"/>
            <a:ext cx="457200" cy="457200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6076" y="3314700"/>
            <a:ext cx="228600" cy="22860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010144" y="3030322"/>
            <a:ext cx="3303727" cy="79735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Prompting Techniques</a:t>
            </a:r>
            <a:endParaRPr lang="en-US" sz="1350" dirty="0"/>
          </a:p>
        </p:txBody>
      </p:sp>
      <p:sp>
        <p:nvSpPr>
          <p:cNvPr id="18" name="Shape 13"/>
          <p:cNvSpPr/>
          <p:nvPr/>
        </p:nvSpPr>
        <p:spPr>
          <a:xfrm>
            <a:off x="7132320" y="3973982"/>
            <a:ext cx="4492447" cy="797357"/>
          </a:xfrm>
          <a:prstGeom prst="roundRect">
            <a:avLst>
              <a:gd name="adj" fmla="val 9174"/>
            </a:avLst>
          </a:prstGeom>
          <a:solidFill>
            <a:srgbClr val="191640"/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7351776" y="4144061"/>
            <a:ext cx="457200" cy="457200"/>
          </a:xfrm>
          <a:prstGeom prst="ellipse">
            <a:avLst/>
          </a:prstGeom>
          <a:solidFill>
            <a:srgbClr val="34D399">
              <a:alpha val="16000"/>
            </a:srgbClr>
          </a:solidFill>
          <a:ln w="12700">
            <a:solidFill>
              <a:srgbClr val="34D399">
                <a:alpha val="45000"/>
              </a:srgbClr>
            </a:solidFill>
            <a:prstDash val="solid"/>
          </a:ln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66076" y="4258361"/>
            <a:ext cx="228600" cy="22860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8010144" y="3973982"/>
            <a:ext cx="3303727" cy="79735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Prompts by Role</a:t>
            </a:r>
            <a:endParaRPr lang="en-US" sz="1350" dirty="0"/>
          </a:p>
        </p:txBody>
      </p:sp>
      <p:sp>
        <p:nvSpPr>
          <p:cNvPr id="22" name="Shape 16"/>
          <p:cNvSpPr/>
          <p:nvPr/>
        </p:nvSpPr>
        <p:spPr>
          <a:xfrm>
            <a:off x="7132320" y="4917643"/>
            <a:ext cx="4492447" cy="797357"/>
          </a:xfrm>
          <a:prstGeom prst="roundRect">
            <a:avLst>
              <a:gd name="adj" fmla="val 9174"/>
            </a:avLst>
          </a:prstGeom>
          <a:solidFill>
            <a:srgbClr val="191640"/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7351776" y="5087722"/>
            <a:ext cx="457200" cy="457200"/>
          </a:xfrm>
          <a:prstGeom prst="ellipse">
            <a:avLst/>
          </a:prstGeom>
          <a:solidFill>
            <a:srgbClr val="F472B6">
              <a:alpha val="16000"/>
            </a:srgbClr>
          </a:solidFill>
          <a:ln w="12700">
            <a:solidFill>
              <a:srgbClr val="F472B6">
                <a:alpha val="45000"/>
              </a:srgbClr>
            </a:solidFill>
            <a:prstDash val="solid"/>
          </a:ln>
        </p:spPr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66076" y="5202022"/>
            <a:ext cx="228600" cy="228600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8010144" y="4917643"/>
            <a:ext cx="3303727" cy="79735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Best Practices</a:t>
            </a:r>
            <a:endParaRPr lang="en-US" sz="1350" dirty="0"/>
          </a:p>
        </p:txBody>
      </p:sp>
      <p:sp>
        <p:nvSpPr>
          <p:cNvPr id="26" name="Text 19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Section 7 · Prompt Engineering</a:t>
            </a:r>
            <a:endParaRPr lang="en-US" sz="950" dirty="0"/>
          </a:p>
        </p:txBody>
      </p:sp>
      <p:sp>
        <p:nvSpPr>
          <p:cNvPr id="27" name="Text 20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082</a:t>
            </a:r>
            <a:endParaRPr lang="en-US" sz="950" dirty="0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SLIDE 71 · DEFINITION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What is a Prompt?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Section 7 · Prompt Engineering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083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11057839" cy="877824"/>
          </a:xfrm>
          <a:prstGeom prst="roundRect">
            <a:avLst>
              <a:gd name="adj" fmla="val 8333"/>
            </a:avLst>
          </a:prstGeom>
          <a:solidFill>
            <a:srgbClr val="191640">
              <a:alpha val="96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6928" y="1627632"/>
            <a:ext cx="64008" cy="585216"/>
          </a:xfrm>
          <a:prstGeom prst="roundRect">
            <a:avLst>
              <a:gd name="adj" fmla="val 42857"/>
            </a:avLst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59536" y="1572768"/>
            <a:ext cx="10472623" cy="6949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DDD9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prompt is the instruction you give to an AI model — the text that tells it what you want.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66928" y="2615184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22960" y="2816352"/>
            <a:ext cx="457200" cy="457200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2930652"/>
            <a:ext cx="228600" cy="22860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499616" y="2816352"/>
            <a:ext cx="41847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Simple Explanation</a:t>
            </a:r>
            <a:endParaRPr lang="en-US" sz="1450" dirty="0"/>
          </a:p>
        </p:txBody>
      </p:sp>
      <p:sp>
        <p:nvSpPr>
          <p:cNvPr id="13" name="Text 10"/>
          <p:cNvSpPr txBox="1"/>
          <p:nvPr/>
        </p:nvSpPr>
        <p:spPr>
          <a:xfrm>
            <a:off x="841248" y="3419856"/>
            <a:ext cx="484312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It is your side of the conversation. Everything the model does is a response to what you wrote.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33008" y="2615184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489040" y="2816352"/>
            <a:ext cx="457200" cy="457200"/>
          </a:xfrm>
          <a:prstGeom prst="ellipse">
            <a:avLst/>
          </a:prstGeom>
          <a:solidFill>
            <a:srgbClr val="22D3EE">
              <a:alpha val="16000"/>
            </a:srgbClr>
          </a:solidFill>
          <a:ln w="12700">
            <a:solidFill>
              <a:srgbClr val="22D3EE">
                <a:alpha val="45000"/>
              </a:srgbClr>
            </a:solidFill>
            <a:prstDash val="solid"/>
          </a:ln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3340" y="2930652"/>
            <a:ext cx="228600" cy="22860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7165696" y="2816352"/>
            <a:ext cx="41847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 Prompt Can Contain</a:t>
            </a:r>
            <a:endParaRPr lang="en-US" sz="1450" dirty="0"/>
          </a:p>
        </p:txBody>
      </p:sp>
      <p:sp>
        <p:nvSpPr>
          <p:cNvPr id="18" name="Text 14"/>
          <p:cNvSpPr txBox="1"/>
          <p:nvPr/>
        </p:nvSpPr>
        <p:spPr>
          <a:xfrm>
            <a:off x="6507328" y="3419856"/>
            <a:ext cx="484312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200"/>
              </a:spcAft>
              <a:buSzPct val="100000"/>
              <a:buChar char="▪"/>
            </a:pPr>
            <a:r>
              <a:rPr lang="en-US" sz="9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question or task</a:t>
            </a:r>
            <a:endParaRPr lang="en-US" sz="900" dirty="0"/>
          </a:p>
          <a:p>
            <a:pPr marL="342900" indent="-342900">
              <a:lnSpc>
                <a:spcPct val="110000"/>
              </a:lnSpc>
              <a:spcAft>
                <a:spcPts val="200"/>
              </a:spcAft>
              <a:buSzPct val="100000"/>
              <a:buChar char="▪"/>
            </a:pPr>
            <a:r>
              <a:rPr lang="en-US" sz="9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Background context</a:t>
            </a:r>
            <a:endParaRPr lang="en-US" sz="900" dirty="0"/>
          </a:p>
          <a:p>
            <a:pPr marL="342900" indent="-342900">
              <a:lnSpc>
                <a:spcPct val="110000"/>
              </a:lnSpc>
              <a:spcAft>
                <a:spcPts val="200"/>
              </a:spcAft>
              <a:buSzPct val="100000"/>
              <a:buChar char="▪"/>
            </a:pPr>
            <a:r>
              <a:rPr lang="en-US" sz="9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Rules and limits</a:t>
            </a:r>
            <a:endParaRPr lang="en-US" sz="900" dirty="0"/>
          </a:p>
          <a:p>
            <a:pPr marL="342900" indent="-342900">
              <a:lnSpc>
                <a:spcPct val="110000"/>
              </a:lnSpc>
              <a:spcAft>
                <a:spcPts val="200"/>
              </a:spcAft>
              <a:buSzPct val="100000"/>
              <a:buChar char="▪"/>
            </a:pPr>
            <a:r>
              <a:rPr lang="en-US" sz="9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output format you want</a:t>
            </a:r>
            <a:endParaRPr lang="en-US" sz="900" dirty="0"/>
          </a:p>
        </p:txBody>
      </p:sp>
      <p:sp>
        <p:nvSpPr>
          <p:cNvPr id="19" name="Shape 15"/>
          <p:cNvSpPr/>
          <p:nvPr/>
        </p:nvSpPr>
        <p:spPr>
          <a:xfrm>
            <a:off x="566928" y="4530149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822960" y="4731317"/>
            <a:ext cx="457200" cy="457200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260" y="4845617"/>
            <a:ext cx="228600" cy="22860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499616" y="4731317"/>
            <a:ext cx="41847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Example</a:t>
            </a:r>
            <a:endParaRPr lang="en-US" sz="1450" dirty="0"/>
          </a:p>
        </p:txBody>
      </p:sp>
      <p:sp>
        <p:nvSpPr>
          <p:cNvPr id="23" name="Text 18"/>
          <p:cNvSpPr txBox="1"/>
          <p:nvPr/>
        </p:nvSpPr>
        <p:spPr>
          <a:xfrm>
            <a:off x="841248" y="5334821"/>
            <a:ext cx="484312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"Explain photosynthesis in simple English for a 10-year-old, in three sentences."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6233008" y="4530149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6489040" y="4731317"/>
            <a:ext cx="457200" cy="457200"/>
          </a:xfrm>
          <a:prstGeom prst="ellipse">
            <a:avLst/>
          </a:prstGeom>
          <a:solidFill>
            <a:srgbClr val="34D399">
              <a:alpha val="16000"/>
            </a:srgbClr>
          </a:solidFill>
          <a:ln w="12700">
            <a:solidFill>
              <a:srgbClr val="34D399">
                <a:alpha val="45000"/>
              </a:srgbClr>
            </a:solidFill>
            <a:prstDash val="solid"/>
          </a:ln>
        </p:spPr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3340" y="4845617"/>
            <a:ext cx="228600" cy="228600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7165696" y="4731317"/>
            <a:ext cx="41847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Key Idea</a:t>
            </a:r>
            <a:endParaRPr lang="en-US" sz="1450" dirty="0"/>
          </a:p>
        </p:txBody>
      </p:sp>
      <p:sp>
        <p:nvSpPr>
          <p:cNvPr id="28" name="Text 22"/>
          <p:cNvSpPr txBox="1"/>
          <p:nvPr/>
        </p:nvSpPr>
        <p:spPr>
          <a:xfrm>
            <a:off x="6507328" y="5334821"/>
            <a:ext cx="484312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model cannot guess what is in your head. Anything unstated will be filled in by assumption.</a:t>
            </a:r>
            <a:endParaRPr lang="en-US" sz="1200" dirty="0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SLIDE 72 · WHY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Why Prompting Matters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Section 7 · Prompt Engineering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084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11057839" cy="833933"/>
          </a:xfrm>
          <a:prstGeom prst="roundRect">
            <a:avLst>
              <a:gd name="adj" fmla="val 8772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04672" y="1642262"/>
            <a:ext cx="512064" cy="512064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" y="1770278"/>
            <a:ext cx="256032" cy="256032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554480" y="1591056"/>
            <a:ext cx="9795967" cy="61447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Same model, very different results</a:t>
            </a:r>
            <a:endParaRPr lang="en-US" sz="13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Two people using the same tool get very different quality, purely because of how they ask.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566928" y="2461565"/>
            <a:ext cx="11057839" cy="833933"/>
          </a:xfrm>
          <a:prstGeom prst="roundRect">
            <a:avLst>
              <a:gd name="adj" fmla="val 8772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804672" y="2622499"/>
            <a:ext cx="512064" cy="512064"/>
          </a:xfrm>
          <a:prstGeom prst="ellipse">
            <a:avLst/>
          </a:prstGeom>
          <a:solidFill>
            <a:srgbClr val="22D3EE">
              <a:alpha val="16000"/>
            </a:srgbClr>
          </a:solidFill>
          <a:ln w="12700">
            <a:solidFill>
              <a:srgbClr val="22D3EE">
                <a:alpha val="45000"/>
              </a:srgbClr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" y="2750515"/>
            <a:ext cx="256032" cy="256032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554480" y="2571293"/>
            <a:ext cx="9795967" cy="61447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It saves time</a:t>
            </a:r>
            <a:endParaRPr lang="en-US" sz="13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clear prompt gives a usable answer first time instead of after six retries.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566928" y="3441802"/>
            <a:ext cx="11057839" cy="833933"/>
          </a:xfrm>
          <a:prstGeom prst="roundRect">
            <a:avLst>
              <a:gd name="adj" fmla="val 8772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04672" y="3602736"/>
            <a:ext cx="512064" cy="512064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" y="3730752"/>
            <a:ext cx="256032" cy="256032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554480" y="3551530"/>
            <a:ext cx="9795967" cy="61447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It controls the output</a:t>
            </a:r>
            <a:endParaRPr lang="en-US" sz="13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Length, tone, format and level of detail are all set by your instructions.</a:t>
            </a:r>
            <a:endParaRPr lang="en-US" sz="1350" dirty="0"/>
          </a:p>
        </p:txBody>
      </p:sp>
      <p:sp>
        <p:nvSpPr>
          <p:cNvPr id="18" name="Shape 13"/>
          <p:cNvSpPr/>
          <p:nvPr/>
        </p:nvSpPr>
        <p:spPr>
          <a:xfrm>
            <a:off x="566928" y="4422038"/>
            <a:ext cx="11057839" cy="833933"/>
          </a:xfrm>
          <a:prstGeom prst="roundRect">
            <a:avLst>
              <a:gd name="adj" fmla="val 8772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804672" y="4582973"/>
            <a:ext cx="512064" cy="512064"/>
          </a:xfrm>
          <a:prstGeom prst="ellipse">
            <a:avLst/>
          </a:prstGeom>
          <a:solidFill>
            <a:srgbClr val="34D399">
              <a:alpha val="16000"/>
            </a:srgbClr>
          </a:solidFill>
          <a:ln w="12700">
            <a:solidFill>
              <a:srgbClr val="34D399">
                <a:alpha val="45000"/>
              </a:srgbClr>
            </a:solidFill>
            <a:prstDash val="solid"/>
          </a:ln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688" y="4710989"/>
            <a:ext cx="256032" cy="256032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554480" y="4531766"/>
            <a:ext cx="9795967" cy="61447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It reduces mistakes</a:t>
            </a:r>
            <a:endParaRPr lang="en-US" sz="13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Giving context and asking the model to say when it is unsure lowers the rate of invented answers.</a:t>
            </a:r>
            <a:endParaRPr lang="en-US" sz="1350" dirty="0"/>
          </a:p>
        </p:txBody>
      </p:sp>
      <p:sp>
        <p:nvSpPr>
          <p:cNvPr id="22" name="Shape 16"/>
          <p:cNvSpPr/>
          <p:nvPr/>
        </p:nvSpPr>
        <p:spPr>
          <a:xfrm>
            <a:off x="566928" y="5402275"/>
            <a:ext cx="11057839" cy="833933"/>
          </a:xfrm>
          <a:prstGeom prst="roundRect">
            <a:avLst>
              <a:gd name="adj" fmla="val 8772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804672" y="5563210"/>
            <a:ext cx="512064" cy="512064"/>
          </a:xfrm>
          <a:prstGeom prst="ellipse">
            <a:avLst/>
          </a:prstGeom>
          <a:solidFill>
            <a:srgbClr val="F472B6">
              <a:alpha val="16000"/>
            </a:srgbClr>
          </a:solidFill>
          <a:ln w="12700">
            <a:solidFill>
              <a:srgbClr val="F472B6">
                <a:alpha val="45000"/>
              </a:srgbClr>
            </a:solidFill>
            <a:prstDash val="solid"/>
          </a:ln>
        </p:spPr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2688" y="5691226"/>
            <a:ext cx="256032" cy="256032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1554480" y="5512003"/>
            <a:ext cx="9795967" cy="61447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It is a workplace skill</a:t>
            </a:r>
            <a:endParaRPr lang="en-US" sz="13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Writing good instructions for AI is becoming a normal professional expectation.</a:t>
            </a:r>
            <a:endParaRPr lang="en-US" sz="1350" dirty="0"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SLIDE 73 · STRUCTURE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Anatomy of a Good Prompt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Section 7 · Prompt Engineering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085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11057839" cy="877824"/>
          </a:xfrm>
          <a:prstGeom prst="roundRect">
            <a:avLst>
              <a:gd name="adj" fmla="val 8333"/>
            </a:avLst>
          </a:prstGeom>
          <a:solidFill>
            <a:srgbClr val="191640">
              <a:alpha val="96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6928" y="1627632"/>
            <a:ext cx="64008" cy="585216"/>
          </a:xfrm>
          <a:prstGeom prst="roundRect">
            <a:avLst>
              <a:gd name="adj" fmla="val 42857"/>
            </a:avLst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59536" y="1572768"/>
            <a:ext cx="10472623" cy="6949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DDD9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Six building blocks. You do not always need all six, but knowing them helps you fix a weak prompt.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66928" y="2615184"/>
            <a:ext cx="3503066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22960" y="2816352"/>
            <a:ext cx="457200" cy="457200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2930652"/>
            <a:ext cx="228600" cy="22860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499616" y="2816352"/>
            <a:ext cx="229605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1. Role</a:t>
            </a:r>
            <a:endParaRPr lang="en-US" sz="1450" dirty="0"/>
          </a:p>
        </p:txBody>
      </p:sp>
      <p:sp>
        <p:nvSpPr>
          <p:cNvPr id="13" name="Text 10"/>
          <p:cNvSpPr txBox="1"/>
          <p:nvPr/>
        </p:nvSpPr>
        <p:spPr>
          <a:xfrm>
            <a:off x="841248" y="3419856"/>
            <a:ext cx="2954426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Who should the AI act as? "You are an experienced physics teacher."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344314" y="2615184"/>
            <a:ext cx="3503066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600346" y="2816352"/>
            <a:ext cx="457200" cy="457200"/>
          </a:xfrm>
          <a:prstGeom prst="ellipse">
            <a:avLst/>
          </a:prstGeom>
          <a:solidFill>
            <a:srgbClr val="22D3EE">
              <a:alpha val="16000"/>
            </a:srgbClr>
          </a:solidFill>
          <a:ln w="12700">
            <a:solidFill>
              <a:srgbClr val="22D3EE">
                <a:alpha val="45000"/>
              </a:srgbClr>
            </a:solidFill>
            <a:prstDash val="solid"/>
          </a:ln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4646" y="2930652"/>
            <a:ext cx="228600" cy="22860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5277002" y="2816352"/>
            <a:ext cx="229605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2. Task</a:t>
            </a:r>
            <a:endParaRPr lang="en-US" sz="1450" dirty="0"/>
          </a:p>
        </p:txBody>
      </p:sp>
      <p:sp>
        <p:nvSpPr>
          <p:cNvPr id="18" name="Text 14"/>
          <p:cNvSpPr txBox="1"/>
          <p:nvPr/>
        </p:nvSpPr>
        <p:spPr>
          <a:xfrm>
            <a:off x="4618634" y="3419856"/>
            <a:ext cx="2954426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exactly should it do? "Explain the topic of gravity."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8121701" y="2615184"/>
            <a:ext cx="3503066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8377733" y="2816352"/>
            <a:ext cx="457200" cy="457200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2033" y="2930652"/>
            <a:ext cx="228600" cy="22860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9054389" y="2816352"/>
            <a:ext cx="229605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3. Context</a:t>
            </a:r>
            <a:endParaRPr lang="en-US" sz="1450" dirty="0"/>
          </a:p>
        </p:txBody>
      </p:sp>
      <p:sp>
        <p:nvSpPr>
          <p:cNvPr id="23" name="Text 18"/>
          <p:cNvSpPr txBox="1"/>
          <p:nvPr/>
        </p:nvSpPr>
        <p:spPr>
          <a:xfrm>
            <a:off x="8396021" y="3419856"/>
            <a:ext cx="2954426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Background it needs. "The students are 15 years old and new to physics."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566928" y="4530149"/>
            <a:ext cx="3503066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822960" y="4731317"/>
            <a:ext cx="457200" cy="457200"/>
          </a:xfrm>
          <a:prstGeom prst="ellipse">
            <a:avLst/>
          </a:prstGeom>
          <a:solidFill>
            <a:srgbClr val="34D399">
              <a:alpha val="16000"/>
            </a:srgbClr>
          </a:solidFill>
          <a:ln w="12700">
            <a:solidFill>
              <a:srgbClr val="34D399">
                <a:alpha val="45000"/>
              </a:srgbClr>
            </a:solidFill>
            <a:prstDash val="solid"/>
          </a:ln>
        </p:spPr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7260" y="4845617"/>
            <a:ext cx="228600" cy="228600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1499616" y="4731317"/>
            <a:ext cx="229605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4. Instructions</a:t>
            </a:r>
            <a:endParaRPr lang="en-US" sz="1450" dirty="0"/>
          </a:p>
        </p:txBody>
      </p:sp>
      <p:sp>
        <p:nvSpPr>
          <p:cNvPr id="28" name="Text 22"/>
          <p:cNvSpPr txBox="1"/>
          <p:nvPr/>
        </p:nvSpPr>
        <p:spPr>
          <a:xfrm>
            <a:off x="841248" y="5334821"/>
            <a:ext cx="2954426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How to do it. "Use one everyday example and avoid formulas."</a:t>
            </a:r>
            <a:endParaRPr lang="en-US" sz="1200" dirty="0"/>
          </a:p>
        </p:txBody>
      </p:sp>
      <p:sp>
        <p:nvSpPr>
          <p:cNvPr id="29" name="Shape 23"/>
          <p:cNvSpPr/>
          <p:nvPr/>
        </p:nvSpPr>
        <p:spPr>
          <a:xfrm>
            <a:off x="4344314" y="4530149"/>
            <a:ext cx="3503066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4600346" y="4731317"/>
            <a:ext cx="457200" cy="457200"/>
          </a:xfrm>
          <a:prstGeom prst="ellipse">
            <a:avLst/>
          </a:prstGeom>
          <a:solidFill>
            <a:srgbClr val="F472B6">
              <a:alpha val="16000"/>
            </a:srgbClr>
          </a:solidFill>
          <a:ln w="12700">
            <a:solidFill>
              <a:srgbClr val="F472B6">
                <a:alpha val="45000"/>
              </a:srgbClr>
            </a:solidFill>
            <a:prstDash val="solid"/>
          </a:ln>
        </p:spPr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14646" y="4845617"/>
            <a:ext cx="228600" cy="228600"/>
          </a:xfrm>
          <a:prstGeom prst="rect">
            <a:avLst/>
          </a:prstGeom>
        </p:spPr>
      </p:pic>
      <p:sp>
        <p:nvSpPr>
          <p:cNvPr id="32" name="Text 25"/>
          <p:cNvSpPr txBox="1"/>
          <p:nvPr/>
        </p:nvSpPr>
        <p:spPr>
          <a:xfrm>
            <a:off x="5277002" y="4731317"/>
            <a:ext cx="229605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5. Constraints</a:t>
            </a:r>
            <a:endParaRPr lang="en-US" sz="1450" dirty="0"/>
          </a:p>
        </p:txBody>
      </p:sp>
      <p:sp>
        <p:nvSpPr>
          <p:cNvPr id="33" name="Text 26"/>
          <p:cNvSpPr txBox="1"/>
          <p:nvPr/>
        </p:nvSpPr>
        <p:spPr>
          <a:xfrm>
            <a:off x="4618634" y="5334821"/>
            <a:ext cx="2954426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Limits. "Maximum 150 words. Do not use technical jargon."</a:t>
            </a:r>
            <a:endParaRPr lang="en-US" sz="1200" dirty="0"/>
          </a:p>
        </p:txBody>
      </p:sp>
      <p:sp>
        <p:nvSpPr>
          <p:cNvPr id="34" name="Shape 27"/>
          <p:cNvSpPr/>
          <p:nvPr/>
        </p:nvSpPr>
        <p:spPr>
          <a:xfrm>
            <a:off x="8121701" y="4530149"/>
            <a:ext cx="3503066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35" name="Shape 28"/>
          <p:cNvSpPr/>
          <p:nvPr/>
        </p:nvSpPr>
        <p:spPr>
          <a:xfrm>
            <a:off x="8377733" y="4731317"/>
            <a:ext cx="457200" cy="457200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36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92033" y="4845617"/>
            <a:ext cx="228600" cy="228600"/>
          </a:xfrm>
          <a:prstGeom prst="rect">
            <a:avLst/>
          </a:prstGeom>
        </p:spPr>
      </p:pic>
      <p:sp>
        <p:nvSpPr>
          <p:cNvPr id="37" name="Text 29"/>
          <p:cNvSpPr txBox="1"/>
          <p:nvPr/>
        </p:nvSpPr>
        <p:spPr>
          <a:xfrm>
            <a:off x="9054389" y="4731317"/>
            <a:ext cx="229605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6. Output Format</a:t>
            </a:r>
            <a:endParaRPr lang="en-US" sz="1450" dirty="0"/>
          </a:p>
        </p:txBody>
      </p:sp>
      <p:sp>
        <p:nvSpPr>
          <p:cNvPr id="38" name="Text 30"/>
          <p:cNvSpPr txBox="1"/>
          <p:nvPr/>
        </p:nvSpPr>
        <p:spPr>
          <a:xfrm>
            <a:off x="8396021" y="5334821"/>
            <a:ext cx="2954426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shape of the answer. "Give a short paragraph then three bullet points."</a:t>
            </a:r>
            <a:endParaRPr lang="en-US" sz="1200" dirty="0"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SLIDE 74 · COMPARE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Bad Prompt vs Better Prompt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Section 7 · Prompt Engineering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086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5364328" cy="3840480"/>
          </a:xfrm>
          <a:prstGeom prst="roundRect">
            <a:avLst>
              <a:gd name="adj" fmla="val 1905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41248" y="1737360"/>
            <a:ext cx="530352" cy="530352"/>
          </a:xfrm>
          <a:prstGeom prst="ellipse">
            <a:avLst/>
          </a:prstGeom>
          <a:solidFill>
            <a:srgbClr val="F472B6">
              <a:alpha val="16000"/>
            </a:srgbClr>
          </a:solidFill>
          <a:ln w="12700">
            <a:solidFill>
              <a:srgbClr val="F472B6">
                <a:alpha val="45000"/>
              </a:srgbClr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3836" y="1869948"/>
            <a:ext cx="265176" cy="265176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591056" y="1737360"/>
            <a:ext cx="4047592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472B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Weak prompt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877824" y="2505456"/>
            <a:ext cx="4742536" cy="261518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▪"/>
            </a:pPr>
            <a:r>
              <a:rPr lang="en-US" sz="135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"Explain AI."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▪"/>
            </a:pPr>
            <a:r>
              <a:rPr lang="en-US" sz="135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 role given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▪"/>
            </a:pPr>
            <a:r>
              <a:rPr lang="en-US" sz="135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 audience level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▪"/>
            </a:pPr>
            <a:r>
              <a:rPr lang="en-US" sz="135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 length or format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▪"/>
            </a:pPr>
            <a:r>
              <a:rPr lang="en-US" sz="135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Result: a generic, unfocused answer that may be too advanced or too shallow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6260440" y="1481328"/>
            <a:ext cx="5364328" cy="3840480"/>
          </a:xfrm>
          <a:prstGeom prst="roundRect">
            <a:avLst>
              <a:gd name="adj" fmla="val 1905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534760" y="1737360"/>
            <a:ext cx="530352" cy="530352"/>
          </a:xfrm>
          <a:prstGeom prst="ellipse">
            <a:avLst/>
          </a:prstGeom>
          <a:solidFill>
            <a:srgbClr val="34D399">
              <a:alpha val="16000"/>
            </a:srgbClr>
          </a:solidFill>
          <a:ln w="12700">
            <a:solidFill>
              <a:srgbClr val="34D399">
                <a:alpha val="45000"/>
              </a:srgbClr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7348" y="1869948"/>
            <a:ext cx="265176" cy="265176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7284568" y="1737360"/>
            <a:ext cx="4047592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4D39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Strong prompt</a:t>
            </a:r>
            <a:endParaRPr lang="en-US" sz="1800" dirty="0"/>
          </a:p>
        </p:txBody>
      </p:sp>
      <p:sp>
        <p:nvSpPr>
          <p:cNvPr id="15" name="Text 11"/>
          <p:cNvSpPr txBox="1"/>
          <p:nvPr/>
        </p:nvSpPr>
        <p:spPr>
          <a:xfrm>
            <a:off x="6571336" y="2505456"/>
            <a:ext cx="4742536" cy="261518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▪"/>
            </a:pPr>
            <a:r>
              <a:rPr lang="en-US" sz="135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"You are a teacher. Explain Artificial Intelligence to a complete beginner in simple English. Use one real-world example. Keep it under 120 words. End with three bullet points to remember."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▪"/>
            </a:pPr>
            <a:r>
              <a:rPr lang="en-US" sz="135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Role, task, audience, example, length and format are all specified</a:t>
            </a:r>
            <a:endParaRPr lang="en-US" sz="1350" dirty="0"/>
          </a:p>
        </p:txBody>
      </p:sp>
      <p:sp>
        <p:nvSpPr>
          <p:cNvPr id="16" name="Shape 12"/>
          <p:cNvSpPr/>
          <p:nvPr/>
        </p:nvSpPr>
        <p:spPr>
          <a:xfrm>
            <a:off x="566928" y="5458968"/>
            <a:ext cx="11057839" cy="777240"/>
          </a:xfrm>
          <a:prstGeom prst="roundRect">
            <a:avLst>
              <a:gd name="adj" fmla="val 9412"/>
            </a:avLst>
          </a:prstGeom>
          <a:solidFill>
            <a:srgbClr val="191640">
              <a:alpha val="96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7" name="Text 13"/>
          <p:cNvSpPr txBox="1"/>
          <p:nvPr/>
        </p:nvSpPr>
        <p:spPr>
          <a:xfrm>
            <a:off x="841248" y="5550408"/>
            <a:ext cx="10509199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22D3E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Key point:  </a:t>
            </a:r>
            <a:r>
              <a:rPr lang="en-US" sz="13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You did not change the model. You changed the instructions — and that is what changed the answer.</a:t>
            </a:r>
            <a:endParaRPr lang="en-US" sz="1300" dirty="0"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SLIDE 75 · TECHNIQUE 1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Zero-Shot Prompting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Section 7 · Prompt Engineering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087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11057839" cy="877824"/>
          </a:xfrm>
          <a:prstGeom prst="roundRect">
            <a:avLst>
              <a:gd name="adj" fmla="val 8333"/>
            </a:avLst>
          </a:prstGeom>
          <a:solidFill>
            <a:srgbClr val="191640">
              <a:alpha val="96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6928" y="1627632"/>
            <a:ext cx="64008" cy="585216"/>
          </a:xfrm>
          <a:prstGeom prst="roundRect">
            <a:avLst>
              <a:gd name="adj" fmla="val 42857"/>
            </a:avLst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59536" y="1572768"/>
            <a:ext cx="10472623" cy="6949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DDD9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Zero-shot means you ask for the task directly, without giving any examples.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66928" y="2615184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22960" y="2816352"/>
            <a:ext cx="457200" cy="457200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2930652"/>
            <a:ext cx="228600" cy="22860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499616" y="2816352"/>
            <a:ext cx="41847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How It Looks</a:t>
            </a:r>
            <a:endParaRPr lang="en-US" sz="1450" dirty="0"/>
          </a:p>
        </p:txBody>
      </p:sp>
      <p:sp>
        <p:nvSpPr>
          <p:cNvPr id="13" name="Text 10"/>
          <p:cNvSpPr txBox="1"/>
          <p:nvPr/>
        </p:nvSpPr>
        <p:spPr>
          <a:xfrm>
            <a:off x="841248" y="3419856"/>
            <a:ext cx="484312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"Classify this review as positive or negative: The delivery was late but the product is excellent."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33008" y="2615184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489040" y="2816352"/>
            <a:ext cx="457200" cy="457200"/>
          </a:xfrm>
          <a:prstGeom prst="ellipse">
            <a:avLst/>
          </a:prstGeom>
          <a:solidFill>
            <a:srgbClr val="22D3EE">
              <a:alpha val="16000"/>
            </a:srgbClr>
          </a:solidFill>
          <a:ln w="12700">
            <a:solidFill>
              <a:srgbClr val="22D3EE">
                <a:alpha val="45000"/>
              </a:srgbClr>
            </a:solidFill>
            <a:prstDash val="solid"/>
          </a:ln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3340" y="2930652"/>
            <a:ext cx="228600" cy="22860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7165696" y="2816352"/>
            <a:ext cx="41847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When To Use It</a:t>
            </a:r>
            <a:endParaRPr lang="en-US" sz="1450" dirty="0"/>
          </a:p>
        </p:txBody>
      </p:sp>
      <p:sp>
        <p:nvSpPr>
          <p:cNvPr id="18" name="Text 14"/>
          <p:cNvSpPr txBox="1"/>
          <p:nvPr/>
        </p:nvSpPr>
        <p:spPr>
          <a:xfrm>
            <a:off x="6507328" y="3419856"/>
            <a:ext cx="484312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For common, well-understood tasks: summarising, translating, explaining, simple classification.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566928" y="4530149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822960" y="4731317"/>
            <a:ext cx="457200" cy="457200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260" y="4845617"/>
            <a:ext cx="228600" cy="22860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499616" y="4731317"/>
            <a:ext cx="41847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Advantage</a:t>
            </a:r>
            <a:endParaRPr lang="en-US" sz="1450" dirty="0"/>
          </a:p>
        </p:txBody>
      </p:sp>
      <p:sp>
        <p:nvSpPr>
          <p:cNvPr id="23" name="Text 18"/>
          <p:cNvSpPr txBox="1"/>
          <p:nvPr/>
        </p:nvSpPr>
        <p:spPr>
          <a:xfrm>
            <a:off x="841248" y="5334821"/>
            <a:ext cx="484312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Fast to write and uses fewer tokens.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6233008" y="4530149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6489040" y="4731317"/>
            <a:ext cx="457200" cy="457200"/>
          </a:xfrm>
          <a:prstGeom prst="ellipse">
            <a:avLst/>
          </a:prstGeom>
          <a:solidFill>
            <a:srgbClr val="34D399">
              <a:alpha val="16000"/>
            </a:srgbClr>
          </a:solidFill>
          <a:ln w="12700">
            <a:solidFill>
              <a:srgbClr val="34D399">
                <a:alpha val="45000"/>
              </a:srgbClr>
            </a:solidFill>
            <a:prstDash val="solid"/>
          </a:ln>
        </p:spPr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3340" y="4845617"/>
            <a:ext cx="228600" cy="228600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7165696" y="4731317"/>
            <a:ext cx="41847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Limitation</a:t>
            </a:r>
            <a:endParaRPr lang="en-US" sz="1450" dirty="0"/>
          </a:p>
        </p:txBody>
      </p:sp>
      <p:sp>
        <p:nvSpPr>
          <p:cNvPr id="28" name="Text 22"/>
          <p:cNvSpPr txBox="1"/>
          <p:nvPr/>
        </p:nvSpPr>
        <p:spPr>
          <a:xfrm>
            <a:off x="6507328" y="5334821"/>
            <a:ext cx="484312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For unusual tasks or a very specific output style, the model has to guess what you want.</a:t>
            </a:r>
            <a:endParaRPr lang="en-US" sz="1200" dirty="0"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SLIDE 76 · TECHNIQUE 2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Few-Shot Prompting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Section 7 · Prompt Engineering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088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11057839" cy="877824"/>
          </a:xfrm>
          <a:prstGeom prst="roundRect">
            <a:avLst>
              <a:gd name="adj" fmla="val 8333"/>
            </a:avLst>
          </a:prstGeom>
          <a:solidFill>
            <a:srgbClr val="191640">
              <a:alpha val="96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6928" y="1627632"/>
            <a:ext cx="64008" cy="585216"/>
          </a:xfrm>
          <a:prstGeom prst="roundRect">
            <a:avLst>
              <a:gd name="adj" fmla="val 42857"/>
            </a:avLst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59536" y="1572768"/>
            <a:ext cx="10472623" cy="6949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DDD9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Few-shot means you show two or three examples of the task before asking for a new one.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66928" y="2615184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22960" y="2816352"/>
            <a:ext cx="457200" cy="457200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2930652"/>
            <a:ext cx="228600" cy="22860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499616" y="2816352"/>
            <a:ext cx="41847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How It Looks</a:t>
            </a:r>
            <a:endParaRPr lang="en-US" sz="1450" dirty="0"/>
          </a:p>
        </p:txBody>
      </p:sp>
      <p:sp>
        <p:nvSpPr>
          <p:cNvPr id="13" name="Text 10"/>
          <p:cNvSpPr txBox="1"/>
          <p:nvPr/>
        </p:nvSpPr>
        <p:spPr>
          <a:xfrm>
            <a:off x="841248" y="3419856"/>
            <a:ext cx="484312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Input: "battery dies fast" → Output: "Battery". Input: "screen is cracked" → Output: "Display". Then give your new input.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33008" y="2615184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489040" y="2816352"/>
            <a:ext cx="457200" cy="457200"/>
          </a:xfrm>
          <a:prstGeom prst="ellipse">
            <a:avLst/>
          </a:prstGeom>
          <a:solidFill>
            <a:srgbClr val="22D3EE">
              <a:alpha val="16000"/>
            </a:srgbClr>
          </a:solidFill>
          <a:ln w="12700">
            <a:solidFill>
              <a:srgbClr val="22D3EE">
                <a:alpha val="45000"/>
              </a:srgbClr>
            </a:solidFill>
            <a:prstDash val="solid"/>
          </a:ln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3340" y="2930652"/>
            <a:ext cx="228600" cy="22860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7165696" y="2816352"/>
            <a:ext cx="41847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Why It Works</a:t>
            </a:r>
            <a:endParaRPr lang="en-US" sz="1450" dirty="0"/>
          </a:p>
        </p:txBody>
      </p:sp>
      <p:sp>
        <p:nvSpPr>
          <p:cNvPr id="18" name="Text 14"/>
          <p:cNvSpPr txBox="1"/>
          <p:nvPr/>
        </p:nvSpPr>
        <p:spPr>
          <a:xfrm>
            <a:off x="6507328" y="3419856"/>
            <a:ext cx="484312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examples show the exact pattern, style and vocabulary you expect, far better than describing it.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566928" y="4530149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822960" y="4731317"/>
            <a:ext cx="457200" cy="457200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260" y="4845617"/>
            <a:ext cx="228600" cy="22860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499616" y="4731317"/>
            <a:ext cx="41847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Best For</a:t>
            </a:r>
            <a:endParaRPr lang="en-US" sz="1450" dirty="0"/>
          </a:p>
        </p:txBody>
      </p:sp>
      <p:sp>
        <p:nvSpPr>
          <p:cNvPr id="23" name="Text 18"/>
          <p:cNvSpPr txBox="1"/>
          <p:nvPr/>
        </p:nvSpPr>
        <p:spPr>
          <a:xfrm>
            <a:off x="841248" y="5334821"/>
            <a:ext cx="484312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Consistent formatting, custom categories, matching a specific writing style.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6233008" y="4530149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6489040" y="4731317"/>
            <a:ext cx="457200" cy="457200"/>
          </a:xfrm>
          <a:prstGeom prst="ellipse">
            <a:avLst/>
          </a:prstGeom>
          <a:solidFill>
            <a:srgbClr val="34D399">
              <a:alpha val="16000"/>
            </a:srgbClr>
          </a:solidFill>
          <a:ln w="12700">
            <a:solidFill>
              <a:srgbClr val="34D399">
                <a:alpha val="45000"/>
              </a:srgbClr>
            </a:solidFill>
            <a:prstDash val="solid"/>
          </a:ln>
        </p:spPr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3340" y="4845617"/>
            <a:ext cx="228600" cy="228600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7165696" y="4731317"/>
            <a:ext cx="41847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Limitation</a:t>
            </a:r>
            <a:endParaRPr lang="en-US" sz="1450" dirty="0"/>
          </a:p>
        </p:txBody>
      </p:sp>
      <p:sp>
        <p:nvSpPr>
          <p:cNvPr id="28" name="Text 22"/>
          <p:cNvSpPr txBox="1"/>
          <p:nvPr/>
        </p:nvSpPr>
        <p:spPr>
          <a:xfrm>
            <a:off x="6507328" y="5334821"/>
            <a:ext cx="484312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Uses more tokens, and poor examples will teach the model the wrong pattern.</a:t>
            </a:r>
            <a:endParaRPr lang="en-US" sz="1200" dirty="0"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SLIDE 77 · TECHNIQUE 3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Role Prompting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Section 7 · Prompt Engineering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089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11057839" cy="877824"/>
          </a:xfrm>
          <a:prstGeom prst="roundRect">
            <a:avLst>
              <a:gd name="adj" fmla="val 8333"/>
            </a:avLst>
          </a:prstGeom>
          <a:solidFill>
            <a:srgbClr val="191640">
              <a:alpha val="96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6928" y="1627632"/>
            <a:ext cx="64008" cy="585216"/>
          </a:xfrm>
          <a:prstGeom prst="roundRect">
            <a:avLst>
              <a:gd name="adj" fmla="val 42857"/>
            </a:avLst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59536" y="1572768"/>
            <a:ext cx="10472623" cy="6949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DDD9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Role prompting means telling the AI which perspective to take before it answers.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66928" y="2615184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22960" y="2816352"/>
            <a:ext cx="457200" cy="457200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2930652"/>
            <a:ext cx="228600" cy="22860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499616" y="2816352"/>
            <a:ext cx="41847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How It Looks</a:t>
            </a:r>
            <a:endParaRPr lang="en-US" sz="1450" dirty="0"/>
          </a:p>
        </p:txBody>
      </p:sp>
      <p:sp>
        <p:nvSpPr>
          <p:cNvPr id="13" name="Text 10"/>
          <p:cNvSpPr txBox="1"/>
          <p:nvPr/>
        </p:nvSpPr>
        <p:spPr>
          <a:xfrm>
            <a:off x="841248" y="3419856"/>
            <a:ext cx="484312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"You are a patient teacher for beginners." or "You are a careful code reviewer."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33008" y="2615184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489040" y="2816352"/>
            <a:ext cx="457200" cy="457200"/>
          </a:xfrm>
          <a:prstGeom prst="ellipse">
            <a:avLst/>
          </a:prstGeom>
          <a:solidFill>
            <a:srgbClr val="22D3EE">
              <a:alpha val="16000"/>
            </a:srgbClr>
          </a:solidFill>
          <a:ln w="12700">
            <a:solidFill>
              <a:srgbClr val="22D3EE">
                <a:alpha val="45000"/>
              </a:srgbClr>
            </a:solidFill>
            <a:prstDash val="solid"/>
          </a:ln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3340" y="2930652"/>
            <a:ext cx="228600" cy="22860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7165696" y="2816352"/>
            <a:ext cx="41847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What It Changes</a:t>
            </a:r>
            <a:endParaRPr lang="en-US" sz="1450" dirty="0"/>
          </a:p>
        </p:txBody>
      </p:sp>
      <p:sp>
        <p:nvSpPr>
          <p:cNvPr id="18" name="Text 14"/>
          <p:cNvSpPr txBox="1"/>
          <p:nvPr/>
        </p:nvSpPr>
        <p:spPr>
          <a:xfrm>
            <a:off x="6507328" y="3419856"/>
            <a:ext cx="484312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Vocabulary, depth, tone and what the model considers important enough to mention.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566928" y="4530149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822960" y="4731317"/>
            <a:ext cx="457200" cy="457200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260" y="4845617"/>
            <a:ext cx="228600" cy="22860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499616" y="4731317"/>
            <a:ext cx="41847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Example</a:t>
            </a:r>
            <a:endParaRPr lang="en-US" sz="1450" dirty="0"/>
          </a:p>
        </p:txBody>
      </p:sp>
      <p:sp>
        <p:nvSpPr>
          <p:cNvPr id="23" name="Text 18"/>
          <p:cNvSpPr txBox="1"/>
          <p:nvPr/>
        </p:nvSpPr>
        <p:spPr>
          <a:xfrm>
            <a:off x="841248" y="5334821"/>
            <a:ext cx="484312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same question answered "as a teacher" versus "as a research scientist" gives two very different levels of detail.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6233008" y="4530149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6489040" y="4731317"/>
            <a:ext cx="457200" cy="457200"/>
          </a:xfrm>
          <a:prstGeom prst="ellipse">
            <a:avLst/>
          </a:prstGeom>
          <a:solidFill>
            <a:srgbClr val="34D399">
              <a:alpha val="16000"/>
            </a:srgbClr>
          </a:solidFill>
          <a:ln w="12700">
            <a:solidFill>
              <a:srgbClr val="34D399">
                <a:alpha val="45000"/>
              </a:srgbClr>
            </a:solidFill>
            <a:prstDash val="solid"/>
          </a:ln>
        </p:spPr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3340" y="4845617"/>
            <a:ext cx="228600" cy="228600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7165696" y="4731317"/>
            <a:ext cx="41847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Important Limit</a:t>
            </a:r>
            <a:endParaRPr lang="en-US" sz="1450" dirty="0"/>
          </a:p>
        </p:txBody>
      </p:sp>
      <p:sp>
        <p:nvSpPr>
          <p:cNvPr id="28" name="Text 22"/>
          <p:cNvSpPr txBox="1"/>
          <p:nvPr/>
        </p:nvSpPr>
        <p:spPr>
          <a:xfrm>
            <a:off x="6507328" y="5334821"/>
            <a:ext cx="484312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role changes style and focus. It does not give the model real expertise or credentials.</a:t>
            </a:r>
            <a:endParaRPr lang="en-US" sz="1200" dirty="0"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SLIDE 78 · TECHNIQUE 4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Context Prompting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Section 7 · Prompt Engineering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090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11057839" cy="877824"/>
          </a:xfrm>
          <a:prstGeom prst="roundRect">
            <a:avLst>
              <a:gd name="adj" fmla="val 8333"/>
            </a:avLst>
          </a:prstGeom>
          <a:solidFill>
            <a:srgbClr val="191640">
              <a:alpha val="96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6928" y="1627632"/>
            <a:ext cx="64008" cy="585216"/>
          </a:xfrm>
          <a:prstGeom prst="roundRect">
            <a:avLst>
              <a:gd name="adj" fmla="val 42857"/>
            </a:avLst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59536" y="1572768"/>
            <a:ext cx="10472623" cy="6949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DDD9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Context prompting means giving the model the background facts it needs before asking the question.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66928" y="2615184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22960" y="2816352"/>
            <a:ext cx="457200" cy="457200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2930652"/>
            <a:ext cx="228600" cy="22860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499616" y="2816352"/>
            <a:ext cx="41847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How It Looks</a:t>
            </a:r>
            <a:endParaRPr lang="en-US" sz="1450" dirty="0"/>
          </a:p>
        </p:txBody>
      </p:sp>
      <p:sp>
        <p:nvSpPr>
          <p:cNvPr id="13" name="Text 10"/>
          <p:cNvSpPr txBox="1"/>
          <p:nvPr/>
        </p:nvSpPr>
        <p:spPr>
          <a:xfrm>
            <a:off x="841248" y="3419856"/>
            <a:ext cx="484312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Paste the relevant paragraph, policy or data, then ask your question about it.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33008" y="2615184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489040" y="2816352"/>
            <a:ext cx="457200" cy="457200"/>
          </a:xfrm>
          <a:prstGeom prst="ellipse">
            <a:avLst/>
          </a:prstGeom>
          <a:solidFill>
            <a:srgbClr val="22D3EE">
              <a:alpha val="16000"/>
            </a:srgbClr>
          </a:solidFill>
          <a:ln w="12700">
            <a:solidFill>
              <a:srgbClr val="22D3EE">
                <a:alpha val="45000"/>
              </a:srgbClr>
            </a:solidFill>
            <a:prstDash val="solid"/>
          </a:ln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3340" y="2930652"/>
            <a:ext cx="228600" cy="22860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7165696" y="2816352"/>
            <a:ext cx="41847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The Big Benefit</a:t>
            </a:r>
            <a:endParaRPr lang="en-US" sz="1450" dirty="0"/>
          </a:p>
        </p:txBody>
      </p:sp>
      <p:sp>
        <p:nvSpPr>
          <p:cNvPr id="18" name="Text 14"/>
          <p:cNvSpPr txBox="1"/>
          <p:nvPr/>
        </p:nvSpPr>
        <p:spPr>
          <a:xfrm>
            <a:off x="6507328" y="3419856"/>
            <a:ext cx="484312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model answers from what you supplied instead of from vague memory, which reduces invented facts.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566928" y="4530149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822960" y="4731317"/>
            <a:ext cx="457200" cy="457200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260" y="4845617"/>
            <a:ext cx="228600" cy="22860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499616" y="4731317"/>
            <a:ext cx="41847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Example</a:t>
            </a:r>
            <a:endParaRPr lang="en-US" sz="1450" dirty="0"/>
          </a:p>
        </p:txBody>
      </p:sp>
      <p:sp>
        <p:nvSpPr>
          <p:cNvPr id="23" name="Text 18"/>
          <p:cNvSpPr txBox="1"/>
          <p:nvPr/>
        </p:nvSpPr>
        <p:spPr>
          <a:xfrm>
            <a:off x="841248" y="5334821"/>
            <a:ext cx="484312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Paste a fictional company leave policy, then ask "How many days of leave does a new employee get?"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6233008" y="4530149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6489040" y="4731317"/>
            <a:ext cx="457200" cy="457200"/>
          </a:xfrm>
          <a:prstGeom prst="ellipse">
            <a:avLst/>
          </a:prstGeom>
          <a:solidFill>
            <a:srgbClr val="34D399">
              <a:alpha val="16000"/>
            </a:srgbClr>
          </a:solidFill>
          <a:ln w="12700">
            <a:solidFill>
              <a:srgbClr val="34D399">
                <a:alpha val="45000"/>
              </a:srgbClr>
            </a:solidFill>
            <a:prstDash val="solid"/>
          </a:ln>
        </p:spPr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3340" y="4845617"/>
            <a:ext cx="228600" cy="228600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7165696" y="4731317"/>
            <a:ext cx="41847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Pro Tip</a:t>
            </a:r>
            <a:endParaRPr lang="en-US" sz="1450" dirty="0"/>
          </a:p>
        </p:txBody>
      </p:sp>
      <p:sp>
        <p:nvSpPr>
          <p:cNvPr id="28" name="Text 22"/>
          <p:cNvSpPr txBox="1"/>
          <p:nvPr/>
        </p:nvSpPr>
        <p:spPr>
          <a:xfrm>
            <a:off x="6507328" y="5334821"/>
            <a:ext cx="484312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Add: "Answer only from the text above. If it is not stated, say so."</a:t>
            </a:r>
            <a:endParaRPr lang="en-US" sz="1200" dirty="0"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SLIDE 79 · TECHNIQUE 5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Step-by-Step Instructions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Section 7 · Prompt Engineering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091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11057839" cy="877824"/>
          </a:xfrm>
          <a:prstGeom prst="roundRect">
            <a:avLst>
              <a:gd name="adj" fmla="val 8333"/>
            </a:avLst>
          </a:prstGeom>
          <a:solidFill>
            <a:srgbClr val="191640">
              <a:alpha val="96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6928" y="1627632"/>
            <a:ext cx="64008" cy="585216"/>
          </a:xfrm>
          <a:prstGeom prst="roundRect">
            <a:avLst>
              <a:gd name="adj" fmla="val 42857"/>
            </a:avLst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59536" y="1572768"/>
            <a:ext cx="10472623" cy="6949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DDD9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Asking the model to work through a problem in steps often produces a more reliable answer.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66928" y="2615184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22960" y="2816352"/>
            <a:ext cx="457200" cy="457200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2930652"/>
            <a:ext cx="228600" cy="22860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499616" y="2816352"/>
            <a:ext cx="41847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How It Looks</a:t>
            </a:r>
            <a:endParaRPr lang="en-US" sz="1450" dirty="0"/>
          </a:p>
        </p:txBody>
      </p:sp>
      <p:sp>
        <p:nvSpPr>
          <p:cNvPr id="13" name="Text 10"/>
          <p:cNvSpPr txBox="1"/>
          <p:nvPr/>
        </p:nvSpPr>
        <p:spPr>
          <a:xfrm>
            <a:off x="841248" y="3419856"/>
            <a:ext cx="484312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"Solve this step by step and show your working before giving the final answer."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33008" y="2615184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489040" y="2816352"/>
            <a:ext cx="457200" cy="457200"/>
          </a:xfrm>
          <a:prstGeom prst="ellipse">
            <a:avLst/>
          </a:prstGeom>
          <a:solidFill>
            <a:srgbClr val="22D3EE">
              <a:alpha val="16000"/>
            </a:srgbClr>
          </a:solidFill>
          <a:ln w="12700">
            <a:solidFill>
              <a:srgbClr val="22D3EE">
                <a:alpha val="45000"/>
              </a:srgbClr>
            </a:solidFill>
            <a:prstDash val="solid"/>
          </a:ln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3340" y="2930652"/>
            <a:ext cx="228600" cy="22860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7165696" y="2816352"/>
            <a:ext cx="41847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Why It Helps</a:t>
            </a:r>
            <a:endParaRPr lang="en-US" sz="1450" dirty="0"/>
          </a:p>
        </p:txBody>
      </p:sp>
      <p:sp>
        <p:nvSpPr>
          <p:cNvPr id="18" name="Text 14"/>
          <p:cNvSpPr txBox="1"/>
          <p:nvPr/>
        </p:nvSpPr>
        <p:spPr>
          <a:xfrm>
            <a:off x="6507328" y="3419856"/>
            <a:ext cx="484312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Writing the intermediate steps gives the model more room to reason, instead of jumping to a guess.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566928" y="4530149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822960" y="4731317"/>
            <a:ext cx="457200" cy="457200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260" y="4845617"/>
            <a:ext cx="228600" cy="22860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499616" y="4731317"/>
            <a:ext cx="41847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Also Useful For</a:t>
            </a:r>
            <a:endParaRPr lang="en-US" sz="1450" dirty="0"/>
          </a:p>
        </p:txBody>
      </p:sp>
      <p:sp>
        <p:nvSpPr>
          <p:cNvPr id="23" name="Text 18"/>
          <p:cNvSpPr txBox="1"/>
          <p:nvPr/>
        </p:nvSpPr>
        <p:spPr>
          <a:xfrm>
            <a:off x="841248" y="5334821"/>
            <a:ext cx="484312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Breaking a big task into an ordered plan: "First list the sections, then write section one."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6233008" y="4530149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6489040" y="4731317"/>
            <a:ext cx="457200" cy="457200"/>
          </a:xfrm>
          <a:prstGeom prst="ellipse">
            <a:avLst/>
          </a:prstGeom>
          <a:solidFill>
            <a:srgbClr val="34D399">
              <a:alpha val="16000"/>
            </a:srgbClr>
          </a:solidFill>
          <a:ln w="12700">
            <a:solidFill>
              <a:srgbClr val="34D399">
                <a:alpha val="45000"/>
              </a:srgbClr>
            </a:solidFill>
            <a:prstDash val="solid"/>
          </a:ln>
        </p:spPr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3340" y="4845617"/>
            <a:ext cx="228600" cy="228600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7165696" y="4731317"/>
            <a:ext cx="41847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Still Verify</a:t>
            </a:r>
            <a:endParaRPr lang="en-US" sz="1450" dirty="0"/>
          </a:p>
        </p:txBody>
      </p:sp>
      <p:sp>
        <p:nvSpPr>
          <p:cNvPr id="28" name="Text 22"/>
          <p:cNvSpPr txBox="1"/>
          <p:nvPr/>
        </p:nvSpPr>
        <p:spPr>
          <a:xfrm>
            <a:off x="6507328" y="5334821"/>
            <a:ext cx="484312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Neat-looking steps can still contain a wrong step. Check the reasoning, not just the final line.</a:t>
            </a:r>
            <a:endParaRPr lang="en-US" sz="1200" dirty="0"/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SLIDE 80 · TECHNIQUE 6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Output Format Instructions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Section 7 · Prompt Engineering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092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11057839" cy="877824"/>
          </a:xfrm>
          <a:prstGeom prst="roundRect">
            <a:avLst>
              <a:gd name="adj" fmla="val 8333"/>
            </a:avLst>
          </a:prstGeom>
          <a:solidFill>
            <a:srgbClr val="191640">
              <a:alpha val="96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6928" y="1627632"/>
            <a:ext cx="64008" cy="585216"/>
          </a:xfrm>
          <a:prstGeom prst="roundRect">
            <a:avLst>
              <a:gd name="adj" fmla="val 42857"/>
            </a:avLst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59536" y="1572768"/>
            <a:ext cx="10472623" cy="6949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DDD9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Telling the model exactly what shape the answer should take saves a great deal of editing.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66928" y="2615184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22960" y="2816352"/>
            <a:ext cx="457200" cy="457200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2930652"/>
            <a:ext cx="228600" cy="22860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499616" y="2816352"/>
            <a:ext cx="41847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Ask For A Table</a:t>
            </a:r>
            <a:endParaRPr lang="en-US" sz="1450" dirty="0"/>
          </a:p>
        </p:txBody>
      </p:sp>
      <p:sp>
        <p:nvSpPr>
          <p:cNvPr id="13" name="Text 10"/>
          <p:cNvSpPr txBox="1"/>
          <p:nvPr/>
        </p:nvSpPr>
        <p:spPr>
          <a:xfrm>
            <a:off x="841248" y="3419856"/>
            <a:ext cx="484312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"Give the answer as a table with columns: Feature, Benefit, Example."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33008" y="2615184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489040" y="2816352"/>
            <a:ext cx="457200" cy="457200"/>
          </a:xfrm>
          <a:prstGeom prst="ellipse">
            <a:avLst/>
          </a:prstGeom>
          <a:solidFill>
            <a:srgbClr val="22D3EE">
              <a:alpha val="16000"/>
            </a:srgbClr>
          </a:solidFill>
          <a:ln w="12700">
            <a:solidFill>
              <a:srgbClr val="22D3EE">
                <a:alpha val="45000"/>
              </a:srgbClr>
            </a:solidFill>
            <a:prstDash val="solid"/>
          </a:ln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3340" y="2930652"/>
            <a:ext cx="228600" cy="22860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7165696" y="2816352"/>
            <a:ext cx="41847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Ask For Bullets</a:t>
            </a:r>
            <a:endParaRPr lang="en-US" sz="1450" dirty="0"/>
          </a:p>
        </p:txBody>
      </p:sp>
      <p:sp>
        <p:nvSpPr>
          <p:cNvPr id="18" name="Text 14"/>
          <p:cNvSpPr txBox="1"/>
          <p:nvPr/>
        </p:nvSpPr>
        <p:spPr>
          <a:xfrm>
            <a:off x="6507328" y="3419856"/>
            <a:ext cx="484312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"Answer as exactly five bullet points, one line each."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566928" y="4530149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822960" y="4731317"/>
            <a:ext cx="457200" cy="457200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260" y="4845617"/>
            <a:ext cx="228600" cy="22860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499616" y="4731317"/>
            <a:ext cx="41847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Ask For Data</a:t>
            </a:r>
            <a:endParaRPr lang="en-US" sz="1450" dirty="0"/>
          </a:p>
        </p:txBody>
      </p:sp>
      <p:sp>
        <p:nvSpPr>
          <p:cNvPr id="23" name="Text 18"/>
          <p:cNvSpPr txBox="1"/>
          <p:nvPr/>
        </p:nvSpPr>
        <p:spPr>
          <a:xfrm>
            <a:off x="841248" y="5334821"/>
            <a:ext cx="484312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"Return valid JSON only, with no explanation text around it."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6233008" y="4530149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6489040" y="4731317"/>
            <a:ext cx="457200" cy="457200"/>
          </a:xfrm>
          <a:prstGeom prst="ellipse">
            <a:avLst/>
          </a:prstGeom>
          <a:solidFill>
            <a:srgbClr val="34D399">
              <a:alpha val="16000"/>
            </a:srgbClr>
          </a:solidFill>
          <a:ln w="12700">
            <a:solidFill>
              <a:srgbClr val="34D399">
                <a:alpha val="45000"/>
              </a:srgbClr>
            </a:solidFill>
            <a:prstDash val="solid"/>
          </a:ln>
        </p:spPr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3340" y="4845617"/>
            <a:ext cx="228600" cy="228600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7165696" y="4731317"/>
            <a:ext cx="41847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Ask For Length And Tone</a:t>
            </a:r>
            <a:endParaRPr lang="en-US" sz="1450" dirty="0"/>
          </a:p>
        </p:txBody>
      </p:sp>
      <p:sp>
        <p:nvSpPr>
          <p:cNvPr id="28" name="Text 22"/>
          <p:cNvSpPr txBox="1"/>
          <p:nvPr/>
        </p:nvSpPr>
        <p:spPr>
          <a:xfrm>
            <a:off x="6507328" y="5334821"/>
            <a:ext cx="484312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"Under 100 words, friendly tone, no jargon."</a:t>
            </a:r>
            <a:endParaRPr lang="en-US" sz="1200" dirty="0"/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SLIDE 81 · ITERATION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Prompt Refinement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Section 7 · Prompt Engineering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093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481328"/>
            <a:ext cx="11057839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DDD9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Your first prompt is a draft. Good results usually come from a short improvement loop.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66928" y="2747772"/>
            <a:ext cx="1809232" cy="1691640"/>
          </a:xfrm>
          <a:prstGeom prst="roundRect">
            <a:avLst>
              <a:gd name="adj" fmla="val 4324"/>
            </a:avLst>
          </a:prstGeom>
          <a:solidFill>
            <a:srgbClr val="191640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297808" y="2574036"/>
            <a:ext cx="347472" cy="347472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297808" y="2574036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0A1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94944" y="3022092"/>
            <a:ext cx="1553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A78BF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Write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94944" y="3479292"/>
            <a:ext cx="1553200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Send a clear first attempt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2467600" y="3474720"/>
            <a:ext cx="320040" cy="237744"/>
          </a:xfrm>
          <a:prstGeom prst="rightArrow">
            <a:avLst/>
          </a:prstGeom>
          <a:solidFill>
            <a:srgbClr val="22D3EE">
              <a:alpha val="70000"/>
            </a:srgbClr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879080" y="2747772"/>
            <a:ext cx="1809232" cy="1691640"/>
          </a:xfrm>
          <a:prstGeom prst="roundRect">
            <a:avLst>
              <a:gd name="adj" fmla="val 4324"/>
            </a:avLst>
          </a:prstGeom>
          <a:solidFill>
            <a:srgbClr val="191640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09960" y="2574036"/>
            <a:ext cx="347472" cy="34747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609960" y="2574036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0A1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3007096" y="3022092"/>
            <a:ext cx="1553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2D3E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Read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3007096" y="3479292"/>
            <a:ext cx="1553200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Identify exactly what is wrong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779752" y="3474720"/>
            <a:ext cx="320040" cy="237744"/>
          </a:xfrm>
          <a:prstGeom prst="rightArrow">
            <a:avLst/>
          </a:prstGeom>
          <a:solidFill>
            <a:srgbClr val="22D3EE">
              <a:alpha val="70000"/>
            </a:srgbClr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191232" y="2747772"/>
            <a:ext cx="1809232" cy="1691640"/>
          </a:xfrm>
          <a:prstGeom prst="roundRect">
            <a:avLst>
              <a:gd name="adj" fmla="val 4324"/>
            </a:avLst>
          </a:prstGeom>
          <a:solidFill>
            <a:srgbClr val="191640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922112" y="2574036"/>
            <a:ext cx="347472" cy="347472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922112" y="2574036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0A1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5319248" y="3022092"/>
            <a:ext cx="1553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BBF2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Adjust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5319248" y="3479292"/>
            <a:ext cx="1553200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Add the missing role, context or constraint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7091904" y="3474720"/>
            <a:ext cx="320040" cy="237744"/>
          </a:xfrm>
          <a:prstGeom prst="rightArrow">
            <a:avLst/>
          </a:prstGeom>
          <a:solidFill>
            <a:srgbClr val="22D3EE">
              <a:alpha val="70000"/>
            </a:srgbClr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503384" y="2747772"/>
            <a:ext cx="1809232" cy="1691640"/>
          </a:xfrm>
          <a:prstGeom prst="roundRect">
            <a:avLst>
              <a:gd name="adj" fmla="val 4324"/>
            </a:avLst>
          </a:prstGeom>
          <a:solidFill>
            <a:srgbClr val="191640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8234263" y="2574036"/>
            <a:ext cx="347472" cy="347472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234263" y="2574036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0A1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4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7631400" y="3022092"/>
            <a:ext cx="1553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4D39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Re-run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7631400" y="3479292"/>
            <a:ext cx="1553200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Send the improved version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9404055" y="3474720"/>
            <a:ext cx="320040" cy="237744"/>
          </a:xfrm>
          <a:prstGeom prst="rightArrow">
            <a:avLst/>
          </a:prstGeom>
          <a:solidFill>
            <a:srgbClr val="22D3EE">
              <a:alpha val="70000"/>
            </a:srgbClr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815535" y="2747772"/>
            <a:ext cx="1809232" cy="1691640"/>
          </a:xfrm>
          <a:prstGeom prst="roundRect">
            <a:avLst>
              <a:gd name="adj" fmla="val 4324"/>
            </a:avLst>
          </a:prstGeom>
          <a:solidFill>
            <a:srgbClr val="191640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10546415" y="2574036"/>
            <a:ext cx="347472" cy="347472"/>
          </a:xfrm>
          <a:prstGeom prst="ellipse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10546415" y="2574036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0A1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5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9943551" y="3022092"/>
            <a:ext cx="1553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472B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Save</a:t>
            </a:r>
            <a:endParaRPr lang="en-US" sz="1400" dirty="0"/>
          </a:p>
        </p:txBody>
      </p:sp>
      <p:sp>
        <p:nvSpPr>
          <p:cNvPr id="35" name="Text 33"/>
          <p:cNvSpPr txBox="1"/>
          <p:nvPr/>
        </p:nvSpPr>
        <p:spPr>
          <a:xfrm>
            <a:off x="9943551" y="3479292"/>
            <a:ext cx="1553200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Keep the prompt that worked as a template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566928" y="5276088"/>
            <a:ext cx="11057839" cy="960120"/>
          </a:xfrm>
          <a:prstGeom prst="roundRect">
            <a:avLst>
              <a:gd name="adj" fmla="val 7619"/>
            </a:avLst>
          </a:prstGeom>
          <a:solidFill>
            <a:srgbClr val="191640">
              <a:alpha val="96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37" name="Text 35"/>
          <p:cNvSpPr txBox="1"/>
          <p:nvPr/>
        </p:nvSpPr>
        <p:spPr>
          <a:xfrm>
            <a:off x="841248" y="5385816"/>
            <a:ext cx="10509199" cy="7406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A78BF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Remember:  </a:t>
            </a:r>
            <a:r>
              <a:rPr lang="en-US" sz="13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Say what to change, not just "make it better": "Shorter, no jargon, and add one example" works far better.</a:t>
            </a:r>
            <a:endParaRPr lang="en-US" sz="1300" dirty="0"/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SLIDE 82 · REUSE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Prompt Templates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Section 7 · Prompt Engineering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094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11057839" cy="877824"/>
          </a:xfrm>
          <a:prstGeom prst="roundRect">
            <a:avLst>
              <a:gd name="adj" fmla="val 8333"/>
            </a:avLst>
          </a:prstGeom>
          <a:solidFill>
            <a:srgbClr val="191640">
              <a:alpha val="96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6928" y="1627632"/>
            <a:ext cx="64008" cy="585216"/>
          </a:xfrm>
          <a:prstGeom prst="roundRect">
            <a:avLst>
              <a:gd name="adj" fmla="val 42857"/>
            </a:avLst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59536" y="1572768"/>
            <a:ext cx="10472623" cy="6949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DDD9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template is a reusable prompt with blanks you fill in each time.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66928" y="2615184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22960" y="2816352"/>
            <a:ext cx="457200" cy="457200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2930652"/>
            <a:ext cx="228600" cy="22860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499616" y="2816352"/>
            <a:ext cx="41847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Example Template</a:t>
            </a:r>
            <a:endParaRPr lang="en-US" sz="1450" dirty="0"/>
          </a:p>
        </p:txBody>
      </p:sp>
      <p:sp>
        <p:nvSpPr>
          <p:cNvPr id="13" name="Text 10"/>
          <p:cNvSpPr txBox="1"/>
          <p:nvPr/>
        </p:nvSpPr>
        <p:spPr>
          <a:xfrm>
            <a:off x="841248" y="3419856"/>
            <a:ext cx="484312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"You are a [ROLE]. Explain [TOPIC] to [AUDIENCE] in [LENGTH]. Use one example. Format: [FORMAT]."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33008" y="2615184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489040" y="2816352"/>
            <a:ext cx="457200" cy="457200"/>
          </a:xfrm>
          <a:prstGeom prst="ellipse">
            <a:avLst/>
          </a:prstGeom>
          <a:solidFill>
            <a:srgbClr val="22D3EE">
              <a:alpha val="16000"/>
            </a:srgbClr>
          </a:solidFill>
          <a:ln w="12700">
            <a:solidFill>
              <a:srgbClr val="22D3EE">
                <a:alpha val="45000"/>
              </a:srgbClr>
            </a:solidFill>
            <a:prstDash val="solid"/>
          </a:ln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3340" y="2930652"/>
            <a:ext cx="228600" cy="22860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7165696" y="2816352"/>
            <a:ext cx="41847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Why Use Templates</a:t>
            </a:r>
            <a:endParaRPr lang="en-US" sz="1450" dirty="0"/>
          </a:p>
        </p:txBody>
      </p:sp>
      <p:sp>
        <p:nvSpPr>
          <p:cNvPr id="18" name="Text 14"/>
          <p:cNvSpPr txBox="1"/>
          <p:nvPr/>
        </p:nvSpPr>
        <p:spPr>
          <a:xfrm>
            <a:off x="6507328" y="3419856"/>
            <a:ext cx="484312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Consistent quality, faster work, and everyone on the team gets similar results.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566928" y="4530149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822960" y="4731317"/>
            <a:ext cx="457200" cy="457200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260" y="4845617"/>
            <a:ext cx="228600" cy="22860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499616" y="4731317"/>
            <a:ext cx="41847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Where They Help Most</a:t>
            </a:r>
            <a:endParaRPr lang="en-US" sz="1450" dirty="0"/>
          </a:p>
        </p:txBody>
      </p:sp>
      <p:sp>
        <p:nvSpPr>
          <p:cNvPr id="23" name="Text 18"/>
          <p:cNvSpPr txBox="1"/>
          <p:nvPr/>
        </p:nvSpPr>
        <p:spPr>
          <a:xfrm>
            <a:off x="841248" y="5334821"/>
            <a:ext cx="484312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Repeated tasks: weekly summaries, customer reply drafts, question banks, code reviews.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6233008" y="4530149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6489040" y="4731317"/>
            <a:ext cx="457200" cy="457200"/>
          </a:xfrm>
          <a:prstGeom prst="ellipse">
            <a:avLst/>
          </a:prstGeom>
          <a:solidFill>
            <a:srgbClr val="34D399">
              <a:alpha val="16000"/>
            </a:srgbClr>
          </a:solidFill>
          <a:ln w="12700">
            <a:solidFill>
              <a:srgbClr val="34D399">
                <a:alpha val="45000"/>
              </a:srgbClr>
            </a:solidFill>
            <a:prstDash val="solid"/>
          </a:ln>
        </p:spPr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3340" y="4845617"/>
            <a:ext cx="228600" cy="228600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7165696" y="4731317"/>
            <a:ext cx="41847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Build Your Own Library</a:t>
            </a:r>
            <a:endParaRPr lang="en-US" sz="1450" dirty="0"/>
          </a:p>
        </p:txBody>
      </p:sp>
      <p:sp>
        <p:nvSpPr>
          <p:cNvPr id="28" name="Text 22"/>
          <p:cNvSpPr txBox="1"/>
          <p:nvPr/>
        </p:nvSpPr>
        <p:spPr>
          <a:xfrm>
            <a:off x="6507328" y="5334821"/>
            <a:ext cx="484312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Keep a document of prompts that worked well. This becomes a genuinely valuable personal asset.</a:t>
            </a:r>
            <a:endParaRPr lang="en-US" sz="1200" dirty="0"/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SLIDE 83 · AUDIENCE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Prompting for Students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Section 7 · Prompt Engineering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095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11057839" cy="833933"/>
          </a:xfrm>
          <a:prstGeom prst="roundRect">
            <a:avLst>
              <a:gd name="adj" fmla="val 8772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04672" y="1642262"/>
            <a:ext cx="512064" cy="512064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" y="1770278"/>
            <a:ext cx="256032" cy="256032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554480" y="1591056"/>
            <a:ext cx="9795967" cy="61447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Ask for simpler explanations</a:t>
            </a:r>
            <a:endParaRPr lang="en-US" sz="13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"Explain this topic as if I am completely new to it, with one everyday example."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566928" y="2461565"/>
            <a:ext cx="11057839" cy="833933"/>
          </a:xfrm>
          <a:prstGeom prst="roundRect">
            <a:avLst>
              <a:gd name="adj" fmla="val 8772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804672" y="2622499"/>
            <a:ext cx="512064" cy="512064"/>
          </a:xfrm>
          <a:prstGeom prst="ellipse">
            <a:avLst/>
          </a:prstGeom>
          <a:solidFill>
            <a:srgbClr val="22D3EE">
              <a:alpha val="16000"/>
            </a:srgbClr>
          </a:solidFill>
          <a:ln w="12700">
            <a:solidFill>
              <a:srgbClr val="22D3EE">
                <a:alpha val="45000"/>
              </a:srgbClr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" y="2750515"/>
            <a:ext cx="256032" cy="256032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554480" y="2571293"/>
            <a:ext cx="9795967" cy="61447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Generate practice questions</a:t>
            </a:r>
            <a:endParaRPr lang="en-US" sz="13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"Create 10 beginner questions on this chapter with answers at the end."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566928" y="3441802"/>
            <a:ext cx="11057839" cy="833933"/>
          </a:xfrm>
          <a:prstGeom prst="roundRect">
            <a:avLst>
              <a:gd name="adj" fmla="val 8772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04672" y="3602736"/>
            <a:ext cx="512064" cy="512064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" y="3730752"/>
            <a:ext cx="256032" cy="256032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554480" y="3551530"/>
            <a:ext cx="9795967" cy="61447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Get feedback on your own work</a:t>
            </a:r>
            <a:endParaRPr lang="en-US" sz="13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"Review my paragraph for clarity and grammar. Do not rewrite it — list what to fix."</a:t>
            </a:r>
            <a:endParaRPr lang="en-US" sz="1350" dirty="0"/>
          </a:p>
        </p:txBody>
      </p:sp>
      <p:sp>
        <p:nvSpPr>
          <p:cNvPr id="18" name="Shape 13"/>
          <p:cNvSpPr/>
          <p:nvPr/>
        </p:nvSpPr>
        <p:spPr>
          <a:xfrm>
            <a:off x="566928" y="4422038"/>
            <a:ext cx="11057839" cy="833933"/>
          </a:xfrm>
          <a:prstGeom prst="roundRect">
            <a:avLst>
              <a:gd name="adj" fmla="val 8772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804672" y="4582973"/>
            <a:ext cx="512064" cy="512064"/>
          </a:xfrm>
          <a:prstGeom prst="ellipse">
            <a:avLst/>
          </a:prstGeom>
          <a:solidFill>
            <a:srgbClr val="34D399">
              <a:alpha val="16000"/>
            </a:srgbClr>
          </a:solidFill>
          <a:ln w="12700">
            <a:solidFill>
              <a:srgbClr val="34D399">
                <a:alpha val="45000"/>
              </a:srgbClr>
            </a:solidFill>
            <a:prstDash val="solid"/>
          </a:ln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688" y="4710989"/>
            <a:ext cx="256032" cy="256032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554480" y="4531766"/>
            <a:ext cx="9795967" cy="61447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Check your understanding</a:t>
            </a:r>
            <a:endParaRPr lang="en-US" sz="13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"I think X works like this. Point out anything I have misunderstood."</a:t>
            </a:r>
            <a:endParaRPr lang="en-US" sz="1350" dirty="0"/>
          </a:p>
        </p:txBody>
      </p:sp>
      <p:sp>
        <p:nvSpPr>
          <p:cNvPr id="22" name="Shape 16"/>
          <p:cNvSpPr/>
          <p:nvPr/>
        </p:nvSpPr>
        <p:spPr>
          <a:xfrm>
            <a:off x="566928" y="5402275"/>
            <a:ext cx="11057839" cy="833933"/>
          </a:xfrm>
          <a:prstGeom prst="roundRect">
            <a:avLst>
              <a:gd name="adj" fmla="val 8772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804672" y="5563210"/>
            <a:ext cx="512064" cy="512064"/>
          </a:xfrm>
          <a:prstGeom prst="ellipse">
            <a:avLst/>
          </a:prstGeom>
          <a:solidFill>
            <a:srgbClr val="F472B6">
              <a:alpha val="16000"/>
            </a:srgbClr>
          </a:solidFill>
          <a:ln w="12700">
            <a:solidFill>
              <a:srgbClr val="F472B6">
                <a:alpha val="45000"/>
              </a:srgbClr>
            </a:solidFill>
            <a:prstDash val="solid"/>
          </a:ln>
        </p:spPr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2688" y="5691226"/>
            <a:ext cx="256032" cy="256032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1554480" y="5512003"/>
            <a:ext cx="9795967" cy="61447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Use it honestly</a:t>
            </a:r>
            <a:endParaRPr lang="en-US" sz="13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 AI to understand and to check, not to submit work you did not do. Follow your institution rules.</a:t>
            </a:r>
            <a:endParaRPr lang="en-US" sz="1350" dirty="0"/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SLIDE 84 · AUDIENCE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Prompting for Teachers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Section 7 · Prompt Engineering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096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11057839" cy="833933"/>
          </a:xfrm>
          <a:prstGeom prst="roundRect">
            <a:avLst>
              <a:gd name="adj" fmla="val 8772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04672" y="1642262"/>
            <a:ext cx="512064" cy="512064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" y="1770278"/>
            <a:ext cx="256032" cy="256032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554480" y="1591056"/>
            <a:ext cx="9795967" cy="61447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Lesson planning</a:t>
            </a:r>
            <a:endParaRPr lang="en-US" sz="13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"Create a 45-minute lesson outline on computer networks for first-year students."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566928" y="2461565"/>
            <a:ext cx="11057839" cy="833933"/>
          </a:xfrm>
          <a:prstGeom prst="roundRect">
            <a:avLst>
              <a:gd name="adj" fmla="val 8772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804672" y="2622499"/>
            <a:ext cx="512064" cy="512064"/>
          </a:xfrm>
          <a:prstGeom prst="ellipse">
            <a:avLst/>
          </a:prstGeom>
          <a:solidFill>
            <a:srgbClr val="22D3EE">
              <a:alpha val="16000"/>
            </a:srgbClr>
          </a:solidFill>
          <a:ln w="12700">
            <a:solidFill>
              <a:srgbClr val="22D3EE">
                <a:alpha val="45000"/>
              </a:srgbClr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" y="2750515"/>
            <a:ext cx="256032" cy="256032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554480" y="2571293"/>
            <a:ext cx="9795967" cy="61447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Question banks</a:t>
            </a:r>
            <a:endParaRPr lang="en-US" sz="13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"Create 10 beginner-level MCQs about computer networks with one correct answer each."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566928" y="3441802"/>
            <a:ext cx="11057839" cy="833933"/>
          </a:xfrm>
          <a:prstGeom prst="roundRect">
            <a:avLst>
              <a:gd name="adj" fmla="val 8772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04672" y="3602736"/>
            <a:ext cx="512064" cy="512064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" y="3730752"/>
            <a:ext cx="256032" cy="256032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554480" y="3551530"/>
            <a:ext cx="9795967" cy="61447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Differentiation</a:t>
            </a:r>
            <a:endParaRPr lang="en-US" sz="13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"Rewrite this explanation at three levels: beginner, intermediate and advanced."</a:t>
            </a:r>
            <a:endParaRPr lang="en-US" sz="1350" dirty="0"/>
          </a:p>
        </p:txBody>
      </p:sp>
      <p:sp>
        <p:nvSpPr>
          <p:cNvPr id="18" name="Shape 13"/>
          <p:cNvSpPr/>
          <p:nvPr/>
        </p:nvSpPr>
        <p:spPr>
          <a:xfrm>
            <a:off x="566928" y="4422038"/>
            <a:ext cx="11057839" cy="833933"/>
          </a:xfrm>
          <a:prstGeom prst="roundRect">
            <a:avLst>
              <a:gd name="adj" fmla="val 8772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804672" y="4582973"/>
            <a:ext cx="512064" cy="512064"/>
          </a:xfrm>
          <a:prstGeom prst="ellipse">
            <a:avLst/>
          </a:prstGeom>
          <a:solidFill>
            <a:srgbClr val="34D399">
              <a:alpha val="16000"/>
            </a:srgbClr>
          </a:solidFill>
          <a:ln w="12700">
            <a:solidFill>
              <a:srgbClr val="34D399">
                <a:alpha val="45000"/>
              </a:srgbClr>
            </a:solidFill>
            <a:prstDash val="solid"/>
          </a:ln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688" y="4710989"/>
            <a:ext cx="256032" cy="256032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554480" y="4531766"/>
            <a:ext cx="9795967" cy="61447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Rubrics and marking guides</a:t>
            </a:r>
            <a:endParaRPr lang="en-US" sz="13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"Create a simple 4-level rubric for a student presentation."</a:t>
            </a:r>
            <a:endParaRPr lang="en-US" sz="1350" dirty="0"/>
          </a:p>
        </p:txBody>
      </p:sp>
      <p:sp>
        <p:nvSpPr>
          <p:cNvPr id="22" name="Shape 16"/>
          <p:cNvSpPr/>
          <p:nvPr/>
        </p:nvSpPr>
        <p:spPr>
          <a:xfrm>
            <a:off x="566928" y="5402275"/>
            <a:ext cx="11057839" cy="833933"/>
          </a:xfrm>
          <a:prstGeom prst="roundRect">
            <a:avLst>
              <a:gd name="adj" fmla="val 8772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804672" y="5563210"/>
            <a:ext cx="512064" cy="512064"/>
          </a:xfrm>
          <a:prstGeom prst="ellipse">
            <a:avLst/>
          </a:prstGeom>
          <a:solidFill>
            <a:srgbClr val="F472B6">
              <a:alpha val="16000"/>
            </a:srgbClr>
          </a:solidFill>
          <a:ln w="12700">
            <a:solidFill>
              <a:srgbClr val="F472B6">
                <a:alpha val="45000"/>
              </a:srgbClr>
            </a:solidFill>
            <a:prstDash val="solid"/>
          </a:ln>
        </p:spPr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2688" y="5691226"/>
            <a:ext cx="256032" cy="256032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1554480" y="5512003"/>
            <a:ext cx="9795967" cy="61447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Always review before class</a:t>
            </a:r>
            <a:endParaRPr lang="en-US" sz="13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Check every generated fact and question. The teacher stays responsible for accuracy.</a:t>
            </a:r>
            <a:endParaRPr lang="en-US" sz="1350" dirty="0"/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SLIDE 85 · AUDIENCE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Prompting for Business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Section 7 · Prompt Engineering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097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11057839" cy="833933"/>
          </a:xfrm>
          <a:prstGeom prst="roundRect">
            <a:avLst>
              <a:gd name="adj" fmla="val 8772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04672" y="1642262"/>
            <a:ext cx="512064" cy="512064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" y="1770278"/>
            <a:ext cx="256032" cy="256032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554480" y="1591056"/>
            <a:ext cx="9795967" cy="61447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Summarise long material</a:t>
            </a:r>
            <a:endParaRPr lang="en-US" sz="13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"Summarise this report in 5 bullet points for a manager who has two minutes."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566928" y="2461565"/>
            <a:ext cx="11057839" cy="833933"/>
          </a:xfrm>
          <a:prstGeom prst="roundRect">
            <a:avLst>
              <a:gd name="adj" fmla="val 8772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804672" y="2622499"/>
            <a:ext cx="512064" cy="512064"/>
          </a:xfrm>
          <a:prstGeom prst="ellipse">
            <a:avLst/>
          </a:prstGeom>
          <a:solidFill>
            <a:srgbClr val="22D3EE">
              <a:alpha val="16000"/>
            </a:srgbClr>
          </a:solidFill>
          <a:ln w="12700">
            <a:solidFill>
              <a:srgbClr val="22D3EE">
                <a:alpha val="45000"/>
              </a:srgbClr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" y="2750515"/>
            <a:ext cx="256032" cy="256032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554480" y="2571293"/>
            <a:ext cx="9795967" cy="61447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Analyse feedback</a:t>
            </a:r>
            <a:endParaRPr lang="en-US" sz="13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"Group these customer comments into themes and count how many fall into each."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566928" y="3441802"/>
            <a:ext cx="11057839" cy="833933"/>
          </a:xfrm>
          <a:prstGeom prst="roundRect">
            <a:avLst>
              <a:gd name="adj" fmla="val 8772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04672" y="3602736"/>
            <a:ext cx="512064" cy="512064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" y="3730752"/>
            <a:ext cx="256032" cy="256032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554480" y="3551530"/>
            <a:ext cx="9795967" cy="61447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Draft communication</a:t>
            </a:r>
            <a:endParaRPr lang="en-US" sz="13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"Draft a polite reply to this complaint, apologising and offering a clear next step."</a:t>
            </a:r>
            <a:endParaRPr lang="en-US" sz="1350" dirty="0"/>
          </a:p>
        </p:txBody>
      </p:sp>
      <p:sp>
        <p:nvSpPr>
          <p:cNvPr id="18" name="Shape 13"/>
          <p:cNvSpPr/>
          <p:nvPr/>
        </p:nvSpPr>
        <p:spPr>
          <a:xfrm>
            <a:off x="566928" y="4422038"/>
            <a:ext cx="11057839" cy="833933"/>
          </a:xfrm>
          <a:prstGeom prst="roundRect">
            <a:avLst>
              <a:gd name="adj" fmla="val 8772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804672" y="4582973"/>
            <a:ext cx="512064" cy="512064"/>
          </a:xfrm>
          <a:prstGeom prst="ellipse">
            <a:avLst/>
          </a:prstGeom>
          <a:solidFill>
            <a:srgbClr val="34D399">
              <a:alpha val="16000"/>
            </a:srgbClr>
          </a:solidFill>
          <a:ln w="12700">
            <a:solidFill>
              <a:srgbClr val="34D399">
                <a:alpha val="45000"/>
              </a:srgbClr>
            </a:solidFill>
            <a:prstDash val="solid"/>
          </a:ln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688" y="4710989"/>
            <a:ext cx="256032" cy="256032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554480" y="4531766"/>
            <a:ext cx="9795967" cy="61447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Prepare for meetings</a:t>
            </a:r>
            <a:endParaRPr lang="en-US" sz="13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"Turn these notes into an agenda with owners and time slots."</a:t>
            </a:r>
            <a:endParaRPr lang="en-US" sz="1350" dirty="0"/>
          </a:p>
        </p:txBody>
      </p:sp>
      <p:sp>
        <p:nvSpPr>
          <p:cNvPr id="22" name="Shape 16"/>
          <p:cNvSpPr/>
          <p:nvPr/>
        </p:nvSpPr>
        <p:spPr>
          <a:xfrm>
            <a:off x="566928" y="5402275"/>
            <a:ext cx="11057839" cy="833933"/>
          </a:xfrm>
          <a:prstGeom prst="roundRect">
            <a:avLst>
              <a:gd name="adj" fmla="val 8772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804672" y="5563210"/>
            <a:ext cx="512064" cy="512064"/>
          </a:xfrm>
          <a:prstGeom prst="ellipse">
            <a:avLst/>
          </a:prstGeom>
          <a:solidFill>
            <a:srgbClr val="F472B6">
              <a:alpha val="16000"/>
            </a:srgbClr>
          </a:solidFill>
          <a:ln w="12700">
            <a:solidFill>
              <a:srgbClr val="F472B6">
                <a:alpha val="45000"/>
              </a:srgbClr>
            </a:solidFill>
            <a:prstDash val="solid"/>
          </a:ln>
        </p:spPr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2688" y="5691226"/>
            <a:ext cx="256032" cy="256032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1554480" y="5512003"/>
            <a:ext cx="9795967" cy="61447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Mind confidentiality</a:t>
            </a:r>
            <a:endParaRPr lang="en-US" sz="13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Do not paste customer data or secrets into tools that are not approved by your organisation.</a:t>
            </a:r>
            <a:endParaRPr lang="en-US" sz="1350" dirty="0"/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SLIDE 86 · AUDIENCE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Prompting for Coding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Section 7 · Prompt Engineering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098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11057839" cy="833933"/>
          </a:xfrm>
          <a:prstGeom prst="roundRect">
            <a:avLst>
              <a:gd name="adj" fmla="val 8772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04672" y="1642262"/>
            <a:ext cx="512064" cy="512064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" y="1770278"/>
            <a:ext cx="256032" cy="256032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554480" y="1591056"/>
            <a:ext cx="9795967" cy="61447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Be specific about the stack</a:t>
            </a:r>
            <a:endParaRPr lang="en-US" sz="13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"Write a Python 3 function using only the standard library that..."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566928" y="2461565"/>
            <a:ext cx="11057839" cy="833933"/>
          </a:xfrm>
          <a:prstGeom prst="roundRect">
            <a:avLst>
              <a:gd name="adj" fmla="val 8772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804672" y="2622499"/>
            <a:ext cx="512064" cy="512064"/>
          </a:xfrm>
          <a:prstGeom prst="ellipse">
            <a:avLst/>
          </a:prstGeom>
          <a:solidFill>
            <a:srgbClr val="22D3EE">
              <a:alpha val="16000"/>
            </a:srgbClr>
          </a:solidFill>
          <a:ln w="12700">
            <a:solidFill>
              <a:srgbClr val="22D3EE">
                <a:alpha val="45000"/>
              </a:srgbClr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" y="2750515"/>
            <a:ext cx="256032" cy="256032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554480" y="2571293"/>
            <a:ext cx="9795967" cy="61447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Explain errors</a:t>
            </a:r>
            <a:endParaRPr lang="en-US" sz="13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Paste the error message and the relevant code, then ask what causes it and how to fix it.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566928" y="3441802"/>
            <a:ext cx="11057839" cy="833933"/>
          </a:xfrm>
          <a:prstGeom prst="roundRect">
            <a:avLst>
              <a:gd name="adj" fmla="val 8772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04672" y="3602736"/>
            <a:ext cx="512064" cy="512064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" y="3730752"/>
            <a:ext cx="256032" cy="256032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554480" y="3551530"/>
            <a:ext cx="9795967" cy="61447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Ask for tests too</a:t>
            </a:r>
            <a:endParaRPr lang="en-US" sz="13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"Also give three test cases, including one edge case."</a:t>
            </a:r>
            <a:endParaRPr lang="en-US" sz="1350" dirty="0"/>
          </a:p>
        </p:txBody>
      </p:sp>
      <p:sp>
        <p:nvSpPr>
          <p:cNvPr id="18" name="Shape 13"/>
          <p:cNvSpPr/>
          <p:nvPr/>
        </p:nvSpPr>
        <p:spPr>
          <a:xfrm>
            <a:off x="566928" y="4422038"/>
            <a:ext cx="11057839" cy="833933"/>
          </a:xfrm>
          <a:prstGeom prst="roundRect">
            <a:avLst>
              <a:gd name="adj" fmla="val 8772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804672" y="4582973"/>
            <a:ext cx="512064" cy="512064"/>
          </a:xfrm>
          <a:prstGeom prst="ellipse">
            <a:avLst/>
          </a:prstGeom>
          <a:solidFill>
            <a:srgbClr val="34D399">
              <a:alpha val="16000"/>
            </a:srgbClr>
          </a:solidFill>
          <a:ln w="12700">
            <a:solidFill>
              <a:srgbClr val="34D399">
                <a:alpha val="45000"/>
              </a:srgbClr>
            </a:solidFill>
            <a:prstDash val="solid"/>
          </a:ln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688" y="4710989"/>
            <a:ext cx="256032" cy="256032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554480" y="4531766"/>
            <a:ext cx="9795967" cy="61447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Ask for an explanation</a:t>
            </a:r>
            <a:endParaRPr lang="en-US" sz="13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"Explain what this function does line by line, in simple English."</a:t>
            </a:r>
            <a:endParaRPr lang="en-US" sz="1350" dirty="0"/>
          </a:p>
        </p:txBody>
      </p:sp>
      <p:sp>
        <p:nvSpPr>
          <p:cNvPr id="22" name="Shape 16"/>
          <p:cNvSpPr/>
          <p:nvPr/>
        </p:nvSpPr>
        <p:spPr>
          <a:xfrm>
            <a:off x="566928" y="5402275"/>
            <a:ext cx="11057839" cy="833933"/>
          </a:xfrm>
          <a:prstGeom prst="roundRect">
            <a:avLst>
              <a:gd name="adj" fmla="val 8772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804672" y="5563210"/>
            <a:ext cx="512064" cy="512064"/>
          </a:xfrm>
          <a:prstGeom prst="ellipse">
            <a:avLst/>
          </a:prstGeom>
          <a:solidFill>
            <a:srgbClr val="F472B6">
              <a:alpha val="16000"/>
            </a:srgbClr>
          </a:solidFill>
          <a:ln w="12700">
            <a:solidFill>
              <a:srgbClr val="F472B6">
                <a:alpha val="45000"/>
              </a:srgbClr>
            </a:solidFill>
            <a:prstDash val="solid"/>
          </a:ln>
        </p:spPr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2688" y="5691226"/>
            <a:ext cx="256032" cy="256032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1554480" y="5512003"/>
            <a:ext cx="9795967" cy="61447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Always run and review</a:t>
            </a:r>
            <a:endParaRPr lang="en-US" sz="13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Generated code may look correct and still be wrong. Test it before you trust it.</a:t>
            </a:r>
            <a:endParaRPr lang="en-US" sz="1350" dirty="0"/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SLIDE 87 · AUDIENCE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Prompting for Research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Section 7 · Prompt Engineering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099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11057839" cy="833933"/>
          </a:xfrm>
          <a:prstGeom prst="roundRect">
            <a:avLst>
              <a:gd name="adj" fmla="val 8772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04672" y="1642262"/>
            <a:ext cx="512064" cy="512064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" y="1770278"/>
            <a:ext cx="256032" cy="256032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554480" y="1591056"/>
            <a:ext cx="9795967" cy="61447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Supply the sources yourself</a:t>
            </a:r>
            <a:endParaRPr lang="en-US" sz="13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Paste the approved documents and ask questions only about them.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566928" y="2461565"/>
            <a:ext cx="11057839" cy="833933"/>
          </a:xfrm>
          <a:prstGeom prst="roundRect">
            <a:avLst>
              <a:gd name="adj" fmla="val 8772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804672" y="2622499"/>
            <a:ext cx="512064" cy="512064"/>
          </a:xfrm>
          <a:prstGeom prst="ellipse">
            <a:avLst/>
          </a:prstGeom>
          <a:solidFill>
            <a:srgbClr val="22D3EE">
              <a:alpha val="16000"/>
            </a:srgbClr>
          </a:solidFill>
          <a:ln w="12700">
            <a:solidFill>
              <a:srgbClr val="22D3EE">
                <a:alpha val="45000"/>
              </a:srgbClr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" y="2750515"/>
            <a:ext cx="256032" cy="256032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554480" y="2571293"/>
            <a:ext cx="9795967" cy="61447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Ask for structured output</a:t>
            </a:r>
            <a:endParaRPr lang="en-US" sz="13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"Summarise each document into a table: source, main claim, method, limitation."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566928" y="3441802"/>
            <a:ext cx="11057839" cy="833933"/>
          </a:xfrm>
          <a:prstGeom prst="roundRect">
            <a:avLst>
              <a:gd name="adj" fmla="val 8772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04672" y="3602736"/>
            <a:ext cx="512064" cy="512064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" y="3730752"/>
            <a:ext cx="256032" cy="256032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554480" y="3551530"/>
            <a:ext cx="9795967" cy="61447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Compare viewpoints</a:t>
            </a:r>
            <a:endParaRPr lang="en-US" sz="13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"Where do these two documents disagree? Quote the relevant lines."</a:t>
            </a:r>
            <a:endParaRPr lang="en-US" sz="1350" dirty="0"/>
          </a:p>
        </p:txBody>
      </p:sp>
      <p:sp>
        <p:nvSpPr>
          <p:cNvPr id="18" name="Shape 13"/>
          <p:cNvSpPr/>
          <p:nvPr/>
        </p:nvSpPr>
        <p:spPr>
          <a:xfrm>
            <a:off x="566928" y="4422038"/>
            <a:ext cx="11057839" cy="833933"/>
          </a:xfrm>
          <a:prstGeom prst="roundRect">
            <a:avLst>
              <a:gd name="adj" fmla="val 8772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804672" y="4582973"/>
            <a:ext cx="512064" cy="512064"/>
          </a:xfrm>
          <a:prstGeom prst="ellipse">
            <a:avLst/>
          </a:prstGeom>
          <a:solidFill>
            <a:srgbClr val="34D399">
              <a:alpha val="16000"/>
            </a:srgbClr>
          </a:solidFill>
          <a:ln w="12700">
            <a:solidFill>
              <a:srgbClr val="34D399">
                <a:alpha val="45000"/>
              </a:srgbClr>
            </a:solidFill>
            <a:prstDash val="solid"/>
          </a:ln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688" y="4710989"/>
            <a:ext cx="256032" cy="256032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554480" y="4531766"/>
            <a:ext cx="9795967" cy="61447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Never trust invented citations</a:t>
            </a:r>
            <a:endParaRPr lang="en-US" sz="13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Models can produce realistic-looking references that do not exist. Verify every single one.</a:t>
            </a:r>
            <a:endParaRPr lang="en-US" sz="1350" dirty="0"/>
          </a:p>
        </p:txBody>
      </p:sp>
      <p:sp>
        <p:nvSpPr>
          <p:cNvPr id="22" name="Shape 16"/>
          <p:cNvSpPr/>
          <p:nvPr/>
        </p:nvSpPr>
        <p:spPr>
          <a:xfrm>
            <a:off x="566928" y="5402275"/>
            <a:ext cx="11057839" cy="833933"/>
          </a:xfrm>
          <a:prstGeom prst="roundRect">
            <a:avLst>
              <a:gd name="adj" fmla="val 8772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804672" y="5563210"/>
            <a:ext cx="512064" cy="512064"/>
          </a:xfrm>
          <a:prstGeom prst="ellipse">
            <a:avLst/>
          </a:prstGeom>
          <a:solidFill>
            <a:srgbClr val="F472B6">
              <a:alpha val="16000"/>
            </a:srgbClr>
          </a:solidFill>
          <a:ln w="12700">
            <a:solidFill>
              <a:srgbClr val="F472B6">
                <a:alpha val="45000"/>
              </a:srgbClr>
            </a:solidFill>
            <a:prstDash val="solid"/>
          </a:ln>
        </p:spPr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2688" y="5691226"/>
            <a:ext cx="256032" cy="256032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1554480" y="5512003"/>
            <a:ext cx="9795967" cy="61447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Use it to organise, not to conclude</a:t>
            </a:r>
            <a:endParaRPr lang="en-US" sz="13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analysis and the conclusions must remain yours.</a:t>
            </a:r>
            <a:endParaRPr lang="en-US" sz="1350" dirty="0"/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SLIDE 88 · AUDIENCE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Prompting for Content Creation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Section 7 · Prompt Engineering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100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11057839" cy="833933"/>
          </a:xfrm>
          <a:prstGeom prst="roundRect">
            <a:avLst>
              <a:gd name="adj" fmla="val 8772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04672" y="1642262"/>
            <a:ext cx="512064" cy="512064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" y="1770278"/>
            <a:ext cx="256032" cy="256032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554480" y="1591056"/>
            <a:ext cx="9795967" cy="61447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Define audience and tone</a:t>
            </a:r>
            <a:endParaRPr lang="en-US" sz="13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"Write for first-year college students. Friendly, simple, no marketing buzzwords."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566928" y="2461565"/>
            <a:ext cx="11057839" cy="833933"/>
          </a:xfrm>
          <a:prstGeom prst="roundRect">
            <a:avLst>
              <a:gd name="adj" fmla="val 8772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804672" y="2622499"/>
            <a:ext cx="512064" cy="512064"/>
          </a:xfrm>
          <a:prstGeom prst="ellipse">
            <a:avLst/>
          </a:prstGeom>
          <a:solidFill>
            <a:srgbClr val="22D3EE">
              <a:alpha val="16000"/>
            </a:srgbClr>
          </a:solidFill>
          <a:ln w="12700">
            <a:solidFill>
              <a:srgbClr val="22D3EE">
                <a:alpha val="45000"/>
              </a:srgbClr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" y="2750515"/>
            <a:ext cx="256032" cy="256032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554480" y="2571293"/>
            <a:ext cx="9795967" cy="61447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Ask for options</a:t>
            </a:r>
            <a:endParaRPr lang="en-US" sz="13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"Give five different headline options with different angles."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566928" y="3441802"/>
            <a:ext cx="11057839" cy="833933"/>
          </a:xfrm>
          <a:prstGeom prst="roundRect">
            <a:avLst>
              <a:gd name="adj" fmla="val 8772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04672" y="3602736"/>
            <a:ext cx="512064" cy="512064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" y="3730752"/>
            <a:ext cx="256032" cy="256032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554480" y="3551530"/>
            <a:ext cx="9795967" cy="61447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Start from your outline</a:t>
            </a:r>
            <a:endParaRPr lang="en-US" sz="13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Give the structure yourself and let AI expand it. The ideas stay yours.</a:t>
            </a:r>
            <a:endParaRPr lang="en-US" sz="1350" dirty="0"/>
          </a:p>
        </p:txBody>
      </p:sp>
      <p:sp>
        <p:nvSpPr>
          <p:cNvPr id="18" name="Shape 13"/>
          <p:cNvSpPr/>
          <p:nvPr/>
        </p:nvSpPr>
        <p:spPr>
          <a:xfrm>
            <a:off x="566928" y="4422038"/>
            <a:ext cx="11057839" cy="833933"/>
          </a:xfrm>
          <a:prstGeom prst="roundRect">
            <a:avLst>
              <a:gd name="adj" fmla="val 8772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804672" y="4582973"/>
            <a:ext cx="512064" cy="512064"/>
          </a:xfrm>
          <a:prstGeom prst="ellipse">
            <a:avLst/>
          </a:prstGeom>
          <a:solidFill>
            <a:srgbClr val="34D399">
              <a:alpha val="16000"/>
            </a:srgbClr>
          </a:solidFill>
          <a:ln w="12700">
            <a:solidFill>
              <a:srgbClr val="34D399">
                <a:alpha val="45000"/>
              </a:srgbClr>
            </a:solidFill>
            <a:prstDash val="solid"/>
          </a:ln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688" y="4710989"/>
            <a:ext cx="256032" cy="256032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554480" y="4531766"/>
            <a:ext cx="9795967" cy="61447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Iterate on tone</a:t>
            </a:r>
            <a:endParaRPr lang="en-US" sz="13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"Make version two shorter and more direct. Remove every adjective that adds nothing."</a:t>
            </a:r>
            <a:endParaRPr lang="en-US" sz="1350" dirty="0"/>
          </a:p>
        </p:txBody>
      </p:sp>
      <p:sp>
        <p:nvSpPr>
          <p:cNvPr id="22" name="Shape 16"/>
          <p:cNvSpPr/>
          <p:nvPr/>
        </p:nvSpPr>
        <p:spPr>
          <a:xfrm>
            <a:off x="566928" y="5402275"/>
            <a:ext cx="11057839" cy="833933"/>
          </a:xfrm>
          <a:prstGeom prst="roundRect">
            <a:avLst>
              <a:gd name="adj" fmla="val 8772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804672" y="5563210"/>
            <a:ext cx="512064" cy="512064"/>
          </a:xfrm>
          <a:prstGeom prst="ellipse">
            <a:avLst/>
          </a:prstGeom>
          <a:solidFill>
            <a:srgbClr val="F472B6">
              <a:alpha val="16000"/>
            </a:srgbClr>
          </a:solidFill>
          <a:ln w="12700">
            <a:solidFill>
              <a:srgbClr val="F472B6">
                <a:alpha val="45000"/>
              </a:srgbClr>
            </a:solidFill>
            <a:prstDash val="solid"/>
          </a:ln>
        </p:spPr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2688" y="5691226"/>
            <a:ext cx="256032" cy="256032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1554480" y="5512003"/>
            <a:ext cx="9795967" cy="61447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Always edit before publishing</a:t>
            </a:r>
            <a:endParaRPr lang="en-US" sz="13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Unedited AI text is usually generic. Your edits are what make it worth reading.</a:t>
            </a:r>
            <a:endParaRPr lang="en-US" sz="1350" dirty="0"/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SLIDE 89 · MISTAKES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Common Prompting Mistakes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Section 7 · Prompt Engineering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101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3503066" cy="2240280"/>
          </a:xfrm>
          <a:prstGeom prst="roundRect">
            <a:avLst>
              <a:gd name="adj" fmla="val 3265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1737360"/>
            <a:ext cx="566928" cy="566928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4692" y="1879092"/>
            <a:ext cx="283464" cy="283464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609344" y="1737360"/>
            <a:ext cx="218633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Being too vague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841248" y="2505456"/>
            <a:ext cx="2954426" cy="10332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"Write something about marketing" gives a vague answer. Say what, for whom and how long.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344314" y="1481328"/>
            <a:ext cx="3503066" cy="2240280"/>
          </a:xfrm>
          <a:prstGeom prst="roundRect">
            <a:avLst>
              <a:gd name="adj" fmla="val 3265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600346" y="1737360"/>
            <a:ext cx="566928" cy="566928"/>
          </a:xfrm>
          <a:prstGeom prst="ellipse">
            <a:avLst/>
          </a:prstGeom>
          <a:solidFill>
            <a:srgbClr val="22D3EE">
              <a:alpha val="16000"/>
            </a:srgbClr>
          </a:solidFill>
          <a:ln w="12700">
            <a:solidFill>
              <a:srgbClr val="22D3EE">
                <a:alpha val="45000"/>
              </a:srgbClr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2078" y="1879092"/>
            <a:ext cx="283464" cy="283464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5386730" y="1737360"/>
            <a:ext cx="218633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Asking for too much at once</a:t>
            </a:r>
            <a:endParaRPr lang="en-US" sz="1600" dirty="0"/>
          </a:p>
        </p:txBody>
      </p:sp>
      <p:sp>
        <p:nvSpPr>
          <p:cNvPr id="15" name="Text 11"/>
          <p:cNvSpPr txBox="1"/>
          <p:nvPr/>
        </p:nvSpPr>
        <p:spPr>
          <a:xfrm>
            <a:off x="4618634" y="2505456"/>
            <a:ext cx="2954426" cy="10332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Ten unrelated tasks in one prompt produces shallow results for all of them.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8121701" y="1481328"/>
            <a:ext cx="3503066" cy="2240280"/>
          </a:xfrm>
          <a:prstGeom prst="roundRect">
            <a:avLst>
              <a:gd name="adj" fmla="val 3265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377733" y="1737360"/>
            <a:ext cx="566928" cy="566928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9465" y="1879092"/>
            <a:ext cx="283464" cy="283464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9164117" y="1737360"/>
            <a:ext cx="218633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No context given</a:t>
            </a:r>
            <a:endParaRPr lang="en-US" sz="1600" dirty="0"/>
          </a:p>
        </p:txBody>
      </p:sp>
      <p:sp>
        <p:nvSpPr>
          <p:cNvPr id="20" name="Text 15"/>
          <p:cNvSpPr txBox="1"/>
          <p:nvPr/>
        </p:nvSpPr>
        <p:spPr>
          <a:xfrm>
            <a:off x="8396021" y="2505456"/>
            <a:ext cx="2954426" cy="10332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model cannot know your course, company or audience unless you tell it.</a:t>
            </a:r>
            <a:endParaRPr lang="en-US" sz="1300" dirty="0"/>
          </a:p>
        </p:txBody>
      </p:sp>
      <p:sp>
        <p:nvSpPr>
          <p:cNvPr id="21" name="Shape 16"/>
          <p:cNvSpPr/>
          <p:nvPr/>
        </p:nvSpPr>
        <p:spPr>
          <a:xfrm>
            <a:off x="566928" y="3995928"/>
            <a:ext cx="3503066" cy="2240280"/>
          </a:xfrm>
          <a:prstGeom prst="roundRect">
            <a:avLst>
              <a:gd name="adj" fmla="val 3265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822960" y="4251960"/>
            <a:ext cx="566928" cy="566928"/>
          </a:xfrm>
          <a:prstGeom prst="ellipse">
            <a:avLst/>
          </a:prstGeom>
          <a:solidFill>
            <a:srgbClr val="34D399">
              <a:alpha val="16000"/>
            </a:srgbClr>
          </a:solidFill>
          <a:ln w="12700">
            <a:solidFill>
              <a:srgbClr val="34D399">
                <a:alpha val="45000"/>
              </a:srgbClr>
            </a:solidFill>
            <a:prstDash val="solid"/>
          </a:ln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4692" y="4393692"/>
            <a:ext cx="283464" cy="283464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1609344" y="4251960"/>
            <a:ext cx="218633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Accepting the first answer</a:t>
            </a:r>
            <a:endParaRPr lang="en-US" sz="1600" dirty="0"/>
          </a:p>
        </p:txBody>
      </p:sp>
      <p:sp>
        <p:nvSpPr>
          <p:cNvPr id="25" name="Text 19"/>
          <p:cNvSpPr txBox="1"/>
          <p:nvPr/>
        </p:nvSpPr>
        <p:spPr>
          <a:xfrm>
            <a:off x="841248" y="5020056"/>
            <a:ext cx="2954426" cy="10332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first output is a draft. Refining it is part of the process.</a:t>
            </a:r>
            <a:endParaRPr lang="en-US" sz="1300" dirty="0"/>
          </a:p>
        </p:txBody>
      </p:sp>
      <p:sp>
        <p:nvSpPr>
          <p:cNvPr id="26" name="Shape 20"/>
          <p:cNvSpPr/>
          <p:nvPr/>
        </p:nvSpPr>
        <p:spPr>
          <a:xfrm>
            <a:off x="4344314" y="3995928"/>
            <a:ext cx="3503066" cy="2240280"/>
          </a:xfrm>
          <a:prstGeom prst="roundRect">
            <a:avLst>
              <a:gd name="adj" fmla="val 3265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4600346" y="4251960"/>
            <a:ext cx="566928" cy="566928"/>
          </a:xfrm>
          <a:prstGeom prst="ellipse">
            <a:avLst/>
          </a:prstGeom>
          <a:solidFill>
            <a:srgbClr val="F472B6">
              <a:alpha val="16000"/>
            </a:srgbClr>
          </a:solidFill>
          <a:ln w="12700">
            <a:solidFill>
              <a:srgbClr val="F472B6">
                <a:alpha val="45000"/>
              </a:srgbClr>
            </a:solidFill>
            <a:prstDash val="solid"/>
          </a:ln>
        </p:spPr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42078" y="4393692"/>
            <a:ext cx="283464" cy="283464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5386730" y="4251960"/>
            <a:ext cx="218633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Not verifying facts</a:t>
            </a:r>
            <a:endParaRPr lang="en-US" sz="1600" dirty="0"/>
          </a:p>
        </p:txBody>
      </p:sp>
      <p:sp>
        <p:nvSpPr>
          <p:cNvPr id="30" name="Text 23"/>
          <p:cNvSpPr txBox="1"/>
          <p:nvPr/>
        </p:nvSpPr>
        <p:spPr>
          <a:xfrm>
            <a:off x="4618634" y="5020056"/>
            <a:ext cx="2954426" cy="10332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Confident wording is not evidence. Check anything that matters.</a:t>
            </a:r>
            <a:endParaRPr lang="en-US" sz="1300" dirty="0"/>
          </a:p>
        </p:txBody>
      </p:sp>
      <p:sp>
        <p:nvSpPr>
          <p:cNvPr id="31" name="Shape 24"/>
          <p:cNvSpPr/>
          <p:nvPr/>
        </p:nvSpPr>
        <p:spPr>
          <a:xfrm>
            <a:off x="8121701" y="3995928"/>
            <a:ext cx="3503066" cy="2240280"/>
          </a:xfrm>
          <a:prstGeom prst="roundRect">
            <a:avLst>
              <a:gd name="adj" fmla="val 3265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8377733" y="4251960"/>
            <a:ext cx="566928" cy="566928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33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19465" y="4393692"/>
            <a:ext cx="283464" cy="283464"/>
          </a:xfrm>
          <a:prstGeom prst="rect">
            <a:avLst/>
          </a:prstGeom>
        </p:spPr>
      </p:pic>
      <p:sp>
        <p:nvSpPr>
          <p:cNvPr id="34" name="Text 26"/>
          <p:cNvSpPr txBox="1"/>
          <p:nvPr/>
        </p:nvSpPr>
        <p:spPr>
          <a:xfrm>
            <a:off x="9164117" y="4251960"/>
            <a:ext cx="218633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Sharing private data</a:t>
            </a:r>
            <a:endParaRPr lang="en-US" sz="1600" dirty="0"/>
          </a:p>
        </p:txBody>
      </p:sp>
      <p:sp>
        <p:nvSpPr>
          <p:cNvPr id="35" name="Text 27"/>
          <p:cNvSpPr txBox="1"/>
          <p:nvPr/>
        </p:nvSpPr>
        <p:spPr>
          <a:xfrm>
            <a:off x="8396021" y="5020056"/>
            <a:ext cx="2954426" cy="10332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Never paste passwords, personal records or confidential material into unapproved tools.</a:t>
            </a:r>
            <a:endParaRPr lang="en-US" sz="1300" dirty="0"/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SLIDE 90 · CHECKLIST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Prompt Engineering Best Practices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Section 7 · Prompt Engineering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102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11057839" cy="670560"/>
          </a:xfrm>
          <a:prstGeom prst="roundRect">
            <a:avLst>
              <a:gd name="adj" fmla="val 10909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04672" y="1600200"/>
            <a:ext cx="432816" cy="432816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2876" y="1708404"/>
            <a:ext cx="216408" cy="216408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475232" y="1591056"/>
            <a:ext cx="9875215" cy="4511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Be specific and complete</a:t>
            </a:r>
            <a:endParaRPr lang="en-US" sz="13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State the task, the audience, the length and the format every time.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566928" y="2298192"/>
            <a:ext cx="11057839" cy="670560"/>
          </a:xfrm>
          <a:prstGeom prst="roundRect">
            <a:avLst>
              <a:gd name="adj" fmla="val 10909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804672" y="2417064"/>
            <a:ext cx="432816" cy="432816"/>
          </a:xfrm>
          <a:prstGeom prst="ellipse">
            <a:avLst/>
          </a:prstGeom>
          <a:solidFill>
            <a:srgbClr val="22D3EE">
              <a:alpha val="16000"/>
            </a:srgbClr>
          </a:solidFill>
          <a:ln w="12700">
            <a:solidFill>
              <a:srgbClr val="22D3EE">
                <a:alpha val="45000"/>
              </a:srgbClr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876" y="2525268"/>
            <a:ext cx="216408" cy="216408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475232" y="2407920"/>
            <a:ext cx="9875215" cy="4511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Give the context</a:t>
            </a:r>
            <a:endParaRPr lang="en-US" sz="13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Paste the material the answer should be based on whenever you have it.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566928" y="3115056"/>
            <a:ext cx="11057839" cy="670560"/>
          </a:xfrm>
          <a:prstGeom prst="roundRect">
            <a:avLst>
              <a:gd name="adj" fmla="val 10909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04672" y="3233928"/>
            <a:ext cx="432816" cy="432816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2876" y="3342132"/>
            <a:ext cx="216408" cy="216408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475232" y="3224784"/>
            <a:ext cx="9875215" cy="4511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Set a role when it helps</a:t>
            </a:r>
            <a:endParaRPr lang="en-US" sz="13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It shapes vocabulary and depth to match your audience.</a:t>
            </a:r>
            <a:endParaRPr lang="en-US" sz="1350" dirty="0"/>
          </a:p>
        </p:txBody>
      </p:sp>
      <p:sp>
        <p:nvSpPr>
          <p:cNvPr id="18" name="Shape 13"/>
          <p:cNvSpPr/>
          <p:nvPr/>
        </p:nvSpPr>
        <p:spPr>
          <a:xfrm>
            <a:off x="566928" y="3931920"/>
            <a:ext cx="11057839" cy="670560"/>
          </a:xfrm>
          <a:prstGeom prst="roundRect">
            <a:avLst>
              <a:gd name="adj" fmla="val 10909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804672" y="4050792"/>
            <a:ext cx="432816" cy="432816"/>
          </a:xfrm>
          <a:prstGeom prst="ellipse">
            <a:avLst/>
          </a:prstGeom>
          <a:solidFill>
            <a:srgbClr val="34D399">
              <a:alpha val="16000"/>
            </a:srgbClr>
          </a:solidFill>
          <a:ln w="12700">
            <a:solidFill>
              <a:srgbClr val="34D399">
                <a:alpha val="45000"/>
              </a:srgbClr>
            </a:solidFill>
            <a:prstDash val="solid"/>
          </a:ln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876" y="4158996"/>
            <a:ext cx="216408" cy="216408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475232" y="4041648"/>
            <a:ext cx="9875215" cy="4511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Ask for the exact output shape</a:t>
            </a:r>
            <a:endParaRPr lang="en-US" sz="13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Table, bullets, JSON, word count — specify it rather than editing afterwards.</a:t>
            </a:r>
            <a:endParaRPr lang="en-US" sz="1350" dirty="0"/>
          </a:p>
        </p:txBody>
      </p:sp>
      <p:sp>
        <p:nvSpPr>
          <p:cNvPr id="22" name="Shape 16"/>
          <p:cNvSpPr/>
          <p:nvPr/>
        </p:nvSpPr>
        <p:spPr>
          <a:xfrm>
            <a:off x="566928" y="4748784"/>
            <a:ext cx="11057839" cy="670560"/>
          </a:xfrm>
          <a:prstGeom prst="roundRect">
            <a:avLst>
              <a:gd name="adj" fmla="val 10909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804672" y="4867656"/>
            <a:ext cx="432816" cy="432816"/>
          </a:xfrm>
          <a:prstGeom prst="ellipse">
            <a:avLst/>
          </a:prstGeom>
          <a:solidFill>
            <a:srgbClr val="F472B6">
              <a:alpha val="16000"/>
            </a:srgbClr>
          </a:solidFill>
          <a:ln w="12700">
            <a:solidFill>
              <a:srgbClr val="F472B6">
                <a:alpha val="45000"/>
              </a:srgbClr>
            </a:solidFill>
            <a:prstDash val="solid"/>
          </a:ln>
        </p:spPr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2876" y="4975860"/>
            <a:ext cx="216408" cy="216408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1475232" y="4858512"/>
            <a:ext cx="9875215" cy="4511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Refine, do not restart</a:t>
            </a:r>
            <a:endParaRPr lang="en-US" sz="13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Say precisely what to change instead of asking again from scratch.</a:t>
            </a:r>
            <a:endParaRPr lang="en-US" sz="1350" dirty="0"/>
          </a:p>
        </p:txBody>
      </p:sp>
      <p:sp>
        <p:nvSpPr>
          <p:cNvPr id="26" name="Shape 19"/>
          <p:cNvSpPr/>
          <p:nvPr/>
        </p:nvSpPr>
        <p:spPr>
          <a:xfrm>
            <a:off x="566928" y="5565648"/>
            <a:ext cx="11057839" cy="670560"/>
          </a:xfrm>
          <a:prstGeom prst="roundRect">
            <a:avLst>
              <a:gd name="adj" fmla="val 10909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7" name="Shape 20"/>
          <p:cNvSpPr/>
          <p:nvPr/>
        </p:nvSpPr>
        <p:spPr>
          <a:xfrm>
            <a:off x="804672" y="5684520"/>
            <a:ext cx="432816" cy="432816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28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2876" y="5792724"/>
            <a:ext cx="216408" cy="216408"/>
          </a:xfrm>
          <a:prstGeom prst="rect">
            <a:avLst/>
          </a:prstGeom>
        </p:spPr>
      </p:pic>
      <p:sp>
        <p:nvSpPr>
          <p:cNvPr id="29" name="Text 21"/>
          <p:cNvSpPr txBox="1"/>
          <p:nvPr/>
        </p:nvSpPr>
        <p:spPr>
          <a:xfrm>
            <a:off x="1475232" y="5675376"/>
            <a:ext cx="9875215" cy="4511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Verify anything important</a:t>
            </a:r>
            <a:endParaRPr lang="en-US" sz="13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Facts, numbers, code and citations always need a human check.</a:t>
            </a:r>
            <a:endParaRPr lang="en-US" sz="1350" dirty="0"/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BBF2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QUIZ 7 · SLIDES 71–90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Quiz 7 — Prompt Engineering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Section 7 · Prompt Engineering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103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11057839" cy="848563"/>
          </a:xfrm>
          <a:prstGeom prst="roundRect">
            <a:avLst>
              <a:gd name="adj" fmla="val 8621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68096" y="1627632"/>
            <a:ext cx="310896" cy="310896"/>
          </a:xfrm>
          <a:prstGeom prst="ellipse">
            <a:avLst/>
          </a:prstGeom>
          <a:solidFill>
            <a:srgbClr val="FBBF24">
              <a:alpha val="22000"/>
            </a:srgbClr>
          </a:solidFill>
          <a:ln w="12700">
            <a:solidFill>
              <a:srgbClr val="FBBF24">
                <a:alpha val="5000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68096" y="1627632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BBF2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Q1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188720" y="1600200"/>
            <a:ext cx="8726119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 prompt is: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10207447" y="1618488"/>
            <a:ext cx="1371600" cy="347472"/>
          </a:xfrm>
          <a:prstGeom prst="roundRect">
            <a:avLst>
              <a:gd name="adj" fmla="val 15789"/>
            </a:avLst>
          </a:prstGeom>
          <a:solidFill>
            <a:srgbClr val="A78BFA">
              <a:alpha val="20000"/>
            </a:srgbClr>
          </a:solidFill>
          <a:ln w="12700">
            <a:solidFill>
              <a:srgbClr val="A78BFA">
                <a:alpha val="60000"/>
              </a:srgbClr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207447" y="1618488"/>
            <a:ext cx="13716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Answer: C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1115568" y="2011680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A. </a:t>
            </a:r>
            <a:r>
              <a:rPr lang="en-US" sz="11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type of model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3674288" y="2011680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B. </a:t>
            </a:r>
            <a:r>
              <a:rPr lang="en-US" sz="11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hardware chip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6233008" y="2011680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C. </a:t>
            </a: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instruction you give the AI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8791727" y="2011680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D. </a:t>
            </a:r>
            <a:r>
              <a:rPr lang="en-US" sz="11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database table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66928" y="2457907"/>
            <a:ext cx="11057839" cy="848563"/>
          </a:xfrm>
          <a:prstGeom prst="roundRect">
            <a:avLst>
              <a:gd name="adj" fmla="val 8621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68096" y="2604211"/>
            <a:ext cx="310896" cy="310896"/>
          </a:xfrm>
          <a:prstGeom prst="ellipse">
            <a:avLst/>
          </a:prstGeom>
          <a:solidFill>
            <a:srgbClr val="FBBF24">
              <a:alpha val="22000"/>
            </a:srgbClr>
          </a:solidFill>
          <a:ln w="12700">
            <a:solidFill>
              <a:srgbClr val="FBBF24">
                <a:alpha val="50000"/>
              </a:srgbClr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68096" y="2604211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BBF2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Q2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1188720" y="2576779"/>
            <a:ext cx="8726119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Few-shot prompting means you give: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10207447" y="2595067"/>
            <a:ext cx="1371600" cy="347472"/>
          </a:xfrm>
          <a:prstGeom prst="roundRect">
            <a:avLst>
              <a:gd name="adj" fmla="val 15789"/>
            </a:avLst>
          </a:prstGeom>
          <a:solidFill>
            <a:srgbClr val="A78BFA">
              <a:alpha val="20000"/>
            </a:srgbClr>
          </a:solidFill>
          <a:ln w="12700">
            <a:solidFill>
              <a:srgbClr val="A78BFA">
                <a:alpha val="60000"/>
              </a:srgbClr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0207447" y="2595067"/>
            <a:ext cx="13716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Answer: D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1115568" y="2988259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A. </a:t>
            </a:r>
            <a:r>
              <a:rPr lang="en-US" sz="11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 instructions at all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3674288" y="2988259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B. </a:t>
            </a:r>
            <a:r>
              <a:rPr lang="en-US" sz="11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Only a single word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6233008" y="2988259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C. </a:t>
            </a:r>
            <a:r>
              <a:rPr lang="en-US" sz="11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Only an image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8791727" y="2988259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D. </a:t>
            </a: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few examples of the task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66928" y="3434486"/>
            <a:ext cx="11057839" cy="848563"/>
          </a:xfrm>
          <a:prstGeom prst="roundRect">
            <a:avLst>
              <a:gd name="adj" fmla="val 8621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768096" y="3580790"/>
            <a:ext cx="310896" cy="310896"/>
          </a:xfrm>
          <a:prstGeom prst="ellipse">
            <a:avLst/>
          </a:prstGeom>
          <a:solidFill>
            <a:srgbClr val="FBBF24">
              <a:alpha val="22000"/>
            </a:srgbClr>
          </a:solidFill>
          <a:ln w="12700">
            <a:solidFill>
              <a:srgbClr val="FBBF24">
                <a:alpha val="50000"/>
              </a:srgbClr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68096" y="3580790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BBF2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Q3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1188720" y="3553358"/>
            <a:ext cx="8726119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Role prompting mainly changes: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10207447" y="3571646"/>
            <a:ext cx="1371600" cy="347472"/>
          </a:xfrm>
          <a:prstGeom prst="roundRect">
            <a:avLst>
              <a:gd name="adj" fmla="val 15789"/>
            </a:avLst>
          </a:prstGeom>
          <a:solidFill>
            <a:srgbClr val="A78BFA">
              <a:alpha val="20000"/>
            </a:srgbClr>
          </a:solidFill>
          <a:ln w="12700">
            <a:solidFill>
              <a:srgbClr val="A78BFA">
                <a:alpha val="60000"/>
              </a:srgbClr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10207447" y="3571646"/>
            <a:ext cx="13716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Answer: A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1115568" y="3964838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A. </a:t>
            </a: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Tone, depth and focus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3674288" y="3964838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B. </a:t>
            </a:r>
            <a:r>
              <a:rPr lang="en-US" sz="11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model size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6233008" y="3964838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C. </a:t>
            </a:r>
            <a:r>
              <a:rPr lang="en-US" sz="11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internet speed</a:t>
            </a:r>
            <a:endParaRPr lang="en-US" sz="1050" dirty="0"/>
          </a:p>
        </p:txBody>
      </p:sp>
      <p:sp>
        <p:nvSpPr>
          <p:cNvPr id="35" name="Text 33"/>
          <p:cNvSpPr txBox="1"/>
          <p:nvPr/>
        </p:nvSpPr>
        <p:spPr>
          <a:xfrm>
            <a:off x="8791727" y="3964838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D. </a:t>
            </a:r>
            <a:r>
              <a:rPr lang="en-US" sz="11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token price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66928" y="4411066"/>
            <a:ext cx="11057839" cy="848563"/>
          </a:xfrm>
          <a:prstGeom prst="roundRect">
            <a:avLst>
              <a:gd name="adj" fmla="val 8621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768096" y="4557370"/>
            <a:ext cx="310896" cy="310896"/>
          </a:xfrm>
          <a:prstGeom prst="ellipse">
            <a:avLst/>
          </a:prstGeom>
          <a:solidFill>
            <a:srgbClr val="FBBF24">
              <a:alpha val="22000"/>
            </a:srgbClr>
          </a:solidFill>
          <a:ln w="12700">
            <a:solidFill>
              <a:srgbClr val="FBBF24">
                <a:alpha val="50000"/>
              </a:srgbClr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768096" y="4557370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BBF2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Q4</a:t>
            </a:r>
            <a:endParaRPr lang="en-US" sz="900" dirty="0"/>
          </a:p>
        </p:txBody>
      </p:sp>
      <p:sp>
        <p:nvSpPr>
          <p:cNvPr id="39" name="Text 37"/>
          <p:cNvSpPr txBox="1"/>
          <p:nvPr/>
        </p:nvSpPr>
        <p:spPr>
          <a:xfrm>
            <a:off x="1188720" y="4529938"/>
            <a:ext cx="8726119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Giving context in a prompt helps to:</a:t>
            </a:r>
            <a:endParaRPr lang="en-US" sz="1250" dirty="0"/>
          </a:p>
        </p:txBody>
      </p:sp>
      <p:sp>
        <p:nvSpPr>
          <p:cNvPr id="40" name="Shape 38"/>
          <p:cNvSpPr/>
          <p:nvPr/>
        </p:nvSpPr>
        <p:spPr>
          <a:xfrm>
            <a:off x="10207447" y="4548226"/>
            <a:ext cx="1371600" cy="347472"/>
          </a:xfrm>
          <a:prstGeom prst="roundRect">
            <a:avLst>
              <a:gd name="adj" fmla="val 15789"/>
            </a:avLst>
          </a:prstGeom>
          <a:solidFill>
            <a:srgbClr val="A78BFA">
              <a:alpha val="20000"/>
            </a:srgbClr>
          </a:solidFill>
          <a:ln w="12700">
            <a:solidFill>
              <a:srgbClr val="A78BFA">
                <a:alpha val="60000"/>
              </a:srgbClr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10207447" y="4548226"/>
            <a:ext cx="13716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Answer: B</a:t>
            </a:r>
            <a:endParaRPr lang="en-US" sz="1050" dirty="0"/>
          </a:p>
        </p:txBody>
      </p:sp>
      <p:sp>
        <p:nvSpPr>
          <p:cNvPr id="42" name="Text 40"/>
          <p:cNvSpPr txBox="1"/>
          <p:nvPr/>
        </p:nvSpPr>
        <p:spPr>
          <a:xfrm>
            <a:off x="1115568" y="4941418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A. </a:t>
            </a:r>
            <a:r>
              <a:rPr lang="en-US" sz="11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Increase the token limit</a:t>
            </a:r>
            <a:endParaRPr lang="en-US" sz="1050" dirty="0"/>
          </a:p>
        </p:txBody>
      </p:sp>
      <p:sp>
        <p:nvSpPr>
          <p:cNvPr id="43" name="Text 41"/>
          <p:cNvSpPr txBox="1"/>
          <p:nvPr/>
        </p:nvSpPr>
        <p:spPr>
          <a:xfrm>
            <a:off x="3674288" y="4941418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B. </a:t>
            </a: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Reduce invented answers</a:t>
            </a:r>
            <a:endParaRPr lang="en-US" sz="1050" dirty="0"/>
          </a:p>
        </p:txBody>
      </p:sp>
      <p:sp>
        <p:nvSpPr>
          <p:cNvPr id="44" name="Text 42"/>
          <p:cNvSpPr txBox="1"/>
          <p:nvPr/>
        </p:nvSpPr>
        <p:spPr>
          <a:xfrm>
            <a:off x="6233008" y="4941418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C. </a:t>
            </a:r>
            <a:r>
              <a:rPr lang="en-US" sz="11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Speed up your laptop</a:t>
            </a:r>
            <a:endParaRPr lang="en-US" sz="1050" dirty="0"/>
          </a:p>
        </p:txBody>
      </p:sp>
      <p:sp>
        <p:nvSpPr>
          <p:cNvPr id="45" name="Text 43"/>
          <p:cNvSpPr txBox="1"/>
          <p:nvPr/>
        </p:nvSpPr>
        <p:spPr>
          <a:xfrm>
            <a:off x="8791727" y="4941418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D. </a:t>
            </a:r>
            <a:r>
              <a:rPr lang="en-US" sz="11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Change the model weights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566928" y="5387645"/>
            <a:ext cx="11057839" cy="848563"/>
          </a:xfrm>
          <a:prstGeom prst="roundRect">
            <a:avLst>
              <a:gd name="adj" fmla="val 8621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768096" y="5533949"/>
            <a:ext cx="310896" cy="310896"/>
          </a:xfrm>
          <a:prstGeom prst="ellipse">
            <a:avLst/>
          </a:prstGeom>
          <a:solidFill>
            <a:srgbClr val="FBBF24">
              <a:alpha val="22000"/>
            </a:srgbClr>
          </a:solidFill>
          <a:ln w="12700">
            <a:solidFill>
              <a:srgbClr val="FBBF24">
                <a:alpha val="50000"/>
              </a:srgbClr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768096" y="5533949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BBF2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Q5</a:t>
            </a:r>
            <a:endParaRPr lang="en-US" sz="900" dirty="0"/>
          </a:p>
        </p:txBody>
      </p:sp>
      <p:sp>
        <p:nvSpPr>
          <p:cNvPr id="49" name="Text 47"/>
          <p:cNvSpPr txBox="1"/>
          <p:nvPr/>
        </p:nvSpPr>
        <p:spPr>
          <a:xfrm>
            <a:off x="1188720" y="5506517"/>
            <a:ext cx="8726119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 good habit after getting an answer is to:</a:t>
            </a:r>
            <a:endParaRPr lang="en-US" sz="1250" dirty="0"/>
          </a:p>
        </p:txBody>
      </p:sp>
      <p:sp>
        <p:nvSpPr>
          <p:cNvPr id="50" name="Shape 48"/>
          <p:cNvSpPr/>
          <p:nvPr/>
        </p:nvSpPr>
        <p:spPr>
          <a:xfrm>
            <a:off x="10207447" y="5524805"/>
            <a:ext cx="1371600" cy="347472"/>
          </a:xfrm>
          <a:prstGeom prst="roundRect">
            <a:avLst>
              <a:gd name="adj" fmla="val 15789"/>
            </a:avLst>
          </a:prstGeom>
          <a:solidFill>
            <a:srgbClr val="A78BFA">
              <a:alpha val="20000"/>
            </a:srgbClr>
          </a:solidFill>
          <a:ln w="12700">
            <a:solidFill>
              <a:srgbClr val="A78BFA">
                <a:alpha val="60000"/>
              </a:srgbClr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10207447" y="5524805"/>
            <a:ext cx="13716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Answer: C</a:t>
            </a:r>
            <a:endParaRPr lang="en-US" sz="1050" dirty="0"/>
          </a:p>
        </p:txBody>
      </p:sp>
      <p:sp>
        <p:nvSpPr>
          <p:cNvPr id="52" name="Text 50"/>
          <p:cNvSpPr txBox="1"/>
          <p:nvPr/>
        </p:nvSpPr>
        <p:spPr>
          <a:xfrm>
            <a:off x="1115568" y="5917997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A. </a:t>
            </a:r>
            <a:r>
              <a:rPr lang="en-US" sz="11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Publish it immediately</a:t>
            </a:r>
            <a:endParaRPr lang="en-US" sz="1050" dirty="0"/>
          </a:p>
        </p:txBody>
      </p:sp>
      <p:sp>
        <p:nvSpPr>
          <p:cNvPr id="53" name="Text 51"/>
          <p:cNvSpPr txBox="1"/>
          <p:nvPr/>
        </p:nvSpPr>
        <p:spPr>
          <a:xfrm>
            <a:off x="3674288" y="5917997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B. </a:t>
            </a:r>
            <a:r>
              <a:rPr lang="en-US" sz="11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Delete the prompt</a:t>
            </a:r>
            <a:endParaRPr lang="en-US" sz="1050" dirty="0"/>
          </a:p>
        </p:txBody>
      </p:sp>
      <p:sp>
        <p:nvSpPr>
          <p:cNvPr id="54" name="Text 52"/>
          <p:cNvSpPr txBox="1"/>
          <p:nvPr/>
        </p:nvSpPr>
        <p:spPr>
          <a:xfrm>
            <a:off x="6233008" y="5917997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C. </a:t>
            </a: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Verify important facts</a:t>
            </a:r>
            <a:endParaRPr lang="en-US" sz="1050" dirty="0"/>
          </a:p>
        </p:txBody>
      </p:sp>
      <p:sp>
        <p:nvSpPr>
          <p:cNvPr id="55" name="Text 53"/>
          <p:cNvSpPr txBox="1"/>
          <p:nvPr/>
        </p:nvSpPr>
        <p:spPr>
          <a:xfrm>
            <a:off x="8791727" y="5917997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D. </a:t>
            </a:r>
            <a:r>
              <a:rPr lang="en-US" sz="11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Ignore the format</a:t>
            </a:r>
            <a:endParaRPr lang="en-US" sz="1050" dirty="0"/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49808" y="1874520"/>
            <a:ext cx="58521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SECTION 08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49808" y="2240280"/>
            <a:ext cx="6035040" cy="1554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Text Generation &amp; AI Chatbots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749808" y="3886200"/>
            <a:ext cx="5852160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most common use of Generative AI, and the tasks it handles best.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49808" y="4846320"/>
            <a:ext cx="1463040" cy="64008"/>
          </a:xfrm>
          <a:prstGeom prst="roundRect">
            <a:avLst>
              <a:gd name="adj" fmla="val 42857"/>
            </a:avLst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32320" y="1143000"/>
            <a:ext cx="4492447" cy="797357"/>
          </a:xfrm>
          <a:prstGeom prst="roundRect">
            <a:avLst>
              <a:gd name="adj" fmla="val 9174"/>
            </a:avLst>
          </a:prstGeom>
          <a:solidFill>
            <a:srgbClr val="191640"/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51776" y="1313078"/>
            <a:ext cx="457200" cy="457200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66076" y="1427378"/>
            <a:ext cx="228600" cy="22860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8010144" y="1143000"/>
            <a:ext cx="3303727" cy="79735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How Chatbots Work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7132320" y="2086661"/>
            <a:ext cx="4492447" cy="797357"/>
          </a:xfrm>
          <a:prstGeom prst="roundRect">
            <a:avLst>
              <a:gd name="adj" fmla="val 9174"/>
            </a:avLst>
          </a:prstGeom>
          <a:solidFill>
            <a:srgbClr val="191640"/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7351776" y="2256739"/>
            <a:ext cx="457200" cy="457200"/>
          </a:xfrm>
          <a:prstGeom prst="ellipse">
            <a:avLst/>
          </a:prstGeom>
          <a:solidFill>
            <a:srgbClr val="22D3EE">
              <a:alpha val="16000"/>
            </a:srgbClr>
          </a:solidFill>
          <a:ln w="12700">
            <a:solidFill>
              <a:srgbClr val="22D3EE">
                <a:alpha val="45000"/>
              </a:srgbClr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6076" y="2371039"/>
            <a:ext cx="228600" cy="22860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8010144" y="2086661"/>
            <a:ext cx="3303727" cy="79735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Summarisation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7132320" y="3030322"/>
            <a:ext cx="4492447" cy="797357"/>
          </a:xfrm>
          <a:prstGeom prst="roundRect">
            <a:avLst>
              <a:gd name="adj" fmla="val 9174"/>
            </a:avLst>
          </a:prstGeom>
          <a:solidFill>
            <a:srgbClr val="191640"/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351776" y="3200400"/>
            <a:ext cx="457200" cy="457200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6076" y="3314700"/>
            <a:ext cx="228600" cy="22860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010144" y="3030322"/>
            <a:ext cx="3303727" cy="79735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Translation</a:t>
            </a:r>
            <a:endParaRPr lang="en-US" sz="1350" dirty="0"/>
          </a:p>
        </p:txBody>
      </p:sp>
      <p:sp>
        <p:nvSpPr>
          <p:cNvPr id="18" name="Shape 13"/>
          <p:cNvSpPr/>
          <p:nvPr/>
        </p:nvSpPr>
        <p:spPr>
          <a:xfrm>
            <a:off x="7132320" y="3973982"/>
            <a:ext cx="4492447" cy="797357"/>
          </a:xfrm>
          <a:prstGeom prst="roundRect">
            <a:avLst>
              <a:gd name="adj" fmla="val 9174"/>
            </a:avLst>
          </a:prstGeom>
          <a:solidFill>
            <a:srgbClr val="191640"/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7351776" y="4144061"/>
            <a:ext cx="457200" cy="457200"/>
          </a:xfrm>
          <a:prstGeom prst="ellipse">
            <a:avLst/>
          </a:prstGeom>
          <a:solidFill>
            <a:srgbClr val="34D399">
              <a:alpha val="16000"/>
            </a:srgbClr>
          </a:solidFill>
          <a:ln w="12700">
            <a:solidFill>
              <a:srgbClr val="34D399">
                <a:alpha val="45000"/>
              </a:srgbClr>
            </a:solidFill>
            <a:prstDash val="solid"/>
          </a:ln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66076" y="4258361"/>
            <a:ext cx="228600" cy="22860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8010144" y="3973982"/>
            <a:ext cx="3303727" cy="79735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Question Answering</a:t>
            </a:r>
            <a:endParaRPr lang="en-US" sz="1350" dirty="0"/>
          </a:p>
        </p:txBody>
      </p:sp>
      <p:sp>
        <p:nvSpPr>
          <p:cNvPr id="22" name="Shape 16"/>
          <p:cNvSpPr/>
          <p:nvPr/>
        </p:nvSpPr>
        <p:spPr>
          <a:xfrm>
            <a:off x="7132320" y="4917643"/>
            <a:ext cx="4492447" cy="797357"/>
          </a:xfrm>
          <a:prstGeom prst="roundRect">
            <a:avLst>
              <a:gd name="adj" fmla="val 9174"/>
            </a:avLst>
          </a:prstGeom>
          <a:solidFill>
            <a:srgbClr val="191640"/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7351776" y="5087722"/>
            <a:ext cx="457200" cy="457200"/>
          </a:xfrm>
          <a:prstGeom prst="ellipse">
            <a:avLst/>
          </a:prstGeom>
          <a:solidFill>
            <a:srgbClr val="F472B6">
              <a:alpha val="16000"/>
            </a:srgbClr>
          </a:solidFill>
          <a:ln w="12700">
            <a:solidFill>
              <a:srgbClr val="F472B6">
                <a:alpha val="45000"/>
              </a:srgbClr>
            </a:solidFill>
            <a:prstDash val="solid"/>
          </a:ln>
        </p:spPr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66076" y="5202022"/>
            <a:ext cx="228600" cy="228600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8010144" y="4917643"/>
            <a:ext cx="3303727" cy="79735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Education &amp; Productivity</a:t>
            </a:r>
            <a:endParaRPr lang="en-US" sz="1350" dirty="0"/>
          </a:p>
        </p:txBody>
      </p:sp>
      <p:sp>
        <p:nvSpPr>
          <p:cNvPr id="26" name="Text 19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Section 8 · Text Generation &amp; AI Chatbots</a:t>
            </a:r>
            <a:endParaRPr lang="en-US" sz="950" dirty="0"/>
          </a:p>
        </p:txBody>
      </p:sp>
      <p:sp>
        <p:nvSpPr>
          <p:cNvPr id="27" name="Text 20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104</a:t>
            </a:r>
            <a:endParaRPr lang="en-US" sz="950" dirty="0"/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SLIDE 91 · DEFINITION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What is AI Text Generation?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Section 8 · Text Generation &amp; AI Chatbots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105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11057839" cy="877824"/>
          </a:xfrm>
          <a:prstGeom prst="roundRect">
            <a:avLst>
              <a:gd name="adj" fmla="val 8333"/>
            </a:avLst>
          </a:prstGeom>
          <a:solidFill>
            <a:srgbClr val="191640">
              <a:alpha val="96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6928" y="1627632"/>
            <a:ext cx="64008" cy="585216"/>
          </a:xfrm>
          <a:prstGeom prst="roundRect">
            <a:avLst>
              <a:gd name="adj" fmla="val 42857"/>
            </a:avLst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59536" y="1572768"/>
            <a:ext cx="10472623" cy="6949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DDD9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Text generation means the AI produces new written content based on your instruction.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66928" y="2615184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22960" y="2816352"/>
            <a:ext cx="457200" cy="457200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2930652"/>
            <a:ext cx="228600" cy="22860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499616" y="2816352"/>
            <a:ext cx="41847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What It Can Produce</a:t>
            </a:r>
            <a:endParaRPr lang="en-US" sz="1450" dirty="0"/>
          </a:p>
        </p:txBody>
      </p:sp>
      <p:sp>
        <p:nvSpPr>
          <p:cNvPr id="13" name="Text 10"/>
          <p:cNvSpPr txBox="1"/>
          <p:nvPr/>
        </p:nvSpPr>
        <p:spPr>
          <a:xfrm>
            <a:off x="841248" y="3419856"/>
            <a:ext cx="484312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200"/>
              </a:spcAft>
              <a:buSzPct val="100000"/>
              <a:buChar char="▪"/>
            </a:pPr>
            <a:r>
              <a:rPr lang="en-US" sz="9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Answers and explanations</a:t>
            </a:r>
            <a:endParaRPr lang="en-US" sz="900" dirty="0"/>
          </a:p>
          <a:p>
            <a:pPr marL="342900" indent="-342900">
              <a:lnSpc>
                <a:spcPct val="110000"/>
              </a:lnSpc>
              <a:spcAft>
                <a:spcPts val="200"/>
              </a:spcAft>
              <a:buSzPct val="100000"/>
              <a:buChar char="▪"/>
            </a:pPr>
            <a:r>
              <a:rPr lang="en-US" sz="9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Emails and reports</a:t>
            </a:r>
            <a:endParaRPr lang="en-US" sz="900" dirty="0"/>
          </a:p>
          <a:p>
            <a:pPr marL="342900" indent="-342900">
              <a:lnSpc>
                <a:spcPct val="110000"/>
              </a:lnSpc>
              <a:spcAft>
                <a:spcPts val="200"/>
              </a:spcAft>
              <a:buSzPct val="100000"/>
              <a:buChar char="▪"/>
            </a:pPr>
            <a:r>
              <a:rPr lang="en-US" sz="9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Summaries and translations</a:t>
            </a:r>
            <a:endParaRPr lang="en-US" sz="900" dirty="0"/>
          </a:p>
          <a:p>
            <a:pPr marL="342900" indent="-342900">
              <a:lnSpc>
                <a:spcPct val="110000"/>
              </a:lnSpc>
              <a:spcAft>
                <a:spcPts val="200"/>
              </a:spcAft>
              <a:buSzPct val="100000"/>
              <a:buChar char="▪"/>
            </a:pPr>
            <a:r>
              <a:rPr lang="en-US" sz="9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Stories, scripts and outlines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6233008" y="2615184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489040" y="2816352"/>
            <a:ext cx="457200" cy="457200"/>
          </a:xfrm>
          <a:prstGeom prst="ellipse">
            <a:avLst/>
          </a:prstGeom>
          <a:solidFill>
            <a:srgbClr val="22D3EE">
              <a:alpha val="16000"/>
            </a:srgbClr>
          </a:solidFill>
          <a:ln w="12700">
            <a:solidFill>
              <a:srgbClr val="22D3EE">
                <a:alpha val="45000"/>
              </a:srgbClr>
            </a:solidFill>
            <a:prstDash val="solid"/>
          </a:ln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3340" y="2930652"/>
            <a:ext cx="228600" cy="22860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7165696" y="2816352"/>
            <a:ext cx="41847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How It Works</a:t>
            </a:r>
            <a:endParaRPr lang="en-US" sz="1450" dirty="0"/>
          </a:p>
        </p:txBody>
      </p:sp>
      <p:sp>
        <p:nvSpPr>
          <p:cNvPr id="18" name="Text 14"/>
          <p:cNvSpPr txBox="1"/>
          <p:nvPr/>
        </p:nvSpPr>
        <p:spPr>
          <a:xfrm>
            <a:off x="6507328" y="3419856"/>
            <a:ext cx="484312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One token at a time, each chosen based on everything written so far.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566928" y="4530149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822960" y="4731317"/>
            <a:ext cx="457200" cy="457200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260" y="4845617"/>
            <a:ext cx="228600" cy="22860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499616" y="4731317"/>
            <a:ext cx="41847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Simple Example</a:t>
            </a:r>
            <a:endParaRPr lang="en-US" sz="1450" dirty="0"/>
          </a:p>
        </p:txBody>
      </p:sp>
      <p:sp>
        <p:nvSpPr>
          <p:cNvPr id="23" name="Text 18"/>
          <p:cNvSpPr txBox="1"/>
          <p:nvPr/>
        </p:nvSpPr>
        <p:spPr>
          <a:xfrm>
            <a:off x="841248" y="5334821"/>
            <a:ext cx="484312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You ask for a thank-you email to a guest speaker, and a complete polite draft appears in seconds.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6233008" y="4530149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6489040" y="4731317"/>
            <a:ext cx="457200" cy="457200"/>
          </a:xfrm>
          <a:prstGeom prst="ellipse">
            <a:avLst/>
          </a:prstGeom>
          <a:solidFill>
            <a:srgbClr val="34D399">
              <a:alpha val="16000"/>
            </a:srgbClr>
          </a:solidFill>
          <a:ln w="12700">
            <a:solidFill>
              <a:srgbClr val="34D399">
                <a:alpha val="45000"/>
              </a:srgbClr>
            </a:solidFill>
            <a:prstDash val="solid"/>
          </a:ln>
        </p:spPr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3340" y="4845617"/>
            <a:ext cx="228600" cy="228600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7165696" y="4731317"/>
            <a:ext cx="41847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Best Use</a:t>
            </a:r>
            <a:endParaRPr lang="en-US" sz="1450" dirty="0"/>
          </a:p>
        </p:txBody>
      </p:sp>
      <p:sp>
        <p:nvSpPr>
          <p:cNvPr id="28" name="Text 22"/>
          <p:cNvSpPr txBox="1"/>
          <p:nvPr/>
        </p:nvSpPr>
        <p:spPr>
          <a:xfrm>
            <a:off x="6507328" y="5334821"/>
            <a:ext cx="484312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Treat it as a fast first draft. Your editing is what makes the final version good.</a:t>
            </a:r>
            <a:endParaRPr lang="en-US" sz="1200" dirty="0"/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SLIDE 92 · PRODUCTS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AI Chatbots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Section 8 · Text Generation &amp; AI Chatbots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106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11057839" cy="877824"/>
          </a:xfrm>
          <a:prstGeom prst="roundRect">
            <a:avLst>
              <a:gd name="adj" fmla="val 8333"/>
            </a:avLst>
          </a:prstGeom>
          <a:solidFill>
            <a:srgbClr val="191640">
              <a:alpha val="96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6928" y="1627632"/>
            <a:ext cx="64008" cy="585216"/>
          </a:xfrm>
          <a:prstGeom prst="roundRect">
            <a:avLst>
              <a:gd name="adj" fmla="val 42857"/>
            </a:avLst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59536" y="1572768"/>
            <a:ext cx="10472623" cy="6949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DDD9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 AI chatbot is an application that wraps a language model in a conversation interface.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66928" y="2615184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22960" y="2816352"/>
            <a:ext cx="457200" cy="457200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2930652"/>
            <a:ext cx="228600" cy="22860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499616" y="2816352"/>
            <a:ext cx="41847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What The App Adds</a:t>
            </a:r>
            <a:endParaRPr lang="en-US" sz="1450" dirty="0"/>
          </a:p>
        </p:txBody>
      </p:sp>
      <p:sp>
        <p:nvSpPr>
          <p:cNvPr id="13" name="Text 10"/>
          <p:cNvSpPr txBox="1"/>
          <p:nvPr/>
        </p:nvSpPr>
        <p:spPr>
          <a:xfrm>
            <a:off x="841248" y="3419856"/>
            <a:ext cx="484312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200"/>
              </a:spcAft>
              <a:buSzPct val="100000"/>
              <a:buChar char="▪"/>
            </a:pPr>
            <a:r>
              <a:rPr lang="en-US" sz="9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Chat history handling</a:t>
            </a:r>
            <a:endParaRPr lang="en-US" sz="900" dirty="0"/>
          </a:p>
          <a:p>
            <a:pPr marL="342900" indent="-342900">
              <a:lnSpc>
                <a:spcPct val="110000"/>
              </a:lnSpc>
              <a:spcAft>
                <a:spcPts val="200"/>
              </a:spcAft>
              <a:buSzPct val="100000"/>
              <a:buChar char="▪"/>
            </a:pPr>
            <a:r>
              <a:rPr lang="en-US" sz="9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System instructions</a:t>
            </a:r>
            <a:endParaRPr lang="en-US" sz="900" dirty="0"/>
          </a:p>
          <a:p>
            <a:pPr marL="342900" indent="-342900">
              <a:lnSpc>
                <a:spcPct val="110000"/>
              </a:lnSpc>
              <a:spcAft>
                <a:spcPts val="200"/>
              </a:spcAft>
              <a:buSzPct val="100000"/>
              <a:buChar char="▪"/>
            </a:pPr>
            <a:r>
              <a:rPr lang="en-US" sz="9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Safety filters</a:t>
            </a:r>
            <a:endParaRPr lang="en-US" sz="900" dirty="0"/>
          </a:p>
          <a:p>
            <a:pPr marL="342900" indent="-342900">
              <a:lnSpc>
                <a:spcPct val="110000"/>
              </a:lnSpc>
              <a:spcAft>
                <a:spcPts val="200"/>
              </a:spcAft>
              <a:buSzPct val="100000"/>
              <a:buChar char="▪"/>
            </a:pPr>
            <a:r>
              <a:rPr lang="en-US" sz="9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Sometimes web search or file upload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6233008" y="2615184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489040" y="2816352"/>
            <a:ext cx="457200" cy="457200"/>
          </a:xfrm>
          <a:prstGeom prst="ellipse">
            <a:avLst/>
          </a:prstGeom>
          <a:solidFill>
            <a:srgbClr val="22D3EE">
              <a:alpha val="16000"/>
            </a:srgbClr>
          </a:solidFill>
          <a:ln w="12700">
            <a:solidFill>
              <a:srgbClr val="22D3EE">
                <a:alpha val="45000"/>
              </a:srgbClr>
            </a:solidFill>
            <a:prstDash val="solid"/>
          </a:ln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3340" y="2930652"/>
            <a:ext cx="228600" cy="22860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7165696" y="2816352"/>
            <a:ext cx="41847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The Model Underneath</a:t>
            </a:r>
            <a:endParaRPr lang="en-US" sz="1450" dirty="0"/>
          </a:p>
        </p:txBody>
      </p:sp>
      <p:sp>
        <p:nvSpPr>
          <p:cNvPr id="18" name="Text 14"/>
          <p:cNvSpPr txBox="1"/>
          <p:nvPr/>
        </p:nvSpPr>
        <p:spPr>
          <a:xfrm>
            <a:off x="6507328" y="3419856"/>
            <a:ext cx="484312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model itself only sees text in and produces text out. The chat feeling is created by the application.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566928" y="4530149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822960" y="4731317"/>
            <a:ext cx="457200" cy="457200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260" y="4845617"/>
            <a:ext cx="228600" cy="22860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499616" y="4731317"/>
            <a:ext cx="41847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Business Chatbots</a:t>
            </a:r>
            <a:endParaRPr lang="en-US" sz="1450" dirty="0"/>
          </a:p>
        </p:txBody>
      </p:sp>
      <p:sp>
        <p:nvSpPr>
          <p:cNvPr id="23" name="Text 18"/>
          <p:cNvSpPr txBox="1"/>
          <p:nvPr/>
        </p:nvSpPr>
        <p:spPr>
          <a:xfrm>
            <a:off x="841248" y="5334821"/>
            <a:ext cx="484312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Companies connect a model to their own documents so it answers from approved content.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6233008" y="4530149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6489040" y="4731317"/>
            <a:ext cx="457200" cy="457200"/>
          </a:xfrm>
          <a:prstGeom prst="ellipse">
            <a:avLst/>
          </a:prstGeom>
          <a:solidFill>
            <a:srgbClr val="34D399">
              <a:alpha val="16000"/>
            </a:srgbClr>
          </a:solidFill>
          <a:ln w="12700">
            <a:solidFill>
              <a:srgbClr val="34D399">
                <a:alpha val="45000"/>
              </a:srgbClr>
            </a:solidFill>
            <a:prstDash val="solid"/>
          </a:ln>
        </p:spPr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3340" y="4845617"/>
            <a:ext cx="228600" cy="228600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7165696" y="4731317"/>
            <a:ext cx="41847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Remember</a:t>
            </a:r>
            <a:endParaRPr lang="en-US" sz="1450" dirty="0"/>
          </a:p>
        </p:txBody>
      </p:sp>
      <p:sp>
        <p:nvSpPr>
          <p:cNvPr id="28" name="Text 22"/>
          <p:cNvSpPr txBox="1"/>
          <p:nvPr/>
        </p:nvSpPr>
        <p:spPr>
          <a:xfrm>
            <a:off x="6507328" y="5334821"/>
            <a:ext cx="484312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friendly tone is a writing style, not evidence of understanding or of truth.</a:t>
            </a:r>
            <a:endParaRPr lang="en-US" sz="1200" dirty="0"/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SLIDE 93 · PROCESS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How Chatbots Work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Section 8 · Text Generation &amp; AI Chatbots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107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2464308"/>
            <a:ext cx="1809232" cy="1691640"/>
          </a:xfrm>
          <a:prstGeom prst="roundRect">
            <a:avLst>
              <a:gd name="adj" fmla="val 4324"/>
            </a:avLst>
          </a:prstGeom>
          <a:solidFill>
            <a:srgbClr val="191640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297808" y="2290572"/>
            <a:ext cx="347472" cy="347472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297808" y="2290572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0A1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94944" y="2738628"/>
            <a:ext cx="1553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A78BF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You type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94944" y="3195828"/>
            <a:ext cx="1553200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Your message goes to the application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2467600" y="3191256"/>
            <a:ext cx="320040" cy="237744"/>
          </a:xfrm>
          <a:prstGeom prst="rightArrow">
            <a:avLst/>
          </a:prstGeom>
          <a:solidFill>
            <a:srgbClr val="22D3EE">
              <a:alpha val="70000"/>
            </a:srgbClr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879080" y="2464308"/>
            <a:ext cx="1809232" cy="1691640"/>
          </a:xfrm>
          <a:prstGeom prst="roundRect">
            <a:avLst>
              <a:gd name="adj" fmla="val 4324"/>
            </a:avLst>
          </a:prstGeom>
          <a:solidFill>
            <a:srgbClr val="191640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09960" y="2290572"/>
            <a:ext cx="347472" cy="34747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609960" y="2290572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0A1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3007096" y="2738628"/>
            <a:ext cx="1553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2D3E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App builds prompt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3007096" y="3195828"/>
            <a:ext cx="1553200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System rules plus chat history plus your message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779752" y="3191256"/>
            <a:ext cx="320040" cy="237744"/>
          </a:xfrm>
          <a:prstGeom prst="rightArrow">
            <a:avLst/>
          </a:prstGeom>
          <a:solidFill>
            <a:srgbClr val="22D3EE">
              <a:alpha val="70000"/>
            </a:srgbClr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191232" y="2464308"/>
            <a:ext cx="1809232" cy="1691640"/>
          </a:xfrm>
          <a:prstGeom prst="roundRect">
            <a:avLst>
              <a:gd name="adj" fmla="val 4324"/>
            </a:avLst>
          </a:prstGeom>
          <a:solidFill>
            <a:srgbClr val="191640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922112" y="2290572"/>
            <a:ext cx="347472" cy="347472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922112" y="2290572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0A1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5319248" y="2738628"/>
            <a:ext cx="1553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BBF2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Model generates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5319248" y="3195828"/>
            <a:ext cx="1553200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Tokens are predicted one at a time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7091904" y="3191256"/>
            <a:ext cx="320040" cy="237744"/>
          </a:xfrm>
          <a:prstGeom prst="rightArrow">
            <a:avLst/>
          </a:prstGeom>
          <a:solidFill>
            <a:srgbClr val="22D3EE">
              <a:alpha val="70000"/>
            </a:srgbClr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503384" y="2464308"/>
            <a:ext cx="1809232" cy="1691640"/>
          </a:xfrm>
          <a:prstGeom prst="roundRect">
            <a:avLst>
              <a:gd name="adj" fmla="val 4324"/>
            </a:avLst>
          </a:prstGeom>
          <a:solidFill>
            <a:srgbClr val="191640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234263" y="2290572"/>
            <a:ext cx="347472" cy="347472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234263" y="2290572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0A1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4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7631400" y="2738628"/>
            <a:ext cx="1553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4D39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Filters applied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7631400" y="3195828"/>
            <a:ext cx="1553200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Safety and formatting checks run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9404055" y="3191256"/>
            <a:ext cx="320040" cy="237744"/>
          </a:xfrm>
          <a:prstGeom prst="rightArrow">
            <a:avLst/>
          </a:prstGeom>
          <a:solidFill>
            <a:srgbClr val="22D3EE">
              <a:alpha val="70000"/>
            </a:srgbClr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815535" y="2464308"/>
            <a:ext cx="1809232" cy="1691640"/>
          </a:xfrm>
          <a:prstGeom prst="roundRect">
            <a:avLst>
              <a:gd name="adj" fmla="val 4324"/>
            </a:avLst>
          </a:prstGeom>
          <a:solidFill>
            <a:srgbClr val="191640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10546415" y="2290572"/>
            <a:ext cx="347472" cy="347472"/>
          </a:xfrm>
          <a:prstGeom prst="ellipse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10546415" y="2290572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0A1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5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9943551" y="2738628"/>
            <a:ext cx="1553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472B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You see the reply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9943551" y="3195828"/>
            <a:ext cx="1553200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Text is streamed to your screen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566928" y="5276088"/>
            <a:ext cx="11057839" cy="960120"/>
          </a:xfrm>
          <a:prstGeom prst="roundRect">
            <a:avLst>
              <a:gd name="adj" fmla="val 7619"/>
            </a:avLst>
          </a:prstGeom>
          <a:solidFill>
            <a:srgbClr val="191640">
              <a:alpha val="96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36" name="Text 34"/>
          <p:cNvSpPr txBox="1"/>
          <p:nvPr/>
        </p:nvSpPr>
        <p:spPr>
          <a:xfrm>
            <a:off x="841248" y="5385816"/>
            <a:ext cx="10509199" cy="7406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A78BF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Remember:  </a:t>
            </a:r>
            <a:r>
              <a:rPr lang="en-US" sz="13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Notice step 2: the model is re-sent the whole conversation each time. It has no memory of its own between messages.</a:t>
            </a:r>
            <a:endParaRPr lang="en-US" sz="1300" dirty="0"/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SLIDE 94 · MEMORY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Chat History and Context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Section 8 · Text Generation &amp; AI Chatbots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108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11057839" cy="877824"/>
          </a:xfrm>
          <a:prstGeom prst="roundRect">
            <a:avLst>
              <a:gd name="adj" fmla="val 8333"/>
            </a:avLst>
          </a:prstGeom>
          <a:solidFill>
            <a:srgbClr val="191640">
              <a:alpha val="96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6928" y="1627632"/>
            <a:ext cx="64008" cy="585216"/>
          </a:xfrm>
          <a:prstGeom prst="roundRect">
            <a:avLst>
              <a:gd name="adj" fmla="val 42857"/>
            </a:avLst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59536" y="1572768"/>
            <a:ext cx="10472623" cy="6949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DDD9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chatbot appears to remember because the previous messages are sent again with every new question.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66928" y="2615184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22960" y="2816352"/>
            <a:ext cx="457200" cy="457200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2930652"/>
            <a:ext cx="228600" cy="22860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499616" y="2816352"/>
            <a:ext cx="41847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How It Really Works</a:t>
            </a:r>
            <a:endParaRPr lang="en-US" sz="1450" dirty="0"/>
          </a:p>
        </p:txBody>
      </p:sp>
      <p:sp>
        <p:nvSpPr>
          <p:cNvPr id="13" name="Text 10"/>
          <p:cNvSpPr txBox="1"/>
          <p:nvPr/>
        </p:nvSpPr>
        <p:spPr>
          <a:xfrm>
            <a:off x="841248" y="3419856"/>
            <a:ext cx="484312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Each request contains the whole conversation so far, up to the context window limit.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33008" y="2615184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489040" y="2816352"/>
            <a:ext cx="457200" cy="457200"/>
          </a:xfrm>
          <a:prstGeom prst="ellipse">
            <a:avLst/>
          </a:prstGeom>
          <a:solidFill>
            <a:srgbClr val="22D3EE">
              <a:alpha val="16000"/>
            </a:srgbClr>
          </a:solidFill>
          <a:ln w="12700">
            <a:solidFill>
              <a:srgbClr val="22D3EE">
                <a:alpha val="45000"/>
              </a:srgbClr>
            </a:solidFill>
            <a:prstDash val="solid"/>
          </a:ln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3340" y="2930652"/>
            <a:ext cx="228600" cy="22860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7165696" y="2816352"/>
            <a:ext cx="41847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When It Forgets</a:t>
            </a:r>
            <a:endParaRPr lang="en-US" sz="1450" dirty="0"/>
          </a:p>
        </p:txBody>
      </p:sp>
      <p:sp>
        <p:nvSpPr>
          <p:cNvPr id="18" name="Text 14"/>
          <p:cNvSpPr txBox="1"/>
          <p:nvPr/>
        </p:nvSpPr>
        <p:spPr>
          <a:xfrm>
            <a:off x="6507328" y="3419856"/>
            <a:ext cx="484312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 a very long chat, the earliest messages drop out of the window and details are lost.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566928" y="4530149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822960" y="4731317"/>
            <a:ext cx="457200" cy="457200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260" y="4845617"/>
            <a:ext cx="228600" cy="22860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499616" y="4731317"/>
            <a:ext cx="41847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What To Do</a:t>
            </a:r>
            <a:endParaRPr lang="en-US" sz="1450" dirty="0"/>
          </a:p>
        </p:txBody>
      </p:sp>
      <p:sp>
        <p:nvSpPr>
          <p:cNvPr id="23" name="Text 18"/>
          <p:cNvSpPr txBox="1"/>
          <p:nvPr/>
        </p:nvSpPr>
        <p:spPr>
          <a:xfrm>
            <a:off x="841248" y="5334821"/>
            <a:ext cx="484312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Restate the important facts, or start a new chat with a short summary of what matters.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6233008" y="4530149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6489040" y="4731317"/>
            <a:ext cx="457200" cy="457200"/>
          </a:xfrm>
          <a:prstGeom prst="ellipse">
            <a:avLst/>
          </a:prstGeom>
          <a:solidFill>
            <a:srgbClr val="34D399">
              <a:alpha val="16000"/>
            </a:srgbClr>
          </a:solidFill>
          <a:ln w="12700">
            <a:solidFill>
              <a:srgbClr val="34D399">
                <a:alpha val="45000"/>
              </a:srgbClr>
            </a:solidFill>
            <a:prstDash val="solid"/>
          </a:ln>
        </p:spPr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3340" y="4845617"/>
            <a:ext cx="228600" cy="228600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7165696" y="4731317"/>
            <a:ext cx="41847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Privacy Note</a:t>
            </a:r>
            <a:endParaRPr lang="en-US" sz="1450" dirty="0"/>
          </a:p>
        </p:txBody>
      </p:sp>
      <p:sp>
        <p:nvSpPr>
          <p:cNvPr id="28" name="Text 22"/>
          <p:cNvSpPr txBox="1"/>
          <p:nvPr/>
        </p:nvSpPr>
        <p:spPr>
          <a:xfrm>
            <a:off x="6507328" y="5334821"/>
            <a:ext cx="484312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Everything in the conversation is sent to the provider each time. Keep confidential material out of it.</a:t>
            </a:r>
            <a:endParaRPr lang="en-US" sz="1200" dirty="0"/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SLIDE 95 · TASK 1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Summarization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Section 8 · Text Generation &amp; AI Chatbots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109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11057839" cy="877824"/>
          </a:xfrm>
          <a:prstGeom prst="roundRect">
            <a:avLst>
              <a:gd name="adj" fmla="val 8333"/>
            </a:avLst>
          </a:prstGeom>
          <a:solidFill>
            <a:srgbClr val="191640">
              <a:alpha val="96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6928" y="1627632"/>
            <a:ext cx="64008" cy="585216"/>
          </a:xfrm>
          <a:prstGeom prst="roundRect">
            <a:avLst>
              <a:gd name="adj" fmla="val 42857"/>
            </a:avLst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59536" y="1572768"/>
            <a:ext cx="10472623" cy="6949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DDD9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Summarisation means turning long content into a shorter version that keeps the important points.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66928" y="2615184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22960" y="2816352"/>
            <a:ext cx="457200" cy="457200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2930652"/>
            <a:ext cx="228600" cy="22860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499616" y="2816352"/>
            <a:ext cx="41847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Types Of Summary</a:t>
            </a:r>
            <a:endParaRPr lang="en-US" sz="1450" dirty="0"/>
          </a:p>
        </p:txBody>
      </p:sp>
      <p:sp>
        <p:nvSpPr>
          <p:cNvPr id="13" name="Text 10"/>
          <p:cNvSpPr txBox="1"/>
          <p:nvPr/>
        </p:nvSpPr>
        <p:spPr>
          <a:xfrm>
            <a:off x="841248" y="3419856"/>
            <a:ext cx="484312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200"/>
              </a:spcAft>
              <a:buSzPct val="100000"/>
              <a:buChar char="▪"/>
            </a:pPr>
            <a:r>
              <a:rPr lang="en-US" sz="9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Short paragraph</a:t>
            </a:r>
            <a:endParaRPr lang="en-US" sz="900" dirty="0"/>
          </a:p>
          <a:p>
            <a:pPr marL="342900" indent="-342900">
              <a:lnSpc>
                <a:spcPct val="110000"/>
              </a:lnSpc>
              <a:spcAft>
                <a:spcPts val="200"/>
              </a:spcAft>
              <a:buSzPct val="100000"/>
              <a:buChar char="▪"/>
            </a:pPr>
            <a:r>
              <a:rPr lang="en-US" sz="9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Bullet points</a:t>
            </a:r>
            <a:endParaRPr lang="en-US" sz="900" dirty="0"/>
          </a:p>
          <a:p>
            <a:pPr marL="342900" indent="-342900">
              <a:lnSpc>
                <a:spcPct val="110000"/>
              </a:lnSpc>
              <a:spcAft>
                <a:spcPts val="200"/>
              </a:spcAft>
              <a:buSzPct val="100000"/>
              <a:buChar char="▪"/>
            </a:pPr>
            <a:r>
              <a:rPr lang="en-US" sz="9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Action items only</a:t>
            </a:r>
            <a:endParaRPr lang="en-US" sz="900" dirty="0"/>
          </a:p>
          <a:p>
            <a:pPr marL="342900" indent="-342900">
              <a:lnSpc>
                <a:spcPct val="110000"/>
              </a:lnSpc>
              <a:spcAft>
                <a:spcPts val="200"/>
              </a:spcAft>
              <a:buSzPct val="100000"/>
              <a:buChar char="▪"/>
            </a:pPr>
            <a:r>
              <a:rPr lang="en-US" sz="9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Table of key facts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6233008" y="2615184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489040" y="2816352"/>
            <a:ext cx="457200" cy="457200"/>
          </a:xfrm>
          <a:prstGeom prst="ellipse">
            <a:avLst/>
          </a:prstGeom>
          <a:solidFill>
            <a:srgbClr val="22D3EE">
              <a:alpha val="16000"/>
            </a:srgbClr>
          </a:solidFill>
          <a:ln w="12700">
            <a:solidFill>
              <a:srgbClr val="22D3EE">
                <a:alpha val="45000"/>
              </a:srgbClr>
            </a:solidFill>
            <a:prstDash val="solid"/>
          </a:ln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3340" y="2930652"/>
            <a:ext cx="228600" cy="22860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7165696" y="2816352"/>
            <a:ext cx="41847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Example</a:t>
            </a:r>
            <a:endParaRPr lang="en-US" sz="1450" dirty="0"/>
          </a:p>
        </p:txBody>
      </p:sp>
      <p:sp>
        <p:nvSpPr>
          <p:cNvPr id="18" name="Text 14"/>
          <p:cNvSpPr txBox="1"/>
          <p:nvPr/>
        </p:nvSpPr>
        <p:spPr>
          <a:xfrm>
            <a:off x="6507328" y="3419856"/>
            <a:ext cx="484312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"Summarise this 20-page report into 5 bullet points for a manager, focusing on decisions needed."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566928" y="4530149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822960" y="4731317"/>
            <a:ext cx="457200" cy="457200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260" y="4845617"/>
            <a:ext cx="228600" cy="22860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499616" y="4731317"/>
            <a:ext cx="41847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Why It Is Strong Here</a:t>
            </a:r>
            <a:endParaRPr lang="en-US" sz="1450" dirty="0"/>
          </a:p>
        </p:txBody>
      </p:sp>
      <p:sp>
        <p:nvSpPr>
          <p:cNvPr id="23" name="Text 18"/>
          <p:cNvSpPr txBox="1"/>
          <p:nvPr/>
        </p:nvSpPr>
        <p:spPr>
          <a:xfrm>
            <a:off x="841248" y="5334821"/>
            <a:ext cx="484312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All the source material is in front of the model, so there is much less need to invent anything.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6233008" y="4530149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6489040" y="4731317"/>
            <a:ext cx="457200" cy="457200"/>
          </a:xfrm>
          <a:prstGeom prst="ellipse">
            <a:avLst/>
          </a:prstGeom>
          <a:solidFill>
            <a:srgbClr val="34D399">
              <a:alpha val="16000"/>
            </a:srgbClr>
          </a:solidFill>
          <a:ln w="12700">
            <a:solidFill>
              <a:srgbClr val="34D399">
                <a:alpha val="45000"/>
              </a:srgbClr>
            </a:solidFill>
            <a:prstDash val="solid"/>
          </a:ln>
        </p:spPr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3340" y="4845617"/>
            <a:ext cx="228600" cy="228600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7165696" y="4731317"/>
            <a:ext cx="41847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Watch For</a:t>
            </a:r>
            <a:endParaRPr lang="en-US" sz="1450" dirty="0"/>
          </a:p>
        </p:txBody>
      </p:sp>
      <p:sp>
        <p:nvSpPr>
          <p:cNvPr id="28" name="Text 22"/>
          <p:cNvSpPr txBox="1"/>
          <p:nvPr/>
        </p:nvSpPr>
        <p:spPr>
          <a:xfrm>
            <a:off x="6507328" y="5334821"/>
            <a:ext cx="484312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Losing important exceptions, and silently dropping a point that mattered to you. Always skim the original.</a:t>
            </a:r>
            <a:endParaRPr lang="en-US" sz="1200" dirty="0"/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SLIDE 96 · TASK 2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Translation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Section 8 · Text Generation &amp; AI Chatbots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110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11057839" cy="877824"/>
          </a:xfrm>
          <a:prstGeom prst="roundRect">
            <a:avLst>
              <a:gd name="adj" fmla="val 8333"/>
            </a:avLst>
          </a:prstGeom>
          <a:solidFill>
            <a:srgbClr val="191640">
              <a:alpha val="96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6928" y="1627632"/>
            <a:ext cx="64008" cy="585216"/>
          </a:xfrm>
          <a:prstGeom prst="roundRect">
            <a:avLst>
              <a:gd name="adj" fmla="val 42857"/>
            </a:avLst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59536" y="1572768"/>
            <a:ext cx="10472623" cy="6949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DDD9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Translation converts text from one language into another while keeping the meaning.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66928" y="2615184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22960" y="2816352"/>
            <a:ext cx="457200" cy="457200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2930652"/>
            <a:ext cx="228600" cy="22860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499616" y="2816352"/>
            <a:ext cx="41847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What Works Well</a:t>
            </a:r>
            <a:endParaRPr lang="en-US" sz="1450" dirty="0"/>
          </a:p>
        </p:txBody>
      </p:sp>
      <p:sp>
        <p:nvSpPr>
          <p:cNvPr id="13" name="Text 10"/>
          <p:cNvSpPr txBox="1"/>
          <p:nvPr/>
        </p:nvSpPr>
        <p:spPr>
          <a:xfrm>
            <a:off x="841248" y="3419856"/>
            <a:ext cx="484312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Common language pairs and everyday content translate with good quality.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33008" y="2615184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489040" y="2816352"/>
            <a:ext cx="457200" cy="457200"/>
          </a:xfrm>
          <a:prstGeom prst="ellipse">
            <a:avLst/>
          </a:prstGeom>
          <a:solidFill>
            <a:srgbClr val="22D3EE">
              <a:alpha val="16000"/>
            </a:srgbClr>
          </a:solidFill>
          <a:ln w="12700">
            <a:solidFill>
              <a:srgbClr val="22D3EE">
                <a:alpha val="45000"/>
              </a:srgbClr>
            </a:solidFill>
            <a:prstDash val="solid"/>
          </a:ln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3340" y="2930652"/>
            <a:ext cx="228600" cy="22860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7165696" y="2816352"/>
            <a:ext cx="41847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You Can Control Tone</a:t>
            </a:r>
            <a:endParaRPr lang="en-US" sz="1450" dirty="0"/>
          </a:p>
        </p:txBody>
      </p:sp>
      <p:sp>
        <p:nvSpPr>
          <p:cNvPr id="18" name="Text 14"/>
          <p:cNvSpPr txBox="1"/>
          <p:nvPr/>
        </p:nvSpPr>
        <p:spPr>
          <a:xfrm>
            <a:off x="6507328" y="3419856"/>
            <a:ext cx="484312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"Translate into Hindi using simple, polite, everyday language."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566928" y="4530149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822960" y="4731317"/>
            <a:ext cx="457200" cy="457200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260" y="4845617"/>
            <a:ext cx="228600" cy="22860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499616" y="4731317"/>
            <a:ext cx="41847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Where It Struggles</a:t>
            </a:r>
            <a:endParaRPr lang="en-US" sz="1450" dirty="0"/>
          </a:p>
        </p:txBody>
      </p:sp>
      <p:sp>
        <p:nvSpPr>
          <p:cNvPr id="23" name="Text 18"/>
          <p:cNvSpPr txBox="1"/>
          <p:nvPr/>
        </p:nvSpPr>
        <p:spPr>
          <a:xfrm>
            <a:off x="841248" y="5334821"/>
            <a:ext cx="484312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Rare languages, local idioms, legal wording and cultural references.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6233008" y="4530149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6489040" y="4731317"/>
            <a:ext cx="457200" cy="457200"/>
          </a:xfrm>
          <a:prstGeom prst="ellipse">
            <a:avLst/>
          </a:prstGeom>
          <a:solidFill>
            <a:srgbClr val="34D399">
              <a:alpha val="16000"/>
            </a:srgbClr>
          </a:solidFill>
          <a:ln w="12700">
            <a:solidFill>
              <a:srgbClr val="34D399">
                <a:alpha val="45000"/>
              </a:srgbClr>
            </a:solidFill>
            <a:prstDash val="solid"/>
          </a:ln>
        </p:spPr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3340" y="4845617"/>
            <a:ext cx="228600" cy="228600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7165696" y="4731317"/>
            <a:ext cx="41847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Best Practice</a:t>
            </a:r>
            <a:endParaRPr lang="en-US" sz="1450" dirty="0"/>
          </a:p>
        </p:txBody>
      </p:sp>
      <p:sp>
        <p:nvSpPr>
          <p:cNvPr id="28" name="Text 22"/>
          <p:cNvSpPr txBox="1"/>
          <p:nvPr/>
        </p:nvSpPr>
        <p:spPr>
          <a:xfrm>
            <a:off x="6507328" y="5334821"/>
            <a:ext cx="484312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For anything official or legal, a qualified human translator must review the result.</a:t>
            </a:r>
            <a:endParaRPr lang="en-US" sz="1200" dirty="0"/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SLIDE 97 · TASK 3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Question Answering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Section 8 · Text Generation &amp; AI Chatbots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111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11057839" cy="877824"/>
          </a:xfrm>
          <a:prstGeom prst="roundRect">
            <a:avLst>
              <a:gd name="adj" fmla="val 8333"/>
            </a:avLst>
          </a:prstGeom>
          <a:solidFill>
            <a:srgbClr val="191640">
              <a:alpha val="96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6928" y="1627632"/>
            <a:ext cx="64008" cy="585216"/>
          </a:xfrm>
          <a:prstGeom prst="roundRect">
            <a:avLst>
              <a:gd name="adj" fmla="val 42857"/>
            </a:avLst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59536" y="1572768"/>
            <a:ext cx="10472623" cy="6949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DDD9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model answers a question either from its training or from documents you provide.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66928" y="2615184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22960" y="2816352"/>
            <a:ext cx="457200" cy="457200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2930652"/>
            <a:ext cx="228600" cy="22860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499616" y="2816352"/>
            <a:ext cx="41847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From Training (closed book)</a:t>
            </a:r>
            <a:endParaRPr lang="en-US" sz="1450" dirty="0"/>
          </a:p>
        </p:txBody>
      </p:sp>
      <p:sp>
        <p:nvSpPr>
          <p:cNvPr id="13" name="Text 10"/>
          <p:cNvSpPr txBox="1"/>
          <p:nvPr/>
        </p:nvSpPr>
        <p:spPr>
          <a:xfrm>
            <a:off x="841248" y="3419856"/>
            <a:ext cx="484312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Fast, but may be outdated or wrong, and cannot show a source.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33008" y="2615184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489040" y="2816352"/>
            <a:ext cx="457200" cy="457200"/>
          </a:xfrm>
          <a:prstGeom prst="ellipse">
            <a:avLst/>
          </a:prstGeom>
          <a:solidFill>
            <a:srgbClr val="22D3EE">
              <a:alpha val="16000"/>
            </a:srgbClr>
          </a:solidFill>
          <a:ln w="12700">
            <a:solidFill>
              <a:srgbClr val="22D3EE">
                <a:alpha val="45000"/>
              </a:srgbClr>
            </a:solidFill>
            <a:prstDash val="solid"/>
          </a:ln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3340" y="2930652"/>
            <a:ext cx="228600" cy="22860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7165696" y="2816352"/>
            <a:ext cx="41847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From Documents (open book)</a:t>
            </a:r>
            <a:endParaRPr lang="en-US" sz="1450" dirty="0"/>
          </a:p>
        </p:txBody>
      </p:sp>
      <p:sp>
        <p:nvSpPr>
          <p:cNvPr id="18" name="Text 14"/>
          <p:cNvSpPr txBox="1"/>
          <p:nvPr/>
        </p:nvSpPr>
        <p:spPr>
          <a:xfrm>
            <a:off x="6507328" y="3419856"/>
            <a:ext cx="484312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You supply the material. Far more accurate and a source can be quoted.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566928" y="4530149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822960" y="4731317"/>
            <a:ext cx="457200" cy="457200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260" y="4845617"/>
            <a:ext cx="228600" cy="22860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499616" y="4731317"/>
            <a:ext cx="41847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Strong Prompt Pattern</a:t>
            </a:r>
            <a:endParaRPr lang="en-US" sz="1450" dirty="0"/>
          </a:p>
        </p:txBody>
      </p:sp>
      <p:sp>
        <p:nvSpPr>
          <p:cNvPr id="23" name="Text 18"/>
          <p:cNvSpPr txBox="1"/>
          <p:nvPr/>
        </p:nvSpPr>
        <p:spPr>
          <a:xfrm>
            <a:off x="841248" y="5334821"/>
            <a:ext cx="484312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"Answer only from the text above. If the answer is not there, reply: not stated in the document."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6233008" y="4530149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6489040" y="4731317"/>
            <a:ext cx="457200" cy="457200"/>
          </a:xfrm>
          <a:prstGeom prst="ellipse">
            <a:avLst/>
          </a:prstGeom>
          <a:solidFill>
            <a:srgbClr val="34D399">
              <a:alpha val="16000"/>
            </a:srgbClr>
          </a:solidFill>
          <a:ln w="12700">
            <a:solidFill>
              <a:srgbClr val="34D399">
                <a:alpha val="45000"/>
              </a:srgbClr>
            </a:solidFill>
            <a:prstDash val="solid"/>
          </a:ln>
        </p:spPr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3340" y="4845617"/>
            <a:ext cx="228600" cy="228600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7165696" y="4731317"/>
            <a:ext cx="41847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At Scale</a:t>
            </a:r>
            <a:endParaRPr lang="en-US" sz="1450" dirty="0"/>
          </a:p>
        </p:txBody>
      </p:sp>
      <p:sp>
        <p:nvSpPr>
          <p:cNvPr id="28" name="Text 22"/>
          <p:cNvSpPr txBox="1"/>
          <p:nvPr/>
        </p:nvSpPr>
        <p:spPr>
          <a:xfrm>
            <a:off x="6507328" y="5334821"/>
            <a:ext cx="484312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When there are too many documents to paste, this becomes RAG — covered in Section 13.</a:t>
            </a:r>
            <a:endParaRPr lang="en-US" sz="1200" dirty="0"/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SLIDE 98 · TASK 4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Content Generation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Section 8 · Text Generation &amp; AI Chatbots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112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11057839" cy="877824"/>
          </a:xfrm>
          <a:prstGeom prst="roundRect">
            <a:avLst>
              <a:gd name="adj" fmla="val 8333"/>
            </a:avLst>
          </a:prstGeom>
          <a:solidFill>
            <a:srgbClr val="191640">
              <a:alpha val="96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6928" y="1627632"/>
            <a:ext cx="64008" cy="585216"/>
          </a:xfrm>
          <a:prstGeom prst="roundRect">
            <a:avLst>
              <a:gd name="adj" fmla="val 42857"/>
            </a:avLst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59536" y="1572768"/>
            <a:ext cx="10472623" cy="6949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DDD9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Producing new written material from a short brief.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66928" y="2615184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22960" y="2816352"/>
            <a:ext cx="457200" cy="457200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2930652"/>
            <a:ext cx="228600" cy="22860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499616" y="2816352"/>
            <a:ext cx="41847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Common Outputs</a:t>
            </a:r>
            <a:endParaRPr lang="en-US" sz="1450" dirty="0"/>
          </a:p>
        </p:txBody>
      </p:sp>
      <p:sp>
        <p:nvSpPr>
          <p:cNvPr id="13" name="Text 10"/>
          <p:cNvSpPr txBox="1"/>
          <p:nvPr/>
        </p:nvSpPr>
        <p:spPr>
          <a:xfrm>
            <a:off x="841248" y="3419856"/>
            <a:ext cx="484312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200"/>
              </a:spcAft>
              <a:buSzPct val="100000"/>
              <a:buChar char="▪"/>
            </a:pPr>
            <a:r>
              <a:rPr lang="en-US" sz="9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Blog and article drafts</a:t>
            </a:r>
            <a:endParaRPr lang="en-US" sz="900" dirty="0"/>
          </a:p>
          <a:p>
            <a:pPr marL="342900" indent="-342900">
              <a:lnSpc>
                <a:spcPct val="110000"/>
              </a:lnSpc>
              <a:spcAft>
                <a:spcPts val="200"/>
              </a:spcAft>
              <a:buSzPct val="100000"/>
              <a:buChar char="▪"/>
            </a:pPr>
            <a:r>
              <a:rPr lang="en-US" sz="9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Social media posts</a:t>
            </a:r>
            <a:endParaRPr lang="en-US" sz="900" dirty="0"/>
          </a:p>
          <a:p>
            <a:pPr marL="342900" indent="-342900">
              <a:lnSpc>
                <a:spcPct val="110000"/>
              </a:lnSpc>
              <a:spcAft>
                <a:spcPts val="200"/>
              </a:spcAft>
              <a:buSzPct val="100000"/>
              <a:buChar char="▪"/>
            </a:pPr>
            <a:r>
              <a:rPr lang="en-US" sz="9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Product descriptions</a:t>
            </a:r>
            <a:endParaRPr lang="en-US" sz="900" dirty="0"/>
          </a:p>
          <a:p>
            <a:pPr marL="342900" indent="-342900">
              <a:lnSpc>
                <a:spcPct val="110000"/>
              </a:lnSpc>
              <a:spcAft>
                <a:spcPts val="200"/>
              </a:spcAft>
              <a:buSzPct val="100000"/>
              <a:buChar char="▪"/>
            </a:pPr>
            <a:r>
              <a:rPr lang="en-US" sz="9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Scripts and outlines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6233008" y="2615184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489040" y="2816352"/>
            <a:ext cx="457200" cy="457200"/>
          </a:xfrm>
          <a:prstGeom prst="ellipse">
            <a:avLst/>
          </a:prstGeom>
          <a:solidFill>
            <a:srgbClr val="22D3EE">
              <a:alpha val="16000"/>
            </a:srgbClr>
          </a:solidFill>
          <a:ln w="12700">
            <a:solidFill>
              <a:srgbClr val="22D3EE">
                <a:alpha val="45000"/>
              </a:srgbClr>
            </a:solidFill>
            <a:prstDash val="solid"/>
          </a:ln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3340" y="2930652"/>
            <a:ext cx="228600" cy="22860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7165696" y="2816352"/>
            <a:ext cx="41847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Better Approach</a:t>
            </a:r>
            <a:endParaRPr lang="en-US" sz="1450" dirty="0"/>
          </a:p>
        </p:txBody>
      </p:sp>
      <p:sp>
        <p:nvSpPr>
          <p:cNvPr id="18" name="Text 14"/>
          <p:cNvSpPr txBox="1"/>
          <p:nvPr/>
        </p:nvSpPr>
        <p:spPr>
          <a:xfrm>
            <a:off x="6507328" y="3419856"/>
            <a:ext cx="484312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Give your own outline and key points, then ask the model to expand it. The thinking stays yours.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566928" y="4530149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822960" y="4731317"/>
            <a:ext cx="457200" cy="457200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260" y="4845617"/>
            <a:ext cx="228600" cy="22860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499616" y="4731317"/>
            <a:ext cx="41847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Ask For Variety</a:t>
            </a:r>
            <a:endParaRPr lang="en-US" sz="1450" dirty="0"/>
          </a:p>
        </p:txBody>
      </p:sp>
      <p:sp>
        <p:nvSpPr>
          <p:cNvPr id="23" name="Text 18"/>
          <p:cNvSpPr txBox="1"/>
          <p:nvPr/>
        </p:nvSpPr>
        <p:spPr>
          <a:xfrm>
            <a:off x="841248" y="5334821"/>
            <a:ext cx="484312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Request several versions with different angles, then combine the best parts.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6233008" y="4530149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6489040" y="4731317"/>
            <a:ext cx="457200" cy="457200"/>
          </a:xfrm>
          <a:prstGeom prst="ellipse">
            <a:avLst/>
          </a:prstGeom>
          <a:solidFill>
            <a:srgbClr val="34D399">
              <a:alpha val="16000"/>
            </a:srgbClr>
          </a:solidFill>
          <a:ln w="12700">
            <a:solidFill>
              <a:srgbClr val="34D399">
                <a:alpha val="45000"/>
              </a:srgbClr>
            </a:solidFill>
            <a:prstDash val="solid"/>
          </a:ln>
        </p:spPr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3340" y="4845617"/>
            <a:ext cx="228600" cy="228600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7165696" y="4731317"/>
            <a:ext cx="41847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Responsibility</a:t>
            </a:r>
            <a:endParaRPr lang="en-US" sz="1450" dirty="0"/>
          </a:p>
        </p:txBody>
      </p:sp>
      <p:sp>
        <p:nvSpPr>
          <p:cNvPr id="28" name="Text 22"/>
          <p:cNvSpPr txBox="1"/>
          <p:nvPr/>
        </p:nvSpPr>
        <p:spPr>
          <a:xfrm>
            <a:off x="6507328" y="5334821"/>
            <a:ext cx="484312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Check facts, avoid copying a style closely enough to mislead, and disclose AI use where your organisation requires it.</a:t>
            </a:r>
            <a:endParaRPr lang="en-US" sz="1200" dirty="0"/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SLIDE 99 · TASK 5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Email and Document Assistance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Section 8 · Text Generation &amp; AI Chatbots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113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11057839" cy="877824"/>
          </a:xfrm>
          <a:prstGeom prst="roundRect">
            <a:avLst>
              <a:gd name="adj" fmla="val 8333"/>
            </a:avLst>
          </a:prstGeom>
          <a:solidFill>
            <a:srgbClr val="191640">
              <a:alpha val="96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6928" y="1627632"/>
            <a:ext cx="64008" cy="585216"/>
          </a:xfrm>
          <a:prstGeom prst="roundRect">
            <a:avLst>
              <a:gd name="adj" fmla="val 42857"/>
            </a:avLst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59536" y="1572768"/>
            <a:ext cx="10472623" cy="6949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DDD9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 can draft, shorten, rewrite and adjust the tone of everyday business writing.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66928" y="2615184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22960" y="2816352"/>
            <a:ext cx="457200" cy="457200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2930652"/>
            <a:ext cx="228600" cy="22860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499616" y="2816352"/>
            <a:ext cx="41847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Drafting</a:t>
            </a:r>
            <a:endParaRPr lang="en-US" sz="1450" dirty="0"/>
          </a:p>
        </p:txBody>
      </p:sp>
      <p:sp>
        <p:nvSpPr>
          <p:cNvPr id="13" name="Text 10"/>
          <p:cNvSpPr txBox="1"/>
          <p:nvPr/>
        </p:nvSpPr>
        <p:spPr>
          <a:xfrm>
            <a:off x="841248" y="3419856"/>
            <a:ext cx="484312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"Write a polite follow-up email about an unpaid invoice, three sentences, friendly but clear."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33008" y="2615184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489040" y="2816352"/>
            <a:ext cx="457200" cy="457200"/>
          </a:xfrm>
          <a:prstGeom prst="ellipse">
            <a:avLst/>
          </a:prstGeom>
          <a:solidFill>
            <a:srgbClr val="22D3EE">
              <a:alpha val="16000"/>
            </a:srgbClr>
          </a:solidFill>
          <a:ln w="12700">
            <a:solidFill>
              <a:srgbClr val="22D3EE">
                <a:alpha val="45000"/>
              </a:srgbClr>
            </a:solidFill>
            <a:prstDash val="solid"/>
          </a:ln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3340" y="2930652"/>
            <a:ext cx="228600" cy="22860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7165696" y="2816352"/>
            <a:ext cx="41847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Changing Tone</a:t>
            </a:r>
            <a:endParaRPr lang="en-US" sz="1450" dirty="0"/>
          </a:p>
        </p:txBody>
      </p:sp>
      <p:sp>
        <p:nvSpPr>
          <p:cNvPr id="18" name="Text 14"/>
          <p:cNvSpPr txBox="1"/>
          <p:nvPr/>
        </p:nvSpPr>
        <p:spPr>
          <a:xfrm>
            <a:off x="6507328" y="3419856"/>
            <a:ext cx="484312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"Rewrite this message to sound more formal and less apologetic."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566928" y="4530149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822960" y="4731317"/>
            <a:ext cx="457200" cy="457200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260" y="4845617"/>
            <a:ext cx="228600" cy="22860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499616" y="4731317"/>
            <a:ext cx="41847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Shortening</a:t>
            </a:r>
            <a:endParaRPr lang="en-US" sz="1450" dirty="0"/>
          </a:p>
        </p:txBody>
      </p:sp>
      <p:sp>
        <p:nvSpPr>
          <p:cNvPr id="23" name="Text 18"/>
          <p:cNvSpPr txBox="1"/>
          <p:nvPr/>
        </p:nvSpPr>
        <p:spPr>
          <a:xfrm>
            <a:off x="841248" y="5334821"/>
            <a:ext cx="484312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"Cut this to half the length without losing any key information."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6233008" y="4530149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6489040" y="4731317"/>
            <a:ext cx="457200" cy="457200"/>
          </a:xfrm>
          <a:prstGeom prst="ellipse">
            <a:avLst/>
          </a:prstGeom>
          <a:solidFill>
            <a:srgbClr val="34D399">
              <a:alpha val="16000"/>
            </a:srgbClr>
          </a:solidFill>
          <a:ln w="12700">
            <a:solidFill>
              <a:srgbClr val="34D399">
                <a:alpha val="45000"/>
              </a:srgbClr>
            </a:solidFill>
            <a:prstDash val="solid"/>
          </a:ln>
        </p:spPr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3340" y="4845617"/>
            <a:ext cx="228600" cy="228600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7165696" y="4731317"/>
            <a:ext cx="41847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Proofreading</a:t>
            </a:r>
            <a:endParaRPr lang="en-US" sz="1450" dirty="0"/>
          </a:p>
        </p:txBody>
      </p:sp>
      <p:sp>
        <p:nvSpPr>
          <p:cNvPr id="28" name="Text 22"/>
          <p:cNvSpPr txBox="1"/>
          <p:nvPr/>
        </p:nvSpPr>
        <p:spPr>
          <a:xfrm>
            <a:off x="6507328" y="5334821"/>
            <a:ext cx="484312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"List the grammar and clarity issues in this text without rewriting it for me."</a:t>
            </a:r>
            <a:endParaRPr lang="en-US" sz="1200" dirty="0"/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SLIDE 100 · EDUCATION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AI for Education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Section 8 · Text Generation &amp; AI Chatbots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114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11057839" cy="670560"/>
          </a:xfrm>
          <a:prstGeom prst="roundRect">
            <a:avLst>
              <a:gd name="adj" fmla="val 10909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04672" y="1600200"/>
            <a:ext cx="432816" cy="432816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2876" y="1708404"/>
            <a:ext cx="216408" cy="216408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475232" y="1591056"/>
            <a:ext cx="9875215" cy="4511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Personal explanations</a:t>
            </a:r>
            <a:endParaRPr lang="en-US" sz="13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same topic can be explained again at a different level until it finally clicks.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566928" y="2298192"/>
            <a:ext cx="11057839" cy="670560"/>
          </a:xfrm>
          <a:prstGeom prst="roundRect">
            <a:avLst>
              <a:gd name="adj" fmla="val 10909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804672" y="2417064"/>
            <a:ext cx="432816" cy="432816"/>
          </a:xfrm>
          <a:prstGeom prst="ellipse">
            <a:avLst/>
          </a:prstGeom>
          <a:solidFill>
            <a:srgbClr val="22D3EE">
              <a:alpha val="16000"/>
            </a:srgbClr>
          </a:solidFill>
          <a:ln w="12700">
            <a:solidFill>
              <a:srgbClr val="22D3EE">
                <a:alpha val="45000"/>
              </a:srgbClr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876" y="2525268"/>
            <a:ext cx="216408" cy="216408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475232" y="2407920"/>
            <a:ext cx="9875215" cy="4511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Practice and self-testing</a:t>
            </a:r>
            <a:endParaRPr lang="en-US" sz="13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Generate questions, attempt them, then ask for feedback on your answers.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566928" y="3115056"/>
            <a:ext cx="11057839" cy="670560"/>
          </a:xfrm>
          <a:prstGeom prst="roundRect">
            <a:avLst>
              <a:gd name="adj" fmla="val 10909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04672" y="3233928"/>
            <a:ext cx="432816" cy="432816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2876" y="3342132"/>
            <a:ext cx="216408" cy="216408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475232" y="3224784"/>
            <a:ext cx="9875215" cy="4511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Teacher support</a:t>
            </a:r>
            <a:endParaRPr lang="en-US" sz="13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Lesson outlines, question banks, rubrics and simplified handouts.</a:t>
            </a:r>
            <a:endParaRPr lang="en-US" sz="1350" dirty="0"/>
          </a:p>
        </p:txBody>
      </p:sp>
      <p:sp>
        <p:nvSpPr>
          <p:cNvPr id="18" name="Shape 13"/>
          <p:cNvSpPr/>
          <p:nvPr/>
        </p:nvSpPr>
        <p:spPr>
          <a:xfrm>
            <a:off x="566928" y="3931920"/>
            <a:ext cx="11057839" cy="670560"/>
          </a:xfrm>
          <a:prstGeom prst="roundRect">
            <a:avLst>
              <a:gd name="adj" fmla="val 10909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804672" y="4050792"/>
            <a:ext cx="432816" cy="432816"/>
          </a:xfrm>
          <a:prstGeom prst="ellipse">
            <a:avLst/>
          </a:prstGeom>
          <a:solidFill>
            <a:srgbClr val="34D399">
              <a:alpha val="16000"/>
            </a:srgbClr>
          </a:solidFill>
          <a:ln w="12700">
            <a:solidFill>
              <a:srgbClr val="34D399">
                <a:alpha val="45000"/>
              </a:srgbClr>
            </a:solidFill>
            <a:prstDash val="solid"/>
          </a:ln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876" y="4158996"/>
            <a:ext cx="216408" cy="216408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475232" y="4041648"/>
            <a:ext cx="9875215" cy="4511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Language learning</a:t>
            </a:r>
            <a:endParaRPr lang="en-US" sz="13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Conversation practice and correction with instant, patient feedback.</a:t>
            </a:r>
            <a:endParaRPr lang="en-US" sz="1350" dirty="0"/>
          </a:p>
        </p:txBody>
      </p:sp>
      <p:sp>
        <p:nvSpPr>
          <p:cNvPr id="22" name="Shape 16"/>
          <p:cNvSpPr/>
          <p:nvPr/>
        </p:nvSpPr>
        <p:spPr>
          <a:xfrm>
            <a:off x="566928" y="4748784"/>
            <a:ext cx="11057839" cy="670560"/>
          </a:xfrm>
          <a:prstGeom prst="roundRect">
            <a:avLst>
              <a:gd name="adj" fmla="val 10909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804672" y="4867656"/>
            <a:ext cx="432816" cy="432816"/>
          </a:xfrm>
          <a:prstGeom prst="ellipse">
            <a:avLst/>
          </a:prstGeom>
          <a:solidFill>
            <a:srgbClr val="F472B6">
              <a:alpha val="16000"/>
            </a:srgbClr>
          </a:solidFill>
          <a:ln w="12700">
            <a:solidFill>
              <a:srgbClr val="F472B6">
                <a:alpha val="45000"/>
              </a:srgbClr>
            </a:solidFill>
            <a:prstDash val="solid"/>
          </a:ln>
        </p:spPr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2876" y="4975860"/>
            <a:ext cx="216408" cy="216408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1475232" y="4858512"/>
            <a:ext cx="9875215" cy="4511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Academic honesty</a:t>
            </a:r>
            <a:endParaRPr lang="en-US" sz="13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 AI to learn and to check, not to replace your own work. Follow your institution policy.</a:t>
            </a:r>
            <a:endParaRPr lang="en-US" sz="1350" dirty="0"/>
          </a:p>
        </p:txBody>
      </p:sp>
      <p:sp>
        <p:nvSpPr>
          <p:cNvPr id="26" name="Shape 19"/>
          <p:cNvSpPr/>
          <p:nvPr/>
        </p:nvSpPr>
        <p:spPr>
          <a:xfrm>
            <a:off x="566928" y="5565648"/>
            <a:ext cx="11057839" cy="670560"/>
          </a:xfrm>
          <a:prstGeom prst="roundRect">
            <a:avLst>
              <a:gd name="adj" fmla="val 10909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7" name="Shape 20"/>
          <p:cNvSpPr/>
          <p:nvPr/>
        </p:nvSpPr>
        <p:spPr>
          <a:xfrm>
            <a:off x="804672" y="5684520"/>
            <a:ext cx="432816" cy="432816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28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2876" y="5792724"/>
            <a:ext cx="216408" cy="216408"/>
          </a:xfrm>
          <a:prstGeom prst="rect">
            <a:avLst/>
          </a:prstGeom>
        </p:spPr>
      </p:pic>
      <p:sp>
        <p:nvSpPr>
          <p:cNvPr id="29" name="Text 21"/>
          <p:cNvSpPr txBox="1"/>
          <p:nvPr/>
        </p:nvSpPr>
        <p:spPr>
          <a:xfrm>
            <a:off x="1475232" y="5675376"/>
            <a:ext cx="9875215" cy="4511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Verify before you memorise</a:t>
            </a:r>
            <a:endParaRPr lang="en-US" sz="13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confident explanation can still contain an error. Cross-check with your textbook.</a:t>
            </a:r>
            <a:endParaRPr lang="en-US" sz="1350" dirty="0"/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SLIDE 101 · PRODUCTIVITY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AI for Productivity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Section 8 · Text Generation &amp; AI Chatbots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115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11057839" cy="670560"/>
          </a:xfrm>
          <a:prstGeom prst="roundRect">
            <a:avLst>
              <a:gd name="adj" fmla="val 10909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04672" y="1600200"/>
            <a:ext cx="432816" cy="432816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2876" y="1708404"/>
            <a:ext cx="216408" cy="216408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475232" y="1591056"/>
            <a:ext cx="9875215" cy="4511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Meeting notes</a:t>
            </a:r>
            <a:endParaRPr lang="en-US" sz="13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Turn a raw transcript into decisions, action items and owners.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566928" y="2298192"/>
            <a:ext cx="11057839" cy="670560"/>
          </a:xfrm>
          <a:prstGeom prst="roundRect">
            <a:avLst>
              <a:gd name="adj" fmla="val 10909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804672" y="2417064"/>
            <a:ext cx="432816" cy="432816"/>
          </a:xfrm>
          <a:prstGeom prst="ellipse">
            <a:avLst/>
          </a:prstGeom>
          <a:solidFill>
            <a:srgbClr val="22D3EE">
              <a:alpha val="16000"/>
            </a:srgbClr>
          </a:solidFill>
          <a:ln w="12700">
            <a:solidFill>
              <a:srgbClr val="22D3EE">
                <a:alpha val="45000"/>
              </a:srgbClr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876" y="2525268"/>
            <a:ext cx="216408" cy="216408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475232" y="2407920"/>
            <a:ext cx="9875215" cy="4511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Messy data into structure</a:t>
            </a:r>
            <a:endParaRPr lang="en-US" sz="13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Convert unstructured notes into a clean table you can actually use.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566928" y="3115056"/>
            <a:ext cx="11057839" cy="670560"/>
          </a:xfrm>
          <a:prstGeom prst="roundRect">
            <a:avLst>
              <a:gd name="adj" fmla="val 10909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04672" y="3233928"/>
            <a:ext cx="432816" cy="432816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2876" y="3342132"/>
            <a:ext cx="216408" cy="216408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475232" y="3224784"/>
            <a:ext cx="9875215" cy="4511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Planning</a:t>
            </a:r>
            <a:endParaRPr lang="en-US" sz="13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Break a big task into a realistic ordered checklist.</a:t>
            </a:r>
            <a:endParaRPr lang="en-US" sz="1350" dirty="0"/>
          </a:p>
        </p:txBody>
      </p:sp>
      <p:sp>
        <p:nvSpPr>
          <p:cNvPr id="18" name="Shape 13"/>
          <p:cNvSpPr/>
          <p:nvPr/>
        </p:nvSpPr>
        <p:spPr>
          <a:xfrm>
            <a:off x="566928" y="3931920"/>
            <a:ext cx="11057839" cy="670560"/>
          </a:xfrm>
          <a:prstGeom prst="roundRect">
            <a:avLst>
              <a:gd name="adj" fmla="val 10909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804672" y="4050792"/>
            <a:ext cx="432816" cy="432816"/>
          </a:xfrm>
          <a:prstGeom prst="ellipse">
            <a:avLst/>
          </a:prstGeom>
          <a:solidFill>
            <a:srgbClr val="34D399">
              <a:alpha val="16000"/>
            </a:srgbClr>
          </a:solidFill>
          <a:ln w="12700">
            <a:solidFill>
              <a:srgbClr val="34D399">
                <a:alpha val="45000"/>
              </a:srgbClr>
            </a:solidFill>
            <a:prstDash val="solid"/>
          </a:ln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876" y="4158996"/>
            <a:ext cx="216408" cy="216408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475232" y="4041648"/>
            <a:ext cx="9875215" cy="4511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Inbox help</a:t>
            </a:r>
            <a:endParaRPr lang="en-US" sz="13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Summarise long email threads and draft replies for your review.</a:t>
            </a:r>
            <a:endParaRPr lang="en-US" sz="1350" dirty="0"/>
          </a:p>
        </p:txBody>
      </p:sp>
      <p:sp>
        <p:nvSpPr>
          <p:cNvPr id="22" name="Shape 16"/>
          <p:cNvSpPr/>
          <p:nvPr/>
        </p:nvSpPr>
        <p:spPr>
          <a:xfrm>
            <a:off x="566928" y="4748784"/>
            <a:ext cx="11057839" cy="670560"/>
          </a:xfrm>
          <a:prstGeom prst="roundRect">
            <a:avLst>
              <a:gd name="adj" fmla="val 10909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804672" y="4867656"/>
            <a:ext cx="432816" cy="432816"/>
          </a:xfrm>
          <a:prstGeom prst="ellipse">
            <a:avLst/>
          </a:prstGeom>
          <a:solidFill>
            <a:srgbClr val="F472B6">
              <a:alpha val="16000"/>
            </a:srgbClr>
          </a:solidFill>
          <a:ln w="12700">
            <a:solidFill>
              <a:srgbClr val="F472B6">
                <a:alpha val="45000"/>
              </a:srgbClr>
            </a:solidFill>
            <a:prstDash val="solid"/>
          </a:ln>
        </p:spPr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2876" y="4975860"/>
            <a:ext cx="216408" cy="216408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1475232" y="4858512"/>
            <a:ext cx="9875215" cy="4511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Reading faster</a:t>
            </a:r>
            <a:endParaRPr lang="en-US" sz="13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Get the summary first, then read the full document only where it matters.</a:t>
            </a:r>
            <a:endParaRPr lang="en-US" sz="1350" dirty="0"/>
          </a:p>
        </p:txBody>
      </p:sp>
      <p:sp>
        <p:nvSpPr>
          <p:cNvPr id="26" name="Shape 19"/>
          <p:cNvSpPr/>
          <p:nvPr/>
        </p:nvSpPr>
        <p:spPr>
          <a:xfrm>
            <a:off x="566928" y="5565648"/>
            <a:ext cx="11057839" cy="670560"/>
          </a:xfrm>
          <a:prstGeom prst="roundRect">
            <a:avLst>
              <a:gd name="adj" fmla="val 10909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7" name="Shape 20"/>
          <p:cNvSpPr/>
          <p:nvPr/>
        </p:nvSpPr>
        <p:spPr>
          <a:xfrm>
            <a:off x="804672" y="5684520"/>
            <a:ext cx="432816" cy="432816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28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2876" y="5792724"/>
            <a:ext cx="216408" cy="216408"/>
          </a:xfrm>
          <a:prstGeom prst="rect">
            <a:avLst/>
          </a:prstGeom>
        </p:spPr>
      </p:pic>
      <p:sp>
        <p:nvSpPr>
          <p:cNvPr id="29" name="Text 21"/>
          <p:cNvSpPr txBox="1"/>
          <p:nvPr/>
        </p:nvSpPr>
        <p:spPr>
          <a:xfrm>
            <a:off x="1475232" y="5675376"/>
            <a:ext cx="9875215" cy="4511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Keep the human decision</a:t>
            </a:r>
            <a:endParaRPr lang="en-US" sz="13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 prepares the material. You still decide what to do with it.</a:t>
            </a:r>
            <a:endParaRPr lang="en-US" sz="1350" dirty="0"/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BBF2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QUIZ 8 · SLIDES 91–101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Quiz 8 — Text Generation &amp; Chatbots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Section 8 · Text Generation &amp; AI Chatbots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116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11057839" cy="848563"/>
          </a:xfrm>
          <a:prstGeom prst="roundRect">
            <a:avLst>
              <a:gd name="adj" fmla="val 8621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68096" y="1627632"/>
            <a:ext cx="310896" cy="310896"/>
          </a:xfrm>
          <a:prstGeom prst="ellipse">
            <a:avLst/>
          </a:prstGeom>
          <a:solidFill>
            <a:srgbClr val="FBBF24">
              <a:alpha val="22000"/>
            </a:srgbClr>
          </a:solidFill>
          <a:ln w="12700">
            <a:solidFill>
              <a:srgbClr val="FBBF24">
                <a:alpha val="5000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68096" y="1627632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BBF2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Q1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188720" y="1600200"/>
            <a:ext cx="8726119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 chatbot appears to remember because: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10207447" y="1618488"/>
            <a:ext cx="1371600" cy="347472"/>
          </a:xfrm>
          <a:prstGeom prst="roundRect">
            <a:avLst>
              <a:gd name="adj" fmla="val 15789"/>
            </a:avLst>
          </a:prstGeom>
          <a:solidFill>
            <a:srgbClr val="A78BFA">
              <a:alpha val="20000"/>
            </a:srgbClr>
          </a:solidFill>
          <a:ln w="12700">
            <a:solidFill>
              <a:srgbClr val="A78BFA">
                <a:alpha val="60000"/>
              </a:srgbClr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207447" y="1618488"/>
            <a:ext cx="13716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Answer: D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1115568" y="2011680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A. </a:t>
            </a:r>
            <a:r>
              <a:rPr lang="en-US" sz="11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model stores your chat inside itself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3674288" y="2011680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B. </a:t>
            </a:r>
            <a:r>
              <a:rPr lang="en-US" sz="11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It saves files on your PC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6233008" y="2011680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C. </a:t>
            </a:r>
            <a:r>
              <a:rPr lang="en-US" sz="11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It calls another user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8791727" y="2011680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D. </a:t>
            </a: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Past messages are re-sent each time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66928" y="2457907"/>
            <a:ext cx="11057839" cy="848563"/>
          </a:xfrm>
          <a:prstGeom prst="roundRect">
            <a:avLst>
              <a:gd name="adj" fmla="val 8621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68096" y="2604211"/>
            <a:ext cx="310896" cy="310896"/>
          </a:xfrm>
          <a:prstGeom prst="ellipse">
            <a:avLst/>
          </a:prstGeom>
          <a:solidFill>
            <a:srgbClr val="FBBF24">
              <a:alpha val="22000"/>
            </a:srgbClr>
          </a:solidFill>
          <a:ln w="12700">
            <a:solidFill>
              <a:srgbClr val="FBBF24">
                <a:alpha val="50000"/>
              </a:srgbClr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68096" y="2604211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BBF2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Q2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1188720" y="2576779"/>
            <a:ext cx="8726119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Summarisation is usually accurate because: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10207447" y="2595067"/>
            <a:ext cx="1371600" cy="347472"/>
          </a:xfrm>
          <a:prstGeom prst="roundRect">
            <a:avLst>
              <a:gd name="adj" fmla="val 15789"/>
            </a:avLst>
          </a:prstGeom>
          <a:solidFill>
            <a:srgbClr val="A78BFA">
              <a:alpha val="20000"/>
            </a:srgbClr>
          </a:solidFill>
          <a:ln w="12700">
            <a:solidFill>
              <a:srgbClr val="A78BFA">
                <a:alpha val="60000"/>
              </a:srgbClr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0207447" y="2595067"/>
            <a:ext cx="13716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Answer: A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1115568" y="2988259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A. </a:t>
            </a: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source text is given to the model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3674288" y="2988259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B. </a:t>
            </a:r>
            <a:r>
              <a:rPr lang="en-US" sz="11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model guesses well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6233008" y="2988259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C. </a:t>
            </a:r>
            <a:r>
              <a:rPr lang="en-US" sz="11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It uses the internet always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8791727" y="2988259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D. </a:t>
            </a:r>
            <a:r>
              <a:rPr lang="en-US" sz="11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It has no limits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66928" y="3434486"/>
            <a:ext cx="11057839" cy="848563"/>
          </a:xfrm>
          <a:prstGeom prst="roundRect">
            <a:avLst>
              <a:gd name="adj" fmla="val 8621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768096" y="3580790"/>
            <a:ext cx="310896" cy="310896"/>
          </a:xfrm>
          <a:prstGeom prst="ellipse">
            <a:avLst/>
          </a:prstGeom>
          <a:solidFill>
            <a:srgbClr val="FBBF24">
              <a:alpha val="22000"/>
            </a:srgbClr>
          </a:solidFill>
          <a:ln w="12700">
            <a:solidFill>
              <a:srgbClr val="FBBF24">
                <a:alpha val="50000"/>
              </a:srgbClr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68096" y="3580790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BBF2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Q3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1188720" y="3553358"/>
            <a:ext cx="8726119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Open-book question answering means the model: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10207447" y="3571646"/>
            <a:ext cx="1371600" cy="347472"/>
          </a:xfrm>
          <a:prstGeom prst="roundRect">
            <a:avLst>
              <a:gd name="adj" fmla="val 15789"/>
            </a:avLst>
          </a:prstGeom>
          <a:solidFill>
            <a:srgbClr val="A78BFA">
              <a:alpha val="20000"/>
            </a:srgbClr>
          </a:solidFill>
          <a:ln w="12700">
            <a:solidFill>
              <a:srgbClr val="A78BFA">
                <a:alpha val="60000"/>
              </a:srgbClr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10207447" y="3571646"/>
            <a:ext cx="13716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Answer: B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1115568" y="3964838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A. </a:t>
            </a:r>
            <a:r>
              <a:rPr lang="en-US" sz="11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Answers only from memory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3674288" y="3964838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B. </a:t>
            </a: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Answers from documents you supply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6233008" y="3964838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C. </a:t>
            </a:r>
            <a:r>
              <a:rPr lang="en-US" sz="11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Cannot answer at all</a:t>
            </a:r>
            <a:endParaRPr lang="en-US" sz="1050" dirty="0"/>
          </a:p>
        </p:txBody>
      </p:sp>
      <p:sp>
        <p:nvSpPr>
          <p:cNvPr id="35" name="Text 33"/>
          <p:cNvSpPr txBox="1"/>
          <p:nvPr/>
        </p:nvSpPr>
        <p:spPr>
          <a:xfrm>
            <a:off x="8791727" y="3964838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D. </a:t>
            </a:r>
            <a:r>
              <a:rPr lang="en-US" sz="11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Reads your hard disk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66928" y="4411066"/>
            <a:ext cx="11057839" cy="848563"/>
          </a:xfrm>
          <a:prstGeom prst="roundRect">
            <a:avLst>
              <a:gd name="adj" fmla="val 8621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768096" y="4557370"/>
            <a:ext cx="310896" cy="310896"/>
          </a:xfrm>
          <a:prstGeom prst="ellipse">
            <a:avLst/>
          </a:prstGeom>
          <a:solidFill>
            <a:srgbClr val="FBBF24">
              <a:alpha val="22000"/>
            </a:srgbClr>
          </a:solidFill>
          <a:ln w="12700">
            <a:solidFill>
              <a:srgbClr val="FBBF24">
                <a:alpha val="50000"/>
              </a:srgbClr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768096" y="4557370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BBF2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Q4</a:t>
            </a:r>
            <a:endParaRPr lang="en-US" sz="900" dirty="0"/>
          </a:p>
        </p:txBody>
      </p:sp>
      <p:sp>
        <p:nvSpPr>
          <p:cNvPr id="39" name="Text 37"/>
          <p:cNvSpPr txBox="1"/>
          <p:nvPr/>
        </p:nvSpPr>
        <p:spPr>
          <a:xfrm>
            <a:off x="1188720" y="4529938"/>
            <a:ext cx="8726119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For official or legal translation you should:</a:t>
            </a:r>
            <a:endParaRPr lang="en-US" sz="1250" dirty="0"/>
          </a:p>
        </p:txBody>
      </p:sp>
      <p:sp>
        <p:nvSpPr>
          <p:cNvPr id="40" name="Shape 38"/>
          <p:cNvSpPr/>
          <p:nvPr/>
        </p:nvSpPr>
        <p:spPr>
          <a:xfrm>
            <a:off x="10207447" y="4548226"/>
            <a:ext cx="1371600" cy="347472"/>
          </a:xfrm>
          <a:prstGeom prst="roundRect">
            <a:avLst>
              <a:gd name="adj" fmla="val 15789"/>
            </a:avLst>
          </a:prstGeom>
          <a:solidFill>
            <a:srgbClr val="A78BFA">
              <a:alpha val="20000"/>
            </a:srgbClr>
          </a:solidFill>
          <a:ln w="12700">
            <a:solidFill>
              <a:srgbClr val="A78BFA">
                <a:alpha val="60000"/>
              </a:srgbClr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10207447" y="4548226"/>
            <a:ext cx="13716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Answer: C</a:t>
            </a:r>
            <a:endParaRPr lang="en-US" sz="1050" dirty="0"/>
          </a:p>
        </p:txBody>
      </p:sp>
      <p:sp>
        <p:nvSpPr>
          <p:cNvPr id="42" name="Text 40"/>
          <p:cNvSpPr txBox="1"/>
          <p:nvPr/>
        </p:nvSpPr>
        <p:spPr>
          <a:xfrm>
            <a:off x="1115568" y="4941418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A. </a:t>
            </a:r>
            <a:r>
              <a:rPr lang="en-US" sz="11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Publish it directly</a:t>
            </a:r>
            <a:endParaRPr lang="en-US" sz="1050" dirty="0"/>
          </a:p>
        </p:txBody>
      </p:sp>
      <p:sp>
        <p:nvSpPr>
          <p:cNvPr id="43" name="Text 41"/>
          <p:cNvSpPr txBox="1"/>
          <p:nvPr/>
        </p:nvSpPr>
        <p:spPr>
          <a:xfrm>
            <a:off x="3674288" y="4941418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B. </a:t>
            </a:r>
            <a:r>
              <a:rPr lang="en-US" sz="11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Skip checking</a:t>
            </a:r>
            <a:endParaRPr lang="en-US" sz="1050" dirty="0"/>
          </a:p>
        </p:txBody>
      </p:sp>
      <p:sp>
        <p:nvSpPr>
          <p:cNvPr id="44" name="Text 42"/>
          <p:cNvSpPr txBox="1"/>
          <p:nvPr/>
        </p:nvSpPr>
        <p:spPr>
          <a:xfrm>
            <a:off x="6233008" y="4941418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C. </a:t>
            </a: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Have a qualified human review it</a:t>
            </a:r>
            <a:endParaRPr lang="en-US" sz="1050" dirty="0"/>
          </a:p>
        </p:txBody>
      </p:sp>
      <p:sp>
        <p:nvSpPr>
          <p:cNvPr id="45" name="Text 43"/>
          <p:cNvSpPr txBox="1"/>
          <p:nvPr/>
        </p:nvSpPr>
        <p:spPr>
          <a:xfrm>
            <a:off x="8791727" y="4941418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D. </a:t>
            </a:r>
            <a:r>
              <a:rPr lang="en-US" sz="11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 a longer prompt only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566928" y="5387645"/>
            <a:ext cx="11057839" cy="848563"/>
          </a:xfrm>
          <a:prstGeom prst="roundRect">
            <a:avLst>
              <a:gd name="adj" fmla="val 8621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768096" y="5533949"/>
            <a:ext cx="310896" cy="310896"/>
          </a:xfrm>
          <a:prstGeom prst="ellipse">
            <a:avLst/>
          </a:prstGeom>
          <a:solidFill>
            <a:srgbClr val="FBBF24">
              <a:alpha val="22000"/>
            </a:srgbClr>
          </a:solidFill>
          <a:ln w="12700">
            <a:solidFill>
              <a:srgbClr val="FBBF24">
                <a:alpha val="50000"/>
              </a:srgbClr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768096" y="5533949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BBF2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Q5</a:t>
            </a:r>
            <a:endParaRPr lang="en-US" sz="900" dirty="0"/>
          </a:p>
        </p:txBody>
      </p:sp>
      <p:sp>
        <p:nvSpPr>
          <p:cNvPr id="49" name="Text 47"/>
          <p:cNvSpPr txBox="1"/>
          <p:nvPr/>
        </p:nvSpPr>
        <p:spPr>
          <a:xfrm>
            <a:off x="1188720" y="5506517"/>
            <a:ext cx="8726119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 good rule for AI in education is:</a:t>
            </a:r>
            <a:endParaRPr lang="en-US" sz="1250" dirty="0"/>
          </a:p>
        </p:txBody>
      </p:sp>
      <p:sp>
        <p:nvSpPr>
          <p:cNvPr id="50" name="Shape 48"/>
          <p:cNvSpPr/>
          <p:nvPr/>
        </p:nvSpPr>
        <p:spPr>
          <a:xfrm>
            <a:off x="10207447" y="5524805"/>
            <a:ext cx="1371600" cy="347472"/>
          </a:xfrm>
          <a:prstGeom prst="roundRect">
            <a:avLst>
              <a:gd name="adj" fmla="val 15789"/>
            </a:avLst>
          </a:prstGeom>
          <a:solidFill>
            <a:srgbClr val="A78BFA">
              <a:alpha val="20000"/>
            </a:srgbClr>
          </a:solidFill>
          <a:ln w="12700">
            <a:solidFill>
              <a:srgbClr val="A78BFA">
                <a:alpha val="60000"/>
              </a:srgbClr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10207447" y="5524805"/>
            <a:ext cx="13716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Answer: D</a:t>
            </a:r>
            <a:endParaRPr lang="en-US" sz="1050" dirty="0"/>
          </a:p>
        </p:txBody>
      </p:sp>
      <p:sp>
        <p:nvSpPr>
          <p:cNvPr id="52" name="Text 50"/>
          <p:cNvSpPr txBox="1"/>
          <p:nvPr/>
        </p:nvSpPr>
        <p:spPr>
          <a:xfrm>
            <a:off x="1115568" y="5917997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A. </a:t>
            </a:r>
            <a:r>
              <a:rPr lang="en-US" sz="11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Submit its output as your own</a:t>
            </a:r>
            <a:endParaRPr lang="en-US" sz="1050" dirty="0"/>
          </a:p>
        </p:txBody>
      </p:sp>
      <p:sp>
        <p:nvSpPr>
          <p:cNvPr id="53" name="Text 51"/>
          <p:cNvSpPr txBox="1"/>
          <p:nvPr/>
        </p:nvSpPr>
        <p:spPr>
          <a:xfrm>
            <a:off x="3674288" y="5917997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B. </a:t>
            </a:r>
            <a:r>
              <a:rPr lang="en-US" sz="11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Never verify facts</a:t>
            </a:r>
            <a:endParaRPr lang="en-US" sz="1050" dirty="0"/>
          </a:p>
        </p:txBody>
      </p:sp>
      <p:sp>
        <p:nvSpPr>
          <p:cNvPr id="54" name="Text 52"/>
          <p:cNvSpPr txBox="1"/>
          <p:nvPr/>
        </p:nvSpPr>
        <p:spPr>
          <a:xfrm>
            <a:off x="6233008" y="5917997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C. </a:t>
            </a:r>
            <a:r>
              <a:rPr lang="en-US" sz="11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Avoid asking questions</a:t>
            </a:r>
            <a:endParaRPr lang="en-US" sz="1050" dirty="0"/>
          </a:p>
        </p:txBody>
      </p:sp>
      <p:sp>
        <p:nvSpPr>
          <p:cNvPr id="55" name="Text 53"/>
          <p:cNvSpPr txBox="1"/>
          <p:nvPr/>
        </p:nvSpPr>
        <p:spPr>
          <a:xfrm>
            <a:off x="8791727" y="5917997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D. </a:t>
            </a: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 it to learn, not to cheat</a:t>
            </a:r>
            <a:endParaRPr lang="en-US" sz="1050" dirty="0"/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49808" y="1874520"/>
            <a:ext cx="58521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SECTION 09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49808" y="2240280"/>
            <a:ext cx="6035040" cy="1554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AI Image Generation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749808" y="3886200"/>
            <a:ext cx="5852160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Turning words into pictures — how it works, how to prompt it, how to use it responsibly.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49808" y="4846320"/>
            <a:ext cx="1463040" cy="64008"/>
          </a:xfrm>
          <a:prstGeom prst="roundRect">
            <a:avLst>
              <a:gd name="adj" fmla="val 42857"/>
            </a:avLst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32320" y="1143000"/>
            <a:ext cx="4492447" cy="797357"/>
          </a:xfrm>
          <a:prstGeom prst="roundRect">
            <a:avLst>
              <a:gd name="adj" fmla="val 9174"/>
            </a:avLst>
          </a:prstGeom>
          <a:solidFill>
            <a:srgbClr val="191640"/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51776" y="1313078"/>
            <a:ext cx="457200" cy="457200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66076" y="1427378"/>
            <a:ext cx="228600" cy="22860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8010144" y="1143000"/>
            <a:ext cx="3303727" cy="79735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Text-to-Image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7132320" y="2086661"/>
            <a:ext cx="4492447" cy="797357"/>
          </a:xfrm>
          <a:prstGeom prst="roundRect">
            <a:avLst>
              <a:gd name="adj" fmla="val 9174"/>
            </a:avLst>
          </a:prstGeom>
          <a:solidFill>
            <a:srgbClr val="191640"/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7351776" y="2256739"/>
            <a:ext cx="457200" cy="457200"/>
          </a:xfrm>
          <a:prstGeom prst="ellipse">
            <a:avLst/>
          </a:prstGeom>
          <a:solidFill>
            <a:srgbClr val="22D3EE">
              <a:alpha val="16000"/>
            </a:srgbClr>
          </a:solidFill>
          <a:ln w="12700">
            <a:solidFill>
              <a:srgbClr val="22D3EE">
                <a:alpha val="45000"/>
              </a:srgbClr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6076" y="2371039"/>
            <a:ext cx="228600" cy="22860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8010144" y="2086661"/>
            <a:ext cx="3303727" cy="79735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Image-to-Image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7132320" y="3030322"/>
            <a:ext cx="4492447" cy="797357"/>
          </a:xfrm>
          <a:prstGeom prst="roundRect">
            <a:avLst>
              <a:gd name="adj" fmla="val 9174"/>
            </a:avLst>
          </a:prstGeom>
          <a:solidFill>
            <a:srgbClr val="191640"/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351776" y="3200400"/>
            <a:ext cx="457200" cy="457200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6076" y="3314700"/>
            <a:ext cx="228600" cy="22860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010144" y="3030322"/>
            <a:ext cx="3303727" cy="79735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AI Image Editing</a:t>
            </a:r>
            <a:endParaRPr lang="en-US" sz="1350" dirty="0"/>
          </a:p>
        </p:txBody>
      </p:sp>
      <p:sp>
        <p:nvSpPr>
          <p:cNvPr id="18" name="Shape 13"/>
          <p:cNvSpPr/>
          <p:nvPr/>
        </p:nvSpPr>
        <p:spPr>
          <a:xfrm>
            <a:off x="7132320" y="3973982"/>
            <a:ext cx="4492447" cy="797357"/>
          </a:xfrm>
          <a:prstGeom prst="roundRect">
            <a:avLst>
              <a:gd name="adj" fmla="val 9174"/>
            </a:avLst>
          </a:prstGeom>
          <a:solidFill>
            <a:srgbClr val="191640"/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7351776" y="4144061"/>
            <a:ext cx="457200" cy="457200"/>
          </a:xfrm>
          <a:prstGeom prst="ellipse">
            <a:avLst/>
          </a:prstGeom>
          <a:solidFill>
            <a:srgbClr val="34D399">
              <a:alpha val="16000"/>
            </a:srgbClr>
          </a:solidFill>
          <a:ln w="12700">
            <a:solidFill>
              <a:srgbClr val="34D399">
                <a:alpha val="45000"/>
              </a:srgbClr>
            </a:solidFill>
            <a:prstDash val="solid"/>
          </a:ln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66076" y="4258361"/>
            <a:ext cx="228600" cy="22860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8010144" y="3973982"/>
            <a:ext cx="3303727" cy="79735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Writing Image Prompts</a:t>
            </a:r>
            <a:endParaRPr lang="en-US" sz="1350" dirty="0"/>
          </a:p>
        </p:txBody>
      </p:sp>
      <p:sp>
        <p:nvSpPr>
          <p:cNvPr id="22" name="Shape 16"/>
          <p:cNvSpPr/>
          <p:nvPr/>
        </p:nvSpPr>
        <p:spPr>
          <a:xfrm>
            <a:off x="7132320" y="4917643"/>
            <a:ext cx="4492447" cy="797357"/>
          </a:xfrm>
          <a:prstGeom prst="roundRect">
            <a:avLst>
              <a:gd name="adj" fmla="val 9174"/>
            </a:avLst>
          </a:prstGeom>
          <a:solidFill>
            <a:srgbClr val="191640"/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7351776" y="5087722"/>
            <a:ext cx="457200" cy="457200"/>
          </a:xfrm>
          <a:prstGeom prst="ellipse">
            <a:avLst/>
          </a:prstGeom>
          <a:solidFill>
            <a:srgbClr val="F472B6">
              <a:alpha val="16000"/>
            </a:srgbClr>
          </a:solidFill>
          <a:ln w="12700">
            <a:solidFill>
              <a:srgbClr val="F472B6">
                <a:alpha val="45000"/>
              </a:srgbClr>
            </a:solidFill>
            <a:prstDash val="solid"/>
          </a:ln>
        </p:spPr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66076" y="5202022"/>
            <a:ext cx="228600" cy="228600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8010144" y="4917643"/>
            <a:ext cx="3303727" cy="79735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Responsible Use</a:t>
            </a:r>
            <a:endParaRPr lang="en-US" sz="1350" dirty="0"/>
          </a:p>
        </p:txBody>
      </p:sp>
      <p:sp>
        <p:nvSpPr>
          <p:cNvPr id="26" name="Text 19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Section 9 · AI Image Generation</a:t>
            </a:r>
            <a:endParaRPr lang="en-US" sz="950" dirty="0"/>
          </a:p>
        </p:txBody>
      </p:sp>
      <p:sp>
        <p:nvSpPr>
          <p:cNvPr id="27" name="Text 20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117</a:t>
            </a:r>
            <a:endParaRPr lang="en-US" sz="950" dirty="0"/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SLIDE 102 · DEFINITION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What is AI Image Generation?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Section 9 · AI Image Generation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118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11057839" cy="877824"/>
          </a:xfrm>
          <a:prstGeom prst="roundRect">
            <a:avLst>
              <a:gd name="adj" fmla="val 8333"/>
            </a:avLst>
          </a:prstGeom>
          <a:solidFill>
            <a:srgbClr val="191640">
              <a:alpha val="96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6928" y="1627632"/>
            <a:ext cx="64008" cy="585216"/>
          </a:xfrm>
          <a:prstGeom prst="roundRect">
            <a:avLst>
              <a:gd name="adj" fmla="val 42857"/>
            </a:avLst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59536" y="1572768"/>
            <a:ext cx="10472623" cy="6949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DDD9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 image generation creates a new picture from a written description.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66928" y="2615184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22960" y="2816352"/>
            <a:ext cx="457200" cy="457200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2930652"/>
            <a:ext cx="228600" cy="22860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499616" y="2816352"/>
            <a:ext cx="41847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Simple Explanation</a:t>
            </a:r>
            <a:endParaRPr lang="en-US" sz="1450" dirty="0"/>
          </a:p>
        </p:txBody>
      </p:sp>
      <p:sp>
        <p:nvSpPr>
          <p:cNvPr id="13" name="Text 10"/>
          <p:cNvSpPr txBox="1"/>
          <p:nvPr/>
        </p:nvSpPr>
        <p:spPr>
          <a:xfrm>
            <a:off x="841248" y="3419856"/>
            <a:ext cx="484312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You describe what you want in words. The model produces an image that matches the description.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33008" y="2615184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489040" y="2816352"/>
            <a:ext cx="457200" cy="457200"/>
          </a:xfrm>
          <a:prstGeom prst="ellipse">
            <a:avLst/>
          </a:prstGeom>
          <a:solidFill>
            <a:srgbClr val="22D3EE">
              <a:alpha val="16000"/>
            </a:srgbClr>
          </a:solidFill>
          <a:ln w="12700">
            <a:solidFill>
              <a:srgbClr val="22D3EE">
                <a:alpha val="45000"/>
              </a:srgbClr>
            </a:solidFill>
            <a:prstDash val="solid"/>
          </a:ln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3340" y="2930652"/>
            <a:ext cx="228600" cy="22860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7165696" y="2816352"/>
            <a:ext cx="41847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How It Learned</a:t>
            </a:r>
            <a:endParaRPr lang="en-US" sz="1450" dirty="0"/>
          </a:p>
        </p:txBody>
      </p:sp>
      <p:sp>
        <p:nvSpPr>
          <p:cNvPr id="18" name="Text 14"/>
          <p:cNvSpPr txBox="1"/>
          <p:nvPr/>
        </p:nvSpPr>
        <p:spPr>
          <a:xfrm>
            <a:off x="6507328" y="3419856"/>
            <a:ext cx="484312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From very large collections of images paired with text descriptions, so it learned which words go with which visual patterns.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566928" y="4530149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822960" y="4731317"/>
            <a:ext cx="457200" cy="457200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260" y="4845617"/>
            <a:ext cx="228600" cy="22860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499616" y="4731317"/>
            <a:ext cx="41847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When It Became Practical</a:t>
            </a:r>
            <a:endParaRPr lang="en-US" sz="1450" dirty="0"/>
          </a:p>
        </p:txBody>
      </p:sp>
      <p:sp>
        <p:nvSpPr>
          <p:cNvPr id="23" name="Text 18"/>
          <p:cNvSpPr txBox="1"/>
          <p:nvPr/>
        </p:nvSpPr>
        <p:spPr>
          <a:xfrm>
            <a:off x="841248" y="5334821"/>
            <a:ext cx="484312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Generative adversarial networks from 2014, then diffusion models from about 2021 onwards, made quality jump.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6233008" y="4530149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6489040" y="4731317"/>
            <a:ext cx="457200" cy="457200"/>
          </a:xfrm>
          <a:prstGeom prst="ellipse">
            <a:avLst/>
          </a:prstGeom>
          <a:solidFill>
            <a:srgbClr val="34D399">
              <a:alpha val="16000"/>
            </a:srgbClr>
          </a:solidFill>
          <a:ln w="12700">
            <a:solidFill>
              <a:srgbClr val="34D399">
                <a:alpha val="45000"/>
              </a:srgbClr>
            </a:solidFill>
            <a:prstDash val="solid"/>
          </a:ln>
        </p:spPr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3340" y="4845617"/>
            <a:ext cx="228600" cy="228600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7165696" y="4731317"/>
            <a:ext cx="41847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It Is Not Copying</a:t>
            </a:r>
            <a:endParaRPr lang="en-US" sz="1450" dirty="0"/>
          </a:p>
        </p:txBody>
      </p:sp>
      <p:sp>
        <p:nvSpPr>
          <p:cNvPr id="28" name="Text 22"/>
          <p:cNvSpPr txBox="1"/>
          <p:nvPr/>
        </p:nvSpPr>
        <p:spPr>
          <a:xfrm>
            <a:off x="6507328" y="5334821"/>
            <a:ext cx="484312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output is newly generated, not retrieved. But style and copyright questions are still genuinely debated.</a:t>
            </a:r>
            <a:endParaRPr lang="en-US" sz="1200" dirty="0"/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SLIDE 103 · PROCESS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How Text-to-Image Works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Section 9 · AI Image Generation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119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2464308"/>
            <a:ext cx="1809232" cy="1691640"/>
          </a:xfrm>
          <a:prstGeom prst="roundRect">
            <a:avLst>
              <a:gd name="adj" fmla="val 4324"/>
            </a:avLst>
          </a:prstGeom>
          <a:solidFill>
            <a:srgbClr val="191640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297808" y="2290572"/>
            <a:ext cx="347472" cy="347472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297808" y="2290572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0A1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94944" y="2738628"/>
            <a:ext cx="1553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A78BF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Prompt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94944" y="3195828"/>
            <a:ext cx="1553200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Your description in words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2467600" y="3191256"/>
            <a:ext cx="320040" cy="237744"/>
          </a:xfrm>
          <a:prstGeom prst="rightArrow">
            <a:avLst/>
          </a:prstGeom>
          <a:solidFill>
            <a:srgbClr val="22D3EE">
              <a:alpha val="70000"/>
            </a:srgbClr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879080" y="2464308"/>
            <a:ext cx="1809232" cy="1691640"/>
          </a:xfrm>
          <a:prstGeom prst="roundRect">
            <a:avLst>
              <a:gd name="adj" fmla="val 4324"/>
            </a:avLst>
          </a:prstGeom>
          <a:solidFill>
            <a:srgbClr val="191640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09960" y="2290572"/>
            <a:ext cx="347472" cy="34747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609960" y="2290572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0A1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3007096" y="2738628"/>
            <a:ext cx="1553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2D3E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Text encoder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3007096" y="3195828"/>
            <a:ext cx="1553200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Words become numbers the model understands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779752" y="3191256"/>
            <a:ext cx="320040" cy="237744"/>
          </a:xfrm>
          <a:prstGeom prst="rightArrow">
            <a:avLst/>
          </a:prstGeom>
          <a:solidFill>
            <a:srgbClr val="22D3EE">
              <a:alpha val="70000"/>
            </a:srgbClr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191232" y="2464308"/>
            <a:ext cx="1809232" cy="1691640"/>
          </a:xfrm>
          <a:prstGeom prst="roundRect">
            <a:avLst>
              <a:gd name="adj" fmla="val 4324"/>
            </a:avLst>
          </a:prstGeom>
          <a:solidFill>
            <a:srgbClr val="191640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922112" y="2290572"/>
            <a:ext cx="347472" cy="347472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922112" y="2290572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0A1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5319248" y="2738628"/>
            <a:ext cx="1553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BBF2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Start from noise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5319248" y="3195828"/>
            <a:ext cx="1553200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model begins with random visual noise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7091904" y="3191256"/>
            <a:ext cx="320040" cy="237744"/>
          </a:xfrm>
          <a:prstGeom prst="rightArrow">
            <a:avLst/>
          </a:prstGeom>
          <a:solidFill>
            <a:srgbClr val="22D3EE">
              <a:alpha val="70000"/>
            </a:srgbClr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503384" y="2464308"/>
            <a:ext cx="1809232" cy="1691640"/>
          </a:xfrm>
          <a:prstGeom prst="roundRect">
            <a:avLst>
              <a:gd name="adj" fmla="val 4324"/>
            </a:avLst>
          </a:prstGeom>
          <a:solidFill>
            <a:srgbClr val="191640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234263" y="2290572"/>
            <a:ext cx="347472" cy="347472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234263" y="2290572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0A1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4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7631400" y="2738628"/>
            <a:ext cx="1553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4D39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Denoise in steps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7631400" y="3195828"/>
            <a:ext cx="1553200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It repeatedly removes noise, guided by your text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9404055" y="3191256"/>
            <a:ext cx="320040" cy="237744"/>
          </a:xfrm>
          <a:prstGeom prst="rightArrow">
            <a:avLst/>
          </a:prstGeom>
          <a:solidFill>
            <a:srgbClr val="22D3EE">
              <a:alpha val="70000"/>
            </a:srgbClr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815535" y="2464308"/>
            <a:ext cx="1809232" cy="1691640"/>
          </a:xfrm>
          <a:prstGeom prst="roundRect">
            <a:avLst>
              <a:gd name="adj" fmla="val 4324"/>
            </a:avLst>
          </a:prstGeom>
          <a:solidFill>
            <a:srgbClr val="191640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10546415" y="2290572"/>
            <a:ext cx="347472" cy="347472"/>
          </a:xfrm>
          <a:prstGeom prst="ellipse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10546415" y="2290572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0A1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5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9943551" y="2738628"/>
            <a:ext cx="1553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472B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Image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9943551" y="3195828"/>
            <a:ext cx="1553200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finished picture matching the description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566928" y="5276088"/>
            <a:ext cx="11057839" cy="960120"/>
          </a:xfrm>
          <a:prstGeom prst="roundRect">
            <a:avLst>
              <a:gd name="adj" fmla="val 7619"/>
            </a:avLst>
          </a:prstGeom>
          <a:solidFill>
            <a:srgbClr val="191640">
              <a:alpha val="96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36" name="Text 34"/>
          <p:cNvSpPr txBox="1"/>
          <p:nvPr/>
        </p:nvSpPr>
        <p:spPr>
          <a:xfrm>
            <a:off x="841248" y="5385816"/>
            <a:ext cx="10509199" cy="7406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A78BF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Remember:  </a:t>
            </a:r>
            <a:r>
              <a:rPr lang="en-US" sz="13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This is the diffusion idea: sculpting an image out of noise, with your prompt acting as the guide at every step.</a:t>
            </a:r>
            <a:endParaRPr lang="en-US" sz="1300" dirty="0"/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SLIDE 104 · MODE 1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Text-to-Image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Section 9 · AI Image Generation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120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11057839" cy="877824"/>
          </a:xfrm>
          <a:prstGeom prst="roundRect">
            <a:avLst>
              <a:gd name="adj" fmla="val 8333"/>
            </a:avLst>
          </a:prstGeom>
          <a:solidFill>
            <a:srgbClr val="191640">
              <a:alpha val="96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6928" y="1627632"/>
            <a:ext cx="64008" cy="585216"/>
          </a:xfrm>
          <a:prstGeom prst="roundRect">
            <a:avLst>
              <a:gd name="adj" fmla="val 42857"/>
            </a:avLst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59536" y="1572768"/>
            <a:ext cx="10472623" cy="6949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DDD9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basic mode: words in, picture out.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66928" y="2615184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22960" y="2816352"/>
            <a:ext cx="457200" cy="457200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2930652"/>
            <a:ext cx="228600" cy="22860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499616" y="2816352"/>
            <a:ext cx="41847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What You Control</a:t>
            </a:r>
            <a:endParaRPr lang="en-US" sz="1450" dirty="0"/>
          </a:p>
        </p:txBody>
      </p:sp>
      <p:sp>
        <p:nvSpPr>
          <p:cNvPr id="13" name="Text 10"/>
          <p:cNvSpPr txBox="1"/>
          <p:nvPr/>
        </p:nvSpPr>
        <p:spPr>
          <a:xfrm>
            <a:off x="841248" y="3419856"/>
            <a:ext cx="484312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200"/>
              </a:spcAft>
              <a:buSzPct val="100000"/>
              <a:buChar char="▪"/>
            </a:pPr>
            <a:r>
              <a:rPr lang="en-US" sz="9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Subject and action</a:t>
            </a:r>
            <a:endParaRPr lang="en-US" sz="900" dirty="0"/>
          </a:p>
          <a:p>
            <a:pPr marL="342900" indent="-342900">
              <a:lnSpc>
                <a:spcPct val="110000"/>
              </a:lnSpc>
              <a:spcAft>
                <a:spcPts val="200"/>
              </a:spcAft>
              <a:buSzPct val="100000"/>
              <a:buChar char="▪"/>
            </a:pPr>
            <a:r>
              <a:rPr lang="en-US" sz="9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Art style</a:t>
            </a:r>
            <a:endParaRPr lang="en-US" sz="900" dirty="0"/>
          </a:p>
          <a:p>
            <a:pPr marL="342900" indent="-342900">
              <a:lnSpc>
                <a:spcPct val="110000"/>
              </a:lnSpc>
              <a:spcAft>
                <a:spcPts val="200"/>
              </a:spcAft>
              <a:buSzPct val="100000"/>
              <a:buChar char="▪"/>
            </a:pPr>
            <a:r>
              <a:rPr lang="en-US" sz="9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Colours and lighting</a:t>
            </a:r>
            <a:endParaRPr lang="en-US" sz="900" dirty="0"/>
          </a:p>
          <a:p>
            <a:pPr marL="342900" indent="-342900">
              <a:lnSpc>
                <a:spcPct val="110000"/>
              </a:lnSpc>
              <a:spcAft>
                <a:spcPts val="200"/>
              </a:spcAft>
              <a:buSzPct val="100000"/>
              <a:buChar char="▪"/>
            </a:pPr>
            <a:r>
              <a:rPr lang="en-US" sz="9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Composition and viewpoint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6233008" y="2615184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489040" y="2816352"/>
            <a:ext cx="457200" cy="457200"/>
          </a:xfrm>
          <a:prstGeom prst="ellipse">
            <a:avLst/>
          </a:prstGeom>
          <a:solidFill>
            <a:srgbClr val="22D3EE">
              <a:alpha val="16000"/>
            </a:srgbClr>
          </a:solidFill>
          <a:ln w="12700">
            <a:solidFill>
              <a:srgbClr val="22D3EE">
                <a:alpha val="45000"/>
              </a:srgbClr>
            </a:solidFill>
            <a:prstDash val="solid"/>
          </a:ln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3340" y="2930652"/>
            <a:ext cx="228600" cy="22860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7165696" y="2816352"/>
            <a:ext cx="41847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Example Prompt</a:t>
            </a:r>
            <a:endParaRPr lang="en-US" sz="1450" dirty="0"/>
          </a:p>
        </p:txBody>
      </p:sp>
      <p:sp>
        <p:nvSpPr>
          <p:cNvPr id="18" name="Text 14"/>
          <p:cNvSpPr txBox="1"/>
          <p:nvPr/>
        </p:nvSpPr>
        <p:spPr>
          <a:xfrm>
            <a:off x="6507328" y="3419856"/>
            <a:ext cx="484312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"A friendly robot teaching a class of students, flat illustration style, soft blue and purple colours, wide view."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566928" y="4530149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822960" y="4731317"/>
            <a:ext cx="457200" cy="457200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260" y="4845617"/>
            <a:ext cx="228600" cy="22860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499616" y="4731317"/>
            <a:ext cx="41847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Expect To Iterate</a:t>
            </a:r>
            <a:endParaRPr lang="en-US" sz="1450" dirty="0"/>
          </a:p>
        </p:txBody>
      </p:sp>
      <p:sp>
        <p:nvSpPr>
          <p:cNvPr id="23" name="Text 18"/>
          <p:cNvSpPr txBox="1"/>
          <p:nvPr/>
        </p:nvSpPr>
        <p:spPr>
          <a:xfrm>
            <a:off x="841248" y="5334821"/>
            <a:ext cx="484312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Generate several versions, pick the closest, then refine the prompt.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6233008" y="4530149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6489040" y="4731317"/>
            <a:ext cx="457200" cy="457200"/>
          </a:xfrm>
          <a:prstGeom prst="ellipse">
            <a:avLst/>
          </a:prstGeom>
          <a:solidFill>
            <a:srgbClr val="34D399">
              <a:alpha val="16000"/>
            </a:srgbClr>
          </a:solidFill>
          <a:ln w="12700">
            <a:solidFill>
              <a:srgbClr val="34D399">
                <a:alpha val="45000"/>
              </a:srgbClr>
            </a:solidFill>
            <a:prstDash val="solid"/>
          </a:ln>
        </p:spPr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3340" y="4845617"/>
            <a:ext cx="228600" cy="228600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7165696" y="4731317"/>
            <a:ext cx="41847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Known Weak Spots</a:t>
            </a:r>
            <a:endParaRPr lang="en-US" sz="1450" dirty="0"/>
          </a:p>
        </p:txBody>
      </p:sp>
      <p:sp>
        <p:nvSpPr>
          <p:cNvPr id="28" name="Text 22"/>
          <p:cNvSpPr txBox="1"/>
          <p:nvPr/>
        </p:nvSpPr>
        <p:spPr>
          <a:xfrm>
            <a:off x="6507328" y="5334821"/>
            <a:ext cx="484312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Hands, text inside images, exact counts of objects and precise product details.</a:t>
            </a:r>
            <a:endParaRPr lang="en-US" sz="1200" dirty="0"/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SLIDE 105 · MODE 2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Image-to-Image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Section 9 · AI Image Generation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121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11057839" cy="877824"/>
          </a:xfrm>
          <a:prstGeom prst="roundRect">
            <a:avLst>
              <a:gd name="adj" fmla="val 8333"/>
            </a:avLst>
          </a:prstGeom>
          <a:solidFill>
            <a:srgbClr val="191640">
              <a:alpha val="96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6928" y="1627632"/>
            <a:ext cx="64008" cy="585216"/>
          </a:xfrm>
          <a:prstGeom prst="roundRect">
            <a:avLst>
              <a:gd name="adj" fmla="val 42857"/>
            </a:avLst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59536" y="1572768"/>
            <a:ext cx="10472623" cy="6949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DDD9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You give an existing picture plus instructions, and the model produces a modified version.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66928" y="2615184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22960" y="2816352"/>
            <a:ext cx="457200" cy="457200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2930652"/>
            <a:ext cx="228600" cy="22860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499616" y="2816352"/>
            <a:ext cx="41847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Style Transfer</a:t>
            </a:r>
            <a:endParaRPr lang="en-US" sz="1450" dirty="0"/>
          </a:p>
        </p:txBody>
      </p:sp>
      <p:sp>
        <p:nvSpPr>
          <p:cNvPr id="13" name="Text 10"/>
          <p:cNvSpPr txBox="1"/>
          <p:nvPr/>
        </p:nvSpPr>
        <p:spPr>
          <a:xfrm>
            <a:off x="841248" y="3419856"/>
            <a:ext cx="484312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Keep the content but change the visual style, for example a photo into a watercolour look.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33008" y="2615184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489040" y="2816352"/>
            <a:ext cx="457200" cy="457200"/>
          </a:xfrm>
          <a:prstGeom prst="ellipse">
            <a:avLst/>
          </a:prstGeom>
          <a:solidFill>
            <a:srgbClr val="22D3EE">
              <a:alpha val="16000"/>
            </a:srgbClr>
          </a:solidFill>
          <a:ln w="12700">
            <a:solidFill>
              <a:srgbClr val="22D3EE">
                <a:alpha val="45000"/>
              </a:srgbClr>
            </a:solidFill>
            <a:prstDash val="solid"/>
          </a:ln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3340" y="2930652"/>
            <a:ext cx="228600" cy="22860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7165696" y="2816352"/>
            <a:ext cx="41847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From A Sketch</a:t>
            </a:r>
            <a:endParaRPr lang="en-US" sz="1450" dirty="0"/>
          </a:p>
        </p:txBody>
      </p:sp>
      <p:sp>
        <p:nvSpPr>
          <p:cNvPr id="18" name="Text 14"/>
          <p:cNvSpPr txBox="1"/>
          <p:nvPr/>
        </p:nvSpPr>
        <p:spPr>
          <a:xfrm>
            <a:off x="6507328" y="3419856"/>
            <a:ext cx="484312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rough drawing becomes a finished illustration that follows the same layout.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566928" y="4530149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822960" y="4731317"/>
            <a:ext cx="457200" cy="457200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260" y="4845617"/>
            <a:ext cx="228600" cy="22860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499616" y="4731317"/>
            <a:ext cx="41847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Strength Setting</a:t>
            </a:r>
            <a:endParaRPr lang="en-US" sz="1450" dirty="0"/>
          </a:p>
        </p:txBody>
      </p:sp>
      <p:sp>
        <p:nvSpPr>
          <p:cNvPr id="23" name="Text 18"/>
          <p:cNvSpPr txBox="1"/>
          <p:nvPr/>
        </p:nvSpPr>
        <p:spPr>
          <a:xfrm>
            <a:off x="841248" y="5334821"/>
            <a:ext cx="484312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Controls how much the original is preserved versus how much is reinvented.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6233008" y="4530149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6489040" y="4731317"/>
            <a:ext cx="457200" cy="457200"/>
          </a:xfrm>
          <a:prstGeom prst="ellipse">
            <a:avLst/>
          </a:prstGeom>
          <a:solidFill>
            <a:srgbClr val="34D399">
              <a:alpha val="16000"/>
            </a:srgbClr>
          </a:solidFill>
          <a:ln w="12700">
            <a:solidFill>
              <a:srgbClr val="34D399">
                <a:alpha val="45000"/>
              </a:srgbClr>
            </a:solidFill>
            <a:prstDash val="solid"/>
          </a:ln>
        </p:spPr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3340" y="4845617"/>
            <a:ext cx="228600" cy="228600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7165696" y="4731317"/>
            <a:ext cx="41847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Rights Matter</a:t>
            </a:r>
            <a:endParaRPr lang="en-US" sz="1450" dirty="0"/>
          </a:p>
        </p:txBody>
      </p:sp>
      <p:sp>
        <p:nvSpPr>
          <p:cNvPr id="28" name="Text 22"/>
          <p:cNvSpPr txBox="1"/>
          <p:nvPr/>
        </p:nvSpPr>
        <p:spPr>
          <a:xfrm>
            <a:off x="6507328" y="5334821"/>
            <a:ext cx="484312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Only use source images you own or are licensed to use.</a:t>
            </a:r>
            <a:endParaRPr lang="en-US" sz="1200" dirty="0"/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SLIDE 106 · MODE 3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Image Editing with AI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Section 9 · AI Image Generation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122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11057839" cy="877824"/>
          </a:xfrm>
          <a:prstGeom prst="roundRect">
            <a:avLst>
              <a:gd name="adj" fmla="val 8333"/>
            </a:avLst>
          </a:prstGeom>
          <a:solidFill>
            <a:srgbClr val="191640">
              <a:alpha val="96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6928" y="1627632"/>
            <a:ext cx="64008" cy="585216"/>
          </a:xfrm>
          <a:prstGeom prst="roundRect">
            <a:avLst>
              <a:gd name="adj" fmla="val 42857"/>
            </a:avLst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59536" y="1572768"/>
            <a:ext cx="10472623" cy="6949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DDD9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 editing changes part of an image while leaving the rest untouched.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66928" y="2615184"/>
            <a:ext cx="3503066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22960" y="2816352"/>
            <a:ext cx="457200" cy="457200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2930652"/>
            <a:ext cx="228600" cy="22860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499616" y="2816352"/>
            <a:ext cx="229605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Inpainting</a:t>
            </a:r>
            <a:endParaRPr lang="en-US" sz="1450" dirty="0"/>
          </a:p>
        </p:txBody>
      </p:sp>
      <p:sp>
        <p:nvSpPr>
          <p:cNvPr id="13" name="Text 10"/>
          <p:cNvSpPr txBox="1"/>
          <p:nvPr/>
        </p:nvSpPr>
        <p:spPr>
          <a:xfrm>
            <a:off x="841248" y="3419856"/>
            <a:ext cx="2954426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Select an area and replace it — remove an object or change one item.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344314" y="2615184"/>
            <a:ext cx="3503066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600346" y="2816352"/>
            <a:ext cx="457200" cy="457200"/>
          </a:xfrm>
          <a:prstGeom prst="ellipse">
            <a:avLst/>
          </a:prstGeom>
          <a:solidFill>
            <a:srgbClr val="22D3EE">
              <a:alpha val="16000"/>
            </a:srgbClr>
          </a:solidFill>
          <a:ln w="12700">
            <a:solidFill>
              <a:srgbClr val="22D3EE">
                <a:alpha val="45000"/>
              </a:srgbClr>
            </a:solidFill>
            <a:prstDash val="solid"/>
          </a:ln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4646" y="2930652"/>
            <a:ext cx="228600" cy="22860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5277002" y="2816352"/>
            <a:ext cx="229605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Outpainting</a:t>
            </a:r>
            <a:endParaRPr lang="en-US" sz="1450" dirty="0"/>
          </a:p>
        </p:txBody>
      </p:sp>
      <p:sp>
        <p:nvSpPr>
          <p:cNvPr id="18" name="Text 14"/>
          <p:cNvSpPr txBox="1"/>
          <p:nvPr/>
        </p:nvSpPr>
        <p:spPr>
          <a:xfrm>
            <a:off x="4618634" y="3419856"/>
            <a:ext cx="2954426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Extend the picture beyond its original edges.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8121701" y="2615184"/>
            <a:ext cx="3503066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8377733" y="2816352"/>
            <a:ext cx="457200" cy="457200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2033" y="2930652"/>
            <a:ext cx="228600" cy="22860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9054389" y="2816352"/>
            <a:ext cx="229605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Background Removal</a:t>
            </a:r>
            <a:endParaRPr lang="en-US" sz="1450" dirty="0"/>
          </a:p>
        </p:txBody>
      </p:sp>
      <p:sp>
        <p:nvSpPr>
          <p:cNvPr id="23" name="Text 18"/>
          <p:cNvSpPr txBox="1"/>
          <p:nvPr/>
        </p:nvSpPr>
        <p:spPr>
          <a:xfrm>
            <a:off x="8396021" y="3419856"/>
            <a:ext cx="2954426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Separate the subject from the background automatically.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566928" y="4530149"/>
            <a:ext cx="3503066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822960" y="4731317"/>
            <a:ext cx="457200" cy="457200"/>
          </a:xfrm>
          <a:prstGeom prst="ellipse">
            <a:avLst/>
          </a:prstGeom>
          <a:solidFill>
            <a:srgbClr val="34D399">
              <a:alpha val="16000"/>
            </a:srgbClr>
          </a:solidFill>
          <a:ln w="12700">
            <a:solidFill>
              <a:srgbClr val="34D399">
                <a:alpha val="45000"/>
              </a:srgbClr>
            </a:solidFill>
            <a:prstDash val="solid"/>
          </a:ln>
        </p:spPr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7260" y="4845617"/>
            <a:ext cx="228600" cy="228600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1499616" y="4731317"/>
            <a:ext cx="229605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Upscaling And Restoring</a:t>
            </a:r>
            <a:endParaRPr lang="en-US" sz="1450" dirty="0"/>
          </a:p>
        </p:txBody>
      </p:sp>
      <p:sp>
        <p:nvSpPr>
          <p:cNvPr id="28" name="Text 22"/>
          <p:cNvSpPr txBox="1"/>
          <p:nvPr/>
        </p:nvSpPr>
        <p:spPr>
          <a:xfrm>
            <a:off x="841248" y="5334821"/>
            <a:ext cx="2954426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Increase resolution or repair old damaged photographs.</a:t>
            </a:r>
            <a:endParaRPr lang="en-US" sz="1200" dirty="0"/>
          </a:p>
        </p:txBody>
      </p:sp>
      <p:sp>
        <p:nvSpPr>
          <p:cNvPr id="29" name="Shape 23"/>
          <p:cNvSpPr/>
          <p:nvPr/>
        </p:nvSpPr>
        <p:spPr>
          <a:xfrm>
            <a:off x="4344314" y="4530149"/>
            <a:ext cx="3503066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4600346" y="4731317"/>
            <a:ext cx="457200" cy="457200"/>
          </a:xfrm>
          <a:prstGeom prst="ellipse">
            <a:avLst/>
          </a:prstGeom>
          <a:solidFill>
            <a:srgbClr val="F472B6">
              <a:alpha val="16000"/>
            </a:srgbClr>
          </a:solidFill>
          <a:ln w="12700">
            <a:solidFill>
              <a:srgbClr val="F472B6">
                <a:alpha val="45000"/>
              </a:srgbClr>
            </a:solidFill>
            <a:prstDash val="solid"/>
          </a:ln>
        </p:spPr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14646" y="4845617"/>
            <a:ext cx="228600" cy="228600"/>
          </a:xfrm>
          <a:prstGeom prst="rect">
            <a:avLst/>
          </a:prstGeom>
        </p:spPr>
      </p:pic>
      <p:sp>
        <p:nvSpPr>
          <p:cNvPr id="32" name="Text 25"/>
          <p:cNvSpPr txBox="1"/>
          <p:nvPr/>
        </p:nvSpPr>
        <p:spPr>
          <a:xfrm>
            <a:off x="5277002" y="4731317"/>
            <a:ext cx="229605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Ethical Line</a:t>
            </a:r>
            <a:endParaRPr lang="en-US" sz="1450" dirty="0"/>
          </a:p>
        </p:txBody>
      </p:sp>
      <p:sp>
        <p:nvSpPr>
          <p:cNvPr id="33" name="Text 26"/>
          <p:cNvSpPr txBox="1"/>
          <p:nvPr/>
        </p:nvSpPr>
        <p:spPr>
          <a:xfrm>
            <a:off x="4618634" y="5334821"/>
            <a:ext cx="2954426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Editing a person into a situation that never happened is misleading and can be harmful.</a:t>
            </a:r>
            <a:endParaRPr lang="en-US" sz="1200" dirty="0"/>
          </a:p>
        </p:txBody>
      </p:sp>
      <p:sp>
        <p:nvSpPr>
          <p:cNvPr id="34" name="Shape 27"/>
          <p:cNvSpPr/>
          <p:nvPr/>
        </p:nvSpPr>
        <p:spPr>
          <a:xfrm>
            <a:off x="8121701" y="4530149"/>
            <a:ext cx="3503066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35" name="Shape 28"/>
          <p:cNvSpPr/>
          <p:nvPr/>
        </p:nvSpPr>
        <p:spPr>
          <a:xfrm>
            <a:off x="8377733" y="4731317"/>
            <a:ext cx="457200" cy="457200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36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92033" y="4845617"/>
            <a:ext cx="228600" cy="228600"/>
          </a:xfrm>
          <a:prstGeom prst="rect">
            <a:avLst/>
          </a:prstGeom>
        </p:spPr>
      </p:pic>
      <p:sp>
        <p:nvSpPr>
          <p:cNvPr id="37" name="Text 29"/>
          <p:cNvSpPr txBox="1"/>
          <p:nvPr/>
        </p:nvSpPr>
        <p:spPr>
          <a:xfrm>
            <a:off x="9054389" y="4731317"/>
            <a:ext cx="229605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Good Practice</a:t>
            </a:r>
            <a:endParaRPr lang="en-US" sz="1450" dirty="0"/>
          </a:p>
        </p:txBody>
      </p:sp>
      <p:sp>
        <p:nvSpPr>
          <p:cNvPr id="38" name="Text 30"/>
          <p:cNvSpPr txBox="1"/>
          <p:nvPr/>
        </p:nvSpPr>
        <p:spPr>
          <a:xfrm>
            <a:off x="8396021" y="5334821"/>
            <a:ext cx="2954426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Disclose meaningful edits in news, journalism and any factual context.</a:t>
            </a:r>
            <a:endParaRPr lang="en-US" sz="1200" dirty="0"/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SLIDE 107 · USES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Image Generation Applications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Section 9 · AI Image Generation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123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3503066" cy="2240280"/>
          </a:xfrm>
          <a:prstGeom prst="roundRect">
            <a:avLst>
              <a:gd name="adj" fmla="val 3265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1737360"/>
            <a:ext cx="566928" cy="566928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4692" y="1879092"/>
            <a:ext cx="283464" cy="283464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609344" y="1737360"/>
            <a:ext cx="218633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Marketing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841248" y="2505456"/>
            <a:ext cx="2954426" cy="10332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Campaign concepts and social media visuals produced quickly.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344314" y="1481328"/>
            <a:ext cx="3503066" cy="2240280"/>
          </a:xfrm>
          <a:prstGeom prst="roundRect">
            <a:avLst>
              <a:gd name="adj" fmla="val 3265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600346" y="1737360"/>
            <a:ext cx="566928" cy="566928"/>
          </a:xfrm>
          <a:prstGeom prst="ellipse">
            <a:avLst/>
          </a:prstGeom>
          <a:solidFill>
            <a:srgbClr val="22D3EE">
              <a:alpha val="16000"/>
            </a:srgbClr>
          </a:solidFill>
          <a:ln w="12700">
            <a:solidFill>
              <a:srgbClr val="22D3EE">
                <a:alpha val="45000"/>
              </a:srgbClr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2078" y="1879092"/>
            <a:ext cx="283464" cy="283464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5386730" y="1737360"/>
            <a:ext cx="218633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Education</a:t>
            </a:r>
            <a:endParaRPr lang="en-US" sz="1600" dirty="0"/>
          </a:p>
        </p:txBody>
      </p:sp>
      <p:sp>
        <p:nvSpPr>
          <p:cNvPr id="15" name="Text 11"/>
          <p:cNvSpPr txBox="1"/>
          <p:nvPr/>
        </p:nvSpPr>
        <p:spPr>
          <a:xfrm>
            <a:off x="4618634" y="2505456"/>
            <a:ext cx="2954426" cy="10332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Diagrams and illustrations for lessons and presentations.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8121701" y="1481328"/>
            <a:ext cx="3503066" cy="2240280"/>
          </a:xfrm>
          <a:prstGeom prst="roundRect">
            <a:avLst>
              <a:gd name="adj" fmla="val 3265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377733" y="1737360"/>
            <a:ext cx="566928" cy="566928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9465" y="1879092"/>
            <a:ext cx="283464" cy="283464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9164117" y="1737360"/>
            <a:ext cx="218633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Advertising</a:t>
            </a:r>
            <a:endParaRPr lang="en-US" sz="1600" dirty="0"/>
          </a:p>
        </p:txBody>
      </p:sp>
      <p:sp>
        <p:nvSpPr>
          <p:cNvPr id="20" name="Text 15"/>
          <p:cNvSpPr txBox="1"/>
          <p:nvPr/>
        </p:nvSpPr>
        <p:spPr>
          <a:xfrm>
            <a:off x="8396021" y="2505456"/>
            <a:ext cx="2954426" cy="10332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Multiple creative directions tested before an expensive photo shoot.</a:t>
            </a:r>
            <a:endParaRPr lang="en-US" sz="1300" dirty="0"/>
          </a:p>
        </p:txBody>
      </p:sp>
      <p:sp>
        <p:nvSpPr>
          <p:cNvPr id="21" name="Shape 16"/>
          <p:cNvSpPr/>
          <p:nvPr/>
        </p:nvSpPr>
        <p:spPr>
          <a:xfrm>
            <a:off x="566928" y="3995928"/>
            <a:ext cx="3503066" cy="2240280"/>
          </a:xfrm>
          <a:prstGeom prst="roundRect">
            <a:avLst>
              <a:gd name="adj" fmla="val 3265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822960" y="4251960"/>
            <a:ext cx="566928" cy="566928"/>
          </a:xfrm>
          <a:prstGeom prst="ellipse">
            <a:avLst/>
          </a:prstGeom>
          <a:solidFill>
            <a:srgbClr val="34D399">
              <a:alpha val="16000"/>
            </a:srgbClr>
          </a:solidFill>
          <a:ln w="12700">
            <a:solidFill>
              <a:srgbClr val="34D399">
                <a:alpha val="45000"/>
              </a:srgbClr>
            </a:solidFill>
            <a:prstDash val="solid"/>
          </a:ln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4692" y="4393692"/>
            <a:ext cx="283464" cy="283464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1609344" y="4251960"/>
            <a:ext cx="218633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Design</a:t>
            </a:r>
            <a:endParaRPr lang="en-US" sz="1600" dirty="0"/>
          </a:p>
        </p:txBody>
      </p:sp>
      <p:sp>
        <p:nvSpPr>
          <p:cNvPr id="25" name="Text 19"/>
          <p:cNvSpPr txBox="1"/>
          <p:nvPr/>
        </p:nvSpPr>
        <p:spPr>
          <a:xfrm>
            <a:off x="841248" y="5020056"/>
            <a:ext cx="2954426" cy="10332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Mood boards, icon ideas and early concept exploration.</a:t>
            </a:r>
            <a:endParaRPr lang="en-US" sz="1300" dirty="0"/>
          </a:p>
        </p:txBody>
      </p:sp>
      <p:sp>
        <p:nvSpPr>
          <p:cNvPr id="26" name="Shape 20"/>
          <p:cNvSpPr/>
          <p:nvPr/>
        </p:nvSpPr>
        <p:spPr>
          <a:xfrm>
            <a:off x="4344314" y="3995928"/>
            <a:ext cx="3503066" cy="2240280"/>
          </a:xfrm>
          <a:prstGeom prst="roundRect">
            <a:avLst>
              <a:gd name="adj" fmla="val 3265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4600346" y="4251960"/>
            <a:ext cx="566928" cy="566928"/>
          </a:xfrm>
          <a:prstGeom prst="ellipse">
            <a:avLst/>
          </a:prstGeom>
          <a:solidFill>
            <a:srgbClr val="F472B6">
              <a:alpha val="16000"/>
            </a:srgbClr>
          </a:solidFill>
          <a:ln w="12700">
            <a:solidFill>
              <a:srgbClr val="F472B6">
                <a:alpha val="45000"/>
              </a:srgbClr>
            </a:solidFill>
            <a:prstDash val="solid"/>
          </a:ln>
        </p:spPr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42078" y="4393692"/>
            <a:ext cx="283464" cy="283464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5386730" y="4251960"/>
            <a:ext cx="218633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Social media</a:t>
            </a:r>
            <a:endParaRPr lang="en-US" sz="1600" dirty="0"/>
          </a:p>
        </p:txBody>
      </p:sp>
      <p:sp>
        <p:nvSpPr>
          <p:cNvPr id="30" name="Text 23"/>
          <p:cNvSpPr txBox="1"/>
          <p:nvPr/>
        </p:nvSpPr>
        <p:spPr>
          <a:xfrm>
            <a:off x="4618634" y="5020056"/>
            <a:ext cx="2954426" cy="10332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Original visuals instead of repeated stock photographs.</a:t>
            </a:r>
            <a:endParaRPr lang="en-US" sz="1300" dirty="0"/>
          </a:p>
        </p:txBody>
      </p:sp>
      <p:sp>
        <p:nvSpPr>
          <p:cNvPr id="31" name="Shape 24"/>
          <p:cNvSpPr/>
          <p:nvPr/>
        </p:nvSpPr>
        <p:spPr>
          <a:xfrm>
            <a:off x="8121701" y="3995928"/>
            <a:ext cx="3503066" cy="2240280"/>
          </a:xfrm>
          <a:prstGeom prst="roundRect">
            <a:avLst>
              <a:gd name="adj" fmla="val 3265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8377733" y="4251960"/>
            <a:ext cx="566928" cy="566928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33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19465" y="4393692"/>
            <a:ext cx="283464" cy="283464"/>
          </a:xfrm>
          <a:prstGeom prst="rect">
            <a:avLst/>
          </a:prstGeom>
        </p:spPr>
      </p:pic>
      <p:sp>
        <p:nvSpPr>
          <p:cNvPr id="34" name="Text 26"/>
          <p:cNvSpPr txBox="1"/>
          <p:nvPr/>
        </p:nvSpPr>
        <p:spPr>
          <a:xfrm>
            <a:off x="9164117" y="4251960"/>
            <a:ext cx="218633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Product visualisation</a:t>
            </a:r>
            <a:endParaRPr lang="en-US" sz="1600" dirty="0"/>
          </a:p>
        </p:txBody>
      </p:sp>
      <p:sp>
        <p:nvSpPr>
          <p:cNvPr id="35" name="Text 27"/>
          <p:cNvSpPr txBox="1"/>
          <p:nvPr/>
        </p:nvSpPr>
        <p:spPr>
          <a:xfrm>
            <a:off x="8396021" y="5020056"/>
            <a:ext cx="2954426" cy="10332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Show a product concept in different settings before it is manufactured.</a:t>
            </a:r>
            <a:endParaRPr lang="en-US" sz="1300" dirty="0"/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SLIDE 108 · PROMPTING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Writing Better Image Prompts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Section 9 · AI Image Generation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124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11057839" cy="877824"/>
          </a:xfrm>
          <a:prstGeom prst="roundRect">
            <a:avLst>
              <a:gd name="adj" fmla="val 8333"/>
            </a:avLst>
          </a:prstGeom>
          <a:solidFill>
            <a:srgbClr val="191640">
              <a:alpha val="96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6928" y="1627632"/>
            <a:ext cx="64008" cy="585216"/>
          </a:xfrm>
          <a:prstGeom prst="roundRect">
            <a:avLst>
              <a:gd name="adj" fmla="val 42857"/>
            </a:avLst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59536" y="1572768"/>
            <a:ext cx="10472623" cy="6949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DDD9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Good image prompts describe seven things. Weak prompts describe only the first one.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66928" y="2615184"/>
            <a:ext cx="255872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22960" y="2816352"/>
            <a:ext cx="457200" cy="457200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2930652"/>
            <a:ext cx="228600" cy="22860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499616" y="2816352"/>
            <a:ext cx="135171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1. Subject</a:t>
            </a:r>
            <a:endParaRPr lang="en-US" sz="1450" dirty="0"/>
          </a:p>
        </p:txBody>
      </p:sp>
      <p:sp>
        <p:nvSpPr>
          <p:cNvPr id="13" name="Text 10"/>
          <p:cNvSpPr txBox="1"/>
          <p:nvPr/>
        </p:nvSpPr>
        <p:spPr>
          <a:xfrm>
            <a:off x="841248" y="3419856"/>
            <a:ext cx="201008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Who or what, and what they are doing. "An elderly potter shaping a clay pot."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3399968" y="2615184"/>
            <a:ext cx="255872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3656000" y="2816352"/>
            <a:ext cx="457200" cy="457200"/>
          </a:xfrm>
          <a:prstGeom prst="ellipse">
            <a:avLst/>
          </a:prstGeom>
          <a:solidFill>
            <a:srgbClr val="22D3EE">
              <a:alpha val="16000"/>
            </a:srgbClr>
          </a:solidFill>
          <a:ln w="12700">
            <a:solidFill>
              <a:srgbClr val="22D3EE">
                <a:alpha val="45000"/>
              </a:srgbClr>
            </a:solidFill>
            <a:prstDash val="solid"/>
          </a:ln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0300" y="2930652"/>
            <a:ext cx="228600" cy="22860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4332656" y="2816352"/>
            <a:ext cx="135171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2. Style</a:t>
            </a:r>
            <a:endParaRPr lang="en-US" sz="1450" dirty="0"/>
          </a:p>
        </p:txBody>
      </p:sp>
      <p:sp>
        <p:nvSpPr>
          <p:cNvPr id="18" name="Text 14"/>
          <p:cNvSpPr txBox="1"/>
          <p:nvPr/>
        </p:nvSpPr>
        <p:spPr>
          <a:xfrm>
            <a:off x="3674288" y="3419856"/>
            <a:ext cx="201008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Photo, watercolour, flat vector, 3D render, pencil sketch.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6233008" y="2615184"/>
            <a:ext cx="255872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6489040" y="2816352"/>
            <a:ext cx="457200" cy="457200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3340" y="2930652"/>
            <a:ext cx="228600" cy="22860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7165696" y="2816352"/>
            <a:ext cx="135171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3. Environment</a:t>
            </a:r>
            <a:endParaRPr lang="en-US" sz="1450" dirty="0"/>
          </a:p>
        </p:txBody>
      </p:sp>
      <p:sp>
        <p:nvSpPr>
          <p:cNvPr id="23" name="Text 18"/>
          <p:cNvSpPr txBox="1"/>
          <p:nvPr/>
        </p:nvSpPr>
        <p:spPr>
          <a:xfrm>
            <a:off x="6507328" y="3419856"/>
            <a:ext cx="201008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Where it happens. "In a small sunlit village workshop."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9066047" y="2615184"/>
            <a:ext cx="255872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9322079" y="2816352"/>
            <a:ext cx="457200" cy="457200"/>
          </a:xfrm>
          <a:prstGeom prst="ellipse">
            <a:avLst/>
          </a:prstGeom>
          <a:solidFill>
            <a:srgbClr val="34D399">
              <a:alpha val="16000"/>
            </a:srgbClr>
          </a:solidFill>
          <a:ln w="12700">
            <a:solidFill>
              <a:srgbClr val="34D399">
                <a:alpha val="45000"/>
              </a:srgbClr>
            </a:solidFill>
            <a:prstDash val="solid"/>
          </a:ln>
        </p:spPr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36379" y="2930652"/>
            <a:ext cx="228600" cy="228600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9998735" y="2816352"/>
            <a:ext cx="135171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4. Lighting</a:t>
            </a:r>
            <a:endParaRPr lang="en-US" sz="1450" dirty="0"/>
          </a:p>
        </p:txBody>
      </p:sp>
      <p:sp>
        <p:nvSpPr>
          <p:cNvPr id="28" name="Text 22"/>
          <p:cNvSpPr txBox="1"/>
          <p:nvPr/>
        </p:nvSpPr>
        <p:spPr>
          <a:xfrm>
            <a:off x="9340367" y="3419856"/>
            <a:ext cx="201008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Soft morning light, golden hour, studio lighting, dramatic shadows.</a:t>
            </a:r>
            <a:endParaRPr lang="en-US" sz="1200" dirty="0"/>
          </a:p>
        </p:txBody>
      </p:sp>
      <p:sp>
        <p:nvSpPr>
          <p:cNvPr id="29" name="Shape 23"/>
          <p:cNvSpPr/>
          <p:nvPr/>
        </p:nvSpPr>
        <p:spPr>
          <a:xfrm>
            <a:off x="566928" y="4530149"/>
            <a:ext cx="255872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822960" y="4731317"/>
            <a:ext cx="457200" cy="457200"/>
          </a:xfrm>
          <a:prstGeom prst="ellipse">
            <a:avLst/>
          </a:prstGeom>
          <a:solidFill>
            <a:srgbClr val="F472B6">
              <a:alpha val="16000"/>
            </a:srgbClr>
          </a:solidFill>
          <a:ln w="12700">
            <a:solidFill>
              <a:srgbClr val="F472B6">
                <a:alpha val="45000"/>
              </a:srgbClr>
            </a:solidFill>
            <a:prstDash val="solid"/>
          </a:ln>
        </p:spPr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7260" y="4845617"/>
            <a:ext cx="228600" cy="228600"/>
          </a:xfrm>
          <a:prstGeom prst="rect">
            <a:avLst/>
          </a:prstGeom>
        </p:spPr>
      </p:pic>
      <p:sp>
        <p:nvSpPr>
          <p:cNvPr id="32" name="Text 25"/>
          <p:cNvSpPr txBox="1"/>
          <p:nvPr/>
        </p:nvSpPr>
        <p:spPr>
          <a:xfrm>
            <a:off x="1499616" y="4731317"/>
            <a:ext cx="135171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5. Camera / view</a:t>
            </a:r>
            <a:endParaRPr lang="en-US" sz="1450" dirty="0"/>
          </a:p>
        </p:txBody>
      </p:sp>
      <p:sp>
        <p:nvSpPr>
          <p:cNvPr id="33" name="Text 26"/>
          <p:cNvSpPr txBox="1"/>
          <p:nvPr/>
        </p:nvSpPr>
        <p:spPr>
          <a:xfrm>
            <a:off x="841248" y="5334821"/>
            <a:ext cx="201008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Close-up, wide shot, top view, eye level.</a:t>
            </a:r>
            <a:endParaRPr lang="en-US" sz="1200" dirty="0"/>
          </a:p>
        </p:txBody>
      </p:sp>
      <p:sp>
        <p:nvSpPr>
          <p:cNvPr id="34" name="Shape 27"/>
          <p:cNvSpPr/>
          <p:nvPr/>
        </p:nvSpPr>
        <p:spPr>
          <a:xfrm>
            <a:off x="3399968" y="4530149"/>
            <a:ext cx="255872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35" name="Shape 28"/>
          <p:cNvSpPr/>
          <p:nvPr/>
        </p:nvSpPr>
        <p:spPr>
          <a:xfrm>
            <a:off x="3656000" y="4731317"/>
            <a:ext cx="457200" cy="457200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36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70300" y="4845617"/>
            <a:ext cx="228600" cy="228600"/>
          </a:xfrm>
          <a:prstGeom prst="rect">
            <a:avLst/>
          </a:prstGeom>
        </p:spPr>
      </p:pic>
      <p:sp>
        <p:nvSpPr>
          <p:cNvPr id="37" name="Text 29"/>
          <p:cNvSpPr txBox="1"/>
          <p:nvPr/>
        </p:nvSpPr>
        <p:spPr>
          <a:xfrm>
            <a:off x="4332656" y="4731317"/>
            <a:ext cx="135171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6. Composition</a:t>
            </a:r>
            <a:endParaRPr lang="en-US" sz="1450" dirty="0"/>
          </a:p>
        </p:txBody>
      </p:sp>
      <p:sp>
        <p:nvSpPr>
          <p:cNvPr id="38" name="Text 30"/>
          <p:cNvSpPr txBox="1"/>
          <p:nvPr/>
        </p:nvSpPr>
        <p:spPr>
          <a:xfrm>
            <a:off x="3674288" y="5334821"/>
            <a:ext cx="201008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Centred subject, rule of thirds, plain background, space for text.</a:t>
            </a:r>
            <a:endParaRPr lang="en-US" sz="1200" dirty="0"/>
          </a:p>
        </p:txBody>
      </p:sp>
      <p:sp>
        <p:nvSpPr>
          <p:cNvPr id="39" name="Shape 31"/>
          <p:cNvSpPr/>
          <p:nvPr/>
        </p:nvSpPr>
        <p:spPr>
          <a:xfrm>
            <a:off x="6233008" y="4530149"/>
            <a:ext cx="255872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40" name="Shape 32"/>
          <p:cNvSpPr/>
          <p:nvPr/>
        </p:nvSpPr>
        <p:spPr>
          <a:xfrm>
            <a:off x="6489040" y="4731317"/>
            <a:ext cx="457200" cy="457200"/>
          </a:xfrm>
          <a:prstGeom prst="ellipse">
            <a:avLst/>
          </a:prstGeom>
          <a:solidFill>
            <a:srgbClr val="22D3EE">
              <a:alpha val="16000"/>
            </a:srgbClr>
          </a:solidFill>
          <a:ln w="12700">
            <a:solidFill>
              <a:srgbClr val="22D3EE">
                <a:alpha val="45000"/>
              </a:srgbClr>
            </a:solidFill>
            <a:prstDash val="solid"/>
          </a:ln>
        </p:spPr>
      </p:sp>
      <p:pic>
        <p:nvPicPr>
          <p:cNvPr id="41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03340" y="4845617"/>
            <a:ext cx="228600" cy="228600"/>
          </a:xfrm>
          <a:prstGeom prst="rect">
            <a:avLst/>
          </a:prstGeom>
        </p:spPr>
      </p:pic>
      <p:sp>
        <p:nvSpPr>
          <p:cNvPr id="42" name="Text 33"/>
          <p:cNvSpPr txBox="1"/>
          <p:nvPr/>
        </p:nvSpPr>
        <p:spPr>
          <a:xfrm>
            <a:off x="7165696" y="4731317"/>
            <a:ext cx="135171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7. Quality words</a:t>
            </a:r>
            <a:endParaRPr lang="en-US" sz="1450" dirty="0"/>
          </a:p>
        </p:txBody>
      </p:sp>
      <p:sp>
        <p:nvSpPr>
          <p:cNvPr id="43" name="Text 34"/>
          <p:cNvSpPr txBox="1"/>
          <p:nvPr/>
        </p:nvSpPr>
        <p:spPr>
          <a:xfrm>
            <a:off x="6507328" y="5334821"/>
            <a:ext cx="201008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Highly detailed, sharp focus, clean vector lines.</a:t>
            </a:r>
            <a:endParaRPr lang="en-US" sz="1200" dirty="0"/>
          </a:p>
        </p:txBody>
      </p:sp>
      <p:sp>
        <p:nvSpPr>
          <p:cNvPr id="44" name="Shape 35"/>
          <p:cNvSpPr/>
          <p:nvPr/>
        </p:nvSpPr>
        <p:spPr>
          <a:xfrm>
            <a:off x="9066047" y="4530149"/>
            <a:ext cx="255872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45" name="Shape 36"/>
          <p:cNvSpPr/>
          <p:nvPr/>
        </p:nvSpPr>
        <p:spPr>
          <a:xfrm>
            <a:off x="9322079" y="4731317"/>
            <a:ext cx="457200" cy="457200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46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36379" y="4845617"/>
            <a:ext cx="228600" cy="228600"/>
          </a:xfrm>
          <a:prstGeom prst="rect">
            <a:avLst/>
          </a:prstGeom>
        </p:spPr>
      </p:pic>
      <p:sp>
        <p:nvSpPr>
          <p:cNvPr id="47" name="Text 37"/>
          <p:cNvSpPr txBox="1"/>
          <p:nvPr/>
        </p:nvSpPr>
        <p:spPr>
          <a:xfrm>
            <a:off x="9998735" y="4731317"/>
            <a:ext cx="135171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Negative prompts</a:t>
            </a:r>
            <a:endParaRPr lang="en-US" sz="1450" dirty="0"/>
          </a:p>
        </p:txBody>
      </p:sp>
      <p:sp>
        <p:nvSpPr>
          <p:cNvPr id="48" name="Text 38"/>
          <p:cNvSpPr txBox="1"/>
          <p:nvPr/>
        </p:nvSpPr>
        <p:spPr>
          <a:xfrm>
            <a:off x="9340367" y="5334821"/>
            <a:ext cx="201008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Some tools let you say what to avoid: "no text, no watermark, no extra hands."</a:t>
            </a:r>
            <a:endParaRPr lang="en-US" sz="1200" dirty="0"/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SLIDE 109 · MISTAKES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Common Image Generation Mistakes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Section 9 · AI Image Generation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125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3503066" cy="2240280"/>
          </a:xfrm>
          <a:prstGeom prst="roundRect">
            <a:avLst>
              <a:gd name="adj" fmla="val 3265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1737360"/>
            <a:ext cx="566928" cy="566928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4692" y="1879092"/>
            <a:ext cx="283464" cy="283464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609344" y="1737360"/>
            <a:ext cx="218633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Prompt too short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841248" y="2505456"/>
            <a:ext cx="2954426" cy="10332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"A dog" gives a random result. Add style, setting and lighting.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344314" y="1481328"/>
            <a:ext cx="3503066" cy="2240280"/>
          </a:xfrm>
          <a:prstGeom prst="roundRect">
            <a:avLst>
              <a:gd name="adj" fmla="val 3265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600346" y="1737360"/>
            <a:ext cx="566928" cy="566928"/>
          </a:xfrm>
          <a:prstGeom prst="ellipse">
            <a:avLst/>
          </a:prstGeom>
          <a:solidFill>
            <a:srgbClr val="22D3EE">
              <a:alpha val="16000"/>
            </a:srgbClr>
          </a:solidFill>
          <a:ln w="12700">
            <a:solidFill>
              <a:srgbClr val="22D3EE">
                <a:alpha val="45000"/>
              </a:srgbClr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2078" y="1879092"/>
            <a:ext cx="283464" cy="283464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5386730" y="1737360"/>
            <a:ext cx="218633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Too many ideas at once</a:t>
            </a:r>
            <a:endParaRPr lang="en-US" sz="1600" dirty="0"/>
          </a:p>
        </p:txBody>
      </p:sp>
      <p:sp>
        <p:nvSpPr>
          <p:cNvPr id="15" name="Text 11"/>
          <p:cNvSpPr txBox="1"/>
          <p:nvPr/>
        </p:nvSpPr>
        <p:spPr>
          <a:xfrm>
            <a:off x="4618634" y="2505456"/>
            <a:ext cx="2954426" cy="10332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Ten unrelated elements in one prompt usually produces a confused image.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8121701" y="1481328"/>
            <a:ext cx="3503066" cy="2240280"/>
          </a:xfrm>
          <a:prstGeom prst="roundRect">
            <a:avLst>
              <a:gd name="adj" fmla="val 3265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377733" y="1737360"/>
            <a:ext cx="566928" cy="566928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9465" y="1879092"/>
            <a:ext cx="283464" cy="283464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9164117" y="1737360"/>
            <a:ext cx="218633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Expecting accurate text</a:t>
            </a:r>
            <a:endParaRPr lang="en-US" sz="1600" dirty="0"/>
          </a:p>
        </p:txBody>
      </p:sp>
      <p:sp>
        <p:nvSpPr>
          <p:cNvPr id="20" name="Text 15"/>
          <p:cNvSpPr txBox="1"/>
          <p:nvPr/>
        </p:nvSpPr>
        <p:spPr>
          <a:xfrm>
            <a:off x="8396021" y="2505456"/>
            <a:ext cx="2954426" cy="10332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Words inside generated images are often misspelled. Add real text afterwards.</a:t>
            </a:r>
            <a:endParaRPr lang="en-US" sz="1300" dirty="0"/>
          </a:p>
        </p:txBody>
      </p:sp>
      <p:sp>
        <p:nvSpPr>
          <p:cNvPr id="21" name="Shape 16"/>
          <p:cNvSpPr/>
          <p:nvPr/>
        </p:nvSpPr>
        <p:spPr>
          <a:xfrm>
            <a:off x="566928" y="3995928"/>
            <a:ext cx="3503066" cy="2240280"/>
          </a:xfrm>
          <a:prstGeom prst="roundRect">
            <a:avLst>
              <a:gd name="adj" fmla="val 3265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822960" y="4251960"/>
            <a:ext cx="566928" cy="566928"/>
          </a:xfrm>
          <a:prstGeom prst="ellipse">
            <a:avLst/>
          </a:prstGeom>
          <a:solidFill>
            <a:srgbClr val="34D399">
              <a:alpha val="16000"/>
            </a:srgbClr>
          </a:solidFill>
          <a:ln w="12700">
            <a:solidFill>
              <a:srgbClr val="34D399">
                <a:alpha val="45000"/>
              </a:srgbClr>
            </a:solidFill>
            <a:prstDash val="solid"/>
          </a:ln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4692" y="4393692"/>
            <a:ext cx="283464" cy="283464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1609344" y="4251960"/>
            <a:ext cx="218633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Giving up after one try</a:t>
            </a:r>
            <a:endParaRPr lang="en-US" sz="1600" dirty="0"/>
          </a:p>
        </p:txBody>
      </p:sp>
      <p:sp>
        <p:nvSpPr>
          <p:cNvPr id="25" name="Text 19"/>
          <p:cNvSpPr txBox="1"/>
          <p:nvPr/>
        </p:nvSpPr>
        <p:spPr>
          <a:xfrm>
            <a:off x="841248" y="5020056"/>
            <a:ext cx="2954426" cy="10332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Professionals generate many versions and refine. The first attempt is rarely the final one.</a:t>
            </a:r>
            <a:endParaRPr lang="en-US" sz="1300" dirty="0"/>
          </a:p>
        </p:txBody>
      </p:sp>
      <p:sp>
        <p:nvSpPr>
          <p:cNvPr id="26" name="Shape 20"/>
          <p:cNvSpPr/>
          <p:nvPr/>
        </p:nvSpPr>
        <p:spPr>
          <a:xfrm>
            <a:off x="4344314" y="3995928"/>
            <a:ext cx="3503066" cy="2240280"/>
          </a:xfrm>
          <a:prstGeom prst="roundRect">
            <a:avLst>
              <a:gd name="adj" fmla="val 3265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4600346" y="4251960"/>
            <a:ext cx="566928" cy="566928"/>
          </a:xfrm>
          <a:prstGeom prst="ellipse">
            <a:avLst/>
          </a:prstGeom>
          <a:solidFill>
            <a:srgbClr val="F472B6">
              <a:alpha val="16000"/>
            </a:srgbClr>
          </a:solidFill>
          <a:ln w="12700">
            <a:solidFill>
              <a:srgbClr val="F472B6">
                <a:alpha val="45000"/>
              </a:srgbClr>
            </a:solidFill>
            <a:prstDash val="solid"/>
          </a:ln>
        </p:spPr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42078" y="4393692"/>
            <a:ext cx="283464" cy="283464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5386730" y="4251960"/>
            <a:ext cx="218633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Expecting exact counts</a:t>
            </a:r>
            <a:endParaRPr lang="en-US" sz="1600" dirty="0"/>
          </a:p>
        </p:txBody>
      </p:sp>
      <p:sp>
        <p:nvSpPr>
          <p:cNvPr id="30" name="Text 23"/>
          <p:cNvSpPr txBox="1"/>
          <p:nvPr/>
        </p:nvSpPr>
        <p:spPr>
          <a:xfrm>
            <a:off x="4618634" y="5020056"/>
            <a:ext cx="2954426" cy="10332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"Exactly seven birds" is unreliable. Models are weak at precise counting.</a:t>
            </a:r>
            <a:endParaRPr lang="en-US" sz="1300" dirty="0"/>
          </a:p>
        </p:txBody>
      </p:sp>
      <p:sp>
        <p:nvSpPr>
          <p:cNvPr id="31" name="Shape 24"/>
          <p:cNvSpPr/>
          <p:nvPr/>
        </p:nvSpPr>
        <p:spPr>
          <a:xfrm>
            <a:off x="8121701" y="3995928"/>
            <a:ext cx="3503066" cy="2240280"/>
          </a:xfrm>
          <a:prstGeom prst="roundRect">
            <a:avLst>
              <a:gd name="adj" fmla="val 3265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8377733" y="4251960"/>
            <a:ext cx="566928" cy="566928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33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19465" y="4393692"/>
            <a:ext cx="283464" cy="283464"/>
          </a:xfrm>
          <a:prstGeom prst="rect">
            <a:avLst/>
          </a:prstGeom>
        </p:spPr>
      </p:pic>
      <p:sp>
        <p:nvSpPr>
          <p:cNvPr id="34" name="Text 26"/>
          <p:cNvSpPr txBox="1"/>
          <p:nvPr/>
        </p:nvSpPr>
        <p:spPr>
          <a:xfrm>
            <a:off x="9164117" y="4251960"/>
            <a:ext cx="218633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Ignoring the licence</a:t>
            </a:r>
            <a:endParaRPr lang="en-US" sz="1600" dirty="0"/>
          </a:p>
        </p:txBody>
      </p:sp>
      <p:sp>
        <p:nvSpPr>
          <p:cNvPr id="35" name="Text 27"/>
          <p:cNvSpPr txBox="1"/>
          <p:nvPr/>
        </p:nvSpPr>
        <p:spPr>
          <a:xfrm>
            <a:off x="8396021" y="5020056"/>
            <a:ext cx="2954426" cy="10332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Commercial use rules differ between tools. Check before using an image in business.</a:t>
            </a:r>
            <a:endParaRPr lang="en-US" sz="1300" dirty="0"/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SLIDE 110 · ETHICS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Responsible AI Image Generation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Section 9 · AI Image Generation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126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11057839" cy="670560"/>
          </a:xfrm>
          <a:prstGeom prst="roundRect">
            <a:avLst>
              <a:gd name="adj" fmla="val 10909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04672" y="1600200"/>
            <a:ext cx="432816" cy="432816"/>
          </a:xfrm>
          <a:prstGeom prst="ellipse">
            <a:avLst/>
          </a:prstGeom>
          <a:solidFill>
            <a:srgbClr val="F472B6">
              <a:alpha val="16000"/>
            </a:srgbClr>
          </a:solidFill>
          <a:ln w="12700">
            <a:solidFill>
              <a:srgbClr val="F472B6">
                <a:alpha val="45000"/>
              </a:srgbClr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2876" y="1708404"/>
            <a:ext cx="216408" cy="216408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475232" y="1591056"/>
            <a:ext cx="9875215" cy="4511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Copyright and style</a:t>
            </a:r>
            <a:endParaRPr lang="en-US" sz="13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Avoid imitating a living artist signature style in a way that could mislead people about authorship.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566928" y="2298192"/>
            <a:ext cx="11057839" cy="670560"/>
          </a:xfrm>
          <a:prstGeom prst="roundRect">
            <a:avLst>
              <a:gd name="adj" fmla="val 10909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804672" y="2417064"/>
            <a:ext cx="432816" cy="432816"/>
          </a:xfrm>
          <a:prstGeom prst="ellipse">
            <a:avLst/>
          </a:prstGeom>
          <a:solidFill>
            <a:srgbClr val="F472B6">
              <a:alpha val="16000"/>
            </a:srgbClr>
          </a:solidFill>
          <a:ln w="12700">
            <a:solidFill>
              <a:srgbClr val="F472B6">
                <a:alpha val="45000"/>
              </a:srgbClr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876" y="2525268"/>
            <a:ext cx="216408" cy="216408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475232" y="2407920"/>
            <a:ext cx="9875215" cy="4511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Consent</a:t>
            </a:r>
            <a:endParaRPr lang="en-US" sz="13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Do not generate images of real identifiable people without their permission.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566928" y="3115056"/>
            <a:ext cx="11057839" cy="670560"/>
          </a:xfrm>
          <a:prstGeom prst="roundRect">
            <a:avLst>
              <a:gd name="adj" fmla="val 10909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04672" y="3233928"/>
            <a:ext cx="432816" cy="432816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2876" y="3342132"/>
            <a:ext cx="216408" cy="216408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475232" y="3224784"/>
            <a:ext cx="9875215" cy="4511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Misleading images</a:t>
            </a:r>
            <a:endParaRPr lang="en-US" sz="13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Never present a generated image as a real photograph of a real event.</a:t>
            </a:r>
            <a:endParaRPr lang="en-US" sz="1350" dirty="0"/>
          </a:p>
        </p:txBody>
      </p:sp>
      <p:sp>
        <p:nvSpPr>
          <p:cNvPr id="18" name="Shape 13"/>
          <p:cNvSpPr/>
          <p:nvPr/>
        </p:nvSpPr>
        <p:spPr>
          <a:xfrm>
            <a:off x="566928" y="3931920"/>
            <a:ext cx="11057839" cy="670560"/>
          </a:xfrm>
          <a:prstGeom prst="roundRect">
            <a:avLst>
              <a:gd name="adj" fmla="val 10909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804672" y="4050792"/>
            <a:ext cx="432816" cy="432816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876" y="4158996"/>
            <a:ext cx="216408" cy="216408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475232" y="4041648"/>
            <a:ext cx="9875215" cy="4511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Deepfakes</a:t>
            </a:r>
            <a:endParaRPr lang="en-US" sz="13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Creating fake images of real people to deceive is harmful and is illegal in many places.</a:t>
            </a:r>
            <a:endParaRPr lang="en-US" sz="1350" dirty="0"/>
          </a:p>
        </p:txBody>
      </p:sp>
      <p:sp>
        <p:nvSpPr>
          <p:cNvPr id="22" name="Shape 16"/>
          <p:cNvSpPr/>
          <p:nvPr/>
        </p:nvSpPr>
        <p:spPr>
          <a:xfrm>
            <a:off x="566928" y="4748784"/>
            <a:ext cx="11057839" cy="670560"/>
          </a:xfrm>
          <a:prstGeom prst="roundRect">
            <a:avLst>
              <a:gd name="adj" fmla="val 10909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804672" y="4867656"/>
            <a:ext cx="432816" cy="432816"/>
          </a:xfrm>
          <a:prstGeom prst="ellipse">
            <a:avLst/>
          </a:prstGeom>
          <a:solidFill>
            <a:srgbClr val="22D3EE">
              <a:alpha val="16000"/>
            </a:srgbClr>
          </a:solidFill>
          <a:ln w="12700">
            <a:solidFill>
              <a:srgbClr val="22D3EE">
                <a:alpha val="45000"/>
              </a:srgbClr>
            </a:solidFill>
            <a:prstDash val="solid"/>
          </a:ln>
        </p:spPr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2876" y="4975860"/>
            <a:ext cx="216408" cy="216408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1475232" y="4858512"/>
            <a:ext cx="9875215" cy="4511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Identity misuse</a:t>
            </a:r>
            <a:endParaRPr lang="en-US" sz="13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Never use generated faces or documents to impersonate someone.</a:t>
            </a:r>
            <a:endParaRPr lang="en-US" sz="1350" dirty="0"/>
          </a:p>
        </p:txBody>
      </p:sp>
      <p:sp>
        <p:nvSpPr>
          <p:cNvPr id="26" name="Shape 19"/>
          <p:cNvSpPr/>
          <p:nvPr/>
        </p:nvSpPr>
        <p:spPr>
          <a:xfrm>
            <a:off x="566928" y="5565648"/>
            <a:ext cx="11057839" cy="670560"/>
          </a:xfrm>
          <a:prstGeom prst="roundRect">
            <a:avLst>
              <a:gd name="adj" fmla="val 10909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7" name="Shape 20"/>
          <p:cNvSpPr/>
          <p:nvPr/>
        </p:nvSpPr>
        <p:spPr>
          <a:xfrm>
            <a:off x="804672" y="5684520"/>
            <a:ext cx="432816" cy="432816"/>
          </a:xfrm>
          <a:prstGeom prst="ellipse">
            <a:avLst/>
          </a:prstGeom>
          <a:solidFill>
            <a:srgbClr val="34D399">
              <a:alpha val="16000"/>
            </a:srgbClr>
          </a:solidFill>
          <a:ln w="12700">
            <a:solidFill>
              <a:srgbClr val="34D399">
                <a:alpha val="45000"/>
              </a:srgbClr>
            </a:solidFill>
            <a:prstDash val="solid"/>
          </a:ln>
        </p:spPr>
      </p:sp>
      <p:pic>
        <p:nvPicPr>
          <p:cNvPr id="28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2876" y="5792724"/>
            <a:ext cx="216408" cy="216408"/>
          </a:xfrm>
          <a:prstGeom prst="rect">
            <a:avLst/>
          </a:prstGeom>
        </p:spPr>
      </p:pic>
      <p:sp>
        <p:nvSpPr>
          <p:cNvPr id="29" name="Text 21"/>
          <p:cNvSpPr txBox="1"/>
          <p:nvPr/>
        </p:nvSpPr>
        <p:spPr>
          <a:xfrm>
            <a:off x="1475232" y="5675376"/>
            <a:ext cx="9875215" cy="4511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Label AI content</a:t>
            </a:r>
            <a:endParaRPr lang="en-US" sz="13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Disclose AI-generated visuals in news, education and any factual setting.</a:t>
            </a:r>
            <a:endParaRPr lang="en-US" sz="1350" dirty="0"/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BBF2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QUIZ 9 · SLIDES 102–110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Quiz 9 — AI Image Generation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Section 9 · AI Image Generation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127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11057839" cy="848563"/>
          </a:xfrm>
          <a:prstGeom prst="roundRect">
            <a:avLst>
              <a:gd name="adj" fmla="val 8621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68096" y="1627632"/>
            <a:ext cx="310896" cy="310896"/>
          </a:xfrm>
          <a:prstGeom prst="ellipse">
            <a:avLst/>
          </a:prstGeom>
          <a:solidFill>
            <a:srgbClr val="FBBF24">
              <a:alpha val="22000"/>
            </a:srgbClr>
          </a:solidFill>
          <a:ln w="12700">
            <a:solidFill>
              <a:srgbClr val="FBBF24">
                <a:alpha val="5000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68096" y="1627632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BBF2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Q1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188720" y="1600200"/>
            <a:ext cx="8726119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Text-to-image means the model creates: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10207447" y="1618488"/>
            <a:ext cx="1371600" cy="347472"/>
          </a:xfrm>
          <a:prstGeom prst="roundRect">
            <a:avLst>
              <a:gd name="adj" fmla="val 15789"/>
            </a:avLst>
          </a:prstGeom>
          <a:solidFill>
            <a:srgbClr val="A78BFA">
              <a:alpha val="20000"/>
            </a:srgbClr>
          </a:solidFill>
          <a:ln w="12700">
            <a:solidFill>
              <a:srgbClr val="A78BFA">
                <a:alpha val="60000"/>
              </a:srgbClr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207447" y="1618488"/>
            <a:ext cx="13716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Answer: A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1115568" y="2011680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A. </a:t>
            </a: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 image from a description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3674288" y="2011680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B. </a:t>
            </a:r>
            <a:r>
              <a:rPr lang="en-US" sz="11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song from an image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6233008" y="2011680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C. </a:t>
            </a:r>
            <a:r>
              <a:rPr lang="en-US" sz="11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Text from a video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8791727" y="2011680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D. </a:t>
            </a:r>
            <a:r>
              <a:rPr lang="en-US" sz="11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Code from a photo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66928" y="2457907"/>
            <a:ext cx="11057839" cy="848563"/>
          </a:xfrm>
          <a:prstGeom prst="roundRect">
            <a:avLst>
              <a:gd name="adj" fmla="val 8621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68096" y="2604211"/>
            <a:ext cx="310896" cy="310896"/>
          </a:xfrm>
          <a:prstGeom prst="ellipse">
            <a:avLst/>
          </a:prstGeom>
          <a:solidFill>
            <a:srgbClr val="FBBF24">
              <a:alpha val="22000"/>
            </a:srgbClr>
          </a:solidFill>
          <a:ln w="12700">
            <a:solidFill>
              <a:srgbClr val="FBBF24">
                <a:alpha val="50000"/>
              </a:srgbClr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68096" y="2604211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BBF2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Q2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1188720" y="2576779"/>
            <a:ext cx="8726119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Diffusion models build an image by: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10207447" y="2595067"/>
            <a:ext cx="1371600" cy="347472"/>
          </a:xfrm>
          <a:prstGeom prst="roundRect">
            <a:avLst>
              <a:gd name="adj" fmla="val 15789"/>
            </a:avLst>
          </a:prstGeom>
          <a:solidFill>
            <a:srgbClr val="A78BFA">
              <a:alpha val="20000"/>
            </a:srgbClr>
          </a:solidFill>
          <a:ln w="12700">
            <a:solidFill>
              <a:srgbClr val="A78BFA">
                <a:alpha val="60000"/>
              </a:srgbClr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0207447" y="2595067"/>
            <a:ext cx="13716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Answer: B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1115568" y="2988259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A. </a:t>
            </a:r>
            <a:r>
              <a:rPr lang="en-US" sz="11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Copying a stored photo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3674288" y="2988259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B. </a:t>
            </a: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Removing noise step by step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6233008" y="2988259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C. </a:t>
            </a:r>
            <a:r>
              <a:rPr lang="en-US" sz="11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Scanning your camera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8791727" y="2988259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D. </a:t>
            </a:r>
            <a:r>
              <a:rPr lang="en-US" sz="11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Downloading from the web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66928" y="3434486"/>
            <a:ext cx="11057839" cy="848563"/>
          </a:xfrm>
          <a:prstGeom prst="roundRect">
            <a:avLst>
              <a:gd name="adj" fmla="val 8621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768096" y="3580790"/>
            <a:ext cx="310896" cy="310896"/>
          </a:xfrm>
          <a:prstGeom prst="ellipse">
            <a:avLst/>
          </a:prstGeom>
          <a:solidFill>
            <a:srgbClr val="FBBF24">
              <a:alpha val="22000"/>
            </a:srgbClr>
          </a:solidFill>
          <a:ln w="12700">
            <a:solidFill>
              <a:srgbClr val="FBBF24">
                <a:alpha val="50000"/>
              </a:srgbClr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68096" y="3580790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BBF2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Q3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1188720" y="3553358"/>
            <a:ext cx="8726119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Which is a known weak spot of image models?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10207447" y="3571646"/>
            <a:ext cx="1371600" cy="347472"/>
          </a:xfrm>
          <a:prstGeom prst="roundRect">
            <a:avLst>
              <a:gd name="adj" fmla="val 15789"/>
            </a:avLst>
          </a:prstGeom>
          <a:solidFill>
            <a:srgbClr val="A78BFA">
              <a:alpha val="20000"/>
            </a:srgbClr>
          </a:solidFill>
          <a:ln w="12700">
            <a:solidFill>
              <a:srgbClr val="A78BFA">
                <a:alpha val="60000"/>
              </a:srgbClr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10207447" y="3571646"/>
            <a:ext cx="13716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Answer: C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1115568" y="3964838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A. </a:t>
            </a:r>
            <a:r>
              <a:rPr lang="en-US" sz="11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Choosing colours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3674288" y="3964838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B. </a:t>
            </a:r>
            <a:r>
              <a:rPr lang="en-US" sz="11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Making a background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6233008" y="3964838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C. </a:t>
            </a: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Text inside the image</a:t>
            </a:r>
            <a:endParaRPr lang="en-US" sz="1050" dirty="0"/>
          </a:p>
        </p:txBody>
      </p:sp>
      <p:sp>
        <p:nvSpPr>
          <p:cNvPr id="35" name="Text 33"/>
          <p:cNvSpPr txBox="1"/>
          <p:nvPr/>
        </p:nvSpPr>
        <p:spPr>
          <a:xfrm>
            <a:off x="8791727" y="3964838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D. </a:t>
            </a:r>
            <a:r>
              <a:rPr lang="en-US" sz="11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Using a wide view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66928" y="4411066"/>
            <a:ext cx="11057839" cy="848563"/>
          </a:xfrm>
          <a:prstGeom prst="roundRect">
            <a:avLst>
              <a:gd name="adj" fmla="val 8621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768096" y="4557370"/>
            <a:ext cx="310896" cy="310896"/>
          </a:xfrm>
          <a:prstGeom prst="ellipse">
            <a:avLst/>
          </a:prstGeom>
          <a:solidFill>
            <a:srgbClr val="FBBF24">
              <a:alpha val="22000"/>
            </a:srgbClr>
          </a:solidFill>
          <a:ln w="12700">
            <a:solidFill>
              <a:srgbClr val="FBBF24">
                <a:alpha val="50000"/>
              </a:srgbClr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768096" y="4557370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BBF2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Q4</a:t>
            </a:r>
            <a:endParaRPr lang="en-US" sz="900" dirty="0"/>
          </a:p>
        </p:txBody>
      </p:sp>
      <p:sp>
        <p:nvSpPr>
          <p:cNvPr id="39" name="Text 37"/>
          <p:cNvSpPr txBox="1"/>
          <p:nvPr/>
        </p:nvSpPr>
        <p:spPr>
          <a:xfrm>
            <a:off x="1188720" y="4529938"/>
            <a:ext cx="8726119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 good image prompt should include:</a:t>
            </a:r>
            <a:endParaRPr lang="en-US" sz="1250" dirty="0"/>
          </a:p>
        </p:txBody>
      </p:sp>
      <p:sp>
        <p:nvSpPr>
          <p:cNvPr id="40" name="Shape 38"/>
          <p:cNvSpPr/>
          <p:nvPr/>
        </p:nvSpPr>
        <p:spPr>
          <a:xfrm>
            <a:off x="10207447" y="4548226"/>
            <a:ext cx="1371600" cy="347472"/>
          </a:xfrm>
          <a:prstGeom prst="roundRect">
            <a:avLst>
              <a:gd name="adj" fmla="val 15789"/>
            </a:avLst>
          </a:prstGeom>
          <a:solidFill>
            <a:srgbClr val="A78BFA">
              <a:alpha val="20000"/>
            </a:srgbClr>
          </a:solidFill>
          <a:ln w="12700">
            <a:solidFill>
              <a:srgbClr val="A78BFA">
                <a:alpha val="60000"/>
              </a:srgbClr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10207447" y="4548226"/>
            <a:ext cx="13716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Answer: D</a:t>
            </a:r>
            <a:endParaRPr lang="en-US" sz="1050" dirty="0"/>
          </a:p>
        </p:txBody>
      </p:sp>
      <p:sp>
        <p:nvSpPr>
          <p:cNvPr id="42" name="Text 40"/>
          <p:cNvSpPr txBox="1"/>
          <p:nvPr/>
        </p:nvSpPr>
        <p:spPr>
          <a:xfrm>
            <a:off x="1115568" y="4941418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A. </a:t>
            </a:r>
            <a:r>
              <a:rPr lang="en-US" sz="11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Only one word</a:t>
            </a:r>
            <a:endParaRPr lang="en-US" sz="1050" dirty="0"/>
          </a:p>
        </p:txBody>
      </p:sp>
      <p:sp>
        <p:nvSpPr>
          <p:cNvPr id="43" name="Text 41"/>
          <p:cNvSpPr txBox="1"/>
          <p:nvPr/>
        </p:nvSpPr>
        <p:spPr>
          <a:xfrm>
            <a:off x="3674288" y="4941418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B. </a:t>
            </a:r>
            <a:r>
              <a:rPr lang="en-US" sz="11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Your password</a:t>
            </a:r>
            <a:endParaRPr lang="en-US" sz="1050" dirty="0"/>
          </a:p>
        </p:txBody>
      </p:sp>
      <p:sp>
        <p:nvSpPr>
          <p:cNvPr id="44" name="Text 42"/>
          <p:cNvSpPr txBox="1"/>
          <p:nvPr/>
        </p:nvSpPr>
        <p:spPr>
          <a:xfrm>
            <a:off x="6233008" y="4941418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C. </a:t>
            </a:r>
            <a:r>
              <a:rPr lang="en-US" sz="11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file size</a:t>
            </a:r>
            <a:endParaRPr lang="en-US" sz="1050" dirty="0"/>
          </a:p>
        </p:txBody>
      </p:sp>
      <p:sp>
        <p:nvSpPr>
          <p:cNvPr id="45" name="Text 43"/>
          <p:cNvSpPr txBox="1"/>
          <p:nvPr/>
        </p:nvSpPr>
        <p:spPr>
          <a:xfrm>
            <a:off x="8791727" y="4941418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D. </a:t>
            </a: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Subject, style and lighting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566928" y="5387645"/>
            <a:ext cx="11057839" cy="848563"/>
          </a:xfrm>
          <a:prstGeom prst="roundRect">
            <a:avLst>
              <a:gd name="adj" fmla="val 8621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768096" y="5533949"/>
            <a:ext cx="310896" cy="310896"/>
          </a:xfrm>
          <a:prstGeom prst="ellipse">
            <a:avLst/>
          </a:prstGeom>
          <a:solidFill>
            <a:srgbClr val="FBBF24">
              <a:alpha val="22000"/>
            </a:srgbClr>
          </a:solidFill>
          <a:ln w="12700">
            <a:solidFill>
              <a:srgbClr val="FBBF24">
                <a:alpha val="50000"/>
              </a:srgbClr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768096" y="5533949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BBF2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Q5</a:t>
            </a:r>
            <a:endParaRPr lang="en-US" sz="900" dirty="0"/>
          </a:p>
        </p:txBody>
      </p:sp>
      <p:sp>
        <p:nvSpPr>
          <p:cNvPr id="49" name="Text 47"/>
          <p:cNvSpPr txBox="1"/>
          <p:nvPr/>
        </p:nvSpPr>
        <p:spPr>
          <a:xfrm>
            <a:off x="1188720" y="5506517"/>
            <a:ext cx="8726119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Generating images of real people requires:</a:t>
            </a:r>
            <a:endParaRPr lang="en-US" sz="1250" dirty="0"/>
          </a:p>
        </p:txBody>
      </p:sp>
      <p:sp>
        <p:nvSpPr>
          <p:cNvPr id="50" name="Shape 48"/>
          <p:cNvSpPr/>
          <p:nvPr/>
        </p:nvSpPr>
        <p:spPr>
          <a:xfrm>
            <a:off x="10207447" y="5524805"/>
            <a:ext cx="1371600" cy="347472"/>
          </a:xfrm>
          <a:prstGeom prst="roundRect">
            <a:avLst>
              <a:gd name="adj" fmla="val 15789"/>
            </a:avLst>
          </a:prstGeom>
          <a:solidFill>
            <a:srgbClr val="A78BFA">
              <a:alpha val="20000"/>
            </a:srgbClr>
          </a:solidFill>
          <a:ln w="12700">
            <a:solidFill>
              <a:srgbClr val="A78BFA">
                <a:alpha val="60000"/>
              </a:srgbClr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10207447" y="5524805"/>
            <a:ext cx="13716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Answer: A</a:t>
            </a:r>
            <a:endParaRPr lang="en-US" sz="1050" dirty="0"/>
          </a:p>
        </p:txBody>
      </p:sp>
      <p:sp>
        <p:nvSpPr>
          <p:cNvPr id="52" name="Text 50"/>
          <p:cNvSpPr txBox="1"/>
          <p:nvPr/>
        </p:nvSpPr>
        <p:spPr>
          <a:xfrm>
            <a:off x="1115568" y="5917997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A. </a:t>
            </a: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Their consent</a:t>
            </a:r>
            <a:endParaRPr lang="en-US" sz="1050" dirty="0"/>
          </a:p>
        </p:txBody>
      </p:sp>
      <p:sp>
        <p:nvSpPr>
          <p:cNvPr id="53" name="Text 51"/>
          <p:cNvSpPr txBox="1"/>
          <p:nvPr/>
        </p:nvSpPr>
        <p:spPr>
          <a:xfrm>
            <a:off x="3674288" y="5917997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B. </a:t>
            </a:r>
            <a:r>
              <a:rPr lang="en-US" sz="11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faster computer</a:t>
            </a:r>
            <a:endParaRPr lang="en-US" sz="1050" dirty="0"/>
          </a:p>
        </p:txBody>
      </p:sp>
      <p:sp>
        <p:nvSpPr>
          <p:cNvPr id="54" name="Text 52"/>
          <p:cNvSpPr txBox="1"/>
          <p:nvPr/>
        </p:nvSpPr>
        <p:spPr>
          <a:xfrm>
            <a:off x="6233008" y="5917997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C. </a:t>
            </a:r>
            <a:r>
              <a:rPr lang="en-US" sz="11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longer prompt</a:t>
            </a:r>
            <a:endParaRPr lang="en-US" sz="1050" dirty="0"/>
          </a:p>
        </p:txBody>
      </p:sp>
      <p:sp>
        <p:nvSpPr>
          <p:cNvPr id="55" name="Text 53"/>
          <p:cNvSpPr txBox="1"/>
          <p:nvPr/>
        </p:nvSpPr>
        <p:spPr>
          <a:xfrm>
            <a:off x="8791727" y="5917997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D. </a:t>
            </a:r>
            <a:r>
              <a:rPr lang="en-US" sz="11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paid account</a:t>
            </a:r>
            <a:endParaRPr lang="en-US" sz="1050" dirty="0"/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49808" y="1874520"/>
            <a:ext cx="58521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SECTION 10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49808" y="2240280"/>
            <a:ext cx="6035040" cy="1554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AI Audio &amp; Speech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749808" y="3886200"/>
            <a:ext cx="5852160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Generating voice and music — and the consent questions that come with them.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49808" y="4846320"/>
            <a:ext cx="1463040" cy="64008"/>
          </a:xfrm>
          <a:prstGeom prst="roundRect">
            <a:avLst>
              <a:gd name="adj" fmla="val 42857"/>
            </a:avLst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32320" y="1143000"/>
            <a:ext cx="4492447" cy="797357"/>
          </a:xfrm>
          <a:prstGeom prst="roundRect">
            <a:avLst>
              <a:gd name="adj" fmla="val 9174"/>
            </a:avLst>
          </a:prstGeom>
          <a:solidFill>
            <a:srgbClr val="191640"/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51776" y="1313078"/>
            <a:ext cx="457200" cy="457200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66076" y="1427378"/>
            <a:ext cx="228600" cy="22860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8010144" y="1143000"/>
            <a:ext cx="3303727" cy="79735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Text-to-Speech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7132320" y="2086661"/>
            <a:ext cx="4492447" cy="797357"/>
          </a:xfrm>
          <a:prstGeom prst="roundRect">
            <a:avLst>
              <a:gd name="adj" fmla="val 9174"/>
            </a:avLst>
          </a:prstGeom>
          <a:solidFill>
            <a:srgbClr val="191640"/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7351776" y="2256739"/>
            <a:ext cx="457200" cy="457200"/>
          </a:xfrm>
          <a:prstGeom prst="ellipse">
            <a:avLst/>
          </a:prstGeom>
          <a:solidFill>
            <a:srgbClr val="22D3EE">
              <a:alpha val="16000"/>
            </a:srgbClr>
          </a:solidFill>
          <a:ln w="12700">
            <a:solidFill>
              <a:srgbClr val="22D3EE">
                <a:alpha val="45000"/>
              </a:srgbClr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6076" y="2371039"/>
            <a:ext cx="228600" cy="22860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8010144" y="2086661"/>
            <a:ext cx="3303727" cy="79735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Speech-to-Text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7132320" y="3030322"/>
            <a:ext cx="4492447" cy="797357"/>
          </a:xfrm>
          <a:prstGeom prst="roundRect">
            <a:avLst>
              <a:gd name="adj" fmla="val 9174"/>
            </a:avLst>
          </a:prstGeom>
          <a:solidFill>
            <a:srgbClr val="191640"/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351776" y="3200400"/>
            <a:ext cx="457200" cy="457200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6076" y="3314700"/>
            <a:ext cx="228600" cy="22860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010144" y="3030322"/>
            <a:ext cx="3303727" cy="79735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AI Music</a:t>
            </a:r>
            <a:endParaRPr lang="en-US" sz="1350" dirty="0"/>
          </a:p>
        </p:txBody>
      </p:sp>
      <p:sp>
        <p:nvSpPr>
          <p:cNvPr id="18" name="Shape 13"/>
          <p:cNvSpPr/>
          <p:nvPr/>
        </p:nvSpPr>
        <p:spPr>
          <a:xfrm>
            <a:off x="7132320" y="3973982"/>
            <a:ext cx="4492447" cy="797357"/>
          </a:xfrm>
          <a:prstGeom prst="roundRect">
            <a:avLst>
              <a:gd name="adj" fmla="val 9174"/>
            </a:avLst>
          </a:prstGeom>
          <a:solidFill>
            <a:srgbClr val="191640"/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7351776" y="4144061"/>
            <a:ext cx="457200" cy="457200"/>
          </a:xfrm>
          <a:prstGeom prst="ellipse">
            <a:avLst/>
          </a:prstGeom>
          <a:solidFill>
            <a:srgbClr val="34D399">
              <a:alpha val="16000"/>
            </a:srgbClr>
          </a:solidFill>
          <a:ln w="12700">
            <a:solidFill>
              <a:srgbClr val="34D399">
                <a:alpha val="45000"/>
              </a:srgbClr>
            </a:solidFill>
            <a:prstDash val="solid"/>
          </a:ln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66076" y="4258361"/>
            <a:ext cx="228600" cy="22860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8010144" y="3973982"/>
            <a:ext cx="3303727" cy="79735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Voice Cloning</a:t>
            </a:r>
            <a:endParaRPr lang="en-US" sz="1350" dirty="0"/>
          </a:p>
        </p:txBody>
      </p:sp>
      <p:sp>
        <p:nvSpPr>
          <p:cNvPr id="22" name="Shape 16"/>
          <p:cNvSpPr/>
          <p:nvPr/>
        </p:nvSpPr>
        <p:spPr>
          <a:xfrm>
            <a:off x="7132320" y="4917643"/>
            <a:ext cx="4492447" cy="797357"/>
          </a:xfrm>
          <a:prstGeom prst="roundRect">
            <a:avLst>
              <a:gd name="adj" fmla="val 9174"/>
            </a:avLst>
          </a:prstGeom>
          <a:solidFill>
            <a:srgbClr val="191640"/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7351776" y="5087722"/>
            <a:ext cx="457200" cy="457200"/>
          </a:xfrm>
          <a:prstGeom prst="ellipse">
            <a:avLst/>
          </a:prstGeom>
          <a:solidFill>
            <a:srgbClr val="F472B6">
              <a:alpha val="16000"/>
            </a:srgbClr>
          </a:solidFill>
          <a:ln w="12700">
            <a:solidFill>
              <a:srgbClr val="F472B6">
                <a:alpha val="45000"/>
              </a:srgbClr>
            </a:solidFill>
            <a:prstDash val="solid"/>
          </a:ln>
        </p:spPr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66076" y="5202022"/>
            <a:ext cx="228600" cy="228600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8010144" y="4917643"/>
            <a:ext cx="3303727" cy="79735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Responsible Use</a:t>
            </a:r>
            <a:endParaRPr lang="en-US" sz="1350" dirty="0"/>
          </a:p>
        </p:txBody>
      </p:sp>
      <p:sp>
        <p:nvSpPr>
          <p:cNvPr id="26" name="Text 19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Section 10 · AI Audio &amp; Speech</a:t>
            </a:r>
            <a:endParaRPr lang="en-US" sz="950" dirty="0"/>
          </a:p>
        </p:txBody>
      </p:sp>
      <p:sp>
        <p:nvSpPr>
          <p:cNvPr id="27" name="Text 20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128</a:t>
            </a:r>
            <a:endParaRPr lang="en-US" sz="950" dirty="0"/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SLIDE 111 · DEFINITION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What is Generative Audio?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Section 10 · AI Audio &amp; Speech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129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11057839" cy="877824"/>
          </a:xfrm>
          <a:prstGeom prst="roundRect">
            <a:avLst>
              <a:gd name="adj" fmla="val 8333"/>
            </a:avLst>
          </a:prstGeom>
          <a:solidFill>
            <a:srgbClr val="191640">
              <a:alpha val="96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6928" y="1627632"/>
            <a:ext cx="64008" cy="585216"/>
          </a:xfrm>
          <a:prstGeom prst="roundRect">
            <a:avLst>
              <a:gd name="adj" fmla="val 42857"/>
            </a:avLst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59536" y="1572768"/>
            <a:ext cx="10472623" cy="6949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DDD9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Generative audio means AI creating sound: speech, music or sound effects.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66928" y="2615184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22960" y="2816352"/>
            <a:ext cx="457200" cy="457200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2930652"/>
            <a:ext cx="228600" cy="22860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499616" y="2816352"/>
            <a:ext cx="41847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Main Types</a:t>
            </a:r>
            <a:endParaRPr lang="en-US" sz="1450" dirty="0"/>
          </a:p>
        </p:txBody>
      </p:sp>
      <p:sp>
        <p:nvSpPr>
          <p:cNvPr id="13" name="Text 10"/>
          <p:cNvSpPr txBox="1"/>
          <p:nvPr/>
        </p:nvSpPr>
        <p:spPr>
          <a:xfrm>
            <a:off x="841248" y="3419856"/>
            <a:ext cx="484312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200"/>
              </a:spcAft>
              <a:buSzPct val="100000"/>
              <a:buChar char="▪"/>
            </a:pPr>
            <a:r>
              <a:rPr lang="en-US" sz="9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Text-to-speech (reading text aloud)</a:t>
            </a:r>
            <a:endParaRPr lang="en-US" sz="900" dirty="0"/>
          </a:p>
          <a:p>
            <a:pPr marL="342900" indent="-342900">
              <a:lnSpc>
                <a:spcPct val="110000"/>
              </a:lnSpc>
              <a:spcAft>
                <a:spcPts val="200"/>
              </a:spcAft>
              <a:buSzPct val="100000"/>
              <a:buChar char="▪"/>
            </a:pPr>
            <a:r>
              <a:rPr lang="en-US" sz="9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Speech-to-text (transcription)</a:t>
            </a:r>
            <a:endParaRPr lang="en-US" sz="900" dirty="0"/>
          </a:p>
          <a:p>
            <a:pPr marL="342900" indent="-342900">
              <a:lnSpc>
                <a:spcPct val="110000"/>
              </a:lnSpc>
              <a:spcAft>
                <a:spcPts val="200"/>
              </a:spcAft>
              <a:buSzPct val="100000"/>
              <a:buChar char="▪"/>
            </a:pPr>
            <a:r>
              <a:rPr lang="en-US" sz="9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Voice generation and cloning</a:t>
            </a:r>
            <a:endParaRPr lang="en-US" sz="900" dirty="0"/>
          </a:p>
          <a:p>
            <a:pPr marL="342900" indent="-342900">
              <a:lnSpc>
                <a:spcPct val="110000"/>
              </a:lnSpc>
              <a:spcAft>
                <a:spcPts val="200"/>
              </a:spcAft>
              <a:buSzPct val="100000"/>
              <a:buChar char="▪"/>
            </a:pPr>
            <a:r>
              <a:rPr lang="en-US" sz="9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Music and sound effects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6233008" y="2615184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489040" y="2816352"/>
            <a:ext cx="457200" cy="457200"/>
          </a:xfrm>
          <a:prstGeom prst="ellipse">
            <a:avLst/>
          </a:prstGeom>
          <a:solidFill>
            <a:srgbClr val="22D3EE">
              <a:alpha val="16000"/>
            </a:srgbClr>
          </a:solidFill>
          <a:ln w="12700">
            <a:solidFill>
              <a:srgbClr val="22D3EE">
                <a:alpha val="45000"/>
              </a:srgbClr>
            </a:solidFill>
            <a:prstDash val="solid"/>
          </a:ln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3340" y="2930652"/>
            <a:ext cx="228600" cy="22860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7165696" y="2816352"/>
            <a:ext cx="41847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How It Works</a:t>
            </a:r>
            <a:endParaRPr lang="en-US" sz="1450" dirty="0"/>
          </a:p>
        </p:txBody>
      </p:sp>
      <p:sp>
        <p:nvSpPr>
          <p:cNvPr id="18" name="Text 14"/>
          <p:cNvSpPr txBox="1"/>
          <p:nvPr/>
        </p:nvSpPr>
        <p:spPr>
          <a:xfrm>
            <a:off x="6507328" y="3419856"/>
            <a:ext cx="484312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Audio is turned into numbers representing sound over time. Models learn those patterns and generate new ones.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566928" y="4530149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822960" y="4731317"/>
            <a:ext cx="457200" cy="457200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260" y="4845617"/>
            <a:ext cx="228600" cy="22860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499616" y="4731317"/>
            <a:ext cx="41847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Everyday Example</a:t>
            </a:r>
            <a:endParaRPr lang="en-US" sz="1450" dirty="0"/>
          </a:p>
        </p:txBody>
      </p:sp>
      <p:sp>
        <p:nvSpPr>
          <p:cNvPr id="23" name="Text 18"/>
          <p:cNvSpPr txBox="1"/>
          <p:nvPr/>
        </p:nvSpPr>
        <p:spPr>
          <a:xfrm>
            <a:off x="841248" y="5334821"/>
            <a:ext cx="484312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Automatic captions on a video, and navigation apps reading directions aloud.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6233008" y="4530149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6489040" y="4731317"/>
            <a:ext cx="457200" cy="457200"/>
          </a:xfrm>
          <a:prstGeom prst="ellipse">
            <a:avLst/>
          </a:prstGeom>
          <a:solidFill>
            <a:srgbClr val="34D399">
              <a:alpha val="16000"/>
            </a:srgbClr>
          </a:solidFill>
          <a:ln w="12700">
            <a:solidFill>
              <a:srgbClr val="34D399">
                <a:alpha val="45000"/>
              </a:srgbClr>
            </a:solidFill>
            <a:prstDash val="solid"/>
          </a:ln>
        </p:spPr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3340" y="4845617"/>
            <a:ext cx="228600" cy="228600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7165696" y="4731317"/>
            <a:ext cx="41847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The Big Caution</a:t>
            </a:r>
            <a:endParaRPr lang="en-US" sz="1450" dirty="0"/>
          </a:p>
        </p:txBody>
      </p:sp>
      <p:sp>
        <p:nvSpPr>
          <p:cNvPr id="28" name="Text 22"/>
          <p:cNvSpPr txBox="1"/>
          <p:nvPr/>
        </p:nvSpPr>
        <p:spPr>
          <a:xfrm>
            <a:off x="6507328" y="5334821"/>
            <a:ext cx="484312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Voice is used to identify people. Generated voice creates real risk of impersonation.</a:t>
            </a:r>
            <a:endParaRPr lang="en-US" sz="1200" dirty="0"/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SLIDE 112 · TASK 1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Text-to-Speech (TTS)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Section 10 · AI Audio &amp; Speech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130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11057839" cy="877824"/>
          </a:xfrm>
          <a:prstGeom prst="roundRect">
            <a:avLst>
              <a:gd name="adj" fmla="val 8333"/>
            </a:avLst>
          </a:prstGeom>
          <a:solidFill>
            <a:srgbClr val="191640">
              <a:alpha val="96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6928" y="1627632"/>
            <a:ext cx="64008" cy="585216"/>
          </a:xfrm>
          <a:prstGeom prst="roundRect">
            <a:avLst>
              <a:gd name="adj" fmla="val 42857"/>
            </a:avLst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59536" y="1572768"/>
            <a:ext cx="10472623" cy="6949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DDD9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Text-to-speech converts written text into spoken audio.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66928" y="2615184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22960" y="2816352"/>
            <a:ext cx="457200" cy="457200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2930652"/>
            <a:ext cx="228600" cy="22860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499616" y="2816352"/>
            <a:ext cx="41847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How Far It Has Come</a:t>
            </a:r>
            <a:endParaRPr lang="en-US" sz="1450" dirty="0"/>
          </a:p>
        </p:txBody>
      </p:sp>
      <p:sp>
        <p:nvSpPr>
          <p:cNvPr id="13" name="Text 10"/>
          <p:cNvSpPr txBox="1"/>
          <p:nvPr/>
        </p:nvSpPr>
        <p:spPr>
          <a:xfrm>
            <a:off x="841248" y="3419856"/>
            <a:ext cx="484312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Older systems sounded robotic. Modern models produce natural rhythm, pauses and emotion.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33008" y="2615184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489040" y="2816352"/>
            <a:ext cx="457200" cy="457200"/>
          </a:xfrm>
          <a:prstGeom prst="ellipse">
            <a:avLst/>
          </a:prstGeom>
          <a:solidFill>
            <a:srgbClr val="22D3EE">
              <a:alpha val="16000"/>
            </a:srgbClr>
          </a:solidFill>
          <a:ln w="12700">
            <a:solidFill>
              <a:srgbClr val="22D3EE">
                <a:alpha val="45000"/>
              </a:srgbClr>
            </a:solidFill>
            <a:prstDash val="solid"/>
          </a:ln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3340" y="2930652"/>
            <a:ext cx="228600" cy="22860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7165696" y="2816352"/>
            <a:ext cx="41847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Accessibility</a:t>
            </a:r>
            <a:endParaRPr lang="en-US" sz="1450" dirty="0"/>
          </a:p>
        </p:txBody>
      </p:sp>
      <p:sp>
        <p:nvSpPr>
          <p:cNvPr id="18" name="Text 14"/>
          <p:cNvSpPr txBox="1"/>
          <p:nvPr/>
        </p:nvSpPr>
        <p:spPr>
          <a:xfrm>
            <a:off x="6507328" y="3419856"/>
            <a:ext cx="484312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It is genuinely life-changing for people with visual impairment or reading difficulties.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566928" y="4530149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822960" y="4731317"/>
            <a:ext cx="457200" cy="457200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260" y="4845617"/>
            <a:ext cx="228600" cy="22860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499616" y="4731317"/>
            <a:ext cx="41847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Practical Uses</a:t>
            </a:r>
            <a:endParaRPr lang="en-US" sz="1450" dirty="0"/>
          </a:p>
        </p:txBody>
      </p:sp>
      <p:sp>
        <p:nvSpPr>
          <p:cNvPr id="23" name="Text 18"/>
          <p:cNvSpPr txBox="1"/>
          <p:nvPr/>
        </p:nvSpPr>
        <p:spPr>
          <a:xfrm>
            <a:off x="841248" y="5334821"/>
            <a:ext cx="484312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200"/>
              </a:spcAft>
              <a:buSzPct val="100000"/>
              <a:buChar char="▪"/>
            </a:pPr>
            <a:r>
              <a:rPr lang="en-US" sz="9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Audio versions of study notes</a:t>
            </a:r>
            <a:endParaRPr lang="en-US" sz="900" dirty="0"/>
          </a:p>
          <a:p>
            <a:pPr marL="342900" indent="-342900">
              <a:lnSpc>
                <a:spcPct val="110000"/>
              </a:lnSpc>
              <a:spcAft>
                <a:spcPts val="200"/>
              </a:spcAft>
              <a:buSzPct val="100000"/>
              <a:buChar char="▪"/>
            </a:pPr>
            <a:r>
              <a:rPr lang="en-US" sz="9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Narration for videos</a:t>
            </a:r>
            <a:endParaRPr lang="en-US" sz="900" dirty="0"/>
          </a:p>
          <a:p>
            <a:pPr marL="342900" indent="-342900">
              <a:lnSpc>
                <a:spcPct val="110000"/>
              </a:lnSpc>
              <a:spcAft>
                <a:spcPts val="200"/>
              </a:spcAft>
              <a:buSzPct val="100000"/>
              <a:buChar char="▪"/>
            </a:pPr>
            <a:r>
              <a:rPr lang="en-US" sz="9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Announcements and IVR systems</a:t>
            </a:r>
            <a:endParaRPr lang="en-US" sz="900" dirty="0"/>
          </a:p>
          <a:p>
            <a:pPr marL="342900" indent="-342900">
              <a:lnSpc>
                <a:spcPct val="110000"/>
              </a:lnSpc>
              <a:spcAft>
                <a:spcPts val="200"/>
              </a:spcAft>
              <a:buSzPct val="100000"/>
              <a:buChar char="▪"/>
            </a:pPr>
            <a:r>
              <a:rPr lang="en-US" sz="9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Language pronunciation practice</a:t>
            </a:r>
            <a:endParaRPr lang="en-US" sz="900" dirty="0"/>
          </a:p>
        </p:txBody>
      </p:sp>
      <p:sp>
        <p:nvSpPr>
          <p:cNvPr id="24" name="Shape 19"/>
          <p:cNvSpPr/>
          <p:nvPr/>
        </p:nvSpPr>
        <p:spPr>
          <a:xfrm>
            <a:off x="6233008" y="4530149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6489040" y="4731317"/>
            <a:ext cx="457200" cy="457200"/>
          </a:xfrm>
          <a:prstGeom prst="ellipse">
            <a:avLst/>
          </a:prstGeom>
          <a:solidFill>
            <a:srgbClr val="34D399">
              <a:alpha val="16000"/>
            </a:srgbClr>
          </a:solidFill>
          <a:ln w="12700">
            <a:solidFill>
              <a:srgbClr val="34D399">
                <a:alpha val="45000"/>
              </a:srgbClr>
            </a:solidFill>
            <a:prstDash val="solid"/>
          </a:ln>
        </p:spPr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3340" y="4845617"/>
            <a:ext cx="228600" cy="228600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7165696" y="4731317"/>
            <a:ext cx="41847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What You Can Control</a:t>
            </a:r>
            <a:endParaRPr lang="en-US" sz="1450" dirty="0"/>
          </a:p>
        </p:txBody>
      </p:sp>
      <p:sp>
        <p:nvSpPr>
          <p:cNvPr id="28" name="Text 22"/>
          <p:cNvSpPr txBox="1"/>
          <p:nvPr/>
        </p:nvSpPr>
        <p:spPr>
          <a:xfrm>
            <a:off x="6507328" y="5334821"/>
            <a:ext cx="484312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Voice, speed, pitch, language and sometimes emotional tone.</a:t>
            </a:r>
            <a:endParaRPr lang="en-US" sz="1200" dirty="0"/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SLIDE 113 · TASK 2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Speech-to-Text (STT)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Section 10 · AI Audio &amp; Speech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131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11057839" cy="877824"/>
          </a:xfrm>
          <a:prstGeom prst="roundRect">
            <a:avLst>
              <a:gd name="adj" fmla="val 8333"/>
            </a:avLst>
          </a:prstGeom>
          <a:solidFill>
            <a:srgbClr val="191640">
              <a:alpha val="96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6928" y="1627632"/>
            <a:ext cx="64008" cy="585216"/>
          </a:xfrm>
          <a:prstGeom prst="roundRect">
            <a:avLst>
              <a:gd name="adj" fmla="val 42857"/>
            </a:avLst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59536" y="1572768"/>
            <a:ext cx="10472623" cy="6949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DDD9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Speech-to-text converts spoken audio into written text. It is also called transcription.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66928" y="2615184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22960" y="2816352"/>
            <a:ext cx="457200" cy="457200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2930652"/>
            <a:ext cx="228600" cy="22860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499616" y="2816352"/>
            <a:ext cx="41847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Common Uses</a:t>
            </a:r>
            <a:endParaRPr lang="en-US" sz="1450" dirty="0"/>
          </a:p>
        </p:txBody>
      </p:sp>
      <p:sp>
        <p:nvSpPr>
          <p:cNvPr id="13" name="Text 10"/>
          <p:cNvSpPr txBox="1"/>
          <p:nvPr/>
        </p:nvSpPr>
        <p:spPr>
          <a:xfrm>
            <a:off x="841248" y="3419856"/>
            <a:ext cx="484312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200"/>
              </a:spcAft>
              <a:buSzPct val="100000"/>
              <a:buChar char="▪"/>
            </a:pPr>
            <a:r>
              <a:rPr lang="en-US" sz="9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Meeting transcripts</a:t>
            </a:r>
            <a:endParaRPr lang="en-US" sz="900" dirty="0"/>
          </a:p>
          <a:p>
            <a:pPr marL="342900" indent="-342900">
              <a:lnSpc>
                <a:spcPct val="110000"/>
              </a:lnSpc>
              <a:spcAft>
                <a:spcPts val="200"/>
              </a:spcAft>
              <a:buSzPct val="100000"/>
              <a:buChar char="▪"/>
            </a:pPr>
            <a:r>
              <a:rPr lang="en-US" sz="9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Video subtitles</a:t>
            </a:r>
            <a:endParaRPr lang="en-US" sz="900" dirty="0"/>
          </a:p>
          <a:p>
            <a:pPr marL="342900" indent="-342900">
              <a:lnSpc>
                <a:spcPct val="110000"/>
              </a:lnSpc>
              <a:spcAft>
                <a:spcPts val="200"/>
              </a:spcAft>
              <a:buSzPct val="100000"/>
              <a:buChar char="▪"/>
            </a:pPr>
            <a:r>
              <a:rPr lang="en-US" sz="9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Voice notes to text</a:t>
            </a:r>
            <a:endParaRPr lang="en-US" sz="900" dirty="0"/>
          </a:p>
          <a:p>
            <a:pPr marL="342900" indent="-342900">
              <a:lnSpc>
                <a:spcPct val="110000"/>
              </a:lnSpc>
              <a:spcAft>
                <a:spcPts val="200"/>
              </a:spcAft>
              <a:buSzPct val="100000"/>
              <a:buChar char="▪"/>
            </a:pPr>
            <a:r>
              <a:rPr lang="en-US" sz="9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Voice commands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6233008" y="2615184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489040" y="2816352"/>
            <a:ext cx="457200" cy="457200"/>
          </a:xfrm>
          <a:prstGeom prst="ellipse">
            <a:avLst/>
          </a:prstGeom>
          <a:solidFill>
            <a:srgbClr val="22D3EE">
              <a:alpha val="16000"/>
            </a:srgbClr>
          </a:solidFill>
          <a:ln w="12700">
            <a:solidFill>
              <a:srgbClr val="22D3EE">
                <a:alpha val="45000"/>
              </a:srgbClr>
            </a:solidFill>
            <a:prstDash val="solid"/>
          </a:ln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3340" y="2930652"/>
            <a:ext cx="228600" cy="22860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7165696" y="2816352"/>
            <a:ext cx="41847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Powerful Combination</a:t>
            </a:r>
            <a:endParaRPr lang="en-US" sz="1450" dirty="0"/>
          </a:p>
        </p:txBody>
      </p:sp>
      <p:sp>
        <p:nvSpPr>
          <p:cNvPr id="18" name="Text 14"/>
          <p:cNvSpPr txBox="1"/>
          <p:nvPr/>
        </p:nvSpPr>
        <p:spPr>
          <a:xfrm>
            <a:off x="6507328" y="3419856"/>
            <a:ext cx="484312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Transcribe a meeting, then ask an LLM to summarise the transcript into decisions and action items.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566928" y="4530149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822960" y="4731317"/>
            <a:ext cx="457200" cy="457200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260" y="4845617"/>
            <a:ext cx="228600" cy="22860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499616" y="4731317"/>
            <a:ext cx="41847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Accuracy Varies</a:t>
            </a:r>
            <a:endParaRPr lang="en-US" sz="1450" dirty="0"/>
          </a:p>
        </p:txBody>
      </p:sp>
      <p:sp>
        <p:nvSpPr>
          <p:cNvPr id="23" name="Text 18"/>
          <p:cNvSpPr txBox="1"/>
          <p:nvPr/>
        </p:nvSpPr>
        <p:spPr>
          <a:xfrm>
            <a:off x="841248" y="5334821"/>
            <a:ext cx="484312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Strong accents, background noise, technical terms and multiple speakers all reduce accuracy.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6233008" y="4530149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6489040" y="4731317"/>
            <a:ext cx="457200" cy="457200"/>
          </a:xfrm>
          <a:prstGeom prst="ellipse">
            <a:avLst/>
          </a:prstGeom>
          <a:solidFill>
            <a:srgbClr val="34D399">
              <a:alpha val="16000"/>
            </a:srgbClr>
          </a:solidFill>
          <a:ln w="12700">
            <a:solidFill>
              <a:srgbClr val="34D399">
                <a:alpha val="45000"/>
              </a:srgbClr>
            </a:solidFill>
            <a:prstDash val="solid"/>
          </a:ln>
        </p:spPr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3340" y="4845617"/>
            <a:ext cx="228600" cy="228600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7165696" y="4731317"/>
            <a:ext cx="41847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Privacy</a:t>
            </a:r>
            <a:endParaRPr lang="en-US" sz="1450" dirty="0"/>
          </a:p>
        </p:txBody>
      </p:sp>
      <p:sp>
        <p:nvSpPr>
          <p:cNvPr id="28" name="Text 22"/>
          <p:cNvSpPr txBox="1"/>
          <p:nvPr/>
        </p:nvSpPr>
        <p:spPr>
          <a:xfrm>
            <a:off x="6507328" y="5334821"/>
            <a:ext cx="484312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Recording people needs consent. Meeting audio often contains confidential information.</a:t>
            </a:r>
            <a:endParaRPr lang="en-US" sz="1200" dirty="0"/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SLIDE 114 · TASK 3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AI Voice Generation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Section 10 · AI Audio &amp; Speech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132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11057839" cy="877824"/>
          </a:xfrm>
          <a:prstGeom prst="roundRect">
            <a:avLst>
              <a:gd name="adj" fmla="val 8333"/>
            </a:avLst>
          </a:prstGeom>
          <a:solidFill>
            <a:srgbClr val="191640">
              <a:alpha val="96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6928" y="1627632"/>
            <a:ext cx="64008" cy="585216"/>
          </a:xfrm>
          <a:prstGeom prst="roundRect">
            <a:avLst>
              <a:gd name="adj" fmla="val 42857"/>
            </a:avLst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59536" y="1572768"/>
            <a:ext cx="10472623" cy="6949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DDD9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 can produce a synthetic voice that does not belong to any real person.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66928" y="2615184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22960" y="2816352"/>
            <a:ext cx="457200" cy="457200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2930652"/>
            <a:ext cx="228600" cy="22860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499616" y="2816352"/>
            <a:ext cx="41847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Synthetic Voices</a:t>
            </a:r>
            <a:endParaRPr lang="en-US" sz="1450" dirty="0"/>
          </a:p>
        </p:txBody>
      </p:sp>
      <p:sp>
        <p:nvSpPr>
          <p:cNvPr id="13" name="Text 10"/>
          <p:cNvSpPr txBox="1"/>
          <p:nvPr/>
        </p:nvSpPr>
        <p:spPr>
          <a:xfrm>
            <a:off x="841248" y="3419856"/>
            <a:ext cx="484312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Designed voices used for narration, characters and assistants, with no real person involved.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33008" y="2615184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489040" y="2816352"/>
            <a:ext cx="457200" cy="457200"/>
          </a:xfrm>
          <a:prstGeom prst="ellipse">
            <a:avLst/>
          </a:prstGeom>
          <a:solidFill>
            <a:srgbClr val="22D3EE">
              <a:alpha val="16000"/>
            </a:srgbClr>
          </a:solidFill>
          <a:ln w="12700">
            <a:solidFill>
              <a:srgbClr val="22D3EE">
                <a:alpha val="45000"/>
              </a:srgbClr>
            </a:solidFill>
            <a:prstDash val="solid"/>
          </a:ln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3340" y="2930652"/>
            <a:ext cx="228600" cy="22860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7165696" y="2816352"/>
            <a:ext cx="41847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Multiple Languages</a:t>
            </a:r>
            <a:endParaRPr lang="en-US" sz="1450" dirty="0"/>
          </a:p>
        </p:txBody>
      </p:sp>
      <p:sp>
        <p:nvSpPr>
          <p:cNvPr id="18" name="Text 14"/>
          <p:cNvSpPr txBox="1"/>
          <p:nvPr/>
        </p:nvSpPr>
        <p:spPr>
          <a:xfrm>
            <a:off x="6507328" y="3419856"/>
            <a:ext cx="484312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same synthetic voice can speak several languages, useful for training content.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566928" y="4530149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822960" y="4731317"/>
            <a:ext cx="457200" cy="457200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260" y="4845617"/>
            <a:ext cx="228600" cy="22860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499616" y="4731317"/>
            <a:ext cx="41847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Where It Is Used</a:t>
            </a:r>
            <a:endParaRPr lang="en-US" sz="1450" dirty="0"/>
          </a:p>
        </p:txBody>
      </p:sp>
      <p:sp>
        <p:nvSpPr>
          <p:cNvPr id="23" name="Text 18"/>
          <p:cNvSpPr txBox="1"/>
          <p:nvPr/>
        </p:nvSpPr>
        <p:spPr>
          <a:xfrm>
            <a:off x="841248" y="5334821"/>
            <a:ext cx="484312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E-learning courses, audiobooks, game characters, product demos and advertisements.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6233008" y="4530149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6489040" y="4731317"/>
            <a:ext cx="457200" cy="457200"/>
          </a:xfrm>
          <a:prstGeom prst="ellipse">
            <a:avLst/>
          </a:prstGeom>
          <a:solidFill>
            <a:srgbClr val="34D399">
              <a:alpha val="16000"/>
            </a:srgbClr>
          </a:solidFill>
          <a:ln w="12700">
            <a:solidFill>
              <a:srgbClr val="34D399">
                <a:alpha val="45000"/>
              </a:srgbClr>
            </a:solidFill>
            <a:prstDash val="solid"/>
          </a:ln>
        </p:spPr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3340" y="4845617"/>
            <a:ext cx="228600" cy="228600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7165696" y="4731317"/>
            <a:ext cx="41847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Industry Concern</a:t>
            </a:r>
            <a:endParaRPr lang="en-US" sz="1450" dirty="0"/>
          </a:p>
        </p:txBody>
      </p:sp>
      <p:sp>
        <p:nvSpPr>
          <p:cNvPr id="28" name="Text 22"/>
          <p:cNvSpPr txBox="1"/>
          <p:nvPr/>
        </p:nvSpPr>
        <p:spPr>
          <a:xfrm>
            <a:off x="6507328" y="5334821"/>
            <a:ext cx="484312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Voice artists have raised fair concerns about consent, credit and payment. Respect those rights.</a:t>
            </a:r>
            <a:endParaRPr lang="en-US" sz="1200" dirty="0"/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SLIDE 115 · TASK 4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AI Music Generation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Section 10 · AI Audio &amp; Speech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133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11057839" cy="877824"/>
          </a:xfrm>
          <a:prstGeom prst="roundRect">
            <a:avLst>
              <a:gd name="adj" fmla="val 8333"/>
            </a:avLst>
          </a:prstGeom>
          <a:solidFill>
            <a:srgbClr val="191640">
              <a:alpha val="96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6928" y="1627632"/>
            <a:ext cx="64008" cy="585216"/>
          </a:xfrm>
          <a:prstGeom prst="roundRect">
            <a:avLst>
              <a:gd name="adj" fmla="val 42857"/>
            </a:avLst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59536" y="1572768"/>
            <a:ext cx="10472623" cy="6949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DDD9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 can compose music from a text description of style, mood and instruments.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66928" y="2615184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22960" y="2816352"/>
            <a:ext cx="457200" cy="457200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2930652"/>
            <a:ext cx="228600" cy="22860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499616" y="2816352"/>
            <a:ext cx="41847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How You Prompt It</a:t>
            </a:r>
            <a:endParaRPr lang="en-US" sz="1450" dirty="0"/>
          </a:p>
        </p:txBody>
      </p:sp>
      <p:sp>
        <p:nvSpPr>
          <p:cNvPr id="13" name="Text 10"/>
          <p:cNvSpPr txBox="1"/>
          <p:nvPr/>
        </p:nvSpPr>
        <p:spPr>
          <a:xfrm>
            <a:off x="841248" y="3419856"/>
            <a:ext cx="484312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"Calm acoustic guitar background track, 60 seconds, no vocals, gentle and hopeful."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33008" y="2615184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489040" y="2816352"/>
            <a:ext cx="457200" cy="457200"/>
          </a:xfrm>
          <a:prstGeom prst="ellipse">
            <a:avLst/>
          </a:prstGeom>
          <a:solidFill>
            <a:srgbClr val="22D3EE">
              <a:alpha val="16000"/>
            </a:srgbClr>
          </a:solidFill>
          <a:ln w="12700">
            <a:solidFill>
              <a:srgbClr val="22D3EE">
                <a:alpha val="45000"/>
              </a:srgbClr>
            </a:solidFill>
            <a:prstDash val="solid"/>
          </a:ln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3340" y="2930652"/>
            <a:ext cx="228600" cy="22860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7165696" y="2816352"/>
            <a:ext cx="41847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Practical Uses</a:t>
            </a:r>
            <a:endParaRPr lang="en-US" sz="1450" dirty="0"/>
          </a:p>
        </p:txBody>
      </p:sp>
      <p:sp>
        <p:nvSpPr>
          <p:cNvPr id="18" name="Text 14"/>
          <p:cNvSpPr txBox="1"/>
          <p:nvPr/>
        </p:nvSpPr>
        <p:spPr>
          <a:xfrm>
            <a:off x="6507328" y="3419856"/>
            <a:ext cx="484312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Background tracks for videos, presentations, games and prototypes, without licensing complications.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566928" y="4530149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822960" y="4731317"/>
            <a:ext cx="457200" cy="457200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260" y="4845617"/>
            <a:ext cx="228600" cy="22860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499616" y="4731317"/>
            <a:ext cx="41847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For Musicians</a:t>
            </a:r>
            <a:endParaRPr lang="en-US" sz="1450" dirty="0"/>
          </a:p>
        </p:txBody>
      </p:sp>
      <p:sp>
        <p:nvSpPr>
          <p:cNvPr id="23" name="Text 18"/>
          <p:cNvSpPr txBox="1"/>
          <p:nvPr/>
        </p:nvSpPr>
        <p:spPr>
          <a:xfrm>
            <a:off x="841248" y="5334821"/>
            <a:ext cx="484312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Useful for idea generation and quick demos, not as a replacement for composition.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6233008" y="4530149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6489040" y="4731317"/>
            <a:ext cx="457200" cy="457200"/>
          </a:xfrm>
          <a:prstGeom prst="ellipse">
            <a:avLst/>
          </a:prstGeom>
          <a:solidFill>
            <a:srgbClr val="34D399">
              <a:alpha val="16000"/>
            </a:srgbClr>
          </a:solidFill>
          <a:ln w="12700">
            <a:solidFill>
              <a:srgbClr val="34D399">
                <a:alpha val="45000"/>
              </a:srgbClr>
            </a:solidFill>
            <a:prstDash val="solid"/>
          </a:ln>
        </p:spPr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3340" y="4845617"/>
            <a:ext cx="228600" cy="228600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7165696" y="4731317"/>
            <a:ext cx="41847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Rights Question</a:t>
            </a:r>
            <a:endParaRPr lang="en-US" sz="1450" dirty="0"/>
          </a:p>
        </p:txBody>
      </p:sp>
      <p:sp>
        <p:nvSpPr>
          <p:cNvPr id="28" name="Text 22"/>
          <p:cNvSpPr txBox="1"/>
          <p:nvPr/>
        </p:nvSpPr>
        <p:spPr>
          <a:xfrm>
            <a:off x="6507328" y="5334821"/>
            <a:ext cx="484312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the training data contained, and who owns the output, are still actively debated. Check the tool licence.</a:t>
            </a:r>
            <a:endParaRPr lang="en-US" sz="1200" dirty="0"/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SLIDE 116 · USES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Audio Applications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Section 10 · AI Audio &amp; Speech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134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3503066" cy="2240280"/>
          </a:xfrm>
          <a:prstGeom prst="roundRect">
            <a:avLst>
              <a:gd name="adj" fmla="val 3265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1737360"/>
            <a:ext cx="566928" cy="566928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4692" y="1879092"/>
            <a:ext cx="283464" cy="283464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609344" y="1737360"/>
            <a:ext cx="218633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Education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841248" y="2505456"/>
            <a:ext cx="2954426" cy="10332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Audio notes, narrated lessons and support for learners with reading difficulties.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344314" y="1481328"/>
            <a:ext cx="3503066" cy="2240280"/>
          </a:xfrm>
          <a:prstGeom prst="roundRect">
            <a:avLst>
              <a:gd name="adj" fmla="val 3265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600346" y="1737360"/>
            <a:ext cx="566928" cy="566928"/>
          </a:xfrm>
          <a:prstGeom prst="ellipse">
            <a:avLst/>
          </a:prstGeom>
          <a:solidFill>
            <a:srgbClr val="22D3EE">
              <a:alpha val="16000"/>
            </a:srgbClr>
          </a:solidFill>
          <a:ln w="12700">
            <a:solidFill>
              <a:srgbClr val="22D3EE">
                <a:alpha val="45000"/>
              </a:srgbClr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2078" y="1879092"/>
            <a:ext cx="283464" cy="283464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5386730" y="1737360"/>
            <a:ext cx="218633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Customer service</a:t>
            </a:r>
            <a:endParaRPr lang="en-US" sz="1600" dirty="0"/>
          </a:p>
        </p:txBody>
      </p:sp>
      <p:sp>
        <p:nvSpPr>
          <p:cNvPr id="15" name="Text 11"/>
          <p:cNvSpPr txBox="1"/>
          <p:nvPr/>
        </p:nvSpPr>
        <p:spPr>
          <a:xfrm>
            <a:off x="4618634" y="2505456"/>
            <a:ext cx="2954426" cy="10332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Voice assistants and automatic call transcription for quality review.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8121701" y="1481328"/>
            <a:ext cx="3503066" cy="2240280"/>
          </a:xfrm>
          <a:prstGeom prst="roundRect">
            <a:avLst>
              <a:gd name="adj" fmla="val 3265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377733" y="1737360"/>
            <a:ext cx="566928" cy="566928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9465" y="1879092"/>
            <a:ext cx="283464" cy="283464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9164117" y="1737360"/>
            <a:ext cx="218633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Media production</a:t>
            </a:r>
            <a:endParaRPr lang="en-US" sz="1600" dirty="0"/>
          </a:p>
        </p:txBody>
      </p:sp>
      <p:sp>
        <p:nvSpPr>
          <p:cNvPr id="20" name="Text 15"/>
          <p:cNvSpPr txBox="1"/>
          <p:nvPr/>
        </p:nvSpPr>
        <p:spPr>
          <a:xfrm>
            <a:off x="8396021" y="2505456"/>
            <a:ext cx="2954426" cy="10332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Narration, dubbing and rapid draft voice-overs.</a:t>
            </a:r>
            <a:endParaRPr lang="en-US" sz="1300" dirty="0"/>
          </a:p>
        </p:txBody>
      </p:sp>
      <p:sp>
        <p:nvSpPr>
          <p:cNvPr id="21" name="Shape 16"/>
          <p:cNvSpPr/>
          <p:nvPr/>
        </p:nvSpPr>
        <p:spPr>
          <a:xfrm>
            <a:off x="566928" y="3995928"/>
            <a:ext cx="3503066" cy="2240280"/>
          </a:xfrm>
          <a:prstGeom prst="roundRect">
            <a:avLst>
              <a:gd name="adj" fmla="val 3265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822960" y="4251960"/>
            <a:ext cx="566928" cy="566928"/>
          </a:xfrm>
          <a:prstGeom prst="ellipse">
            <a:avLst/>
          </a:prstGeom>
          <a:solidFill>
            <a:srgbClr val="34D399">
              <a:alpha val="16000"/>
            </a:srgbClr>
          </a:solidFill>
          <a:ln w="12700">
            <a:solidFill>
              <a:srgbClr val="34D399">
                <a:alpha val="45000"/>
              </a:srgbClr>
            </a:solidFill>
            <a:prstDash val="solid"/>
          </a:ln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4692" y="4393692"/>
            <a:ext cx="283464" cy="283464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1609344" y="4251960"/>
            <a:ext cx="218633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Business meetings</a:t>
            </a:r>
            <a:endParaRPr lang="en-US" sz="1600" dirty="0"/>
          </a:p>
        </p:txBody>
      </p:sp>
      <p:sp>
        <p:nvSpPr>
          <p:cNvPr id="25" name="Text 19"/>
          <p:cNvSpPr txBox="1"/>
          <p:nvPr/>
        </p:nvSpPr>
        <p:spPr>
          <a:xfrm>
            <a:off x="841248" y="5020056"/>
            <a:ext cx="2954426" cy="10332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Automatic transcripts turned into summaries and action lists.</a:t>
            </a:r>
            <a:endParaRPr lang="en-US" sz="1300" dirty="0"/>
          </a:p>
        </p:txBody>
      </p:sp>
      <p:sp>
        <p:nvSpPr>
          <p:cNvPr id="26" name="Shape 20"/>
          <p:cNvSpPr/>
          <p:nvPr/>
        </p:nvSpPr>
        <p:spPr>
          <a:xfrm>
            <a:off x="4344314" y="3995928"/>
            <a:ext cx="3503066" cy="2240280"/>
          </a:xfrm>
          <a:prstGeom prst="roundRect">
            <a:avLst>
              <a:gd name="adj" fmla="val 3265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4600346" y="4251960"/>
            <a:ext cx="566928" cy="566928"/>
          </a:xfrm>
          <a:prstGeom prst="ellipse">
            <a:avLst/>
          </a:prstGeom>
          <a:solidFill>
            <a:srgbClr val="F472B6">
              <a:alpha val="16000"/>
            </a:srgbClr>
          </a:solidFill>
          <a:ln w="12700">
            <a:solidFill>
              <a:srgbClr val="F472B6">
                <a:alpha val="45000"/>
              </a:srgbClr>
            </a:solidFill>
            <a:prstDash val="solid"/>
          </a:ln>
        </p:spPr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42078" y="4393692"/>
            <a:ext cx="283464" cy="283464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5386730" y="4251960"/>
            <a:ext cx="218633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Accessibility</a:t>
            </a:r>
            <a:endParaRPr lang="en-US" sz="1600" dirty="0"/>
          </a:p>
        </p:txBody>
      </p:sp>
      <p:sp>
        <p:nvSpPr>
          <p:cNvPr id="30" name="Text 23"/>
          <p:cNvSpPr txBox="1"/>
          <p:nvPr/>
        </p:nvSpPr>
        <p:spPr>
          <a:xfrm>
            <a:off x="4618634" y="5020056"/>
            <a:ext cx="2954426" cy="10332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Captions for the deaf and hard of hearing, speech output for the blind.</a:t>
            </a:r>
            <a:endParaRPr lang="en-US" sz="1300" dirty="0"/>
          </a:p>
        </p:txBody>
      </p:sp>
      <p:sp>
        <p:nvSpPr>
          <p:cNvPr id="31" name="Shape 24"/>
          <p:cNvSpPr/>
          <p:nvPr/>
        </p:nvSpPr>
        <p:spPr>
          <a:xfrm>
            <a:off x="8121701" y="3995928"/>
            <a:ext cx="3503066" cy="2240280"/>
          </a:xfrm>
          <a:prstGeom prst="roundRect">
            <a:avLst>
              <a:gd name="adj" fmla="val 3265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8377733" y="4251960"/>
            <a:ext cx="566928" cy="566928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33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19465" y="4393692"/>
            <a:ext cx="283464" cy="283464"/>
          </a:xfrm>
          <a:prstGeom prst="rect">
            <a:avLst/>
          </a:prstGeom>
        </p:spPr>
      </p:pic>
      <p:sp>
        <p:nvSpPr>
          <p:cNvPr id="34" name="Text 26"/>
          <p:cNvSpPr txBox="1"/>
          <p:nvPr/>
        </p:nvSpPr>
        <p:spPr>
          <a:xfrm>
            <a:off x="9164117" y="4251960"/>
            <a:ext cx="218633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Language learning</a:t>
            </a:r>
            <a:endParaRPr lang="en-US" sz="1600" dirty="0"/>
          </a:p>
        </p:txBody>
      </p:sp>
      <p:sp>
        <p:nvSpPr>
          <p:cNvPr id="35" name="Text 27"/>
          <p:cNvSpPr txBox="1"/>
          <p:nvPr/>
        </p:nvSpPr>
        <p:spPr>
          <a:xfrm>
            <a:off x="8396021" y="5020056"/>
            <a:ext cx="2954426" cy="10332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Pronunciation feedback and listening practice at any level.</a:t>
            </a:r>
            <a:endParaRPr lang="en-US" sz="1300" dirty="0"/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SLIDE 117 · SENSITIVE TOPIC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Voice Cloning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Section 10 · AI Audio &amp; Speech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135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11057839" cy="877824"/>
          </a:xfrm>
          <a:prstGeom prst="roundRect">
            <a:avLst>
              <a:gd name="adj" fmla="val 8333"/>
            </a:avLst>
          </a:prstGeom>
          <a:solidFill>
            <a:srgbClr val="191640">
              <a:alpha val="96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6928" y="1627632"/>
            <a:ext cx="64008" cy="585216"/>
          </a:xfrm>
          <a:prstGeom prst="roundRect">
            <a:avLst>
              <a:gd name="adj" fmla="val 42857"/>
            </a:avLst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59536" y="1572768"/>
            <a:ext cx="10472623" cy="6949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DDD9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Voice cloning means creating a synthetic copy of a specific real person's voice.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66928" y="2615184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22960" y="2816352"/>
            <a:ext cx="457200" cy="457200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2930652"/>
            <a:ext cx="228600" cy="22860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499616" y="2816352"/>
            <a:ext cx="41847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What It Is</a:t>
            </a:r>
            <a:endParaRPr lang="en-US" sz="1450" dirty="0"/>
          </a:p>
        </p:txBody>
      </p:sp>
      <p:sp>
        <p:nvSpPr>
          <p:cNvPr id="13" name="Text 10"/>
          <p:cNvSpPr txBox="1"/>
          <p:nvPr/>
        </p:nvSpPr>
        <p:spPr>
          <a:xfrm>
            <a:off x="841248" y="3419856"/>
            <a:ext cx="484312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model learns the characteristics of one voice from recordings and can then speak new sentences in that voice.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33008" y="2615184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489040" y="2816352"/>
            <a:ext cx="457200" cy="457200"/>
          </a:xfrm>
          <a:prstGeom prst="ellipse">
            <a:avLst/>
          </a:prstGeom>
          <a:solidFill>
            <a:srgbClr val="22D3EE">
              <a:alpha val="16000"/>
            </a:srgbClr>
          </a:solidFill>
          <a:ln w="12700">
            <a:solidFill>
              <a:srgbClr val="22D3EE">
                <a:alpha val="45000"/>
              </a:srgbClr>
            </a:solidFill>
            <a:prstDash val="solid"/>
          </a:ln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3340" y="2930652"/>
            <a:ext cx="228600" cy="22860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7165696" y="2816352"/>
            <a:ext cx="41847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Legitimate Uses</a:t>
            </a:r>
            <a:endParaRPr lang="en-US" sz="1450" dirty="0"/>
          </a:p>
        </p:txBody>
      </p:sp>
      <p:sp>
        <p:nvSpPr>
          <p:cNvPr id="18" name="Text 14"/>
          <p:cNvSpPr txBox="1"/>
          <p:nvPr/>
        </p:nvSpPr>
        <p:spPr>
          <a:xfrm>
            <a:off x="6507328" y="3419856"/>
            <a:ext cx="484312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 audiobook narrator licensing their own voice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Restoring speech for someone who lost it through illness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Official dubbing with the actor agreement</a:t>
            </a:r>
            <a:endParaRPr lang="en-US" sz="1150" dirty="0"/>
          </a:p>
        </p:txBody>
      </p:sp>
      <p:sp>
        <p:nvSpPr>
          <p:cNvPr id="19" name="Shape 15"/>
          <p:cNvSpPr/>
          <p:nvPr/>
        </p:nvSpPr>
        <p:spPr>
          <a:xfrm>
            <a:off x="566928" y="4530149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822960" y="4731317"/>
            <a:ext cx="457200" cy="457200"/>
          </a:xfrm>
          <a:prstGeom prst="ellipse">
            <a:avLst/>
          </a:prstGeom>
          <a:solidFill>
            <a:srgbClr val="F472B6">
              <a:alpha val="16000"/>
            </a:srgbClr>
          </a:solidFill>
          <a:ln w="12700">
            <a:solidFill>
              <a:srgbClr val="F472B6">
                <a:alpha val="45000"/>
              </a:srgbClr>
            </a:solidFill>
            <a:prstDash val="solid"/>
          </a:ln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260" y="4845617"/>
            <a:ext cx="228600" cy="22860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499616" y="4731317"/>
            <a:ext cx="41847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Consent Is Mandatory</a:t>
            </a:r>
            <a:endParaRPr lang="en-US" sz="1450" dirty="0"/>
          </a:p>
        </p:txBody>
      </p:sp>
      <p:sp>
        <p:nvSpPr>
          <p:cNvPr id="23" name="Text 18"/>
          <p:cNvSpPr txBox="1"/>
          <p:nvPr/>
        </p:nvSpPr>
        <p:spPr>
          <a:xfrm>
            <a:off x="841248" y="5334821"/>
            <a:ext cx="484312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Cloning a voice needs clear, informed, documented permission from that person. This is not optional.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6233008" y="4530149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6489040" y="4731317"/>
            <a:ext cx="457200" cy="457200"/>
          </a:xfrm>
          <a:prstGeom prst="ellipse">
            <a:avLst/>
          </a:prstGeom>
          <a:solidFill>
            <a:srgbClr val="F472B6">
              <a:alpha val="16000"/>
            </a:srgbClr>
          </a:solidFill>
          <a:ln w="12700">
            <a:solidFill>
              <a:srgbClr val="F472B6">
                <a:alpha val="45000"/>
              </a:srgbClr>
            </a:solidFill>
            <a:prstDash val="solid"/>
          </a:ln>
        </p:spPr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3340" y="4845617"/>
            <a:ext cx="228600" cy="228600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7165696" y="4731317"/>
            <a:ext cx="41847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The Serious Risk</a:t>
            </a:r>
            <a:endParaRPr lang="en-US" sz="1450" dirty="0"/>
          </a:p>
        </p:txBody>
      </p:sp>
      <p:sp>
        <p:nvSpPr>
          <p:cNvPr id="28" name="Text 22"/>
          <p:cNvSpPr txBox="1"/>
          <p:nvPr/>
        </p:nvSpPr>
        <p:spPr>
          <a:xfrm>
            <a:off x="6507328" y="5334821"/>
            <a:ext cx="484312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Cloned voices are used in fraud, such as fake calls pretending to be a family member in trouble.</a:t>
            </a:r>
            <a:endParaRPr lang="en-US" sz="1200" dirty="0"/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SLIDE 118 · RISKS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Risks of AI-Generated Audio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Section 10 · AI Audio &amp; Speech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136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11057839" cy="670560"/>
          </a:xfrm>
          <a:prstGeom prst="roundRect">
            <a:avLst>
              <a:gd name="adj" fmla="val 10909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04672" y="1600200"/>
            <a:ext cx="432816" cy="432816"/>
          </a:xfrm>
          <a:prstGeom prst="ellipse">
            <a:avLst/>
          </a:prstGeom>
          <a:solidFill>
            <a:srgbClr val="F472B6">
              <a:alpha val="16000"/>
            </a:srgbClr>
          </a:solidFill>
          <a:ln w="12700">
            <a:solidFill>
              <a:srgbClr val="F472B6">
                <a:alpha val="45000"/>
              </a:srgbClr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2876" y="1708404"/>
            <a:ext cx="216408" cy="216408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475232" y="1591056"/>
            <a:ext cx="9875215" cy="4511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Voice fraud</a:t>
            </a:r>
            <a:endParaRPr lang="en-US" sz="13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caller sounds exactly like a relative asking urgently for money. Agree a family code word in advance.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566928" y="2298192"/>
            <a:ext cx="11057839" cy="670560"/>
          </a:xfrm>
          <a:prstGeom prst="roundRect">
            <a:avLst>
              <a:gd name="adj" fmla="val 10909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804672" y="2417064"/>
            <a:ext cx="432816" cy="432816"/>
          </a:xfrm>
          <a:prstGeom prst="ellipse">
            <a:avLst/>
          </a:prstGeom>
          <a:solidFill>
            <a:srgbClr val="F472B6">
              <a:alpha val="16000"/>
            </a:srgbClr>
          </a:solidFill>
          <a:ln w="12700">
            <a:solidFill>
              <a:srgbClr val="F472B6">
                <a:alpha val="45000"/>
              </a:srgbClr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876" y="2525268"/>
            <a:ext cx="216408" cy="216408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475232" y="2407920"/>
            <a:ext cx="9875215" cy="4511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Bypassing voice ID</a:t>
            </a:r>
            <a:endParaRPr lang="en-US" sz="13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Voice alone is no longer strong proof of identity. Systems need additional checks.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566928" y="3115056"/>
            <a:ext cx="11057839" cy="670560"/>
          </a:xfrm>
          <a:prstGeom prst="roundRect">
            <a:avLst>
              <a:gd name="adj" fmla="val 10909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04672" y="3233928"/>
            <a:ext cx="432816" cy="432816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2876" y="3342132"/>
            <a:ext cx="216408" cy="216408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475232" y="3224784"/>
            <a:ext cx="9875215" cy="4511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Fake statements</a:t>
            </a:r>
            <a:endParaRPr lang="en-US" sz="13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Audio can be produced of someone appearing to say things they never said.</a:t>
            </a:r>
            <a:endParaRPr lang="en-US" sz="1350" dirty="0"/>
          </a:p>
        </p:txBody>
      </p:sp>
      <p:sp>
        <p:nvSpPr>
          <p:cNvPr id="18" name="Shape 13"/>
          <p:cNvSpPr/>
          <p:nvPr/>
        </p:nvSpPr>
        <p:spPr>
          <a:xfrm>
            <a:off x="566928" y="3931920"/>
            <a:ext cx="11057839" cy="670560"/>
          </a:xfrm>
          <a:prstGeom prst="roundRect">
            <a:avLst>
              <a:gd name="adj" fmla="val 10909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804672" y="4050792"/>
            <a:ext cx="432816" cy="432816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876" y="4158996"/>
            <a:ext cx="216408" cy="216408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475232" y="4041648"/>
            <a:ext cx="9875215" cy="4511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Consent and livelihood</a:t>
            </a:r>
            <a:endParaRPr lang="en-US" sz="13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Voices used without permission harm the people whose work created them.</a:t>
            </a:r>
            <a:endParaRPr lang="en-US" sz="1350" dirty="0"/>
          </a:p>
        </p:txBody>
      </p:sp>
      <p:sp>
        <p:nvSpPr>
          <p:cNvPr id="22" name="Shape 16"/>
          <p:cNvSpPr/>
          <p:nvPr/>
        </p:nvSpPr>
        <p:spPr>
          <a:xfrm>
            <a:off x="566928" y="4748784"/>
            <a:ext cx="11057839" cy="670560"/>
          </a:xfrm>
          <a:prstGeom prst="roundRect">
            <a:avLst>
              <a:gd name="adj" fmla="val 10909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804672" y="4867656"/>
            <a:ext cx="432816" cy="432816"/>
          </a:xfrm>
          <a:prstGeom prst="ellipse">
            <a:avLst/>
          </a:prstGeom>
          <a:solidFill>
            <a:srgbClr val="22D3EE">
              <a:alpha val="16000"/>
            </a:srgbClr>
          </a:solidFill>
          <a:ln w="12700">
            <a:solidFill>
              <a:srgbClr val="22D3EE">
                <a:alpha val="45000"/>
              </a:srgbClr>
            </a:solidFill>
            <a:prstDash val="solid"/>
          </a:ln>
        </p:spPr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2876" y="4975860"/>
            <a:ext cx="216408" cy="216408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1475232" y="4858512"/>
            <a:ext cx="9875215" cy="4511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Hard to detect</a:t>
            </a:r>
            <a:endParaRPr lang="en-US" sz="13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Quality has improved to the point where listening alone is often not enough to tell.</a:t>
            </a:r>
            <a:endParaRPr lang="en-US" sz="1350" dirty="0"/>
          </a:p>
        </p:txBody>
      </p:sp>
      <p:sp>
        <p:nvSpPr>
          <p:cNvPr id="26" name="Shape 19"/>
          <p:cNvSpPr/>
          <p:nvPr/>
        </p:nvSpPr>
        <p:spPr>
          <a:xfrm>
            <a:off x="566928" y="5565648"/>
            <a:ext cx="11057839" cy="670560"/>
          </a:xfrm>
          <a:prstGeom prst="roundRect">
            <a:avLst>
              <a:gd name="adj" fmla="val 10909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7" name="Shape 20"/>
          <p:cNvSpPr/>
          <p:nvPr/>
        </p:nvSpPr>
        <p:spPr>
          <a:xfrm>
            <a:off x="804672" y="5684520"/>
            <a:ext cx="432816" cy="432816"/>
          </a:xfrm>
          <a:prstGeom prst="ellipse">
            <a:avLst/>
          </a:prstGeom>
          <a:solidFill>
            <a:srgbClr val="34D399">
              <a:alpha val="16000"/>
            </a:srgbClr>
          </a:solidFill>
          <a:ln w="12700">
            <a:solidFill>
              <a:srgbClr val="34D399">
                <a:alpha val="45000"/>
              </a:srgbClr>
            </a:solidFill>
            <a:prstDash val="solid"/>
          </a:ln>
        </p:spPr>
      </p:sp>
      <p:pic>
        <p:nvPicPr>
          <p:cNvPr id="28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2876" y="5792724"/>
            <a:ext cx="216408" cy="216408"/>
          </a:xfrm>
          <a:prstGeom prst="rect">
            <a:avLst/>
          </a:prstGeom>
        </p:spPr>
      </p:pic>
      <p:sp>
        <p:nvSpPr>
          <p:cNvPr id="29" name="Text 21"/>
          <p:cNvSpPr txBox="1"/>
          <p:nvPr/>
        </p:nvSpPr>
        <p:spPr>
          <a:xfrm>
            <a:off x="1475232" y="5675376"/>
            <a:ext cx="9875215" cy="4511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What protects you</a:t>
            </a:r>
            <a:endParaRPr lang="en-US" sz="13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Verify through a second channel: call back on a known number before acting on any urgent request.</a:t>
            </a:r>
            <a:endParaRPr lang="en-US" sz="1350" dirty="0"/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SLIDE 119 · GOOD PRACTICE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Responsible AI Audio Use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Section 10 · AI Audio &amp; Speech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137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11057839" cy="670560"/>
          </a:xfrm>
          <a:prstGeom prst="roundRect">
            <a:avLst>
              <a:gd name="adj" fmla="val 10909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04672" y="1600200"/>
            <a:ext cx="432816" cy="432816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2876" y="1708404"/>
            <a:ext cx="216408" cy="216408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475232" y="1591056"/>
            <a:ext cx="9875215" cy="4511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Always get consent</a:t>
            </a:r>
            <a:endParaRPr lang="en-US" sz="13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Written permission before cloning or recording any real person voice.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566928" y="2298192"/>
            <a:ext cx="11057839" cy="670560"/>
          </a:xfrm>
          <a:prstGeom prst="roundRect">
            <a:avLst>
              <a:gd name="adj" fmla="val 10909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804672" y="2417064"/>
            <a:ext cx="432816" cy="432816"/>
          </a:xfrm>
          <a:prstGeom prst="ellipse">
            <a:avLst/>
          </a:prstGeom>
          <a:solidFill>
            <a:srgbClr val="22D3EE">
              <a:alpha val="16000"/>
            </a:srgbClr>
          </a:solidFill>
          <a:ln w="12700">
            <a:solidFill>
              <a:srgbClr val="22D3EE">
                <a:alpha val="45000"/>
              </a:srgbClr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876" y="2525268"/>
            <a:ext cx="216408" cy="216408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475232" y="2407920"/>
            <a:ext cx="9875215" cy="4511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Disclose synthetic audio</a:t>
            </a:r>
            <a:endParaRPr lang="en-US" sz="13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Tell listeners when a voice is AI-generated, especially in news and education.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566928" y="3115056"/>
            <a:ext cx="11057839" cy="670560"/>
          </a:xfrm>
          <a:prstGeom prst="roundRect">
            <a:avLst>
              <a:gd name="adj" fmla="val 10909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04672" y="3233928"/>
            <a:ext cx="432816" cy="432816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2876" y="3342132"/>
            <a:ext cx="216408" cy="216408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475232" y="3224784"/>
            <a:ext cx="9875215" cy="4511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Never impersonate</a:t>
            </a:r>
            <a:endParaRPr lang="en-US" sz="13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Do not create audio that pretends to be a specific real person without their agreement.</a:t>
            </a:r>
            <a:endParaRPr lang="en-US" sz="1350" dirty="0"/>
          </a:p>
        </p:txBody>
      </p:sp>
      <p:sp>
        <p:nvSpPr>
          <p:cNvPr id="18" name="Shape 13"/>
          <p:cNvSpPr/>
          <p:nvPr/>
        </p:nvSpPr>
        <p:spPr>
          <a:xfrm>
            <a:off x="566928" y="3931920"/>
            <a:ext cx="11057839" cy="670560"/>
          </a:xfrm>
          <a:prstGeom prst="roundRect">
            <a:avLst>
              <a:gd name="adj" fmla="val 10909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804672" y="4050792"/>
            <a:ext cx="432816" cy="432816"/>
          </a:xfrm>
          <a:prstGeom prst="ellipse">
            <a:avLst/>
          </a:prstGeom>
          <a:solidFill>
            <a:srgbClr val="34D399">
              <a:alpha val="16000"/>
            </a:srgbClr>
          </a:solidFill>
          <a:ln w="12700">
            <a:solidFill>
              <a:srgbClr val="34D399">
                <a:alpha val="45000"/>
              </a:srgbClr>
            </a:solidFill>
            <a:prstDash val="solid"/>
          </a:ln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876" y="4158996"/>
            <a:ext cx="216408" cy="216408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475232" y="4041648"/>
            <a:ext cx="9875215" cy="4511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Respect voice artists</a:t>
            </a:r>
            <a:endParaRPr lang="en-US" sz="13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Licence voices properly and credit the people involved.</a:t>
            </a:r>
            <a:endParaRPr lang="en-US" sz="1350" dirty="0"/>
          </a:p>
        </p:txBody>
      </p:sp>
      <p:sp>
        <p:nvSpPr>
          <p:cNvPr id="22" name="Shape 16"/>
          <p:cNvSpPr/>
          <p:nvPr/>
        </p:nvSpPr>
        <p:spPr>
          <a:xfrm>
            <a:off x="566928" y="4748784"/>
            <a:ext cx="11057839" cy="670560"/>
          </a:xfrm>
          <a:prstGeom prst="roundRect">
            <a:avLst>
              <a:gd name="adj" fmla="val 10909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804672" y="4867656"/>
            <a:ext cx="432816" cy="432816"/>
          </a:xfrm>
          <a:prstGeom prst="ellipse">
            <a:avLst/>
          </a:prstGeom>
          <a:solidFill>
            <a:srgbClr val="F472B6">
              <a:alpha val="16000"/>
            </a:srgbClr>
          </a:solidFill>
          <a:ln w="12700">
            <a:solidFill>
              <a:srgbClr val="F472B6">
                <a:alpha val="45000"/>
              </a:srgbClr>
            </a:solidFill>
            <a:prstDash val="solid"/>
          </a:ln>
        </p:spPr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2876" y="4975860"/>
            <a:ext cx="216408" cy="216408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1475232" y="4858512"/>
            <a:ext cx="9875215" cy="4511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Protect recordings</a:t>
            </a:r>
            <a:endParaRPr lang="en-US" sz="13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Voice data is personal data. Store and delete it according to policy.</a:t>
            </a:r>
            <a:endParaRPr lang="en-US" sz="1350" dirty="0"/>
          </a:p>
        </p:txBody>
      </p:sp>
      <p:sp>
        <p:nvSpPr>
          <p:cNvPr id="26" name="Shape 19"/>
          <p:cNvSpPr/>
          <p:nvPr/>
        </p:nvSpPr>
        <p:spPr>
          <a:xfrm>
            <a:off x="566928" y="5565648"/>
            <a:ext cx="11057839" cy="670560"/>
          </a:xfrm>
          <a:prstGeom prst="roundRect">
            <a:avLst>
              <a:gd name="adj" fmla="val 10909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7" name="Shape 20"/>
          <p:cNvSpPr/>
          <p:nvPr/>
        </p:nvSpPr>
        <p:spPr>
          <a:xfrm>
            <a:off x="804672" y="5684520"/>
            <a:ext cx="432816" cy="432816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28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2876" y="5792724"/>
            <a:ext cx="216408" cy="216408"/>
          </a:xfrm>
          <a:prstGeom prst="rect">
            <a:avLst/>
          </a:prstGeom>
        </p:spPr>
      </p:pic>
      <p:sp>
        <p:nvSpPr>
          <p:cNvPr id="29" name="Text 21"/>
          <p:cNvSpPr txBox="1"/>
          <p:nvPr/>
        </p:nvSpPr>
        <p:spPr>
          <a:xfrm>
            <a:off x="1475232" y="5675376"/>
            <a:ext cx="9875215" cy="4511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Teach your family</a:t>
            </a:r>
            <a:endParaRPr lang="en-US" sz="13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Explain voice-fraud calls to parents and grandparents. Awareness is the strongest defence.</a:t>
            </a:r>
            <a:endParaRPr lang="en-US" sz="1350" dirty="0"/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BBF2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QUIZ 10 · SLIDES 111–119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Quiz 10 — AI Audio &amp; Speech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Section 10 · AI Audio &amp; Speech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138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11057839" cy="848563"/>
          </a:xfrm>
          <a:prstGeom prst="roundRect">
            <a:avLst>
              <a:gd name="adj" fmla="val 8621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68096" y="1627632"/>
            <a:ext cx="310896" cy="310896"/>
          </a:xfrm>
          <a:prstGeom prst="ellipse">
            <a:avLst/>
          </a:prstGeom>
          <a:solidFill>
            <a:srgbClr val="FBBF24">
              <a:alpha val="22000"/>
            </a:srgbClr>
          </a:solidFill>
          <a:ln w="12700">
            <a:solidFill>
              <a:srgbClr val="FBBF24">
                <a:alpha val="5000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68096" y="1627632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BBF2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Q1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188720" y="1600200"/>
            <a:ext cx="8726119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Text-to-speech converts: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10207447" y="1618488"/>
            <a:ext cx="1371600" cy="347472"/>
          </a:xfrm>
          <a:prstGeom prst="roundRect">
            <a:avLst>
              <a:gd name="adj" fmla="val 15789"/>
            </a:avLst>
          </a:prstGeom>
          <a:solidFill>
            <a:srgbClr val="A78BFA">
              <a:alpha val="20000"/>
            </a:srgbClr>
          </a:solidFill>
          <a:ln w="12700">
            <a:solidFill>
              <a:srgbClr val="A78BFA">
                <a:alpha val="60000"/>
              </a:srgbClr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207447" y="1618488"/>
            <a:ext cx="13716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Answer: B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1115568" y="2011680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A. </a:t>
            </a:r>
            <a:r>
              <a:rPr lang="en-US" sz="11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Audio into video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3674288" y="2011680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B. </a:t>
            </a: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Text into spoken audio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6233008" y="2011680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C. </a:t>
            </a:r>
            <a:r>
              <a:rPr lang="en-US" sz="11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Images into text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8791727" y="2011680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D. </a:t>
            </a:r>
            <a:r>
              <a:rPr lang="en-US" sz="11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Code into music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66928" y="2457907"/>
            <a:ext cx="11057839" cy="848563"/>
          </a:xfrm>
          <a:prstGeom prst="roundRect">
            <a:avLst>
              <a:gd name="adj" fmla="val 8621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68096" y="2604211"/>
            <a:ext cx="310896" cy="310896"/>
          </a:xfrm>
          <a:prstGeom prst="ellipse">
            <a:avLst/>
          </a:prstGeom>
          <a:solidFill>
            <a:srgbClr val="FBBF24">
              <a:alpha val="22000"/>
            </a:srgbClr>
          </a:solidFill>
          <a:ln w="12700">
            <a:solidFill>
              <a:srgbClr val="FBBF24">
                <a:alpha val="50000"/>
              </a:srgbClr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68096" y="2604211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BBF2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Q2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1188720" y="2576779"/>
            <a:ext cx="8726119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Speech-to-text is also called: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10207447" y="2595067"/>
            <a:ext cx="1371600" cy="347472"/>
          </a:xfrm>
          <a:prstGeom prst="roundRect">
            <a:avLst>
              <a:gd name="adj" fmla="val 15789"/>
            </a:avLst>
          </a:prstGeom>
          <a:solidFill>
            <a:srgbClr val="A78BFA">
              <a:alpha val="20000"/>
            </a:srgbClr>
          </a:solidFill>
          <a:ln w="12700">
            <a:solidFill>
              <a:srgbClr val="A78BFA">
                <a:alpha val="60000"/>
              </a:srgbClr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0207447" y="2595067"/>
            <a:ext cx="13716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Answer: C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1115568" y="2988259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A. </a:t>
            </a:r>
            <a:r>
              <a:rPr lang="en-US" sz="11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Compression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3674288" y="2988259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B. </a:t>
            </a:r>
            <a:r>
              <a:rPr lang="en-US" sz="11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Encryption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6233008" y="2988259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C. </a:t>
            </a: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Transcription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8791727" y="2988259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D. </a:t>
            </a:r>
            <a:r>
              <a:rPr lang="en-US" sz="11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Rendering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66928" y="3434486"/>
            <a:ext cx="11057839" cy="848563"/>
          </a:xfrm>
          <a:prstGeom prst="roundRect">
            <a:avLst>
              <a:gd name="adj" fmla="val 8621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768096" y="3580790"/>
            <a:ext cx="310896" cy="310896"/>
          </a:xfrm>
          <a:prstGeom prst="ellipse">
            <a:avLst/>
          </a:prstGeom>
          <a:solidFill>
            <a:srgbClr val="FBBF24">
              <a:alpha val="22000"/>
            </a:srgbClr>
          </a:solidFill>
          <a:ln w="12700">
            <a:solidFill>
              <a:srgbClr val="FBBF24">
                <a:alpha val="50000"/>
              </a:srgbClr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68096" y="3580790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BBF2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Q3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1188720" y="3553358"/>
            <a:ext cx="8726119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Voice cloning always requires: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10207447" y="3571646"/>
            <a:ext cx="1371600" cy="347472"/>
          </a:xfrm>
          <a:prstGeom prst="roundRect">
            <a:avLst>
              <a:gd name="adj" fmla="val 15789"/>
            </a:avLst>
          </a:prstGeom>
          <a:solidFill>
            <a:srgbClr val="A78BFA">
              <a:alpha val="20000"/>
            </a:srgbClr>
          </a:solidFill>
          <a:ln w="12700">
            <a:solidFill>
              <a:srgbClr val="A78BFA">
                <a:alpha val="60000"/>
              </a:srgbClr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10207447" y="3571646"/>
            <a:ext cx="13716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Answer: D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1115568" y="3964838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A. </a:t>
            </a:r>
            <a:r>
              <a:rPr lang="en-US" sz="11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fast internet line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3674288" y="3964838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B. </a:t>
            </a:r>
            <a:r>
              <a:rPr lang="en-US" sz="11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long prompt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6233008" y="3964838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C. </a:t>
            </a:r>
            <a:r>
              <a:rPr lang="en-US" sz="11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paid account</a:t>
            </a:r>
            <a:endParaRPr lang="en-US" sz="1050" dirty="0"/>
          </a:p>
        </p:txBody>
      </p:sp>
      <p:sp>
        <p:nvSpPr>
          <p:cNvPr id="35" name="Text 33"/>
          <p:cNvSpPr txBox="1"/>
          <p:nvPr/>
        </p:nvSpPr>
        <p:spPr>
          <a:xfrm>
            <a:off x="8791727" y="3964838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D. </a:t>
            </a: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Consent from the person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66928" y="4411066"/>
            <a:ext cx="11057839" cy="848563"/>
          </a:xfrm>
          <a:prstGeom prst="roundRect">
            <a:avLst>
              <a:gd name="adj" fmla="val 8621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768096" y="4557370"/>
            <a:ext cx="310896" cy="310896"/>
          </a:xfrm>
          <a:prstGeom prst="ellipse">
            <a:avLst/>
          </a:prstGeom>
          <a:solidFill>
            <a:srgbClr val="FBBF24">
              <a:alpha val="22000"/>
            </a:srgbClr>
          </a:solidFill>
          <a:ln w="12700">
            <a:solidFill>
              <a:srgbClr val="FBBF24">
                <a:alpha val="50000"/>
              </a:srgbClr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768096" y="4557370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BBF2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Q4</a:t>
            </a:r>
            <a:endParaRPr lang="en-US" sz="900" dirty="0"/>
          </a:p>
        </p:txBody>
      </p:sp>
      <p:sp>
        <p:nvSpPr>
          <p:cNvPr id="39" name="Text 37"/>
          <p:cNvSpPr txBox="1"/>
          <p:nvPr/>
        </p:nvSpPr>
        <p:spPr>
          <a:xfrm>
            <a:off x="1188720" y="4529938"/>
            <a:ext cx="8726119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 common voice-fraud scam involves:</a:t>
            </a:r>
            <a:endParaRPr lang="en-US" sz="1250" dirty="0"/>
          </a:p>
        </p:txBody>
      </p:sp>
      <p:sp>
        <p:nvSpPr>
          <p:cNvPr id="40" name="Shape 38"/>
          <p:cNvSpPr/>
          <p:nvPr/>
        </p:nvSpPr>
        <p:spPr>
          <a:xfrm>
            <a:off x="10207447" y="4548226"/>
            <a:ext cx="1371600" cy="347472"/>
          </a:xfrm>
          <a:prstGeom prst="roundRect">
            <a:avLst>
              <a:gd name="adj" fmla="val 15789"/>
            </a:avLst>
          </a:prstGeom>
          <a:solidFill>
            <a:srgbClr val="A78BFA">
              <a:alpha val="20000"/>
            </a:srgbClr>
          </a:solidFill>
          <a:ln w="12700">
            <a:solidFill>
              <a:srgbClr val="A78BFA">
                <a:alpha val="60000"/>
              </a:srgbClr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10207447" y="4548226"/>
            <a:ext cx="13716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Answer: A</a:t>
            </a:r>
            <a:endParaRPr lang="en-US" sz="1050" dirty="0"/>
          </a:p>
        </p:txBody>
      </p:sp>
      <p:sp>
        <p:nvSpPr>
          <p:cNvPr id="42" name="Text 40"/>
          <p:cNvSpPr txBox="1"/>
          <p:nvPr/>
        </p:nvSpPr>
        <p:spPr>
          <a:xfrm>
            <a:off x="1115568" y="4941418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A. </a:t>
            </a: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fake urgent call from a relative</a:t>
            </a:r>
            <a:endParaRPr lang="en-US" sz="1050" dirty="0"/>
          </a:p>
        </p:txBody>
      </p:sp>
      <p:sp>
        <p:nvSpPr>
          <p:cNvPr id="43" name="Text 41"/>
          <p:cNvSpPr txBox="1"/>
          <p:nvPr/>
        </p:nvSpPr>
        <p:spPr>
          <a:xfrm>
            <a:off x="3674288" y="4941418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B. </a:t>
            </a:r>
            <a:r>
              <a:rPr lang="en-US" sz="11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slow website</a:t>
            </a:r>
            <a:endParaRPr lang="en-US" sz="1050" dirty="0"/>
          </a:p>
        </p:txBody>
      </p:sp>
      <p:sp>
        <p:nvSpPr>
          <p:cNvPr id="44" name="Text 42"/>
          <p:cNvSpPr txBox="1"/>
          <p:nvPr/>
        </p:nvSpPr>
        <p:spPr>
          <a:xfrm>
            <a:off x="6233008" y="4941418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C. </a:t>
            </a:r>
            <a:r>
              <a:rPr lang="en-US" sz="11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broken printer</a:t>
            </a:r>
            <a:endParaRPr lang="en-US" sz="1050" dirty="0"/>
          </a:p>
        </p:txBody>
      </p:sp>
      <p:sp>
        <p:nvSpPr>
          <p:cNvPr id="45" name="Text 43"/>
          <p:cNvSpPr txBox="1"/>
          <p:nvPr/>
        </p:nvSpPr>
        <p:spPr>
          <a:xfrm>
            <a:off x="8791727" y="4941418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D. </a:t>
            </a:r>
            <a:r>
              <a:rPr lang="en-US" sz="11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lost password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566928" y="5387645"/>
            <a:ext cx="11057839" cy="848563"/>
          </a:xfrm>
          <a:prstGeom prst="roundRect">
            <a:avLst>
              <a:gd name="adj" fmla="val 8621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768096" y="5533949"/>
            <a:ext cx="310896" cy="310896"/>
          </a:xfrm>
          <a:prstGeom prst="ellipse">
            <a:avLst/>
          </a:prstGeom>
          <a:solidFill>
            <a:srgbClr val="FBBF24">
              <a:alpha val="22000"/>
            </a:srgbClr>
          </a:solidFill>
          <a:ln w="12700">
            <a:solidFill>
              <a:srgbClr val="FBBF24">
                <a:alpha val="50000"/>
              </a:srgbClr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768096" y="5533949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BBF2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Q5</a:t>
            </a:r>
            <a:endParaRPr lang="en-US" sz="900" dirty="0"/>
          </a:p>
        </p:txBody>
      </p:sp>
      <p:sp>
        <p:nvSpPr>
          <p:cNvPr id="49" name="Text 47"/>
          <p:cNvSpPr txBox="1"/>
          <p:nvPr/>
        </p:nvSpPr>
        <p:spPr>
          <a:xfrm>
            <a:off x="1188720" y="5506517"/>
            <a:ext cx="8726119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Best protection against a suspicious urgent call is to:</a:t>
            </a:r>
            <a:endParaRPr lang="en-US" sz="1250" dirty="0"/>
          </a:p>
        </p:txBody>
      </p:sp>
      <p:sp>
        <p:nvSpPr>
          <p:cNvPr id="50" name="Shape 48"/>
          <p:cNvSpPr/>
          <p:nvPr/>
        </p:nvSpPr>
        <p:spPr>
          <a:xfrm>
            <a:off x="10207447" y="5524805"/>
            <a:ext cx="1371600" cy="347472"/>
          </a:xfrm>
          <a:prstGeom prst="roundRect">
            <a:avLst>
              <a:gd name="adj" fmla="val 15789"/>
            </a:avLst>
          </a:prstGeom>
          <a:solidFill>
            <a:srgbClr val="A78BFA">
              <a:alpha val="20000"/>
            </a:srgbClr>
          </a:solidFill>
          <a:ln w="12700">
            <a:solidFill>
              <a:srgbClr val="A78BFA">
                <a:alpha val="60000"/>
              </a:srgbClr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10207447" y="5524805"/>
            <a:ext cx="13716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Answer: B</a:t>
            </a:r>
            <a:endParaRPr lang="en-US" sz="1050" dirty="0"/>
          </a:p>
        </p:txBody>
      </p:sp>
      <p:sp>
        <p:nvSpPr>
          <p:cNvPr id="52" name="Text 50"/>
          <p:cNvSpPr txBox="1"/>
          <p:nvPr/>
        </p:nvSpPr>
        <p:spPr>
          <a:xfrm>
            <a:off x="1115568" y="5917997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A. </a:t>
            </a:r>
            <a:r>
              <a:rPr lang="en-US" sz="11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Send money quickly</a:t>
            </a:r>
            <a:endParaRPr lang="en-US" sz="1050" dirty="0"/>
          </a:p>
        </p:txBody>
      </p:sp>
      <p:sp>
        <p:nvSpPr>
          <p:cNvPr id="53" name="Text 51"/>
          <p:cNvSpPr txBox="1"/>
          <p:nvPr/>
        </p:nvSpPr>
        <p:spPr>
          <a:xfrm>
            <a:off x="3674288" y="5917997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B. </a:t>
            </a: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Call back on a known number</a:t>
            </a:r>
            <a:endParaRPr lang="en-US" sz="1050" dirty="0"/>
          </a:p>
        </p:txBody>
      </p:sp>
      <p:sp>
        <p:nvSpPr>
          <p:cNvPr id="54" name="Text 52"/>
          <p:cNvSpPr txBox="1"/>
          <p:nvPr/>
        </p:nvSpPr>
        <p:spPr>
          <a:xfrm>
            <a:off x="6233008" y="5917997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C. </a:t>
            </a:r>
            <a:r>
              <a:rPr lang="en-US" sz="11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Share your OTP</a:t>
            </a:r>
            <a:endParaRPr lang="en-US" sz="1050" dirty="0"/>
          </a:p>
        </p:txBody>
      </p:sp>
      <p:sp>
        <p:nvSpPr>
          <p:cNvPr id="55" name="Text 53"/>
          <p:cNvSpPr txBox="1"/>
          <p:nvPr/>
        </p:nvSpPr>
        <p:spPr>
          <a:xfrm>
            <a:off x="8791727" y="5917997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D. </a:t>
            </a:r>
            <a:r>
              <a:rPr lang="en-US" sz="11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Ignore all calls forever</a:t>
            </a:r>
            <a:endParaRPr lang="en-US" sz="1050" dirty="0"/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49808" y="1874520"/>
            <a:ext cx="58521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SECTION 11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49808" y="2240280"/>
            <a:ext cx="6035040" cy="1554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AI Video Generation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749808" y="3886200"/>
            <a:ext cx="5852160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newest and fastest-moving area of Generative AI.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49808" y="4846320"/>
            <a:ext cx="1463040" cy="64008"/>
          </a:xfrm>
          <a:prstGeom prst="roundRect">
            <a:avLst>
              <a:gd name="adj" fmla="val 42857"/>
            </a:avLst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32320" y="1143000"/>
            <a:ext cx="4492447" cy="797357"/>
          </a:xfrm>
          <a:prstGeom prst="roundRect">
            <a:avLst>
              <a:gd name="adj" fmla="val 9174"/>
            </a:avLst>
          </a:prstGeom>
          <a:solidFill>
            <a:srgbClr val="191640"/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51776" y="1313078"/>
            <a:ext cx="457200" cy="457200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66076" y="1427378"/>
            <a:ext cx="228600" cy="22860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8010144" y="1143000"/>
            <a:ext cx="3303727" cy="79735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Text-to-Video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7132320" y="2086661"/>
            <a:ext cx="4492447" cy="797357"/>
          </a:xfrm>
          <a:prstGeom prst="roundRect">
            <a:avLst>
              <a:gd name="adj" fmla="val 9174"/>
            </a:avLst>
          </a:prstGeom>
          <a:solidFill>
            <a:srgbClr val="191640"/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7351776" y="2256739"/>
            <a:ext cx="457200" cy="457200"/>
          </a:xfrm>
          <a:prstGeom prst="ellipse">
            <a:avLst/>
          </a:prstGeom>
          <a:solidFill>
            <a:srgbClr val="22D3EE">
              <a:alpha val="16000"/>
            </a:srgbClr>
          </a:solidFill>
          <a:ln w="12700">
            <a:solidFill>
              <a:srgbClr val="22D3EE">
                <a:alpha val="45000"/>
              </a:srgbClr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6076" y="2371039"/>
            <a:ext cx="228600" cy="22860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8010144" y="2086661"/>
            <a:ext cx="3303727" cy="79735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Image-to-Video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7132320" y="3030322"/>
            <a:ext cx="4492447" cy="797357"/>
          </a:xfrm>
          <a:prstGeom prst="roundRect">
            <a:avLst>
              <a:gd name="adj" fmla="val 9174"/>
            </a:avLst>
          </a:prstGeom>
          <a:solidFill>
            <a:srgbClr val="191640"/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351776" y="3200400"/>
            <a:ext cx="457200" cy="457200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6076" y="3314700"/>
            <a:ext cx="228600" cy="22860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010144" y="3030322"/>
            <a:ext cx="3303727" cy="79735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AI Video Editing</a:t>
            </a:r>
            <a:endParaRPr lang="en-US" sz="1350" dirty="0"/>
          </a:p>
        </p:txBody>
      </p:sp>
      <p:sp>
        <p:nvSpPr>
          <p:cNvPr id="18" name="Shape 13"/>
          <p:cNvSpPr/>
          <p:nvPr/>
        </p:nvSpPr>
        <p:spPr>
          <a:xfrm>
            <a:off x="7132320" y="3973982"/>
            <a:ext cx="4492447" cy="797357"/>
          </a:xfrm>
          <a:prstGeom prst="roundRect">
            <a:avLst>
              <a:gd name="adj" fmla="val 9174"/>
            </a:avLst>
          </a:prstGeom>
          <a:solidFill>
            <a:srgbClr val="191640"/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7351776" y="4144061"/>
            <a:ext cx="457200" cy="457200"/>
          </a:xfrm>
          <a:prstGeom prst="ellipse">
            <a:avLst/>
          </a:prstGeom>
          <a:solidFill>
            <a:srgbClr val="34D399">
              <a:alpha val="16000"/>
            </a:srgbClr>
          </a:solidFill>
          <a:ln w="12700">
            <a:solidFill>
              <a:srgbClr val="34D399">
                <a:alpha val="45000"/>
              </a:srgbClr>
            </a:solidFill>
            <a:prstDash val="solid"/>
          </a:ln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66076" y="4258361"/>
            <a:ext cx="228600" cy="22860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8010144" y="3973982"/>
            <a:ext cx="3303727" cy="79735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AI Avatars</a:t>
            </a:r>
            <a:endParaRPr lang="en-US" sz="1350" dirty="0"/>
          </a:p>
        </p:txBody>
      </p:sp>
      <p:sp>
        <p:nvSpPr>
          <p:cNvPr id="22" name="Shape 16"/>
          <p:cNvSpPr/>
          <p:nvPr/>
        </p:nvSpPr>
        <p:spPr>
          <a:xfrm>
            <a:off x="7132320" y="4917643"/>
            <a:ext cx="4492447" cy="797357"/>
          </a:xfrm>
          <a:prstGeom prst="roundRect">
            <a:avLst>
              <a:gd name="adj" fmla="val 9174"/>
            </a:avLst>
          </a:prstGeom>
          <a:solidFill>
            <a:srgbClr val="191640"/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7351776" y="5087722"/>
            <a:ext cx="457200" cy="457200"/>
          </a:xfrm>
          <a:prstGeom prst="ellipse">
            <a:avLst/>
          </a:prstGeom>
          <a:solidFill>
            <a:srgbClr val="F472B6">
              <a:alpha val="16000"/>
            </a:srgbClr>
          </a:solidFill>
          <a:ln w="12700">
            <a:solidFill>
              <a:srgbClr val="F472B6">
                <a:alpha val="45000"/>
              </a:srgbClr>
            </a:solidFill>
            <a:prstDash val="solid"/>
          </a:ln>
        </p:spPr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66076" y="5202022"/>
            <a:ext cx="228600" cy="228600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8010144" y="4917643"/>
            <a:ext cx="3303727" cy="79735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Deepfakes &amp; Ethics</a:t>
            </a:r>
            <a:endParaRPr lang="en-US" sz="1350" dirty="0"/>
          </a:p>
        </p:txBody>
      </p:sp>
      <p:sp>
        <p:nvSpPr>
          <p:cNvPr id="26" name="Text 19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Section 11 · AI Video Generation</a:t>
            </a:r>
            <a:endParaRPr lang="en-US" sz="950" dirty="0"/>
          </a:p>
        </p:txBody>
      </p:sp>
      <p:sp>
        <p:nvSpPr>
          <p:cNvPr id="27" name="Text 20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139</a:t>
            </a:r>
            <a:endParaRPr lang="en-US" sz="950" dirty="0"/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SLIDE 120 · DEFINITION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What is AI Video Generation?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Section 11 · AI Video Generation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140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11057839" cy="877824"/>
          </a:xfrm>
          <a:prstGeom prst="roundRect">
            <a:avLst>
              <a:gd name="adj" fmla="val 8333"/>
            </a:avLst>
          </a:prstGeom>
          <a:solidFill>
            <a:srgbClr val="191640">
              <a:alpha val="96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6928" y="1627632"/>
            <a:ext cx="64008" cy="585216"/>
          </a:xfrm>
          <a:prstGeom prst="roundRect">
            <a:avLst>
              <a:gd name="adj" fmla="val 42857"/>
            </a:avLst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59536" y="1572768"/>
            <a:ext cx="10472623" cy="6949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DDD9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 video generation creates moving pictures from a text description or from a still image.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66928" y="2615184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22960" y="2816352"/>
            <a:ext cx="457200" cy="457200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2930652"/>
            <a:ext cx="228600" cy="22860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499616" y="2816352"/>
            <a:ext cx="41847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Why It Is Harder Than Images</a:t>
            </a:r>
            <a:endParaRPr lang="en-US" sz="1450" dirty="0"/>
          </a:p>
        </p:txBody>
      </p:sp>
      <p:sp>
        <p:nvSpPr>
          <p:cNvPr id="13" name="Text 10"/>
          <p:cNvSpPr txBox="1"/>
          <p:nvPr/>
        </p:nvSpPr>
        <p:spPr>
          <a:xfrm>
            <a:off x="841248" y="3419856"/>
            <a:ext cx="484312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Video must look correct in every frame and stay consistent between frames. Objects must not change shape as they move.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33008" y="2615184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489040" y="2816352"/>
            <a:ext cx="457200" cy="457200"/>
          </a:xfrm>
          <a:prstGeom prst="ellipse">
            <a:avLst/>
          </a:prstGeom>
          <a:solidFill>
            <a:srgbClr val="22D3EE">
              <a:alpha val="16000"/>
            </a:srgbClr>
          </a:solidFill>
          <a:ln w="12700">
            <a:solidFill>
              <a:srgbClr val="22D3EE">
                <a:alpha val="45000"/>
              </a:srgbClr>
            </a:solidFill>
            <a:prstDash val="solid"/>
          </a:ln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3340" y="2930652"/>
            <a:ext cx="228600" cy="22860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7165696" y="2816352"/>
            <a:ext cx="41847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Current Reality</a:t>
            </a:r>
            <a:endParaRPr lang="en-US" sz="1450" dirty="0"/>
          </a:p>
        </p:txBody>
      </p:sp>
      <p:sp>
        <p:nvSpPr>
          <p:cNvPr id="18" name="Text 14"/>
          <p:cNvSpPr txBox="1"/>
          <p:nvPr/>
        </p:nvSpPr>
        <p:spPr>
          <a:xfrm>
            <a:off x="6507328" y="3419856"/>
            <a:ext cx="484312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Short clips of a few seconds work well. Long, fully consistent video remains difficult.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566928" y="4530149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822960" y="4731317"/>
            <a:ext cx="457200" cy="457200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260" y="4845617"/>
            <a:ext cx="228600" cy="22860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499616" y="4731317"/>
            <a:ext cx="41847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Cost</a:t>
            </a:r>
            <a:endParaRPr lang="en-US" sz="1450" dirty="0"/>
          </a:p>
        </p:txBody>
      </p:sp>
      <p:sp>
        <p:nvSpPr>
          <p:cNvPr id="23" name="Text 18"/>
          <p:cNvSpPr txBox="1"/>
          <p:nvPr/>
        </p:nvSpPr>
        <p:spPr>
          <a:xfrm>
            <a:off x="841248" y="5334821"/>
            <a:ext cx="484312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Video generation uses far more computing power than text or images, so it is slower and more expensive.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6233008" y="4530149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6489040" y="4731317"/>
            <a:ext cx="457200" cy="457200"/>
          </a:xfrm>
          <a:prstGeom prst="ellipse">
            <a:avLst/>
          </a:prstGeom>
          <a:solidFill>
            <a:srgbClr val="34D399">
              <a:alpha val="16000"/>
            </a:srgbClr>
          </a:solidFill>
          <a:ln w="12700">
            <a:solidFill>
              <a:srgbClr val="34D399">
                <a:alpha val="45000"/>
              </a:srgbClr>
            </a:solidFill>
            <a:prstDash val="solid"/>
          </a:ln>
        </p:spPr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3340" y="4845617"/>
            <a:ext cx="228600" cy="228600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7165696" y="4731317"/>
            <a:ext cx="41847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Fast Moving</a:t>
            </a:r>
            <a:endParaRPr lang="en-US" sz="1450" dirty="0"/>
          </a:p>
        </p:txBody>
      </p:sp>
      <p:sp>
        <p:nvSpPr>
          <p:cNvPr id="28" name="Text 22"/>
          <p:cNvSpPr txBox="1"/>
          <p:nvPr/>
        </p:nvSpPr>
        <p:spPr>
          <a:xfrm>
            <a:off x="6507328" y="5334821"/>
            <a:ext cx="484312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This area changes quickly. Treat any specific capability claim as something to re-check.</a:t>
            </a:r>
            <a:endParaRPr lang="en-US" sz="1200" dirty="0"/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SLIDE 121 · MODE 1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Text-to-Video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Section 11 · AI Video Generation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141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481328"/>
            <a:ext cx="11057839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DDD9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You describe a scene in words and receive a short video clip.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66928" y="2747772"/>
            <a:ext cx="2387270" cy="1691640"/>
          </a:xfrm>
          <a:prstGeom prst="roundRect">
            <a:avLst>
              <a:gd name="adj" fmla="val 4324"/>
            </a:avLst>
          </a:prstGeom>
          <a:solidFill>
            <a:srgbClr val="191640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586827" y="2574036"/>
            <a:ext cx="347472" cy="347472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586827" y="2574036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0A1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94944" y="3022092"/>
            <a:ext cx="213123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A78BF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Prompt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94944" y="3479292"/>
            <a:ext cx="2131238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"A paper boat floating down a rainy street, slow motion"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045638" y="3474720"/>
            <a:ext cx="320040" cy="237744"/>
          </a:xfrm>
          <a:prstGeom prst="rightArrow">
            <a:avLst/>
          </a:prstGeom>
          <a:solidFill>
            <a:srgbClr val="22D3EE">
              <a:alpha val="70000"/>
            </a:srgbClr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457118" y="2747772"/>
            <a:ext cx="2387270" cy="1691640"/>
          </a:xfrm>
          <a:prstGeom prst="roundRect">
            <a:avLst>
              <a:gd name="adj" fmla="val 4324"/>
            </a:avLst>
          </a:prstGeom>
          <a:solidFill>
            <a:srgbClr val="191640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477017" y="2574036"/>
            <a:ext cx="347472" cy="34747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477017" y="2574036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0A1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3585134" y="3022092"/>
            <a:ext cx="213123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2D3E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Model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3585134" y="3479292"/>
            <a:ext cx="2131238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Generates frames guided by your description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935828" y="3474720"/>
            <a:ext cx="320040" cy="237744"/>
          </a:xfrm>
          <a:prstGeom prst="rightArrow">
            <a:avLst/>
          </a:prstGeom>
          <a:solidFill>
            <a:srgbClr val="22D3EE">
              <a:alpha val="70000"/>
            </a:srgbClr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347308" y="2747772"/>
            <a:ext cx="2387270" cy="1691640"/>
          </a:xfrm>
          <a:prstGeom prst="roundRect">
            <a:avLst>
              <a:gd name="adj" fmla="val 4324"/>
            </a:avLst>
          </a:prstGeom>
          <a:solidFill>
            <a:srgbClr val="191640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367207" y="2574036"/>
            <a:ext cx="347472" cy="347472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367207" y="2574036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0A1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6475324" y="3022092"/>
            <a:ext cx="213123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BBF2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Consistency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6475324" y="3479292"/>
            <a:ext cx="2131238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Frames are kept visually connected over time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8826017" y="3474720"/>
            <a:ext cx="320040" cy="237744"/>
          </a:xfrm>
          <a:prstGeom prst="rightArrow">
            <a:avLst/>
          </a:prstGeom>
          <a:solidFill>
            <a:srgbClr val="22D3EE">
              <a:alpha val="70000"/>
            </a:srgbClr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237497" y="2747772"/>
            <a:ext cx="2387270" cy="1691640"/>
          </a:xfrm>
          <a:prstGeom prst="roundRect">
            <a:avLst>
              <a:gd name="adj" fmla="val 4324"/>
            </a:avLst>
          </a:prstGeom>
          <a:solidFill>
            <a:srgbClr val="191640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10257396" y="2574036"/>
            <a:ext cx="347472" cy="347472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10257396" y="2574036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0A1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4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9365513" y="3022092"/>
            <a:ext cx="213123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4D39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Clip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9365513" y="3479292"/>
            <a:ext cx="2131238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short video is produced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566928" y="5276088"/>
            <a:ext cx="11057839" cy="960120"/>
          </a:xfrm>
          <a:prstGeom prst="roundRect">
            <a:avLst>
              <a:gd name="adj" fmla="val 7619"/>
            </a:avLst>
          </a:prstGeom>
          <a:solidFill>
            <a:srgbClr val="191640">
              <a:alpha val="96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31" name="Text 29"/>
          <p:cNvSpPr txBox="1"/>
          <p:nvPr/>
        </p:nvSpPr>
        <p:spPr>
          <a:xfrm>
            <a:off x="841248" y="5385816"/>
            <a:ext cx="10509199" cy="7406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A78BF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Remember:  </a:t>
            </a:r>
            <a:r>
              <a:rPr lang="en-US" sz="13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Describe the motion as well as the scene. "Camera slowly moves left" gives a very different result from a static description.</a:t>
            </a:r>
            <a:endParaRPr lang="en-US" sz="1300" dirty="0"/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SLIDE 122 · MODE 2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Image-to-Video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Section 11 · AI Video Generation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142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11057839" cy="877824"/>
          </a:xfrm>
          <a:prstGeom prst="roundRect">
            <a:avLst>
              <a:gd name="adj" fmla="val 8333"/>
            </a:avLst>
          </a:prstGeom>
          <a:solidFill>
            <a:srgbClr val="191640">
              <a:alpha val="96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6928" y="1627632"/>
            <a:ext cx="64008" cy="585216"/>
          </a:xfrm>
          <a:prstGeom prst="roundRect">
            <a:avLst>
              <a:gd name="adj" fmla="val 42857"/>
            </a:avLst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59536" y="1572768"/>
            <a:ext cx="10472623" cy="6949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DDD9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You supply a still image and the model animates it into a short clip.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66928" y="2615184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22960" y="2816352"/>
            <a:ext cx="457200" cy="457200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2930652"/>
            <a:ext cx="228600" cy="22860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499616" y="2816352"/>
            <a:ext cx="41847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How It Works</a:t>
            </a:r>
            <a:endParaRPr lang="en-US" sz="1450" dirty="0"/>
          </a:p>
        </p:txBody>
      </p:sp>
      <p:sp>
        <p:nvSpPr>
          <p:cNvPr id="13" name="Text 10"/>
          <p:cNvSpPr txBox="1"/>
          <p:nvPr/>
        </p:nvSpPr>
        <p:spPr>
          <a:xfrm>
            <a:off x="841248" y="3419856"/>
            <a:ext cx="484312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picture becomes the first frame, and the model generates plausible following frames.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33008" y="2615184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489040" y="2816352"/>
            <a:ext cx="457200" cy="457200"/>
          </a:xfrm>
          <a:prstGeom prst="ellipse">
            <a:avLst/>
          </a:prstGeom>
          <a:solidFill>
            <a:srgbClr val="22D3EE">
              <a:alpha val="16000"/>
            </a:srgbClr>
          </a:solidFill>
          <a:ln w="12700">
            <a:solidFill>
              <a:srgbClr val="22D3EE">
                <a:alpha val="45000"/>
              </a:srgbClr>
            </a:solidFill>
            <a:prstDash val="solid"/>
          </a:ln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3340" y="2930652"/>
            <a:ext cx="228600" cy="22860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7165696" y="2816352"/>
            <a:ext cx="41847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What You Can Ask For</a:t>
            </a:r>
            <a:endParaRPr lang="en-US" sz="1450" dirty="0"/>
          </a:p>
        </p:txBody>
      </p:sp>
      <p:sp>
        <p:nvSpPr>
          <p:cNvPr id="18" name="Text 14"/>
          <p:cNvSpPr txBox="1"/>
          <p:nvPr/>
        </p:nvSpPr>
        <p:spPr>
          <a:xfrm>
            <a:off x="6507328" y="3419856"/>
            <a:ext cx="484312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Gentle camera movement, a zoom, drifting clouds, or a subject turning slightly.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566928" y="4530149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822960" y="4731317"/>
            <a:ext cx="457200" cy="457200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260" y="4845617"/>
            <a:ext cx="228600" cy="22860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499616" y="4731317"/>
            <a:ext cx="41847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Why It Is Useful</a:t>
            </a:r>
            <a:endParaRPr lang="en-US" sz="1450" dirty="0"/>
          </a:p>
        </p:txBody>
      </p:sp>
      <p:sp>
        <p:nvSpPr>
          <p:cNvPr id="23" name="Text 18"/>
          <p:cNvSpPr txBox="1"/>
          <p:nvPr/>
        </p:nvSpPr>
        <p:spPr>
          <a:xfrm>
            <a:off x="841248" y="5334821"/>
            <a:ext cx="484312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You control the look precisely through the still image, which text alone cannot do.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6233008" y="4530149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6489040" y="4731317"/>
            <a:ext cx="457200" cy="457200"/>
          </a:xfrm>
          <a:prstGeom prst="ellipse">
            <a:avLst/>
          </a:prstGeom>
          <a:solidFill>
            <a:srgbClr val="34D399">
              <a:alpha val="16000"/>
            </a:srgbClr>
          </a:solidFill>
          <a:ln w="12700">
            <a:solidFill>
              <a:srgbClr val="34D399">
                <a:alpha val="45000"/>
              </a:srgbClr>
            </a:solidFill>
            <a:prstDash val="solid"/>
          </a:ln>
        </p:spPr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3340" y="4845617"/>
            <a:ext cx="228600" cy="228600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7165696" y="4731317"/>
            <a:ext cx="41847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Common Use</a:t>
            </a:r>
            <a:endParaRPr lang="en-US" sz="1450" dirty="0"/>
          </a:p>
        </p:txBody>
      </p:sp>
      <p:sp>
        <p:nvSpPr>
          <p:cNvPr id="28" name="Text 22"/>
          <p:cNvSpPr txBox="1"/>
          <p:nvPr/>
        </p:nvSpPr>
        <p:spPr>
          <a:xfrm>
            <a:off x="6507328" y="5334821"/>
            <a:ext cx="484312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Turning a product photo or a poster into a short animated social media clip.</a:t>
            </a:r>
            <a:endParaRPr lang="en-US" sz="1200" dirty="0"/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SLIDE 123 · MODE 3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AI Video Editing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Section 11 · AI Video Generation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143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11057839" cy="877824"/>
          </a:xfrm>
          <a:prstGeom prst="roundRect">
            <a:avLst>
              <a:gd name="adj" fmla="val 8333"/>
            </a:avLst>
          </a:prstGeom>
          <a:solidFill>
            <a:srgbClr val="191640">
              <a:alpha val="96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6928" y="1627632"/>
            <a:ext cx="64008" cy="585216"/>
          </a:xfrm>
          <a:prstGeom prst="roundRect">
            <a:avLst>
              <a:gd name="adj" fmla="val 42857"/>
            </a:avLst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59536" y="1572768"/>
            <a:ext cx="10472623" cy="6949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DDD9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 assists with editing existing footage rather than generating new scenes.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66928" y="2615184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22960" y="2816352"/>
            <a:ext cx="457200" cy="457200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2930652"/>
            <a:ext cx="228600" cy="22860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499616" y="2816352"/>
            <a:ext cx="41847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Automatic cutting</a:t>
            </a:r>
            <a:endParaRPr lang="en-US" sz="1450" dirty="0"/>
          </a:p>
        </p:txBody>
      </p:sp>
      <p:sp>
        <p:nvSpPr>
          <p:cNvPr id="13" name="Text 10"/>
          <p:cNvSpPr txBox="1"/>
          <p:nvPr/>
        </p:nvSpPr>
        <p:spPr>
          <a:xfrm>
            <a:off x="841248" y="3419856"/>
            <a:ext cx="484312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Find the useful segments and remove silences and filler words.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33008" y="2615184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489040" y="2816352"/>
            <a:ext cx="457200" cy="457200"/>
          </a:xfrm>
          <a:prstGeom prst="ellipse">
            <a:avLst/>
          </a:prstGeom>
          <a:solidFill>
            <a:srgbClr val="22D3EE">
              <a:alpha val="16000"/>
            </a:srgbClr>
          </a:solidFill>
          <a:ln w="12700">
            <a:solidFill>
              <a:srgbClr val="22D3EE">
                <a:alpha val="45000"/>
              </a:srgbClr>
            </a:solidFill>
            <a:prstDash val="solid"/>
          </a:ln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3340" y="2930652"/>
            <a:ext cx="228600" cy="22860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7165696" y="2816352"/>
            <a:ext cx="41847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Subtitles and translation</a:t>
            </a:r>
            <a:endParaRPr lang="en-US" sz="1450" dirty="0"/>
          </a:p>
        </p:txBody>
      </p:sp>
      <p:sp>
        <p:nvSpPr>
          <p:cNvPr id="18" name="Text 14"/>
          <p:cNvSpPr txBox="1"/>
          <p:nvPr/>
        </p:nvSpPr>
        <p:spPr>
          <a:xfrm>
            <a:off x="6507328" y="3419856"/>
            <a:ext cx="484312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Generate captions automatically and translate them into other languages.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566928" y="4530149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822960" y="4731317"/>
            <a:ext cx="457200" cy="457200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260" y="4845617"/>
            <a:ext cx="228600" cy="22860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499616" y="4731317"/>
            <a:ext cx="41847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Background and object removal</a:t>
            </a:r>
            <a:endParaRPr lang="en-US" sz="1450" dirty="0"/>
          </a:p>
        </p:txBody>
      </p:sp>
      <p:sp>
        <p:nvSpPr>
          <p:cNvPr id="23" name="Text 18"/>
          <p:cNvSpPr txBox="1"/>
          <p:nvPr/>
        </p:nvSpPr>
        <p:spPr>
          <a:xfrm>
            <a:off x="841248" y="5334821"/>
            <a:ext cx="484312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Replace a background or remove an unwanted object across frames.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6233008" y="4530149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6489040" y="4731317"/>
            <a:ext cx="457200" cy="457200"/>
          </a:xfrm>
          <a:prstGeom prst="ellipse">
            <a:avLst/>
          </a:prstGeom>
          <a:solidFill>
            <a:srgbClr val="34D399">
              <a:alpha val="16000"/>
            </a:srgbClr>
          </a:solidFill>
          <a:ln w="12700">
            <a:solidFill>
              <a:srgbClr val="34D399">
                <a:alpha val="45000"/>
              </a:srgbClr>
            </a:solidFill>
            <a:prstDash val="solid"/>
          </a:ln>
        </p:spPr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3340" y="4845617"/>
            <a:ext cx="228600" cy="228600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7165696" y="4731317"/>
            <a:ext cx="41847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Reformatting</a:t>
            </a:r>
            <a:endParaRPr lang="en-US" sz="1450" dirty="0"/>
          </a:p>
        </p:txBody>
      </p:sp>
      <p:sp>
        <p:nvSpPr>
          <p:cNvPr id="28" name="Text 22"/>
          <p:cNvSpPr txBox="1"/>
          <p:nvPr/>
        </p:nvSpPr>
        <p:spPr>
          <a:xfrm>
            <a:off x="6507328" y="5334821"/>
            <a:ext cx="484312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Convert a wide video into a vertical version while keeping the subject in frame.</a:t>
            </a:r>
            <a:endParaRPr lang="en-US" sz="1200" dirty="0"/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SLIDE 124 · MODE 4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AI Avatars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Section 11 · AI Video Generation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144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11057839" cy="877824"/>
          </a:xfrm>
          <a:prstGeom prst="roundRect">
            <a:avLst>
              <a:gd name="adj" fmla="val 8333"/>
            </a:avLst>
          </a:prstGeom>
          <a:solidFill>
            <a:srgbClr val="191640">
              <a:alpha val="96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6928" y="1627632"/>
            <a:ext cx="64008" cy="585216"/>
          </a:xfrm>
          <a:prstGeom prst="roundRect">
            <a:avLst>
              <a:gd name="adj" fmla="val 42857"/>
            </a:avLst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59536" y="1572768"/>
            <a:ext cx="10472623" cy="6949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DDD9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 AI avatar is a synthetic presenter that speaks your script on video.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66928" y="2615184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22960" y="2816352"/>
            <a:ext cx="457200" cy="457200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2930652"/>
            <a:ext cx="228600" cy="22860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499616" y="2816352"/>
            <a:ext cx="41847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How It Works</a:t>
            </a:r>
            <a:endParaRPr lang="en-US" sz="1450" dirty="0"/>
          </a:p>
        </p:txBody>
      </p:sp>
      <p:sp>
        <p:nvSpPr>
          <p:cNvPr id="13" name="Text 10"/>
          <p:cNvSpPr txBox="1"/>
          <p:nvPr/>
        </p:nvSpPr>
        <p:spPr>
          <a:xfrm>
            <a:off x="841248" y="3419856"/>
            <a:ext cx="484312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You type a script, choose a presenter and a voice, and a video is produced.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33008" y="2615184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489040" y="2816352"/>
            <a:ext cx="457200" cy="457200"/>
          </a:xfrm>
          <a:prstGeom prst="ellipse">
            <a:avLst/>
          </a:prstGeom>
          <a:solidFill>
            <a:srgbClr val="22D3EE">
              <a:alpha val="16000"/>
            </a:srgbClr>
          </a:solidFill>
          <a:ln w="12700">
            <a:solidFill>
              <a:srgbClr val="22D3EE">
                <a:alpha val="45000"/>
              </a:srgbClr>
            </a:solidFill>
            <a:prstDash val="solid"/>
          </a:ln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3340" y="2930652"/>
            <a:ext cx="228600" cy="22860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7165696" y="2816352"/>
            <a:ext cx="41847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Common Uses</a:t>
            </a:r>
            <a:endParaRPr lang="en-US" sz="1450" dirty="0"/>
          </a:p>
        </p:txBody>
      </p:sp>
      <p:sp>
        <p:nvSpPr>
          <p:cNvPr id="18" name="Text 14"/>
          <p:cNvSpPr txBox="1"/>
          <p:nvPr/>
        </p:nvSpPr>
        <p:spPr>
          <a:xfrm>
            <a:off x="6507328" y="3419856"/>
            <a:ext cx="484312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Training videos, product explainers and multilingual versions of the same course.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566928" y="4530149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822960" y="4731317"/>
            <a:ext cx="457200" cy="457200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260" y="4845617"/>
            <a:ext cx="228600" cy="22860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499616" y="4731317"/>
            <a:ext cx="41847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Why Companies Use It</a:t>
            </a:r>
            <a:endParaRPr lang="en-US" sz="1450" dirty="0"/>
          </a:p>
        </p:txBody>
      </p:sp>
      <p:sp>
        <p:nvSpPr>
          <p:cNvPr id="23" name="Text 18"/>
          <p:cNvSpPr txBox="1"/>
          <p:nvPr/>
        </p:nvSpPr>
        <p:spPr>
          <a:xfrm>
            <a:off x="841248" y="5334821"/>
            <a:ext cx="484312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Updating a script is far cheaper than re-filming a studio video.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6233008" y="4530149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6489040" y="4731317"/>
            <a:ext cx="457200" cy="457200"/>
          </a:xfrm>
          <a:prstGeom prst="ellipse">
            <a:avLst/>
          </a:prstGeom>
          <a:solidFill>
            <a:srgbClr val="34D399">
              <a:alpha val="16000"/>
            </a:srgbClr>
          </a:solidFill>
          <a:ln w="12700">
            <a:solidFill>
              <a:srgbClr val="34D399">
                <a:alpha val="45000"/>
              </a:srgbClr>
            </a:solidFill>
            <a:prstDash val="solid"/>
          </a:ln>
        </p:spPr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3340" y="4845617"/>
            <a:ext cx="228600" cy="228600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7165696" y="4731317"/>
            <a:ext cx="41847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Disclose It</a:t>
            </a:r>
            <a:endParaRPr lang="en-US" sz="1450" dirty="0"/>
          </a:p>
        </p:txBody>
      </p:sp>
      <p:sp>
        <p:nvSpPr>
          <p:cNvPr id="28" name="Text 22"/>
          <p:cNvSpPr txBox="1"/>
          <p:nvPr/>
        </p:nvSpPr>
        <p:spPr>
          <a:xfrm>
            <a:off x="6507328" y="5334821"/>
            <a:ext cx="484312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Viewers should be told the presenter is AI-generated, not a real employee.</a:t>
            </a:r>
            <a:endParaRPr lang="en-US" sz="1200" dirty="0"/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SLIDE 125 · USES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Video Applications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Section 11 · AI Video Generation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145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3503066" cy="2240280"/>
          </a:xfrm>
          <a:prstGeom prst="roundRect">
            <a:avLst>
              <a:gd name="adj" fmla="val 3265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1737360"/>
            <a:ext cx="566928" cy="566928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4692" y="1879092"/>
            <a:ext cx="283464" cy="283464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609344" y="1737360"/>
            <a:ext cx="218633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Education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841248" y="2505456"/>
            <a:ext cx="2954426" cy="10332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Explainer videos and lessons produced in several languages.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344314" y="1481328"/>
            <a:ext cx="3503066" cy="2240280"/>
          </a:xfrm>
          <a:prstGeom prst="roundRect">
            <a:avLst>
              <a:gd name="adj" fmla="val 3265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600346" y="1737360"/>
            <a:ext cx="566928" cy="566928"/>
          </a:xfrm>
          <a:prstGeom prst="ellipse">
            <a:avLst/>
          </a:prstGeom>
          <a:solidFill>
            <a:srgbClr val="22D3EE">
              <a:alpha val="16000"/>
            </a:srgbClr>
          </a:solidFill>
          <a:ln w="12700">
            <a:solidFill>
              <a:srgbClr val="22D3EE">
                <a:alpha val="45000"/>
              </a:srgbClr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2078" y="1879092"/>
            <a:ext cx="283464" cy="283464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5386730" y="1737360"/>
            <a:ext cx="218633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Marketing</a:t>
            </a:r>
            <a:endParaRPr lang="en-US" sz="1600" dirty="0"/>
          </a:p>
        </p:txBody>
      </p:sp>
      <p:sp>
        <p:nvSpPr>
          <p:cNvPr id="15" name="Text 11"/>
          <p:cNvSpPr txBox="1"/>
          <p:nvPr/>
        </p:nvSpPr>
        <p:spPr>
          <a:xfrm>
            <a:off x="4618634" y="2505456"/>
            <a:ext cx="2954426" cy="10332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Short social clips and quick concept tests before a real shoot.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8121701" y="1481328"/>
            <a:ext cx="3503066" cy="2240280"/>
          </a:xfrm>
          <a:prstGeom prst="roundRect">
            <a:avLst>
              <a:gd name="adj" fmla="val 3265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377733" y="1737360"/>
            <a:ext cx="566928" cy="566928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9465" y="1879092"/>
            <a:ext cx="283464" cy="283464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9164117" y="1737360"/>
            <a:ext cx="218633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Corporate training</a:t>
            </a:r>
            <a:endParaRPr lang="en-US" sz="1600" dirty="0"/>
          </a:p>
        </p:txBody>
      </p:sp>
      <p:sp>
        <p:nvSpPr>
          <p:cNvPr id="20" name="Text 15"/>
          <p:cNvSpPr txBox="1"/>
          <p:nvPr/>
        </p:nvSpPr>
        <p:spPr>
          <a:xfrm>
            <a:off x="8396021" y="2505456"/>
            <a:ext cx="2954426" cy="10332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Policy and onboarding videos that are easy to keep updated.</a:t>
            </a:r>
            <a:endParaRPr lang="en-US" sz="1300" dirty="0"/>
          </a:p>
        </p:txBody>
      </p:sp>
      <p:sp>
        <p:nvSpPr>
          <p:cNvPr id="21" name="Shape 16"/>
          <p:cNvSpPr/>
          <p:nvPr/>
        </p:nvSpPr>
        <p:spPr>
          <a:xfrm>
            <a:off x="566928" y="3995928"/>
            <a:ext cx="3503066" cy="2240280"/>
          </a:xfrm>
          <a:prstGeom prst="roundRect">
            <a:avLst>
              <a:gd name="adj" fmla="val 3265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822960" y="4251960"/>
            <a:ext cx="566928" cy="566928"/>
          </a:xfrm>
          <a:prstGeom prst="ellipse">
            <a:avLst/>
          </a:prstGeom>
          <a:solidFill>
            <a:srgbClr val="34D399">
              <a:alpha val="16000"/>
            </a:srgbClr>
          </a:solidFill>
          <a:ln w="12700">
            <a:solidFill>
              <a:srgbClr val="34D399">
                <a:alpha val="45000"/>
              </a:srgbClr>
            </a:solidFill>
            <a:prstDash val="solid"/>
          </a:ln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4692" y="4393692"/>
            <a:ext cx="283464" cy="283464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1609344" y="4251960"/>
            <a:ext cx="218633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E-commerce</a:t>
            </a:r>
            <a:endParaRPr lang="en-US" sz="1600" dirty="0"/>
          </a:p>
        </p:txBody>
      </p:sp>
      <p:sp>
        <p:nvSpPr>
          <p:cNvPr id="25" name="Text 19"/>
          <p:cNvSpPr txBox="1"/>
          <p:nvPr/>
        </p:nvSpPr>
        <p:spPr>
          <a:xfrm>
            <a:off x="841248" y="5020056"/>
            <a:ext cx="2954426" cy="10332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Animated product presentations from existing photographs.</a:t>
            </a:r>
            <a:endParaRPr lang="en-US" sz="1300" dirty="0"/>
          </a:p>
        </p:txBody>
      </p:sp>
      <p:sp>
        <p:nvSpPr>
          <p:cNvPr id="26" name="Shape 20"/>
          <p:cNvSpPr/>
          <p:nvPr/>
        </p:nvSpPr>
        <p:spPr>
          <a:xfrm>
            <a:off x="4344314" y="3995928"/>
            <a:ext cx="3503066" cy="2240280"/>
          </a:xfrm>
          <a:prstGeom prst="roundRect">
            <a:avLst>
              <a:gd name="adj" fmla="val 3265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4600346" y="4251960"/>
            <a:ext cx="566928" cy="566928"/>
          </a:xfrm>
          <a:prstGeom prst="ellipse">
            <a:avLst/>
          </a:prstGeom>
          <a:solidFill>
            <a:srgbClr val="F472B6">
              <a:alpha val="16000"/>
            </a:srgbClr>
          </a:solidFill>
          <a:ln w="12700">
            <a:solidFill>
              <a:srgbClr val="F472B6">
                <a:alpha val="45000"/>
              </a:srgbClr>
            </a:solidFill>
            <a:prstDash val="solid"/>
          </a:ln>
        </p:spPr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42078" y="4393692"/>
            <a:ext cx="283464" cy="283464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5386730" y="4251960"/>
            <a:ext cx="218633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Pre-production</a:t>
            </a:r>
            <a:endParaRPr lang="en-US" sz="1600" dirty="0"/>
          </a:p>
        </p:txBody>
      </p:sp>
      <p:sp>
        <p:nvSpPr>
          <p:cNvPr id="30" name="Text 23"/>
          <p:cNvSpPr txBox="1"/>
          <p:nvPr/>
        </p:nvSpPr>
        <p:spPr>
          <a:xfrm>
            <a:off x="4618634" y="5020056"/>
            <a:ext cx="2954426" cy="10332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Storyboards and animatics to plan a real shoot cheaply.</a:t>
            </a:r>
            <a:endParaRPr lang="en-US" sz="1300" dirty="0"/>
          </a:p>
        </p:txBody>
      </p:sp>
      <p:sp>
        <p:nvSpPr>
          <p:cNvPr id="31" name="Shape 24"/>
          <p:cNvSpPr/>
          <p:nvPr/>
        </p:nvSpPr>
        <p:spPr>
          <a:xfrm>
            <a:off x="8121701" y="3995928"/>
            <a:ext cx="3503066" cy="2240280"/>
          </a:xfrm>
          <a:prstGeom prst="roundRect">
            <a:avLst>
              <a:gd name="adj" fmla="val 3265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8377733" y="4251960"/>
            <a:ext cx="566928" cy="566928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33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19465" y="4393692"/>
            <a:ext cx="283464" cy="283464"/>
          </a:xfrm>
          <a:prstGeom prst="rect">
            <a:avLst/>
          </a:prstGeom>
        </p:spPr>
      </p:pic>
      <p:sp>
        <p:nvSpPr>
          <p:cNvPr id="34" name="Text 26"/>
          <p:cNvSpPr txBox="1"/>
          <p:nvPr/>
        </p:nvSpPr>
        <p:spPr>
          <a:xfrm>
            <a:off x="9164117" y="4251960"/>
            <a:ext cx="218633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Social media</a:t>
            </a:r>
            <a:endParaRPr lang="en-US" sz="1600" dirty="0"/>
          </a:p>
        </p:txBody>
      </p:sp>
      <p:sp>
        <p:nvSpPr>
          <p:cNvPr id="35" name="Text 27"/>
          <p:cNvSpPr txBox="1"/>
          <p:nvPr/>
        </p:nvSpPr>
        <p:spPr>
          <a:xfrm>
            <a:off x="8396021" y="5020056"/>
            <a:ext cx="2954426" cy="10332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steady stream of short original content.</a:t>
            </a:r>
            <a:endParaRPr lang="en-US" sz="1300" dirty="0"/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SLIDE 126 · SERIOUS RISK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Deepfakes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Section 11 · AI Video Generation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146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11057839" cy="877824"/>
          </a:xfrm>
          <a:prstGeom prst="roundRect">
            <a:avLst>
              <a:gd name="adj" fmla="val 8333"/>
            </a:avLst>
          </a:prstGeom>
          <a:solidFill>
            <a:srgbClr val="191640">
              <a:alpha val="96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6928" y="1627632"/>
            <a:ext cx="64008" cy="585216"/>
          </a:xfrm>
          <a:prstGeom prst="roundRect">
            <a:avLst>
              <a:gd name="adj" fmla="val 42857"/>
            </a:avLst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59536" y="1572768"/>
            <a:ext cx="10472623" cy="6949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DDD9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deepfake is synthetic video or audio that makes a real person appear to say or do something they never did.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66928" y="2615184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22960" y="2816352"/>
            <a:ext cx="457200" cy="457200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2930652"/>
            <a:ext cx="228600" cy="22860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499616" y="2816352"/>
            <a:ext cx="41847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Why It Is Harmful</a:t>
            </a:r>
            <a:endParaRPr lang="en-US" sz="1450" dirty="0"/>
          </a:p>
        </p:txBody>
      </p:sp>
      <p:sp>
        <p:nvSpPr>
          <p:cNvPr id="13" name="Text 10"/>
          <p:cNvSpPr txBox="1"/>
          <p:nvPr/>
        </p:nvSpPr>
        <p:spPr>
          <a:xfrm>
            <a:off x="841248" y="3419856"/>
            <a:ext cx="484312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200"/>
              </a:spcAft>
              <a:buSzPct val="100000"/>
              <a:buChar char="▪"/>
            </a:pPr>
            <a:r>
              <a:rPr lang="en-US" sz="9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Spreads false information</a:t>
            </a:r>
            <a:endParaRPr lang="en-US" sz="900" dirty="0"/>
          </a:p>
          <a:p>
            <a:pPr marL="342900" indent="-342900">
              <a:lnSpc>
                <a:spcPct val="110000"/>
              </a:lnSpc>
              <a:spcAft>
                <a:spcPts val="200"/>
              </a:spcAft>
              <a:buSzPct val="100000"/>
              <a:buChar char="▪"/>
            </a:pPr>
            <a:r>
              <a:rPr lang="en-US" sz="9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Damages reputations</a:t>
            </a:r>
            <a:endParaRPr lang="en-US" sz="900" dirty="0"/>
          </a:p>
          <a:p>
            <a:pPr marL="342900" indent="-342900">
              <a:lnSpc>
                <a:spcPct val="110000"/>
              </a:lnSpc>
              <a:spcAft>
                <a:spcPts val="200"/>
              </a:spcAft>
              <a:buSzPct val="100000"/>
              <a:buChar char="▪"/>
            </a:pPr>
            <a:r>
              <a:rPr lang="en-US" sz="9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Enables fraud and blackmail</a:t>
            </a:r>
            <a:endParaRPr lang="en-US" sz="900" dirty="0"/>
          </a:p>
          <a:p>
            <a:pPr marL="342900" indent="-342900">
              <a:lnSpc>
                <a:spcPct val="110000"/>
              </a:lnSpc>
              <a:spcAft>
                <a:spcPts val="200"/>
              </a:spcAft>
              <a:buSzPct val="100000"/>
              <a:buChar char="▪"/>
            </a:pPr>
            <a:r>
              <a:rPr lang="en-US" sz="9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Reduces trust in all real video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6233008" y="2615184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489040" y="2816352"/>
            <a:ext cx="457200" cy="457200"/>
          </a:xfrm>
          <a:prstGeom prst="ellipse">
            <a:avLst/>
          </a:prstGeom>
          <a:solidFill>
            <a:srgbClr val="22D3EE">
              <a:alpha val="16000"/>
            </a:srgbClr>
          </a:solidFill>
          <a:ln w="12700">
            <a:solidFill>
              <a:srgbClr val="22D3EE">
                <a:alpha val="45000"/>
              </a:srgbClr>
            </a:solidFill>
            <a:prstDash val="solid"/>
          </a:ln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3340" y="2930652"/>
            <a:ext cx="228600" cy="22860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7165696" y="2816352"/>
            <a:ext cx="41847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Legal Position</a:t>
            </a:r>
            <a:endParaRPr lang="en-US" sz="1450" dirty="0"/>
          </a:p>
        </p:txBody>
      </p:sp>
      <p:sp>
        <p:nvSpPr>
          <p:cNvPr id="18" name="Text 14"/>
          <p:cNvSpPr txBox="1"/>
          <p:nvPr/>
        </p:nvSpPr>
        <p:spPr>
          <a:xfrm>
            <a:off x="6507328" y="3419856"/>
            <a:ext cx="484312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Many countries have introduced laws against harmful deepfakes, especially non-consensual and election-related ones.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566928" y="4530149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822960" y="4731317"/>
            <a:ext cx="457200" cy="457200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260" y="4845617"/>
            <a:ext cx="228600" cy="22860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499616" y="4731317"/>
            <a:ext cx="41847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Spotting Them</a:t>
            </a:r>
            <a:endParaRPr lang="en-US" sz="1450" dirty="0"/>
          </a:p>
        </p:txBody>
      </p:sp>
      <p:sp>
        <p:nvSpPr>
          <p:cNvPr id="23" name="Text 18"/>
          <p:cNvSpPr txBox="1"/>
          <p:nvPr/>
        </p:nvSpPr>
        <p:spPr>
          <a:xfrm>
            <a:off x="841248" y="5334821"/>
            <a:ext cx="484312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Odd blinking, mismatched lip timing and strange edges can be clues — but detection by eye is becoming unreliable.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6233008" y="4530149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6489040" y="4731317"/>
            <a:ext cx="457200" cy="457200"/>
          </a:xfrm>
          <a:prstGeom prst="ellipse">
            <a:avLst/>
          </a:prstGeom>
          <a:solidFill>
            <a:srgbClr val="34D399">
              <a:alpha val="16000"/>
            </a:srgbClr>
          </a:solidFill>
          <a:ln w="12700">
            <a:solidFill>
              <a:srgbClr val="34D399">
                <a:alpha val="45000"/>
              </a:srgbClr>
            </a:solidFill>
            <a:prstDash val="solid"/>
          </a:ln>
        </p:spPr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3340" y="4845617"/>
            <a:ext cx="228600" cy="228600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7165696" y="4731317"/>
            <a:ext cx="41847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What Actually Helps</a:t>
            </a:r>
            <a:endParaRPr lang="en-US" sz="1450" dirty="0"/>
          </a:p>
        </p:txBody>
      </p:sp>
      <p:sp>
        <p:nvSpPr>
          <p:cNvPr id="28" name="Text 22"/>
          <p:cNvSpPr txBox="1"/>
          <p:nvPr/>
        </p:nvSpPr>
        <p:spPr>
          <a:xfrm>
            <a:off x="6507328" y="5334821"/>
            <a:ext cx="484312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Verify the source. Check whether reputable outlets report the same thing. Be sceptical of shocking clips.</a:t>
            </a:r>
            <a:endParaRPr lang="en-US" sz="1200" dirty="0"/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SLIDE 127 · ETHICS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Responsible Video Generation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Section 11 · AI Video Generation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147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11057839" cy="670560"/>
          </a:xfrm>
          <a:prstGeom prst="roundRect">
            <a:avLst>
              <a:gd name="adj" fmla="val 10909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04672" y="1600200"/>
            <a:ext cx="432816" cy="432816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2876" y="1708404"/>
            <a:ext cx="216408" cy="216408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475232" y="1591056"/>
            <a:ext cx="9875215" cy="4511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Consent for any real person</a:t>
            </a:r>
            <a:endParaRPr lang="en-US" sz="13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Never generate video of someone without their documented permission.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566928" y="2298192"/>
            <a:ext cx="11057839" cy="670560"/>
          </a:xfrm>
          <a:prstGeom prst="roundRect">
            <a:avLst>
              <a:gd name="adj" fmla="val 10909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804672" y="2417064"/>
            <a:ext cx="432816" cy="432816"/>
          </a:xfrm>
          <a:prstGeom prst="ellipse">
            <a:avLst/>
          </a:prstGeom>
          <a:solidFill>
            <a:srgbClr val="22D3EE">
              <a:alpha val="16000"/>
            </a:srgbClr>
          </a:solidFill>
          <a:ln w="12700">
            <a:solidFill>
              <a:srgbClr val="22D3EE">
                <a:alpha val="45000"/>
              </a:srgbClr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876" y="2525268"/>
            <a:ext cx="216408" cy="216408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475232" y="2407920"/>
            <a:ext cx="9875215" cy="4511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Label AI-generated video</a:t>
            </a:r>
            <a:endParaRPr lang="en-US" sz="13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Say clearly when content is synthetic, particularly in news and education.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566928" y="3115056"/>
            <a:ext cx="11057839" cy="670560"/>
          </a:xfrm>
          <a:prstGeom prst="roundRect">
            <a:avLst>
              <a:gd name="adj" fmla="val 10909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04672" y="3233928"/>
            <a:ext cx="432816" cy="432816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2876" y="3342132"/>
            <a:ext cx="216408" cy="216408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475232" y="3224784"/>
            <a:ext cx="9875215" cy="4511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No impersonation</a:t>
            </a:r>
            <a:endParaRPr lang="en-US" sz="13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Do not create content that pretends to be a real person making statements.</a:t>
            </a:r>
            <a:endParaRPr lang="en-US" sz="1350" dirty="0"/>
          </a:p>
        </p:txBody>
      </p:sp>
      <p:sp>
        <p:nvSpPr>
          <p:cNvPr id="18" name="Shape 13"/>
          <p:cNvSpPr/>
          <p:nvPr/>
        </p:nvSpPr>
        <p:spPr>
          <a:xfrm>
            <a:off x="566928" y="3931920"/>
            <a:ext cx="11057839" cy="670560"/>
          </a:xfrm>
          <a:prstGeom prst="roundRect">
            <a:avLst>
              <a:gd name="adj" fmla="val 10909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804672" y="4050792"/>
            <a:ext cx="432816" cy="432816"/>
          </a:xfrm>
          <a:prstGeom prst="ellipse">
            <a:avLst/>
          </a:prstGeom>
          <a:solidFill>
            <a:srgbClr val="34D399">
              <a:alpha val="16000"/>
            </a:srgbClr>
          </a:solidFill>
          <a:ln w="12700">
            <a:solidFill>
              <a:srgbClr val="34D399">
                <a:alpha val="45000"/>
              </a:srgbClr>
            </a:solidFill>
            <a:prstDash val="solid"/>
          </a:ln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876" y="4158996"/>
            <a:ext cx="216408" cy="216408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475232" y="4041648"/>
            <a:ext cx="9875215" cy="4511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Respect rights</a:t>
            </a:r>
            <a:endParaRPr lang="en-US" sz="13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Check licences for source footage, music and any likeness used.</a:t>
            </a:r>
            <a:endParaRPr lang="en-US" sz="1350" dirty="0"/>
          </a:p>
        </p:txBody>
      </p:sp>
      <p:sp>
        <p:nvSpPr>
          <p:cNvPr id="22" name="Shape 16"/>
          <p:cNvSpPr/>
          <p:nvPr/>
        </p:nvSpPr>
        <p:spPr>
          <a:xfrm>
            <a:off x="566928" y="4748784"/>
            <a:ext cx="11057839" cy="670560"/>
          </a:xfrm>
          <a:prstGeom prst="roundRect">
            <a:avLst>
              <a:gd name="adj" fmla="val 10909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804672" y="4867656"/>
            <a:ext cx="432816" cy="432816"/>
          </a:xfrm>
          <a:prstGeom prst="ellipse">
            <a:avLst/>
          </a:prstGeom>
          <a:solidFill>
            <a:srgbClr val="F472B6">
              <a:alpha val="16000"/>
            </a:srgbClr>
          </a:solidFill>
          <a:ln w="12700">
            <a:solidFill>
              <a:srgbClr val="F472B6">
                <a:alpha val="45000"/>
              </a:srgbClr>
            </a:solidFill>
            <a:prstDash val="solid"/>
          </a:ln>
        </p:spPr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2876" y="4975860"/>
            <a:ext cx="216408" cy="216408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1475232" y="4858512"/>
            <a:ext cx="9875215" cy="4511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Verify before sharing</a:t>
            </a:r>
            <a:endParaRPr lang="en-US" sz="13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shocking clip should be checked before you forward it to anyone.</a:t>
            </a:r>
            <a:endParaRPr lang="en-US" sz="1350" dirty="0"/>
          </a:p>
        </p:txBody>
      </p:sp>
      <p:sp>
        <p:nvSpPr>
          <p:cNvPr id="26" name="Shape 19"/>
          <p:cNvSpPr/>
          <p:nvPr/>
        </p:nvSpPr>
        <p:spPr>
          <a:xfrm>
            <a:off x="566928" y="5565648"/>
            <a:ext cx="11057839" cy="670560"/>
          </a:xfrm>
          <a:prstGeom prst="roundRect">
            <a:avLst>
              <a:gd name="adj" fmla="val 10909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7" name="Shape 20"/>
          <p:cNvSpPr/>
          <p:nvPr/>
        </p:nvSpPr>
        <p:spPr>
          <a:xfrm>
            <a:off x="804672" y="5684520"/>
            <a:ext cx="432816" cy="432816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28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2876" y="5792724"/>
            <a:ext cx="216408" cy="216408"/>
          </a:xfrm>
          <a:prstGeom prst="rect">
            <a:avLst/>
          </a:prstGeom>
        </p:spPr>
      </p:pic>
      <p:sp>
        <p:nvSpPr>
          <p:cNvPr id="29" name="Text 21"/>
          <p:cNvSpPr txBox="1"/>
          <p:nvPr/>
        </p:nvSpPr>
        <p:spPr>
          <a:xfrm>
            <a:off x="1475232" y="5675376"/>
            <a:ext cx="9875215" cy="4511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Teach media literacy</a:t>
            </a:r>
            <a:endParaRPr lang="en-US" sz="13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Students should learn that video is no longer automatic proof of an event.</a:t>
            </a:r>
            <a:endParaRPr lang="en-US" sz="1350" dirty="0"/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BBF2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QUIZ 11 · SLIDES 120–127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Quiz 11 — AI Video Generation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Section 11 · AI Video Generation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148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11057839" cy="848563"/>
          </a:xfrm>
          <a:prstGeom prst="roundRect">
            <a:avLst>
              <a:gd name="adj" fmla="val 8621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68096" y="1627632"/>
            <a:ext cx="310896" cy="310896"/>
          </a:xfrm>
          <a:prstGeom prst="ellipse">
            <a:avLst/>
          </a:prstGeom>
          <a:solidFill>
            <a:srgbClr val="FBBF24">
              <a:alpha val="22000"/>
            </a:srgbClr>
          </a:solidFill>
          <a:ln w="12700">
            <a:solidFill>
              <a:srgbClr val="FBBF24">
                <a:alpha val="5000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68096" y="1627632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BBF2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Q1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188720" y="1600200"/>
            <a:ext cx="8726119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Video generation is harder than images because: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10207447" y="1618488"/>
            <a:ext cx="1371600" cy="347472"/>
          </a:xfrm>
          <a:prstGeom prst="roundRect">
            <a:avLst>
              <a:gd name="adj" fmla="val 15789"/>
            </a:avLst>
          </a:prstGeom>
          <a:solidFill>
            <a:srgbClr val="A78BFA">
              <a:alpha val="20000"/>
            </a:srgbClr>
          </a:solidFill>
          <a:ln w="12700">
            <a:solidFill>
              <a:srgbClr val="A78BFA">
                <a:alpha val="60000"/>
              </a:srgbClr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207447" y="1618488"/>
            <a:ext cx="13716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Answer: C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1115568" y="2011680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A. </a:t>
            </a:r>
            <a:r>
              <a:rPr lang="en-US" sz="11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Videos use no colour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3674288" y="2011680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B. </a:t>
            </a:r>
            <a:r>
              <a:rPr lang="en-US" sz="11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Text is easier to draw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6233008" y="2011680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C. </a:t>
            </a: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Frames must stay consistent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8791727" y="2011680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D. </a:t>
            </a:r>
            <a:r>
              <a:rPr lang="en-US" sz="11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Images need more power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66928" y="2457907"/>
            <a:ext cx="11057839" cy="848563"/>
          </a:xfrm>
          <a:prstGeom prst="roundRect">
            <a:avLst>
              <a:gd name="adj" fmla="val 8621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68096" y="2604211"/>
            <a:ext cx="310896" cy="310896"/>
          </a:xfrm>
          <a:prstGeom prst="ellipse">
            <a:avLst/>
          </a:prstGeom>
          <a:solidFill>
            <a:srgbClr val="FBBF24">
              <a:alpha val="22000"/>
            </a:srgbClr>
          </a:solidFill>
          <a:ln w="12700">
            <a:solidFill>
              <a:srgbClr val="FBBF24">
                <a:alpha val="50000"/>
              </a:srgbClr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68096" y="2604211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BBF2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Q2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1188720" y="2576779"/>
            <a:ext cx="8726119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Image-to-video means the model: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10207447" y="2595067"/>
            <a:ext cx="1371600" cy="347472"/>
          </a:xfrm>
          <a:prstGeom prst="roundRect">
            <a:avLst>
              <a:gd name="adj" fmla="val 15789"/>
            </a:avLst>
          </a:prstGeom>
          <a:solidFill>
            <a:srgbClr val="A78BFA">
              <a:alpha val="20000"/>
            </a:srgbClr>
          </a:solidFill>
          <a:ln w="12700">
            <a:solidFill>
              <a:srgbClr val="A78BFA">
                <a:alpha val="60000"/>
              </a:srgbClr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0207447" y="2595067"/>
            <a:ext cx="13716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Answer: D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1115568" y="2988259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A. </a:t>
            </a:r>
            <a:r>
              <a:rPr lang="en-US" sz="11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Writes a script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3674288" y="2988259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B. </a:t>
            </a:r>
            <a:r>
              <a:rPr lang="en-US" sz="11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Removes audio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6233008" y="2988259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C. </a:t>
            </a:r>
            <a:r>
              <a:rPr lang="en-US" sz="11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Prints a photo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8791727" y="2988259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D. </a:t>
            </a: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Animates a still picture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66928" y="3434486"/>
            <a:ext cx="11057839" cy="848563"/>
          </a:xfrm>
          <a:prstGeom prst="roundRect">
            <a:avLst>
              <a:gd name="adj" fmla="val 8621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768096" y="3580790"/>
            <a:ext cx="310896" cy="310896"/>
          </a:xfrm>
          <a:prstGeom prst="ellipse">
            <a:avLst/>
          </a:prstGeom>
          <a:solidFill>
            <a:srgbClr val="FBBF24">
              <a:alpha val="22000"/>
            </a:srgbClr>
          </a:solidFill>
          <a:ln w="12700">
            <a:solidFill>
              <a:srgbClr val="FBBF24">
                <a:alpha val="50000"/>
              </a:srgbClr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68096" y="3580790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BBF2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Q3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1188720" y="3553358"/>
            <a:ext cx="8726119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An AI avatar is: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10207447" y="3571646"/>
            <a:ext cx="1371600" cy="347472"/>
          </a:xfrm>
          <a:prstGeom prst="roundRect">
            <a:avLst>
              <a:gd name="adj" fmla="val 15789"/>
            </a:avLst>
          </a:prstGeom>
          <a:solidFill>
            <a:srgbClr val="A78BFA">
              <a:alpha val="20000"/>
            </a:srgbClr>
          </a:solidFill>
          <a:ln w="12700">
            <a:solidFill>
              <a:srgbClr val="A78BFA">
                <a:alpha val="60000"/>
              </a:srgbClr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10207447" y="3571646"/>
            <a:ext cx="13716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Answer: A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1115568" y="3964838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A. </a:t>
            </a: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synthetic video presenter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3674288" y="3964838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B. </a:t>
            </a:r>
            <a:r>
              <a:rPr lang="en-US" sz="11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type of database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6233008" y="3964838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C. </a:t>
            </a:r>
            <a:r>
              <a:rPr lang="en-US" sz="11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hardware chip</a:t>
            </a:r>
            <a:endParaRPr lang="en-US" sz="1050" dirty="0"/>
          </a:p>
        </p:txBody>
      </p:sp>
      <p:sp>
        <p:nvSpPr>
          <p:cNvPr id="35" name="Text 33"/>
          <p:cNvSpPr txBox="1"/>
          <p:nvPr/>
        </p:nvSpPr>
        <p:spPr>
          <a:xfrm>
            <a:off x="8791727" y="3964838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D. </a:t>
            </a:r>
            <a:r>
              <a:rPr lang="en-US" sz="11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network protocol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66928" y="4411066"/>
            <a:ext cx="11057839" cy="848563"/>
          </a:xfrm>
          <a:prstGeom prst="roundRect">
            <a:avLst>
              <a:gd name="adj" fmla="val 8621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768096" y="4557370"/>
            <a:ext cx="310896" cy="310896"/>
          </a:xfrm>
          <a:prstGeom prst="ellipse">
            <a:avLst/>
          </a:prstGeom>
          <a:solidFill>
            <a:srgbClr val="FBBF24">
              <a:alpha val="22000"/>
            </a:srgbClr>
          </a:solidFill>
          <a:ln w="12700">
            <a:solidFill>
              <a:srgbClr val="FBBF24">
                <a:alpha val="50000"/>
              </a:srgbClr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768096" y="4557370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BBF2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Q4</a:t>
            </a:r>
            <a:endParaRPr lang="en-US" sz="900" dirty="0"/>
          </a:p>
        </p:txBody>
      </p:sp>
      <p:sp>
        <p:nvSpPr>
          <p:cNvPr id="39" name="Text 37"/>
          <p:cNvSpPr txBox="1"/>
          <p:nvPr/>
        </p:nvSpPr>
        <p:spPr>
          <a:xfrm>
            <a:off x="1188720" y="4529938"/>
            <a:ext cx="8726119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 deepfake is harmful mainly because it:</a:t>
            </a:r>
            <a:endParaRPr lang="en-US" sz="1250" dirty="0"/>
          </a:p>
        </p:txBody>
      </p:sp>
      <p:sp>
        <p:nvSpPr>
          <p:cNvPr id="40" name="Shape 38"/>
          <p:cNvSpPr/>
          <p:nvPr/>
        </p:nvSpPr>
        <p:spPr>
          <a:xfrm>
            <a:off x="10207447" y="4548226"/>
            <a:ext cx="1371600" cy="347472"/>
          </a:xfrm>
          <a:prstGeom prst="roundRect">
            <a:avLst>
              <a:gd name="adj" fmla="val 15789"/>
            </a:avLst>
          </a:prstGeom>
          <a:solidFill>
            <a:srgbClr val="A78BFA">
              <a:alpha val="20000"/>
            </a:srgbClr>
          </a:solidFill>
          <a:ln w="12700">
            <a:solidFill>
              <a:srgbClr val="A78BFA">
                <a:alpha val="60000"/>
              </a:srgbClr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10207447" y="4548226"/>
            <a:ext cx="13716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Answer: B</a:t>
            </a:r>
            <a:endParaRPr lang="en-US" sz="1050" dirty="0"/>
          </a:p>
        </p:txBody>
      </p:sp>
      <p:sp>
        <p:nvSpPr>
          <p:cNvPr id="42" name="Text 40"/>
          <p:cNvSpPr txBox="1"/>
          <p:nvPr/>
        </p:nvSpPr>
        <p:spPr>
          <a:xfrm>
            <a:off x="1115568" y="4941418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A. </a:t>
            </a:r>
            <a:r>
              <a:rPr lang="en-US" sz="11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Uses a large file size</a:t>
            </a:r>
            <a:endParaRPr lang="en-US" sz="1050" dirty="0"/>
          </a:p>
        </p:txBody>
      </p:sp>
      <p:sp>
        <p:nvSpPr>
          <p:cNvPr id="43" name="Text 41"/>
          <p:cNvSpPr txBox="1"/>
          <p:nvPr/>
        </p:nvSpPr>
        <p:spPr>
          <a:xfrm>
            <a:off x="3674288" y="4941418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B. </a:t>
            </a: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Shows people saying things they never said</a:t>
            </a:r>
            <a:endParaRPr lang="en-US" sz="1050" dirty="0"/>
          </a:p>
        </p:txBody>
      </p:sp>
      <p:sp>
        <p:nvSpPr>
          <p:cNvPr id="44" name="Text 42"/>
          <p:cNvSpPr txBox="1"/>
          <p:nvPr/>
        </p:nvSpPr>
        <p:spPr>
          <a:xfrm>
            <a:off x="6233008" y="4941418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C. </a:t>
            </a:r>
            <a:r>
              <a:rPr lang="en-US" sz="11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Takes a long time</a:t>
            </a:r>
            <a:endParaRPr lang="en-US" sz="1050" dirty="0"/>
          </a:p>
        </p:txBody>
      </p:sp>
      <p:sp>
        <p:nvSpPr>
          <p:cNvPr id="45" name="Text 43"/>
          <p:cNvSpPr txBox="1"/>
          <p:nvPr/>
        </p:nvSpPr>
        <p:spPr>
          <a:xfrm>
            <a:off x="8791727" y="4941418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D. </a:t>
            </a:r>
            <a:r>
              <a:rPr lang="en-US" sz="11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Needs a camera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566928" y="5387645"/>
            <a:ext cx="11057839" cy="848563"/>
          </a:xfrm>
          <a:prstGeom prst="roundRect">
            <a:avLst>
              <a:gd name="adj" fmla="val 8621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768096" y="5533949"/>
            <a:ext cx="310896" cy="310896"/>
          </a:xfrm>
          <a:prstGeom prst="ellipse">
            <a:avLst/>
          </a:prstGeom>
          <a:solidFill>
            <a:srgbClr val="FBBF24">
              <a:alpha val="22000"/>
            </a:srgbClr>
          </a:solidFill>
          <a:ln w="12700">
            <a:solidFill>
              <a:srgbClr val="FBBF24">
                <a:alpha val="50000"/>
              </a:srgbClr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768096" y="5533949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BBF2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Q5</a:t>
            </a:r>
            <a:endParaRPr lang="en-US" sz="900" dirty="0"/>
          </a:p>
        </p:txBody>
      </p:sp>
      <p:sp>
        <p:nvSpPr>
          <p:cNvPr id="49" name="Text 47"/>
          <p:cNvSpPr txBox="1"/>
          <p:nvPr/>
        </p:nvSpPr>
        <p:spPr>
          <a:xfrm>
            <a:off x="1188720" y="5506517"/>
            <a:ext cx="8726119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Before sharing a shocking video you should:</a:t>
            </a:r>
            <a:endParaRPr lang="en-US" sz="1250" dirty="0"/>
          </a:p>
        </p:txBody>
      </p:sp>
      <p:sp>
        <p:nvSpPr>
          <p:cNvPr id="50" name="Shape 48"/>
          <p:cNvSpPr/>
          <p:nvPr/>
        </p:nvSpPr>
        <p:spPr>
          <a:xfrm>
            <a:off x="10207447" y="5524805"/>
            <a:ext cx="1371600" cy="347472"/>
          </a:xfrm>
          <a:prstGeom prst="roundRect">
            <a:avLst>
              <a:gd name="adj" fmla="val 15789"/>
            </a:avLst>
          </a:prstGeom>
          <a:solidFill>
            <a:srgbClr val="A78BFA">
              <a:alpha val="20000"/>
            </a:srgbClr>
          </a:solidFill>
          <a:ln w="12700">
            <a:solidFill>
              <a:srgbClr val="A78BFA">
                <a:alpha val="60000"/>
              </a:srgbClr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10207447" y="5524805"/>
            <a:ext cx="13716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Answer: C</a:t>
            </a:r>
            <a:endParaRPr lang="en-US" sz="1050" dirty="0"/>
          </a:p>
        </p:txBody>
      </p:sp>
      <p:sp>
        <p:nvSpPr>
          <p:cNvPr id="52" name="Text 50"/>
          <p:cNvSpPr txBox="1"/>
          <p:nvPr/>
        </p:nvSpPr>
        <p:spPr>
          <a:xfrm>
            <a:off x="1115568" y="5917997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A. </a:t>
            </a:r>
            <a:r>
              <a:rPr lang="en-US" sz="11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Forward it quickly</a:t>
            </a:r>
            <a:endParaRPr lang="en-US" sz="1050" dirty="0"/>
          </a:p>
        </p:txBody>
      </p:sp>
      <p:sp>
        <p:nvSpPr>
          <p:cNvPr id="53" name="Text 51"/>
          <p:cNvSpPr txBox="1"/>
          <p:nvPr/>
        </p:nvSpPr>
        <p:spPr>
          <a:xfrm>
            <a:off x="3674288" y="5917997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B. </a:t>
            </a:r>
            <a:r>
              <a:rPr lang="en-US" sz="11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Add more effects</a:t>
            </a:r>
            <a:endParaRPr lang="en-US" sz="1050" dirty="0"/>
          </a:p>
        </p:txBody>
      </p:sp>
      <p:sp>
        <p:nvSpPr>
          <p:cNvPr id="54" name="Text 52"/>
          <p:cNvSpPr txBox="1"/>
          <p:nvPr/>
        </p:nvSpPr>
        <p:spPr>
          <a:xfrm>
            <a:off x="6233008" y="5917997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C. </a:t>
            </a: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Verify the source</a:t>
            </a:r>
            <a:endParaRPr lang="en-US" sz="1050" dirty="0"/>
          </a:p>
        </p:txBody>
      </p:sp>
      <p:sp>
        <p:nvSpPr>
          <p:cNvPr id="55" name="Text 53"/>
          <p:cNvSpPr txBox="1"/>
          <p:nvPr/>
        </p:nvSpPr>
        <p:spPr>
          <a:xfrm>
            <a:off x="8791727" y="5917997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D. </a:t>
            </a:r>
            <a:r>
              <a:rPr lang="en-US" sz="11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Delete the captions</a:t>
            </a:r>
            <a:endParaRPr lang="en-US" sz="1050" dirty="0"/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49808" y="1874520"/>
            <a:ext cx="58521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SECTION 12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49808" y="2240280"/>
            <a:ext cx="6035040" cy="1554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Embeddings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749808" y="3886200"/>
            <a:ext cx="5852160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How computers compare meaning — the idea behind modern search and RAG.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49808" y="4846320"/>
            <a:ext cx="1463040" cy="64008"/>
          </a:xfrm>
          <a:prstGeom prst="roundRect">
            <a:avLst>
              <a:gd name="adj" fmla="val 42857"/>
            </a:avLst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32320" y="1143000"/>
            <a:ext cx="4492447" cy="797357"/>
          </a:xfrm>
          <a:prstGeom prst="roundRect">
            <a:avLst>
              <a:gd name="adj" fmla="val 9174"/>
            </a:avLst>
          </a:prstGeom>
          <a:solidFill>
            <a:srgbClr val="191640"/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51776" y="1313078"/>
            <a:ext cx="457200" cy="457200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66076" y="1427378"/>
            <a:ext cx="228600" cy="22860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8010144" y="1143000"/>
            <a:ext cx="3303727" cy="79735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What is an Embedding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7132320" y="2086661"/>
            <a:ext cx="4492447" cy="797357"/>
          </a:xfrm>
          <a:prstGeom prst="roundRect">
            <a:avLst>
              <a:gd name="adj" fmla="val 9174"/>
            </a:avLst>
          </a:prstGeom>
          <a:solidFill>
            <a:srgbClr val="191640"/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7351776" y="2256739"/>
            <a:ext cx="457200" cy="457200"/>
          </a:xfrm>
          <a:prstGeom prst="ellipse">
            <a:avLst/>
          </a:prstGeom>
          <a:solidFill>
            <a:srgbClr val="22D3EE">
              <a:alpha val="16000"/>
            </a:srgbClr>
          </a:solidFill>
          <a:ln w="12700">
            <a:solidFill>
              <a:srgbClr val="22D3EE">
                <a:alpha val="45000"/>
              </a:srgbClr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6076" y="2371039"/>
            <a:ext cx="228600" cy="22860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8010144" y="2086661"/>
            <a:ext cx="3303727" cy="79735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Text to Vector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7132320" y="3030322"/>
            <a:ext cx="4492447" cy="797357"/>
          </a:xfrm>
          <a:prstGeom prst="roundRect">
            <a:avLst>
              <a:gd name="adj" fmla="val 9174"/>
            </a:avLst>
          </a:prstGeom>
          <a:solidFill>
            <a:srgbClr val="191640"/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351776" y="3200400"/>
            <a:ext cx="457200" cy="457200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6076" y="3314700"/>
            <a:ext cx="228600" cy="22860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010144" y="3030322"/>
            <a:ext cx="3303727" cy="79735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Semantic Similarity</a:t>
            </a:r>
            <a:endParaRPr lang="en-US" sz="1350" dirty="0"/>
          </a:p>
        </p:txBody>
      </p:sp>
      <p:sp>
        <p:nvSpPr>
          <p:cNvPr id="18" name="Shape 13"/>
          <p:cNvSpPr/>
          <p:nvPr/>
        </p:nvSpPr>
        <p:spPr>
          <a:xfrm>
            <a:off x="7132320" y="3973982"/>
            <a:ext cx="4492447" cy="797357"/>
          </a:xfrm>
          <a:prstGeom prst="roundRect">
            <a:avLst>
              <a:gd name="adj" fmla="val 9174"/>
            </a:avLst>
          </a:prstGeom>
          <a:solidFill>
            <a:srgbClr val="191640"/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7351776" y="4144061"/>
            <a:ext cx="457200" cy="457200"/>
          </a:xfrm>
          <a:prstGeom prst="ellipse">
            <a:avLst/>
          </a:prstGeom>
          <a:solidFill>
            <a:srgbClr val="34D399">
              <a:alpha val="16000"/>
            </a:srgbClr>
          </a:solidFill>
          <a:ln w="12700">
            <a:solidFill>
              <a:srgbClr val="34D399">
                <a:alpha val="45000"/>
              </a:srgbClr>
            </a:solidFill>
            <a:prstDash val="solid"/>
          </a:ln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66076" y="4258361"/>
            <a:ext cx="228600" cy="22860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8010144" y="3973982"/>
            <a:ext cx="3303727" cy="79735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Search &amp; Recommendations</a:t>
            </a:r>
            <a:endParaRPr lang="en-US" sz="1350" dirty="0"/>
          </a:p>
        </p:txBody>
      </p:sp>
      <p:sp>
        <p:nvSpPr>
          <p:cNvPr id="22" name="Shape 16"/>
          <p:cNvSpPr/>
          <p:nvPr/>
        </p:nvSpPr>
        <p:spPr>
          <a:xfrm>
            <a:off x="7132320" y="4917643"/>
            <a:ext cx="4492447" cy="797357"/>
          </a:xfrm>
          <a:prstGeom prst="roundRect">
            <a:avLst>
              <a:gd name="adj" fmla="val 9174"/>
            </a:avLst>
          </a:prstGeom>
          <a:solidFill>
            <a:srgbClr val="191640"/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7351776" y="5087722"/>
            <a:ext cx="457200" cy="457200"/>
          </a:xfrm>
          <a:prstGeom prst="ellipse">
            <a:avLst/>
          </a:prstGeom>
          <a:solidFill>
            <a:srgbClr val="F472B6">
              <a:alpha val="16000"/>
            </a:srgbClr>
          </a:solidFill>
          <a:ln w="12700">
            <a:solidFill>
              <a:srgbClr val="F472B6">
                <a:alpha val="45000"/>
              </a:srgbClr>
            </a:solidFill>
            <a:prstDash val="solid"/>
          </a:ln>
        </p:spPr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66076" y="5202022"/>
            <a:ext cx="228600" cy="228600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8010144" y="4917643"/>
            <a:ext cx="3303727" cy="79735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Embeddings in RAG</a:t>
            </a:r>
            <a:endParaRPr lang="en-US" sz="1350" dirty="0"/>
          </a:p>
        </p:txBody>
      </p:sp>
      <p:sp>
        <p:nvSpPr>
          <p:cNvPr id="26" name="Text 19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Section 12 · Embeddings</a:t>
            </a:r>
            <a:endParaRPr lang="en-US" sz="950" dirty="0"/>
          </a:p>
        </p:txBody>
      </p:sp>
      <p:sp>
        <p:nvSpPr>
          <p:cNvPr id="27" name="Text 20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149</a:t>
            </a:r>
            <a:endParaRPr lang="en-US" sz="950" dirty="0"/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SLIDE 128 · DEFINITION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What is an Embedding?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Section 12 · Embeddings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150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11057839" cy="877824"/>
          </a:xfrm>
          <a:prstGeom prst="roundRect">
            <a:avLst>
              <a:gd name="adj" fmla="val 8333"/>
            </a:avLst>
          </a:prstGeom>
          <a:solidFill>
            <a:srgbClr val="191640">
              <a:alpha val="96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6928" y="1627632"/>
            <a:ext cx="64008" cy="585216"/>
          </a:xfrm>
          <a:prstGeom prst="roundRect">
            <a:avLst>
              <a:gd name="adj" fmla="val 42857"/>
            </a:avLst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59536" y="1572768"/>
            <a:ext cx="10472623" cy="6949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DDD9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 embedding is a list of numbers that represents the meaning of a piece of text, an image or audio.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66928" y="2615184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22960" y="2816352"/>
            <a:ext cx="457200" cy="457200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2930652"/>
            <a:ext cx="228600" cy="22860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499616" y="2816352"/>
            <a:ext cx="41847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Simple Explanation</a:t>
            </a:r>
            <a:endParaRPr lang="en-US" sz="1450" dirty="0"/>
          </a:p>
        </p:txBody>
      </p:sp>
      <p:sp>
        <p:nvSpPr>
          <p:cNvPr id="13" name="Text 10"/>
          <p:cNvSpPr txBox="1"/>
          <p:nvPr/>
        </p:nvSpPr>
        <p:spPr>
          <a:xfrm>
            <a:off x="841248" y="3419856"/>
            <a:ext cx="484312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Computers cannot compare meaning directly. Embeddings turn meaning into numbers, and numbers can be compared.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33008" y="2615184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489040" y="2816352"/>
            <a:ext cx="457200" cy="457200"/>
          </a:xfrm>
          <a:prstGeom prst="ellipse">
            <a:avLst/>
          </a:prstGeom>
          <a:solidFill>
            <a:srgbClr val="22D3EE">
              <a:alpha val="16000"/>
            </a:srgbClr>
          </a:solidFill>
          <a:ln w="12700">
            <a:solidFill>
              <a:srgbClr val="22D3EE">
                <a:alpha val="45000"/>
              </a:srgbClr>
            </a:solidFill>
            <a:prstDash val="solid"/>
          </a:ln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3340" y="2930652"/>
            <a:ext cx="228600" cy="22860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7165696" y="2816352"/>
            <a:ext cx="41847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What It Looks Like</a:t>
            </a:r>
            <a:endParaRPr lang="en-US" sz="1450" dirty="0"/>
          </a:p>
        </p:txBody>
      </p:sp>
      <p:sp>
        <p:nvSpPr>
          <p:cNvPr id="18" name="Text 14"/>
          <p:cNvSpPr txBox="1"/>
          <p:nvPr/>
        </p:nvSpPr>
        <p:spPr>
          <a:xfrm>
            <a:off x="6507328" y="3419856"/>
            <a:ext cx="484312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long list such as [0.12, -0.58, 0.91, ...], typically with hundreds or thousands of values.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566928" y="4530149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822960" y="4731317"/>
            <a:ext cx="457200" cy="457200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260" y="4845617"/>
            <a:ext cx="228600" cy="22860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499616" y="4731317"/>
            <a:ext cx="41847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The Key Property</a:t>
            </a:r>
            <a:endParaRPr lang="en-US" sz="1450" dirty="0"/>
          </a:p>
        </p:txBody>
      </p:sp>
      <p:sp>
        <p:nvSpPr>
          <p:cNvPr id="23" name="Text 18"/>
          <p:cNvSpPr txBox="1"/>
          <p:nvPr/>
        </p:nvSpPr>
        <p:spPr>
          <a:xfrm>
            <a:off x="841248" y="5334821"/>
            <a:ext cx="484312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Texts with similar meaning get similar numbers, even when they use completely different words.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6233008" y="4530149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6489040" y="4731317"/>
            <a:ext cx="457200" cy="457200"/>
          </a:xfrm>
          <a:prstGeom prst="ellipse">
            <a:avLst/>
          </a:prstGeom>
          <a:solidFill>
            <a:srgbClr val="34D399">
              <a:alpha val="16000"/>
            </a:srgbClr>
          </a:solidFill>
          <a:ln w="12700">
            <a:solidFill>
              <a:srgbClr val="34D399">
                <a:alpha val="45000"/>
              </a:srgbClr>
            </a:solidFill>
            <a:prstDash val="solid"/>
          </a:ln>
        </p:spPr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3340" y="4845617"/>
            <a:ext cx="228600" cy="228600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7165696" y="4731317"/>
            <a:ext cx="41847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Analogy</a:t>
            </a:r>
            <a:endParaRPr lang="en-US" sz="1450" dirty="0"/>
          </a:p>
        </p:txBody>
      </p:sp>
      <p:sp>
        <p:nvSpPr>
          <p:cNvPr id="28" name="Text 22"/>
          <p:cNvSpPr txBox="1"/>
          <p:nvPr/>
        </p:nvSpPr>
        <p:spPr>
          <a:xfrm>
            <a:off x="6507328" y="5334821"/>
            <a:ext cx="484312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Like giving every idea a map coordinate. Related ideas end up close together on the map.</a:t>
            </a:r>
            <a:endParaRPr lang="en-US" sz="1200" dirty="0"/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SLIDE 129 · WHY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Why Embeddings are Useful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Section 12 · Embeddings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151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11057839" cy="833933"/>
          </a:xfrm>
          <a:prstGeom prst="roundRect">
            <a:avLst>
              <a:gd name="adj" fmla="val 8772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04672" y="1642262"/>
            <a:ext cx="512064" cy="512064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" y="1770278"/>
            <a:ext cx="256032" cy="256032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554480" y="1591056"/>
            <a:ext cx="9795967" cy="61447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Search by meaning, not words</a:t>
            </a:r>
            <a:endParaRPr lang="en-US" sz="13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"How do I reset my password?" finds a document titled "Account recovery steps".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566928" y="2461565"/>
            <a:ext cx="11057839" cy="833933"/>
          </a:xfrm>
          <a:prstGeom prst="roundRect">
            <a:avLst>
              <a:gd name="adj" fmla="val 8772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804672" y="2622499"/>
            <a:ext cx="512064" cy="512064"/>
          </a:xfrm>
          <a:prstGeom prst="ellipse">
            <a:avLst/>
          </a:prstGeom>
          <a:solidFill>
            <a:srgbClr val="22D3EE">
              <a:alpha val="16000"/>
            </a:srgbClr>
          </a:solidFill>
          <a:ln w="12700">
            <a:solidFill>
              <a:srgbClr val="22D3EE">
                <a:alpha val="45000"/>
              </a:srgbClr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" y="2750515"/>
            <a:ext cx="256032" cy="256032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554480" y="2571293"/>
            <a:ext cx="9795967" cy="61447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Grouping and classification</a:t>
            </a:r>
            <a:endParaRPr lang="en-US" sz="13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Similar support tickets or documents cluster together automatically.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566928" y="3441802"/>
            <a:ext cx="11057839" cy="833933"/>
          </a:xfrm>
          <a:prstGeom prst="roundRect">
            <a:avLst>
              <a:gd name="adj" fmla="val 8772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04672" y="3602736"/>
            <a:ext cx="512064" cy="512064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" y="3730752"/>
            <a:ext cx="256032" cy="256032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554480" y="3551530"/>
            <a:ext cx="9795967" cy="61447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Recommendations</a:t>
            </a:r>
            <a:endParaRPr lang="en-US" sz="13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Suggest items similar in meaning or style to what someone already liked.</a:t>
            </a:r>
            <a:endParaRPr lang="en-US" sz="1350" dirty="0"/>
          </a:p>
        </p:txBody>
      </p:sp>
      <p:sp>
        <p:nvSpPr>
          <p:cNvPr id="18" name="Shape 13"/>
          <p:cNvSpPr/>
          <p:nvPr/>
        </p:nvSpPr>
        <p:spPr>
          <a:xfrm>
            <a:off x="566928" y="4422038"/>
            <a:ext cx="11057839" cy="833933"/>
          </a:xfrm>
          <a:prstGeom prst="roundRect">
            <a:avLst>
              <a:gd name="adj" fmla="val 8772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804672" y="4582973"/>
            <a:ext cx="512064" cy="512064"/>
          </a:xfrm>
          <a:prstGeom prst="ellipse">
            <a:avLst/>
          </a:prstGeom>
          <a:solidFill>
            <a:srgbClr val="34D399">
              <a:alpha val="16000"/>
            </a:srgbClr>
          </a:solidFill>
          <a:ln w="12700">
            <a:solidFill>
              <a:srgbClr val="34D399">
                <a:alpha val="45000"/>
              </a:srgbClr>
            </a:solidFill>
            <a:prstDash val="solid"/>
          </a:ln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688" y="4710989"/>
            <a:ext cx="256032" cy="256032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554480" y="4531766"/>
            <a:ext cx="9795967" cy="61447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They power RAG</a:t>
            </a:r>
            <a:endParaRPr lang="en-US" sz="13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Finding the right document to give an LLM is done with embeddings.</a:t>
            </a:r>
            <a:endParaRPr lang="en-US" sz="1350" dirty="0"/>
          </a:p>
        </p:txBody>
      </p:sp>
      <p:sp>
        <p:nvSpPr>
          <p:cNvPr id="22" name="Shape 16"/>
          <p:cNvSpPr/>
          <p:nvPr/>
        </p:nvSpPr>
        <p:spPr>
          <a:xfrm>
            <a:off x="566928" y="5402275"/>
            <a:ext cx="11057839" cy="833933"/>
          </a:xfrm>
          <a:prstGeom prst="roundRect">
            <a:avLst>
              <a:gd name="adj" fmla="val 8772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804672" y="5563210"/>
            <a:ext cx="512064" cy="512064"/>
          </a:xfrm>
          <a:prstGeom prst="ellipse">
            <a:avLst/>
          </a:prstGeom>
          <a:solidFill>
            <a:srgbClr val="F472B6">
              <a:alpha val="16000"/>
            </a:srgbClr>
          </a:solidFill>
          <a:ln w="12700">
            <a:solidFill>
              <a:srgbClr val="F472B6">
                <a:alpha val="45000"/>
              </a:srgbClr>
            </a:solidFill>
            <a:prstDash val="solid"/>
          </a:ln>
        </p:spPr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2688" y="5691226"/>
            <a:ext cx="256032" cy="256032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1554480" y="5512003"/>
            <a:ext cx="9795967" cy="61447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They cross languages</a:t>
            </a:r>
            <a:endParaRPr lang="en-US" sz="13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Good multilingual embeddings place the same idea in two languages close together.</a:t>
            </a:r>
            <a:endParaRPr lang="en-US" sz="1350" dirty="0"/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SLIDE 130 · PROCESS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Text to Vector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Section 12 · Embeddings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152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2464308"/>
            <a:ext cx="2387270" cy="1691640"/>
          </a:xfrm>
          <a:prstGeom prst="roundRect">
            <a:avLst>
              <a:gd name="adj" fmla="val 4324"/>
            </a:avLst>
          </a:prstGeom>
          <a:solidFill>
            <a:srgbClr val="191640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586827" y="2290572"/>
            <a:ext cx="347472" cy="347472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586827" y="2290572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0A1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94944" y="2738628"/>
            <a:ext cx="213123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A78BF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Text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94944" y="3195828"/>
            <a:ext cx="2131238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"The cat sat on the mat"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045638" y="3191256"/>
            <a:ext cx="320040" cy="237744"/>
          </a:xfrm>
          <a:prstGeom prst="rightArrow">
            <a:avLst/>
          </a:prstGeom>
          <a:solidFill>
            <a:srgbClr val="22D3EE">
              <a:alpha val="70000"/>
            </a:srgbClr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57118" y="2464308"/>
            <a:ext cx="2387270" cy="1691640"/>
          </a:xfrm>
          <a:prstGeom prst="roundRect">
            <a:avLst>
              <a:gd name="adj" fmla="val 4324"/>
            </a:avLst>
          </a:prstGeom>
          <a:solidFill>
            <a:srgbClr val="191640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477017" y="2290572"/>
            <a:ext cx="347472" cy="34747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477017" y="2290572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0A1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3585134" y="2738628"/>
            <a:ext cx="213123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2D3E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Embedding model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3585134" y="3195828"/>
            <a:ext cx="2131238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neural network trained to capture meaning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935828" y="3191256"/>
            <a:ext cx="320040" cy="237744"/>
          </a:xfrm>
          <a:prstGeom prst="rightArrow">
            <a:avLst/>
          </a:prstGeom>
          <a:solidFill>
            <a:srgbClr val="22D3EE">
              <a:alpha val="70000"/>
            </a:srgbClr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347308" y="2464308"/>
            <a:ext cx="2387270" cy="1691640"/>
          </a:xfrm>
          <a:prstGeom prst="roundRect">
            <a:avLst>
              <a:gd name="adj" fmla="val 4324"/>
            </a:avLst>
          </a:prstGeom>
          <a:solidFill>
            <a:srgbClr val="191640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367207" y="2290572"/>
            <a:ext cx="347472" cy="347472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367207" y="2290572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0A1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6475324" y="2738628"/>
            <a:ext cx="213123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BBF2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Vector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475324" y="3195828"/>
            <a:ext cx="2131238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[0.21, -0.44, 0.87, ... ]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8826017" y="3191256"/>
            <a:ext cx="320040" cy="237744"/>
          </a:xfrm>
          <a:prstGeom prst="rightArrow">
            <a:avLst/>
          </a:prstGeom>
          <a:solidFill>
            <a:srgbClr val="22D3EE">
              <a:alpha val="70000"/>
            </a:srgbClr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237497" y="2464308"/>
            <a:ext cx="2387270" cy="1691640"/>
          </a:xfrm>
          <a:prstGeom prst="roundRect">
            <a:avLst>
              <a:gd name="adj" fmla="val 4324"/>
            </a:avLst>
          </a:prstGeom>
          <a:solidFill>
            <a:srgbClr val="191640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10257396" y="2290572"/>
            <a:ext cx="347472" cy="347472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10257396" y="2290572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0A1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4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9365513" y="2738628"/>
            <a:ext cx="213123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4D39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Store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9365513" y="3195828"/>
            <a:ext cx="2131238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Saved in a vector database for later comparison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566928" y="5276088"/>
            <a:ext cx="11057839" cy="960120"/>
          </a:xfrm>
          <a:prstGeom prst="roundRect">
            <a:avLst>
              <a:gd name="adj" fmla="val 7619"/>
            </a:avLst>
          </a:prstGeom>
          <a:solidFill>
            <a:srgbClr val="191640">
              <a:alpha val="96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30" name="Text 28"/>
          <p:cNvSpPr txBox="1"/>
          <p:nvPr/>
        </p:nvSpPr>
        <p:spPr>
          <a:xfrm>
            <a:off x="841248" y="5385816"/>
            <a:ext cx="10509199" cy="7406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A78BF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Remember:  </a:t>
            </a:r>
            <a:r>
              <a:rPr lang="en-US" sz="13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same model must be used for both storing and searching, otherwise the numbers are not comparable.</a:t>
            </a:r>
            <a:endParaRPr lang="en-US" sz="1300" dirty="0"/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SLIDE 131 · THE CORE IDEA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Semantic Similarity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Section 12 · Embeddings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153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11057839" cy="877824"/>
          </a:xfrm>
          <a:prstGeom prst="roundRect">
            <a:avLst>
              <a:gd name="adj" fmla="val 8333"/>
            </a:avLst>
          </a:prstGeom>
          <a:solidFill>
            <a:srgbClr val="191640">
              <a:alpha val="96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6928" y="1627632"/>
            <a:ext cx="64008" cy="585216"/>
          </a:xfrm>
          <a:prstGeom prst="roundRect">
            <a:avLst>
              <a:gd name="adj" fmla="val 42857"/>
            </a:avLst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59536" y="1572768"/>
            <a:ext cx="10472623" cy="6949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DDD9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Semantic similarity means two pieces of text have a similar meaning, even if the words differ.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66928" y="2615184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22960" y="2816352"/>
            <a:ext cx="457200" cy="457200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2930652"/>
            <a:ext cx="228600" cy="22860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499616" y="2816352"/>
            <a:ext cx="41847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How It Is Measured</a:t>
            </a:r>
            <a:endParaRPr lang="en-US" sz="1450" dirty="0"/>
          </a:p>
        </p:txBody>
      </p:sp>
      <p:sp>
        <p:nvSpPr>
          <p:cNvPr id="13" name="Text 10"/>
          <p:cNvSpPr txBox="1"/>
          <p:nvPr/>
        </p:nvSpPr>
        <p:spPr>
          <a:xfrm>
            <a:off x="841248" y="3419856"/>
            <a:ext cx="484312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By checking how close two vectors point in the same direction. Closer means more similar.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33008" y="2615184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489040" y="2816352"/>
            <a:ext cx="457200" cy="457200"/>
          </a:xfrm>
          <a:prstGeom prst="ellipse">
            <a:avLst/>
          </a:prstGeom>
          <a:solidFill>
            <a:srgbClr val="22D3EE">
              <a:alpha val="16000"/>
            </a:srgbClr>
          </a:solidFill>
          <a:ln w="12700">
            <a:solidFill>
              <a:srgbClr val="22D3EE">
                <a:alpha val="45000"/>
              </a:srgbClr>
            </a:solidFill>
            <a:prstDash val="solid"/>
          </a:ln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3340" y="2930652"/>
            <a:ext cx="228600" cy="22860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7165696" y="2816352"/>
            <a:ext cx="41847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Example Of Similar</a:t>
            </a:r>
            <a:endParaRPr lang="en-US" sz="1450" dirty="0"/>
          </a:p>
        </p:txBody>
      </p:sp>
      <p:sp>
        <p:nvSpPr>
          <p:cNvPr id="18" name="Text 14"/>
          <p:cNvSpPr txBox="1"/>
          <p:nvPr/>
        </p:nvSpPr>
        <p:spPr>
          <a:xfrm>
            <a:off x="6507328" y="3419856"/>
            <a:ext cx="484312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"How much does it cost?" and "What is the price?" — different words, nearly the same meaning.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566928" y="4530149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822960" y="4731317"/>
            <a:ext cx="457200" cy="457200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260" y="4845617"/>
            <a:ext cx="228600" cy="22860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499616" y="4731317"/>
            <a:ext cx="41847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Example Of Different</a:t>
            </a:r>
            <a:endParaRPr lang="en-US" sz="1450" dirty="0"/>
          </a:p>
        </p:txBody>
      </p:sp>
      <p:sp>
        <p:nvSpPr>
          <p:cNvPr id="23" name="Text 18"/>
          <p:cNvSpPr txBox="1"/>
          <p:nvPr/>
        </p:nvSpPr>
        <p:spPr>
          <a:xfrm>
            <a:off x="841248" y="5334821"/>
            <a:ext cx="484312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"How much does it cost?" and "What time do you open?" — similar length, very different meaning.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6233008" y="4530149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6489040" y="4731317"/>
            <a:ext cx="457200" cy="457200"/>
          </a:xfrm>
          <a:prstGeom prst="ellipse">
            <a:avLst/>
          </a:prstGeom>
          <a:solidFill>
            <a:srgbClr val="34D399">
              <a:alpha val="16000"/>
            </a:srgbClr>
          </a:solidFill>
          <a:ln w="12700">
            <a:solidFill>
              <a:srgbClr val="34D399">
                <a:alpha val="45000"/>
              </a:srgbClr>
            </a:solidFill>
            <a:prstDash val="solid"/>
          </a:ln>
        </p:spPr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3340" y="4845617"/>
            <a:ext cx="228600" cy="228600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7165696" y="4731317"/>
            <a:ext cx="41847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It Is Not Perfect</a:t>
            </a:r>
            <a:endParaRPr lang="en-US" sz="1450" dirty="0"/>
          </a:p>
        </p:txBody>
      </p:sp>
      <p:sp>
        <p:nvSpPr>
          <p:cNvPr id="28" name="Text 22"/>
          <p:cNvSpPr txBox="1"/>
          <p:nvPr/>
        </p:nvSpPr>
        <p:spPr>
          <a:xfrm>
            <a:off x="6507328" y="5334821"/>
            <a:ext cx="484312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Sarcasm, negation and very specialised jargon can confuse similarity scores.</a:t>
            </a:r>
            <a:endParaRPr lang="en-US" sz="1200" dirty="0"/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SLIDE 132 · APPLICATION 1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Embeddings in Search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Section 12 · Embeddings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154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5364328" cy="3840480"/>
          </a:xfrm>
          <a:prstGeom prst="roundRect">
            <a:avLst>
              <a:gd name="adj" fmla="val 1905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41248" y="1737360"/>
            <a:ext cx="530352" cy="530352"/>
          </a:xfrm>
          <a:prstGeom prst="ellipse">
            <a:avLst/>
          </a:prstGeom>
          <a:solidFill>
            <a:srgbClr val="22D3EE">
              <a:alpha val="16000"/>
            </a:srgbClr>
          </a:solidFill>
          <a:ln w="12700">
            <a:solidFill>
              <a:srgbClr val="22D3EE">
                <a:alpha val="45000"/>
              </a:srgbClr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3836" y="1869948"/>
            <a:ext cx="265176" cy="265176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591056" y="1737360"/>
            <a:ext cx="4047592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2D3E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Keyword search (old way)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877824" y="2505456"/>
            <a:ext cx="4742536" cy="261518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▪"/>
            </a:pPr>
            <a:r>
              <a:rPr lang="en-US" sz="135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Matches the exact words typed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▪"/>
            </a:pPr>
            <a:r>
              <a:rPr lang="en-US" sz="135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Misses documents that use different words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▪"/>
            </a:pPr>
            <a:r>
              <a:rPr lang="en-US" sz="135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Fails on synonyms and paraphrases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▪"/>
            </a:pPr>
            <a:r>
              <a:rPr lang="en-US" sz="135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"car" does not find "automobile"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6260440" y="1481328"/>
            <a:ext cx="5364328" cy="3840480"/>
          </a:xfrm>
          <a:prstGeom prst="roundRect">
            <a:avLst>
              <a:gd name="adj" fmla="val 1905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534760" y="1737360"/>
            <a:ext cx="530352" cy="530352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7348" y="1869948"/>
            <a:ext cx="265176" cy="265176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7284568" y="1737360"/>
            <a:ext cx="4047592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A78BF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Semantic search (with embeddings)</a:t>
            </a:r>
            <a:endParaRPr lang="en-US" sz="1800" dirty="0"/>
          </a:p>
        </p:txBody>
      </p:sp>
      <p:sp>
        <p:nvSpPr>
          <p:cNvPr id="15" name="Text 11"/>
          <p:cNvSpPr txBox="1"/>
          <p:nvPr/>
        </p:nvSpPr>
        <p:spPr>
          <a:xfrm>
            <a:off x="6571336" y="2505456"/>
            <a:ext cx="4742536" cy="261518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▪"/>
            </a:pPr>
            <a:r>
              <a:rPr lang="en-US" sz="135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Matches the meaning of the query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▪"/>
            </a:pPr>
            <a:r>
              <a:rPr lang="en-US" sz="135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Finds relevant documents with different wording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▪"/>
            </a:pPr>
            <a:r>
              <a:rPr lang="en-US" sz="135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Handles synonyms and questions naturally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▪"/>
            </a:pPr>
            <a:r>
              <a:rPr lang="en-US" sz="135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"car" also finds "automobile" and "vehicle"</a:t>
            </a:r>
            <a:endParaRPr lang="en-US" sz="1350" dirty="0"/>
          </a:p>
        </p:txBody>
      </p:sp>
      <p:sp>
        <p:nvSpPr>
          <p:cNvPr id="16" name="Shape 12"/>
          <p:cNvSpPr/>
          <p:nvPr/>
        </p:nvSpPr>
        <p:spPr>
          <a:xfrm>
            <a:off x="566928" y="5458968"/>
            <a:ext cx="11057839" cy="777240"/>
          </a:xfrm>
          <a:prstGeom prst="roundRect">
            <a:avLst>
              <a:gd name="adj" fmla="val 9412"/>
            </a:avLst>
          </a:prstGeom>
          <a:solidFill>
            <a:srgbClr val="191640">
              <a:alpha val="96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7" name="Text 13"/>
          <p:cNvSpPr txBox="1"/>
          <p:nvPr/>
        </p:nvSpPr>
        <p:spPr>
          <a:xfrm>
            <a:off x="841248" y="5550408"/>
            <a:ext cx="10509199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22D3E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Key point:  </a:t>
            </a:r>
            <a:r>
              <a:rPr lang="en-US" sz="13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Many real systems combine both: keyword search for exact terms such as product codes, semantic search for natural questions.</a:t>
            </a:r>
            <a:endParaRPr lang="en-US" sz="1300" dirty="0"/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SLIDE 133 · APPLICATION 2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Embeddings in Recommendations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Section 12 · Embeddings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155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11057839" cy="877824"/>
          </a:xfrm>
          <a:prstGeom prst="roundRect">
            <a:avLst>
              <a:gd name="adj" fmla="val 8333"/>
            </a:avLst>
          </a:prstGeom>
          <a:solidFill>
            <a:srgbClr val="191640">
              <a:alpha val="96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6928" y="1627632"/>
            <a:ext cx="64008" cy="585216"/>
          </a:xfrm>
          <a:prstGeom prst="roundRect">
            <a:avLst>
              <a:gd name="adj" fmla="val 42857"/>
            </a:avLst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59536" y="1572768"/>
            <a:ext cx="10472623" cy="6949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DDD9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Recommendation systems use embeddings to find items similar to what a person already liked.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66928" y="2615184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22960" y="2816352"/>
            <a:ext cx="457200" cy="457200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2930652"/>
            <a:ext cx="228600" cy="22860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499616" y="2816352"/>
            <a:ext cx="41847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How It Works</a:t>
            </a:r>
            <a:endParaRPr lang="en-US" sz="1450" dirty="0"/>
          </a:p>
        </p:txBody>
      </p:sp>
      <p:sp>
        <p:nvSpPr>
          <p:cNvPr id="13" name="Text 10"/>
          <p:cNvSpPr txBox="1"/>
          <p:nvPr/>
        </p:nvSpPr>
        <p:spPr>
          <a:xfrm>
            <a:off x="841248" y="3419856"/>
            <a:ext cx="484312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Each item gets an embedding. Items whose vectors are close are considered similar.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33008" y="2615184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489040" y="2816352"/>
            <a:ext cx="457200" cy="457200"/>
          </a:xfrm>
          <a:prstGeom prst="ellipse">
            <a:avLst/>
          </a:prstGeom>
          <a:solidFill>
            <a:srgbClr val="22D3EE">
              <a:alpha val="16000"/>
            </a:srgbClr>
          </a:solidFill>
          <a:ln w="12700">
            <a:solidFill>
              <a:srgbClr val="22D3EE">
                <a:alpha val="45000"/>
              </a:srgbClr>
            </a:solidFill>
            <a:prstDash val="solid"/>
          </a:ln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3340" y="2930652"/>
            <a:ext cx="228600" cy="22860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7165696" y="2816352"/>
            <a:ext cx="41847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Example</a:t>
            </a:r>
            <a:endParaRPr lang="en-US" sz="1450" dirty="0"/>
          </a:p>
        </p:txBody>
      </p:sp>
      <p:sp>
        <p:nvSpPr>
          <p:cNvPr id="18" name="Text 14"/>
          <p:cNvSpPr txBox="1"/>
          <p:nvPr/>
        </p:nvSpPr>
        <p:spPr>
          <a:xfrm>
            <a:off x="6507328" y="3419856"/>
            <a:ext cx="484312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You watch a documentary about oceans. The system suggests other items whose embeddings sit nearby.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566928" y="4530149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822960" y="4731317"/>
            <a:ext cx="457200" cy="457200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260" y="4845617"/>
            <a:ext cx="228600" cy="22860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499616" y="4731317"/>
            <a:ext cx="41847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User Profiles Too</a:t>
            </a:r>
            <a:endParaRPr lang="en-US" sz="1450" dirty="0"/>
          </a:p>
        </p:txBody>
      </p:sp>
      <p:sp>
        <p:nvSpPr>
          <p:cNvPr id="23" name="Text 18"/>
          <p:cNvSpPr txBox="1"/>
          <p:nvPr/>
        </p:nvSpPr>
        <p:spPr>
          <a:xfrm>
            <a:off x="841248" y="5334821"/>
            <a:ext cx="484312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person can be represented by the average of what they liked, then matched against items.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6233008" y="4530149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6489040" y="4731317"/>
            <a:ext cx="457200" cy="457200"/>
          </a:xfrm>
          <a:prstGeom prst="ellipse">
            <a:avLst/>
          </a:prstGeom>
          <a:solidFill>
            <a:srgbClr val="34D399">
              <a:alpha val="16000"/>
            </a:srgbClr>
          </a:solidFill>
          <a:ln w="12700">
            <a:solidFill>
              <a:srgbClr val="34D399">
                <a:alpha val="45000"/>
              </a:srgbClr>
            </a:solidFill>
            <a:prstDash val="solid"/>
          </a:ln>
        </p:spPr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3340" y="4845617"/>
            <a:ext cx="228600" cy="228600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7165696" y="4731317"/>
            <a:ext cx="41847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The Filter Bubble</a:t>
            </a:r>
            <a:endParaRPr lang="en-US" sz="1450" dirty="0"/>
          </a:p>
        </p:txBody>
      </p:sp>
      <p:sp>
        <p:nvSpPr>
          <p:cNvPr id="28" name="Text 22"/>
          <p:cNvSpPr txBox="1"/>
          <p:nvPr/>
        </p:nvSpPr>
        <p:spPr>
          <a:xfrm>
            <a:off x="6507328" y="5334821"/>
            <a:ext cx="484312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Recommending only similar things narrows what people see. Good systems deliberately add variety.</a:t>
            </a:r>
            <a:endParaRPr lang="en-US" sz="1200" dirty="0"/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SLIDE 134 · APPLICATION 3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Embeddings in RAG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Section 12 · Embeddings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156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481328"/>
            <a:ext cx="11057839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DDD9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This is how an AI assistant finds the right paragraph from thousands of documents.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66928" y="2747772"/>
            <a:ext cx="1809232" cy="1691640"/>
          </a:xfrm>
          <a:prstGeom prst="roundRect">
            <a:avLst>
              <a:gd name="adj" fmla="val 4324"/>
            </a:avLst>
          </a:prstGeom>
          <a:solidFill>
            <a:srgbClr val="191640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297808" y="2574036"/>
            <a:ext cx="347472" cy="347472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297808" y="2574036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0A1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94944" y="3022092"/>
            <a:ext cx="1553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A78BF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Documents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94944" y="3479292"/>
            <a:ext cx="1553200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Split into small chunks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2467600" y="3474720"/>
            <a:ext cx="320040" cy="237744"/>
          </a:xfrm>
          <a:prstGeom prst="rightArrow">
            <a:avLst/>
          </a:prstGeom>
          <a:solidFill>
            <a:srgbClr val="22D3EE">
              <a:alpha val="70000"/>
            </a:srgbClr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879080" y="2747772"/>
            <a:ext cx="1809232" cy="1691640"/>
          </a:xfrm>
          <a:prstGeom prst="roundRect">
            <a:avLst>
              <a:gd name="adj" fmla="val 4324"/>
            </a:avLst>
          </a:prstGeom>
          <a:solidFill>
            <a:srgbClr val="191640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09960" y="2574036"/>
            <a:ext cx="347472" cy="34747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609960" y="2574036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0A1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3007096" y="3022092"/>
            <a:ext cx="1553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2D3E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Embed chunks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3007096" y="3479292"/>
            <a:ext cx="1553200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Each chunk becomes a vector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779752" y="3474720"/>
            <a:ext cx="320040" cy="237744"/>
          </a:xfrm>
          <a:prstGeom prst="rightArrow">
            <a:avLst/>
          </a:prstGeom>
          <a:solidFill>
            <a:srgbClr val="22D3EE">
              <a:alpha val="70000"/>
            </a:srgbClr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191232" y="2747772"/>
            <a:ext cx="1809232" cy="1691640"/>
          </a:xfrm>
          <a:prstGeom prst="roundRect">
            <a:avLst>
              <a:gd name="adj" fmla="val 4324"/>
            </a:avLst>
          </a:prstGeom>
          <a:solidFill>
            <a:srgbClr val="191640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922112" y="2574036"/>
            <a:ext cx="347472" cy="347472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922112" y="2574036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0A1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5319248" y="3022092"/>
            <a:ext cx="1553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BBF2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Store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5319248" y="3479292"/>
            <a:ext cx="1553200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Vectors saved in a vector database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7091904" y="3474720"/>
            <a:ext cx="320040" cy="237744"/>
          </a:xfrm>
          <a:prstGeom prst="rightArrow">
            <a:avLst/>
          </a:prstGeom>
          <a:solidFill>
            <a:srgbClr val="22D3EE">
              <a:alpha val="70000"/>
            </a:srgbClr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503384" y="2747772"/>
            <a:ext cx="1809232" cy="1691640"/>
          </a:xfrm>
          <a:prstGeom prst="roundRect">
            <a:avLst>
              <a:gd name="adj" fmla="val 4324"/>
            </a:avLst>
          </a:prstGeom>
          <a:solidFill>
            <a:srgbClr val="191640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8234263" y="2574036"/>
            <a:ext cx="347472" cy="347472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234263" y="2574036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0A1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4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7631400" y="3022092"/>
            <a:ext cx="1553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4D39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Embed question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7631400" y="3479292"/>
            <a:ext cx="1553200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user question becomes a vector too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9404055" y="3474720"/>
            <a:ext cx="320040" cy="237744"/>
          </a:xfrm>
          <a:prstGeom prst="rightArrow">
            <a:avLst/>
          </a:prstGeom>
          <a:solidFill>
            <a:srgbClr val="22D3EE">
              <a:alpha val="70000"/>
            </a:srgbClr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815535" y="2747772"/>
            <a:ext cx="1809232" cy="1691640"/>
          </a:xfrm>
          <a:prstGeom prst="roundRect">
            <a:avLst>
              <a:gd name="adj" fmla="val 4324"/>
            </a:avLst>
          </a:prstGeom>
          <a:solidFill>
            <a:srgbClr val="191640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10546415" y="2574036"/>
            <a:ext cx="347472" cy="347472"/>
          </a:xfrm>
          <a:prstGeom prst="ellipse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10546415" y="2574036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0A1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5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9943551" y="3022092"/>
            <a:ext cx="1553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472B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Find closest</a:t>
            </a:r>
            <a:endParaRPr lang="en-US" sz="1400" dirty="0"/>
          </a:p>
        </p:txBody>
      </p:sp>
      <p:sp>
        <p:nvSpPr>
          <p:cNvPr id="35" name="Text 33"/>
          <p:cNvSpPr txBox="1"/>
          <p:nvPr/>
        </p:nvSpPr>
        <p:spPr>
          <a:xfrm>
            <a:off x="9943551" y="3479292"/>
            <a:ext cx="1553200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nearest chunks are retrieved and sent to the LLM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566928" y="5276088"/>
            <a:ext cx="11057839" cy="960120"/>
          </a:xfrm>
          <a:prstGeom prst="roundRect">
            <a:avLst>
              <a:gd name="adj" fmla="val 7619"/>
            </a:avLst>
          </a:prstGeom>
          <a:solidFill>
            <a:srgbClr val="191640">
              <a:alpha val="96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37" name="Text 35"/>
          <p:cNvSpPr txBox="1"/>
          <p:nvPr/>
        </p:nvSpPr>
        <p:spPr>
          <a:xfrm>
            <a:off x="841248" y="5385816"/>
            <a:ext cx="10509199" cy="7406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A78BF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Remember:  </a:t>
            </a:r>
            <a:r>
              <a:rPr lang="en-US" sz="13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Embeddings do the finding. The language model does the answering. Section 13 covers the whole pattern.</a:t>
            </a:r>
            <a:endParaRPr lang="en-US" sz="1300" dirty="0"/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SLIDE 135 · WORKED EXAMPLE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 Simple Embedding Example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Section 12 · Embeddings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157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11057839" cy="877824"/>
          </a:xfrm>
          <a:prstGeom prst="roundRect">
            <a:avLst>
              <a:gd name="adj" fmla="val 8333"/>
            </a:avLst>
          </a:prstGeom>
          <a:solidFill>
            <a:srgbClr val="191640">
              <a:alpha val="96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6928" y="1627632"/>
            <a:ext cx="64008" cy="585216"/>
          </a:xfrm>
          <a:prstGeom prst="roundRect">
            <a:avLst>
              <a:gd name="adj" fmla="val 42857"/>
            </a:avLst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59536" y="1572768"/>
            <a:ext cx="10472623" cy="6949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DDD9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Imagine a tiny help centre with three articles. A user asks a question in their own words.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66928" y="2615184"/>
            <a:ext cx="3503066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22960" y="2816352"/>
            <a:ext cx="457200" cy="457200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2930652"/>
            <a:ext cx="228600" cy="22860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499616" y="2816352"/>
            <a:ext cx="229605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Article A</a:t>
            </a:r>
            <a:endParaRPr lang="en-US" sz="1450" dirty="0"/>
          </a:p>
        </p:txBody>
      </p:sp>
      <p:sp>
        <p:nvSpPr>
          <p:cNvPr id="13" name="Text 10"/>
          <p:cNvSpPr txBox="1"/>
          <p:nvPr/>
        </p:nvSpPr>
        <p:spPr>
          <a:xfrm>
            <a:off x="841248" y="3419856"/>
            <a:ext cx="2954426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"Account recovery: how to regain access when you cannot sign in."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344314" y="2615184"/>
            <a:ext cx="3503066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600346" y="2816352"/>
            <a:ext cx="457200" cy="457200"/>
          </a:xfrm>
          <a:prstGeom prst="ellipse">
            <a:avLst/>
          </a:prstGeom>
          <a:solidFill>
            <a:srgbClr val="22D3EE">
              <a:alpha val="16000"/>
            </a:srgbClr>
          </a:solidFill>
          <a:ln w="12700">
            <a:solidFill>
              <a:srgbClr val="22D3EE">
                <a:alpha val="45000"/>
              </a:srgbClr>
            </a:solidFill>
            <a:prstDash val="solid"/>
          </a:ln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4646" y="2930652"/>
            <a:ext cx="228600" cy="22860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5277002" y="2816352"/>
            <a:ext cx="229605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Article B</a:t>
            </a:r>
            <a:endParaRPr lang="en-US" sz="1450" dirty="0"/>
          </a:p>
        </p:txBody>
      </p:sp>
      <p:sp>
        <p:nvSpPr>
          <p:cNvPr id="18" name="Text 14"/>
          <p:cNvSpPr txBox="1"/>
          <p:nvPr/>
        </p:nvSpPr>
        <p:spPr>
          <a:xfrm>
            <a:off x="4618634" y="3419856"/>
            <a:ext cx="2954426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"Delivery times: how long shipping takes to each region."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8121701" y="2615184"/>
            <a:ext cx="3503066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8377733" y="2816352"/>
            <a:ext cx="457200" cy="457200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2033" y="2930652"/>
            <a:ext cx="228600" cy="22860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9054389" y="2816352"/>
            <a:ext cx="229605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Article C</a:t>
            </a:r>
            <a:endParaRPr lang="en-US" sz="1450" dirty="0"/>
          </a:p>
        </p:txBody>
      </p:sp>
      <p:sp>
        <p:nvSpPr>
          <p:cNvPr id="23" name="Text 18"/>
          <p:cNvSpPr txBox="1"/>
          <p:nvPr/>
        </p:nvSpPr>
        <p:spPr>
          <a:xfrm>
            <a:off x="8396021" y="3419856"/>
            <a:ext cx="2954426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"Refund policy: how to request money back within 30 days."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566928" y="4530149"/>
            <a:ext cx="3503066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822960" y="4731317"/>
            <a:ext cx="457200" cy="457200"/>
          </a:xfrm>
          <a:prstGeom prst="ellipse">
            <a:avLst/>
          </a:prstGeom>
          <a:solidFill>
            <a:srgbClr val="34D399">
              <a:alpha val="16000"/>
            </a:srgbClr>
          </a:solidFill>
          <a:ln w="12700">
            <a:solidFill>
              <a:srgbClr val="34D399">
                <a:alpha val="45000"/>
              </a:srgbClr>
            </a:solidFill>
            <a:prstDash val="solid"/>
          </a:ln>
        </p:spPr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7260" y="4845617"/>
            <a:ext cx="228600" cy="228600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1499616" y="4731317"/>
            <a:ext cx="229605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The Question</a:t>
            </a:r>
            <a:endParaRPr lang="en-US" sz="1450" dirty="0"/>
          </a:p>
        </p:txBody>
      </p:sp>
      <p:sp>
        <p:nvSpPr>
          <p:cNvPr id="28" name="Text 22"/>
          <p:cNvSpPr txBox="1"/>
          <p:nvPr/>
        </p:nvSpPr>
        <p:spPr>
          <a:xfrm>
            <a:off x="841248" y="5334821"/>
            <a:ext cx="2954426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"I forgot my password and cannot log in."</a:t>
            </a:r>
            <a:endParaRPr lang="en-US" sz="1200" dirty="0"/>
          </a:p>
        </p:txBody>
      </p:sp>
      <p:sp>
        <p:nvSpPr>
          <p:cNvPr id="29" name="Shape 23"/>
          <p:cNvSpPr/>
          <p:nvPr/>
        </p:nvSpPr>
        <p:spPr>
          <a:xfrm>
            <a:off x="4344314" y="4530149"/>
            <a:ext cx="3503066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4600346" y="4731317"/>
            <a:ext cx="457200" cy="457200"/>
          </a:xfrm>
          <a:prstGeom prst="ellipse">
            <a:avLst/>
          </a:prstGeom>
          <a:solidFill>
            <a:srgbClr val="F472B6">
              <a:alpha val="16000"/>
            </a:srgbClr>
          </a:solidFill>
          <a:ln w="12700">
            <a:solidFill>
              <a:srgbClr val="F472B6">
                <a:alpha val="45000"/>
              </a:srgbClr>
            </a:solidFill>
            <a:prstDash val="solid"/>
          </a:ln>
        </p:spPr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14646" y="4845617"/>
            <a:ext cx="228600" cy="228600"/>
          </a:xfrm>
          <a:prstGeom prst="rect">
            <a:avLst/>
          </a:prstGeom>
        </p:spPr>
      </p:pic>
      <p:sp>
        <p:nvSpPr>
          <p:cNvPr id="32" name="Text 25"/>
          <p:cNvSpPr txBox="1"/>
          <p:nvPr/>
        </p:nvSpPr>
        <p:spPr>
          <a:xfrm>
            <a:off x="5277002" y="4731317"/>
            <a:ext cx="229605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What Happens</a:t>
            </a:r>
            <a:endParaRPr lang="en-US" sz="1450" dirty="0"/>
          </a:p>
        </p:txBody>
      </p:sp>
      <p:sp>
        <p:nvSpPr>
          <p:cNvPr id="33" name="Text 26"/>
          <p:cNvSpPr txBox="1"/>
          <p:nvPr/>
        </p:nvSpPr>
        <p:spPr>
          <a:xfrm>
            <a:off x="4618634" y="5334821"/>
            <a:ext cx="2954426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 shared keywords with Article A, yet its vector is closest in meaning, so Article A is retrieved.</a:t>
            </a:r>
            <a:endParaRPr lang="en-US" sz="1200" dirty="0"/>
          </a:p>
        </p:txBody>
      </p:sp>
      <p:sp>
        <p:nvSpPr>
          <p:cNvPr id="34" name="Shape 27"/>
          <p:cNvSpPr/>
          <p:nvPr/>
        </p:nvSpPr>
        <p:spPr>
          <a:xfrm>
            <a:off x="8121701" y="4530149"/>
            <a:ext cx="3503066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35" name="Shape 28"/>
          <p:cNvSpPr/>
          <p:nvPr/>
        </p:nvSpPr>
        <p:spPr>
          <a:xfrm>
            <a:off x="8377733" y="4731317"/>
            <a:ext cx="457200" cy="457200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36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92033" y="4845617"/>
            <a:ext cx="228600" cy="228600"/>
          </a:xfrm>
          <a:prstGeom prst="rect">
            <a:avLst/>
          </a:prstGeom>
        </p:spPr>
      </p:pic>
      <p:sp>
        <p:nvSpPr>
          <p:cNvPr id="37" name="Text 29"/>
          <p:cNvSpPr txBox="1"/>
          <p:nvPr/>
        </p:nvSpPr>
        <p:spPr>
          <a:xfrm>
            <a:off x="9054389" y="4731317"/>
            <a:ext cx="229605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The Result</a:t>
            </a:r>
            <a:endParaRPr lang="en-US" sz="1450" dirty="0"/>
          </a:p>
        </p:txBody>
      </p:sp>
      <p:sp>
        <p:nvSpPr>
          <p:cNvPr id="38" name="Text 30"/>
          <p:cNvSpPr txBox="1"/>
          <p:nvPr/>
        </p:nvSpPr>
        <p:spPr>
          <a:xfrm>
            <a:off x="8396021" y="5334821"/>
            <a:ext cx="2954426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LLM receives Article A and answers using it, instead of guessing from memory.</a:t>
            </a:r>
            <a:endParaRPr lang="en-US" sz="1200" dirty="0"/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BBF2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QUIZ 12 · SLIDES 128–135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Quiz 12 — Embeddings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Section 12 · Embeddings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158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11057839" cy="848563"/>
          </a:xfrm>
          <a:prstGeom prst="roundRect">
            <a:avLst>
              <a:gd name="adj" fmla="val 8621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68096" y="1627632"/>
            <a:ext cx="310896" cy="310896"/>
          </a:xfrm>
          <a:prstGeom prst="ellipse">
            <a:avLst/>
          </a:prstGeom>
          <a:solidFill>
            <a:srgbClr val="FBBF24">
              <a:alpha val="22000"/>
            </a:srgbClr>
          </a:solidFill>
          <a:ln w="12700">
            <a:solidFill>
              <a:srgbClr val="FBBF24">
                <a:alpha val="5000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68096" y="1627632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BBF2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Q1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188720" y="1600200"/>
            <a:ext cx="8726119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An embedding is: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10207447" y="1618488"/>
            <a:ext cx="1371600" cy="347472"/>
          </a:xfrm>
          <a:prstGeom prst="roundRect">
            <a:avLst>
              <a:gd name="adj" fmla="val 15789"/>
            </a:avLst>
          </a:prstGeom>
          <a:solidFill>
            <a:srgbClr val="A78BFA">
              <a:alpha val="20000"/>
            </a:srgbClr>
          </a:solidFill>
          <a:ln w="12700">
            <a:solidFill>
              <a:srgbClr val="A78BFA">
                <a:alpha val="60000"/>
              </a:srgbClr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207447" y="1618488"/>
            <a:ext cx="13716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Answer: D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1115568" y="2011680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A. </a:t>
            </a:r>
            <a:r>
              <a:rPr lang="en-US" sz="11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password file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3674288" y="2011680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B. </a:t>
            </a:r>
            <a:r>
              <a:rPr lang="en-US" sz="11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type of monitor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6233008" y="2011680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C. </a:t>
            </a:r>
            <a:r>
              <a:rPr lang="en-US" sz="11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network cable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8791727" y="2011680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D. </a:t>
            </a: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list of numbers representing meaning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66928" y="2457907"/>
            <a:ext cx="11057839" cy="848563"/>
          </a:xfrm>
          <a:prstGeom prst="roundRect">
            <a:avLst>
              <a:gd name="adj" fmla="val 8621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68096" y="2604211"/>
            <a:ext cx="310896" cy="310896"/>
          </a:xfrm>
          <a:prstGeom prst="ellipse">
            <a:avLst/>
          </a:prstGeom>
          <a:solidFill>
            <a:srgbClr val="FBBF24">
              <a:alpha val="22000"/>
            </a:srgbClr>
          </a:solidFill>
          <a:ln w="12700">
            <a:solidFill>
              <a:srgbClr val="FBBF24">
                <a:alpha val="50000"/>
              </a:srgbClr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68096" y="2604211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BBF2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Q2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1188720" y="2576779"/>
            <a:ext cx="8726119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Two texts with similar meaning will have: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10207447" y="2595067"/>
            <a:ext cx="1371600" cy="347472"/>
          </a:xfrm>
          <a:prstGeom prst="roundRect">
            <a:avLst>
              <a:gd name="adj" fmla="val 15789"/>
            </a:avLst>
          </a:prstGeom>
          <a:solidFill>
            <a:srgbClr val="A78BFA">
              <a:alpha val="20000"/>
            </a:srgbClr>
          </a:solidFill>
          <a:ln w="12700">
            <a:solidFill>
              <a:srgbClr val="A78BFA">
                <a:alpha val="60000"/>
              </a:srgbClr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0207447" y="2595067"/>
            <a:ext cx="13716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Answer: A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1115568" y="2988259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A. </a:t>
            </a: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Similar vectors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3674288" y="2988259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B. </a:t>
            </a:r>
            <a:r>
              <a:rPr lang="en-US" sz="11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same file name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6233008" y="2988259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C. </a:t>
            </a:r>
            <a:r>
              <a:rPr lang="en-US" sz="11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Equal length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8791727" y="2988259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D. </a:t>
            </a:r>
            <a:r>
              <a:rPr lang="en-US" sz="11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same author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66928" y="3434486"/>
            <a:ext cx="11057839" cy="848563"/>
          </a:xfrm>
          <a:prstGeom prst="roundRect">
            <a:avLst>
              <a:gd name="adj" fmla="val 8621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768096" y="3580790"/>
            <a:ext cx="310896" cy="310896"/>
          </a:xfrm>
          <a:prstGeom prst="ellipse">
            <a:avLst/>
          </a:prstGeom>
          <a:solidFill>
            <a:srgbClr val="FBBF24">
              <a:alpha val="22000"/>
            </a:srgbClr>
          </a:solidFill>
          <a:ln w="12700">
            <a:solidFill>
              <a:srgbClr val="FBBF24">
                <a:alpha val="50000"/>
              </a:srgbClr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68096" y="3580790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BBF2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Q3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1188720" y="3553358"/>
            <a:ext cx="8726119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Semantic search is better than keyword search at: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10207447" y="3571646"/>
            <a:ext cx="1371600" cy="347472"/>
          </a:xfrm>
          <a:prstGeom prst="roundRect">
            <a:avLst>
              <a:gd name="adj" fmla="val 15789"/>
            </a:avLst>
          </a:prstGeom>
          <a:solidFill>
            <a:srgbClr val="A78BFA">
              <a:alpha val="20000"/>
            </a:srgbClr>
          </a:solidFill>
          <a:ln w="12700">
            <a:solidFill>
              <a:srgbClr val="A78BFA">
                <a:alpha val="60000"/>
              </a:srgbClr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10207447" y="3571646"/>
            <a:ext cx="13716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Answer: B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1115568" y="3964838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A. </a:t>
            </a:r>
            <a:r>
              <a:rPr lang="en-US" sz="11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Saving disk space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3674288" y="3964838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B. </a:t>
            </a: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Handling synonyms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6233008" y="3964838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C. </a:t>
            </a:r>
            <a:r>
              <a:rPr lang="en-US" sz="11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Printing documents</a:t>
            </a:r>
            <a:endParaRPr lang="en-US" sz="1050" dirty="0"/>
          </a:p>
        </p:txBody>
      </p:sp>
      <p:sp>
        <p:nvSpPr>
          <p:cNvPr id="35" name="Text 33"/>
          <p:cNvSpPr txBox="1"/>
          <p:nvPr/>
        </p:nvSpPr>
        <p:spPr>
          <a:xfrm>
            <a:off x="8791727" y="3964838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D. </a:t>
            </a:r>
            <a:r>
              <a:rPr lang="en-US" sz="11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Encrypting files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66928" y="4411066"/>
            <a:ext cx="11057839" cy="848563"/>
          </a:xfrm>
          <a:prstGeom prst="roundRect">
            <a:avLst>
              <a:gd name="adj" fmla="val 8621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768096" y="4557370"/>
            <a:ext cx="310896" cy="310896"/>
          </a:xfrm>
          <a:prstGeom prst="ellipse">
            <a:avLst/>
          </a:prstGeom>
          <a:solidFill>
            <a:srgbClr val="FBBF24">
              <a:alpha val="22000"/>
            </a:srgbClr>
          </a:solidFill>
          <a:ln w="12700">
            <a:solidFill>
              <a:srgbClr val="FBBF24">
                <a:alpha val="50000"/>
              </a:srgbClr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768096" y="4557370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BBF2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Q4</a:t>
            </a:r>
            <a:endParaRPr lang="en-US" sz="900" dirty="0"/>
          </a:p>
        </p:txBody>
      </p:sp>
      <p:sp>
        <p:nvSpPr>
          <p:cNvPr id="39" name="Text 37"/>
          <p:cNvSpPr txBox="1"/>
          <p:nvPr/>
        </p:nvSpPr>
        <p:spPr>
          <a:xfrm>
            <a:off x="1188720" y="4529938"/>
            <a:ext cx="8726119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In RAG, embeddings are used to:</a:t>
            </a:r>
            <a:endParaRPr lang="en-US" sz="1250" dirty="0"/>
          </a:p>
        </p:txBody>
      </p:sp>
      <p:sp>
        <p:nvSpPr>
          <p:cNvPr id="40" name="Shape 38"/>
          <p:cNvSpPr/>
          <p:nvPr/>
        </p:nvSpPr>
        <p:spPr>
          <a:xfrm>
            <a:off x="10207447" y="4548226"/>
            <a:ext cx="1371600" cy="347472"/>
          </a:xfrm>
          <a:prstGeom prst="roundRect">
            <a:avLst>
              <a:gd name="adj" fmla="val 15789"/>
            </a:avLst>
          </a:prstGeom>
          <a:solidFill>
            <a:srgbClr val="A78BFA">
              <a:alpha val="20000"/>
            </a:srgbClr>
          </a:solidFill>
          <a:ln w="12700">
            <a:solidFill>
              <a:srgbClr val="A78BFA">
                <a:alpha val="60000"/>
              </a:srgbClr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10207447" y="4548226"/>
            <a:ext cx="13716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Answer: C</a:t>
            </a:r>
            <a:endParaRPr lang="en-US" sz="1050" dirty="0"/>
          </a:p>
        </p:txBody>
      </p:sp>
      <p:sp>
        <p:nvSpPr>
          <p:cNvPr id="42" name="Text 40"/>
          <p:cNvSpPr txBox="1"/>
          <p:nvPr/>
        </p:nvSpPr>
        <p:spPr>
          <a:xfrm>
            <a:off x="1115568" y="4941418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A. </a:t>
            </a:r>
            <a:r>
              <a:rPr lang="en-US" sz="11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Write the final answer</a:t>
            </a:r>
            <a:endParaRPr lang="en-US" sz="1050" dirty="0"/>
          </a:p>
        </p:txBody>
      </p:sp>
      <p:sp>
        <p:nvSpPr>
          <p:cNvPr id="43" name="Text 41"/>
          <p:cNvSpPr txBox="1"/>
          <p:nvPr/>
        </p:nvSpPr>
        <p:spPr>
          <a:xfrm>
            <a:off x="3674288" y="4941418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B. </a:t>
            </a:r>
            <a:r>
              <a:rPr lang="en-US" sz="11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Train the model</a:t>
            </a:r>
            <a:endParaRPr lang="en-US" sz="1050" dirty="0"/>
          </a:p>
        </p:txBody>
      </p:sp>
      <p:sp>
        <p:nvSpPr>
          <p:cNvPr id="44" name="Text 42"/>
          <p:cNvSpPr txBox="1"/>
          <p:nvPr/>
        </p:nvSpPr>
        <p:spPr>
          <a:xfrm>
            <a:off x="6233008" y="4941418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C. </a:t>
            </a: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Find the most relevant chunks</a:t>
            </a:r>
            <a:endParaRPr lang="en-US" sz="1050" dirty="0"/>
          </a:p>
        </p:txBody>
      </p:sp>
      <p:sp>
        <p:nvSpPr>
          <p:cNvPr id="45" name="Text 43"/>
          <p:cNvSpPr txBox="1"/>
          <p:nvPr/>
        </p:nvSpPr>
        <p:spPr>
          <a:xfrm>
            <a:off x="8791727" y="4941418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D. </a:t>
            </a:r>
            <a:r>
              <a:rPr lang="en-US" sz="11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Display the screen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566928" y="5387645"/>
            <a:ext cx="11057839" cy="848563"/>
          </a:xfrm>
          <a:prstGeom prst="roundRect">
            <a:avLst>
              <a:gd name="adj" fmla="val 8621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768096" y="5533949"/>
            <a:ext cx="310896" cy="310896"/>
          </a:xfrm>
          <a:prstGeom prst="ellipse">
            <a:avLst/>
          </a:prstGeom>
          <a:solidFill>
            <a:srgbClr val="FBBF24">
              <a:alpha val="22000"/>
            </a:srgbClr>
          </a:solidFill>
          <a:ln w="12700">
            <a:solidFill>
              <a:srgbClr val="FBBF24">
                <a:alpha val="50000"/>
              </a:srgbClr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768096" y="5533949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BBF2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Q5</a:t>
            </a:r>
            <a:endParaRPr lang="en-US" sz="900" dirty="0"/>
          </a:p>
        </p:txBody>
      </p:sp>
      <p:sp>
        <p:nvSpPr>
          <p:cNvPr id="49" name="Text 47"/>
          <p:cNvSpPr txBox="1"/>
          <p:nvPr/>
        </p:nvSpPr>
        <p:spPr>
          <a:xfrm>
            <a:off x="1188720" y="5506517"/>
            <a:ext cx="8726119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For search to work, you must use:</a:t>
            </a:r>
            <a:endParaRPr lang="en-US" sz="1250" dirty="0"/>
          </a:p>
        </p:txBody>
      </p:sp>
      <p:sp>
        <p:nvSpPr>
          <p:cNvPr id="50" name="Shape 48"/>
          <p:cNvSpPr/>
          <p:nvPr/>
        </p:nvSpPr>
        <p:spPr>
          <a:xfrm>
            <a:off x="10207447" y="5524805"/>
            <a:ext cx="1371600" cy="347472"/>
          </a:xfrm>
          <a:prstGeom prst="roundRect">
            <a:avLst>
              <a:gd name="adj" fmla="val 15789"/>
            </a:avLst>
          </a:prstGeom>
          <a:solidFill>
            <a:srgbClr val="A78BFA">
              <a:alpha val="20000"/>
            </a:srgbClr>
          </a:solidFill>
          <a:ln w="12700">
            <a:solidFill>
              <a:srgbClr val="A78BFA">
                <a:alpha val="60000"/>
              </a:srgbClr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10207447" y="5524805"/>
            <a:ext cx="13716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Answer: D</a:t>
            </a:r>
            <a:endParaRPr lang="en-US" sz="1050" dirty="0"/>
          </a:p>
        </p:txBody>
      </p:sp>
      <p:sp>
        <p:nvSpPr>
          <p:cNvPr id="52" name="Text 50"/>
          <p:cNvSpPr txBox="1"/>
          <p:nvPr/>
        </p:nvSpPr>
        <p:spPr>
          <a:xfrm>
            <a:off x="1115568" y="5917997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A. </a:t>
            </a:r>
            <a:r>
              <a:rPr lang="en-US" sz="11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Two different models</a:t>
            </a:r>
            <a:endParaRPr lang="en-US" sz="1050" dirty="0"/>
          </a:p>
        </p:txBody>
      </p:sp>
      <p:sp>
        <p:nvSpPr>
          <p:cNvPr id="53" name="Text 51"/>
          <p:cNvSpPr txBox="1"/>
          <p:nvPr/>
        </p:nvSpPr>
        <p:spPr>
          <a:xfrm>
            <a:off x="3674288" y="5917997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B. </a:t>
            </a:r>
            <a:r>
              <a:rPr lang="en-US" sz="11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 model at all</a:t>
            </a:r>
            <a:endParaRPr lang="en-US" sz="1050" dirty="0"/>
          </a:p>
        </p:txBody>
      </p:sp>
      <p:sp>
        <p:nvSpPr>
          <p:cNvPr id="54" name="Text 52"/>
          <p:cNvSpPr txBox="1"/>
          <p:nvPr/>
        </p:nvSpPr>
        <p:spPr>
          <a:xfrm>
            <a:off x="6233008" y="5917997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C. </a:t>
            </a:r>
            <a:r>
              <a:rPr lang="en-US" sz="11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printed index</a:t>
            </a:r>
            <a:endParaRPr lang="en-US" sz="1050" dirty="0"/>
          </a:p>
        </p:txBody>
      </p:sp>
      <p:sp>
        <p:nvSpPr>
          <p:cNvPr id="55" name="Text 53"/>
          <p:cNvSpPr txBox="1"/>
          <p:nvPr/>
        </p:nvSpPr>
        <p:spPr>
          <a:xfrm>
            <a:off x="8791727" y="5917997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D. </a:t>
            </a: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same embedding model both times</a:t>
            </a:r>
            <a:endParaRPr lang="en-US" sz="1050" dirty="0"/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49808" y="1874520"/>
            <a:ext cx="58521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SECTION 13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49808" y="2240280"/>
            <a:ext cx="6035040" cy="1554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RAG — Retrieval-Augmented Generation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749808" y="3886200"/>
            <a:ext cx="5852160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How to make an AI answer from your own documents instead of from memory.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49808" y="4846320"/>
            <a:ext cx="1463040" cy="64008"/>
          </a:xfrm>
          <a:prstGeom prst="roundRect">
            <a:avLst>
              <a:gd name="adj" fmla="val 42857"/>
            </a:avLst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32320" y="1143000"/>
            <a:ext cx="4492447" cy="797357"/>
          </a:xfrm>
          <a:prstGeom prst="roundRect">
            <a:avLst>
              <a:gd name="adj" fmla="val 9174"/>
            </a:avLst>
          </a:prstGeom>
          <a:solidFill>
            <a:srgbClr val="191640"/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51776" y="1313078"/>
            <a:ext cx="457200" cy="457200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66076" y="1427378"/>
            <a:ext cx="228600" cy="22860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8010144" y="1143000"/>
            <a:ext cx="3303727" cy="79735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What is RAG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7132320" y="2086661"/>
            <a:ext cx="4492447" cy="797357"/>
          </a:xfrm>
          <a:prstGeom prst="roundRect">
            <a:avLst>
              <a:gd name="adj" fmla="val 9174"/>
            </a:avLst>
          </a:prstGeom>
          <a:solidFill>
            <a:srgbClr val="191640"/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7351776" y="2256739"/>
            <a:ext cx="457200" cy="457200"/>
          </a:xfrm>
          <a:prstGeom prst="ellipse">
            <a:avLst/>
          </a:prstGeom>
          <a:solidFill>
            <a:srgbClr val="22D3EE">
              <a:alpha val="16000"/>
            </a:srgbClr>
          </a:solidFill>
          <a:ln w="12700">
            <a:solidFill>
              <a:srgbClr val="22D3EE">
                <a:alpha val="45000"/>
              </a:srgbClr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6076" y="2371039"/>
            <a:ext cx="228600" cy="22860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8010144" y="2086661"/>
            <a:ext cx="3303727" cy="79735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Chunking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7132320" y="3030322"/>
            <a:ext cx="4492447" cy="797357"/>
          </a:xfrm>
          <a:prstGeom prst="roundRect">
            <a:avLst>
              <a:gd name="adj" fmla="val 9174"/>
            </a:avLst>
          </a:prstGeom>
          <a:solidFill>
            <a:srgbClr val="191640"/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351776" y="3200400"/>
            <a:ext cx="457200" cy="457200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6076" y="3314700"/>
            <a:ext cx="228600" cy="22860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010144" y="3030322"/>
            <a:ext cx="3303727" cy="79735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Vector Databases</a:t>
            </a:r>
            <a:endParaRPr lang="en-US" sz="1350" dirty="0"/>
          </a:p>
        </p:txBody>
      </p:sp>
      <p:sp>
        <p:nvSpPr>
          <p:cNvPr id="18" name="Shape 13"/>
          <p:cNvSpPr/>
          <p:nvPr/>
        </p:nvSpPr>
        <p:spPr>
          <a:xfrm>
            <a:off x="7132320" y="3973982"/>
            <a:ext cx="4492447" cy="797357"/>
          </a:xfrm>
          <a:prstGeom prst="roundRect">
            <a:avLst>
              <a:gd name="adj" fmla="val 9174"/>
            </a:avLst>
          </a:prstGeom>
          <a:solidFill>
            <a:srgbClr val="191640"/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7351776" y="4144061"/>
            <a:ext cx="457200" cy="457200"/>
          </a:xfrm>
          <a:prstGeom prst="ellipse">
            <a:avLst/>
          </a:prstGeom>
          <a:solidFill>
            <a:srgbClr val="34D399">
              <a:alpha val="16000"/>
            </a:srgbClr>
          </a:solidFill>
          <a:ln w="12700">
            <a:solidFill>
              <a:srgbClr val="34D399">
                <a:alpha val="45000"/>
              </a:srgbClr>
            </a:solidFill>
            <a:prstDash val="solid"/>
          </a:ln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66076" y="4258361"/>
            <a:ext cx="228600" cy="22860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8010144" y="3973982"/>
            <a:ext cx="3303727" cy="79735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Retrieval</a:t>
            </a:r>
            <a:endParaRPr lang="en-US" sz="1350" dirty="0"/>
          </a:p>
        </p:txBody>
      </p:sp>
      <p:sp>
        <p:nvSpPr>
          <p:cNvPr id="22" name="Shape 16"/>
          <p:cNvSpPr/>
          <p:nvPr/>
        </p:nvSpPr>
        <p:spPr>
          <a:xfrm>
            <a:off x="7132320" y="4917643"/>
            <a:ext cx="4492447" cy="797357"/>
          </a:xfrm>
          <a:prstGeom prst="roundRect">
            <a:avLst>
              <a:gd name="adj" fmla="val 9174"/>
            </a:avLst>
          </a:prstGeom>
          <a:solidFill>
            <a:srgbClr val="191640"/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7351776" y="5087722"/>
            <a:ext cx="457200" cy="457200"/>
          </a:xfrm>
          <a:prstGeom prst="ellipse">
            <a:avLst/>
          </a:prstGeom>
          <a:solidFill>
            <a:srgbClr val="F472B6">
              <a:alpha val="16000"/>
            </a:srgbClr>
          </a:solidFill>
          <a:ln w="12700">
            <a:solidFill>
              <a:srgbClr val="F472B6">
                <a:alpha val="45000"/>
              </a:srgbClr>
            </a:solidFill>
            <a:prstDash val="solid"/>
          </a:ln>
        </p:spPr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66076" y="5202022"/>
            <a:ext cx="228600" cy="228600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8010144" y="4917643"/>
            <a:ext cx="3303727" cy="79735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Real Applications</a:t>
            </a:r>
            <a:endParaRPr lang="en-US" sz="1350" dirty="0"/>
          </a:p>
        </p:txBody>
      </p:sp>
      <p:sp>
        <p:nvSpPr>
          <p:cNvPr id="26" name="Text 19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Section 13 · RAG — Retrieval-Augmented Generation</a:t>
            </a:r>
            <a:endParaRPr lang="en-US" sz="950" dirty="0"/>
          </a:p>
        </p:txBody>
      </p:sp>
      <p:sp>
        <p:nvSpPr>
          <p:cNvPr id="27" name="Text 20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159</a:t>
            </a:r>
            <a:endParaRPr lang="en-US" sz="950" dirty="0"/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SLIDE 136 · DEFINITION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What is RAG?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Section 13 · RAG — Retrieval-Augmented Generation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160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11057839" cy="877824"/>
          </a:xfrm>
          <a:prstGeom prst="roundRect">
            <a:avLst>
              <a:gd name="adj" fmla="val 8333"/>
            </a:avLst>
          </a:prstGeom>
          <a:solidFill>
            <a:srgbClr val="191640">
              <a:alpha val="96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6928" y="1627632"/>
            <a:ext cx="64008" cy="585216"/>
          </a:xfrm>
          <a:prstGeom prst="roundRect">
            <a:avLst>
              <a:gd name="adj" fmla="val 42857"/>
            </a:avLst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59536" y="1572768"/>
            <a:ext cx="10472623" cy="6949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DDD9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RAG means finding relevant documents first, then giving them to the language model so it answers from them.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66928" y="2615184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22960" y="2816352"/>
            <a:ext cx="457200" cy="457200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2930652"/>
            <a:ext cx="228600" cy="22860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499616" y="2816352"/>
            <a:ext cx="41847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The Simple Analogy</a:t>
            </a:r>
            <a:endParaRPr lang="en-US" sz="1450" dirty="0"/>
          </a:p>
        </p:txBody>
      </p:sp>
      <p:sp>
        <p:nvSpPr>
          <p:cNvPr id="13" name="Text 10"/>
          <p:cNvSpPr txBox="1"/>
          <p:nvPr/>
        </p:nvSpPr>
        <p:spPr>
          <a:xfrm>
            <a:off x="841248" y="3419856"/>
            <a:ext cx="484312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Instead of asking someone to answer from memory, you hand them the right book first and say "answer using this".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33008" y="2615184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489040" y="2816352"/>
            <a:ext cx="457200" cy="457200"/>
          </a:xfrm>
          <a:prstGeom prst="ellipse">
            <a:avLst/>
          </a:prstGeom>
          <a:solidFill>
            <a:srgbClr val="22D3EE">
              <a:alpha val="16000"/>
            </a:srgbClr>
          </a:solidFill>
          <a:ln w="12700">
            <a:solidFill>
              <a:srgbClr val="22D3EE">
                <a:alpha val="45000"/>
              </a:srgbClr>
            </a:solidFill>
            <a:prstDash val="solid"/>
          </a:ln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3340" y="2930652"/>
            <a:ext cx="228600" cy="22860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7165696" y="2816352"/>
            <a:ext cx="41847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Retrieval</a:t>
            </a:r>
            <a:endParaRPr lang="en-US" sz="1450" dirty="0"/>
          </a:p>
        </p:txBody>
      </p:sp>
      <p:sp>
        <p:nvSpPr>
          <p:cNvPr id="18" name="Text 14"/>
          <p:cNvSpPr txBox="1"/>
          <p:nvPr/>
        </p:nvSpPr>
        <p:spPr>
          <a:xfrm>
            <a:off x="6507328" y="3419856"/>
            <a:ext cx="484312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Search your own documents for the parts most relevant to the question.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566928" y="4530149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822960" y="4731317"/>
            <a:ext cx="457200" cy="457200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260" y="4845617"/>
            <a:ext cx="228600" cy="22860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499616" y="4731317"/>
            <a:ext cx="41847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Augmented</a:t>
            </a:r>
            <a:endParaRPr lang="en-US" sz="1450" dirty="0"/>
          </a:p>
        </p:txBody>
      </p:sp>
      <p:sp>
        <p:nvSpPr>
          <p:cNvPr id="23" name="Text 18"/>
          <p:cNvSpPr txBox="1"/>
          <p:nvPr/>
        </p:nvSpPr>
        <p:spPr>
          <a:xfrm>
            <a:off x="841248" y="5334821"/>
            <a:ext cx="484312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Add those parts into the prompt as context.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6233008" y="4530149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6489040" y="4731317"/>
            <a:ext cx="457200" cy="457200"/>
          </a:xfrm>
          <a:prstGeom prst="ellipse">
            <a:avLst/>
          </a:prstGeom>
          <a:solidFill>
            <a:srgbClr val="34D399">
              <a:alpha val="16000"/>
            </a:srgbClr>
          </a:solidFill>
          <a:ln w="12700">
            <a:solidFill>
              <a:srgbClr val="34D399">
                <a:alpha val="45000"/>
              </a:srgbClr>
            </a:solidFill>
            <a:prstDash val="solid"/>
          </a:ln>
        </p:spPr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3340" y="4845617"/>
            <a:ext cx="228600" cy="228600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7165696" y="4731317"/>
            <a:ext cx="41847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Generation</a:t>
            </a:r>
            <a:endParaRPr lang="en-US" sz="1450" dirty="0"/>
          </a:p>
        </p:txBody>
      </p:sp>
      <p:sp>
        <p:nvSpPr>
          <p:cNvPr id="28" name="Text 22"/>
          <p:cNvSpPr txBox="1"/>
          <p:nvPr/>
        </p:nvSpPr>
        <p:spPr>
          <a:xfrm>
            <a:off x="6507328" y="5334821"/>
            <a:ext cx="484312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model writes the answer using the supplied text rather than guessing.</a:t>
            </a:r>
            <a:endParaRPr lang="en-US" sz="1200" dirty="0"/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SLIDE 137 · WHY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Why Do We Need RAG?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Section 13 · RAG — Retrieval-Augmented Generation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161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11057839" cy="833933"/>
          </a:xfrm>
          <a:prstGeom prst="roundRect">
            <a:avLst>
              <a:gd name="adj" fmla="val 8772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04672" y="1642262"/>
            <a:ext cx="512064" cy="512064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" y="1770278"/>
            <a:ext cx="256032" cy="256032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554480" y="1591056"/>
            <a:ext cx="9795967" cy="61447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Models have a knowledge cut-off</a:t>
            </a:r>
            <a:endParaRPr lang="en-US" sz="13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They do not know your latest policy, price list or product update.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566928" y="2461565"/>
            <a:ext cx="11057839" cy="833933"/>
          </a:xfrm>
          <a:prstGeom prst="roundRect">
            <a:avLst>
              <a:gd name="adj" fmla="val 8772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804672" y="2622499"/>
            <a:ext cx="512064" cy="512064"/>
          </a:xfrm>
          <a:prstGeom prst="ellipse">
            <a:avLst/>
          </a:prstGeom>
          <a:solidFill>
            <a:srgbClr val="22D3EE">
              <a:alpha val="16000"/>
            </a:srgbClr>
          </a:solidFill>
          <a:ln w="12700">
            <a:solidFill>
              <a:srgbClr val="22D3EE">
                <a:alpha val="45000"/>
              </a:srgbClr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" y="2750515"/>
            <a:ext cx="256032" cy="256032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554480" y="2571293"/>
            <a:ext cx="9795967" cy="61447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Your data is private</a:t>
            </a:r>
            <a:endParaRPr lang="en-US" sz="13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Company documents were never in any public training set.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566928" y="3441802"/>
            <a:ext cx="11057839" cy="833933"/>
          </a:xfrm>
          <a:prstGeom prst="roundRect">
            <a:avLst>
              <a:gd name="adj" fmla="val 8772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04672" y="3602736"/>
            <a:ext cx="512064" cy="512064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" y="3730752"/>
            <a:ext cx="256032" cy="256032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554480" y="3551530"/>
            <a:ext cx="9795967" cy="61447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It reduces hallucination</a:t>
            </a:r>
            <a:endParaRPr lang="en-US" sz="13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With the real text in front of it, the model has much less reason to invent an answer.</a:t>
            </a:r>
            <a:endParaRPr lang="en-US" sz="1350" dirty="0"/>
          </a:p>
        </p:txBody>
      </p:sp>
      <p:sp>
        <p:nvSpPr>
          <p:cNvPr id="18" name="Shape 13"/>
          <p:cNvSpPr/>
          <p:nvPr/>
        </p:nvSpPr>
        <p:spPr>
          <a:xfrm>
            <a:off x="566928" y="4422038"/>
            <a:ext cx="11057839" cy="833933"/>
          </a:xfrm>
          <a:prstGeom prst="roundRect">
            <a:avLst>
              <a:gd name="adj" fmla="val 8772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804672" y="4582973"/>
            <a:ext cx="512064" cy="512064"/>
          </a:xfrm>
          <a:prstGeom prst="ellipse">
            <a:avLst/>
          </a:prstGeom>
          <a:solidFill>
            <a:srgbClr val="34D399">
              <a:alpha val="16000"/>
            </a:srgbClr>
          </a:solidFill>
          <a:ln w="12700">
            <a:solidFill>
              <a:srgbClr val="34D399">
                <a:alpha val="45000"/>
              </a:srgbClr>
            </a:solidFill>
            <a:prstDash val="solid"/>
          </a:ln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688" y="4710989"/>
            <a:ext cx="256032" cy="256032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554480" y="4531766"/>
            <a:ext cx="9795967" cy="61447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You get sources</a:t>
            </a:r>
            <a:endParaRPr lang="en-US" sz="13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answer can cite which document and section it came from, so it is checkable.</a:t>
            </a:r>
            <a:endParaRPr lang="en-US" sz="1350" dirty="0"/>
          </a:p>
        </p:txBody>
      </p:sp>
      <p:sp>
        <p:nvSpPr>
          <p:cNvPr id="22" name="Shape 16"/>
          <p:cNvSpPr/>
          <p:nvPr/>
        </p:nvSpPr>
        <p:spPr>
          <a:xfrm>
            <a:off x="566928" y="5402275"/>
            <a:ext cx="11057839" cy="833933"/>
          </a:xfrm>
          <a:prstGeom prst="roundRect">
            <a:avLst>
              <a:gd name="adj" fmla="val 8772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804672" y="5563210"/>
            <a:ext cx="512064" cy="512064"/>
          </a:xfrm>
          <a:prstGeom prst="ellipse">
            <a:avLst/>
          </a:prstGeom>
          <a:solidFill>
            <a:srgbClr val="F472B6">
              <a:alpha val="16000"/>
            </a:srgbClr>
          </a:solidFill>
          <a:ln w="12700">
            <a:solidFill>
              <a:srgbClr val="F472B6">
                <a:alpha val="45000"/>
              </a:srgbClr>
            </a:solidFill>
            <a:prstDash val="solid"/>
          </a:ln>
        </p:spPr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2688" y="5691226"/>
            <a:ext cx="256032" cy="256032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1554480" y="5512003"/>
            <a:ext cx="9795967" cy="61447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Cheaper than fine-tuning</a:t>
            </a:r>
            <a:endParaRPr lang="en-US" sz="13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Updating a document is instant. Retraining a model is slow and expensive.</a:t>
            </a:r>
            <a:endParaRPr lang="en-US" sz="1350" dirty="0"/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SLIDE 138 · ARCHITECTURE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RAG Architecture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Section 13 · RAG — Retrieval-Augmented Generation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162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2387270" cy="1600200"/>
          </a:xfrm>
          <a:prstGeom prst="roundRect">
            <a:avLst>
              <a:gd name="adj" fmla="val 4571"/>
            </a:avLst>
          </a:prstGeom>
          <a:solidFill>
            <a:srgbClr val="191640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586827" y="1307592"/>
            <a:ext cx="347472" cy="347472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586827" y="1307592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0A1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94944" y="1755648"/>
            <a:ext cx="213123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A78BF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Documents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94944" y="2212848"/>
            <a:ext cx="2131238" cy="731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PDFs, policies, notes, web pages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045638" y="2162556"/>
            <a:ext cx="320040" cy="237744"/>
          </a:xfrm>
          <a:prstGeom prst="rightArrow">
            <a:avLst/>
          </a:prstGeom>
          <a:solidFill>
            <a:srgbClr val="22D3EE">
              <a:alpha val="70000"/>
            </a:srgbClr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57118" y="1481328"/>
            <a:ext cx="2387270" cy="1600200"/>
          </a:xfrm>
          <a:prstGeom prst="roundRect">
            <a:avLst>
              <a:gd name="adj" fmla="val 4571"/>
            </a:avLst>
          </a:prstGeom>
          <a:solidFill>
            <a:srgbClr val="191640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477017" y="1307592"/>
            <a:ext cx="347472" cy="34747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477017" y="1307592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0A1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3585134" y="1755648"/>
            <a:ext cx="213123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2D3E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Chunking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3585134" y="2212848"/>
            <a:ext cx="2131238" cy="731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Split into small readable pieces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935828" y="2162556"/>
            <a:ext cx="320040" cy="237744"/>
          </a:xfrm>
          <a:prstGeom prst="rightArrow">
            <a:avLst/>
          </a:prstGeom>
          <a:solidFill>
            <a:srgbClr val="22D3EE">
              <a:alpha val="70000"/>
            </a:srgbClr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347308" y="1481328"/>
            <a:ext cx="2387270" cy="1600200"/>
          </a:xfrm>
          <a:prstGeom prst="roundRect">
            <a:avLst>
              <a:gd name="adj" fmla="val 4571"/>
            </a:avLst>
          </a:prstGeom>
          <a:solidFill>
            <a:srgbClr val="191640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367207" y="1307592"/>
            <a:ext cx="347472" cy="347472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367207" y="1307592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0A1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6475324" y="1755648"/>
            <a:ext cx="213123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BBF2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Embeddings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475324" y="2212848"/>
            <a:ext cx="2131238" cy="731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Each chunk becomes a vector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8826017" y="2162556"/>
            <a:ext cx="320040" cy="237744"/>
          </a:xfrm>
          <a:prstGeom prst="rightArrow">
            <a:avLst/>
          </a:prstGeom>
          <a:solidFill>
            <a:srgbClr val="22D3EE">
              <a:alpha val="70000"/>
            </a:srgbClr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237497" y="1481328"/>
            <a:ext cx="2387270" cy="1600200"/>
          </a:xfrm>
          <a:prstGeom prst="roundRect">
            <a:avLst>
              <a:gd name="adj" fmla="val 4571"/>
            </a:avLst>
          </a:prstGeom>
          <a:solidFill>
            <a:srgbClr val="191640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10257396" y="1307592"/>
            <a:ext cx="347472" cy="347472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10257396" y="1307592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0A1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4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9365513" y="1755648"/>
            <a:ext cx="213123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4D39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Vector DB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9365513" y="2212848"/>
            <a:ext cx="2131238" cy="731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Vectors are stored and indexed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2012023" y="3538728"/>
            <a:ext cx="2387270" cy="1600200"/>
          </a:xfrm>
          <a:prstGeom prst="roundRect">
            <a:avLst>
              <a:gd name="adj" fmla="val 4571"/>
            </a:avLst>
          </a:prstGeom>
          <a:solidFill>
            <a:srgbClr val="191640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031922" y="3364992"/>
            <a:ext cx="347472" cy="347472"/>
          </a:xfrm>
          <a:prstGeom prst="ellipse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3031922" y="3364992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0A1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5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2140039" y="3813048"/>
            <a:ext cx="213123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472B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Retrieval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2140039" y="4270248"/>
            <a:ext cx="2131238" cy="731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Closest chunks found for the question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4490733" y="4219956"/>
            <a:ext cx="320040" cy="237744"/>
          </a:xfrm>
          <a:prstGeom prst="rightArrow">
            <a:avLst/>
          </a:prstGeom>
          <a:solidFill>
            <a:srgbClr val="22D3EE">
              <a:alpha val="70000"/>
            </a:srgbClr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902213" y="3538728"/>
            <a:ext cx="2387270" cy="1600200"/>
          </a:xfrm>
          <a:prstGeom prst="roundRect">
            <a:avLst>
              <a:gd name="adj" fmla="val 4571"/>
            </a:avLst>
          </a:prstGeom>
          <a:solidFill>
            <a:srgbClr val="191640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5922112" y="3364992"/>
            <a:ext cx="347472" cy="347472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5922112" y="3364992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0A1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6</a:t>
            </a:r>
            <a:endParaRPr lang="en-US" sz="1200" dirty="0"/>
          </a:p>
        </p:txBody>
      </p:sp>
      <p:sp>
        <p:nvSpPr>
          <p:cNvPr id="38" name="Text 36"/>
          <p:cNvSpPr txBox="1"/>
          <p:nvPr/>
        </p:nvSpPr>
        <p:spPr>
          <a:xfrm>
            <a:off x="5030229" y="3813048"/>
            <a:ext cx="213123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A78BF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LLM</a:t>
            </a:r>
            <a:endParaRPr lang="en-US" sz="1400" dirty="0"/>
          </a:p>
        </p:txBody>
      </p:sp>
      <p:sp>
        <p:nvSpPr>
          <p:cNvPr id="39" name="Text 37"/>
          <p:cNvSpPr txBox="1"/>
          <p:nvPr/>
        </p:nvSpPr>
        <p:spPr>
          <a:xfrm>
            <a:off x="5030229" y="4270248"/>
            <a:ext cx="2131238" cy="731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Model reads chunks plus the question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7380923" y="4219956"/>
            <a:ext cx="320040" cy="237744"/>
          </a:xfrm>
          <a:prstGeom prst="rightArrow">
            <a:avLst/>
          </a:prstGeom>
          <a:solidFill>
            <a:srgbClr val="22D3EE">
              <a:alpha val="70000"/>
            </a:srgbClr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792403" y="3538728"/>
            <a:ext cx="2387270" cy="1600200"/>
          </a:xfrm>
          <a:prstGeom prst="roundRect">
            <a:avLst>
              <a:gd name="adj" fmla="val 4571"/>
            </a:avLst>
          </a:prstGeom>
          <a:solidFill>
            <a:srgbClr val="191640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8812301" y="3364992"/>
            <a:ext cx="347472" cy="34747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8812301" y="3364992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0A1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7</a:t>
            </a:r>
            <a:endParaRPr lang="en-US" sz="1200" dirty="0"/>
          </a:p>
        </p:txBody>
      </p:sp>
      <p:sp>
        <p:nvSpPr>
          <p:cNvPr id="44" name="Text 42"/>
          <p:cNvSpPr txBox="1"/>
          <p:nvPr/>
        </p:nvSpPr>
        <p:spPr>
          <a:xfrm>
            <a:off x="7920419" y="3813048"/>
            <a:ext cx="213123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2D3E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Answer</a:t>
            </a:r>
            <a:endParaRPr lang="en-US" sz="1400" dirty="0"/>
          </a:p>
        </p:txBody>
      </p:sp>
      <p:sp>
        <p:nvSpPr>
          <p:cNvPr id="45" name="Text 43"/>
          <p:cNvSpPr txBox="1"/>
          <p:nvPr/>
        </p:nvSpPr>
        <p:spPr>
          <a:xfrm>
            <a:off x="7920419" y="4270248"/>
            <a:ext cx="2131238" cy="731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Response with a source reference</a:t>
            </a:r>
            <a:endParaRPr lang="en-US" sz="1150" dirty="0"/>
          </a:p>
        </p:txBody>
      </p:sp>
      <p:sp>
        <p:nvSpPr>
          <p:cNvPr id="46" name="Shape 44"/>
          <p:cNvSpPr/>
          <p:nvPr/>
        </p:nvSpPr>
        <p:spPr>
          <a:xfrm>
            <a:off x="566928" y="5276088"/>
            <a:ext cx="11057839" cy="960120"/>
          </a:xfrm>
          <a:prstGeom prst="roundRect">
            <a:avLst>
              <a:gd name="adj" fmla="val 7619"/>
            </a:avLst>
          </a:prstGeom>
          <a:solidFill>
            <a:srgbClr val="191640">
              <a:alpha val="96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47" name="Text 45"/>
          <p:cNvSpPr txBox="1"/>
          <p:nvPr/>
        </p:nvSpPr>
        <p:spPr>
          <a:xfrm>
            <a:off x="841248" y="5385816"/>
            <a:ext cx="10509199" cy="7406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A78BF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Remember:  </a:t>
            </a:r>
            <a:r>
              <a:rPr lang="en-US" sz="13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Steps 1 to 4 happen once, in advance. Steps 5 to 7 happen every time someone asks a question.</a:t>
            </a:r>
            <a:endParaRPr lang="en-US" sz="1300" dirty="0"/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SLIDE 139 · STEP 1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Document Chunking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Section 13 · RAG — Retrieval-Augmented Generation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163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11057839" cy="877824"/>
          </a:xfrm>
          <a:prstGeom prst="roundRect">
            <a:avLst>
              <a:gd name="adj" fmla="val 8333"/>
            </a:avLst>
          </a:prstGeom>
          <a:solidFill>
            <a:srgbClr val="191640">
              <a:alpha val="96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6928" y="1627632"/>
            <a:ext cx="64008" cy="585216"/>
          </a:xfrm>
          <a:prstGeom prst="roundRect">
            <a:avLst>
              <a:gd name="adj" fmla="val 42857"/>
            </a:avLst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59536" y="1572768"/>
            <a:ext cx="10472623" cy="6949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DDD9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Chunking means splitting long documents into smaller pieces before storing them.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66928" y="2615184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22960" y="2816352"/>
            <a:ext cx="457200" cy="457200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2930652"/>
            <a:ext cx="228600" cy="22860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499616" y="2816352"/>
            <a:ext cx="41847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Why Split At All</a:t>
            </a:r>
            <a:endParaRPr lang="en-US" sz="1450" dirty="0"/>
          </a:p>
        </p:txBody>
      </p:sp>
      <p:sp>
        <p:nvSpPr>
          <p:cNvPr id="13" name="Text 10"/>
          <p:cNvSpPr txBox="1"/>
          <p:nvPr/>
        </p:nvSpPr>
        <p:spPr>
          <a:xfrm>
            <a:off x="841248" y="3419856"/>
            <a:ext cx="484312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whole 100-page manual will not fit in the prompt, and most of it is irrelevant to any one question.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33008" y="2615184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489040" y="2816352"/>
            <a:ext cx="457200" cy="457200"/>
          </a:xfrm>
          <a:prstGeom prst="ellipse">
            <a:avLst/>
          </a:prstGeom>
          <a:solidFill>
            <a:srgbClr val="22D3EE">
              <a:alpha val="16000"/>
            </a:srgbClr>
          </a:solidFill>
          <a:ln w="12700">
            <a:solidFill>
              <a:srgbClr val="22D3EE">
                <a:alpha val="45000"/>
              </a:srgbClr>
            </a:solidFill>
            <a:prstDash val="solid"/>
          </a:ln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3340" y="2930652"/>
            <a:ext cx="228600" cy="22860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7165696" y="2816352"/>
            <a:ext cx="41847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Chunk Size Matters</a:t>
            </a:r>
            <a:endParaRPr lang="en-US" sz="1450" dirty="0"/>
          </a:p>
        </p:txBody>
      </p:sp>
      <p:sp>
        <p:nvSpPr>
          <p:cNvPr id="18" name="Text 14"/>
          <p:cNvSpPr txBox="1"/>
          <p:nvPr/>
        </p:nvSpPr>
        <p:spPr>
          <a:xfrm>
            <a:off x="6507328" y="3419856"/>
            <a:ext cx="484312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Too small loses context. Too large brings in noise. A few hundred words per chunk is a common starting point.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566928" y="4530149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822960" y="4731317"/>
            <a:ext cx="457200" cy="457200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260" y="4845617"/>
            <a:ext cx="228600" cy="22860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499616" y="4731317"/>
            <a:ext cx="41847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Overlap Helps</a:t>
            </a:r>
            <a:endParaRPr lang="en-US" sz="1450" dirty="0"/>
          </a:p>
        </p:txBody>
      </p:sp>
      <p:sp>
        <p:nvSpPr>
          <p:cNvPr id="23" name="Text 18"/>
          <p:cNvSpPr txBox="1"/>
          <p:nvPr/>
        </p:nvSpPr>
        <p:spPr>
          <a:xfrm>
            <a:off x="841248" y="5334821"/>
            <a:ext cx="484312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Chunks usually overlap slightly, so a sentence split across a boundary is not lost.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6233008" y="4530149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6489040" y="4731317"/>
            <a:ext cx="457200" cy="457200"/>
          </a:xfrm>
          <a:prstGeom prst="ellipse">
            <a:avLst/>
          </a:prstGeom>
          <a:solidFill>
            <a:srgbClr val="34D399">
              <a:alpha val="16000"/>
            </a:srgbClr>
          </a:solidFill>
          <a:ln w="12700">
            <a:solidFill>
              <a:srgbClr val="34D399">
                <a:alpha val="45000"/>
              </a:srgbClr>
            </a:solidFill>
            <a:prstDash val="solid"/>
          </a:ln>
        </p:spPr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3340" y="4845617"/>
            <a:ext cx="228600" cy="228600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7165696" y="4731317"/>
            <a:ext cx="41847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Split Sensibly</a:t>
            </a:r>
            <a:endParaRPr lang="en-US" sz="1450" dirty="0"/>
          </a:p>
        </p:txBody>
      </p:sp>
      <p:sp>
        <p:nvSpPr>
          <p:cNvPr id="28" name="Text 22"/>
          <p:cNvSpPr txBox="1"/>
          <p:nvPr/>
        </p:nvSpPr>
        <p:spPr>
          <a:xfrm>
            <a:off x="6507328" y="5334821"/>
            <a:ext cx="484312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Splitting at headings and paragraphs works much better than cutting at a fixed character count.</a:t>
            </a:r>
            <a:endParaRPr lang="en-US" sz="1200" dirty="0"/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SLIDE 140 · STEP 2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Vector Database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Section 13 · RAG — Retrieval-Augmented Generation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164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11057839" cy="877824"/>
          </a:xfrm>
          <a:prstGeom prst="roundRect">
            <a:avLst>
              <a:gd name="adj" fmla="val 8333"/>
            </a:avLst>
          </a:prstGeom>
          <a:solidFill>
            <a:srgbClr val="191640">
              <a:alpha val="96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6928" y="1627632"/>
            <a:ext cx="64008" cy="585216"/>
          </a:xfrm>
          <a:prstGeom prst="roundRect">
            <a:avLst>
              <a:gd name="adj" fmla="val 42857"/>
            </a:avLst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59536" y="1572768"/>
            <a:ext cx="10472623" cy="6949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DDD9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vector database stores embeddings and can quickly find the ones closest to a query.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66928" y="2615184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22960" y="2816352"/>
            <a:ext cx="457200" cy="457200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2930652"/>
            <a:ext cx="228600" cy="22860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499616" y="2816352"/>
            <a:ext cx="41847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How It Differs</a:t>
            </a:r>
            <a:endParaRPr lang="en-US" sz="1450" dirty="0"/>
          </a:p>
        </p:txBody>
      </p:sp>
      <p:sp>
        <p:nvSpPr>
          <p:cNvPr id="13" name="Text 10"/>
          <p:cNvSpPr txBox="1"/>
          <p:nvPr/>
        </p:nvSpPr>
        <p:spPr>
          <a:xfrm>
            <a:off x="841248" y="3419856"/>
            <a:ext cx="484312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normal database finds exact matches. A vector database finds the nearest meanings.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33008" y="2615184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489040" y="2816352"/>
            <a:ext cx="457200" cy="457200"/>
          </a:xfrm>
          <a:prstGeom prst="ellipse">
            <a:avLst/>
          </a:prstGeom>
          <a:solidFill>
            <a:srgbClr val="22D3EE">
              <a:alpha val="16000"/>
            </a:srgbClr>
          </a:solidFill>
          <a:ln w="12700">
            <a:solidFill>
              <a:srgbClr val="22D3EE">
                <a:alpha val="45000"/>
              </a:srgbClr>
            </a:solidFill>
            <a:prstDash val="solid"/>
          </a:ln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3340" y="2930652"/>
            <a:ext cx="228600" cy="22860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7165696" y="2816352"/>
            <a:ext cx="41847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Why It Is Fast</a:t>
            </a:r>
            <a:endParaRPr lang="en-US" sz="1450" dirty="0"/>
          </a:p>
        </p:txBody>
      </p:sp>
      <p:sp>
        <p:nvSpPr>
          <p:cNvPr id="18" name="Text 14"/>
          <p:cNvSpPr txBox="1"/>
          <p:nvPr/>
        </p:nvSpPr>
        <p:spPr>
          <a:xfrm>
            <a:off x="6507328" y="3419856"/>
            <a:ext cx="484312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Special indexes let it search millions of vectors in milliseconds without comparing every one.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566928" y="4530149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822960" y="4731317"/>
            <a:ext cx="457200" cy="457200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260" y="4845617"/>
            <a:ext cx="228600" cy="22860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499616" y="4731317"/>
            <a:ext cx="41847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Metadata Filters</a:t>
            </a:r>
            <a:endParaRPr lang="en-US" sz="1450" dirty="0"/>
          </a:p>
        </p:txBody>
      </p:sp>
      <p:sp>
        <p:nvSpPr>
          <p:cNvPr id="23" name="Text 18"/>
          <p:cNvSpPr txBox="1"/>
          <p:nvPr/>
        </p:nvSpPr>
        <p:spPr>
          <a:xfrm>
            <a:off x="841248" y="5334821"/>
            <a:ext cx="484312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You can restrict a search, for example only HR documents from this year.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6233008" y="4530149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6489040" y="4731317"/>
            <a:ext cx="457200" cy="457200"/>
          </a:xfrm>
          <a:prstGeom prst="ellipse">
            <a:avLst/>
          </a:prstGeom>
          <a:solidFill>
            <a:srgbClr val="34D399">
              <a:alpha val="16000"/>
            </a:srgbClr>
          </a:solidFill>
          <a:ln w="12700">
            <a:solidFill>
              <a:srgbClr val="34D399">
                <a:alpha val="45000"/>
              </a:srgbClr>
            </a:solidFill>
            <a:prstDash val="solid"/>
          </a:ln>
        </p:spPr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3340" y="4845617"/>
            <a:ext cx="228600" cy="228600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7165696" y="4731317"/>
            <a:ext cx="41847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Options</a:t>
            </a:r>
            <a:endParaRPr lang="en-US" sz="1450" dirty="0"/>
          </a:p>
        </p:txBody>
      </p:sp>
      <p:sp>
        <p:nvSpPr>
          <p:cNvPr id="28" name="Text 22"/>
          <p:cNvSpPr txBox="1"/>
          <p:nvPr/>
        </p:nvSpPr>
        <p:spPr>
          <a:xfrm>
            <a:off x="6507328" y="5334821"/>
            <a:ext cx="484312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Dedicated vector databases, or vector features added to databases you already use.</a:t>
            </a:r>
            <a:endParaRPr lang="en-US" sz="1200" dirty="0"/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SLIDE 141 · STEP 3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Retrieval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Section 13 · RAG — Retrieval-Augmented Generation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165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11057839" cy="877824"/>
          </a:xfrm>
          <a:prstGeom prst="roundRect">
            <a:avLst>
              <a:gd name="adj" fmla="val 8333"/>
            </a:avLst>
          </a:prstGeom>
          <a:solidFill>
            <a:srgbClr val="191640">
              <a:alpha val="96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6928" y="1627632"/>
            <a:ext cx="64008" cy="585216"/>
          </a:xfrm>
          <a:prstGeom prst="roundRect">
            <a:avLst>
              <a:gd name="adj" fmla="val 42857"/>
            </a:avLst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59536" y="1572768"/>
            <a:ext cx="10472623" cy="6949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DDD9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Retrieval is the step that picks which chunks to send to the model.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66928" y="2615184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22960" y="2816352"/>
            <a:ext cx="457200" cy="457200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2930652"/>
            <a:ext cx="228600" cy="22860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499616" y="2816352"/>
            <a:ext cx="41847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How Many Chunks</a:t>
            </a:r>
            <a:endParaRPr lang="en-US" sz="1450" dirty="0"/>
          </a:p>
        </p:txBody>
      </p:sp>
      <p:sp>
        <p:nvSpPr>
          <p:cNvPr id="13" name="Text 10"/>
          <p:cNvSpPr txBox="1"/>
          <p:nvPr/>
        </p:nvSpPr>
        <p:spPr>
          <a:xfrm>
            <a:off x="841248" y="3419856"/>
            <a:ext cx="484312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Usually the top 3 to 10 closest chunks. Too few misses the answer, too many adds noise.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33008" y="2615184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489040" y="2816352"/>
            <a:ext cx="457200" cy="457200"/>
          </a:xfrm>
          <a:prstGeom prst="ellipse">
            <a:avLst/>
          </a:prstGeom>
          <a:solidFill>
            <a:srgbClr val="22D3EE">
              <a:alpha val="16000"/>
            </a:srgbClr>
          </a:solidFill>
          <a:ln w="12700">
            <a:solidFill>
              <a:srgbClr val="22D3EE">
                <a:alpha val="45000"/>
              </a:srgbClr>
            </a:solidFill>
            <a:prstDash val="solid"/>
          </a:ln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3340" y="2930652"/>
            <a:ext cx="228600" cy="22860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7165696" y="2816352"/>
            <a:ext cx="41847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Hybrid Search</a:t>
            </a:r>
            <a:endParaRPr lang="en-US" sz="1450" dirty="0"/>
          </a:p>
        </p:txBody>
      </p:sp>
      <p:sp>
        <p:nvSpPr>
          <p:cNvPr id="18" name="Text 14"/>
          <p:cNvSpPr txBox="1"/>
          <p:nvPr/>
        </p:nvSpPr>
        <p:spPr>
          <a:xfrm>
            <a:off x="6507328" y="3419856"/>
            <a:ext cx="484312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Combining keyword and semantic search often works better than either alone.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566928" y="4530149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822960" y="4731317"/>
            <a:ext cx="457200" cy="457200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260" y="4845617"/>
            <a:ext cx="228600" cy="22860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499616" y="4731317"/>
            <a:ext cx="41847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Re-ranking</a:t>
            </a:r>
            <a:endParaRPr lang="en-US" sz="1450" dirty="0"/>
          </a:p>
        </p:txBody>
      </p:sp>
      <p:sp>
        <p:nvSpPr>
          <p:cNvPr id="23" name="Text 18"/>
          <p:cNvSpPr txBox="1"/>
          <p:nvPr/>
        </p:nvSpPr>
        <p:spPr>
          <a:xfrm>
            <a:off x="841248" y="5334821"/>
            <a:ext cx="484312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second model can re-order candidates so the very best chunk goes to the top.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6233008" y="4530149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6489040" y="4731317"/>
            <a:ext cx="457200" cy="457200"/>
          </a:xfrm>
          <a:prstGeom prst="ellipse">
            <a:avLst/>
          </a:prstGeom>
          <a:solidFill>
            <a:srgbClr val="34D399">
              <a:alpha val="16000"/>
            </a:srgbClr>
          </a:solidFill>
          <a:ln w="12700">
            <a:solidFill>
              <a:srgbClr val="34D399">
                <a:alpha val="45000"/>
              </a:srgbClr>
            </a:solidFill>
            <a:prstDash val="solid"/>
          </a:ln>
        </p:spPr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3340" y="4845617"/>
            <a:ext cx="228600" cy="228600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7165696" y="4731317"/>
            <a:ext cx="41847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Retrieval Is The Weak Point</a:t>
            </a:r>
            <a:endParaRPr lang="en-US" sz="1450" dirty="0"/>
          </a:p>
        </p:txBody>
      </p:sp>
      <p:sp>
        <p:nvSpPr>
          <p:cNvPr id="28" name="Text 22"/>
          <p:cNvSpPr txBox="1"/>
          <p:nvPr/>
        </p:nvSpPr>
        <p:spPr>
          <a:xfrm>
            <a:off x="6507328" y="5334821"/>
            <a:ext cx="484312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If the wrong chunks are retrieved, even a perfect model gives a wrong answer. Most RAG problems are retrieval problems.</a:t>
            </a:r>
            <a:endParaRPr lang="en-US" sz="1200" dirty="0"/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SLIDE 142 · COMPARE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RAG vs a Normal Chatbot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Section 13 · RAG — Retrieval-Augmented Generation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166</a:t>
            </a:r>
            <a:endParaRPr lang="en-US" sz="950" dirty="0"/>
          </a:p>
        </p:txBody>
      </p:sp>
      <p:graphicFrame>
        <p:nvGraphicFramePr>
          <p:cNvPr id="167" name="Table 0"/>
          <p:cNvGraphicFramePr>
            <a:graphicFrameLocks noGrp="1"/>
          </p:cNvGraphicFramePr>
          <p:nvPr/>
        </p:nvGraphicFramePr>
        <p:xfrm>
          <a:off x="566928" y="1481328"/>
          <a:ext cx="11057839" cy="4374489"/>
        </p:xfrm>
        <a:graphic>
          <a:graphicData uri="http://schemas.openxmlformats.org/drawingml/2006/table">
            <a:tbl>
              <a:tblPr/>
              <a:tblGrid>
                <a:gridCol w="2926080"/>
                <a:gridCol w="4069080"/>
                <a:gridCol w="4062679"/>
              </a:tblGrid>
              <a:tr h="62492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0B0A1E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Point</a:t>
                      </a:r>
                      <a:endParaRPr lang="en-US" sz="13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22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22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22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22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78B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0B0A1E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Normal Chatbot</a:t>
                      </a:r>
                      <a:endParaRPr lang="en-US" sz="13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22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22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22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22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78B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0B0A1E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RAG System</a:t>
                      </a:r>
                      <a:endParaRPr lang="en-US" sz="13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22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22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22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22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78BFA"/>
                    </a:solidFill>
                  </a:tcPr>
                </a:tc>
              </a:tr>
              <a:tr h="62492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Source of answer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22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22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22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22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6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BFC2E4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Model memory from training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22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22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22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22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6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BFC2E4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Your documents, supplied at question time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22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22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22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22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640"/>
                    </a:solidFill>
                  </a:tcPr>
                </a:tc>
              </a:tr>
              <a:tr h="62492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Up to date?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22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22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22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22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0F2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BFC2E4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Only up to the cut-off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22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22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22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22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0F2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BFC2E4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As current as your documents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22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22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22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22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0F29"/>
                    </a:solidFill>
                  </a:tcPr>
                </a:tc>
              </a:tr>
              <a:tr h="62492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Private data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22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22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22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22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6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BFC2E4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Cannot know it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22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22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22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22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6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BFC2E4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Works on your own private content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22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22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22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22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640"/>
                    </a:solidFill>
                  </a:tcPr>
                </a:tc>
              </a:tr>
              <a:tr h="62492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Sources shown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22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22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22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22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0F2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BFC2E4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Usually not possible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22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22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22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22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0F2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BFC2E4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Can quote the document and section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22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22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22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22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0F29"/>
                    </a:solidFill>
                  </a:tcPr>
                </a:tc>
              </a:tr>
              <a:tr h="62492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Hallucination risk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22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22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22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22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6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BFC2E4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Higher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22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22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22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22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6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BFC2E4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Lower, though not zero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22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22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22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22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640"/>
                    </a:solidFill>
                  </a:tcPr>
                </a:tc>
              </a:tr>
              <a:tr h="62492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To update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22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22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22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22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0F2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BFC2E4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Retrain or fine-tune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22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22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22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22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0F2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BFC2E4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Just update the document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22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22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22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22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0F2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SLIDE 143 · FICTIONAL EXAMPLE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 RAG Example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Section 13 · RAG — Retrieval-Augmented Generation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167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481328"/>
            <a:ext cx="11057839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DDD9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made-up company, "BrightLeaf Software", puts its HR handbook behind a RAG assistant.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66928" y="2747772"/>
            <a:ext cx="1809232" cy="1691640"/>
          </a:xfrm>
          <a:prstGeom prst="roundRect">
            <a:avLst>
              <a:gd name="adj" fmla="val 4324"/>
            </a:avLst>
          </a:prstGeom>
          <a:solidFill>
            <a:srgbClr val="191640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297808" y="2574036"/>
            <a:ext cx="347472" cy="34747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297808" y="2574036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0A1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94944" y="3022092"/>
            <a:ext cx="1553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2D3E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Question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94944" y="3479292"/>
            <a:ext cx="1553200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 employee asks: "How many casual leaves do I get in my first year?"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2467600" y="3474720"/>
            <a:ext cx="320040" cy="237744"/>
          </a:xfrm>
          <a:prstGeom prst="rightArrow">
            <a:avLst/>
          </a:prstGeom>
          <a:solidFill>
            <a:srgbClr val="22D3EE">
              <a:alpha val="70000"/>
            </a:srgbClr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879080" y="2747772"/>
            <a:ext cx="1809232" cy="1691640"/>
          </a:xfrm>
          <a:prstGeom prst="roundRect">
            <a:avLst>
              <a:gd name="adj" fmla="val 4324"/>
            </a:avLst>
          </a:prstGeom>
          <a:solidFill>
            <a:srgbClr val="191640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09960" y="2574036"/>
            <a:ext cx="347472" cy="34747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609960" y="2574036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0A1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3007096" y="3022092"/>
            <a:ext cx="1553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2D3E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Embed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3007096" y="3479292"/>
            <a:ext cx="1553200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question is turned into a vector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779752" y="3474720"/>
            <a:ext cx="320040" cy="237744"/>
          </a:xfrm>
          <a:prstGeom prst="rightArrow">
            <a:avLst/>
          </a:prstGeom>
          <a:solidFill>
            <a:srgbClr val="22D3EE">
              <a:alpha val="70000"/>
            </a:srgbClr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191232" y="2747772"/>
            <a:ext cx="1809232" cy="1691640"/>
          </a:xfrm>
          <a:prstGeom prst="roundRect">
            <a:avLst>
              <a:gd name="adj" fmla="val 4324"/>
            </a:avLst>
          </a:prstGeom>
          <a:solidFill>
            <a:srgbClr val="191640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922112" y="2574036"/>
            <a:ext cx="347472" cy="347472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922112" y="2574036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0A1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5319248" y="3022092"/>
            <a:ext cx="1553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BBF2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Retrieve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5319248" y="3479292"/>
            <a:ext cx="1553200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leave policy section of the handbook is found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7091904" y="3474720"/>
            <a:ext cx="320040" cy="237744"/>
          </a:xfrm>
          <a:prstGeom prst="rightArrow">
            <a:avLst/>
          </a:prstGeom>
          <a:solidFill>
            <a:srgbClr val="22D3EE">
              <a:alpha val="70000"/>
            </a:srgbClr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503384" y="2747772"/>
            <a:ext cx="1809232" cy="1691640"/>
          </a:xfrm>
          <a:prstGeom prst="roundRect">
            <a:avLst>
              <a:gd name="adj" fmla="val 4324"/>
            </a:avLst>
          </a:prstGeom>
          <a:solidFill>
            <a:srgbClr val="191640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8234263" y="2574036"/>
            <a:ext cx="347472" cy="347472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234263" y="2574036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0A1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4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7631400" y="3022092"/>
            <a:ext cx="1553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4D39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Prompt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7631400" y="3479292"/>
            <a:ext cx="1553200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That section plus the question go to the model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9404055" y="3474720"/>
            <a:ext cx="320040" cy="237744"/>
          </a:xfrm>
          <a:prstGeom prst="rightArrow">
            <a:avLst/>
          </a:prstGeom>
          <a:solidFill>
            <a:srgbClr val="22D3EE">
              <a:alpha val="70000"/>
            </a:srgbClr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815535" y="2747772"/>
            <a:ext cx="1809232" cy="1691640"/>
          </a:xfrm>
          <a:prstGeom prst="roundRect">
            <a:avLst>
              <a:gd name="adj" fmla="val 4324"/>
            </a:avLst>
          </a:prstGeom>
          <a:solidFill>
            <a:srgbClr val="191640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10546415" y="2574036"/>
            <a:ext cx="347472" cy="347472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10546415" y="2574036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0A1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5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9943551" y="3022092"/>
            <a:ext cx="1553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4D39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Answer</a:t>
            </a:r>
            <a:endParaRPr lang="en-US" sz="1400" dirty="0"/>
          </a:p>
        </p:txBody>
      </p:sp>
      <p:sp>
        <p:nvSpPr>
          <p:cNvPr id="35" name="Text 33"/>
          <p:cNvSpPr txBox="1"/>
          <p:nvPr/>
        </p:nvSpPr>
        <p:spPr>
          <a:xfrm>
            <a:off x="9943551" y="3479292"/>
            <a:ext cx="1553200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"8 casual leaves in the first year — HR Handbook, section 4.2"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566928" y="5276088"/>
            <a:ext cx="11057839" cy="960120"/>
          </a:xfrm>
          <a:prstGeom prst="roundRect">
            <a:avLst>
              <a:gd name="adj" fmla="val 7619"/>
            </a:avLst>
          </a:prstGeom>
          <a:solidFill>
            <a:srgbClr val="191640">
              <a:alpha val="96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37" name="Text 35"/>
          <p:cNvSpPr txBox="1"/>
          <p:nvPr/>
        </p:nvSpPr>
        <p:spPr>
          <a:xfrm>
            <a:off x="841248" y="5385816"/>
            <a:ext cx="10509199" cy="7406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A78BF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Remember:  </a:t>
            </a:r>
            <a:r>
              <a:rPr lang="en-US" sz="13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This is a fictional scenario. The important part is that the answer came from the document and cited exactly where.</a:t>
            </a:r>
            <a:endParaRPr lang="en-US" sz="1300" dirty="0"/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SLIDE 144 · USES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RAG Applications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Section 13 · RAG — Retrieval-Augmented Generation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168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3503066" cy="2240280"/>
          </a:xfrm>
          <a:prstGeom prst="roundRect">
            <a:avLst>
              <a:gd name="adj" fmla="val 3265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1737360"/>
            <a:ext cx="566928" cy="566928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4692" y="1879092"/>
            <a:ext cx="283464" cy="283464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609344" y="1737360"/>
            <a:ext cx="218633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Company knowledge base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841248" y="2505456"/>
            <a:ext cx="2954426" cy="10332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Staff ask questions in plain language and get answers from approved internal policies.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344314" y="1481328"/>
            <a:ext cx="3503066" cy="2240280"/>
          </a:xfrm>
          <a:prstGeom prst="roundRect">
            <a:avLst>
              <a:gd name="adj" fmla="val 3265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600346" y="1737360"/>
            <a:ext cx="566928" cy="566928"/>
          </a:xfrm>
          <a:prstGeom prst="ellipse">
            <a:avLst/>
          </a:prstGeom>
          <a:solidFill>
            <a:srgbClr val="22D3EE">
              <a:alpha val="16000"/>
            </a:srgbClr>
          </a:solidFill>
          <a:ln w="12700">
            <a:solidFill>
              <a:srgbClr val="22D3EE">
                <a:alpha val="45000"/>
              </a:srgbClr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2078" y="1879092"/>
            <a:ext cx="283464" cy="283464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5386730" y="1737360"/>
            <a:ext cx="218633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Student notes</a:t>
            </a:r>
            <a:endParaRPr lang="en-US" sz="1600" dirty="0"/>
          </a:p>
        </p:txBody>
      </p:sp>
      <p:sp>
        <p:nvSpPr>
          <p:cNvPr id="15" name="Text 11"/>
          <p:cNvSpPr txBox="1"/>
          <p:nvPr/>
        </p:nvSpPr>
        <p:spPr>
          <a:xfrm>
            <a:off x="4618634" y="2505456"/>
            <a:ext cx="2954426" cy="10332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Upload your own lecture notes and ask questions about that specific syllabus.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8121701" y="1481328"/>
            <a:ext cx="3503066" cy="2240280"/>
          </a:xfrm>
          <a:prstGeom prst="roundRect">
            <a:avLst>
              <a:gd name="adj" fmla="val 3265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377733" y="1737360"/>
            <a:ext cx="566928" cy="566928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9465" y="1879092"/>
            <a:ext cx="283464" cy="283464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9164117" y="1737360"/>
            <a:ext cx="218633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Customer support</a:t>
            </a:r>
            <a:endParaRPr lang="en-US" sz="1600" dirty="0"/>
          </a:p>
        </p:txBody>
      </p:sp>
      <p:sp>
        <p:nvSpPr>
          <p:cNvPr id="20" name="Text 15"/>
          <p:cNvSpPr txBox="1"/>
          <p:nvPr/>
        </p:nvSpPr>
        <p:spPr>
          <a:xfrm>
            <a:off x="8396021" y="2505456"/>
            <a:ext cx="2954426" cy="10332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assistant answers using the product documentation, with a link to the source.</a:t>
            </a:r>
            <a:endParaRPr lang="en-US" sz="1300" dirty="0"/>
          </a:p>
        </p:txBody>
      </p:sp>
      <p:sp>
        <p:nvSpPr>
          <p:cNvPr id="21" name="Shape 16"/>
          <p:cNvSpPr/>
          <p:nvPr/>
        </p:nvSpPr>
        <p:spPr>
          <a:xfrm>
            <a:off x="566928" y="3995928"/>
            <a:ext cx="3503066" cy="2240280"/>
          </a:xfrm>
          <a:prstGeom prst="roundRect">
            <a:avLst>
              <a:gd name="adj" fmla="val 3265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822960" y="4251960"/>
            <a:ext cx="566928" cy="566928"/>
          </a:xfrm>
          <a:prstGeom prst="ellipse">
            <a:avLst/>
          </a:prstGeom>
          <a:solidFill>
            <a:srgbClr val="34D399">
              <a:alpha val="16000"/>
            </a:srgbClr>
          </a:solidFill>
          <a:ln w="12700">
            <a:solidFill>
              <a:srgbClr val="34D399">
                <a:alpha val="45000"/>
              </a:srgbClr>
            </a:solidFill>
            <a:prstDash val="solid"/>
          </a:ln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4692" y="4393692"/>
            <a:ext cx="283464" cy="283464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1609344" y="4251960"/>
            <a:ext cx="218633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Technical documentation</a:t>
            </a:r>
            <a:endParaRPr lang="en-US" sz="1600" dirty="0"/>
          </a:p>
        </p:txBody>
      </p:sp>
      <p:sp>
        <p:nvSpPr>
          <p:cNvPr id="25" name="Text 19"/>
          <p:cNvSpPr txBox="1"/>
          <p:nvPr/>
        </p:nvSpPr>
        <p:spPr>
          <a:xfrm>
            <a:off x="841248" y="5020056"/>
            <a:ext cx="2954426" cy="10332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Developers query large manuals without reading them end to end.</a:t>
            </a:r>
            <a:endParaRPr lang="en-US" sz="1300" dirty="0"/>
          </a:p>
        </p:txBody>
      </p:sp>
      <p:sp>
        <p:nvSpPr>
          <p:cNvPr id="26" name="Shape 20"/>
          <p:cNvSpPr/>
          <p:nvPr/>
        </p:nvSpPr>
        <p:spPr>
          <a:xfrm>
            <a:off x="4344314" y="3995928"/>
            <a:ext cx="3503066" cy="2240280"/>
          </a:xfrm>
          <a:prstGeom prst="roundRect">
            <a:avLst>
              <a:gd name="adj" fmla="val 3265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4600346" y="4251960"/>
            <a:ext cx="566928" cy="566928"/>
          </a:xfrm>
          <a:prstGeom prst="ellipse">
            <a:avLst/>
          </a:prstGeom>
          <a:solidFill>
            <a:srgbClr val="F472B6">
              <a:alpha val="16000"/>
            </a:srgbClr>
          </a:solidFill>
          <a:ln w="12700">
            <a:solidFill>
              <a:srgbClr val="F472B6">
                <a:alpha val="45000"/>
              </a:srgbClr>
            </a:solidFill>
            <a:prstDash val="solid"/>
          </a:ln>
        </p:spPr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42078" y="4393692"/>
            <a:ext cx="283464" cy="283464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5386730" y="4251960"/>
            <a:ext cx="218633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Research documents</a:t>
            </a:r>
            <a:endParaRPr lang="en-US" sz="1600" dirty="0"/>
          </a:p>
        </p:txBody>
      </p:sp>
      <p:sp>
        <p:nvSpPr>
          <p:cNvPr id="30" name="Text 23"/>
          <p:cNvSpPr txBox="1"/>
          <p:nvPr/>
        </p:nvSpPr>
        <p:spPr>
          <a:xfrm>
            <a:off x="4618634" y="5020056"/>
            <a:ext cx="2954426" cy="10332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Ask questions across a collection of approved papers and reports.</a:t>
            </a:r>
            <a:endParaRPr lang="en-US" sz="1300" dirty="0"/>
          </a:p>
        </p:txBody>
      </p:sp>
      <p:sp>
        <p:nvSpPr>
          <p:cNvPr id="31" name="Shape 24"/>
          <p:cNvSpPr/>
          <p:nvPr/>
        </p:nvSpPr>
        <p:spPr>
          <a:xfrm>
            <a:off x="8121701" y="3995928"/>
            <a:ext cx="3503066" cy="2240280"/>
          </a:xfrm>
          <a:prstGeom prst="roundRect">
            <a:avLst>
              <a:gd name="adj" fmla="val 3265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8377733" y="4251960"/>
            <a:ext cx="566928" cy="566928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33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19465" y="4393692"/>
            <a:ext cx="283464" cy="283464"/>
          </a:xfrm>
          <a:prstGeom prst="rect">
            <a:avLst/>
          </a:prstGeom>
        </p:spPr>
      </p:pic>
      <p:sp>
        <p:nvSpPr>
          <p:cNvPr id="34" name="Text 26"/>
          <p:cNvSpPr txBox="1"/>
          <p:nvPr/>
        </p:nvSpPr>
        <p:spPr>
          <a:xfrm>
            <a:off x="9164117" y="4251960"/>
            <a:ext cx="218633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Policy and compliance</a:t>
            </a:r>
            <a:endParaRPr lang="en-US" sz="1600" dirty="0"/>
          </a:p>
        </p:txBody>
      </p:sp>
      <p:sp>
        <p:nvSpPr>
          <p:cNvPr id="35" name="Text 27"/>
          <p:cNvSpPr txBox="1"/>
          <p:nvPr/>
        </p:nvSpPr>
        <p:spPr>
          <a:xfrm>
            <a:off x="8396021" y="5020056"/>
            <a:ext cx="2954426" cy="10332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Find the exact clause that applies to a situation, with the reference attached.</a:t>
            </a:r>
            <a:endParaRPr lang="en-US" sz="1300" dirty="0"/>
          </a:p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SLIDE 145 · REALITY CHECK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RAG — Benefits and Limitations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Section 13 · RAG — Retrieval-Augmented Generation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169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5364328" cy="3840480"/>
          </a:xfrm>
          <a:prstGeom prst="roundRect">
            <a:avLst>
              <a:gd name="adj" fmla="val 1905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41248" y="1737360"/>
            <a:ext cx="530352" cy="530352"/>
          </a:xfrm>
          <a:prstGeom prst="ellipse">
            <a:avLst/>
          </a:prstGeom>
          <a:solidFill>
            <a:srgbClr val="34D399">
              <a:alpha val="16000"/>
            </a:srgbClr>
          </a:solidFill>
          <a:ln w="12700">
            <a:solidFill>
              <a:srgbClr val="34D399">
                <a:alpha val="45000"/>
              </a:srgbClr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3836" y="1869948"/>
            <a:ext cx="265176" cy="265176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591056" y="1737360"/>
            <a:ext cx="4047592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4D39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Benefits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877824" y="2505456"/>
            <a:ext cx="4742536" cy="261518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▪"/>
            </a:pPr>
            <a:r>
              <a:rPr lang="en-US" sz="135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Answers from current, private data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▪"/>
            </a:pPr>
            <a:r>
              <a:rPr lang="en-US" sz="135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Sources can be quoted and checked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▪"/>
            </a:pPr>
            <a:r>
              <a:rPr lang="en-US" sz="135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Much lower hallucination rate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▪"/>
            </a:pPr>
            <a:r>
              <a:rPr lang="en-US" sz="135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Update by editing a document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▪"/>
            </a:pPr>
            <a:r>
              <a:rPr lang="en-US" sz="135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Far cheaper than fine-tuning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6260440" y="1481328"/>
            <a:ext cx="5364328" cy="3840480"/>
          </a:xfrm>
          <a:prstGeom prst="roundRect">
            <a:avLst>
              <a:gd name="adj" fmla="val 1905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534760" y="1737360"/>
            <a:ext cx="530352" cy="530352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7348" y="1869948"/>
            <a:ext cx="265176" cy="265176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7284568" y="1737360"/>
            <a:ext cx="4047592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BBF2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Limitations</a:t>
            </a:r>
            <a:endParaRPr lang="en-US" sz="1800" dirty="0"/>
          </a:p>
        </p:txBody>
      </p:sp>
      <p:sp>
        <p:nvSpPr>
          <p:cNvPr id="15" name="Text 11"/>
          <p:cNvSpPr txBox="1"/>
          <p:nvPr/>
        </p:nvSpPr>
        <p:spPr>
          <a:xfrm>
            <a:off x="6571336" y="2505456"/>
            <a:ext cx="4742536" cy="261518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▪"/>
            </a:pPr>
            <a:r>
              <a:rPr lang="en-US" sz="135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Only as good as the retrieval step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▪"/>
            </a:pPr>
            <a:r>
              <a:rPr lang="en-US" sz="135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Poor or outdated documents give poor answers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▪"/>
            </a:pPr>
            <a:r>
              <a:rPr lang="en-US" sz="135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Struggles with questions spanning many documents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▪"/>
            </a:pPr>
            <a:r>
              <a:rPr lang="en-US" sz="135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Adds engineering and maintenance work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▪"/>
            </a:pPr>
            <a:r>
              <a:rPr lang="en-US" sz="135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Hallucination is reduced, not eliminated</a:t>
            </a:r>
            <a:endParaRPr lang="en-US" sz="1350" dirty="0"/>
          </a:p>
        </p:txBody>
      </p:sp>
      <p:sp>
        <p:nvSpPr>
          <p:cNvPr id="16" name="Shape 12"/>
          <p:cNvSpPr/>
          <p:nvPr/>
        </p:nvSpPr>
        <p:spPr>
          <a:xfrm>
            <a:off x="566928" y="5458968"/>
            <a:ext cx="11057839" cy="777240"/>
          </a:xfrm>
          <a:prstGeom prst="roundRect">
            <a:avLst>
              <a:gd name="adj" fmla="val 9412"/>
            </a:avLst>
          </a:prstGeom>
          <a:solidFill>
            <a:srgbClr val="191640">
              <a:alpha val="96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7" name="Text 13"/>
          <p:cNvSpPr txBox="1"/>
          <p:nvPr/>
        </p:nvSpPr>
        <p:spPr>
          <a:xfrm>
            <a:off x="841248" y="5550408"/>
            <a:ext cx="10509199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22D3E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Key point:  </a:t>
            </a:r>
            <a:r>
              <a:rPr lang="en-US" sz="13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Practical rule — if your documents are messy, fix the documents before blaming the AI.</a:t>
            </a:r>
            <a:endParaRPr lang="en-US" sz="1300" dirty="0"/>
          </a:p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BBF2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QUIZ 13 · SLIDES 136–145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Quiz 13 — RAG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Section 13 · RAG — Retrieval-Augmented Generation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170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11057839" cy="848563"/>
          </a:xfrm>
          <a:prstGeom prst="roundRect">
            <a:avLst>
              <a:gd name="adj" fmla="val 8621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68096" y="1627632"/>
            <a:ext cx="310896" cy="310896"/>
          </a:xfrm>
          <a:prstGeom prst="ellipse">
            <a:avLst/>
          </a:prstGeom>
          <a:solidFill>
            <a:srgbClr val="FBBF24">
              <a:alpha val="22000"/>
            </a:srgbClr>
          </a:solidFill>
          <a:ln w="12700">
            <a:solidFill>
              <a:srgbClr val="FBBF24">
                <a:alpha val="5000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68096" y="1627632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BBF2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Q1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188720" y="1600200"/>
            <a:ext cx="8726119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RAG stands for: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10207447" y="1618488"/>
            <a:ext cx="1371600" cy="347472"/>
          </a:xfrm>
          <a:prstGeom prst="roundRect">
            <a:avLst>
              <a:gd name="adj" fmla="val 15789"/>
            </a:avLst>
          </a:prstGeom>
          <a:solidFill>
            <a:srgbClr val="A78BFA">
              <a:alpha val="20000"/>
            </a:srgbClr>
          </a:solidFill>
          <a:ln w="12700">
            <a:solidFill>
              <a:srgbClr val="A78BFA">
                <a:alpha val="60000"/>
              </a:srgbClr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207447" y="1618488"/>
            <a:ext cx="13716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Answer: A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1115568" y="2011680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A. </a:t>
            </a: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Retrieval-Augmented Generation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3674288" y="2011680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B. </a:t>
            </a:r>
            <a:r>
              <a:rPr lang="en-US" sz="11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Random Access Generation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6233008" y="2011680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C. </a:t>
            </a:r>
            <a:r>
              <a:rPr lang="en-US" sz="11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Rapid AI Growth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8791727" y="2011680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D. </a:t>
            </a:r>
            <a:r>
              <a:rPr lang="en-US" sz="11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Report And Graph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66928" y="2457907"/>
            <a:ext cx="11057839" cy="848563"/>
          </a:xfrm>
          <a:prstGeom prst="roundRect">
            <a:avLst>
              <a:gd name="adj" fmla="val 8621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68096" y="2604211"/>
            <a:ext cx="310896" cy="310896"/>
          </a:xfrm>
          <a:prstGeom prst="ellipse">
            <a:avLst/>
          </a:prstGeom>
          <a:solidFill>
            <a:srgbClr val="FBBF24">
              <a:alpha val="22000"/>
            </a:srgbClr>
          </a:solidFill>
          <a:ln w="12700">
            <a:solidFill>
              <a:srgbClr val="FBBF24">
                <a:alpha val="50000"/>
              </a:srgbClr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68096" y="2604211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BBF2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Q2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1188720" y="2576779"/>
            <a:ext cx="8726119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In RAG, documents are first: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10207447" y="2595067"/>
            <a:ext cx="1371600" cy="347472"/>
          </a:xfrm>
          <a:prstGeom prst="roundRect">
            <a:avLst>
              <a:gd name="adj" fmla="val 15789"/>
            </a:avLst>
          </a:prstGeom>
          <a:solidFill>
            <a:srgbClr val="A78BFA">
              <a:alpha val="20000"/>
            </a:srgbClr>
          </a:solidFill>
          <a:ln w="12700">
            <a:solidFill>
              <a:srgbClr val="A78BFA">
                <a:alpha val="60000"/>
              </a:srgbClr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0207447" y="2595067"/>
            <a:ext cx="13716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Answer: B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1115568" y="2988259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A. </a:t>
            </a:r>
            <a:r>
              <a:rPr lang="en-US" sz="11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Printed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3674288" y="2988259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B. </a:t>
            </a: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Split into chunks and embedded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6233008" y="2988259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C. </a:t>
            </a:r>
            <a:r>
              <a:rPr lang="en-US" sz="11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Deleted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8791727" y="2988259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D. </a:t>
            </a:r>
            <a:r>
              <a:rPr lang="en-US" sz="11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Translated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66928" y="3434486"/>
            <a:ext cx="11057839" cy="848563"/>
          </a:xfrm>
          <a:prstGeom prst="roundRect">
            <a:avLst>
              <a:gd name="adj" fmla="val 8621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768096" y="3580790"/>
            <a:ext cx="310896" cy="310896"/>
          </a:xfrm>
          <a:prstGeom prst="ellipse">
            <a:avLst/>
          </a:prstGeom>
          <a:solidFill>
            <a:srgbClr val="FBBF24">
              <a:alpha val="22000"/>
            </a:srgbClr>
          </a:solidFill>
          <a:ln w="12700">
            <a:solidFill>
              <a:srgbClr val="FBBF24">
                <a:alpha val="50000"/>
              </a:srgbClr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68096" y="3580790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BBF2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Q3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1188720" y="3553358"/>
            <a:ext cx="8726119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 vector database is used to: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10207447" y="3571646"/>
            <a:ext cx="1371600" cy="347472"/>
          </a:xfrm>
          <a:prstGeom prst="roundRect">
            <a:avLst>
              <a:gd name="adj" fmla="val 15789"/>
            </a:avLst>
          </a:prstGeom>
          <a:solidFill>
            <a:srgbClr val="A78BFA">
              <a:alpha val="20000"/>
            </a:srgbClr>
          </a:solidFill>
          <a:ln w="12700">
            <a:solidFill>
              <a:srgbClr val="A78BFA">
                <a:alpha val="60000"/>
              </a:srgbClr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10207447" y="3571646"/>
            <a:ext cx="13716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Answer: C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1115568" y="3964838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A. </a:t>
            </a:r>
            <a:r>
              <a:rPr lang="en-US" sz="11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Store passwords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3674288" y="3964838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B. </a:t>
            </a:r>
            <a:r>
              <a:rPr lang="en-US" sz="11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Render video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6233008" y="3964838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C. </a:t>
            </a: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Find the closest meanings quickly</a:t>
            </a:r>
            <a:endParaRPr lang="en-US" sz="1050" dirty="0"/>
          </a:p>
        </p:txBody>
      </p:sp>
      <p:sp>
        <p:nvSpPr>
          <p:cNvPr id="35" name="Text 33"/>
          <p:cNvSpPr txBox="1"/>
          <p:nvPr/>
        </p:nvSpPr>
        <p:spPr>
          <a:xfrm>
            <a:off x="8791727" y="3964838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D. </a:t>
            </a:r>
            <a:r>
              <a:rPr lang="en-US" sz="11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Compile code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66928" y="4411066"/>
            <a:ext cx="11057839" cy="848563"/>
          </a:xfrm>
          <a:prstGeom prst="roundRect">
            <a:avLst>
              <a:gd name="adj" fmla="val 8621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768096" y="4557370"/>
            <a:ext cx="310896" cy="310896"/>
          </a:xfrm>
          <a:prstGeom prst="ellipse">
            <a:avLst/>
          </a:prstGeom>
          <a:solidFill>
            <a:srgbClr val="FBBF24">
              <a:alpha val="22000"/>
            </a:srgbClr>
          </a:solidFill>
          <a:ln w="12700">
            <a:solidFill>
              <a:srgbClr val="FBBF24">
                <a:alpha val="50000"/>
              </a:srgbClr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768096" y="4557370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BBF2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Q4</a:t>
            </a:r>
            <a:endParaRPr lang="en-US" sz="900" dirty="0"/>
          </a:p>
        </p:txBody>
      </p:sp>
      <p:sp>
        <p:nvSpPr>
          <p:cNvPr id="39" name="Text 37"/>
          <p:cNvSpPr txBox="1"/>
          <p:nvPr/>
        </p:nvSpPr>
        <p:spPr>
          <a:xfrm>
            <a:off x="1188720" y="4529938"/>
            <a:ext cx="8726119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 key benefit of RAG is that answers:</a:t>
            </a:r>
            <a:endParaRPr lang="en-US" sz="1250" dirty="0"/>
          </a:p>
        </p:txBody>
      </p:sp>
      <p:sp>
        <p:nvSpPr>
          <p:cNvPr id="40" name="Shape 38"/>
          <p:cNvSpPr/>
          <p:nvPr/>
        </p:nvSpPr>
        <p:spPr>
          <a:xfrm>
            <a:off x="10207447" y="4548226"/>
            <a:ext cx="1371600" cy="347472"/>
          </a:xfrm>
          <a:prstGeom prst="roundRect">
            <a:avLst>
              <a:gd name="adj" fmla="val 15789"/>
            </a:avLst>
          </a:prstGeom>
          <a:solidFill>
            <a:srgbClr val="A78BFA">
              <a:alpha val="20000"/>
            </a:srgbClr>
          </a:solidFill>
          <a:ln w="12700">
            <a:solidFill>
              <a:srgbClr val="A78BFA">
                <a:alpha val="60000"/>
              </a:srgbClr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10207447" y="4548226"/>
            <a:ext cx="13716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Answer: D</a:t>
            </a:r>
            <a:endParaRPr lang="en-US" sz="1050" dirty="0"/>
          </a:p>
        </p:txBody>
      </p:sp>
      <p:sp>
        <p:nvSpPr>
          <p:cNvPr id="42" name="Text 40"/>
          <p:cNvSpPr txBox="1"/>
          <p:nvPr/>
        </p:nvSpPr>
        <p:spPr>
          <a:xfrm>
            <a:off x="1115568" y="4941418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A. </a:t>
            </a:r>
            <a:r>
              <a:rPr lang="en-US" sz="11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Are always perfect</a:t>
            </a:r>
            <a:endParaRPr lang="en-US" sz="1050" dirty="0"/>
          </a:p>
        </p:txBody>
      </p:sp>
      <p:sp>
        <p:nvSpPr>
          <p:cNvPr id="43" name="Text 41"/>
          <p:cNvSpPr txBox="1"/>
          <p:nvPr/>
        </p:nvSpPr>
        <p:spPr>
          <a:xfrm>
            <a:off x="3674288" y="4941418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B. </a:t>
            </a:r>
            <a:r>
              <a:rPr lang="en-US" sz="11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Need no documents</a:t>
            </a:r>
            <a:endParaRPr lang="en-US" sz="1050" dirty="0"/>
          </a:p>
        </p:txBody>
      </p:sp>
      <p:sp>
        <p:nvSpPr>
          <p:cNvPr id="44" name="Text 42"/>
          <p:cNvSpPr txBox="1"/>
          <p:nvPr/>
        </p:nvSpPr>
        <p:spPr>
          <a:xfrm>
            <a:off x="6233008" y="4941418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C. </a:t>
            </a:r>
            <a:r>
              <a:rPr lang="en-US" sz="11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Train the model</a:t>
            </a:r>
            <a:endParaRPr lang="en-US" sz="1050" dirty="0"/>
          </a:p>
        </p:txBody>
      </p:sp>
      <p:sp>
        <p:nvSpPr>
          <p:cNvPr id="45" name="Text 43"/>
          <p:cNvSpPr txBox="1"/>
          <p:nvPr/>
        </p:nvSpPr>
        <p:spPr>
          <a:xfrm>
            <a:off x="8791727" y="4941418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D. </a:t>
            </a: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Can cite a source document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566928" y="5387645"/>
            <a:ext cx="11057839" cy="848563"/>
          </a:xfrm>
          <a:prstGeom prst="roundRect">
            <a:avLst>
              <a:gd name="adj" fmla="val 8621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768096" y="5533949"/>
            <a:ext cx="310896" cy="310896"/>
          </a:xfrm>
          <a:prstGeom prst="ellipse">
            <a:avLst/>
          </a:prstGeom>
          <a:solidFill>
            <a:srgbClr val="FBBF24">
              <a:alpha val="22000"/>
            </a:srgbClr>
          </a:solidFill>
          <a:ln w="12700">
            <a:solidFill>
              <a:srgbClr val="FBBF24">
                <a:alpha val="50000"/>
              </a:srgbClr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768096" y="5533949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BBF2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Q5</a:t>
            </a:r>
            <a:endParaRPr lang="en-US" sz="900" dirty="0"/>
          </a:p>
        </p:txBody>
      </p:sp>
      <p:sp>
        <p:nvSpPr>
          <p:cNvPr id="49" name="Text 47"/>
          <p:cNvSpPr txBox="1"/>
          <p:nvPr/>
        </p:nvSpPr>
        <p:spPr>
          <a:xfrm>
            <a:off x="1188720" y="5506517"/>
            <a:ext cx="8726119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Most RAG quality problems come from:</a:t>
            </a:r>
            <a:endParaRPr lang="en-US" sz="1250" dirty="0"/>
          </a:p>
        </p:txBody>
      </p:sp>
      <p:sp>
        <p:nvSpPr>
          <p:cNvPr id="50" name="Shape 48"/>
          <p:cNvSpPr/>
          <p:nvPr/>
        </p:nvSpPr>
        <p:spPr>
          <a:xfrm>
            <a:off x="10207447" y="5524805"/>
            <a:ext cx="1371600" cy="347472"/>
          </a:xfrm>
          <a:prstGeom prst="roundRect">
            <a:avLst>
              <a:gd name="adj" fmla="val 15789"/>
            </a:avLst>
          </a:prstGeom>
          <a:solidFill>
            <a:srgbClr val="A78BFA">
              <a:alpha val="20000"/>
            </a:srgbClr>
          </a:solidFill>
          <a:ln w="12700">
            <a:solidFill>
              <a:srgbClr val="A78BFA">
                <a:alpha val="60000"/>
              </a:srgbClr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10207447" y="5524805"/>
            <a:ext cx="13716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Answer: A</a:t>
            </a:r>
            <a:endParaRPr lang="en-US" sz="1050" dirty="0"/>
          </a:p>
        </p:txBody>
      </p:sp>
      <p:sp>
        <p:nvSpPr>
          <p:cNvPr id="52" name="Text 50"/>
          <p:cNvSpPr txBox="1"/>
          <p:nvPr/>
        </p:nvSpPr>
        <p:spPr>
          <a:xfrm>
            <a:off x="1115568" y="5917997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A. </a:t>
            </a: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Poor retrieval</a:t>
            </a:r>
            <a:endParaRPr lang="en-US" sz="1050" dirty="0"/>
          </a:p>
        </p:txBody>
      </p:sp>
      <p:sp>
        <p:nvSpPr>
          <p:cNvPr id="53" name="Text 51"/>
          <p:cNvSpPr txBox="1"/>
          <p:nvPr/>
        </p:nvSpPr>
        <p:spPr>
          <a:xfrm>
            <a:off x="3674288" y="5917997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B. </a:t>
            </a:r>
            <a:r>
              <a:rPr lang="en-US" sz="11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Screen resolution</a:t>
            </a:r>
            <a:endParaRPr lang="en-US" sz="1050" dirty="0"/>
          </a:p>
        </p:txBody>
      </p:sp>
      <p:sp>
        <p:nvSpPr>
          <p:cNvPr id="54" name="Text 52"/>
          <p:cNvSpPr txBox="1"/>
          <p:nvPr/>
        </p:nvSpPr>
        <p:spPr>
          <a:xfrm>
            <a:off x="6233008" y="5917997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C. </a:t>
            </a:r>
            <a:r>
              <a:rPr lang="en-US" sz="11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Keyboard layout</a:t>
            </a:r>
            <a:endParaRPr lang="en-US" sz="1050" dirty="0"/>
          </a:p>
        </p:txBody>
      </p:sp>
      <p:sp>
        <p:nvSpPr>
          <p:cNvPr id="55" name="Text 53"/>
          <p:cNvSpPr txBox="1"/>
          <p:nvPr/>
        </p:nvSpPr>
        <p:spPr>
          <a:xfrm>
            <a:off x="8791727" y="5917997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D. </a:t>
            </a:r>
            <a:r>
              <a:rPr lang="en-US" sz="11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Browser choice</a:t>
            </a:r>
            <a:endParaRPr lang="en-US" sz="1050" dirty="0"/>
          </a:p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49808" y="1874520"/>
            <a:ext cx="58521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SECTION 14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49808" y="2240280"/>
            <a:ext cx="6035040" cy="1554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AI Agents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749808" y="3886200"/>
            <a:ext cx="5852160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From answering questions to actually completing multi-step tasks.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49808" y="4846320"/>
            <a:ext cx="1463040" cy="64008"/>
          </a:xfrm>
          <a:prstGeom prst="roundRect">
            <a:avLst>
              <a:gd name="adj" fmla="val 42857"/>
            </a:avLst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32320" y="1143000"/>
            <a:ext cx="4492447" cy="797357"/>
          </a:xfrm>
          <a:prstGeom prst="roundRect">
            <a:avLst>
              <a:gd name="adj" fmla="val 9174"/>
            </a:avLst>
          </a:prstGeom>
          <a:solidFill>
            <a:srgbClr val="191640"/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51776" y="1313078"/>
            <a:ext cx="457200" cy="457200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66076" y="1427378"/>
            <a:ext cx="228600" cy="22860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8010144" y="1143000"/>
            <a:ext cx="3303727" cy="79735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What is an Agent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7132320" y="2086661"/>
            <a:ext cx="4492447" cy="797357"/>
          </a:xfrm>
          <a:prstGeom prst="roundRect">
            <a:avLst>
              <a:gd name="adj" fmla="val 9174"/>
            </a:avLst>
          </a:prstGeom>
          <a:solidFill>
            <a:srgbClr val="191640"/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7351776" y="2256739"/>
            <a:ext cx="457200" cy="457200"/>
          </a:xfrm>
          <a:prstGeom prst="ellipse">
            <a:avLst/>
          </a:prstGeom>
          <a:solidFill>
            <a:srgbClr val="22D3EE">
              <a:alpha val="16000"/>
            </a:srgbClr>
          </a:solidFill>
          <a:ln w="12700">
            <a:solidFill>
              <a:srgbClr val="22D3EE">
                <a:alpha val="45000"/>
              </a:srgbClr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6076" y="2371039"/>
            <a:ext cx="228600" cy="22860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8010144" y="2086661"/>
            <a:ext cx="3303727" cy="79735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Tools and APIs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7132320" y="3030322"/>
            <a:ext cx="4492447" cy="797357"/>
          </a:xfrm>
          <a:prstGeom prst="roundRect">
            <a:avLst>
              <a:gd name="adj" fmla="val 9174"/>
            </a:avLst>
          </a:prstGeom>
          <a:solidFill>
            <a:srgbClr val="191640"/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351776" y="3200400"/>
            <a:ext cx="457200" cy="457200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6076" y="3314700"/>
            <a:ext cx="228600" cy="22860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010144" y="3030322"/>
            <a:ext cx="3303727" cy="79735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Memory and Planning</a:t>
            </a:r>
            <a:endParaRPr lang="en-US" sz="1350" dirty="0"/>
          </a:p>
        </p:txBody>
      </p:sp>
      <p:sp>
        <p:nvSpPr>
          <p:cNvPr id="18" name="Shape 13"/>
          <p:cNvSpPr/>
          <p:nvPr/>
        </p:nvSpPr>
        <p:spPr>
          <a:xfrm>
            <a:off x="7132320" y="3973982"/>
            <a:ext cx="4492447" cy="797357"/>
          </a:xfrm>
          <a:prstGeom prst="roundRect">
            <a:avLst>
              <a:gd name="adj" fmla="val 9174"/>
            </a:avLst>
          </a:prstGeom>
          <a:solidFill>
            <a:srgbClr val="191640"/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7351776" y="4144061"/>
            <a:ext cx="457200" cy="457200"/>
          </a:xfrm>
          <a:prstGeom prst="ellipse">
            <a:avLst/>
          </a:prstGeom>
          <a:solidFill>
            <a:srgbClr val="34D399">
              <a:alpha val="16000"/>
            </a:srgbClr>
          </a:solidFill>
          <a:ln w="12700">
            <a:solidFill>
              <a:srgbClr val="34D399">
                <a:alpha val="45000"/>
              </a:srgbClr>
            </a:solidFill>
            <a:prstDash val="solid"/>
          </a:ln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66076" y="4258361"/>
            <a:ext cx="228600" cy="22860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8010144" y="3973982"/>
            <a:ext cx="3303727" cy="79735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Agent Workflow</a:t>
            </a:r>
            <a:endParaRPr lang="en-US" sz="1350" dirty="0"/>
          </a:p>
        </p:txBody>
      </p:sp>
      <p:sp>
        <p:nvSpPr>
          <p:cNvPr id="22" name="Shape 16"/>
          <p:cNvSpPr/>
          <p:nvPr/>
        </p:nvSpPr>
        <p:spPr>
          <a:xfrm>
            <a:off x="7132320" y="4917643"/>
            <a:ext cx="4492447" cy="797357"/>
          </a:xfrm>
          <a:prstGeom prst="roundRect">
            <a:avLst>
              <a:gd name="adj" fmla="val 9174"/>
            </a:avLst>
          </a:prstGeom>
          <a:solidFill>
            <a:srgbClr val="191640"/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7351776" y="5087722"/>
            <a:ext cx="457200" cy="457200"/>
          </a:xfrm>
          <a:prstGeom prst="ellipse">
            <a:avLst/>
          </a:prstGeom>
          <a:solidFill>
            <a:srgbClr val="F472B6">
              <a:alpha val="16000"/>
            </a:srgbClr>
          </a:solidFill>
          <a:ln w="12700">
            <a:solidFill>
              <a:srgbClr val="F472B6">
                <a:alpha val="45000"/>
              </a:srgbClr>
            </a:solidFill>
            <a:prstDash val="solid"/>
          </a:ln>
        </p:spPr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66076" y="5202022"/>
            <a:ext cx="228600" cy="228600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8010144" y="4917643"/>
            <a:ext cx="3303727" cy="79735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Limits and Oversight</a:t>
            </a:r>
            <a:endParaRPr lang="en-US" sz="1350" dirty="0"/>
          </a:p>
        </p:txBody>
      </p:sp>
      <p:sp>
        <p:nvSpPr>
          <p:cNvPr id="26" name="Text 19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Section 14 · AI Agents</a:t>
            </a:r>
            <a:endParaRPr lang="en-US" sz="950" dirty="0"/>
          </a:p>
        </p:txBody>
      </p:sp>
      <p:sp>
        <p:nvSpPr>
          <p:cNvPr id="27" name="Text 20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171</a:t>
            </a:r>
            <a:endParaRPr lang="en-US" sz="950" dirty="0"/>
          </a:p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SLIDE 146 · DEFINITION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What is an AI Agent?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Section 14 · AI Agents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172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11057839" cy="877824"/>
          </a:xfrm>
          <a:prstGeom prst="roundRect">
            <a:avLst>
              <a:gd name="adj" fmla="val 8333"/>
            </a:avLst>
          </a:prstGeom>
          <a:solidFill>
            <a:srgbClr val="191640">
              <a:alpha val="96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6928" y="1627632"/>
            <a:ext cx="64008" cy="585216"/>
          </a:xfrm>
          <a:prstGeom prst="roundRect">
            <a:avLst>
              <a:gd name="adj" fmla="val 42857"/>
            </a:avLst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59536" y="1572768"/>
            <a:ext cx="10472623" cy="6949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DDD9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 AI agent is a system that uses a language model to plan and carry out a multi-step task using tools.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66928" y="2615184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22960" y="2816352"/>
            <a:ext cx="457200" cy="457200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2930652"/>
            <a:ext cx="228600" cy="22860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499616" y="2816352"/>
            <a:ext cx="41847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Simple Explanation</a:t>
            </a:r>
            <a:endParaRPr lang="en-US" sz="1450" dirty="0"/>
          </a:p>
        </p:txBody>
      </p:sp>
      <p:sp>
        <p:nvSpPr>
          <p:cNvPr id="13" name="Text 10"/>
          <p:cNvSpPr txBox="1"/>
          <p:nvPr/>
        </p:nvSpPr>
        <p:spPr>
          <a:xfrm>
            <a:off x="841248" y="3419856"/>
            <a:ext cx="484312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chatbot tells you how to do something. An agent goes and does the steps for you.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33008" y="2615184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489040" y="2816352"/>
            <a:ext cx="457200" cy="457200"/>
          </a:xfrm>
          <a:prstGeom prst="ellipse">
            <a:avLst/>
          </a:prstGeom>
          <a:solidFill>
            <a:srgbClr val="22D3EE">
              <a:alpha val="16000"/>
            </a:srgbClr>
          </a:solidFill>
          <a:ln w="12700">
            <a:solidFill>
              <a:srgbClr val="22D3EE">
                <a:alpha val="45000"/>
              </a:srgbClr>
            </a:solidFill>
            <a:prstDash val="solid"/>
          </a:ln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3340" y="2930652"/>
            <a:ext cx="228600" cy="22860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7165696" y="2816352"/>
            <a:ext cx="41847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Analogy</a:t>
            </a:r>
            <a:endParaRPr lang="en-US" sz="1450" dirty="0"/>
          </a:p>
        </p:txBody>
      </p:sp>
      <p:sp>
        <p:nvSpPr>
          <p:cNvPr id="18" name="Text 14"/>
          <p:cNvSpPr txBox="1"/>
          <p:nvPr/>
        </p:nvSpPr>
        <p:spPr>
          <a:xfrm>
            <a:off x="6507328" y="3419856"/>
            <a:ext cx="484312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Like an assistant who can open your calendar, search the web and write the document, not just advise you.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566928" y="4530149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822960" y="4731317"/>
            <a:ext cx="457200" cy="457200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260" y="4845617"/>
            <a:ext cx="228600" cy="22860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499616" y="4731317"/>
            <a:ext cx="41847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What Makes It An Agent</a:t>
            </a:r>
            <a:endParaRPr lang="en-US" sz="1450" dirty="0"/>
          </a:p>
        </p:txBody>
      </p:sp>
      <p:sp>
        <p:nvSpPr>
          <p:cNvPr id="23" name="Text 18"/>
          <p:cNvSpPr txBox="1"/>
          <p:nvPr/>
        </p:nvSpPr>
        <p:spPr>
          <a:xfrm>
            <a:off x="841248" y="5334821"/>
            <a:ext cx="484312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200"/>
              </a:spcAft>
              <a:buSzPct val="100000"/>
              <a:buChar char="▪"/>
            </a:pPr>
            <a:r>
              <a:rPr lang="en-US" sz="9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It has a goal</a:t>
            </a:r>
            <a:endParaRPr lang="en-US" sz="900" dirty="0"/>
          </a:p>
          <a:p>
            <a:pPr marL="342900" indent="-342900">
              <a:lnSpc>
                <a:spcPct val="110000"/>
              </a:lnSpc>
              <a:spcAft>
                <a:spcPts val="200"/>
              </a:spcAft>
              <a:buSzPct val="100000"/>
              <a:buChar char="▪"/>
            </a:pPr>
            <a:r>
              <a:rPr lang="en-US" sz="9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It plans the steps</a:t>
            </a:r>
            <a:endParaRPr lang="en-US" sz="900" dirty="0"/>
          </a:p>
          <a:p>
            <a:pPr marL="342900" indent="-342900">
              <a:lnSpc>
                <a:spcPct val="110000"/>
              </a:lnSpc>
              <a:spcAft>
                <a:spcPts val="200"/>
              </a:spcAft>
              <a:buSzPct val="100000"/>
              <a:buChar char="▪"/>
            </a:pPr>
            <a:r>
              <a:rPr lang="en-US" sz="9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It uses tools</a:t>
            </a:r>
            <a:endParaRPr lang="en-US" sz="900" dirty="0"/>
          </a:p>
          <a:p>
            <a:pPr marL="342900" indent="-342900">
              <a:lnSpc>
                <a:spcPct val="110000"/>
              </a:lnSpc>
              <a:spcAft>
                <a:spcPts val="200"/>
              </a:spcAft>
              <a:buSzPct val="100000"/>
              <a:buChar char="▪"/>
            </a:pPr>
            <a:r>
              <a:rPr lang="en-US" sz="9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It checks results and adapts</a:t>
            </a:r>
            <a:endParaRPr lang="en-US" sz="900" dirty="0"/>
          </a:p>
        </p:txBody>
      </p:sp>
      <p:sp>
        <p:nvSpPr>
          <p:cNvPr id="24" name="Shape 19"/>
          <p:cNvSpPr/>
          <p:nvPr/>
        </p:nvSpPr>
        <p:spPr>
          <a:xfrm>
            <a:off x="6233008" y="4530149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6489040" y="4731317"/>
            <a:ext cx="457200" cy="457200"/>
          </a:xfrm>
          <a:prstGeom prst="ellipse">
            <a:avLst/>
          </a:prstGeom>
          <a:solidFill>
            <a:srgbClr val="34D399">
              <a:alpha val="16000"/>
            </a:srgbClr>
          </a:solidFill>
          <a:ln w="12700">
            <a:solidFill>
              <a:srgbClr val="34D399">
                <a:alpha val="45000"/>
              </a:srgbClr>
            </a:solidFill>
            <a:prstDash val="solid"/>
          </a:ln>
        </p:spPr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3340" y="4845617"/>
            <a:ext cx="228600" cy="228600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7165696" y="4731317"/>
            <a:ext cx="41847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Why It Matters Now</a:t>
            </a:r>
            <a:endParaRPr lang="en-US" sz="1450" dirty="0"/>
          </a:p>
        </p:txBody>
      </p:sp>
      <p:sp>
        <p:nvSpPr>
          <p:cNvPr id="28" name="Text 22"/>
          <p:cNvSpPr txBox="1"/>
          <p:nvPr/>
        </p:nvSpPr>
        <p:spPr>
          <a:xfrm>
            <a:off x="6507328" y="5334821"/>
            <a:ext cx="484312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Agentic systems are one of the biggest directions in Gen AI, moving from writing text to completing work.</a:t>
            </a:r>
            <a:endParaRPr lang="en-US" sz="1200" dirty="0"/>
          </a:p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SLIDE 147 · COMPARE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Chatbot vs AI Agent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Section 14 · AI Agents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173</a:t>
            </a:r>
            <a:endParaRPr lang="en-US" sz="950" dirty="0"/>
          </a:p>
        </p:txBody>
      </p:sp>
      <p:graphicFrame>
        <p:nvGraphicFramePr>
          <p:cNvPr id="174" name="Table 0"/>
          <p:cNvGraphicFramePr>
            <a:graphicFrameLocks noGrp="1"/>
          </p:cNvGraphicFramePr>
          <p:nvPr/>
        </p:nvGraphicFramePr>
        <p:xfrm>
          <a:off x="566928" y="1481328"/>
          <a:ext cx="11057839" cy="3533243"/>
        </p:xfrm>
        <a:graphic>
          <a:graphicData uri="http://schemas.openxmlformats.org/drawingml/2006/table">
            <a:tbl>
              <a:tblPr/>
              <a:tblGrid>
                <a:gridCol w="2926080"/>
                <a:gridCol w="4069080"/>
                <a:gridCol w="4062679"/>
              </a:tblGrid>
              <a:tr h="50474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0B0A1E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Point</a:t>
                      </a:r>
                      <a:endParaRPr lang="en-US" sz="13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22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22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22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22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78B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0B0A1E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Chatbot</a:t>
                      </a:r>
                      <a:endParaRPr lang="en-US" sz="13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22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22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22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22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78B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0B0A1E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AI Agent</a:t>
                      </a:r>
                      <a:endParaRPr lang="en-US" sz="13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22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22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22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22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78BFA"/>
                    </a:solidFill>
                  </a:tcPr>
                </a:tc>
              </a:tr>
              <a:tr h="50474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Main job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22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22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22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22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6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BFC2E4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Answer a question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22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22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22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22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6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BFC2E4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Complete a task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22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22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22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22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640"/>
                    </a:solidFill>
                  </a:tcPr>
                </a:tc>
              </a:tr>
              <a:tr h="50474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Steps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22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22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22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22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0F2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BFC2E4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One response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22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22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22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22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0F2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BFC2E4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Many steps in sequence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22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22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22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22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0F29"/>
                    </a:solidFill>
                  </a:tcPr>
                </a:tc>
              </a:tr>
              <a:tr h="50474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Tools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22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22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22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22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6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BFC2E4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Usually none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22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22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22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22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6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BFC2E4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Search, calendar, code, databases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22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22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22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22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640"/>
                    </a:solidFill>
                  </a:tcPr>
                </a:tc>
              </a:tr>
              <a:tr h="50474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Planning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22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22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22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22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0F2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BFC2E4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None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22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22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22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22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0F2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BFC2E4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Breaks the goal into sub-tasks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22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22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22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22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0F29"/>
                    </a:solidFill>
                  </a:tcPr>
                </a:tc>
              </a:tr>
              <a:tr h="50474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Checks its work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22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22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22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22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6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BFC2E4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No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22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22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22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22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6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BFC2E4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Observes results and adjusts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22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22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22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22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640"/>
                    </a:solidFill>
                  </a:tcPr>
                </a:tc>
              </a:tr>
              <a:tr h="50474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Risk level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22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22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22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22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0F2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BFC2E4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Low — it only writes text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22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22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22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22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0F2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BFC2E4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Higher — it takes real actions</a:t>
                      </a:r>
                      <a:endParaRPr lang="en-US" sz="12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322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22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22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22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0F29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66928" y="5458968"/>
            <a:ext cx="11057839" cy="777240"/>
          </a:xfrm>
          <a:prstGeom prst="roundRect">
            <a:avLst>
              <a:gd name="adj" fmla="val 9412"/>
            </a:avLst>
          </a:prstGeom>
          <a:solidFill>
            <a:srgbClr val="191640">
              <a:alpha val="96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841248" y="5550408"/>
            <a:ext cx="10509199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BBF2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Tip:  </a:t>
            </a:r>
            <a:r>
              <a:rPr lang="en-US" sz="13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Because agents act rather than advise, they need permission limits and human approval for anything important.</a:t>
            </a:r>
            <a:endParaRPr lang="en-US" sz="1300" dirty="0"/>
          </a:p>
        </p:txBody>
      </p:sp>
    </p:spTree>
  </p:cSld>
  <p:clrMapOvr>
    <a:masterClrMapping/>
  </p:clrMapOvr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SLIDE 148 · THE LOOP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How AI Agents Work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Section 14 · AI Agents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174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2464308"/>
            <a:ext cx="1809232" cy="1691640"/>
          </a:xfrm>
          <a:prstGeom prst="roundRect">
            <a:avLst>
              <a:gd name="adj" fmla="val 4324"/>
            </a:avLst>
          </a:prstGeom>
          <a:solidFill>
            <a:srgbClr val="191640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297808" y="2290572"/>
            <a:ext cx="347472" cy="347472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297808" y="2290572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0A1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94944" y="2738628"/>
            <a:ext cx="1553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A78BF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Goal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94944" y="3195828"/>
            <a:ext cx="1553200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user states what they want achieved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2467600" y="3191256"/>
            <a:ext cx="320040" cy="237744"/>
          </a:xfrm>
          <a:prstGeom prst="rightArrow">
            <a:avLst/>
          </a:prstGeom>
          <a:solidFill>
            <a:srgbClr val="22D3EE">
              <a:alpha val="70000"/>
            </a:srgbClr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879080" y="2464308"/>
            <a:ext cx="1809232" cy="1691640"/>
          </a:xfrm>
          <a:prstGeom prst="roundRect">
            <a:avLst>
              <a:gd name="adj" fmla="val 4324"/>
            </a:avLst>
          </a:prstGeom>
          <a:solidFill>
            <a:srgbClr val="191640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09960" y="2290572"/>
            <a:ext cx="347472" cy="34747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609960" y="2290572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0A1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3007096" y="2738628"/>
            <a:ext cx="1553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2D3E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Reasoning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3007096" y="3195828"/>
            <a:ext cx="1553200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model plans the steps needed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779752" y="3191256"/>
            <a:ext cx="320040" cy="237744"/>
          </a:xfrm>
          <a:prstGeom prst="rightArrow">
            <a:avLst/>
          </a:prstGeom>
          <a:solidFill>
            <a:srgbClr val="22D3EE">
              <a:alpha val="70000"/>
            </a:srgbClr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191232" y="2464308"/>
            <a:ext cx="1809232" cy="1691640"/>
          </a:xfrm>
          <a:prstGeom prst="roundRect">
            <a:avLst>
              <a:gd name="adj" fmla="val 4324"/>
            </a:avLst>
          </a:prstGeom>
          <a:solidFill>
            <a:srgbClr val="191640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922112" y="2290572"/>
            <a:ext cx="347472" cy="347472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922112" y="2290572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0A1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5319248" y="2738628"/>
            <a:ext cx="1553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BBF2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Tool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5319248" y="3195828"/>
            <a:ext cx="1553200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It calls a tool: search, API, database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7091904" y="3191256"/>
            <a:ext cx="320040" cy="237744"/>
          </a:xfrm>
          <a:prstGeom prst="rightArrow">
            <a:avLst/>
          </a:prstGeom>
          <a:solidFill>
            <a:srgbClr val="22D3EE">
              <a:alpha val="70000"/>
            </a:srgbClr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503384" y="2464308"/>
            <a:ext cx="1809232" cy="1691640"/>
          </a:xfrm>
          <a:prstGeom prst="roundRect">
            <a:avLst>
              <a:gd name="adj" fmla="val 4324"/>
            </a:avLst>
          </a:prstGeom>
          <a:solidFill>
            <a:srgbClr val="191640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234263" y="2290572"/>
            <a:ext cx="347472" cy="347472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234263" y="2290572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0A1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4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7631400" y="2738628"/>
            <a:ext cx="1553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4D39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Observation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7631400" y="3195828"/>
            <a:ext cx="1553200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It reads the result of that tool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9404055" y="3191256"/>
            <a:ext cx="320040" cy="237744"/>
          </a:xfrm>
          <a:prstGeom prst="rightArrow">
            <a:avLst/>
          </a:prstGeom>
          <a:solidFill>
            <a:srgbClr val="22D3EE">
              <a:alpha val="70000"/>
            </a:srgbClr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815535" y="2464308"/>
            <a:ext cx="1809232" cy="1691640"/>
          </a:xfrm>
          <a:prstGeom prst="roundRect">
            <a:avLst>
              <a:gd name="adj" fmla="val 4324"/>
            </a:avLst>
          </a:prstGeom>
          <a:solidFill>
            <a:srgbClr val="191640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10546415" y="2290572"/>
            <a:ext cx="347472" cy="347472"/>
          </a:xfrm>
          <a:prstGeom prst="ellipse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10546415" y="2290572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0A1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5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9943551" y="2738628"/>
            <a:ext cx="1553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472B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Action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9943551" y="3195828"/>
            <a:ext cx="1553200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It continues, corrects, or finishes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566928" y="5276088"/>
            <a:ext cx="11057839" cy="960120"/>
          </a:xfrm>
          <a:prstGeom prst="roundRect">
            <a:avLst>
              <a:gd name="adj" fmla="val 7619"/>
            </a:avLst>
          </a:prstGeom>
          <a:solidFill>
            <a:srgbClr val="191640">
              <a:alpha val="96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36" name="Text 34"/>
          <p:cNvSpPr txBox="1"/>
          <p:nvPr/>
        </p:nvSpPr>
        <p:spPr>
          <a:xfrm>
            <a:off x="841248" y="5385816"/>
            <a:ext cx="10509199" cy="7406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A78BF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Remember:  </a:t>
            </a:r>
            <a:r>
              <a:rPr lang="en-US" sz="13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Steps 2 to 4 repeat in a loop until the goal is met or a limit is reached. A step limit prevents endless loops.</a:t>
            </a:r>
            <a:endParaRPr lang="en-US" sz="1300" dirty="0"/>
          </a:p>
        </p:txBody>
      </p:sp>
    </p:spTree>
  </p:cSld>
  <p:clrMapOvr>
    <a:masterClrMapping/>
  </p:clrMapOvr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SLIDE 149 · CAPABILITY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Tools and APIs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Section 14 · AI Agents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175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11057839" cy="877824"/>
          </a:xfrm>
          <a:prstGeom prst="roundRect">
            <a:avLst>
              <a:gd name="adj" fmla="val 8333"/>
            </a:avLst>
          </a:prstGeom>
          <a:solidFill>
            <a:srgbClr val="191640">
              <a:alpha val="96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6928" y="1627632"/>
            <a:ext cx="64008" cy="585216"/>
          </a:xfrm>
          <a:prstGeom prst="roundRect">
            <a:avLst>
              <a:gd name="adj" fmla="val 42857"/>
            </a:avLst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59536" y="1572768"/>
            <a:ext cx="10472623" cy="6949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DDD9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tool is any external function the agent is allowed to call. Tools are what let an agent affect the real world.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66928" y="2615184"/>
            <a:ext cx="3503066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22960" y="2816352"/>
            <a:ext cx="457200" cy="457200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2930652"/>
            <a:ext cx="228600" cy="22860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499616" y="2816352"/>
            <a:ext cx="229605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Search tools</a:t>
            </a:r>
            <a:endParaRPr lang="en-US" sz="1450" dirty="0"/>
          </a:p>
        </p:txBody>
      </p:sp>
      <p:sp>
        <p:nvSpPr>
          <p:cNvPr id="13" name="Text 10"/>
          <p:cNvSpPr txBox="1"/>
          <p:nvPr/>
        </p:nvSpPr>
        <p:spPr>
          <a:xfrm>
            <a:off x="841248" y="3419856"/>
            <a:ext cx="2954426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Look up current information the model does not know.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344314" y="2615184"/>
            <a:ext cx="3503066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600346" y="2816352"/>
            <a:ext cx="457200" cy="457200"/>
          </a:xfrm>
          <a:prstGeom prst="ellipse">
            <a:avLst/>
          </a:prstGeom>
          <a:solidFill>
            <a:srgbClr val="22D3EE">
              <a:alpha val="16000"/>
            </a:srgbClr>
          </a:solidFill>
          <a:ln w="12700">
            <a:solidFill>
              <a:srgbClr val="22D3EE">
                <a:alpha val="45000"/>
              </a:srgbClr>
            </a:solidFill>
            <a:prstDash val="solid"/>
          </a:ln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4646" y="2930652"/>
            <a:ext cx="228600" cy="22860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5277002" y="2816352"/>
            <a:ext cx="229605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Data tools</a:t>
            </a:r>
            <a:endParaRPr lang="en-US" sz="1450" dirty="0"/>
          </a:p>
        </p:txBody>
      </p:sp>
      <p:sp>
        <p:nvSpPr>
          <p:cNvPr id="18" name="Text 14"/>
          <p:cNvSpPr txBox="1"/>
          <p:nvPr/>
        </p:nvSpPr>
        <p:spPr>
          <a:xfrm>
            <a:off x="4618634" y="3419856"/>
            <a:ext cx="2954426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Query a database or read a spreadsheet.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8121701" y="2615184"/>
            <a:ext cx="3503066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8377733" y="2816352"/>
            <a:ext cx="457200" cy="457200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2033" y="2930652"/>
            <a:ext cx="228600" cy="22860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9054389" y="2816352"/>
            <a:ext cx="229605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Code execution</a:t>
            </a:r>
            <a:endParaRPr lang="en-US" sz="1450" dirty="0"/>
          </a:p>
        </p:txBody>
      </p:sp>
      <p:sp>
        <p:nvSpPr>
          <p:cNvPr id="23" name="Text 18"/>
          <p:cNvSpPr txBox="1"/>
          <p:nvPr/>
        </p:nvSpPr>
        <p:spPr>
          <a:xfrm>
            <a:off x="8396021" y="3419856"/>
            <a:ext cx="2954426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Run a calculation or a script, which fixes the weakness at exact maths.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566928" y="4530149"/>
            <a:ext cx="3503066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822960" y="4731317"/>
            <a:ext cx="457200" cy="457200"/>
          </a:xfrm>
          <a:prstGeom prst="ellipse">
            <a:avLst/>
          </a:prstGeom>
          <a:solidFill>
            <a:srgbClr val="34D399">
              <a:alpha val="16000"/>
            </a:srgbClr>
          </a:solidFill>
          <a:ln w="12700">
            <a:solidFill>
              <a:srgbClr val="34D399">
                <a:alpha val="45000"/>
              </a:srgbClr>
            </a:solidFill>
            <a:prstDash val="solid"/>
          </a:ln>
        </p:spPr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7260" y="4845617"/>
            <a:ext cx="228600" cy="228600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1499616" y="4731317"/>
            <a:ext cx="229605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Business tools</a:t>
            </a:r>
            <a:endParaRPr lang="en-US" sz="1450" dirty="0"/>
          </a:p>
        </p:txBody>
      </p:sp>
      <p:sp>
        <p:nvSpPr>
          <p:cNvPr id="28" name="Text 22"/>
          <p:cNvSpPr txBox="1"/>
          <p:nvPr/>
        </p:nvSpPr>
        <p:spPr>
          <a:xfrm>
            <a:off x="841248" y="5334821"/>
            <a:ext cx="2954426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Send an email, create a calendar entry, open a support ticket.</a:t>
            </a:r>
            <a:endParaRPr lang="en-US" sz="1200" dirty="0"/>
          </a:p>
        </p:txBody>
      </p:sp>
      <p:sp>
        <p:nvSpPr>
          <p:cNvPr id="29" name="Shape 23"/>
          <p:cNvSpPr/>
          <p:nvPr/>
        </p:nvSpPr>
        <p:spPr>
          <a:xfrm>
            <a:off x="4344314" y="4530149"/>
            <a:ext cx="3503066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4600346" y="4731317"/>
            <a:ext cx="457200" cy="457200"/>
          </a:xfrm>
          <a:prstGeom prst="ellipse">
            <a:avLst/>
          </a:prstGeom>
          <a:solidFill>
            <a:srgbClr val="F472B6">
              <a:alpha val="16000"/>
            </a:srgbClr>
          </a:solidFill>
          <a:ln w="12700">
            <a:solidFill>
              <a:srgbClr val="F472B6">
                <a:alpha val="45000"/>
              </a:srgbClr>
            </a:solidFill>
            <a:prstDash val="solid"/>
          </a:ln>
        </p:spPr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14646" y="4845617"/>
            <a:ext cx="228600" cy="228600"/>
          </a:xfrm>
          <a:prstGeom prst="rect">
            <a:avLst/>
          </a:prstGeom>
        </p:spPr>
      </p:pic>
      <p:sp>
        <p:nvSpPr>
          <p:cNvPr id="32" name="Text 25"/>
          <p:cNvSpPr txBox="1"/>
          <p:nvPr/>
        </p:nvSpPr>
        <p:spPr>
          <a:xfrm>
            <a:off x="5277002" y="4731317"/>
            <a:ext cx="229605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How It Works</a:t>
            </a:r>
            <a:endParaRPr lang="en-US" sz="1450" dirty="0"/>
          </a:p>
        </p:txBody>
      </p:sp>
      <p:sp>
        <p:nvSpPr>
          <p:cNvPr id="33" name="Text 26"/>
          <p:cNvSpPr txBox="1"/>
          <p:nvPr/>
        </p:nvSpPr>
        <p:spPr>
          <a:xfrm>
            <a:off x="4618634" y="5334821"/>
            <a:ext cx="2954426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model outputs a structured request. The application executes it and returns the result as text.</a:t>
            </a:r>
            <a:endParaRPr lang="en-US" sz="1200" dirty="0"/>
          </a:p>
        </p:txBody>
      </p:sp>
      <p:sp>
        <p:nvSpPr>
          <p:cNvPr id="34" name="Shape 27"/>
          <p:cNvSpPr/>
          <p:nvPr/>
        </p:nvSpPr>
        <p:spPr>
          <a:xfrm>
            <a:off x="8121701" y="4530149"/>
            <a:ext cx="3503066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35" name="Shape 28"/>
          <p:cNvSpPr/>
          <p:nvPr/>
        </p:nvSpPr>
        <p:spPr>
          <a:xfrm>
            <a:off x="8377733" y="4731317"/>
            <a:ext cx="457200" cy="457200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36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92033" y="4845617"/>
            <a:ext cx="228600" cy="228600"/>
          </a:xfrm>
          <a:prstGeom prst="rect">
            <a:avLst/>
          </a:prstGeom>
        </p:spPr>
      </p:pic>
      <p:sp>
        <p:nvSpPr>
          <p:cNvPr id="37" name="Text 29"/>
          <p:cNvSpPr txBox="1"/>
          <p:nvPr/>
        </p:nvSpPr>
        <p:spPr>
          <a:xfrm>
            <a:off x="9054389" y="4731317"/>
            <a:ext cx="229605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Permissions Matter</a:t>
            </a:r>
            <a:endParaRPr lang="en-US" sz="1450" dirty="0"/>
          </a:p>
        </p:txBody>
      </p:sp>
      <p:sp>
        <p:nvSpPr>
          <p:cNvPr id="38" name="Text 30"/>
          <p:cNvSpPr txBox="1"/>
          <p:nvPr/>
        </p:nvSpPr>
        <p:spPr>
          <a:xfrm>
            <a:off x="8396021" y="5334821"/>
            <a:ext cx="2954426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Give each agent the minimum tool access it needs. An agent that can delete data can delete it by mistake.</a:t>
            </a:r>
            <a:endParaRPr lang="en-US" sz="1200" dirty="0"/>
          </a:p>
        </p:txBody>
      </p:sp>
    </p:spTree>
  </p:cSld>
  <p:clrMapOvr>
    <a:masterClrMapping/>
  </p:clrMapOvr>
</p:sld>
</file>

<file path=ppt/slides/slide1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SLIDE 150 · CAPABILITY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Memory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Section 14 · AI Agents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176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11057839" cy="877824"/>
          </a:xfrm>
          <a:prstGeom prst="roundRect">
            <a:avLst>
              <a:gd name="adj" fmla="val 8333"/>
            </a:avLst>
          </a:prstGeom>
          <a:solidFill>
            <a:srgbClr val="191640">
              <a:alpha val="96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6928" y="1627632"/>
            <a:ext cx="64008" cy="585216"/>
          </a:xfrm>
          <a:prstGeom prst="roundRect">
            <a:avLst>
              <a:gd name="adj" fmla="val 42857"/>
            </a:avLst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59536" y="1572768"/>
            <a:ext cx="10472623" cy="6949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DDD9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Memory lets an agent keep useful information across steps and across sessions.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66928" y="2615184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22960" y="2816352"/>
            <a:ext cx="457200" cy="457200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2930652"/>
            <a:ext cx="228600" cy="22860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499616" y="2816352"/>
            <a:ext cx="41847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Short-term memory</a:t>
            </a:r>
            <a:endParaRPr lang="en-US" sz="1450" dirty="0"/>
          </a:p>
        </p:txBody>
      </p:sp>
      <p:sp>
        <p:nvSpPr>
          <p:cNvPr id="13" name="Text 10"/>
          <p:cNvSpPr txBox="1"/>
          <p:nvPr/>
        </p:nvSpPr>
        <p:spPr>
          <a:xfrm>
            <a:off x="841248" y="3419856"/>
            <a:ext cx="484312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current context window: the goal, the steps so far and recent tool results.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33008" y="2615184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489040" y="2816352"/>
            <a:ext cx="457200" cy="457200"/>
          </a:xfrm>
          <a:prstGeom prst="ellipse">
            <a:avLst/>
          </a:prstGeom>
          <a:solidFill>
            <a:srgbClr val="22D3EE">
              <a:alpha val="16000"/>
            </a:srgbClr>
          </a:solidFill>
          <a:ln w="12700">
            <a:solidFill>
              <a:srgbClr val="22D3EE">
                <a:alpha val="45000"/>
              </a:srgbClr>
            </a:solidFill>
            <a:prstDash val="solid"/>
          </a:ln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3340" y="2930652"/>
            <a:ext cx="228600" cy="22860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7165696" y="2816352"/>
            <a:ext cx="41847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Long-term memory</a:t>
            </a:r>
            <a:endParaRPr lang="en-US" sz="1450" dirty="0"/>
          </a:p>
        </p:txBody>
      </p:sp>
      <p:sp>
        <p:nvSpPr>
          <p:cNvPr id="18" name="Text 14"/>
          <p:cNvSpPr txBox="1"/>
          <p:nvPr/>
        </p:nvSpPr>
        <p:spPr>
          <a:xfrm>
            <a:off x="6507328" y="3419856"/>
            <a:ext cx="484312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Facts stored outside the model, often in a vector database, and retrieved when relevant.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566928" y="4530149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822960" y="4731317"/>
            <a:ext cx="457200" cy="457200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260" y="4845617"/>
            <a:ext cx="228600" cy="22860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499616" y="4731317"/>
            <a:ext cx="41847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Why It Helps</a:t>
            </a:r>
            <a:endParaRPr lang="en-US" sz="1450" dirty="0"/>
          </a:p>
        </p:txBody>
      </p:sp>
      <p:sp>
        <p:nvSpPr>
          <p:cNvPr id="23" name="Text 18"/>
          <p:cNvSpPr txBox="1"/>
          <p:nvPr/>
        </p:nvSpPr>
        <p:spPr>
          <a:xfrm>
            <a:off x="841248" y="5334821"/>
            <a:ext cx="484312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agent remembers your preferences and does not ask the same question every time.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6233008" y="4530149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6489040" y="4731317"/>
            <a:ext cx="457200" cy="457200"/>
          </a:xfrm>
          <a:prstGeom prst="ellipse">
            <a:avLst/>
          </a:prstGeom>
          <a:solidFill>
            <a:srgbClr val="34D399">
              <a:alpha val="16000"/>
            </a:srgbClr>
          </a:solidFill>
          <a:ln w="12700">
            <a:solidFill>
              <a:srgbClr val="34D399">
                <a:alpha val="45000"/>
              </a:srgbClr>
            </a:solidFill>
            <a:prstDash val="solid"/>
          </a:ln>
        </p:spPr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3340" y="4845617"/>
            <a:ext cx="228600" cy="228600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7165696" y="4731317"/>
            <a:ext cx="41847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Privacy Duty</a:t>
            </a:r>
            <a:endParaRPr lang="en-US" sz="1450" dirty="0"/>
          </a:p>
        </p:txBody>
      </p:sp>
      <p:sp>
        <p:nvSpPr>
          <p:cNvPr id="28" name="Text 22"/>
          <p:cNvSpPr txBox="1"/>
          <p:nvPr/>
        </p:nvSpPr>
        <p:spPr>
          <a:xfrm>
            <a:off x="6507328" y="5334821"/>
            <a:ext cx="484312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Stored memory is personal data. Users should be able to see it, correct it and delete it.</a:t>
            </a:r>
            <a:endParaRPr lang="en-US" sz="1200" dirty="0"/>
          </a:p>
        </p:txBody>
      </p:sp>
    </p:spTree>
  </p:cSld>
  <p:clrMapOvr>
    <a:masterClrMapping/>
  </p:clrMapOvr>
</p:sld>
</file>

<file path=ppt/slides/slide1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SLIDE 151 · CAPABILITY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Planning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Section 14 · AI Agents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177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11057839" cy="877824"/>
          </a:xfrm>
          <a:prstGeom prst="roundRect">
            <a:avLst>
              <a:gd name="adj" fmla="val 8333"/>
            </a:avLst>
          </a:prstGeom>
          <a:solidFill>
            <a:srgbClr val="191640">
              <a:alpha val="96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6928" y="1627632"/>
            <a:ext cx="64008" cy="585216"/>
          </a:xfrm>
          <a:prstGeom prst="roundRect">
            <a:avLst>
              <a:gd name="adj" fmla="val 42857"/>
            </a:avLst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59536" y="1572768"/>
            <a:ext cx="10472623" cy="6949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DDD9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Planning means breaking a large goal into an ordered list of achievable steps.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66928" y="2615184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22960" y="2816352"/>
            <a:ext cx="457200" cy="457200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2930652"/>
            <a:ext cx="228600" cy="22860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499616" y="2816352"/>
            <a:ext cx="41847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Example Goal</a:t>
            </a:r>
            <a:endParaRPr lang="en-US" sz="1450" dirty="0"/>
          </a:p>
        </p:txBody>
      </p:sp>
      <p:sp>
        <p:nvSpPr>
          <p:cNvPr id="13" name="Text 10"/>
          <p:cNvSpPr txBox="1"/>
          <p:nvPr/>
        </p:nvSpPr>
        <p:spPr>
          <a:xfrm>
            <a:off x="841248" y="3419856"/>
            <a:ext cx="484312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"Prepare a summary of last month customer complaints and email it to the team."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33008" y="2615184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489040" y="2816352"/>
            <a:ext cx="457200" cy="457200"/>
          </a:xfrm>
          <a:prstGeom prst="ellipse">
            <a:avLst/>
          </a:prstGeom>
          <a:solidFill>
            <a:srgbClr val="22D3EE">
              <a:alpha val="16000"/>
            </a:srgbClr>
          </a:solidFill>
          <a:ln w="12700">
            <a:solidFill>
              <a:srgbClr val="22D3EE">
                <a:alpha val="45000"/>
              </a:srgbClr>
            </a:solidFill>
            <a:prstDash val="solid"/>
          </a:ln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3340" y="2930652"/>
            <a:ext cx="228600" cy="22860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7165696" y="2816352"/>
            <a:ext cx="41847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The Plan</a:t>
            </a:r>
            <a:endParaRPr lang="en-US" sz="1450" dirty="0"/>
          </a:p>
        </p:txBody>
      </p:sp>
      <p:sp>
        <p:nvSpPr>
          <p:cNvPr id="18" name="Text 14"/>
          <p:cNvSpPr txBox="1"/>
          <p:nvPr/>
        </p:nvSpPr>
        <p:spPr>
          <a:xfrm>
            <a:off x="6507328" y="3419856"/>
            <a:ext cx="484312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 Fetch complaints. 2. Group into themes. 3. Count each theme. 4. Write the summary. 5. Send the email.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566928" y="4530149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822960" y="4731317"/>
            <a:ext cx="457200" cy="457200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260" y="4845617"/>
            <a:ext cx="228600" cy="22860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499616" y="4731317"/>
            <a:ext cx="41847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Re-planning</a:t>
            </a:r>
            <a:endParaRPr lang="en-US" sz="1450" dirty="0"/>
          </a:p>
        </p:txBody>
      </p:sp>
      <p:sp>
        <p:nvSpPr>
          <p:cNvPr id="23" name="Text 18"/>
          <p:cNvSpPr txBox="1"/>
          <p:nvPr/>
        </p:nvSpPr>
        <p:spPr>
          <a:xfrm>
            <a:off x="841248" y="5334821"/>
            <a:ext cx="484312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If a step fails, a good agent adjusts the plan instead of stopping or repeating the same error.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6233008" y="4530149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6489040" y="4731317"/>
            <a:ext cx="457200" cy="457200"/>
          </a:xfrm>
          <a:prstGeom prst="ellipse">
            <a:avLst/>
          </a:prstGeom>
          <a:solidFill>
            <a:srgbClr val="34D399">
              <a:alpha val="16000"/>
            </a:srgbClr>
          </a:solidFill>
          <a:ln w="12700">
            <a:solidFill>
              <a:srgbClr val="34D399">
                <a:alpha val="45000"/>
              </a:srgbClr>
            </a:solidFill>
            <a:prstDash val="solid"/>
          </a:ln>
        </p:spPr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3340" y="4845617"/>
            <a:ext cx="228600" cy="228600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7165696" y="4731317"/>
            <a:ext cx="41847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Where It Breaks</a:t>
            </a:r>
            <a:endParaRPr lang="en-US" sz="1450" dirty="0"/>
          </a:p>
        </p:txBody>
      </p:sp>
      <p:sp>
        <p:nvSpPr>
          <p:cNvPr id="28" name="Text 22"/>
          <p:cNvSpPr txBox="1"/>
          <p:nvPr/>
        </p:nvSpPr>
        <p:spPr>
          <a:xfrm>
            <a:off x="6507328" y="5334821"/>
            <a:ext cx="484312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Long plans drift. Vague goals produce vague plans. Clear, bounded goals work far better.</a:t>
            </a:r>
            <a:endParaRPr lang="en-US" sz="1200" dirty="0"/>
          </a:p>
        </p:txBody>
      </p:sp>
    </p:spTree>
  </p:cSld>
  <p:clrMapOvr>
    <a:masterClrMapping/>
  </p:clrMapOvr>
</p:sld>
</file>

<file path=ppt/slides/slide1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SLIDE 152 · END TO END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Agent Workflow — A Worked Example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Section 14 · AI Agents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178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481328"/>
            <a:ext cx="11057839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DDD9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Fictional goal: "Find last week support tickets about delivery delays and draft a reply template."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66928" y="2747772"/>
            <a:ext cx="1809232" cy="1691640"/>
          </a:xfrm>
          <a:prstGeom prst="roundRect">
            <a:avLst>
              <a:gd name="adj" fmla="val 4324"/>
            </a:avLst>
          </a:prstGeom>
          <a:solidFill>
            <a:srgbClr val="191640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297808" y="2574036"/>
            <a:ext cx="347472" cy="347472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297808" y="2574036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0A1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94944" y="3022092"/>
            <a:ext cx="1553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A78BF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Plan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94944" y="3479292"/>
            <a:ext cx="1553200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Agent lists the four steps it will take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2467600" y="3474720"/>
            <a:ext cx="320040" cy="237744"/>
          </a:xfrm>
          <a:prstGeom prst="rightArrow">
            <a:avLst/>
          </a:prstGeom>
          <a:solidFill>
            <a:srgbClr val="22D3EE">
              <a:alpha val="70000"/>
            </a:srgbClr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879080" y="2747772"/>
            <a:ext cx="1809232" cy="1691640"/>
          </a:xfrm>
          <a:prstGeom prst="roundRect">
            <a:avLst>
              <a:gd name="adj" fmla="val 4324"/>
            </a:avLst>
          </a:prstGeom>
          <a:solidFill>
            <a:srgbClr val="191640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09960" y="2574036"/>
            <a:ext cx="347472" cy="34747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609960" y="2574036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0A1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3007096" y="3022092"/>
            <a:ext cx="1553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2D3E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Query data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3007096" y="3479292"/>
            <a:ext cx="1553200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Calls the ticket system for last week records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779752" y="3474720"/>
            <a:ext cx="320040" cy="237744"/>
          </a:xfrm>
          <a:prstGeom prst="rightArrow">
            <a:avLst/>
          </a:prstGeom>
          <a:solidFill>
            <a:srgbClr val="22D3EE">
              <a:alpha val="70000"/>
            </a:srgbClr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191232" y="2747772"/>
            <a:ext cx="1809232" cy="1691640"/>
          </a:xfrm>
          <a:prstGeom prst="roundRect">
            <a:avLst>
              <a:gd name="adj" fmla="val 4324"/>
            </a:avLst>
          </a:prstGeom>
          <a:solidFill>
            <a:srgbClr val="191640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922112" y="2574036"/>
            <a:ext cx="347472" cy="347472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922112" y="2574036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0A1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5319248" y="3022092"/>
            <a:ext cx="1553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BBF2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Analyse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5319248" y="3479292"/>
            <a:ext cx="1553200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Groups tickets and finds the common causes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7091904" y="3474720"/>
            <a:ext cx="320040" cy="237744"/>
          </a:xfrm>
          <a:prstGeom prst="rightArrow">
            <a:avLst/>
          </a:prstGeom>
          <a:solidFill>
            <a:srgbClr val="22D3EE">
              <a:alpha val="70000"/>
            </a:srgbClr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503384" y="2747772"/>
            <a:ext cx="1809232" cy="1691640"/>
          </a:xfrm>
          <a:prstGeom prst="roundRect">
            <a:avLst>
              <a:gd name="adj" fmla="val 4324"/>
            </a:avLst>
          </a:prstGeom>
          <a:solidFill>
            <a:srgbClr val="191640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8234263" y="2574036"/>
            <a:ext cx="347472" cy="347472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234263" y="2574036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0A1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4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7631400" y="3022092"/>
            <a:ext cx="1553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4D39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Draft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7631400" y="3479292"/>
            <a:ext cx="1553200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Writes a reply template for the main cause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9404055" y="3474720"/>
            <a:ext cx="320040" cy="237744"/>
          </a:xfrm>
          <a:prstGeom prst="rightArrow">
            <a:avLst/>
          </a:prstGeom>
          <a:solidFill>
            <a:srgbClr val="22D3EE">
              <a:alpha val="70000"/>
            </a:srgbClr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815535" y="2747772"/>
            <a:ext cx="1809232" cy="1691640"/>
          </a:xfrm>
          <a:prstGeom prst="roundRect">
            <a:avLst>
              <a:gd name="adj" fmla="val 4324"/>
            </a:avLst>
          </a:prstGeom>
          <a:solidFill>
            <a:srgbClr val="191640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10546415" y="2574036"/>
            <a:ext cx="347472" cy="347472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10546415" y="2574036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0A1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5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9943551" y="3022092"/>
            <a:ext cx="1553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4D39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Human review</a:t>
            </a:r>
            <a:endParaRPr lang="en-US" sz="1400" dirty="0"/>
          </a:p>
        </p:txBody>
      </p:sp>
      <p:sp>
        <p:nvSpPr>
          <p:cNvPr id="35" name="Text 33"/>
          <p:cNvSpPr txBox="1"/>
          <p:nvPr/>
        </p:nvSpPr>
        <p:spPr>
          <a:xfrm>
            <a:off x="9943551" y="3479292"/>
            <a:ext cx="1553200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person approves before anything is sent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566928" y="5276088"/>
            <a:ext cx="11057839" cy="960120"/>
          </a:xfrm>
          <a:prstGeom prst="roundRect">
            <a:avLst>
              <a:gd name="adj" fmla="val 7619"/>
            </a:avLst>
          </a:prstGeom>
          <a:solidFill>
            <a:srgbClr val="191640">
              <a:alpha val="96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37" name="Text 35"/>
          <p:cNvSpPr txBox="1"/>
          <p:nvPr/>
        </p:nvSpPr>
        <p:spPr>
          <a:xfrm>
            <a:off x="841248" y="5385816"/>
            <a:ext cx="10509199" cy="7406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A78BF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Remember:  </a:t>
            </a:r>
            <a:r>
              <a:rPr lang="en-US" sz="13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Notice the final step. In any serious workflow, a human approves before an action reaches a real customer.</a:t>
            </a:r>
            <a:endParaRPr lang="en-US" sz="1300" dirty="0"/>
          </a:p>
        </p:txBody>
      </p:sp>
    </p:spTree>
  </p:cSld>
  <p:clrMapOvr>
    <a:masterClrMapping/>
  </p:clrMapOvr>
</p:sld>
</file>

<file path=ppt/slides/slide1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SLIDE 153 · EXAMPLES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Examples of AI Agents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Section 14 · AI Agents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179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3503066" cy="2240280"/>
          </a:xfrm>
          <a:prstGeom prst="roundRect">
            <a:avLst>
              <a:gd name="adj" fmla="val 3265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1737360"/>
            <a:ext cx="566928" cy="566928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4692" y="1879092"/>
            <a:ext cx="283464" cy="283464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609344" y="1737360"/>
            <a:ext cx="218633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Research assistant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841248" y="2505456"/>
            <a:ext cx="2954426" cy="10332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Searches sources, reads them, and produces a structured summary with references.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344314" y="1481328"/>
            <a:ext cx="3503066" cy="2240280"/>
          </a:xfrm>
          <a:prstGeom prst="roundRect">
            <a:avLst>
              <a:gd name="adj" fmla="val 3265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600346" y="1737360"/>
            <a:ext cx="566928" cy="566928"/>
          </a:xfrm>
          <a:prstGeom prst="ellipse">
            <a:avLst/>
          </a:prstGeom>
          <a:solidFill>
            <a:srgbClr val="22D3EE">
              <a:alpha val="16000"/>
            </a:srgbClr>
          </a:solidFill>
          <a:ln w="12700">
            <a:solidFill>
              <a:srgbClr val="22D3EE">
                <a:alpha val="45000"/>
              </a:srgbClr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2078" y="1879092"/>
            <a:ext cx="283464" cy="283464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5386730" y="1737360"/>
            <a:ext cx="218633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Coding assistant</a:t>
            </a:r>
            <a:endParaRPr lang="en-US" sz="1600" dirty="0"/>
          </a:p>
        </p:txBody>
      </p:sp>
      <p:sp>
        <p:nvSpPr>
          <p:cNvPr id="15" name="Text 11"/>
          <p:cNvSpPr txBox="1"/>
          <p:nvPr/>
        </p:nvSpPr>
        <p:spPr>
          <a:xfrm>
            <a:off x="4618634" y="2505456"/>
            <a:ext cx="2954426" cy="10332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Reads a codebase, makes a change, runs the tests and reports the result.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8121701" y="1481328"/>
            <a:ext cx="3503066" cy="2240280"/>
          </a:xfrm>
          <a:prstGeom prst="roundRect">
            <a:avLst>
              <a:gd name="adj" fmla="val 3265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377733" y="1737360"/>
            <a:ext cx="566928" cy="566928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9465" y="1879092"/>
            <a:ext cx="283464" cy="283464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9164117" y="1737360"/>
            <a:ext cx="218633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Customer support assistant</a:t>
            </a:r>
            <a:endParaRPr lang="en-US" sz="1600" dirty="0"/>
          </a:p>
        </p:txBody>
      </p:sp>
      <p:sp>
        <p:nvSpPr>
          <p:cNvPr id="20" name="Text 15"/>
          <p:cNvSpPr txBox="1"/>
          <p:nvPr/>
        </p:nvSpPr>
        <p:spPr>
          <a:xfrm>
            <a:off x="8396021" y="2505456"/>
            <a:ext cx="2954426" cy="10332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Looks up an order, checks the policy and drafts a reply for an agent to approve.</a:t>
            </a:r>
            <a:endParaRPr lang="en-US" sz="1300" dirty="0"/>
          </a:p>
        </p:txBody>
      </p:sp>
      <p:sp>
        <p:nvSpPr>
          <p:cNvPr id="21" name="Shape 16"/>
          <p:cNvSpPr/>
          <p:nvPr/>
        </p:nvSpPr>
        <p:spPr>
          <a:xfrm>
            <a:off x="566928" y="3995928"/>
            <a:ext cx="3503066" cy="2240280"/>
          </a:xfrm>
          <a:prstGeom prst="roundRect">
            <a:avLst>
              <a:gd name="adj" fmla="val 3265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822960" y="4251960"/>
            <a:ext cx="566928" cy="566928"/>
          </a:xfrm>
          <a:prstGeom prst="ellipse">
            <a:avLst/>
          </a:prstGeom>
          <a:solidFill>
            <a:srgbClr val="34D399">
              <a:alpha val="16000"/>
            </a:srgbClr>
          </a:solidFill>
          <a:ln w="12700">
            <a:solidFill>
              <a:srgbClr val="34D399">
                <a:alpha val="45000"/>
              </a:srgbClr>
            </a:solidFill>
            <a:prstDash val="solid"/>
          </a:ln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4692" y="4393692"/>
            <a:ext cx="283464" cy="283464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1609344" y="4251960"/>
            <a:ext cx="218633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Scheduling assistant</a:t>
            </a:r>
            <a:endParaRPr lang="en-US" sz="1600" dirty="0"/>
          </a:p>
        </p:txBody>
      </p:sp>
      <p:sp>
        <p:nvSpPr>
          <p:cNvPr id="25" name="Text 19"/>
          <p:cNvSpPr txBox="1"/>
          <p:nvPr/>
        </p:nvSpPr>
        <p:spPr>
          <a:xfrm>
            <a:off x="841248" y="5020056"/>
            <a:ext cx="2954426" cy="10332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Checks calendars, proposes times and sends invitations.</a:t>
            </a:r>
            <a:endParaRPr lang="en-US" sz="1300" dirty="0"/>
          </a:p>
        </p:txBody>
      </p:sp>
      <p:sp>
        <p:nvSpPr>
          <p:cNvPr id="26" name="Shape 20"/>
          <p:cNvSpPr/>
          <p:nvPr/>
        </p:nvSpPr>
        <p:spPr>
          <a:xfrm>
            <a:off x="4344314" y="3995928"/>
            <a:ext cx="3503066" cy="2240280"/>
          </a:xfrm>
          <a:prstGeom prst="roundRect">
            <a:avLst>
              <a:gd name="adj" fmla="val 3265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4600346" y="4251960"/>
            <a:ext cx="566928" cy="566928"/>
          </a:xfrm>
          <a:prstGeom prst="ellipse">
            <a:avLst/>
          </a:prstGeom>
          <a:solidFill>
            <a:srgbClr val="F472B6">
              <a:alpha val="16000"/>
            </a:srgbClr>
          </a:solidFill>
          <a:ln w="12700">
            <a:solidFill>
              <a:srgbClr val="F472B6">
                <a:alpha val="45000"/>
              </a:srgbClr>
            </a:solidFill>
            <a:prstDash val="solid"/>
          </a:ln>
        </p:spPr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42078" y="4393692"/>
            <a:ext cx="283464" cy="283464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5386730" y="4251960"/>
            <a:ext cx="218633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Data analysis assistant</a:t>
            </a:r>
            <a:endParaRPr lang="en-US" sz="1600" dirty="0"/>
          </a:p>
        </p:txBody>
      </p:sp>
      <p:sp>
        <p:nvSpPr>
          <p:cNvPr id="30" name="Text 23"/>
          <p:cNvSpPr txBox="1"/>
          <p:nvPr/>
        </p:nvSpPr>
        <p:spPr>
          <a:xfrm>
            <a:off x="4618634" y="5020056"/>
            <a:ext cx="2954426" cy="10332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Loads a dataset, runs calculations and produces charts with a written explanation.</a:t>
            </a:r>
            <a:endParaRPr lang="en-US" sz="1300" dirty="0"/>
          </a:p>
        </p:txBody>
      </p:sp>
      <p:sp>
        <p:nvSpPr>
          <p:cNvPr id="31" name="Shape 24"/>
          <p:cNvSpPr/>
          <p:nvPr/>
        </p:nvSpPr>
        <p:spPr>
          <a:xfrm>
            <a:off x="8121701" y="3995928"/>
            <a:ext cx="3503066" cy="2240280"/>
          </a:xfrm>
          <a:prstGeom prst="roundRect">
            <a:avLst>
              <a:gd name="adj" fmla="val 3265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8377733" y="4251960"/>
            <a:ext cx="566928" cy="566928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33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19465" y="4393692"/>
            <a:ext cx="283464" cy="283464"/>
          </a:xfrm>
          <a:prstGeom prst="rect">
            <a:avLst/>
          </a:prstGeom>
        </p:spPr>
      </p:pic>
      <p:sp>
        <p:nvSpPr>
          <p:cNvPr id="34" name="Text 26"/>
          <p:cNvSpPr txBox="1"/>
          <p:nvPr/>
        </p:nvSpPr>
        <p:spPr>
          <a:xfrm>
            <a:off x="9164117" y="4251960"/>
            <a:ext cx="218633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Operations assistant</a:t>
            </a:r>
            <a:endParaRPr lang="en-US" sz="1600" dirty="0"/>
          </a:p>
        </p:txBody>
      </p:sp>
      <p:sp>
        <p:nvSpPr>
          <p:cNvPr id="35" name="Text 27"/>
          <p:cNvSpPr txBox="1"/>
          <p:nvPr/>
        </p:nvSpPr>
        <p:spPr>
          <a:xfrm>
            <a:off x="8396021" y="5020056"/>
            <a:ext cx="2954426" cy="10332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Monitors a process, notices a problem and raises a ticket with the details filled in.</a:t>
            </a:r>
            <a:endParaRPr lang="en-US" sz="1300" dirty="0"/>
          </a:p>
        </p:txBody>
      </p:sp>
    </p:spTree>
  </p:cSld>
  <p:clrMapOvr>
    <a:masterClrMapping/>
  </p:clrMapOvr>
</p:sld>
</file>

<file path=ppt/slides/slide1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SLIDE 154 · LIMITS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Agent Limitations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Section 14 · AI Agents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180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3503066" cy="2240280"/>
          </a:xfrm>
          <a:prstGeom prst="roundRect">
            <a:avLst>
              <a:gd name="adj" fmla="val 3265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1737360"/>
            <a:ext cx="566928" cy="566928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4692" y="1879092"/>
            <a:ext cx="283464" cy="283464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609344" y="1737360"/>
            <a:ext cx="218633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Errors compound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841248" y="2505456"/>
            <a:ext cx="2954426" cy="10332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small mistake in step 2 can make every later step wrong.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344314" y="1481328"/>
            <a:ext cx="3503066" cy="2240280"/>
          </a:xfrm>
          <a:prstGeom prst="roundRect">
            <a:avLst>
              <a:gd name="adj" fmla="val 3265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600346" y="1737360"/>
            <a:ext cx="566928" cy="566928"/>
          </a:xfrm>
          <a:prstGeom prst="ellipse">
            <a:avLst/>
          </a:prstGeom>
          <a:solidFill>
            <a:srgbClr val="22D3EE">
              <a:alpha val="16000"/>
            </a:srgbClr>
          </a:solidFill>
          <a:ln w="12700">
            <a:solidFill>
              <a:srgbClr val="22D3EE">
                <a:alpha val="45000"/>
              </a:srgbClr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2078" y="1879092"/>
            <a:ext cx="283464" cy="283464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5386730" y="1737360"/>
            <a:ext cx="218633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Loops and drift</a:t>
            </a:r>
            <a:endParaRPr lang="en-US" sz="1600" dirty="0"/>
          </a:p>
        </p:txBody>
      </p:sp>
      <p:sp>
        <p:nvSpPr>
          <p:cNvPr id="15" name="Text 11"/>
          <p:cNvSpPr txBox="1"/>
          <p:nvPr/>
        </p:nvSpPr>
        <p:spPr>
          <a:xfrm>
            <a:off x="4618634" y="2505456"/>
            <a:ext cx="2954426" cy="10332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Agents can repeat the same failing action. Step limits and timeouts are essential.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8121701" y="1481328"/>
            <a:ext cx="3503066" cy="2240280"/>
          </a:xfrm>
          <a:prstGeom prst="roundRect">
            <a:avLst>
              <a:gd name="adj" fmla="val 3265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377733" y="1737360"/>
            <a:ext cx="566928" cy="566928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9465" y="1879092"/>
            <a:ext cx="283464" cy="283464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9164117" y="1737360"/>
            <a:ext cx="218633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Cost adds up</a:t>
            </a:r>
            <a:endParaRPr lang="en-US" sz="1600" dirty="0"/>
          </a:p>
        </p:txBody>
      </p:sp>
      <p:sp>
        <p:nvSpPr>
          <p:cNvPr id="20" name="Text 15"/>
          <p:cNvSpPr txBox="1"/>
          <p:nvPr/>
        </p:nvSpPr>
        <p:spPr>
          <a:xfrm>
            <a:off x="8396021" y="2505456"/>
            <a:ext cx="2954426" cy="10332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Each step is another model call. A long agent run can be surprisingly expensive.</a:t>
            </a:r>
            <a:endParaRPr lang="en-US" sz="1300" dirty="0"/>
          </a:p>
        </p:txBody>
      </p:sp>
      <p:sp>
        <p:nvSpPr>
          <p:cNvPr id="21" name="Shape 16"/>
          <p:cNvSpPr/>
          <p:nvPr/>
        </p:nvSpPr>
        <p:spPr>
          <a:xfrm>
            <a:off x="566928" y="3995928"/>
            <a:ext cx="3503066" cy="2240280"/>
          </a:xfrm>
          <a:prstGeom prst="roundRect">
            <a:avLst>
              <a:gd name="adj" fmla="val 3265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822960" y="4251960"/>
            <a:ext cx="566928" cy="566928"/>
          </a:xfrm>
          <a:prstGeom prst="ellipse">
            <a:avLst/>
          </a:prstGeom>
          <a:solidFill>
            <a:srgbClr val="34D399">
              <a:alpha val="16000"/>
            </a:srgbClr>
          </a:solidFill>
          <a:ln w="12700">
            <a:solidFill>
              <a:srgbClr val="34D399">
                <a:alpha val="45000"/>
              </a:srgbClr>
            </a:solidFill>
            <a:prstDash val="solid"/>
          </a:ln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4692" y="4393692"/>
            <a:ext cx="283464" cy="283464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1609344" y="4251960"/>
            <a:ext cx="218633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Speed</a:t>
            </a:r>
            <a:endParaRPr lang="en-US" sz="1600" dirty="0"/>
          </a:p>
        </p:txBody>
      </p:sp>
      <p:sp>
        <p:nvSpPr>
          <p:cNvPr id="25" name="Text 19"/>
          <p:cNvSpPr txBox="1"/>
          <p:nvPr/>
        </p:nvSpPr>
        <p:spPr>
          <a:xfrm>
            <a:off x="841248" y="5020056"/>
            <a:ext cx="2954426" cy="10332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Multi-step work takes far longer than a single answer.</a:t>
            </a:r>
            <a:endParaRPr lang="en-US" sz="1300" dirty="0"/>
          </a:p>
        </p:txBody>
      </p:sp>
      <p:sp>
        <p:nvSpPr>
          <p:cNvPr id="26" name="Shape 20"/>
          <p:cNvSpPr/>
          <p:nvPr/>
        </p:nvSpPr>
        <p:spPr>
          <a:xfrm>
            <a:off x="4344314" y="3995928"/>
            <a:ext cx="3503066" cy="2240280"/>
          </a:xfrm>
          <a:prstGeom prst="roundRect">
            <a:avLst>
              <a:gd name="adj" fmla="val 3265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4600346" y="4251960"/>
            <a:ext cx="566928" cy="566928"/>
          </a:xfrm>
          <a:prstGeom prst="ellipse">
            <a:avLst/>
          </a:prstGeom>
          <a:solidFill>
            <a:srgbClr val="F472B6">
              <a:alpha val="16000"/>
            </a:srgbClr>
          </a:solidFill>
          <a:ln w="12700">
            <a:solidFill>
              <a:srgbClr val="F472B6">
                <a:alpha val="45000"/>
              </a:srgbClr>
            </a:solidFill>
            <a:prstDash val="solid"/>
          </a:ln>
        </p:spPr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42078" y="4393692"/>
            <a:ext cx="283464" cy="283464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5386730" y="4251960"/>
            <a:ext cx="218633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Real-world consequences</a:t>
            </a:r>
            <a:endParaRPr lang="en-US" sz="1600" dirty="0"/>
          </a:p>
        </p:txBody>
      </p:sp>
      <p:sp>
        <p:nvSpPr>
          <p:cNvPr id="30" name="Text 23"/>
          <p:cNvSpPr txBox="1"/>
          <p:nvPr/>
        </p:nvSpPr>
        <p:spPr>
          <a:xfrm>
            <a:off x="4618634" y="5020056"/>
            <a:ext cx="2954426" cy="10332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 agent with email or payment access can cause real damage through a simple misunderstanding.</a:t>
            </a:r>
            <a:endParaRPr lang="en-US" sz="1300" dirty="0"/>
          </a:p>
        </p:txBody>
      </p:sp>
      <p:sp>
        <p:nvSpPr>
          <p:cNvPr id="31" name="Shape 24"/>
          <p:cNvSpPr/>
          <p:nvPr/>
        </p:nvSpPr>
        <p:spPr>
          <a:xfrm>
            <a:off x="8121701" y="3995928"/>
            <a:ext cx="3503066" cy="2240280"/>
          </a:xfrm>
          <a:prstGeom prst="roundRect">
            <a:avLst>
              <a:gd name="adj" fmla="val 3265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8377733" y="4251960"/>
            <a:ext cx="566928" cy="566928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33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19465" y="4393692"/>
            <a:ext cx="283464" cy="283464"/>
          </a:xfrm>
          <a:prstGeom prst="rect">
            <a:avLst/>
          </a:prstGeom>
        </p:spPr>
      </p:pic>
      <p:sp>
        <p:nvSpPr>
          <p:cNvPr id="34" name="Text 26"/>
          <p:cNvSpPr txBox="1"/>
          <p:nvPr/>
        </p:nvSpPr>
        <p:spPr>
          <a:xfrm>
            <a:off x="9164117" y="4251960"/>
            <a:ext cx="218633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Hard to debug</a:t>
            </a:r>
            <a:endParaRPr lang="en-US" sz="1600" dirty="0"/>
          </a:p>
        </p:txBody>
      </p:sp>
      <p:sp>
        <p:nvSpPr>
          <p:cNvPr id="35" name="Text 27"/>
          <p:cNvSpPr txBox="1"/>
          <p:nvPr/>
        </p:nvSpPr>
        <p:spPr>
          <a:xfrm>
            <a:off x="8396021" y="5020056"/>
            <a:ext cx="2954426" cy="10332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When something goes wrong, you must trace many steps to find where it started.</a:t>
            </a:r>
            <a:endParaRPr lang="en-US" sz="1300" dirty="0"/>
          </a:p>
        </p:txBody>
      </p:sp>
    </p:spTree>
  </p:cSld>
  <p:clrMapOvr>
    <a:masterClrMapping/>
  </p:clrMapOvr>
</p:sld>
</file>

<file path=ppt/slides/slide1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SLIDE 155 · SAFETY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Responsible AI Agents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Section 14 · AI Agents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181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11057839" cy="670560"/>
          </a:xfrm>
          <a:prstGeom prst="roundRect">
            <a:avLst>
              <a:gd name="adj" fmla="val 10909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04672" y="1600200"/>
            <a:ext cx="432816" cy="432816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2876" y="1708404"/>
            <a:ext cx="216408" cy="216408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475232" y="1591056"/>
            <a:ext cx="9875215" cy="4511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Least privilege</a:t>
            </a:r>
            <a:endParaRPr lang="en-US" sz="13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Give the smallest set of tools and permissions the task actually needs.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566928" y="2298192"/>
            <a:ext cx="11057839" cy="670560"/>
          </a:xfrm>
          <a:prstGeom prst="roundRect">
            <a:avLst>
              <a:gd name="adj" fmla="val 10909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804672" y="2417064"/>
            <a:ext cx="432816" cy="432816"/>
          </a:xfrm>
          <a:prstGeom prst="ellipse">
            <a:avLst/>
          </a:prstGeom>
          <a:solidFill>
            <a:srgbClr val="22D3EE">
              <a:alpha val="16000"/>
            </a:srgbClr>
          </a:solidFill>
          <a:ln w="12700">
            <a:solidFill>
              <a:srgbClr val="22D3EE">
                <a:alpha val="45000"/>
              </a:srgbClr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876" y="2525268"/>
            <a:ext cx="216408" cy="216408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475232" y="2407920"/>
            <a:ext cx="9875215" cy="4511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Human approval for real actions</a:t>
            </a:r>
            <a:endParaRPr lang="en-US" sz="13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Sending money, emailing customers or deleting data should require a person to confirm.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566928" y="3115056"/>
            <a:ext cx="11057839" cy="670560"/>
          </a:xfrm>
          <a:prstGeom prst="roundRect">
            <a:avLst>
              <a:gd name="adj" fmla="val 10909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04672" y="3233928"/>
            <a:ext cx="432816" cy="432816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2876" y="3342132"/>
            <a:ext cx="216408" cy="216408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475232" y="3224784"/>
            <a:ext cx="9875215" cy="4511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Log every step</a:t>
            </a:r>
            <a:endParaRPr lang="en-US" sz="13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Keep a record of each tool call so behaviour can be reviewed afterwards.</a:t>
            </a:r>
            <a:endParaRPr lang="en-US" sz="1350" dirty="0"/>
          </a:p>
        </p:txBody>
      </p:sp>
      <p:sp>
        <p:nvSpPr>
          <p:cNvPr id="18" name="Shape 13"/>
          <p:cNvSpPr/>
          <p:nvPr/>
        </p:nvSpPr>
        <p:spPr>
          <a:xfrm>
            <a:off x="566928" y="3931920"/>
            <a:ext cx="11057839" cy="670560"/>
          </a:xfrm>
          <a:prstGeom prst="roundRect">
            <a:avLst>
              <a:gd name="adj" fmla="val 10909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804672" y="4050792"/>
            <a:ext cx="432816" cy="432816"/>
          </a:xfrm>
          <a:prstGeom prst="ellipse">
            <a:avLst/>
          </a:prstGeom>
          <a:solidFill>
            <a:srgbClr val="34D399">
              <a:alpha val="16000"/>
            </a:srgbClr>
          </a:solidFill>
          <a:ln w="12700">
            <a:solidFill>
              <a:srgbClr val="34D399">
                <a:alpha val="45000"/>
              </a:srgbClr>
            </a:solidFill>
            <a:prstDash val="solid"/>
          </a:ln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876" y="4158996"/>
            <a:ext cx="216408" cy="216408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475232" y="4041648"/>
            <a:ext cx="9875215" cy="4511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Set hard limits</a:t>
            </a:r>
            <a:endParaRPr lang="en-US" sz="13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Maximum steps, maximum spend and a timeout on every run.</a:t>
            </a:r>
            <a:endParaRPr lang="en-US" sz="1350" dirty="0"/>
          </a:p>
        </p:txBody>
      </p:sp>
      <p:sp>
        <p:nvSpPr>
          <p:cNvPr id="22" name="Shape 16"/>
          <p:cNvSpPr/>
          <p:nvPr/>
        </p:nvSpPr>
        <p:spPr>
          <a:xfrm>
            <a:off x="566928" y="4748784"/>
            <a:ext cx="11057839" cy="670560"/>
          </a:xfrm>
          <a:prstGeom prst="roundRect">
            <a:avLst>
              <a:gd name="adj" fmla="val 10909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804672" y="4867656"/>
            <a:ext cx="432816" cy="432816"/>
          </a:xfrm>
          <a:prstGeom prst="ellipse">
            <a:avLst/>
          </a:prstGeom>
          <a:solidFill>
            <a:srgbClr val="F472B6">
              <a:alpha val="16000"/>
            </a:srgbClr>
          </a:solidFill>
          <a:ln w="12700">
            <a:solidFill>
              <a:srgbClr val="F472B6">
                <a:alpha val="45000"/>
              </a:srgbClr>
            </a:solidFill>
            <a:prstDash val="solid"/>
          </a:ln>
        </p:spPr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2876" y="4975860"/>
            <a:ext cx="216408" cy="216408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1475232" y="4858512"/>
            <a:ext cx="9875215" cy="4511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Test in a safe environment</a:t>
            </a:r>
            <a:endParaRPr lang="en-US" sz="13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Run against test data before connecting an agent to real systems.</a:t>
            </a:r>
            <a:endParaRPr lang="en-US" sz="1350" dirty="0"/>
          </a:p>
        </p:txBody>
      </p:sp>
      <p:sp>
        <p:nvSpPr>
          <p:cNvPr id="26" name="Shape 19"/>
          <p:cNvSpPr/>
          <p:nvPr/>
        </p:nvSpPr>
        <p:spPr>
          <a:xfrm>
            <a:off x="566928" y="5565648"/>
            <a:ext cx="11057839" cy="670560"/>
          </a:xfrm>
          <a:prstGeom prst="roundRect">
            <a:avLst>
              <a:gd name="adj" fmla="val 10909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7" name="Shape 20"/>
          <p:cNvSpPr/>
          <p:nvPr/>
        </p:nvSpPr>
        <p:spPr>
          <a:xfrm>
            <a:off x="804672" y="5684520"/>
            <a:ext cx="432816" cy="432816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28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2876" y="5792724"/>
            <a:ext cx="216408" cy="216408"/>
          </a:xfrm>
          <a:prstGeom prst="rect">
            <a:avLst/>
          </a:prstGeom>
        </p:spPr>
      </p:pic>
      <p:sp>
        <p:nvSpPr>
          <p:cNvPr id="29" name="Text 21"/>
          <p:cNvSpPr txBox="1"/>
          <p:nvPr/>
        </p:nvSpPr>
        <p:spPr>
          <a:xfrm>
            <a:off x="1475232" y="5675376"/>
            <a:ext cx="9875215" cy="4511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Keep a person accountable</a:t>
            </a:r>
            <a:endParaRPr lang="en-US" sz="13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Someone must own the outcome. An agent cannot be responsible for its own mistakes.</a:t>
            </a:r>
            <a:endParaRPr lang="en-US" sz="1350" dirty="0"/>
          </a:p>
        </p:txBody>
      </p:sp>
    </p:spTree>
  </p:cSld>
  <p:clrMapOvr>
    <a:masterClrMapping/>
  </p:clrMapOvr>
</p:sld>
</file>

<file path=ppt/slides/slide1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BBF2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QUIZ 14 · SLIDES 146–155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Quiz 14 — AI Agents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Section 14 · AI Agents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182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11057839" cy="848563"/>
          </a:xfrm>
          <a:prstGeom prst="roundRect">
            <a:avLst>
              <a:gd name="adj" fmla="val 8621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68096" y="1627632"/>
            <a:ext cx="310896" cy="310896"/>
          </a:xfrm>
          <a:prstGeom prst="ellipse">
            <a:avLst/>
          </a:prstGeom>
          <a:solidFill>
            <a:srgbClr val="FBBF24">
              <a:alpha val="22000"/>
            </a:srgbClr>
          </a:solidFill>
          <a:ln w="12700">
            <a:solidFill>
              <a:srgbClr val="FBBF24">
                <a:alpha val="5000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68096" y="1627632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BBF2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Q1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188720" y="1600200"/>
            <a:ext cx="8726119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An AI agent differs from a chatbot because it: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10207447" y="1618488"/>
            <a:ext cx="1371600" cy="347472"/>
          </a:xfrm>
          <a:prstGeom prst="roundRect">
            <a:avLst>
              <a:gd name="adj" fmla="val 15789"/>
            </a:avLst>
          </a:prstGeom>
          <a:solidFill>
            <a:srgbClr val="A78BFA">
              <a:alpha val="20000"/>
            </a:srgbClr>
          </a:solidFill>
          <a:ln w="12700">
            <a:solidFill>
              <a:srgbClr val="A78BFA">
                <a:alpha val="60000"/>
              </a:srgbClr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207447" y="1618488"/>
            <a:ext cx="13716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Answer: B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1115568" y="2011680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A. </a:t>
            </a:r>
            <a:r>
              <a:rPr lang="en-US" sz="11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Types faster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3674288" y="2011680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B. </a:t>
            </a: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Completes multi-step tasks with tools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6233008" y="2011680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C. </a:t>
            </a:r>
            <a:r>
              <a:rPr lang="en-US" sz="11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Uses no model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8791727" y="2011680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D. </a:t>
            </a:r>
            <a:r>
              <a:rPr lang="en-US" sz="11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Works offline only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66928" y="2457907"/>
            <a:ext cx="11057839" cy="848563"/>
          </a:xfrm>
          <a:prstGeom prst="roundRect">
            <a:avLst>
              <a:gd name="adj" fmla="val 8621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68096" y="2604211"/>
            <a:ext cx="310896" cy="310896"/>
          </a:xfrm>
          <a:prstGeom prst="ellipse">
            <a:avLst/>
          </a:prstGeom>
          <a:solidFill>
            <a:srgbClr val="FBBF24">
              <a:alpha val="22000"/>
            </a:srgbClr>
          </a:solidFill>
          <a:ln w="12700">
            <a:solidFill>
              <a:srgbClr val="FBBF24">
                <a:alpha val="50000"/>
              </a:srgbClr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68096" y="2604211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BBF2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Q2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1188720" y="2576779"/>
            <a:ext cx="8726119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 tool in an agent system is: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10207447" y="2595067"/>
            <a:ext cx="1371600" cy="347472"/>
          </a:xfrm>
          <a:prstGeom prst="roundRect">
            <a:avLst>
              <a:gd name="adj" fmla="val 15789"/>
            </a:avLst>
          </a:prstGeom>
          <a:solidFill>
            <a:srgbClr val="A78BFA">
              <a:alpha val="20000"/>
            </a:srgbClr>
          </a:solidFill>
          <a:ln w="12700">
            <a:solidFill>
              <a:srgbClr val="A78BFA">
                <a:alpha val="60000"/>
              </a:srgbClr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0207447" y="2595067"/>
            <a:ext cx="13716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Answer: C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1115568" y="2988259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A. </a:t>
            </a:r>
            <a:r>
              <a:rPr lang="en-US" sz="11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hardware device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3674288" y="2988259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B. </a:t>
            </a:r>
            <a:r>
              <a:rPr lang="en-US" sz="11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type of prompt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6233008" y="2988259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C. </a:t>
            </a: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 external function it can call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8791727" y="2988259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D. </a:t>
            </a:r>
            <a:r>
              <a:rPr lang="en-US" sz="11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training dataset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66928" y="3434486"/>
            <a:ext cx="11057839" cy="848563"/>
          </a:xfrm>
          <a:prstGeom prst="roundRect">
            <a:avLst>
              <a:gd name="adj" fmla="val 8621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768096" y="3580790"/>
            <a:ext cx="310896" cy="310896"/>
          </a:xfrm>
          <a:prstGeom prst="ellipse">
            <a:avLst/>
          </a:prstGeom>
          <a:solidFill>
            <a:srgbClr val="FBBF24">
              <a:alpha val="22000"/>
            </a:srgbClr>
          </a:solidFill>
          <a:ln w="12700">
            <a:solidFill>
              <a:srgbClr val="FBBF24">
                <a:alpha val="50000"/>
              </a:srgbClr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68096" y="3580790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BBF2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Q3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1188720" y="3553358"/>
            <a:ext cx="8726119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The agent loop is roughly: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10207447" y="3571646"/>
            <a:ext cx="1371600" cy="347472"/>
          </a:xfrm>
          <a:prstGeom prst="roundRect">
            <a:avLst>
              <a:gd name="adj" fmla="val 15789"/>
            </a:avLst>
          </a:prstGeom>
          <a:solidFill>
            <a:srgbClr val="A78BFA">
              <a:alpha val="20000"/>
            </a:srgbClr>
          </a:solidFill>
          <a:ln w="12700">
            <a:solidFill>
              <a:srgbClr val="A78BFA">
                <a:alpha val="60000"/>
              </a:srgbClr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10207447" y="3571646"/>
            <a:ext cx="13716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Answer: D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1115568" y="3964838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A. </a:t>
            </a:r>
            <a:r>
              <a:rPr lang="en-US" sz="11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Print, scan, copy, fax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3674288" y="3964838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B. </a:t>
            </a:r>
            <a:r>
              <a:rPr lang="en-US" sz="11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Login, logout, repeat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6233008" y="3964838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C. </a:t>
            </a:r>
            <a:r>
              <a:rPr lang="en-US" sz="11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Encrypt, decrypt, store</a:t>
            </a:r>
            <a:endParaRPr lang="en-US" sz="1050" dirty="0"/>
          </a:p>
        </p:txBody>
      </p:sp>
      <p:sp>
        <p:nvSpPr>
          <p:cNvPr id="35" name="Text 33"/>
          <p:cNvSpPr txBox="1"/>
          <p:nvPr/>
        </p:nvSpPr>
        <p:spPr>
          <a:xfrm>
            <a:off x="8791727" y="3964838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D. </a:t>
            </a: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Plan, tool, observe, act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66928" y="4411066"/>
            <a:ext cx="11057839" cy="848563"/>
          </a:xfrm>
          <a:prstGeom prst="roundRect">
            <a:avLst>
              <a:gd name="adj" fmla="val 8621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768096" y="4557370"/>
            <a:ext cx="310896" cy="310896"/>
          </a:xfrm>
          <a:prstGeom prst="ellipse">
            <a:avLst/>
          </a:prstGeom>
          <a:solidFill>
            <a:srgbClr val="FBBF24">
              <a:alpha val="22000"/>
            </a:srgbClr>
          </a:solidFill>
          <a:ln w="12700">
            <a:solidFill>
              <a:srgbClr val="FBBF24">
                <a:alpha val="50000"/>
              </a:srgbClr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768096" y="4557370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BBF2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Q4</a:t>
            </a:r>
            <a:endParaRPr lang="en-US" sz="900" dirty="0"/>
          </a:p>
        </p:txBody>
      </p:sp>
      <p:sp>
        <p:nvSpPr>
          <p:cNvPr id="39" name="Text 37"/>
          <p:cNvSpPr txBox="1"/>
          <p:nvPr/>
        </p:nvSpPr>
        <p:spPr>
          <a:xfrm>
            <a:off x="1188720" y="4529938"/>
            <a:ext cx="8726119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 major agent risk is that:</a:t>
            </a:r>
            <a:endParaRPr lang="en-US" sz="1250" dirty="0"/>
          </a:p>
        </p:txBody>
      </p:sp>
      <p:sp>
        <p:nvSpPr>
          <p:cNvPr id="40" name="Shape 38"/>
          <p:cNvSpPr/>
          <p:nvPr/>
        </p:nvSpPr>
        <p:spPr>
          <a:xfrm>
            <a:off x="10207447" y="4548226"/>
            <a:ext cx="1371600" cy="347472"/>
          </a:xfrm>
          <a:prstGeom prst="roundRect">
            <a:avLst>
              <a:gd name="adj" fmla="val 15789"/>
            </a:avLst>
          </a:prstGeom>
          <a:solidFill>
            <a:srgbClr val="A78BFA">
              <a:alpha val="20000"/>
            </a:srgbClr>
          </a:solidFill>
          <a:ln w="12700">
            <a:solidFill>
              <a:srgbClr val="A78BFA">
                <a:alpha val="60000"/>
              </a:srgbClr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10207447" y="4548226"/>
            <a:ext cx="13716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Answer: A</a:t>
            </a:r>
            <a:endParaRPr lang="en-US" sz="1050" dirty="0"/>
          </a:p>
        </p:txBody>
      </p:sp>
      <p:sp>
        <p:nvSpPr>
          <p:cNvPr id="42" name="Text 40"/>
          <p:cNvSpPr txBox="1"/>
          <p:nvPr/>
        </p:nvSpPr>
        <p:spPr>
          <a:xfrm>
            <a:off x="1115568" y="4941418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A. </a:t>
            </a: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Errors in early steps compound</a:t>
            </a:r>
            <a:endParaRPr lang="en-US" sz="1050" dirty="0"/>
          </a:p>
        </p:txBody>
      </p:sp>
      <p:sp>
        <p:nvSpPr>
          <p:cNvPr id="43" name="Text 41"/>
          <p:cNvSpPr txBox="1"/>
          <p:nvPr/>
        </p:nvSpPr>
        <p:spPr>
          <a:xfrm>
            <a:off x="3674288" y="4941418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B. </a:t>
            </a:r>
            <a:r>
              <a:rPr lang="en-US" sz="11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They cannot read text</a:t>
            </a:r>
            <a:endParaRPr lang="en-US" sz="1050" dirty="0"/>
          </a:p>
        </p:txBody>
      </p:sp>
      <p:sp>
        <p:nvSpPr>
          <p:cNvPr id="44" name="Text 42"/>
          <p:cNvSpPr txBox="1"/>
          <p:nvPr/>
        </p:nvSpPr>
        <p:spPr>
          <a:xfrm>
            <a:off x="6233008" y="4941418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C. </a:t>
            </a:r>
            <a:r>
              <a:rPr lang="en-US" sz="11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They need no permissions</a:t>
            </a:r>
            <a:endParaRPr lang="en-US" sz="1050" dirty="0"/>
          </a:p>
        </p:txBody>
      </p:sp>
      <p:sp>
        <p:nvSpPr>
          <p:cNvPr id="45" name="Text 43"/>
          <p:cNvSpPr txBox="1"/>
          <p:nvPr/>
        </p:nvSpPr>
        <p:spPr>
          <a:xfrm>
            <a:off x="8791727" y="4941418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D. </a:t>
            </a:r>
            <a:r>
              <a:rPr lang="en-US" sz="11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They are always cheap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566928" y="5387645"/>
            <a:ext cx="11057839" cy="848563"/>
          </a:xfrm>
          <a:prstGeom prst="roundRect">
            <a:avLst>
              <a:gd name="adj" fmla="val 8621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768096" y="5533949"/>
            <a:ext cx="310896" cy="310896"/>
          </a:xfrm>
          <a:prstGeom prst="ellipse">
            <a:avLst/>
          </a:prstGeom>
          <a:solidFill>
            <a:srgbClr val="FBBF24">
              <a:alpha val="22000"/>
            </a:srgbClr>
          </a:solidFill>
          <a:ln w="12700">
            <a:solidFill>
              <a:srgbClr val="FBBF24">
                <a:alpha val="50000"/>
              </a:srgbClr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768096" y="5533949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BBF2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Q5</a:t>
            </a:r>
            <a:endParaRPr lang="en-US" sz="900" dirty="0"/>
          </a:p>
        </p:txBody>
      </p:sp>
      <p:sp>
        <p:nvSpPr>
          <p:cNvPr id="49" name="Text 47"/>
          <p:cNvSpPr txBox="1"/>
          <p:nvPr/>
        </p:nvSpPr>
        <p:spPr>
          <a:xfrm>
            <a:off x="1188720" y="5506517"/>
            <a:ext cx="8726119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For important real actions, agents should:</a:t>
            </a:r>
            <a:endParaRPr lang="en-US" sz="1250" dirty="0"/>
          </a:p>
        </p:txBody>
      </p:sp>
      <p:sp>
        <p:nvSpPr>
          <p:cNvPr id="50" name="Shape 48"/>
          <p:cNvSpPr/>
          <p:nvPr/>
        </p:nvSpPr>
        <p:spPr>
          <a:xfrm>
            <a:off x="10207447" y="5524805"/>
            <a:ext cx="1371600" cy="347472"/>
          </a:xfrm>
          <a:prstGeom prst="roundRect">
            <a:avLst>
              <a:gd name="adj" fmla="val 15789"/>
            </a:avLst>
          </a:prstGeom>
          <a:solidFill>
            <a:srgbClr val="A78BFA">
              <a:alpha val="20000"/>
            </a:srgbClr>
          </a:solidFill>
          <a:ln w="12700">
            <a:solidFill>
              <a:srgbClr val="A78BFA">
                <a:alpha val="60000"/>
              </a:srgbClr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10207447" y="5524805"/>
            <a:ext cx="13716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Answer: B</a:t>
            </a:r>
            <a:endParaRPr lang="en-US" sz="1050" dirty="0"/>
          </a:p>
        </p:txBody>
      </p:sp>
      <p:sp>
        <p:nvSpPr>
          <p:cNvPr id="52" name="Text 50"/>
          <p:cNvSpPr txBox="1"/>
          <p:nvPr/>
        </p:nvSpPr>
        <p:spPr>
          <a:xfrm>
            <a:off x="1115568" y="5917997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A. </a:t>
            </a:r>
            <a:r>
              <a:rPr lang="en-US" sz="11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Act without limits</a:t>
            </a:r>
            <a:endParaRPr lang="en-US" sz="1050" dirty="0"/>
          </a:p>
        </p:txBody>
      </p:sp>
      <p:sp>
        <p:nvSpPr>
          <p:cNvPr id="53" name="Text 51"/>
          <p:cNvSpPr txBox="1"/>
          <p:nvPr/>
        </p:nvSpPr>
        <p:spPr>
          <a:xfrm>
            <a:off x="3674288" y="5917997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B. </a:t>
            </a: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Require human approval</a:t>
            </a:r>
            <a:endParaRPr lang="en-US" sz="1050" dirty="0"/>
          </a:p>
        </p:txBody>
      </p:sp>
      <p:sp>
        <p:nvSpPr>
          <p:cNvPr id="54" name="Text 52"/>
          <p:cNvSpPr txBox="1"/>
          <p:nvPr/>
        </p:nvSpPr>
        <p:spPr>
          <a:xfrm>
            <a:off x="6233008" y="5917997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C. </a:t>
            </a:r>
            <a:r>
              <a:rPr lang="en-US" sz="11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Skip logging</a:t>
            </a:r>
            <a:endParaRPr lang="en-US" sz="1050" dirty="0"/>
          </a:p>
        </p:txBody>
      </p:sp>
      <p:sp>
        <p:nvSpPr>
          <p:cNvPr id="55" name="Text 53"/>
          <p:cNvSpPr txBox="1"/>
          <p:nvPr/>
        </p:nvSpPr>
        <p:spPr>
          <a:xfrm>
            <a:off x="8791727" y="5917997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D. </a:t>
            </a:r>
            <a:r>
              <a:rPr lang="en-US" sz="11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Have full admin rights</a:t>
            </a:r>
            <a:endParaRPr lang="en-US" sz="1050" dirty="0"/>
          </a:p>
        </p:txBody>
      </p:sp>
    </p:spTree>
  </p:cSld>
  <p:clrMapOvr>
    <a:masterClrMapping/>
  </p:clrMapOvr>
</p:sld>
</file>

<file path=ppt/slides/slide1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49808" y="1874520"/>
            <a:ext cx="58521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SECTION 15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49808" y="2240280"/>
            <a:ext cx="6035040" cy="1554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AI Tools &amp; Ecosystem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749808" y="3886200"/>
            <a:ext cx="5852160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categories of tools available, and how to choose sensibly between them.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49808" y="4846320"/>
            <a:ext cx="1463040" cy="64008"/>
          </a:xfrm>
          <a:prstGeom prst="roundRect">
            <a:avLst>
              <a:gd name="adj" fmla="val 42857"/>
            </a:avLst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32320" y="1143000"/>
            <a:ext cx="4492447" cy="797357"/>
          </a:xfrm>
          <a:prstGeom prst="roundRect">
            <a:avLst>
              <a:gd name="adj" fmla="val 9174"/>
            </a:avLst>
          </a:prstGeom>
          <a:solidFill>
            <a:srgbClr val="191640"/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51776" y="1313078"/>
            <a:ext cx="457200" cy="457200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66076" y="1427378"/>
            <a:ext cx="228600" cy="22860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8010144" y="1143000"/>
            <a:ext cx="3303727" cy="79735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The Ecosystem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7132320" y="2086661"/>
            <a:ext cx="4492447" cy="797357"/>
          </a:xfrm>
          <a:prstGeom prst="roundRect">
            <a:avLst>
              <a:gd name="adj" fmla="val 9174"/>
            </a:avLst>
          </a:prstGeom>
          <a:solidFill>
            <a:srgbClr val="191640"/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7351776" y="2256739"/>
            <a:ext cx="457200" cy="457200"/>
          </a:xfrm>
          <a:prstGeom prst="ellipse">
            <a:avLst/>
          </a:prstGeom>
          <a:solidFill>
            <a:srgbClr val="22D3EE">
              <a:alpha val="16000"/>
            </a:srgbClr>
          </a:solidFill>
          <a:ln w="12700">
            <a:solidFill>
              <a:srgbClr val="22D3EE">
                <a:alpha val="45000"/>
              </a:srgbClr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6076" y="2371039"/>
            <a:ext cx="228600" cy="22860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8010144" y="2086661"/>
            <a:ext cx="3303727" cy="79735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Chat &amp; Image Tools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7132320" y="3030322"/>
            <a:ext cx="4492447" cy="797357"/>
          </a:xfrm>
          <a:prstGeom prst="roundRect">
            <a:avLst>
              <a:gd name="adj" fmla="val 9174"/>
            </a:avLst>
          </a:prstGeom>
          <a:solidFill>
            <a:srgbClr val="191640"/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351776" y="3200400"/>
            <a:ext cx="457200" cy="457200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6076" y="3314700"/>
            <a:ext cx="228600" cy="22860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010144" y="3030322"/>
            <a:ext cx="3303727" cy="79735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Video &amp; Audio Tools</a:t>
            </a:r>
            <a:endParaRPr lang="en-US" sz="1350" dirty="0"/>
          </a:p>
        </p:txBody>
      </p:sp>
      <p:sp>
        <p:nvSpPr>
          <p:cNvPr id="18" name="Shape 13"/>
          <p:cNvSpPr/>
          <p:nvPr/>
        </p:nvSpPr>
        <p:spPr>
          <a:xfrm>
            <a:off x="7132320" y="3973982"/>
            <a:ext cx="4492447" cy="797357"/>
          </a:xfrm>
          <a:prstGeom prst="roundRect">
            <a:avLst>
              <a:gd name="adj" fmla="val 9174"/>
            </a:avLst>
          </a:prstGeom>
          <a:solidFill>
            <a:srgbClr val="191640"/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7351776" y="4144061"/>
            <a:ext cx="457200" cy="457200"/>
          </a:xfrm>
          <a:prstGeom prst="ellipse">
            <a:avLst/>
          </a:prstGeom>
          <a:solidFill>
            <a:srgbClr val="34D399">
              <a:alpha val="16000"/>
            </a:srgbClr>
          </a:solidFill>
          <a:ln w="12700">
            <a:solidFill>
              <a:srgbClr val="34D399">
                <a:alpha val="45000"/>
              </a:srgbClr>
            </a:solidFill>
            <a:prstDash val="solid"/>
          </a:ln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66076" y="4258361"/>
            <a:ext cx="228600" cy="22860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8010144" y="3973982"/>
            <a:ext cx="3303727" cy="79735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Coding &amp; Research</a:t>
            </a:r>
            <a:endParaRPr lang="en-US" sz="1350" dirty="0"/>
          </a:p>
        </p:txBody>
      </p:sp>
      <p:sp>
        <p:nvSpPr>
          <p:cNvPr id="22" name="Shape 16"/>
          <p:cNvSpPr/>
          <p:nvPr/>
        </p:nvSpPr>
        <p:spPr>
          <a:xfrm>
            <a:off x="7132320" y="4917643"/>
            <a:ext cx="4492447" cy="797357"/>
          </a:xfrm>
          <a:prstGeom prst="roundRect">
            <a:avLst>
              <a:gd name="adj" fmla="val 9174"/>
            </a:avLst>
          </a:prstGeom>
          <a:solidFill>
            <a:srgbClr val="191640"/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7351776" y="5087722"/>
            <a:ext cx="457200" cy="457200"/>
          </a:xfrm>
          <a:prstGeom prst="ellipse">
            <a:avLst/>
          </a:prstGeom>
          <a:solidFill>
            <a:srgbClr val="F472B6">
              <a:alpha val="16000"/>
            </a:srgbClr>
          </a:solidFill>
          <a:ln w="12700">
            <a:solidFill>
              <a:srgbClr val="F472B6">
                <a:alpha val="45000"/>
              </a:srgbClr>
            </a:solidFill>
            <a:prstDash val="solid"/>
          </a:ln>
        </p:spPr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66076" y="5202022"/>
            <a:ext cx="228600" cy="228600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8010144" y="4917643"/>
            <a:ext cx="3303727" cy="79735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Choosing a Tool</a:t>
            </a:r>
            <a:endParaRPr lang="en-US" sz="1350" dirty="0"/>
          </a:p>
        </p:txBody>
      </p:sp>
      <p:sp>
        <p:nvSpPr>
          <p:cNvPr id="26" name="Text 19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Section 15 · AI Tools &amp; Ecosystem</a:t>
            </a:r>
            <a:endParaRPr lang="en-US" sz="950" dirty="0"/>
          </a:p>
        </p:txBody>
      </p:sp>
      <p:sp>
        <p:nvSpPr>
          <p:cNvPr id="27" name="Text 20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183</a:t>
            </a:r>
            <a:endParaRPr lang="en-US" sz="950" dirty="0"/>
          </a:p>
        </p:txBody>
      </p:sp>
    </p:spTree>
  </p:cSld>
  <p:clrMapOvr>
    <a:masterClrMapping/>
  </p:clrMapOvr>
</p:sld>
</file>

<file path=ppt/slides/slide1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SLIDE 156 · OVERVIEW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The Generative AI Ecosystem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Section 15 · AI Tools &amp; Ecosystem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184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3584448" y="2013966"/>
            <a:ext cx="2511400" cy="1844802"/>
          </a:xfrm>
          <a:prstGeom prst="line">
            <a:avLst/>
          </a:prstGeom>
          <a:noFill/>
          <a:ln w="19050">
            <a:solidFill>
              <a:srgbClr val="322C63"/>
            </a:solidFill>
            <a:prstDash val="sysDot"/>
          </a:ln>
        </p:spPr>
      </p:sp>
      <p:sp>
        <p:nvSpPr>
          <p:cNvPr id="7" name="Shape 5"/>
          <p:cNvSpPr/>
          <p:nvPr/>
        </p:nvSpPr>
        <p:spPr>
          <a:xfrm flipH="1">
            <a:off x="6095848" y="2013966"/>
            <a:ext cx="2511400" cy="1844802"/>
          </a:xfrm>
          <a:prstGeom prst="line">
            <a:avLst/>
          </a:prstGeom>
          <a:noFill/>
          <a:ln w="19050">
            <a:solidFill>
              <a:srgbClr val="322C63"/>
            </a:solidFill>
            <a:prstDash val="sysDot"/>
          </a:ln>
        </p:spPr>
      </p:sp>
      <p:sp>
        <p:nvSpPr>
          <p:cNvPr id="8" name="Shape 6"/>
          <p:cNvSpPr/>
          <p:nvPr/>
        </p:nvSpPr>
        <p:spPr>
          <a:xfrm>
            <a:off x="3584448" y="3243834"/>
            <a:ext cx="2511400" cy="614934"/>
          </a:xfrm>
          <a:prstGeom prst="line">
            <a:avLst/>
          </a:prstGeom>
          <a:noFill/>
          <a:ln w="19050">
            <a:solidFill>
              <a:srgbClr val="322C63"/>
            </a:solidFill>
            <a:prstDash val="sysDot"/>
          </a:ln>
        </p:spPr>
      </p:sp>
      <p:sp>
        <p:nvSpPr>
          <p:cNvPr id="9" name="Shape 7"/>
          <p:cNvSpPr/>
          <p:nvPr/>
        </p:nvSpPr>
        <p:spPr>
          <a:xfrm flipH="1">
            <a:off x="6095848" y="3243834"/>
            <a:ext cx="2511400" cy="614934"/>
          </a:xfrm>
          <a:prstGeom prst="line">
            <a:avLst/>
          </a:prstGeom>
          <a:noFill/>
          <a:ln w="19050">
            <a:solidFill>
              <a:srgbClr val="322C63"/>
            </a:solidFill>
            <a:prstDash val="sysDot"/>
          </a:ln>
        </p:spPr>
      </p:sp>
      <p:sp>
        <p:nvSpPr>
          <p:cNvPr id="10" name="Shape 8"/>
          <p:cNvSpPr/>
          <p:nvPr/>
        </p:nvSpPr>
        <p:spPr>
          <a:xfrm flipV="1">
            <a:off x="3584448" y="3858768"/>
            <a:ext cx="2511400" cy="614934"/>
          </a:xfrm>
          <a:prstGeom prst="line">
            <a:avLst/>
          </a:prstGeom>
          <a:noFill/>
          <a:ln w="19050">
            <a:solidFill>
              <a:srgbClr val="322C63"/>
            </a:solidFill>
            <a:prstDash val="sysDot"/>
          </a:ln>
        </p:spPr>
      </p:sp>
      <p:sp>
        <p:nvSpPr>
          <p:cNvPr id="11" name="Shape 9"/>
          <p:cNvSpPr/>
          <p:nvPr/>
        </p:nvSpPr>
        <p:spPr>
          <a:xfrm flipH="1" flipV="1">
            <a:off x="6095848" y="3858768"/>
            <a:ext cx="2511400" cy="614934"/>
          </a:xfrm>
          <a:prstGeom prst="line">
            <a:avLst/>
          </a:prstGeom>
          <a:noFill/>
          <a:ln w="19050">
            <a:solidFill>
              <a:srgbClr val="322C63"/>
            </a:solidFill>
            <a:prstDash val="sysDot"/>
          </a:ln>
        </p:spPr>
      </p:sp>
      <p:sp>
        <p:nvSpPr>
          <p:cNvPr id="12" name="Shape 10"/>
          <p:cNvSpPr/>
          <p:nvPr/>
        </p:nvSpPr>
        <p:spPr>
          <a:xfrm flipV="1">
            <a:off x="3584448" y="3858768"/>
            <a:ext cx="2511400" cy="1844802"/>
          </a:xfrm>
          <a:prstGeom prst="line">
            <a:avLst/>
          </a:prstGeom>
          <a:noFill/>
          <a:ln w="19050">
            <a:solidFill>
              <a:srgbClr val="322C63"/>
            </a:solidFill>
            <a:prstDash val="sysDot"/>
          </a:ln>
        </p:spPr>
      </p:sp>
      <p:sp>
        <p:nvSpPr>
          <p:cNvPr id="13" name="Shape 11"/>
          <p:cNvSpPr/>
          <p:nvPr/>
        </p:nvSpPr>
        <p:spPr>
          <a:xfrm flipH="1" flipV="1">
            <a:off x="6095848" y="3858768"/>
            <a:ext cx="2511400" cy="1844802"/>
          </a:xfrm>
          <a:prstGeom prst="line">
            <a:avLst/>
          </a:prstGeom>
          <a:noFill/>
          <a:ln w="19050">
            <a:solidFill>
              <a:srgbClr val="322C63"/>
            </a:solidFill>
            <a:prstDash val="sysDot"/>
          </a:ln>
        </p:spPr>
      </p:sp>
      <p:sp>
        <p:nvSpPr>
          <p:cNvPr id="14" name="Shape 12"/>
          <p:cNvSpPr/>
          <p:nvPr/>
        </p:nvSpPr>
        <p:spPr>
          <a:xfrm>
            <a:off x="566928" y="1481328"/>
            <a:ext cx="3017520" cy="1065276"/>
          </a:xfrm>
          <a:prstGeom prst="roundRect">
            <a:avLst>
              <a:gd name="adj" fmla="val 6867"/>
            </a:avLst>
          </a:prstGeom>
          <a:solidFill>
            <a:srgbClr val="191640"/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31520" y="1812798"/>
            <a:ext cx="402336" cy="402336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" y="1913382"/>
            <a:ext cx="201168" cy="201168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1298448" y="1554480"/>
            <a:ext cx="2157984" cy="9189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Hardware</a:t>
            </a:r>
            <a:endParaRPr lang="en-US" sz="12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GPUs and AI accelerators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8607247" y="1481328"/>
            <a:ext cx="3017520" cy="1065276"/>
          </a:xfrm>
          <a:prstGeom prst="roundRect">
            <a:avLst>
              <a:gd name="adj" fmla="val 6867"/>
            </a:avLst>
          </a:prstGeom>
          <a:solidFill>
            <a:srgbClr val="191640"/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8771839" y="1812798"/>
            <a:ext cx="402336" cy="402336"/>
          </a:xfrm>
          <a:prstGeom prst="ellipse">
            <a:avLst/>
          </a:prstGeom>
          <a:solidFill>
            <a:srgbClr val="22D3EE">
              <a:alpha val="16000"/>
            </a:srgbClr>
          </a:solidFill>
          <a:ln w="12700">
            <a:solidFill>
              <a:srgbClr val="22D3EE">
                <a:alpha val="45000"/>
              </a:srgbClr>
            </a:solidFill>
            <a:prstDash val="solid"/>
          </a:ln>
        </p:spPr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72423" y="1913382"/>
            <a:ext cx="201168" cy="201168"/>
          </a:xfrm>
          <a:prstGeom prst="rect">
            <a:avLst/>
          </a:prstGeom>
        </p:spPr>
      </p:pic>
      <p:sp>
        <p:nvSpPr>
          <p:cNvPr id="21" name="Text 17"/>
          <p:cNvSpPr txBox="1"/>
          <p:nvPr/>
        </p:nvSpPr>
        <p:spPr>
          <a:xfrm>
            <a:off x="9338767" y="1554480"/>
            <a:ext cx="2157984" cy="9189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Cloud platforms</a:t>
            </a:r>
            <a:endParaRPr lang="en-US" sz="12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Where models are trained and served</a:t>
            </a:r>
            <a:endParaRPr lang="en-US" sz="1250" dirty="0"/>
          </a:p>
        </p:txBody>
      </p:sp>
      <p:sp>
        <p:nvSpPr>
          <p:cNvPr id="22" name="Shape 18"/>
          <p:cNvSpPr/>
          <p:nvPr/>
        </p:nvSpPr>
        <p:spPr>
          <a:xfrm>
            <a:off x="566928" y="2711196"/>
            <a:ext cx="3017520" cy="1065276"/>
          </a:xfrm>
          <a:prstGeom prst="roundRect">
            <a:avLst>
              <a:gd name="adj" fmla="val 6867"/>
            </a:avLst>
          </a:prstGeom>
          <a:solidFill>
            <a:srgbClr val="191640"/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731520" y="3042666"/>
            <a:ext cx="402336" cy="402336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" y="3143250"/>
            <a:ext cx="201168" cy="201168"/>
          </a:xfrm>
          <a:prstGeom prst="rect">
            <a:avLst/>
          </a:prstGeom>
        </p:spPr>
      </p:pic>
      <p:sp>
        <p:nvSpPr>
          <p:cNvPr id="25" name="Text 20"/>
          <p:cNvSpPr txBox="1"/>
          <p:nvPr/>
        </p:nvSpPr>
        <p:spPr>
          <a:xfrm>
            <a:off x="1298448" y="2784348"/>
            <a:ext cx="2157984" cy="9189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Foundation models</a:t>
            </a:r>
            <a:endParaRPr lang="en-US" sz="12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Text, image, audio, multimodal</a:t>
            </a:r>
            <a:endParaRPr lang="en-US" sz="1250" dirty="0"/>
          </a:p>
        </p:txBody>
      </p:sp>
      <p:sp>
        <p:nvSpPr>
          <p:cNvPr id="26" name="Shape 21"/>
          <p:cNvSpPr/>
          <p:nvPr/>
        </p:nvSpPr>
        <p:spPr>
          <a:xfrm>
            <a:off x="8607247" y="2711196"/>
            <a:ext cx="3017520" cy="1065276"/>
          </a:xfrm>
          <a:prstGeom prst="roundRect">
            <a:avLst>
              <a:gd name="adj" fmla="val 6867"/>
            </a:avLst>
          </a:prstGeom>
          <a:solidFill>
            <a:srgbClr val="191640"/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8771839" y="3042666"/>
            <a:ext cx="402336" cy="402336"/>
          </a:xfrm>
          <a:prstGeom prst="ellipse">
            <a:avLst/>
          </a:prstGeom>
          <a:solidFill>
            <a:srgbClr val="34D399">
              <a:alpha val="16000"/>
            </a:srgbClr>
          </a:solidFill>
          <a:ln w="12700">
            <a:solidFill>
              <a:srgbClr val="34D399">
                <a:alpha val="45000"/>
              </a:srgbClr>
            </a:solidFill>
            <a:prstDash val="solid"/>
          </a:ln>
        </p:spPr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72423" y="3143250"/>
            <a:ext cx="201168" cy="201168"/>
          </a:xfrm>
          <a:prstGeom prst="rect">
            <a:avLst/>
          </a:prstGeom>
        </p:spPr>
      </p:pic>
      <p:sp>
        <p:nvSpPr>
          <p:cNvPr id="29" name="Text 23"/>
          <p:cNvSpPr txBox="1"/>
          <p:nvPr/>
        </p:nvSpPr>
        <p:spPr>
          <a:xfrm>
            <a:off x="9338767" y="2784348"/>
            <a:ext cx="2157984" cy="9189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APIs and SDKs</a:t>
            </a:r>
            <a:endParaRPr lang="en-US" sz="12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How developers connect to models</a:t>
            </a:r>
            <a:endParaRPr lang="en-US" sz="1250" dirty="0"/>
          </a:p>
        </p:txBody>
      </p:sp>
      <p:sp>
        <p:nvSpPr>
          <p:cNvPr id="30" name="Shape 24"/>
          <p:cNvSpPr/>
          <p:nvPr/>
        </p:nvSpPr>
        <p:spPr>
          <a:xfrm>
            <a:off x="566928" y="3941064"/>
            <a:ext cx="3017520" cy="1065276"/>
          </a:xfrm>
          <a:prstGeom prst="roundRect">
            <a:avLst>
              <a:gd name="adj" fmla="val 6867"/>
            </a:avLst>
          </a:prstGeom>
          <a:solidFill>
            <a:srgbClr val="191640"/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31" name="Shape 25"/>
          <p:cNvSpPr/>
          <p:nvPr/>
        </p:nvSpPr>
        <p:spPr>
          <a:xfrm>
            <a:off x="731520" y="4272534"/>
            <a:ext cx="402336" cy="402336"/>
          </a:xfrm>
          <a:prstGeom prst="ellipse">
            <a:avLst/>
          </a:prstGeom>
          <a:solidFill>
            <a:srgbClr val="F472B6">
              <a:alpha val="16000"/>
            </a:srgbClr>
          </a:solidFill>
          <a:ln w="12700">
            <a:solidFill>
              <a:srgbClr val="F472B6">
                <a:alpha val="45000"/>
              </a:srgbClr>
            </a:solidFill>
            <a:prstDash val="solid"/>
          </a:ln>
        </p:spPr>
      </p:sp>
      <p:pic>
        <p:nvPicPr>
          <p:cNvPr id="32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2104" y="4373118"/>
            <a:ext cx="201168" cy="201168"/>
          </a:xfrm>
          <a:prstGeom prst="rect">
            <a:avLst/>
          </a:prstGeom>
        </p:spPr>
      </p:pic>
      <p:sp>
        <p:nvSpPr>
          <p:cNvPr id="33" name="Text 26"/>
          <p:cNvSpPr txBox="1"/>
          <p:nvPr/>
        </p:nvSpPr>
        <p:spPr>
          <a:xfrm>
            <a:off x="1298448" y="4014216"/>
            <a:ext cx="2157984" cy="9189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Data layer</a:t>
            </a:r>
            <a:endParaRPr lang="en-US" sz="12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Vector databases and pipelines</a:t>
            </a:r>
            <a:endParaRPr lang="en-US" sz="1250" dirty="0"/>
          </a:p>
        </p:txBody>
      </p:sp>
      <p:sp>
        <p:nvSpPr>
          <p:cNvPr id="34" name="Shape 27"/>
          <p:cNvSpPr/>
          <p:nvPr/>
        </p:nvSpPr>
        <p:spPr>
          <a:xfrm>
            <a:off x="8607247" y="3941064"/>
            <a:ext cx="3017520" cy="1065276"/>
          </a:xfrm>
          <a:prstGeom prst="roundRect">
            <a:avLst>
              <a:gd name="adj" fmla="val 6867"/>
            </a:avLst>
          </a:prstGeom>
          <a:solidFill>
            <a:srgbClr val="191640"/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35" name="Shape 28"/>
          <p:cNvSpPr/>
          <p:nvPr/>
        </p:nvSpPr>
        <p:spPr>
          <a:xfrm>
            <a:off x="8771839" y="4272534"/>
            <a:ext cx="402336" cy="402336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36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72423" y="4373118"/>
            <a:ext cx="201168" cy="201168"/>
          </a:xfrm>
          <a:prstGeom prst="rect">
            <a:avLst/>
          </a:prstGeom>
        </p:spPr>
      </p:pic>
      <p:sp>
        <p:nvSpPr>
          <p:cNvPr id="37" name="Text 29"/>
          <p:cNvSpPr txBox="1"/>
          <p:nvPr/>
        </p:nvSpPr>
        <p:spPr>
          <a:xfrm>
            <a:off x="9338767" y="4014216"/>
            <a:ext cx="2157984" cy="9189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Frameworks</a:t>
            </a:r>
            <a:endParaRPr lang="en-US" sz="12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Libraries for RAG and agents</a:t>
            </a:r>
            <a:endParaRPr lang="en-US" sz="1250" dirty="0"/>
          </a:p>
        </p:txBody>
      </p:sp>
      <p:sp>
        <p:nvSpPr>
          <p:cNvPr id="38" name="Shape 30"/>
          <p:cNvSpPr/>
          <p:nvPr/>
        </p:nvSpPr>
        <p:spPr>
          <a:xfrm>
            <a:off x="566928" y="5170932"/>
            <a:ext cx="3017520" cy="1065276"/>
          </a:xfrm>
          <a:prstGeom prst="roundRect">
            <a:avLst>
              <a:gd name="adj" fmla="val 6867"/>
            </a:avLst>
          </a:prstGeom>
          <a:solidFill>
            <a:srgbClr val="191640"/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39" name="Shape 31"/>
          <p:cNvSpPr/>
          <p:nvPr/>
        </p:nvSpPr>
        <p:spPr>
          <a:xfrm>
            <a:off x="731520" y="5502402"/>
            <a:ext cx="402336" cy="402336"/>
          </a:xfrm>
          <a:prstGeom prst="ellipse">
            <a:avLst/>
          </a:prstGeom>
          <a:solidFill>
            <a:srgbClr val="22D3EE">
              <a:alpha val="16000"/>
            </a:srgbClr>
          </a:solidFill>
          <a:ln w="12700">
            <a:solidFill>
              <a:srgbClr val="22D3EE">
                <a:alpha val="45000"/>
              </a:srgbClr>
            </a:solidFill>
            <a:prstDash val="solid"/>
          </a:ln>
        </p:spPr>
      </p:sp>
      <p:pic>
        <p:nvPicPr>
          <p:cNvPr id="40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2104" y="5602986"/>
            <a:ext cx="201168" cy="201168"/>
          </a:xfrm>
          <a:prstGeom prst="rect">
            <a:avLst/>
          </a:prstGeom>
        </p:spPr>
      </p:pic>
      <p:sp>
        <p:nvSpPr>
          <p:cNvPr id="41" name="Text 32"/>
          <p:cNvSpPr txBox="1"/>
          <p:nvPr/>
        </p:nvSpPr>
        <p:spPr>
          <a:xfrm>
            <a:off x="1298448" y="5244084"/>
            <a:ext cx="2157984" cy="9189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End-user apps</a:t>
            </a:r>
            <a:endParaRPr lang="en-US" sz="12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Chat, writing, design, coding tools</a:t>
            </a:r>
            <a:endParaRPr lang="en-US" sz="1250" dirty="0"/>
          </a:p>
        </p:txBody>
      </p:sp>
      <p:sp>
        <p:nvSpPr>
          <p:cNvPr id="42" name="Shape 33"/>
          <p:cNvSpPr/>
          <p:nvPr/>
        </p:nvSpPr>
        <p:spPr>
          <a:xfrm>
            <a:off x="8607247" y="5170932"/>
            <a:ext cx="3017520" cy="1065276"/>
          </a:xfrm>
          <a:prstGeom prst="roundRect">
            <a:avLst>
              <a:gd name="adj" fmla="val 6867"/>
            </a:avLst>
          </a:prstGeom>
          <a:solidFill>
            <a:srgbClr val="191640"/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43" name="Shape 34"/>
          <p:cNvSpPr/>
          <p:nvPr/>
        </p:nvSpPr>
        <p:spPr>
          <a:xfrm>
            <a:off x="8771839" y="5502402"/>
            <a:ext cx="402336" cy="402336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44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872423" y="5602986"/>
            <a:ext cx="201168" cy="201168"/>
          </a:xfrm>
          <a:prstGeom prst="rect">
            <a:avLst/>
          </a:prstGeom>
        </p:spPr>
      </p:pic>
      <p:sp>
        <p:nvSpPr>
          <p:cNvPr id="45" name="Text 35"/>
          <p:cNvSpPr txBox="1"/>
          <p:nvPr/>
        </p:nvSpPr>
        <p:spPr>
          <a:xfrm>
            <a:off x="9338767" y="5244084"/>
            <a:ext cx="2157984" cy="9189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Governance layer</a:t>
            </a:r>
            <a:endParaRPr lang="en-US" sz="12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Safety, evaluation and monitoring</a:t>
            </a:r>
            <a:endParaRPr lang="en-US" sz="1250" dirty="0"/>
          </a:p>
        </p:txBody>
      </p:sp>
      <p:sp>
        <p:nvSpPr>
          <p:cNvPr id="46" name="Shape 36"/>
          <p:cNvSpPr/>
          <p:nvPr/>
        </p:nvSpPr>
        <p:spPr>
          <a:xfrm>
            <a:off x="4769968" y="3310128"/>
            <a:ext cx="2651760" cy="1097280"/>
          </a:xfrm>
          <a:prstGeom prst="roundRect">
            <a:avLst>
              <a:gd name="adj" fmla="val 8333"/>
            </a:avLst>
          </a:prstGeom>
          <a:solidFill>
            <a:srgbClr val="0B0A1E"/>
          </a:solidFill>
          <a:ln w="12700">
            <a:solidFill>
              <a:srgbClr val="0B0A1E"/>
            </a:solidFill>
            <a:prstDash val="solid"/>
          </a:ln>
        </p:spPr>
      </p:sp>
      <p:sp>
        <p:nvSpPr>
          <p:cNvPr id="47" name="Shape 37"/>
          <p:cNvSpPr/>
          <p:nvPr/>
        </p:nvSpPr>
        <p:spPr>
          <a:xfrm>
            <a:off x="4769968" y="3310128"/>
            <a:ext cx="2651760" cy="1097280"/>
          </a:xfrm>
          <a:prstGeom prst="roundRect">
            <a:avLst>
              <a:gd name="adj" fmla="val 8333"/>
            </a:avLst>
          </a:prstGeom>
          <a:solidFill>
            <a:srgbClr val="A78BFA">
              <a:alpha val="20000"/>
            </a:srgbClr>
          </a:solidFill>
          <a:ln w="25400">
            <a:solidFill>
              <a:srgbClr val="A78BFA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48" name="Text 38"/>
          <p:cNvSpPr txBox="1"/>
          <p:nvPr/>
        </p:nvSpPr>
        <p:spPr>
          <a:xfrm>
            <a:off x="4769968" y="3310128"/>
            <a:ext cx="265176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GEN AI STACK</a:t>
            </a:r>
            <a:endParaRPr lang="en-US" sz="1700" dirty="0"/>
          </a:p>
        </p:txBody>
      </p:sp>
    </p:spTree>
  </p:cSld>
  <p:clrMapOvr>
    <a:masterClrMapping/>
  </p:clrMapOvr>
</p:sld>
</file>

<file path=ppt/slides/slide1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SLIDE 157 · CATEGORY 1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AI Chat Tools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Section 15 · AI Tools &amp; Ecosystem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185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11057839" cy="877824"/>
          </a:xfrm>
          <a:prstGeom prst="roundRect">
            <a:avLst>
              <a:gd name="adj" fmla="val 8333"/>
            </a:avLst>
          </a:prstGeom>
          <a:solidFill>
            <a:srgbClr val="191640">
              <a:alpha val="96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6928" y="1627632"/>
            <a:ext cx="64008" cy="585216"/>
          </a:xfrm>
          <a:prstGeom prst="roundRect">
            <a:avLst>
              <a:gd name="adj" fmla="val 42857"/>
            </a:avLst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59536" y="1572768"/>
            <a:ext cx="10472623" cy="6949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DDD9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General assistants you talk to in plain language. Judge them by fit for your task, not by reputation.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66928" y="2615184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22960" y="2816352"/>
            <a:ext cx="457200" cy="457200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2930652"/>
            <a:ext cx="228600" cy="22860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499616" y="2816352"/>
            <a:ext cx="41847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What They Do</a:t>
            </a:r>
            <a:endParaRPr lang="en-US" sz="1450" dirty="0"/>
          </a:p>
        </p:txBody>
      </p:sp>
      <p:sp>
        <p:nvSpPr>
          <p:cNvPr id="13" name="Text 10"/>
          <p:cNvSpPr txBox="1"/>
          <p:nvPr/>
        </p:nvSpPr>
        <p:spPr>
          <a:xfrm>
            <a:off x="841248" y="3419856"/>
            <a:ext cx="484312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Answer questions, draft text, summarise documents, explain topics and hold a conversation.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33008" y="2615184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489040" y="2816352"/>
            <a:ext cx="457200" cy="457200"/>
          </a:xfrm>
          <a:prstGeom prst="ellipse">
            <a:avLst/>
          </a:prstGeom>
          <a:solidFill>
            <a:srgbClr val="22D3EE">
              <a:alpha val="16000"/>
            </a:srgbClr>
          </a:solidFill>
          <a:ln w="12700">
            <a:solidFill>
              <a:srgbClr val="22D3EE">
                <a:alpha val="45000"/>
              </a:srgbClr>
            </a:solidFill>
            <a:prstDash val="solid"/>
          </a:ln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3340" y="2930652"/>
            <a:ext cx="228600" cy="22860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7165696" y="2816352"/>
            <a:ext cx="41847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Common Extras</a:t>
            </a:r>
            <a:endParaRPr lang="en-US" sz="1450" dirty="0"/>
          </a:p>
        </p:txBody>
      </p:sp>
      <p:sp>
        <p:nvSpPr>
          <p:cNvPr id="18" name="Text 14"/>
          <p:cNvSpPr txBox="1"/>
          <p:nvPr/>
        </p:nvSpPr>
        <p:spPr>
          <a:xfrm>
            <a:off x="6507328" y="3419856"/>
            <a:ext cx="484312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200"/>
              </a:spcAft>
              <a:buSzPct val="100000"/>
              <a:buChar char="▪"/>
            </a:pPr>
            <a:r>
              <a:rPr lang="en-US" sz="9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Web search</a:t>
            </a:r>
            <a:endParaRPr lang="en-US" sz="900" dirty="0"/>
          </a:p>
          <a:p>
            <a:pPr marL="342900" indent="-342900">
              <a:lnSpc>
                <a:spcPct val="110000"/>
              </a:lnSpc>
              <a:spcAft>
                <a:spcPts val="200"/>
              </a:spcAft>
              <a:buSzPct val="100000"/>
              <a:buChar char="▪"/>
            </a:pPr>
            <a:r>
              <a:rPr lang="en-US" sz="9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File and image upload</a:t>
            </a:r>
            <a:endParaRPr lang="en-US" sz="900" dirty="0"/>
          </a:p>
          <a:p>
            <a:pPr marL="342900" indent="-342900">
              <a:lnSpc>
                <a:spcPct val="110000"/>
              </a:lnSpc>
              <a:spcAft>
                <a:spcPts val="200"/>
              </a:spcAft>
              <a:buSzPct val="100000"/>
              <a:buChar char="▪"/>
            </a:pPr>
            <a:r>
              <a:rPr lang="en-US" sz="9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Code execution</a:t>
            </a:r>
            <a:endParaRPr lang="en-US" sz="900" dirty="0"/>
          </a:p>
          <a:p>
            <a:pPr marL="342900" indent="-342900">
              <a:lnSpc>
                <a:spcPct val="110000"/>
              </a:lnSpc>
              <a:spcAft>
                <a:spcPts val="200"/>
              </a:spcAft>
              <a:buSzPct val="100000"/>
              <a:buChar char="▪"/>
            </a:pPr>
            <a:r>
              <a:rPr lang="en-US" sz="9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Custom instructions</a:t>
            </a:r>
            <a:endParaRPr lang="en-US" sz="900" dirty="0"/>
          </a:p>
        </p:txBody>
      </p:sp>
      <p:sp>
        <p:nvSpPr>
          <p:cNvPr id="19" name="Shape 15"/>
          <p:cNvSpPr/>
          <p:nvPr/>
        </p:nvSpPr>
        <p:spPr>
          <a:xfrm>
            <a:off x="566928" y="4530149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822960" y="4731317"/>
            <a:ext cx="457200" cy="457200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260" y="4845617"/>
            <a:ext cx="228600" cy="22860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499616" y="4731317"/>
            <a:ext cx="41847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Consumer vs Business Versions</a:t>
            </a:r>
            <a:endParaRPr lang="en-US" sz="1450" dirty="0"/>
          </a:p>
        </p:txBody>
      </p:sp>
      <p:sp>
        <p:nvSpPr>
          <p:cNvPr id="23" name="Text 18"/>
          <p:cNvSpPr txBox="1"/>
          <p:nvPr/>
        </p:nvSpPr>
        <p:spPr>
          <a:xfrm>
            <a:off x="841248" y="5334821"/>
            <a:ext cx="484312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Business plans usually add data controls, admin settings and agreements on how your data is used.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6233008" y="4530149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6489040" y="4731317"/>
            <a:ext cx="457200" cy="457200"/>
          </a:xfrm>
          <a:prstGeom prst="ellipse">
            <a:avLst/>
          </a:prstGeom>
          <a:solidFill>
            <a:srgbClr val="34D399">
              <a:alpha val="16000"/>
            </a:srgbClr>
          </a:solidFill>
          <a:ln w="12700">
            <a:solidFill>
              <a:srgbClr val="34D399">
                <a:alpha val="45000"/>
              </a:srgbClr>
            </a:solidFill>
            <a:prstDash val="solid"/>
          </a:ln>
        </p:spPr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3340" y="4845617"/>
            <a:ext cx="228600" cy="228600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7165696" y="4731317"/>
            <a:ext cx="41847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How To Compare Fairly</a:t>
            </a:r>
            <a:endParaRPr lang="en-US" sz="1450" dirty="0"/>
          </a:p>
        </p:txBody>
      </p:sp>
      <p:sp>
        <p:nvSpPr>
          <p:cNvPr id="28" name="Text 22"/>
          <p:cNvSpPr txBox="1"/>
          <p:nvPr/>
        </p:nvSpPr>
        <p:spPr>
          <a:xfrm>
            <a:off x="6507328" y="5334821"/>
            <a:ext cx="484312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Test the same realistic prompts on each tool for your own work. Public rankings change constantly.</a:t>
            </a:r>
            <a:endParaRPr lang="en-US" sz="1200" dirty="0"/>
          </a:p>
        </p:txBody>
      </p:sp>
    </p:spTree>
  </p:cSld>
  <p:clrMapOvr>
    <a:masterClrMapping/>
  </p:clrMapOvr>
</p:sld>
</file>

<file path=ppt/slides/slide1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SLIDE 158 · CATEGORY 2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AI Image Tools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Section 15 · AI Tools &amp; Ecosystem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186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3503066" cy="2240280"/>
          </a:xfrm>
          <a:prstGeom prst="roundRect">
            <a:avLst>
              <a:gd name="adj" fmla="val 3265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1737360"/>
            <a:ext cx="566928" cy="566928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4692" y="1879092"/>
            <a:ext cx="283464" cy="283464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609344" y="1737360"/>
            <a:ext cx="218633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Generation tools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841248" y="2505456"/>
            <a:ext cx="2954426" cy="10332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Create images from text prompts, with different visual styles and strengths.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344314" y="1481328"/>
            <a:ext cx="3503066" cy="2240280"/>
          </a:xfrm>
          <a:prstGeom prst="roundRect">
            <a:avLst>
              <a:gd name="adj" fmla="val 3265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600346" y="1737360"/>
            <a:ext cx="566928" cy="566928"/>
          </a:xfrm>
          <a:prstGeom prst="ellipse">
            <a:avLst/>
          </a:prstGeom>
          <a:solidFill>
            <a:srgbClr val="22D3EE">
              <a:alpha val="16000"/>
            </a:srgbClr>
          </a:solidFill>
          <a:ln w="12700">
            <a:solidFill>
              <a:srgbClr val="22D3EE">
                <a:alpha val="45000"/>
              </a:srgbClr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2078" y="1879092"/>
            <a:ext cx="283464" cy="283464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5386730" y="1737360"/>
            <a:ext cx="218633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Editing tools</a:t>
            </a:r>
            <a:endParaRPr lang="en-US" sz="1600" dirty="0"/>
          </a:p>
        </p:txBody>
      </p:sp>
      <p:sp>
        <p:nvSpPr>
          <p:cNvPr id="15" name="Text 11"/>
          <p:cNvSpPr txBox="1"/>
          <p:nvPr/>
        </p:nvSpPr>
        <p:spPr>
          <a:xfrm>
            <a:off x="4618634" y="2505456"/>
            <a:ext cx="2954426" cy="10332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Remove objects, extend images, replace backgrounds and upscale.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8121701" y="1481328"/>
            <a:ext cx="3503066" cy="2240280"/>
          </a:xfrm>
          <a:prstGeom prst="roundRect">
            <a:avLst>
              <a:gd name="adj" fmla="val 3265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377733" y="1737360"/>
            <a:ext cx="566928" cy="566928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9465" y="1879092"/>
            <a:ext cx="283464" cy="283464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9164117" y="1737360"/>
            <a:ext cx="218633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Design suites</a:t>
            </a:r>
            <a:endParaRPr lang="en-US" sz="1600" dirty="0"/>
          </a:p>
        </p:txBody>
      </p:sp>
      <p:sp>
        <p:nvSpPr>
          <p:cNvPr id="20" name="Text 15"/>
          <p:cNvSpPr txBox="1"/>
          <p:nvPr/>
        </p:nvSpPr>
        <p:spPr>
          <a:xfrm>
            <a:off x="8396021" y="2505456"/>
            <a:ext cx="2954426" cy="10332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Traditional design software with AI features built into the normal workflow.</a:t>
            </a:r>
            <a:endParaRPr lang="en-US" sz="1300" dirty="0"/>
          </a:p>
        </p:txBody>
      </p:sp>
      <p:sp>
        <p:nvSpPr>
          <p:cNvPr id="21" name="Shape 16"/>
          <p:cNvSpPr/>
          <p:nvPr/>
        </p:nvSpPr>
        <p:spPr>
          <a:xfrm>
            <a:off x="566928" y="3995928"/>
            <a:ext cx="3503066" cy="2240280"/>
          </a:xfrm>
          <a:prstGeom prst="roundRect">
            <a:avLst>
              <a:gd name="adj" fmla="val 3265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822960" y="4251960"/>
            <a:ext cx="566928" cy="566928"/>
          </a:xfrm>
          <a:prstGeom prst="ellipse">
            <a:avLst/>
          </a:prstGeom>
          <a:solidFill>
            <a:srgbClr val="34D399">
              <a:alpha val="16000"/>
            </a:srgbClr>
          </a:solidFill>
          <a:ln w="12700">
            <a:solidFill>
              <a:srgbClr val="34D399">
                <a:alpha val="45000"/>
              </a:srgbClr>
            </a:solidFill>
            <a:prstDash val="solid"/>
          </a:ln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4692" y="4393692"/>
            <a:ext cx="283464" cy="283464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1609344" y="4251960"/>
            <a:ext cx="218633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Developer APIs</a:t>
            </a:r>
            <a:endParaRPr lang="en-US" sz="1600" dirty="0"/>
          </a:p>
        </p:txBody>
      </p:sp>
      <p:sp>
        <p:nvSpPr>
          <p:cNvPr id="25" name="Text 19"/>
          <p:cNvSpPr txBox="1"/>
          <p:nvPr/>
        </p:nvSpPr>
        <p:spPr>
          <a:xfrm>
            <a:off x="841248" y="5020056"/>
            <a:ext cx="2954426" cy="10332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Generate images programmatically inside your own application.</a:t>
            </a:r>
            <a:endParaRPr lang="en-US" sz="1300" dirty="0"/>
          </a:p>
        </p:txBody>
      </p:sp>
      <p:sp>
        <p:nvSpPr>
          <p:cNvPr id="26" name="Shape 20"/>
          <p:cNvSpPr/>
          <p:nvPr/>
        </p:nvSpPr>
        <p:spPr>
          <a:xfrm>
            <a:off x="4344314" y="3995928"/>
            <a:ext cx="3503066" cy="2240280"/>
          </a:xfrm>
          <a:prstGeom prst="roundRect">
            <a:avLst>
              <a:gd name="adj" fmla="val 3265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4600346" y="4251960"/>
            <a:ext cx="566928" cy="566928"/>
          </a:xfrm>
          <a:prstGeom prst="ellipse">
            <a:avLst/>
          </a:prstGeom>
          <a:solidFill>
            <a:srgbClr val="F472B6">
              <a:alpha val="16000"/>
            </a:srgbClr>
          </a:solidFill>
          <a:ln w="12700">
            <a:solidFill>
              <a:srgbClr val="F472B6">
                <a:alpha val="45000"/>
              </a:srgbClr>
            </a:solidFill>
            <a:prstDash val="solid"/>
          </a:ln>
        </p:spPr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42078" y="4393692"/>
            <a:ext cx="283464" cy="283464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5386730" y="4251960"/>
            <a:ext cx="218633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Check the licence</a:t>
            </a:r>
            <a:endParaRPr lang="en-US" sz="1600" dirty="0"/>
          </a:p>
        </p:txBody>
      </p:sp>
      <p:sp>
        <p:nvSpPr>
          <p:cNvPr id="30" name="Text 23"/>
          <p:cNvSpPr txBox="1"/>
          <p:nvPr/>
        </p:nvSpPr>
        <p:spPr>
          <a:xfrm>
            <a:off x="4618634" y="5020056"/>
            <a:ext cx="2954426" cy="10332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Commercial usage rights differ between tools. Read the terms before business use.</a:t>
            </a:r>
            <a:endParaRPr lang="en-US" sz="1300" dirty="0"/>
          </a:p>
        </p:txBody>
      </p:sp>
      <p:sp>
        <p:nvSpPr>
          <p:cNvPr id="31" name="Shape 24"/>
          <p:cNvSpPr/>
          <p:nvPr/>
        </p:nvSpPr>
        <p:spPr>
          <a:xfrm>
            <a:off x="8121701" y="3995928"/>
            <a:ext cx="3503066" cy="2240280"/>
          </a:xfrm>
          <a:prstGeom prst="roundRect">
            <a:avLst>
              <a:gd name="adj" fmla="val 3265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8377733" y="4251960"/>
            <a:ext cx="566928" cy="566928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33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19465" y="4393692"/>
            <a:ext cx="283464" cy="283464"/>
          </a:xfrm>
          <a:prstGeom prst="rect">
            <a:avLst/>
          </a:prstGeom>
        </p:spPr>
      </p:pic>
      <p:sp>
        <p:nvSpPr>
          <p:cNvPr id="34" name="Text 26"/>
          <p:cNvSpPr txBox="1"/>
          <p:nvPr/>
        </p:nvSpPr>
        <p:spPr>
          <a:xfrm>
            <a:off x="9164117" y="4251960"/>
            <a:ext cx="218633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Practical tip</a:t>
            </a:r>
            <a:endParaRPr lang="en-US" sz="1600" dirty="0"/>
          </a:p>
        </p:txBody>
      </p:sp>
      <p:sp>
        <p:nvSpPr>
          <p:cNvPr id="35" name="Text 27"/>
          <p:cNvSpPr txBox="1"/>
          <p:nvPr/>
        </p:nvSpPr>
        <p:spPr>
          <a:xfrm>
            <a:off x="8396021" y="5020056"/>
            <a:ext cx="2954426" cy="10332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Different tools suit different styles. Photoreal, illustration and vector are rarely best in one tool.</a:t>
            </a:r>
            <a:endParaRPr lang="en-US" sz="1300" dirty="0"/>
          </a:p>
        </p:txBody>
      </p:sp>
    </p:spTree>
  </p:cSld>
  <p:clrMapOvr>
    <a:masterClrMapping/>
  </p:clrMapOvr>
</p:sld>
</file>

<file path=ppt/slides/slide1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SLIDE 159 · CATEGORY 3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AI Video Tools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Section 15 · AI Tools &amp; Ecosystem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187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3503066" cy="2240280"/>
          </a:xfrm>
          <a:prstGeom prst="roundRect">
            <a:avLst>
              <a:gd name="adj" fmla="val 3265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1737360"/>
            <a:ext cx="566928" cy="566928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4692" y="1879092"/>
            <a:ext cx="283464" cy="283464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609344" y="1737360"/>
            <a:ext cx="218633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Text-to-video generators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841248" y="2505456"/>
            <a:ext cx="2954426" cy="10332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Produce short clips from a written description.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344314" y="1481328"/>
            <a:ext cx="3503066" cy="2240280"/>
          </a:xfrm>
          <a:prstGeom prst="roundRect">
            <a:avLst>
              <a:gd name="adj" fmla="val 3265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600346" y="1737360"/>
            <a:ext cx="566928" cy="566928"/>
          </a:xfrm>
          <a:prstGeom prst="ellipse">
            <a:avLst/>
          </a:prstGeom>
          <a:solidFill>
            <a:srgbClr val="22D3EE">
              <a:alpha val="16000"/>
            </a:srgbClr>
          </a:solidFill>
          <a:ln w="12700">
            <a:solidFill>
              <a:srgbClr val="22D3EE">
                <a:alpha val="45000"/>
              </a:srgbClr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2078" y="1879092"/>
            <a:ext cx="283464" cy="283464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5386730" y="1737360"/>
            <a:ext cx="218633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Avatar platforms</a:t>
            </a:r>
            <a:endParaRPr lang="en-US" sz="1600" dirty="0"/>
          </a:p>
        </p:txBody>
      </p:sp>
      <p:sp>
        <p:nvSpPr>
          <p:cNvPr id="15" name="Text 11"/>
          <p:cNvSpPr txBox="1"/>
          <p:nvPr/>
        </p:nvSpPr>
        <p:spPr>
          <a:xfrm>
            <a:off x="4618634" y="2505456"/>
            <a:ext cx="2954426" cy="10332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synthetic presenter delivers your script, often in many languages.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8121701" y="1481328"/>
            <a:ext cx="3503066" cy="2240280"/>
          </a:xfrm>
          <a:prstGeom prst="roundRect">
            <a:avLst>
              <a:gd name="adj" fmla="val 3265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377733" y="1737360"/>
            <a:ext cx="566928" cy="566928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9465" y="1879092"/>
            <a:ext cx="283464" cy="283464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9164117" y="1737360"/>
            <a:ext cx="218633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AI editing tools</a:t>
            </a:r>
            <a:endParaRPr lang="en-US" sz="1600" dirty="0"/>
          </a:p>
        </p:txBody>
      </p:sp>
      <p:sp>
        <p:nvSpPr>
          <p:cNvPr id="20" name="Text 15"/>
          <p:cNvSpPr txBox="1"/>
          <p:nvPr/>
        </p:nvSpPr>
        <p:spPr>
          <a:xfrm>
            <a:off x="8396021" y="2505456"/>
            <a:ext cx="2954426" cy="10332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Automatic cutting, silence removal, captions and reformatting.</a:t>
            </a:r>
            <a:endParaRPr lang="en-US" sz="1300" dirty="0"/>
          </a:p>
        </p:txBody>
      </p:sp>
      <p:sp>
        <p:nvSpPr>
          <p:cNvPr id="21" name="Shape 16"/>
          <p:cNvSpPr/>
          <p:nvPr/>
        </p:nvSpPr>
        <p:spPr>
          <a:xfrm>
            <a:off x="566928" y="3995928"/>
            <a:ext cx="3503066" cy="2240280"/>
          </a:xfrm>
          <a:prstGeom prst="roundRect">
            <a:avLst>
              <a:gd name="adj" fmla="val 3265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822960" y="4251960"/>
            <a:ext cx="566928" cy="566928"/>
          </a:xfrm>
          <a:prstGeom prst="ellipse">
            <a:avLst/>
          </a:prstGeom>
          <a:solidFill>
            <a:srgbClr val="34D399">
              <a:alpha val="16000"/>
            </a:srgbClr>
          </a:solidFill>
          <a:ln w="12700">
            <a:solidFill>
              <a:srgbClr val="34D399">
                <a:alpha val="45000"/>
              </a:srgbClr>
            </a:solidFill>
            <a:prstDash val="solid"/>
          </a:ln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4692" y="4393692"/>
            <a:ext cx="283464" cy="283464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1609344" y="4251960"/>
            <a:ext cx="218633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Dubbing and subtitles</a:t>
            </a:r>
            <a:endParaRPr lang="en-US" sz="1600" dirty="0"/>
          </a:p>
        </p:txBody>
      </p:sp>
      <p:sp>
        <p:nvSpPr>
          <p:cNvPr id="25" name="Text 19"/>
          <p:cNvSpPr txBox="1"/>
          <p:nvPr/>
        </p:nvSpPr>
        <p:spPr>
          <a:xfrm>
            <a:off x="841248" y="5020056"/>
            <a:ext cx="2954426" cy="10332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Translate and voice a video into other languages.</a:t>
            </a:r>
            <a:endParaRPr lang="en-US" sz="1300" dirty="0"/>
          </a:p>
        </p:txBody>
      </p:sp>
      <p:sp>
        <p:nvSpPr>
          <p:cNvPr id="26" name="Shape 20"/>
          <p:cNvSpPr/>
          <p:nvPr/>
        </p:nvSpPr>
        <p:spPr>
          <a:xfrm>
            <a:off x="4344314" y="3995928"/>
            <a:ext cx="3503066" cy="2240280"/>
          </a:xfrm>
          <a:prstGeom prst="roundRect">
            <a:avLst>
              <a:gd name="adj" fmla="val 3265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4600346" y="4251960"/>
            <a:ext cx="566928" cy="566928"/>
          </a:xfrm>
          <a:prstGeom prst="ellipse">
            <a:avLst/>
          </a:prstGeom>
          <a:solidFill>
            <a:srgbClr val="F472B6">
              <a:alpha val="16000"/>
            </a:srgbClr>
          </a:solidFill>
          <a:ln w="12700">
            <a:solidFill>
              <a:srgbClr val="F472B6">
                <a:alpha val="45000"/>
              </a:srgbClr>
            </a:solidFill>
            <a:prstDash val="solid"/>
          </a:ln>
        </p:spPr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42078" y="4393692"/>
            <a:ext cx="283464" cy="283464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5386730" y="4251960"/>
            <a:ext cx="218633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Expect limits</a:t>
            </a:r>
            <a:endParaRPr lang="en-US" sz="1600" dirty="0"/>
          </a:p>
        </p:txBody>
      </p:sp>
      <p:sp>
        <p:nvSpPr>
          <p:cNvPr id="30" name="Text 23"/>
          <p:cNvSpPr txBox="1"/>
          <p:nvPr/>
        </p:nvSpPr>
        <p:spPr>
          <a:xfrm>
            <a:off x="4618634" y="5020056"/>
            <a:ext cx="2954426" cy="10332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Clip length, resolution and consistency are still the main constraints.</a:t>
            </a:r>
            <a:endParaRPr lang="en-US" sz="1300" dirty="0"/>
          </a:p>
        </p:txBody>
      </p:sp>
      <p:sp>
        <p:nvSpPr>
          <p:cNvPr id="31" name="Shape 24"/>
          <p:cNvSpPr/>
          <p:nvPr/>
        </p:nvSpPr>
        <p:spPr>
          <a:xfrm>
            <a:off x="8121701" y="3995928"/>
            <a:ext cx="3503066" cy="2240280"/>
          </a:xfrm>
          <a:prstGeom prst="roundRect">
            <a:avLst>
              <a:gd name="adj" fmla="val 3265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8377733" y="4251960"/>
            <a:ext cx="566928" cy="566928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33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19465" y="4393692"/>
            <a:ext cx="283464" cy="283464"/>
          </a:xfrm>
          <a:prstGeom prst="rect">
            <a:avLst/>
          </a:prstGeom>
        </p:spPr>
      </p:pic>
      <p:sp>
        <p:nvSpPr>
          <p:cNvPr id="34" name="Text 26"/>
          <p:cNvSpPr txBox="1"/>
          <p:nvPr/>
        </p:nvSpPr>
        <p:spPr>
          <a:xfrm>
            <a:off x="9164117" y="4251960"/>
            <a:ext cx="218633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Disclosure</a:t>
            </a:r>
            <a:endParaRPr lang="en-US" sz="1600" dirty="0"/>
          </a:p>
        </p:txBody>
      </p:sp>
      <p:sp>
        <p:nvSpPr>
          <p:cNvPr id="35" name="Text 27"/>
          <p:cNvSpPr txBox="1"/>
          <p:nvPr/>
        </p:nvSpPr>
        <p:spPr>
          <a:xfrm>
            <a:off x="8396021" y="5020056"/>
            <a:ext cx="2954426" cy="10332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Label synthetic presenters and generated footage clearly.</a:t>
            </a:r>
            <a:endParaRPr lang="en-US" sz="1300" dirty="0"/>
          </a:p>
        </p:txBody>
      </p:sp>
    </p:spTree>
  </p:cSld>
  <p:clrMapOvr>
    <a:masterClrMapping/>
  </p:clrMapOvr>
</p:sld>
</file>

<file path=ppt/slides/slide1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SLIDE 160 · CATEGORY 4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AI Audio Tools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Section 15 · AI Tools &amp; Ecosystem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188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3503066" cy="2240280"/>
          </a:xfrm>
          <a:prstGeom prst="roundRect">
            <a:avLst>
              <a:gd name="adj" fmla="val 3265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1737360"/>
            <a:ext cx="566928" cy="566928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4692" y="1879092"/>
            <a:ext cx="283464" cy="283464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609344" y="1737360"/>
            <a:ext cx="218633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Text-to-speech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841248" y="2505456"/>
            <a:ext cx="2954426" cy="10332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Natural narration for videos, courses and accessibility.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344314" y="1481328"/>
            <a:ext cx="3503066" cy="2240280"/>
          </a:xfrm>
          <a:prstGeom prst="roundRect">
            <a:avLst>
              <a:gd name="adj" fmla="val 3265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600346" y="1737360"/>
            <a:ext cx="566928" cy="566928"/>
          </a:xfrm>
          <a:prstGeom prst="ellipse">
            <a:avLst/>
          </a:prstGeom>
          <a:solidFill>
            <a:srgbClr val="22D3EE">
              <a:alpha val="16000"/>
            </a:srgbClr>
          </a:solidFill>
          <a:ln w="12700">
            <a:solidFill>
              <a:srgbClr val="22D3EE">
                <a:alpha val="45000"/>
              </a:srgbClr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2078" y="1879092"/>
            <a:ext cx="283464" cy="283464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5386730" y="1737360"/>
            <a:ext cx="218633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Transcription tools</a:t>
            </a:r>
            <a:endParaRPr lang="en-US" sz="1600" dirty="0"/>
          </a:p>
        </p:txBody>
      </p:sp>
      <p:sp>
        <p:nvSpPr>
          <p:cNvPr id="15" name="Text 11"/>
          <p:cNvSpPr txBox="1"/>
          <p:nvPr/>
        </p:nvSpPr>
        <p:spPr>
          <a:xfrm>
            <a:off x="4618634" y="2505456"/>
            <a:ext cx="2954426" cy="10332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Convert meetings and lectures into searchable text.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8121701" y="1481328"/>
            <a:ext cx="3503066" cy="2240280"/>
          </a:xfrm>
          <a:prstGeom prst="roundRect">
            <a:avLst>
              <a:gd name="adj" fmla="val 3265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377733" y="1737360"/>
            <a:ext cx="566928" cy="566928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9465" y="1879092"/>
            <a:ext cx="283464" cy="283464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9164117" y="1737360"/>
            <a:ext cx="218633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Music generators</a:t>
            </a:r>
            <a:endParaRPr lang="en-US" sz="1600" dirty="0"/>
          </a:p>
        </p:txBody>
      </p:sp>
      <p:sp>
        <p:nvSpPr>
          <p:cNvPr id="20" name="Text 15"/>
          <p:cNvSpPr txBox="1"/>
          <p:nvPr/>
        </p:nvSpPr>
        <p:spPr>
          <a:xfrm>
            <a:off x="8396021" y="2505456"/>
            <a:ext cx="2954426" cy="10332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Background tracks from a text description of mood and style.</a:t>
            </a:r>
            <a:endParaRPr lang="en-US" sz="1300" dirty="0"/>
          </a:p>
        </p:txBody>
      </p:sp>
      <p:sp>
        <p:nvSpPr>
          <p:cNvPr id="21" name="Shape 16"/>
          <p:cNvSpPr/>
          <p:nvPr/>
        </p:nvSpPr>
        <p:spPr>
          <a:xfrm>
            <a:off x="566928" y="3995928"/>
            <a:ext cx="3503066" cy="2240280"/>
          </a:xfrm>
          <a:prstGeom prst="roundRect">
            <a:avLst>
              <a:gd name="adj" fmla="val 3265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822960" y="4251960"/>
            <a:ext cx="566928" cy="566928"/>
          </a:xfrm>
          <a:prstGeom prst="ellipse">
            <a:avLst/>
          </a:prstGeom>
          <a:solidFill>
            <a:srgbClr val="34D399">
              <a:alpha val="16000"/>
            </a:srgbClr>
          </a:solidFill>
          <a:ln w="12700">
            <a:solidFill>
              <a:srgbClr val="34D399">
                <a:alpha val="45000"/>
              </a:srgbClr>
            </a:solidFill>
            <a:prstDash val="solid"/>
          </a:ln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4692" y="4393692"/>
            <a:ext cx="283464" cy="283464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1609344" y="4251960"/>
            <a:ext cx="218633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Audio cleanup</a:t>
            </a:r>
            <a:endParaRPr lang="en-US" sz="1600" dirty="0"/>
          </a:p>
        </p:txBody>
      </p:sp>
      <p:sp>
        <p:nvSpPr>
          <p:cNvPr id="25" name="Text 19"/>
          <p:cNvSpPr txBox="1"/>
          <p:nvPr/>
        </p:nvSpPr>
        <p:spPr>
          <a:xfrm>
            <a:off x="841248" y="5020056"/>
            <a:ext cx="2954426" cy="10332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Remove background noise and improve recording quality.</a:t>
            </a:r>
            <a:endParaRPr lang="en-US" sz="1300" dirty="0"/>
          </a:p>
        </p:txBody>
      </p:sp>
      <p:sp>
        <p:nvSpPr>
          <p:cNvPr id="26" name="Shape 20"/>
          <p:cNvSpPr/>
          <p:nvPr/>
        </p:nvSpPr>
        <p:spPr>
          <a:xfrm>
            <a:off x="4344314" y="3995928"/>
            <a:ext cx="3503066" cy="2240280"/>
          </a:xfrm>
          <a:prstGeom prst="roundRect">
            <a:avLst>
              <a:gd name="adj" fmla="val 3265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4600346" y="4251960"/>
            <a:ext cx="566928" cy="566928"/>
          </a:xfrm>
          <a:prstGeom prst="ellipse">
            <a:avLst/>
          </a:prstGeom>
          <a:solidFill>
            <a:srgbClr val="F472B6">
              <a:alpha val="16000"/>
            </a:srgbClr>
          </a:solidFill>
          <a:ln w="12700">
            <a:solidFill>
              <a:srgbClr val="F472B6">
                <a:alpha val="45000"/>
              </a:srgbClr>
            </a:solidFill>
            <a:prstDash val="solid"/>
          </a:ln>
        </p:spPr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42078" y="4393692"/>
            <a:ext cx="283464" cy="283464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5386730" y="4251960"/>
            <a:ext cx="218633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Consent features</a:t>
            </a:r>
            <a:endParaRPr lang="en-US" sz="1600" dirty="0"/>
          </a:p>
        </p:txBody>
      </p:sp>
      <p:sp>
        <p:nvSpPr>
          <p:cNvPr id="30" name="Text 23"/>
          <p:cNvSpPr txBox="1"/>
          <p:nvPr/>
        </p:nvSpPr>
        <p:spPr>
          <a:xfrm>
            <a:off x="4618634" y="5020056"/>
            <a:ext cx="2954426" cy="10332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Reputable voice tools require proof of permission before cloning a voice.</a:t>
            </a:r>
            <a:endParaRPr lang="en-US" sz="1300" dirty="0"/>
          </a:p>
        </p:txBody>
      </p:sp>
      <p:sp>
        <p:nvSpPr>
          <p:cNvPr id="31" name="Shape 24"/>
          <p:cNvSpPr/>
          <p:nvPr/>
        </p:nvSpPr>
        <p:spPr>
          <a:xfrm>
            <a:off x="8121701" y="3995928"/>
            <a:ext cx="3503066" cy="2240280"/>
          </a:xfrm>
          <a:prstGeom prst="roundRect">
            <a:avLst>
              <a:gd name="adj" fmla="val 3265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8377733" y="4251960"/>
            <a:ext cx="566928" cy="566928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33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19465" y="4393692"/>
            <a:ext cx="283464" cy="283464"/>
          </a:xfrm>
          <a:prstGeom prst="rect">
            <a:avLst/>
          </a:prstGeom>
        </p:spPr>
      </p:pic>
      <p:sp>
        <p:nvSpPr>
          <p:cNvPr id="34" name="Text 26"/>
          <p:cNvSpPr txBox="1"/>
          <p:nvPr/>
        </p:nvSpPr>
        <p:spPr>
          <a:xfrm>
            <a:off x="9164117" y="4251960"/>
            <a:ext cx="218633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Privacy check</a:t>
            </a:r>
            <a:endParaRPr lang="en-US" sz="1600" dirty="0"/>
          </a:p>
        </p:txBody>
      </p:sp>
      <p:sp>
        <p:nvSpPr>
          <p:cNvPr id="35" name="Text 27"/>
          <p:cNvSpPr txBox="1"/>
          <p:nvPr/>
        </p:nvSpPr>
        <p:spPr>
          <a:xfrm>
            <a:off x="8396021" y="5020056"/>
            <a:ext cx="2954426" cy="10332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Meeting audio is sensitive. Confirm where recordings are stored.</a:t>
            </a:r>
            <a:endParaRPr lang="en-US" sz="1300" dirty="0"/>
          </a:p>
        </p:txBody>
      </p:sp>
    </p:spTree>
  </p:cSld>
  <p:clrMapOvr>
    <a:masterClrMapping/>
  </p:clrMapOvr>
</p:sld>
</file>

<file path=ppt/slides/slide1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SLIDE 161 · CATEGORY 5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AI Coding Tools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Section 15 · AI Tools &amp; Ecosystem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189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3503066" cy="2240280"/>
          </a:xfrm>
          <a:prstGeom prst="roundRect">
            <a:avLst>
              <a:gd name="adj" fmla="val 3265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1737360"/>
            <a:ext cx="566928" cy="566928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4692" y="1879092"/>
            <a:ext cx="283464" cy="283464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609344" y="1737360"/>
            <a:ext cx="218633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In-editor assistants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841248" y="2505456"/>
            <a:ext cx="2954426" cy="10332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Suggest code as you type inside your development environment.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344314" y="1481328"/>
            <a:ext cx="3503066" cy="2240280"/>
          </a:xfrm>
          <a:prstGeom prst="roundRect">
            <a:avLst>
              <a:gd name="adj" fmla="val 3265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600346" y="1737360"/>
            <a:ext cx="566928" cy="566928"/>
          </a:xfrm>
          <a:prstGeom prst="ellipse">
            <a:avLst/>
          </a:prstGeom>
          <a:solidFill>
            <a:srgbClr val="22D3EE">
              <a:alpha val="16000"/>
            </a:srgbClr>
          </a:solidFill>
          <a:ln w="12700">
            <a:solidFill>
              <a:srgbClr val="22D3EE">
                <a:alpha val="45000"/>
              </a:srgbClr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2078" y="1879092"/>
            <a:ext cx="283464" cy="283464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5386730" y="1737360"/>
            <a:ext cx="218633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Chat-based helpers</a:t>
            </a:r>
            <a:endParaRPr lang="en-US" sz="1600" dirty="0"/>
          </a:p>
        </p:txBody>
      </p:sp>
      <p:sp>
        <p:nvSpPr>
          <p:cNvPr id="15" name="Text 11"/>
          <p:cNvSpPr txBox="1"/>
          <p:nvPr/>
        </p:nvSpPr>
        <p:spPr>
          <a:xfrm>
            <a:off x="4618634" y="2505456"/>
            <a:ext cx="2954426" cy="10332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Explain errors, review code and answer programming questions.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8121701" y="1481328"/>
            <a:ext cx="3503066" cy="2240280"/>
          </a:xfrm>
          <a:prstGeom prst="roundRect">
            <a:avLst>
              <a:gd name="adj" fmla="val 3265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377733" y="1737360"/>
            <a:ext cx="566928" cy="566928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9465" y="1879092"/>
            <a:ext cx="283464" cy="283464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9164117" y="1737360"/>
            <a:ext cx="218633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Agentic coding tools</a:t>
            </a:r>
            <a:endParaRPr lang="en-US" sz="1600" dirty="0"/>
          </a:p>
        </p:txBody>
      </p:sp>
      <p:sp>
        <p:nvSpPr>
          <p:cNvPr id="20" name="Text 15"/>
          <p:cNvSpPr txBox="1"/>
          <p:nvPr/>
        </p:nvSpPr>
        <p:spPr>
          <a:xfrm>
            <a:off x="8396021" y="2505456"/>
            <a:ext cx="2954426" cy="10332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Take a task, edit multiple files, run tests and report results.</a:t>
            </a:r>
            <a:endParaRPr lang="en-US" sz="1300" dirty="0"/>
          </a:p>
        </p:txBody>
      </p:sp>
      <p:sp>
        <p:nvSpPr>
          <p:cNvPr id="21" name="Shape 16"/>
          <p:cNvSpPr/>
          <p:nvPr/>
        </p:nvSpPr>
        <p:spPr>
          <a:xfrm>
            <a:off x="566928" y="3995928"/>
            <a:ext cx="3503066" cy="2240280"/>
          </a:xfrm>
          <a:prstGeom prst="roundRect">
            <a:avLst>
              <a:gd name="adj" fmla="val 3265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822960" y="4251960"/>
            <a:ext cx="566928" cy="566928"/>
          </a:xfrm>
          <a:prstGeom prst="ellipse">
            <a:avLst/>
          </a:prstGeom>
          <a:solidFill>
            <a:srgbClr val="34D399">
              <a:alpha val="16000"/>
            </a:srgbClr>
          </a:solidFill>
          <a:ln w="12700">
            <a:solidFill>
              <a:srgbClr val="34D399">
                <a:alpha val="45000"/>
              </a:srgbClr>
            </a:solidFill>
            <a:prstDash val="solid"/>
          </a:ln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4692" y="4393692"/>
            <a:ext cx="283464" cy="283464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1609344" y="4251960"/>
            <a:ext cx="218633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Test generation</a:t>
            </a:r>
            <a:endParaRPr lang="en-US" sz="1600" dirty="0"/>
          </a:p>
        </p:txBody>
      </p:sp>
      <p:sp>
        <p:nvSpPr>
          <p:cNvPr id="25" name="Text 19"/>
          <p:cNvSpPr txBox="1"/>
          <p:nvPr/>
        </p:nvSpPr>
        <p:spPr>
          <a:xfrm>
            <a:off x="841248" y="5020056"/>
            <a:ext cx="2954426" cy="10332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Produce unit tests and edge cases for existing functions.</a:t>
            </a:r>
            <a:endParaRPr lang="en-US" sz="1300" dirty="0"/>
          </a:p>
        </p:txBody>
      </p:sp>
      <p:sp>
        <p:nvSpPr>
          <p:cNvPr id="26" name="Shape 20"/>
          <p:cNvSpPr/>
          <p:nvPr/>
        </p:nvSpPr>
        <p:spPr>
          <a:xfrm>
            <a:off x="4344314" y="3995928"/>
            <a:ext cx="3503066" cy="2240280"/>
          </a:xfrm>
          <a:prstGeom prst="roundRect">
            <a:avLst>
              <a:gd name="adj" fmla="val 3265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4600346" y="4251960"/>
            <a:ext cx="566928" cy="566928"/>
          </a:xfrm>
          <a:prstGeom prst="ellipse">
            <a:avLst/>
          </a:prstGeom>
          <a:solidFill>
            <a:srgbClr val="F472B6">
              <a:alpha val="16000"/>
            </a:srgbClr>
          </a:solidFill>
          <a:ln w="12700">
            <a:solidFill>
              <a:srgbClr val="F472B6">
                <a:alpha val="45000"/>
              </a:srgbClr>
            </a:solidFill>
            <a:prstDash val="solid"/>
          </a:ln>
        </p:spPr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42078" y="4393692"/>
            <a:ext cx="283464" cy="283464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5386730" y="4251960"/>
            <a:ext cx="218633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Documentation helpers</a:t>
            </a:r>
            <a:endParaRPr lang="en-US" sz="1600" dirty="0"/>
          </a:p>
        </p:txBody>
      </p:sp>
      <p:sp>
        <p:nvSpPr>
          <p:cNvPr id="30" name="Text 23"/>
          <p:cNvSpPr txBox="1"/>
          <p:nvPr/>
        </p:nvSpPr>
        <p:spPr>
          <a:xfrm>
            <a:off x="4618634" y="5020056"/>
            <a:ext cx="2954426" cy="10332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Generate comments, README files and API documentation.</a:t>
            </a:r>
            <a:endParaRPr lang="en-US" sz="1300" dirty="0"/>
          </a:p>
        </p:txBody>
      </p:sp>
      <p:sp>
        <p:nvSpPr>
          <p:cNvPr id="31" name="Shape 24"/>
          <p:cNvSpPr/>
          <p:nvPr/>
        </p:nvSpPr>
        <p:spPr>
          <a:xfrm>
            <a:off x="8121701" y="3995928"/>
            <a:ext cx="3503066" cy="2240280"/>
          </a:xfrm>
          <a:prstGeom prst="roundRect">
            <a:avLst>
              <a:gd name="adj" fmla="val 3265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8377733" y="4251960"/>
            <a:ext cx="566928" cy="566928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33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19465" y="4393692"/>
            <a:ext cx="283464" cy="283464"/>
          </a:xfrm>
          <a:prstGeom prst="rect">
            <a:avLst/>
          </a:prstGeom>
        </p:spPr>
      </p:pic>
      <p:sp>
        <p:nvSpPr>
          <p:cNvPr id="34" name="Text 26"/>
          <p:cNvSpPr txBox="1"/>
          <p:nvPr/>
        </p:nvSpPr>
        <p:spPr>
          <a:xfrm>
            <a:off x="9164117" y="4251960"/>
            <a:ext cx="218633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Always review</a:t>
            </a:r>
            <a:endParaRPr lang="en-US" sz="1600" dirty="0"/>
          </a:p>
        </p:txBody>
      </p:sp>
      <p:sp>
        <p:nvSpPr>
          <p:cNvPr id="35" name="Text 27"/>
          <p:cNvSpPr txBox="1"/>
          <p:nvPr/>
        </p:nvSpPr>
        <p:spPr>
          <a:xfrm>
            <a:off x="8396021" y="5020056"/>
            <a:ext cx="2954426" cy="10332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Generated code must be read, tested and understood before it is used.</a:t>
            </a:r>
            <a:endParaRPr lang="en-US" sz="1300" dirty="0"/>
          </a:p>
        </p:txBody>
      </p:sp>
    </p:spTree>
  </p:cSld>
  <p:clrMapOvr>
    <a:masterClrMapping/>
  </p:clrMapOvr>
</p:sld>
</file>

<file path=ppt/slides/slide1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SLIDE 162 · CATEGORY 6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AI Research Tools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Section 15 · AI Tools &amp; Ecosystem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190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3503066" cy="2240280"/>
          </a:xfrm>
          <a:prstGeom prst="roundRect">
            <a:avLst>
              <a:gd name="adj" fmla="val 3265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1737360"/>
            <a:ext cx="566928" cy="566928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4692" y="1879092"/>
            <a:ext cx="283464" cy="283464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609344" y="1737360"/>
            <a:ext cx="218633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AI search engines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841248" y="2505456"/>
            <a:ext cx="2954426" cy="10332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Answer questions with citations you can open and verify.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344314" y="1481328"/>
            <a:ext cx="3503066" cy="2240280"/>
          </a:xfrm>
          <a:prstGeom prst="roundRect">
            <a:avLst>
              <a:gd name="adj" fmla="val 3265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600346" y="1737360"/>
            <a:ext cx="566928" cy="566928"/>
          </a:xfrm>
          <a:prstGeom prst="ellipse">
            <a:avLst/>
          </a:prstGeom>
          <a:solidFill>
            <a:srgbClr val="22D3EE">
              <a:alpha val="16000"/>
            </a:srgbClr>
          </a:solidFill>
          <a:ln w="12700">
            <a:solidFill>
              <a:srgbClr val="22D3EE">
                <a:alpha val="45000"/>
              </a:srgbClr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2078" y="1879092"/>
            <a:ext cx="283464" cy="283464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5386730" y="1737360"/>
            <a:ext cx="218633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Document assistants</a:t>
            </a:r>
            <a:endParaRPr lang="en-US" sz="1600" dirty="0"/>
          </a:p>
        </p:txBody>
      </p:sp>
      <p:sp>
        <p:nvSpPr>
          <p:cNvPr id="15" name="Text 11"/>
          <p:cNvSpPr txBox="1"/>
          <p:nvPr/>
        </p:nvSpPr>
        <p:spPr>
          <a:xfrm>
            <a:off x="4618634" y="2505456"/>
            <a:ext cx="2954426" cy="10332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Upload papers or reports and ask questions about them directly.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8121701" y="1481328"/>
            <a:ext cx="3503066" cy="2240280"/>
          </a:xfrm>
          <a:prstGeom prst="roundRect">
            <a:avLst>
              <a:gd name="adj" fmla="val 3265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377733" y="1737360"/>
            <a:ext cx="566928" cy="566928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9465" y="1879092"/>
            <a:ext cx="283464" cy="283464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9164117" y="1737360"/>
            <a:ext cx="218633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Literature organisers</a:t>
            </a:r>
            <a:endParaRPr lang="en-US" sz="1600" dirty="0"/>
          </a:p>
        </p:txBody>
      </p:sp>
      <p:sp>
        <p:nvSpPr>
          <p:cNvPr id="20" name="Text 15"/>
          <p:cNvSpPr txBox="1"/>
          <p:nvPr/>
        </p:nvSpPr>
        <p:spPr>
          <a:xfrm>
            <a:off x="8396021" y="2505456"/>
            <a:ext cx="2954426" cy="10332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Summarise many papers into a structured comparison table.</a:t>
            </a:r>
            <a:endParaRPr lang="en-US" sz="1300" dirty="0"/>
          </a:p>
        </p:txBody>
      </p:sp>
      <p:sp>
        <p:nvSpPr>
          <p:cNvPr id="21" name="Shape 16"/>
          <p:cNvSpPr/>
          <p:nvPr/>
        </p:nvSpPr>
        <p:spPr>
          <a:xfrm>
            <a:off x="566928" y="3995928"/>
            <a:ext cx="3503066" cy="2240280"/>
          </a:xfrm>
          <a:prstGeom prst="roundRect">
            <a:avLst>
              <a:gd name="adj" fmla="val 3265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822960" y="4251960"/>
            <a:ext cx="566928" cy="566928"/>
          </a:xfrm>
          <a:prstGeom prst="ellipse">
            <a:avLst/>
          </a:prstGeom>
          <a:solidFill>
            <a:srgbClr val="34D399">
              <a:alpha val="16000"/>
            </a:srgbClr>
          </a:solidFill>
          <a:ln w="12700">
            <a:solidFill>
              <a:srgbClr val="34D399">
                <a:alpha val="45000"/>
              </a:srgbClr>
            </a:solidFill>
            <a:prstDash val="solid"/>
          </a:ln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4692" y="4393692"/>
            <a:ext cx="283464" cy="283464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1609344" y="4251960"/>
            <a:ext cx="218633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Reference managers</a:t>
            </a:r>
            <a:endParaRPr lang="en-US" sz="1600" dirty="0"/>
          </a:p>
        </p:txBody>
      </p:sp>
      <p:sp>
        <p:nvSpPr>
          <p:cNvPr id="25" name="Text 19"/>
          <p:cNvSpPr txBox="1"/>
          <p:nvPr/>
        </p:nvSpPr>
        <p:spPr>
          <a:xfrm>
            <a:off x="841248" y="5020056"/>
            <a:ext cx="2954426" cy="10332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Traditional citation tools now adding AI summarising features.</a:t>
            </a:r>
            <a:endParaRPr lang="en-US" sz="1300" dirty="0"/>
          </a:p>
        </p:txBody>
      </p:sp>
      <p:sp>
        <p:nvSpPr>
          <p:cNvPr id="26" name="Shape 20"/>
          <p:cNvSpPr/>
          <p:nvPr/>
        </p:nvSpPr>
        <p:spPr>
          <a:xfrm>
            <a:off x="4344314" y="3995928"/>
            <a:ext cx="3503066" cy="2240280"/>
          </a:xfrm>
          <a:prstGeom prst="roundRect">
            <a:avLst>
              <a:gd name="adj" fmla="val 3265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4600346" y="4251960"/>
            <a:ext cx="566928" cy="566928"/>
          </a:xfrm>
          <a:prstGeom prst="ellipse">
            <a:avLst/>
          </a:prstGeom>
          <a:solidFill>
            <a:srgbClr val="F472B6">
              <a:alpha val="16000"/>
            </a:srgbClr>
          </a:solidFill>
          <a:ln w="12700">
            <a:solidFill>
              <a:srgbClr val="F472B6">
                <a:alpha val="45000"/>
              </a:srgbClr>
            </a:solidFill>
            <a:prstDash val="solid"/>
          </a:ln>
        </p:spPr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42078" y="4393692"/>
            <a:ext cx="283464" cy="283464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5386730" y="4251960"/>
            <a:ext cx="218633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The citation trap</a:t>
            </a:r>
            <a:endParaRPr lang="en-US" sz="1600" dirty="0"/>
          </a:p>
        </p:txBody>
      </p:sp>
      <p:sp>
        <p:nvSpPr>
          <p:cNvPr id="30" name="Text 23"/>
          <p:cNvSpPr txBox="1"/>
          <p:nvPr/>
        </p:nvSpPr>
        <p:spPr>
          <a:xfrm>
            <a:off x="4618634" y="5020056"/>
            <a:ext cx="2954426" cy="10332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Never cite a reference the AI produced without opening and checking it yourself.</a:t>
            </a:r>
            <a:endParaRPr lang="en-US" sz="1300" dirty="0"/>
          </a:p>
        </p:txBody>
      </p:sp>
      <p:sp>
        <p:nvSpPr>
          <p:cNvPr id="31" name="Shape 24"/>
          <p:cNvSpPr/>
          <p:nvPr/>
        </p:nvSpPr>
        <p:spPr>
          <a:xfrm>
            <a:off x="8121701" y="3995928"/>
            <a:ext cx="3503066" cy="2240280"/>
          </a:xfrm>
          <a:prstGeom prst="roundRect">
            <a:avLst>
              <a:gd name="adj" fmla="val 3265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8377733" y="4251960"/>
            <a:ext cx="566928" cy="566928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33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19465" y="4393692"/>
            <a:ext cx="283464" cy="283464"/>
          </a:xfrm>
          <a:prstGeom prst="rect">
            <a:avLst/>
          </a:prstGeom>
        </p:spPr>
      </p:pic>
      <p:sp>
        <p:nvSpPr>
          <p:cNvPr id="34" name="Text 26"/>
          <p:cNvSpPr txBox="1"/>
          <p:nvPr/>
        </p:nvSpPr>
        <p:spPr>
          <a:xfrm>
            <a:off x="9164117" y="4251960"/>
            <a:ext cx="218633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Good workflow</a:t>
            </a:r>
            <a:endParaRPr lang="en-US" sz="1600" dirty="0"/>
          </a:p>
        </p:txBody>
      </p:sp>
      <p:sp>
        <p:nvSpPr>
          <p:cNvPr id="35" name="Text 27"/>
          <p:cNvSpPr txBox="1"/>
          <p:nvPr/>
        </p:nvSpPr>
        <p:spPr>
          <a:xfrm>
            <a:off x="8396021" y="5020056"/>
            <a:ext cx="2954426" cy="10332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 AI to find and organise. Do the reading and the judgement yourself.</a:t>
            </a:r>
            <a:endParaRPr lang="en-US" sz="1300" dirty="0"/>
          </a:p>
        </p:txBody>
      </p:sp>
    </p:spTree>
  </p:cSld>
  <p:clrMapOvr>
    <a:masterClrMapping/>
  </p:clrMapOvr>
</p:sld>
</file>

<file path=ppt/slides/slide1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SLIDE 163 · CATEGORY 7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AI Presentation Tools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Section 15 · AI Tools &amp; Ecosystem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191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3503066" cy="2240280"/>
          </a:xfrm>
          <a:prstGeom prst="roundRect">
            <a:avLst>
              <a:gd name="adj" fmla="val 3265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1737360"/>
            <a:ext cx="566928" cy="566928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4692" y="1879092"/>
            <a:ext cx="283464" cy="283464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609344" y="1737360"/>
            <a:ext cx="218633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Deck generators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841248" y="2505456"/>
            <a:ext cx="2954426" cy="10332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Turn an outline or a document into a draft slide deck.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344314" y="1481328"/>
            <a:ext cx="3503066" cy="2240280"/>
          </a:xfrm>
          <a:prstGeom prst="roundRect">
            <a:avLst>
              <a:gd name="adj" fmla="val 3265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600346" y="1737360"/>
            <a:ext cx="566928" cy="566928"/>
          </a:xfrm>
          <a:prstGeom prst="ellipse">
            <a:avLst/>
          </a:prstGeom>
          <a:solidFill>
            <a:srgbClr val="22D3EE">
              <a:alpha val="16000"/>
            </a:srgbClr>
          </a:solidFill>
          <a:ln w="12700">
            <a:solidFill>
              <a:srgbClr val="22D3EE">
                <a:alpha val="45000"/>
              </a:srgbClr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2078" y="1879092"/>
            <a:ext cx="283464" cy="283464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5386730" y="1737360"/>
            <a:ext cx="218633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Design assistance</a:t>
            </a:r>
            <a:endParaRPr lang="en-US" sz="1600" dirty="0"/>
          </a:p>
        </p:txBody>
      </p:sp>
      <p:sp>
        <p:nvSpPr>
          <p:cNvPr id="15" name="Text 11"/>
          <p:cNvSpPr txBox="1"/>
          <p:nvPr/>
        </p:nvSpPr>
        <p:spPr>
          <a:xfrm>
            <a:off x="4618634" y="2505456"/>
            <a:ext cx="2954426" cy="10332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Suggest layouts, colour schemes and image placement.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8121701" y="1481328"/>
            <a:ext cx="3503066" cy="2240280"/>
          </a:xfrm>
          <a:prstGeom prst="roundRect">
            <a:avLst>
              <a:gd name="adj" fmla="val 3265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377733" y="1737360"/>
            <a:ext cx="566928" cy="566928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9465" y="1879092"/>
            <a:ext cx="283464" cy="283464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9164117" y="1737360"/>
            <a:ext cx="218633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Built-in features</a:t>
            </a:r>
            <a:endParaRPr lang="en-US" sz="1600" dirty="0"/>
          </a:p>
        </p:txBody>
      </p:sp>
      <p:sp>
        <p:nvSpPr>
          <p:cNvPr id="20" name="Text 15"/>
          <p:cNvSpPr txBox="1"/>
          <p:nvPr/>
        </p:nvSpPr>
        <p:spPr>
          <a:xfrm>
            <a:off x="8396021" y="2505456"/>
            <a:ext cx="2954426" cy="10332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Mainstream presentation software increasingly includes AI drafting.</a:t>
            </a:r>
            <a:endParaRPr lang="en-US" sz="1300" dirty="0"/>
          </a:p>
        </p:txBody>
      </p:sp>
      <p:sp>
        <p:nvSpPr>
          <p:cNvPr id="21" name="Shape 16"/>
          <p:cNvSpPr/>
          <p:nvPr/>
        </p:nvSpPr>
        <p:spPr>
          <a:xfrm>
            <a:off x="566928" y="3995928"/>
            <a:ext cx="3503066" cy="2240280"/>
          </a:xfrm>
          <a:prstGeom prst="roundRect">
            <a:avLst>
              <a:gd name="adj" fmla="val 3265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822960" y="4251960"/>
            <a:ext cx="566928" cy="566928"/>
          </a:xfrm>
          <a:prstGeom prst="ellipse">
            <a:avLst/>
          </a:prstGeom>
          <a:solidFill>
            <a:srgbClr val="34D399">
              <a:alpha val="16000"/>
            </a:srgbClr>
          </a:solidFill>
          <a:ln w="12700">
            <a:solidFill>
              <a:srgbClr val="34D399">
                <a:alpha val="45000"/>
              </a:srgbClr>
            </a:solidFill>
            <a:prstDash val="solid"/>
          </a:ln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4692" y="4393692"/>
            <a:ext cx="283464" cy="283464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1609344" y="4251960"/>
            <a:ext cx="218633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Speaker notes</a:t>
            </a:r>
            <a:endParaRPr lang="en-US" sz="1600" dirty="0"/>
          </a:p>
        </p:txBody>
      </p:sp>
      <p:sp>
        <p:nvSpPr>
          <p:cNvPr id="25" name="Text 19"/>
          <p:cNvSpPr txBox="1"/>
          <p:nvPr/>
        </p:nvSpPr>
        <p:spPr>
          <a:xfrm>
            <a:off x="841248" y="5020056"/>
            <a:ext cx="2954426" cy="10332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Generate talking points for each slide from the slide content.</a:t>
            </a:r>
            <a:endParaRPr lang="en-US" sz="1300" dirty="0"/>
          </a:p>
        </p:txBody>
      </p:sp>
      <p:sp>
        <p:nvSpPr>
          <p:cNvPr id="26" name="Shape 20"/>
          <p:cNvSpPr/>
          <p:nvPr/>
        </p:nvSpPr>
        <p:spPr>
          <a:xfrm>
            <a:off x="4344314" y="3995928"/>
            <a:ext cx="3503066" cy="2240280"/>
          </a:xfrm>
          <a:prstGeom prst="roundRect">
            <a:avLst>
              <a:gd name="adj" fmla="val 3265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4600346" y="4251960"/>
            <a:ext cx="566928" cy="566928"/>
          </a:xfrm>
          <a:prstGeom prst="ellipse">
            <a:avLst/>
          </a:prstGeom>
          <a:solidFill>
            <a:srgbClr val="F472B6">
              <a:alpha val="16000"/>
            </a:srgbClr>
          </a:solidFill>
          <a:ln w="12700">
            <a:solidFill>
              <a:srgbClr val="F472B6">
                <a:alpha val="45000"/>
              </a:srgbClr>
            </a:solidFill>
            <a:prstDash val="solid"/>
          </a:ln>
        </p:spPr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42078" y="4393692"/>
            <a:ext cx="283464" cy="283464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5386730" y="4251960"/>
            <a:ext cx="218633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Realistic expectation</a:t>
            </a:r>
            <a:endParaRPr lang="en-US" sz="1600" dirty="0"/>
          </a:p>
        </p:txBody>
      </p:sp>
      <p:sp>
        <p:nvSpPr>
          <p:cNvPr id="30" name="Text 23"/>
          <p:cNvSpPr txBox="1"/>
          <p:nvPr/>
        </p:nvSpPr>
        <p:spPr>
          <a:xfrm>
            <a:off x="4618634" y="5020056"/>
            <a:ext cx="2954426" cy="10332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output is a starting draft. Structure and accuracy still need your attention.</a:t>
            </a:r>
            <a:endParaRPr lang="en-US" sz="1300" dirty="0"/>
          </a:p>
        </p:txBody>
      </p:sp>
      <p:sp>
        <p:nvSpPr>
          <p:cNvPr id="31" name="Shape 24"/>
          <p:cNvSpPr/>
          <p:nvPr/>
        </p:nvSpPr>
        <p:spPr>
          <a:xfrm>
            <a:off x="8121701" y="3995928"/>
            <a:ext cx="3503066" cy="2240280"/>
          </a:xfrm>
          <a:prstGeom prst="roundRect">
            <a:avLst>
              <a:gd name="adj" fmla="val 3265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8377733" y="4251960"/>
            <a:ext cx="566928" cy="566928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33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19465" y="4393692"/>
            <a:ext cx="283464" cy="283464"/>
          </a:xfrm>
          <a:prstGeom prst="rect">
            <a:avLst/>
          </a:prstGeom>
        </p:spPr>
      </p:pic>
      <p:sp>
        <p:nvSpPr>
          <p:cNvPr id="34" name="Text 26"/>
          <p:cNvSpPr txBox="1"/>
          <p:nvPr/>
        </p:nvSpPr>
        <p:spPr>
          <a:xfrm>
            <a:off x="9164117" y="4251960"/>
            <a:ext cx="218633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Best approach</a:t>
            </a:r>
            <a:endParaRPr lang="en-US" sz="1600" dirty="0"/>
          </a:p>
        </p:txBody>
      </p:sp>
      <p:sp>
        <p:nvSpPr>
          <p:cNvPr id="35" name="Text 27"/>
          <p:cNvSpPr txBox="1"/>
          <p:nvPr/>
        </p:nvSpPr>
        <p:spPr>
          <a:xfrm>
            <a:off x="8396021" y="5020056"/>
            <a:ext cx="2954426" cy="10332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Write the outline yourself, let AI expand it, then edit carefully.</a:t>
            </a:r>
            <a:endParaRPr lang="en-US" sz="1300" dirty="0"/>
          </a:p>
        </p:txBody>
      </p:sp>
    </p:spTree>
  </p:cSld>
  <p:clrMapOvr>
    <a:masterClrMapping/>
  </p:clrMapOvr>
</p:sld>
</file>

<file path=ppt/slides/slide1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SLIDE 164 · CATEGORY 8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AI Productivity Tools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Section 15 · AI Tools &amp; Ecosystem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192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3503066" cy="2240280"/>
          </a:xfrm>
          <a:prstGeom prst="roundRect">
            <a:avLst>
              <a:gd name="adj" fmla="val 3265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1737360"/>
            <a:ext cx="566928" cy="566928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4692" y="1879092"/>
            <a:ext cx="283464" cy="283464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609344" y="1737360"/>
            <a:ext cx="218633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Email assistants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841248" y="2505456"/>
            <a:ext cx="2954426" cy="10332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Summarise threads and draft replies inside your mailbox.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344314" y="1481328"/>
            <a:ext cx="3503066" cy="2240280"/>
          </a:xfrm>
          <a:prstGeom prst="roundRect">
            <a:avLst>
              <a:gd name="adj" fmla="val 3265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600346" y="1737360"/>
            <a:ext cx="566928" cy="566928"/>
          </a:xfrm>
          <a:prstGeom prst="ellipse">
            <a:avLst/>
          </a:prstGeom>
          <a:solidFill>
            <a:srgbClr val="22D3EE">
              <a:alpha val="16000"/>
            </a:srgbClr>
          </a:solidFill>
          <a:ln w="12700">
            <a:solidFill>
              <a:srgbClr val="22D3EE">
                <a:alpha val="45000"/>
              </a:srgbClr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2078" y="1879092"/>
            <a:ext cx="283464" cy="283464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5386730" y="1737360"/>
            <a:ext cx="218633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Note and knowledge apps</a:t>
            </a:r>
            <a:endParaRPr lang="en-US" sz="1600" dirty="0"/>
          </a:p>
        </p:txBody>
      </p:sp>
      <p:sp>
        <p:nvSpPr>
          <p:cNvPr id="15" name="Text 11"/>
          <p:cNvSpPr txBox="1"/>
          <p:nvPr/>
        </p:nvSpPr>
        <p:spPr>
          <a:xfrm>
            <a:off x="4618634" y="2505456"/>
            <a:ext cx="2954426" cy="10332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Search your own notes by meaning and generate summaries.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8121701" y="1481328"/>
            <a:ext cx="3503066" cy="2240280"/>
          </a:xfrm>
          <a:prstGeom prst="roundRect">
            <a:avLst>
              <a:gd name="adj" fmla="val 3265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377733" y="1737360"/>
            <a:ext cx="566928" cy="566928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9465" y="1879092"/>
            <a:ext cx="283464" cy="283464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9164117" y="1737360"/>
            <a:ext cx="218633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Meeting assistants</a:t>
            </a:r>
            <a:endParaRPr lang="en-US" sz="1600" dirty="0"/>
          </a:p>
        </p:txBody>
      </p:sp>
      <p:sp>
        <p:nvSpPr>
          <p:cNvPr id="20" name="Text 15"/>
          <p:cNvSpPr txBox="1"/>
          <p:nvPr/>
        </p:nvSpPr>
        <p:spPr>
          <a:xfrm>
            <a:off x="8396021" y="2505456"/>
            <a:ext cx="2954426" cy="10332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Record, transcribe and produce action items automatically.</a:t>
            </a:r>
            <a:endParaRPr lang="en-US" sz="1300" dirty="0"/>
          </a:p>
        </p:txBody>
      </p:sp>
      <p:sp>
        <p:nvSpPr>
          <p:cNvPr id="21" name="Shape 16"/>
          <p:cNvSpPr/>
          <p:nvPr/>
        </p:nvSpPr>
        <p:spPr>
          <a:xfrm>
            <a:off x="566928" y="3995928"/>
            <a:ext cx="3503066" cy="2240280"/>
          </a:xfrm>
          <a:prstGeom prst="roundRect">
            <a:avLst>
              <a:gd name="adj" fmla="val 3265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822960" y="4251960"/>
            <a:ext cx="566928" cy="566928"/>
          </a:xfrm>
          <a:prstGeom prst="ellipse">
            <a:avLst/>
          </a:prstGeom>
          <a:solidFill>
            <a:srgbClr val="34D399">
              <a:alpha val="16000"/>
            </a:srgbClr>
          </a:solidFill>
          <a:ln w="12700">
            <a:solidFill>
              <a:srgbClr val="34D399">
                <a:alpha val="45000"/>
              </a:srgbClr>
            </a:solidFill>
            <a:prstDash val="solid"/>
          </a:ln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4692" y="4393692"/>
            <a:ext cx="283464" cy="283464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1609344" y="4251960"/>
            <a:ext cx="218633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Spreadsheet helpers</a:t>
            </a:r>
            <a:endParaRPr lang="en-US" sz="1600" dirty="0"/>
          </a:p>
        </p:txBody>
      </p:sp>
      <p:sp>
        <p:nvSpPr>
          <p:cNvPr id="25" name="Text 19"/>
          <p:cNvSpPr txBox="1"/>
          <p:nvPr/>
        </p:nvSpPr>
        <p:spPr>
          <a:xfrm>
            <a:off x="841248" y="5020056"/>
            <a:ext cx="2954426" cy="10332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Write formulas, clean data and explain what a sheet is doing.</a:t>
            </a:r>
            <a:endParaRPr lang="en-US" sz="1300" dirty="0"/>
          </a:p>
        </p:txBody>
      </p:sp>
      <p:sp>
        <p:nvSpPr>
          <p:cNvPr id="26" name="Shape 20"/>
          <p:cNvSpPr/>
          <p:nvPr/>
        </p:nvSpPr>
        <p:spPr>
          <a:xfrm>
            <a:off x="4344314" y="3995928"/>
            <a:ext cx="3503066" cy="2240280"/>
          </a:xfrm>
          <a:prstGeom prst="roundRect">
            <a:avLst>
              <a:gd name="adj" fmla="val 3265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4600346" y="4251960"/>
            <a:ext cx="566928" cy="566928"/>
          </a:xfrm>
          <a:prstGeom prst="ellipse">
            <a:avLst/>
          </a:prstGeom>
          <a:solidFill>
            <a:srgbClr val="F472B6">
              <a:alpha val="16000"/>
            </a:srgbClr>
          </a:solidFill>
          <a:ln w="12700">
            <a:solidFill>
              <a:srgbClr val="F472B6">
                <a:alpha val="45000"/>
              </a:srgbClr>
            </a:solidFill>
            <a:prstDash val="solid"/>
          </a:ln>
        </p:spPr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42078" y="4393692"/>
            <a:ext cx="283464" cy="283464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5386730" y="4251960"/>
            <a:ext cx="218633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Automation platforms</a:t>
            </a:r>
            <a:endParaRPr lang="en-US" sz="1600" dirty="0"/>
          </a:p>
        </p:txBody>
      </p:sp>
      <p:sp>
        <p:nvSpPr>
          <p:cNvPr id="30" name="Text 23"/>
          <p:cNvSpPr txBox="1"/>
          <p:nvPr/>
        </p:nvSpPr>
        <p:spPr>
          <a:xfrm>
            <a:off x="4618634" y="5020056"/>
            <a:ext cx="2954426" cy="10332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Connect AI steps into workflows between your existing apps.</a:t>
            </a:r>
            <a:endParaRPr lang="en-US" sz="1300" dirty="0"/>
          </a:p>
        </p:txBody>
      </p:sp>
      <p:sp>
        <p:nvSpPr>
          <p:cNvPr id="31" name="Shape 24"/>
          <p:cNvSpPr/>
          <p:nvPr/>
        </p:nvSpPr>
        <p:spPr>
          <a:xfrm>
            <a:off x="8121701" y="3995928"/>
            <a:ext cx="3503066" cy="2240280"/>
          </a:xfrm>
          <a:prstGeom prst="roundRect">
            <a:avLst>
              <a:gd name="adj" fmla="val 3265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8377733" y="4251960"/>
            <a:ext cx="566928" cy="566928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33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19465" y="4393692"/>
            <a:ext cx="283464" cy="283464"/>
          </a:xfrm>
          <a:prstGeom prst="rect">
            <a:avLst/>
          </a:prstGeom>
        </p:spPr>
      </p:pic>
      <p:sp>
        <p:nvSpPr>
          <p:cNvPr id="34" name="Text 26"/>
          <p:cNvSpPr txBox="1"/>
          <p:nvPr/>
        </p:nvSpPr>
        <p:spPr>
          <a:xfrm>
            <a:off x="9164117" y="4251960"/>
            <a:ext cx="218633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Data question first</a:t>
            </a:r>
            <a:endParaRPr lang="en-US" sz="1600" dirty="0"/>
          </a:p>
        </p:txBody>
      </p:sp>
      <p:sp>
        <p:nvSpPr>
          <p:cNvPr id="35" name="Text 27"/>
          <p:cNvSpPr txBox="1"/>
          <p:nvPr/>
        </p:nvSpPr>
        <p:spPr>
          <a:xfrm>
            <a:off x="8396021" y="5020056"/>
            <a:ext cx="2954426" cy="10332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Before connecting a tool to your mailbox or drive, check what it can access and retain.</a:t>
            </a:r>
            <a:endParaRPr lang="en-US" sz="1300" dirty="0"/>
          </a:p>
        </p:txBody>
      </p:sp>
    </p:spTree>
  </p:cSld>
  <p:clrMapOvr>
    <a:masterClrMapping/>
  </p:clrMapOvr>
</p:sld>
</file>

<file path=ppt/slides/slide1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SLIDE 165 · DECISION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Choosing the Right AI Tool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Section 15 · AI Tools &amp; Ecosystem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193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11057839" cy="877824"/>
          </a:xfrm>
          <a:prstGeom prst="roundRect">
            <a:avLst>
              <a:gd name="adj" fmla="val 8333"/>
            </a:avLst>
          </a:prstGeom>
          <a:solidFill>
            <a:srgbClr val="191640">
              <a:alpha val="96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6928" y="1627632"/>
            <a:ext cx="64008" cy="585216"/>
          </a:xfrm>
          <a:prstGeom prst="roundRect">
            <a:avLst>
              <a:gd name="adj" fmla="val 42857"/>
            </a:avLst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59536" y="1572768"/>
            <a:ext cx="10472623" cy="6949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DDD9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Compare tools against your own requirements, not against marketing claims.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66928" y="2615184"/>
            <a:ext cx="255872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22960" y="2816352"/>
            <a:ext cx="457200" cy="457200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2930652"/>
            <a:ext cx="228600" cy="22860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499616" y="2816352"/>
            <a:ext cx="135171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Task fit</a:t>
            </a:r>
            <a:endParaRPr lang="en-US" sz="1450" dirty="0"/>
          </a:p>
        </p:txBody>
      </p:sp>
      <p:sp>
        <p:nvSpPr>
          <p:cNvPr id="13" name="Text 10"/>
          <p:cNvSpPr txBox="1"/>
          <p:nvPr/>
        </p:nvSpPr>
        <p:spPr>
          <a:xfrm>
            <a:off x="841248" y="3419856"/>
            <a:ext cx="201008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Does it do the specific job you need well? Test with your own real examples.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3399968" y="2615184"/>
            <a:ext cx="255872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3656000" y="2816352"/>
            <a:ext cx="457200" cy="457200"/>
          </a:xfrm>
          <a:prstGeom prst="ellipse">
            <a:avLst/>
          </a:prstGeom>
          <a:solidFill>
            <a:srgbClr val="22D3EE">
              <a:alpha val="16000"/>
            </a:srgbClr>
          </a:solidFill>
          <a:ln w="12700">
            <a:solidFill>
              <a:srgbClr val="22D3EE">
                <a:alpha val="45000"/>
              </a:srgbClr>
            </a:solidFill>
            <a:prstDash val="solid"/>
          </a:ln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0300" y="2930652"/>
            <a:ext cx="228600" cy="22860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4332656" y="2816352"/>
            <a:ext cx="135171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Cost</a:t>
            </a:r>
            <a:endParaRPr lang="en-US" sz="1450" dirty="0"/>
          </a:p>
        </p:txBody>
      </p:sp>
      <p:sp>
        <p:nvSpPr>
          <p:cNvPr id="18" name="Text 14"/>
          <p:cNvSpPr txBox="1"/>
          <p:nvPr/>
        </p:nvSpPr>
        <p:spPr>
          <a:xfrm>
            <a:off x="3674288" y="3419856"/>
            <a:ext cx="201008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Understand the pricing model: per user, per token, or per generation.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6233008" y="2615184"/>
            <a:ext cx="255872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6489040" y="2816352"/>
            <a:ext cx="457200" cy="457200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3340" y="2930652"/>
            <a:ext cx="228600" cy="22860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7165696" y="2816352"/>
            <a:ext cx="135171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Privacy</a:t>
            </a:r>
            <a:endParaRPr lang="en-US" sz="1450" dirty="0"/>
          </a:p>
        </p:txBody>
      </p:sp>
      <p:sp>
        <p:nvSpPr>
          <p:cNvPr id="23" name="Text 18"/>
          <p:cNvSpPr txBox="1"/>
          <p:nvPr/>
        </p:nvSpPr>
        <p:spPr>
          <a:xfrm>
            <a:off x="6507328" y="3419856"/>
            <a:ext cx="201008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Where is your data stored, who can see it, and is it used for training?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9066047" y="2615184"/>
            <a:ext cx="255872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9322079" y="2816352"/>
            <a:ext cx="457200" cy="457200"/>
          </a:xfrm>
          <a:prstGeom prst="ellipse">
            <a:avLst/>
          </a:prstGeom>
          <a:solidFill>
            <a:srgbClr val="34D399">
              <a:alpha val="16000"/>
            </a:srgbClr>
          </a:solidFill>
          <a:ln w="12700">
            <a:solidFill>
              <a:srgbClr val="34D399">
                <a:alpha val="45000"/>
              </a:srgbClr>
            </a:solidFill>
            <a:prstDash val="solid"/>
          </a:ln>
        </p:spPr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36379" y="2930652"/>
            <a:ext cx="228600" cy="228600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9998735" y="2816352"/>
            <a:ext cx="135171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Quality</a:t>
            </a:r>
            <a:endParaRPr lang="en-US" sz="1450" dirty="0"/>
          </a:p>
        </p:txBody>
      </p:sp>
      <p:sp>
        <p:nvSpPr>
          <p:cNvPr id="28" name="Text 22"/>
          <p:cNvSpPr txBox="1"/>
          <p:nvPr/>
        </p:nvSpPr>
        <p:spPr>
          <a:xfrm>
            <a:off x="9340367" y="3419856"/>
            <a:ext cx="201008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Judge by consistent results on your tasks, not by a single impressive demo.</a:t>
            </a:r>
            <a:endParaRPr lang="en-US" sz="1200" dirty="0"/>
          </a:p>
        </p:txBody>
      </p:sp>
      <p:sp>
        <p:nvSpPr>
          <p:cNvPr id="29" name="Shape 23"/>
          <p:cNvSpPr/>
          <p:nvPr/>
        </p:nvSpPr>
        <p:spPr>
          <a:xfrm>
            <a:off x="566928" y="4530149"/>
            <a:ext cx="255872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822960" y="4731317"/>
            <a:ext cx="457200" cy="457200"/>
          </a:xfrm>
          <a:prstGeom prst="ellipse">
            <a:avLst/>
          </a:prstGeom>
          <a:solidFill>
            <a:srgbClr val="F472B6">
              <a:alpha val="16000"/>
            </a:srgbClr>
          </a:solidFill>
          <a:ln w="12700">
            <a:solidFill>
              <a:srgbClr val="F472B6">
                <a:alpha val="45000"/>
              </a:srgbClr>
            </a:solidFill>
            <a:prstDash val="solid"/>
          </a:ln>
        </p:spPr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7260" y="4845617"/>
            <a:ext cx="228600" cy="228600"/>
          </a:xfrm>
          <a:prstGeom prst="rect">
            <a:avLst/>
          </a:prstGeom>
        </p:spPr>
      </p:pic>
      <p:sp>
        <p:nvSpPr>
          <p:cNvPr id="32" name="Text 25"/>
          <p:cNvSpPr txBox="1"/>
          <p:nvPr/>
        </p:nvSpPr>
        <p:spPr>
          <a:xfrm>
            <a:off x="1499616" y="4731317"/>
            <a:ext cx="135171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Speed</a:t>
            </a:r>
            <a:endParaRPr lang="en-US" sz="1450" dirty="0"/>
          </a:p>
        </p:txBody>
      </p:sp>
      <p:sp>
        <p:nvSpPr>
          <p:cNvPr id="33" name="Text 26"/>
          <p:cNvSpPr txBox="1"/>
          <p:nvPr/>
        </p:nvSpPr>
        <p:spPr>
          <a:xfrm>
            <a:off x="841248" y="5334821"/>
            <a:ext cx="201008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slower tool with better output may still be the right choice, depending on the workflow.</a:t>
            </a:r>
            <a:endParaRPr lang="en-US" sz="1150" dirty="0"/>
          </a:p>
        </p:txBody>
      </p:sp>
      <p:sp>
        <p:nvSpPr>
          <p:cNvPr id="34" name="Shape 27"/>
          <p:cNvSpPr/>
          <p:nvPr/>
        </p:nvSpPr>
        <p:spPr>
          <a:xfrm>
            <a:off x="3399968" y="4530149"/>
            <a:ext cx="255872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35" name="Shape 28"/>
          <p:cNvSpPr/>
          <p:nvPr/>
        </p:nvSpPr>
        <p:spPr>
          <a:xfrm>
            <a:off x="3656000" y="4731317"/>
            <a:ext cx="457200" cy="457200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36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70300" y="4845617"/>
            <a:ext cx="228600" cy="228600"/>
          </a:xfrm>
          <a:prstGeom prst="rect">
            <a:avLst/>
          </a:prstGeom>
        </p:spPr>
      </p:pic>
      <p:sp>
        <p:nvSpPr>
          <p:cNvPr id="37" name="Text 29"/>
          <p:cNvSpPr txBox="1"/>
          <p:nvPr/>
        </p:nvSpPr>
        <p:spPr>
          <a:xfrm>
            <a:off x="4332656" y="4731317"/>
            <a:ext cx="135171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Features</a:t>
            </a:r>
            <a:endParaRPr lang="en-US" sz="1450" dirty="0"/>
          </a:p>
        </p:txBody>
      </p:sp>
      <p:sp>
        <p:nvSpPr>
          <p:cNvPr id="38" name="Text 30"/>
          <p:cNvSpPr txBox="1"/>
          <p:nvPr/>
        </p:nvSpPr>
        <p:spPr>
          <a:xfrm>
            <a:off x="3674288" y="5334821"/>
            <a:ext cx="201008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File upload, search, collaboration, export formats and admin controls.</a:t>
            </a:r>
            <a:endParaRPr lang="en-US" sz="1200" dirty="0"/>
          </a:p>
        </p:txBody>
      </p:sp>
      <p:sp>
        <p:nvSpPr>
          <p:cNvPr id="39" name="Shape 31"/>
          <p:cNvSpPr/>
          <p:nvPr/>
        </p:nvSpPr>
        <p:spPr>
          <a:xfrm>
            <a:off x="6233008" y="4530149"/>
            <a:ext cx="255872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40" name="Shape 32"/>
          <p:cNvSpPr/>
          <p:nvPr/>
        </p:nvSpPr>
        <p:spPr>
          <a:xfrm>
            <a:off x="6489040" y="4731317"/>
            <a:ext cx="457200" cy="457200"/>
          </a:xfrm>
          <a:prstGeom prst="ellipse">
            <a:avLst/>
          </a:prstGeom>
          <a:solidFill>
            <a:srgbClr val="22D3EE">
              <a:alpha val="16000"/>
            </a:srgbClr>
          </a:solidFill>
          <a:ln w="12700">
            <a:solidFill>
              <a:srgbClr val="22D3EE">
                <a:alpha val="45000"/>
              </a:srgbClr>
            </a:solidFill>
            <a:prstDash val="solid"/>
          </a:ln>
        </p:spPr>
      </p:sp>
      <p:pic>
        <p:nvPicPr>
          <p:cNvPr id="41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03340" y="4845617"/>
            <a:ext cx="228600" cy="228600"/>
          </a:xfrm>
          <a:prstGeom prst="rect">
            <a:avLst/>
          </a:prstGeom>
        </p:spPr>
      </p:pic>
      <p:sp>
        <p:nvSpPr>
          <p:cNvPr id="42" name="Text 33"/>
          <p:cNvSpPr txBox="1"/>
          <p:nvPr/>
        </p:nvSpPr>
        <p:spPr>
          <a:xfrm>
            <a:off x="7165696" y="4731317"/>
            <a:ext cx="135171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Integration</a:t>
            </a:r>
            <a:endParaRPr lang="en-US" sz="1450" dirty="0"/>
          </a:p>
        </p:txBody>
      </p:sp>
      <p:sp>
        <p:nvSpPr>
          <p:cNvPr id="43" name="Text 34"/>
          <p:cNvSpPr txBox="1"/>
          <p:nvPr/>
        </p:nvSpPr>
        <p:spPr>
          <a:xfrm>
            <a:off x="6507328" y="5334821"/>
            <a:ext cx="201008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Does it work inside the tools your team already uses every day?</a:t>
            </a:r>
            <a:endParaRPr lang="en-US" sz="1200" dirty="0"/>
          </a:p>
        </p:txBody>
      </p:sp>
      <p:sp>
        <p:nvSpPr>
          <p:cNvPr id="44" name="Shape 35"/>
          <p:cNvSpPr/>
          <p:nvPr/>
        </p:nvSpPr>
        <p:spPr>
          <a:xfrm>
            <a:off x="9066047" y="4530149"/>
            <a:ext cx="255872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45" name="Shape 36"/>
          <p:cNvSpPr/>
          <p:nvPr/>
        </p:nvSpPr>
        <p:spPr>
          <a:xfrm>
            <a:off x="9322079" y="4731317"/>
            <a:ext cx="457200" cy="457200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46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36379" y="4845617"/>
            <a:ext cx="228600" cy="228600"/>
          </a:xfrm>
          <a:prstGeom prst="rect">
            <a:avLst/>
          </a:prstGeom>
        </p:spPr>
      </p:pic>
      <p:sp>
        <p:nvSpPr>
          <p:cNvPr id="47" name="Text 37"/>
          <p:cNvSpPr txBox="1"/>
          <p:nvPr/>
        </p:nvSpPr>
        <p:spPr>
          <a:xfrm>
            <a:off x="9998735" y="4731317"/>
            <a:ext cx="135171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Terms and compliance</a:t>
            </a:r>
            <a:endParaRPr lang="en-US" sz="1450" dirty="0"/>
          </a:p>
        </p:txBody>
      </p:sp>
      <p:sp>
        <p:nvSpPr>
          <p:cNvPr id="48" name="Text 38"/>
          <p:cNvSpPr txBox="1"/>
          <p:nvPr/>
        </p:nvSpPr>
        <p:spPr>
          <a:xfrm>
            <a:off x="9340367" y="5334821"/>
            <a:ext cx="201008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Check licence terms for commercial use and any rules your organisation must follow.</a:t>
            </a:r>
            <a:endParaRPr lang="en-US" sz="1200" dirty="0"/>
          </a:p>
        </p:txBody>
      </p:sp>
    </p:spTree>
  </p:cSld>
  <p:clrMapOvr>
    <a:masterClrMapping/>
  </p:clrMapOvr>
</p:sld>
</file>

<file path=ppt/slides/slide1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BBF2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QUIZ 15 · SLIDES 156–165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Quiz 15 — AI Tools &amp; Ecosystem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Section 15 · AI Tools &amp; Ecosystem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194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11057839" cy="848563"/>
          </a:xfrm>
          <a:prstGeom prst="roundRect">
            <a:avLst>
              <a:gd name="adj" fmla="val 8621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68096" y="1627632"/>
            <a:ext cx="310896" cy="310896"/>
          </a:xfrm>
          <a:prstGeom prst="ellipse">
            <a:avLst/>
          </a:prstGeom>
          <a:solidFill>
            <a:srgbClr val="FBBF24">
              <a:alpha val="22000"/>
            </a:srgbClr>
          </a:solidFill>
          <a:ln w="12700">
            <a:solidFill>
              <a:srgbClr val="FBBF24">
                <a:alpha val="5000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68096" y="1627632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BBF2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Q1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188720" y="1600200"/>
            <a:ext cx="8726119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The best way to compare AI tools is to: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10207447" y="1618488"/>
            <a:ext cx="1371600" cy="347472"/>
          </a:xfrm>
          <a:prstGeom prst="roundRect">
            <a:avLst>
              <a:gd name="adj" fmla="val 15789"/>
            </a:avLst>
          </a:prstGeom>
          <a:solidFill>
            <a:srgbClr val="A78BFA">
              <a:alpha val="20000"/>
            </a:srgbClr>
          </a:solidFill>
          <a:ln w="12700">
            <a:solidFill>
              <a:srgbClr val="A78BFA">
                <a:alpha val="60000"/>
              </a:srgbClr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207447" y="1618488"/>
            <a:ext cx="13716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Answer: C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1115568" y="2011680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A. </a:t>
            </a:r>
            <a:r>
              <a:rPr lang="en-US" sz="11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Follow one online ranking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3674288" y="2011680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B. </a:t>
            </a:r>
            <a:r>
              <a:rPr lang="en-US" sz="11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Pick the most expensive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6233008" y="2011680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C. </a:t>
            </a: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Test them on your own real tasks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8791727" y="2011680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D. </a:t>
            </a:r>
            <a:r>
              <a:rPr lang="en-US" sz="11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Pick the newest only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66928" y="2457907"/>
            <a:ext cx="11057839" cy="848563"/>
          </a:xfrm>
          <a:prstGeom prst="roundRect">
            <a:avLst>
              <a:gd name="adj" fmla="val 8621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68096" y="2604211"/>
            <a:ext cx="310896" cy="310896"/>
          </a:xfrm>
          <a:prstGeom prst="ellipse">
            <a:avLst/>
          </a:prstGeom>
          <a:solidFill>
            <a:srgbClr val="FBBF24">
              <a:alpha val="22000"/>
            </a:srgbClr>
          </a:solidFill>
          <a:ln w="12700">
            <a:solidFill>
              <a:srgbClr val="FBBF24">
                <a:alpha val="50000"/>
              </a:srgbClr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68096" y="2604211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BBF2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Q2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1188720" y="2576779"/>
            <a:ext cx="8726119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Before connecting a tool to your email you should check: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10207447" y="2595067"/>
            <a:ext cx="1371600" cy="347472"/>
          </a:xfrm>
          <a:prstGeom prst="roundRect">
            <a:avLst>
              <a:gd name="adj" fmla="val 15789"/>
            </a:avLst>
          </a:prstGeom>
          <a:solidFill>
            <a:srgbClr val="A78BFA">
              <a:alpha val="20000"/>
            </a:srgbClr>
          </a:solidFill>
          <a:ln w="12700">
            <a:solidFill>
              <a:srgbClr val="A78BFA">
                <a:alpha val="60000"/>
              </a:srgbClr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0207447" y="2595067"/>
            <a:ext cx="13716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Answer: D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1115568" y="2988259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A. </a:t>
            </a:r>
            <a:r>
              <a:rPr lang="en-US" sz="11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logo colour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3674288" y="2988259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B. </a:t>
            </a:r>
            <a:r>
              <a:rPr lang="en-US" sz="11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founder name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6233008" y="2988259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C. </a:t>
            </a:r>
            <a:r>
              <a:rPr lang="en-US" sz="11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app icon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8791727" y="2988259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D. </a:t>
            </a: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data it can access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66928" y="3434486"/>
            <a:ext cx="11057839" cy="848563"/>
          </a:xfrm>
          <a:prstGeom prst="roundRect">
            <a:avLst>
              <a:gd name="adj" fmla="val 8621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768096" y="3580790"/>
            <a:ext cx="310896" cy="310896"/>
          </a:xfrm>
          <a:prstGeom prst="ellipse">
            <a:avLst/>
          </a:prstGeom>
          <a:solidFill>
            <a:srgbClr val="FBBF24">
              <a:alpha val="22000"/>
            </a:srgbClr>
          </a:solidFill>
          <a:ln w="12700">
            <a:solidFill>
              <a:srgbClr val="FBBF24">
                <a:alpha val="50000"/>
              </a:srgbClr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68096" y="3580790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BBF2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Q3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1188720" y="3553358"/>
            <a:ext cx="8726119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AI research tools require you to: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10207447" y="3571646"/>
            <a:ext cx="1371600" cy="347472"/>
          </a:xfrm>
          <a:prstGeom prst="roundRect">
            <a:avLst>
              <a:gd name="adj" fmla="val 15789"/>
            </a:avLst>
          </a:prstGeom>
          <a:solidFill>
            <a:srgbClr val="A78BFA">
              <a:alpha val="20000"/>
            </a:srgbClr>
          </a:solidFill>
          <a:ln w="12700">
            <a:solidFill>
              <a:srgbClr val="A78BFA">
                <a:alpha val="60000"/>
              </a:srgbClr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10207447" y="3571646"/>
            <a:ext cx="13716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Answer: A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1115568" y="3964838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A. </a:t>
            </a: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Verify every citation yourself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3674288" y="3964838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B. </a:t>
            </a:r>
            <a:r>
              <a:rPr lang="en-US" sz="11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Trust all references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6233008" y="3964838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C. </a:t>
            </a:r>
            <a:r>
              <a:rPr lang="en-US" sz="11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Avoid reading papers</a:t>
            </a:r>
            <a:endParaRPr lang="en-US" sz="1050" dirty="0"/>
          </a:p>
        </p:txBody>
      </p:sp>
      <p:sp>
        <p:nvSpPr>
          <p:cNvPr id="35" name="Text 33"/>
          <p:cNvSpPr txBox="1"/>
          <p:nvPr/>
        </p:nvSpPr>
        <p:spPr>
          <a:xfrm>
            <a:off x="8791727" y="3964838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D. </a:t>
            </a:r>
            <a:r>
              <a:rPr lang="en-US" sz="11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Skip the sources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66928" y="4411066"/>
            <a:ext cx="11057839" cy="848563"/>
          </a:xfrm>
          <a:prstGeom prst="roundRect">
            <a:avLst>
              <a:gd name="adj" fmla="val 8621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768096" y="4557370"/>
            <a:ext cx="310896" cy="310896"/>
          </a:xfrm>
          <a:prstGeom prst="ellipse">
            <a:avLst/>
          </a:prstGeom>
          <a:solidFill>
            <a:srgbClr val="FBBF24">
              <a:alpha val="22000"/>
            </a:srgbClr>
          </a:solidFill>
          <a:ln w="12700">
            <a:solidFill>
              <a:srgbClr val="FBBF24">
                <a:alpha val="50000"/>
              </a:srgbClr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768096" y="4557370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BBF2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Q4</a:t>
            </a:r>
            <a:endParaRPr lang="en-US" sz="900" dirty="0"/>
          </a:p>
        </p:txBody>
      </p:sp>
      <p:sp>
        <p:nvSpPr>
          <p:cNvPr id="39" name="Text 37"/>
          <p:cNvSpPr txBox="1"/>
          <p:nvPr/>
        </p:nvSpPr>
        <p:spPr>
          <a:xfrm>
            <a:off x="1188720" y="4529938"/>
            <a:ext cx="8726119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 vector database sits in which layer?</a:t>
            </a:r>
            <a:endParaRPr lang="en-US" sz="1250" dirty="0"/>
          </a:p>
        </p:txBody>
      </p:sp>
      <p:sp>
        <p:nvSpPr>
          <p:cNvPr id="40" name="Shape 38"/>
          <p:cNvSpPr/>
          <p:nvPr/>
        </p:nvSpPr>
        <p:spPr>
          <a:xfrm>
            <a:off x="10207447" y="4548226"/>
            <a:ext cx="1371600" cy="347472"/>
          </a:xfrm>
          <a:prstGeom prst="roundRect">
            <a:avLst>
              <a:gd name="adj" fmla="val 15789"/>
            </a:avLst>
          </a:prstGeom>
          <a:solidFill>
            <a:srgbClr val="A78BFA">
              <a:alpha val="20000"/>
            </a:srgbClr>
          </a:solidFill>
          <a:ln w="12700">
            <a:solidFill>
              <a:srgbClr val="A78BFA">
                <a:alpha val="60000"/>
              </a:srgbClr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10207447" y="4548226"/>
            <a:ext cx="13716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Answer: B</a:t>
            </a:r>
            <a:endParaRPr lang="en-US" sz="1050" dirty="0"/>
          </a:p>
        </p:txBody>
      </p:sp>
      <p:sp>
        <p:nvSpPr>
          <p:cNvPr id="42" name="Text 40"/>
          <p:cNvSpPr txBox="1"/>
          <p:nvPr/>
        </p:nvSpPr>
        <p:spPr>
          <a:xfrm>
            <a:off x="1115568" y="4941418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A. </a:t>
            </a:r>
            <a:r>
              <a:rPr lang="en-US" sz="11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hardware layer</a:t>
            </a:r>
            <a:endParaRPr lang="en-US" sz="1050" dirty="0"/>
          </a:p>
        </p:txBody>
      </p:sp>
      <p:sp>
        <p:nvSpPr>
          <p:cNvPr id="43" name="Text 41"/>
          <p:cNvSpPr txBox="1"/>
          <p:nvPr/>
        </p:nvSpPr>
        <p:spPr>
          <a:xfrm>
            <a:off x="3674288" y="4941418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B. </a:t>
            </a: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data layer</a:t>
            </a:r>
            <a:endParaRPr lang="en-US" sz="1050" dirty="0"/>
          </a:p>
        </p:txBody>
      </p:sp>
      <p:sp>
        <p:nvSpPr>
          <p:cNvPr id="44" name="Text 42"/>
          <p:cNvSpPr txBox="1"/>
          <p:nvPr/>
        </p:nvSpPr>
        <p:spPr>
          <a:xfrm>
            <a:off x="6233008" y="4941418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C. </a:t>
            </a:r>
            <a:r>
              <a:rPr lang="en-US" sz="11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browser layer</a:t>
            </a:r>
            <a:endParaRPr lang="en-US" sz="1050" dirty="0"/>
          </a:p>
        </p:txBody>
      </p:sp>
      <p:sp>
        <p:nvSpPr>
          <p:cNvPr id="45" name="Text 43"/>
          <p:cNvSpPr txBox="1"/>
          <p:nvPr/>
        </p:nvSpPr>
        <p:spPr>
          <a:xfrm>
            <a:off x="8791727" y="4941418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D. </a:t>
            </a:r>
            <a:r>
              <a:rPr lang="en-US" sz="11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printer layer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566928" y="5387645"/>
            <a:ext cx="11057839" cy="848563"/>
          </a:xfrm>
          <a:prstGeom prst="roundRect">
            <a:avLst>
              <a:gd name="adj" fmla="val 8621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768096" y="5533949"/>
            <a:ext cx="310896" cy="310896"/>
          </a:xfrm>
          <a:prstGeom prst="ellipse">
            <a:avLst/>
          </a:prstGeom>
          <a:solidFill>
            <a:srgbClr val="FBBF24">
              <a:alpha val="22000"/>
            </a:srgbClr>
          </a:solidFill>
          <a:ln w="12700">
            <a:solidFill>
              <a:srgbClr val="FBBF24">
                <a:alpha val="50000"/>
              </a:srgbClr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768096" y="5533949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BBF2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Q5</a:t>
            </a:r>
            <a:endParaRPr lang="en-US" sz="900" dirty="0"/>
          </a:p>
        </p:txBody>
      </p:sp>
      <p:sp>
        <p:nvSpPr>
          <p:cNvPr id="49" name="Text 47"/>
          <p:cNvSpPr txBox="1"/>
          <p:nvPr/>
        </p:nvSpPr>
        <p:spPr>
          <a:xfrm>
            <a:off x="1188720" y="5506517"/>
            <a:ext cx="8726119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Generated code should always be:</a:t>
            </a:r>
            <a:endParaRPr lang="en-US" sz="1250" dirty="0"/>
          </a:p>
        </p:txBody>
      </p:sp>
      <p:sp>
        <p:nvSpPr>
          <p:cNvPr id="50" name="Shape 48"/>
          <p:cNvSpPr/>
          <p:nvPr/>
        </p:nvSpPr>
        <p:spPr>
          <a:xfrm>
            <a:off x="10207447" y="5524805"/>
            <a:ext cx="1371600" cy="347472"/>
          </a:xfrm>
          <a:prstGeom prst="roundRect">
            <a:avLst>
              <a:gd name="adj" fmla="val 15789"/>
            </a:avLst>
          </a:prstGeom>
          <a:solidFill>
            <a:srgbClr val="A78BFA">
              <a:alpha val="20000"/>
            </a:srgbClr>
          </a:solidFill>
          <a:ln w="12700">
            <a:solidFill>
              <a:srgbClr val="A78BFA">
                <a:alpha val="60000"/>
              </a:srgbClr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10207447" y="5524805"/>
            <a:ext cx="13716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Answer: C</a:t>
            </a:r>
            <a:endParaRPr lang="en-US" sz="1050" dirty="0"/>
          </a:p>
        </p:txBody>
      </p:sp>
      <p:sp>
        <p:nvSpPr>
          <p:cNvPr id="52" name="Text 50"/>
          <p:cNvSpPr txBox="1"/>
          <p:nvPr/>
        </p:nvSpPr>
        <p:spPr>
          <a:xfrm>
            <a:off x="1115568" y="5917997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A. </a:t>
            </a:r>
            <a:r>
              <a:rPr lang="en-US" sz="11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Deployed immediately</a:t>
            </a:r>
            <a:endParaRPr lang="en-US" sz="1050" dirty="0"/>
          </a:p>
        </p:txBody>
      </p:sp>
      <p:sp>
        <p:nvSpPr>
          <p:cNvPr id="53" name="Text 51"/>
          <p:cNvSpPr txBox="1"/>
          <p:nvPr/>
        </p:nvSpPr>
        <p:spPr>
          <a:xfrm>
            <a:off x="3674288" y="5917997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B. </a:t>
            </a:r>
            <a:r>
              <a:rPr lang="en-US" sz="11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Kept secret</a:t>
            </a:r>
            <a:endParaRPr lang="en-US" sz="1050" dirty="0"/>
          </a:p>
        </p:txBody>
      </p:sp>
      <p:sp>
        <p:nvSpPr>
          <p:cNvPr id="54" name="Text 52"/>
          <p:cNvSpPr txBox="1"/>
          <p:nvPr/>
        </p:nvSpPr>
        <p:spPr>
          <a:xfrm>
            <a:off x="6233008" y="5917997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C. </a:t>
            </a: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Reviewed and tested</a:t>
            </a:r>
            <a:endParaRPr lang="en-US" sz="1050" dirty="0"/>
          </a:p>
        </p:txBody>
      </p:sp>
      <p:sp>
        <p:nvSpPr>
          <p:cNvPr id="55" name="Text 53"/>
          <p:cNvSpPr txBox="1"/>
          <p:nvPr/>
        </p:nvSpPr>
        <p:spPr>
          <a:xfrm>
            <a:off x="8791727" y="5917997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D. </a:t>
            </a:r>
            <a:r>
              <a:rPr lang="en-US" sz="11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Ignored</a:t>
            </a:r>
            <a:endParaRPr lang="en-US" sz="1050" dirty="0"/>
          </a:p>
        </p:txBody>
      </p:sp>
    </p:spTree>
  </p:cSld>
  <p:clrMapOvr>
    <a:masterClrMapping/>
  </p:clrMapOvr>
</p:sld>
</file>

<file path=ppt/slides/slide1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49808" y="1874520"/>
            <a:ext cx="58521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SECTION 16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49808" y="2240280"/>
            <a:ext cx="6035040" cy="1554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Generative AI for Coding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749808" y="3886200"/>
            <a:ext cx="5852160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How developers and learners actually use AI — and where it goes wrong.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49808" y="4846320"/>
            <a:ext cx="1463040" cy="64008"/>
          </a:xfrm>
          <a:prstGeom prst="roundRect">
            <a:avLst>
              <a:gd name="adj" fmla="val 42857"/>
            </a:avLst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32320" y="1143000"/>
            <a:ext cx="4492447" cy="797357"/>
          </a:xfrm>
          <a:prstGeom prst="roundRect">
            <a:avLst>
              <a:gd name="adj" fmla="val 9174"/>
            </a:avLst>
          </a:prstGeom>
          <a:solidFill>
            <a:srgbClr val="191640"/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51776" y="1313078"/>
            <a:ext cx="457200" cy="457200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66076" y="1427378"/>
            <a:ext cx="228600" cy="22860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8010144" y="1143000"/>
            <a:ext cx="3303727" cy="79735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Code Generation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7132320" y="2086661"/>
            <a:ext cx="4492447" cy="797357"/>
          </a:xfrm>
          <a:prstGeom prst="roundRect">
            <a:avLst>
              <a:gd name="adj" fmla="val 9174"/>
            </a:avLst>
          </a:prstGeom>
          <a:solidFill>
            <a:srgbClr val="191640"/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7351776" y="2256739"/>
            <a:ext cx="457200" cy="457200"/>
          </a:xfrm>
          <a:prstGeom prst="ellipse">
            <a:avLst/>
          </a:prstGeom>
          <a:solidFill>
            <a:srgbClr val="22D3EE">
              <a:alpha val="16000"/>
            </a:srgbClr>
          </a:solidFill>
          <a:ln w="12700">
            <a:solidFill>
              <a:srgbClr val="22D3EE">
                <a:alpha val="45000"/>
              </a:srgbClr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6076" y="2371039"/>
            <a:ext cx="228600" cy="22860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8010144" y="2086661"/>
            <a:ext cx="3303727" cy="79735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Explaining Code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7132320" y="3030322"/>
            <a:ext cx="4492447" cy="797357"/>
          </a:xfrm>
          <a:prstGeom prst="roundRect">
            <a:avLst>
              <a:gd name="adj" fmla="val 9174"/>
            </a:avLst>
          </a:prstGeom>
          <a:solidFill>
            <a:srgbClr val="191640"/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351776" y="3200400"/>
            <a:ext cx="457200" cy="457200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6076" y="3314700"/>
            <a:ext cx="228600" cy="22860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010144" y="3030322"/>
            <a:ext cx="3303727" cy="79735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Debugging Help</a:t>
            </a:r>
            <a:endParaRPr lang="en-US" sz="1350" dirty="0"/>
          </a:p>
        </p:txBody>
      </p:sp>
      <p:sp>
        <p:nvSpPr>
          <p:cNvPr id="18" name="Shape 13"/>
          <p:cNvSpPr/>
          <p:nvPr/>
        </p:nvSpPr>
        <p:spPr>
          <a:xfrm>
            <a:off x="7132320" y="3973982"/>
            <a:ext cx="4492447" cy="797357"/>
          </a:xfrm>
          <a:prstGeom prst="roundRect">
            <a:avLst>
              <a:gd name="adj" fmla="val 9174"/>
            </a:avLst>
          </a:prstGeom>
          <a:solidFill>
            <a:srgbClr val="191640"/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7351776" y="4144061"/>
            <a:ext cx="457200" cy="457200"/>
          </a:xfrm>
          <a:prstGeom prst="ellipse">
            <a:avLst/>
          </a:prstGeom>
          <a:solidFill>
            <a:srgbClr val="34D399">
              <a:alpha val="16000"/>
            </a:srgbClr>
          </a:solidFill>
          <a:ln w="12700">
            <a:solidFill>
              <a:srgbClr val="34D399">
                <a:alpha val="45000"/>
              </a:srgbClr>
            </a:solidFill>
            <a:prstDash val="solid"/>
          </a:ln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66076" y="4258361"/>
            <a:ext cx="228600" cy="22860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8010144" y="3973982"/>
            <a:ext cx="3303727" cy="79735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Learning to Program</a:t>
            </a:r>
            <a:endParaRPr lang="en-US" sz="1350" dirty="0"/>
          </a:p>
        </p:txBody>
      </p:sp>
      <p:sp>
        <p:nvSpPr>
          <p:cNvPr id="22" name="Shape 16"/>
          <p:cNvSpPr/>
          <p:nvPr/>
        </p:nvSpPr>
        <p:spPr>
          <a:xfrm>
            <a:off x="7132320" y="4917643"/>
            <a:ext cx="4492447" cy="797357"/>
          </a:xfrm>
          <a:prstGeom prst="roundRect">
            <a:avLst>
              <a:gd name="adj" fmla="val 9174"/>
            </a:avLst>
          </a:prstGeom>
          <a:solidFill>
            <a:srgbClr val="191640"/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7351776" y="5087722"/>
            <a:ext cx="457200" cy="457200"/>
          </a:xfrm>
          <a:prstGeom prst="ellipse">
            <a:avLst/>
          </a:prstGeom>
          <a:solidFill>
            <a:srgbClr val="F472B6">
              <a:alpha val="16000"/>
            </a:srgbClr>
          </a:solidFill>
          <a:ln w="12700">
            <a:solidFill>
              <a:srgbClr val="F472B6">
                <a:alpha val="45000"/>
              </a:srgbClr>
            </a:solidFill>
            <a:prstDash val="solid"/>
          </a:ln>
        </p:spPr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66076" y="5202022"/>
            <a:ext cx="228600" cy="228600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8010144" y="4917643"/>
            <a:ext cx="3303727" cy="79735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Risks &amp; Best Practices</a:t>
            </a:r>
            <a:endParaRPr lang="en-US" sz="1350" dirty="0"/>
          </a:p>
        </p:txBody>
      </p:sp>
      <p:sp>
        <p:nvSpPr>
          <p:cNvPr id="26" name="Text 19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Section 16 · Generative AI for Coding</a:t>
            </a:r>
            <a:endParaRPr lang="en-US" sz="950" dirty="0"/>
          </a:p>
        </p:txBody>
      </p:sp>
      <p:sp>
        <p:nvSpPr>
          <p:cNvPr id="27" name="Text 20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195</a:t>
            </a:r>
            <a:endParaRPr lang="en-US" sz="950" dirty="0"/>
          </a:p>
        </p:txBody>
      </p:sp>
    </p:spTree>
  </p:cSld>
  <p:clrMapOvr>
    <a:masterClrMapping/>
  </p:clrMapOvr>
</p:sld>
</file>

<file path=ppt/slides/slide1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SLIDE 166 · OVERVIEW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AI for Programming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Section 16 · Generative AI for Coding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196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11057839" cy="877824"/>
          </a:xfrm>
          <a:prstGeom prst="roundRect">
            <a:avLst>
              <a:gd name="adj" fmla="val 8333"/>
            </a:avLst>
          </a:prstGeom>
          <a:solidFill>
            <a:srgbClr val="191640">
              <a:alpha val="96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6928" y="1627632"/>
            <a:ext cx="64008" cy="585216"/>
          </a:xfrm>
          <a:prstGeom prst="roundRect">
            <a:avLst>
              <a:gd name="adj" fmla="val 42857"/>
            </a:avLst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59536" y="1572768"/>
            <a:ext cx="10472623" cy="6949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DDD9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Language models are strong at code because code is highly structured text with clear patterns.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66928" y="2615184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22960" y="2816352"/>
            <a:ext cx="457200" cy="457200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2930652"/>
            <a:ext cx="228600" cy="22860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499616" y="2816352"/>
            <a:ext cx="41847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What It Does Well</a:t>
            </a:r>
            <a:endParaRPr lang="en-US" sz="1450" dirty="0"/>
          </a:p>
        </p:txBody>
      </p:sp>
      <p:sp>
        <p:nvSpPr>
          <p:cNvPr id="13" name="Text 10"/>
          <p:cNvSpPr txBox="1"/>
          <p:nvPr/>
        </p:nvSpPr>
        <p:spPr>
          <a:xfrm>
            <a:off x="841248" y="3419856"/>
            <a:ext cx="484312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200"/>
              </a:spcAft>
              <a:buSzPct val="100000"/>
              <a:buChar char="▪"/>
            </a:pPr>
            <a:r>
              <a:rPr lang="en-US" sz="9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Boilerplate and setup code</a:t>
            </a:r>
            <a:endParaRPr lang="en-US" sz="900" dirty="0"/>
          </a:p>
          <a:p>
            <a:pPr marL="342900" indent="-342900">
              <a:lnSpc>
                <a:spcPct val="110000"/>
              </a:lnSpc>
              <a:spcAft>
                <a:spcPts val="200"/>
              </a:spcAft>
              <a:buSzPct val="100000"/>
              <a:buChar char="▪"/>
            </a:pPr>
            <a:r>
              <a:rPr lang="en-US" sz="9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Small self-contained functions</a:t>
            </a:r>
            <a:endParaRPr lang="en-US" sz="900" dirty="0"/>
          </a:p>
          <a:p>
            <a:pPr marL="342900" indent="-342900">
              <a:lnSpc>
                <a:spcPct val="110000"/>
              </a:lnSpc>
              <a:spcAft>
                <a:spcPts val="200"/>
              </a:spcAft>
              <a:buSzPct val="100000"/>
              <a:buChar char="▪"/>
            </a:pPr>
            <a:r>
              <a:rPr lang="en-US" sz="9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Explaining unfamiliar code</a:t>
            </a:r>
            <a:endParaRPr lang="en-US" sz="900" dirty="0"/>
          </a:p>
          <a:p>
            <a:pPr marL="342900" indent="-342900">
              <a:lnSpc>
                <a:spcPct val="110000"/>
              </a:lnSpc>
              <a:spcAft>
                <a:spcPts val="200"/>
              </a:spcAft>
              <a:buSzPct val="100000"/>
              <a:buChar char="▪"/>
            </a:pPr>
            <a:r>
              <a:rPr lang="en-US" sz="9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Converting between languages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6233008" y="2615184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489040" y="2816352"/>
            <a:ext cx="457200" cy="457200"/>
          </a:xfrm>
          <a:prstGeom prst="ellipse">
            <a:avLst/>
          </a:prstGeom>
          <a:solidFill>
            <a:srgbClr val="22D3EE">
              <a:alpha val="16000"/>
            </a:srgbClr>
          </a:solidFill>
          <a:ln w="12700">
            <a:solidFill>
              <a:srgbClr val="22D3EE">
                <a:alpha val="45000"/>
              </a:srgbClr>
            </a:solidFill>
            <a:prstDash val="solid"/>
          </a:ln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3340" y="2930652"/>
            <a:ext cx="228600" cy="22860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7165696" y="2816352"/>
            <a:ext cx="41847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What It Does Badly</a:t>
            </a:r>
            <a:endParaRPr lang="en-US" sz="1450" dirty="0"/>
          </a:p>
        </p:txBody>
      </p:sp>
      <p:sp>
        <p:nvSpPr>
          <p:cNvPr id="18" name="Text 14"/>
          <p:cNvSpPr txBox="1"/>
          <p:nvPr/>
        </p:nvSpPr>
        <p:spPr>
          <a:xfrm>
            <a:off x="6507328" y="3419856"/>
            <a:ext cx="484312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200"/>
              </a:spcAft>
              <a:buSzPct val="100000"/>
              <a:buChar char="▪"/>
            </a:pPr>
            <a:r>
              <a:rPr lang="en-US" sz="9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Large system design</a:t>
            </a:r>
            <a:endParaRPr lang="en-US" sz="900" dirty="0"/>
          </a:p>
          <a:p>
            <a:pPr marL="342900" indent="-342900">
              <a:lnSpc>
                <a:spcPct val="110000"/>
              </a:lnSpc>
              <a:spcAft>
                <a:spcPts val="200"/>
              </a:spcAft>
              <a:buSzPct val="100000"/>
              <a:buChar char="▪"/>
            </a:pPr>
            <a:r>
              <a:rPr lang="en-US" sz="9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Code needing deep project context</a:t>
            </a:r>
            <a:endParaRPr lang="en-US" sz="900" dirty="0"/>
          </a:p>
          <a:p>
            <a:pPr marL="342900" indent="-342900">
              <a:lnSpc>
                <a:spcPct val="110000"/>
              </a:lnSpc>
              <a:spcAft>
                <a:spcPts val="200"/>
              </a:spcAft>
              <a:buSzPct val="100000"/>
              <a:buChar char="▪"/>
            </a:pPr>
            <a:r>
              <a:rPr lang="en-US" sz="9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Anything with unusual requirements</a:t>
            </a:r>
            <a:endParaRPr lang="en-US" sz="900" dirty="0"/>
          </a:p>
          <a:p>
            <a:pPr marL="342900" indent="-342900">
              <a:lnSpc>
                <a:spcPct val="110000"/>
              </a:lnSpc>
              <a:spcAft>
                <a:spcPts val="200"/>
              </a:spcAft>
              <a:buSzPct val="100000"/>
              <a:buChar char="▪"/>
            </a:pPr>
            <a:r>
              <a:rPr lang="en-US" sz="9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Guaranteeing security</a:t>
            </a:r>
            <a:endParaRPr lang="en-US" sz="900" dirty="0"/>
          </a:p>
        </p:txBody>
      </p:sp>
      <p:sp>
        <p:nvSpPr>
          <p:cNvPr id="19" name="Shape 15"/>
          <p:cNvSpPr/>
          <p:nvPr/>
        </p:nvSpPr>
        <p:spPr>
          <a:xfrm>
            <a:off x="566928" y="4530149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822960" y="4731317"/>
            <a:ext cx="457200" cy="457200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260" y="4845617"/>
            <a:ext cx="228600" cy="22860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499616" y="4731317"/>
            <a:ext cx="41847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Who Benefits Most</a:t>
            </a:r>
            <a:endParaRPr lang="en-US" sz="1450" dirty="0"/>
          </a:p>
        </p:txBody>
      </p:sp>
      <p:sp>
        <p:nvSpPr>
          <p:cNvPr id="23" name="Text 18"/>
          <p:cNvSpPr txBox="1"/>
          <p:nvPr/>
        </p:nvSpPr>
        <p:spPr>
          <a:xfrm>
            <a:off x="841248" y="5334821"/>
            <a:ext cx="484312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Developers who already understand the code they are reviewing. Beginners must be more careful.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6233008" y="4530149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6489040" y="4731317"/>
            <a:ext cx="457200" cy="457200"/>
          </a:xfrm>
          <a:prstGeom prst="ellipse">
            <a:avLst/>
          </a:prstGeom>
          <a:solidFill>
            <a:srgbClr val="34D399">
              <a:alpha val="16000"/>
            </a:srgbClr>
          </a:solidFill>
          <a:ln w="12700">
            <a:solidFill>
              <a:srgbClr val="34D399">
                <a:alpha val="45000"/>
              </a:srgbClr>
            </a:solidFill>
            <a:prstDash val="solid"/>
          </a:ln>
        </p:spPr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3340" y="4845617"/>
            <a:ext cx="228600" cy="228600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7165696" y="4731317"/>
            <a:ext cx="41847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The Core Rule</a:t>
            </a:r>
            <a:endParaRPr lang="en-US" sz="1450" dirty="0"/>
          </a:p>
        </p:txBody>
      </p:sp>
      <p:sp>
        <p:nvSpPr>
          <p:cNvPr id="28" name="Text 22"/>
          <p:cNvSpPr txBox="1"/>
          <p:nvPr/>
        </p:nvSpPr>
        <p:spPr>
          <a:xfrm>
            <a:off x="6507328" y="5334821"/>
            <a:ext cx="484312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Never use code you do not understand. If you cannot explain it, do not ship it.</a:t>
            </a:r>
            <a:endParaRPr lang="en-US" sz="1200" dirty="0"/>
          </a:p>
        </p:txBody>
      </p:sp>
    </p:spTree>
  </p:cSld>
  <p:clrMapOvr>
    <a:masterClrMapping/>
  </p:clrMapOvr>
</p:sld>
</file>

<file path=ppt/slides/slide2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SLIDE 167 · USE 1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Code Generation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Section 16 · Generative AI for Coding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197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11057839" cy="877824"/>
          </a:xfrm>
          <a:prstGeom prst="roundRect">
            <a:avLst>
              <a:gd name="adj" fmla="val 8333"/>
            </a:avLst>
          </a:prstGeom>
          <a:solidFill>
            <a:srgbClr val="191640">
              <a:alpha val="96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6928" y="1627632"/>
            <a:ext cx="64008" cy="585216"/>
          </a:xfrm>
          <a:prstGeom prst="roundRect">
            <a:avLst>
              <a:gd name="adj" fmla="val 42857"/>
            </a:avLst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59536" y="1572768"/>
            <a:ext cx="10472623" cy="6949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DDD9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Describing what you need in plain language and receiving working code.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66928" y="2615184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22960" y="2816352"/>
            <a:ext cx="457200" cy="457200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2930652"/>
            <a:ext cx="228600" cy="22860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499616" y="2816352"/>
            <a:ext cx="41847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Write A Good Request</a:t>
            </a:r>
            <a:endParaRPr lang="en-US" sz="1450" dirty="0"/>
          </a:p>
        </p:txBody>
      </p:sp>
      <p:sp>
        <p:nvSpPr>
          <p:cNvPr id="13" name="Text 10"/>
          <p:cNvSpPr txBox="1"/>
          <p:nvPr/>
        </p:nvSpPr>
        <p:spPr>
          <a:xfrm>
            <a:off x="841248" y="3419856"/>
            <a:ext cx="484312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State the language, version, libraries allowed, inputs, outputs and edge cases.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33008" y="2615184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489040" y="2816352"/>
            <a:ext cx="457200" cy="457200"/>
          </a:xfrm>
          <a:prstGeom prst="ellipse">
            <a:avLst/>
          </a:prstGeom>
          <a:solidFill>
            <a:srgbClr val="22D3EE">
              <a:alpha val="16000"/>
            </a:srgbClr>
          </a:solidFill>
          <a:ln w="12700">
            <a:solidFill>
              <a:srgbClr val="22D3EE">
                <a:alpha val="45000"/>
              </a:srgbClr>
            </a:solidFill>
            <a:prstDash val="solid"/>
          </a:ln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3340" y="2930652"/>
            <a:ext cx="228600" cy="22860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7165696" y="2816352"/>
            <a:ext cx="41847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Weak vs Strong</a:t>
            </a:r>
            <a:endParaRPr lang="en-US" sz="1450" dirty="0"/>
          </a:p>
        </p:txBody>
      </p:sp>
      <p:sp>
        <p:nvSpPr>
          <p:cNvPr id="18" name="Text 14"/>
          <p:cNvSpPr txBox="1"/>
          <p:nvPr/>
        </p:nvSpPr>
        <p:spPr>
          <a:xfrm>
            <a:off x="6507328" y="3419856"/>
            <a:ext cx="484312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Weak: "sort a list". Strong: "Python 3 function that sorts a list of dictionaries by the date key, oldest first, handling missing keys."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566928" y="4530149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822960" y="4731317"/>
            <a:ext cx="457200" cy="457200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260" y="4845617"/>
            <a:ext cx="228600" cy="22860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499616" y="4731317"/>
            <a:ext cx="41847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Ask For Tests Too</a:t>
            </a:r>
            <a:endParaRPr lang="en-US" sz="1450" dirty="0"/>
          </a:p>
        </p:txBody>
      </p:sp>
      <p:sp>
        <p:nvSpPr>
          <p:cNvPr id="23" name="Text 18"/>
          <p:cNvSpPr txBox="1"/>
          <p:nvPr/>
        </p:nvSpPr>
        <p:spPr>
          <a:xfrm>
            <a:off x="841248" y="5334821"/>
            <a:ext cx="484312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Requesting test cases alongside the code catches errors immediately.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6233008" y="4530149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6489040" y="4731317"/>
            <a:ext cx="457200" cy="457200"/>
          </a:xfrm>
          <a:prstGeom prst="ellipse">
            <a:avLst/>
          </a:prstGeom>
          <a:solidFill>
            <a:srgbClr val="34D399">
              <a:alpha val="16000"/>
            </a:srgbClr>
          </a:solidFill>
          <a:ln w="12700">
            <a:solidFill>
              <a:srgbClr val="34D399">
                <a:alpha val="45000"/>
              </a:srgbClr>
            </a:solidFill>
            <a:prstDash val="solid"/>
          </a:ln>
        </p:spPr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3340" y="4845617"/>
            <a:ext cx="228600" cy="228600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7165696" y="4731317"/>
            <a:ext cx="41847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Then Verify</a:t>
            </a:r>
            <a:endParaRPr lang="en-US" sz="1450" dirty="0"/>
          </a:p>
        </p:txBody>
      </p:sp>
      <p:sp>
        <p:nvSpPr>
          <p:cNvPr id="28" name="Text 22"/>
          <p:cNvSpPr txBox="1"/>
          <p:nvPr/>
        </p:nvSpPr>
        <p:spPr>
          <a:xfrm>
            <a:off x="6507328" y="5334821"/>
            <a:ext cx="484312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Run it. Read it. Check the edge cases yourself. Confident code can still be wrong.</a:t>
            </a:r>
            <a:endParaRPr lang="en-US" sz="1200" dirty="0"/>
          </a:p>
        </p:txBody>
      </p:sp>
    </p:spTree>
  </p:cSld>
  <p:clrMapOvr>
    <a:masterClrMapping/>
  </p:clrMapOvr>
</p:sld>
</file>

<file path=ppt/slides/slide2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SLIDE 168 · USE 2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Code Explanation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Section 16 · Generative AI for Coding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198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11057839" cy="877824"/>
          </a:xfrm>
          <a:prstGeom prst="roundRect">
            <a:avLst>
              <a:gd name="adj" fmla="val 8333"/>
            </a:avLst>
          </a:prstGeom>
          <a:solidFill>
            <a:srgbClr val="191640">
              <a:alpha val="96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6928" y="1627632"/>
            <a:ext cx="64008" cy="585216"/>
          </a:xfrm>
          <a:prstGeom prst="roundRect">
            <a:avLst>
              <a:gd name="adj" fmla="val 42857"/>
            </a:avLst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59536" y="1572768"/>
            <a:ext cx="10472623" cy="6949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DDD9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Asking AI to explain unfamiliar code in plain language. This is one of its most reliable uses.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66928" y="2615184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22960" y="2816352"/>
            <a:ext cx="457200" cy="457200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2930652"/>
            <a:ext cx="228600" cy="22860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499616" y="2816352"/>
            <a:ext cx="41847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Why It Works Well</a:t>
            </a:r>
            <a:endParaRPr lang="en-US" sz="1450" dirty="0"/>
          </a:p>
        </p:txBody>
      </p:sp>
      <p:sp>
        <p:nvSpPr>
          <p:cNvPr id="13" name="Text 10"/>
          <p:cNvSpPr txBox="1"/>
          <p:nvPr/>
        </p:nvSpPr>
        <p:spPr>
          <a:xfrm>
            <a:off x="841248" y="3419856"/>
            <a:ext cx="484312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code is in front of the model, so there is far less need for it to invent anything.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33008" y="2615184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489040" y="2816352"/>
            <a:ext cx="457200" cy="457200"/>
          </a:xfrm>
          <a:prstGeom prst="ellipse">
            <a:avLst/>
          </a:prstGeom>
          <a:solidFill>
            <a:srgbClr val="22D3EE">
              <a:alpha val="16000"/>
            </a:srgbClr>
          </a:solidFill>
          <a:ln w="12700">
            <a:solidFill>
              <a:srgbClr val="22D3EE">
                <a:alpha val="45000"/>
              </a:srgbClr>
            </a:solidFill>
            <a:prstDash val="solid"/>
          </a:ln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3340" y="2930652"/>
            <a:ext cx="228600" cy="22860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7165696" y="2816352"/>
            <a:ext cx="41847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Useful Prompts</a:t>
            </a:r>
            <a:endParaRPr lang="en-US" sz="1450" dirty="0"/>
          </a:p>
        </p:txBody>
      </p:sp>
      <p:sp>
        <p:nvSpPr>
          <p:cNvPr id="18" name="Text 14"/>
          <p:cNvSpPr txBox="1"/>
          <p:nvPr/>
        </p:nvSpPr>
        <p:spPr>
          <a:xfrm>
            <a:off x="6507328" y="3419856"/>
            <a:ext cx="484312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"Explain this function line by line"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"What does this regular expression match?"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500"/>
              </a:spcAft>
              <a:buSzPct val="100000"/>
              <a:buChar char="▪"/>
            </a:pPr>
            <a:r>
              <a:rPr lang="en-US" sz="115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"Why might this loop be slow?"</a:t>
            </a:r>
            <a:endParaRPr lang="en-US" sz="1150" dirty="0"/>
          </a:p>
        </p:txBody>
      </p:sp>
      <p:sp>
        <p:nvSpPr>
          <p:cNvPr id="19" name="Shape 15"/>
          <p:cNvSpPr/>
          <p:nvPr/>
        </p:nvSpPr>
        <p:spPr>
          <a:xfrm>
            <a:off x="566928" y="4530149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822960" y="4731317"/>
            <a:ext cx="457200" cy="457200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260" y="4845617"/>
            <a:ext cx="228600" cy="22860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499616" y="4731317"/>
            <a:ext cx="41847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Great For Learning</a:t>
            </a:r>
            <a:endParaRPr lang="en-US" sz="1450" dirty="0"/>
          </a:p>
        </p:txBody>
      </p:sp>
      <p:sp>
        <p:nvSpPr>
          <p:cNvPr id="23" name="Text 18"/>
          <p:cNvSpPr txBox="1"/>
          <p:nvPr/>
        </p:nvSpPr>
        <p:spPr>
          <a:xfrm>
            <a:off x="841248" y="5334821"/>
            <a:ext cx="484312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Inheriting an old codebase becomes far less intimidating when you can ask about any part of it.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6233008" y="4530149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6489040" y="4731317"/>
            <a:ext cx="457200" cy="457200"/>
          </a:xfrm>
          <a:prstGeom prst="ellipse">
            <a:avLst/>
          </a:prstGeom>
          <a:solidFill>
            <a:srgbClr val="34D399">
              <a:alpha val="16000"/>
            </a:srgbClr>
          </a:solidFill>
          <a:ln w="12700">
            <a:solidFill>
              <a:srgbClr val="34D399">
                <a:alpha val="45000"/>
              </a:srgbClr>
            </a:solidFill>
            <a:prstDash val="solid"/>
          </a:ln>
        </p:spPr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3340" y="4845617"/>
            <a:ext cx="228600" cy="228600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7165696" y="4731317"/>
            <a:ext cx="41847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Still Verify Behaviour</a:t>
            </a:r>
            <a:endParaRPr lang="en-US" sz="1450" dirty="0"/>
          </a:p>
        </p:txBody>
      </p:sp>
      <p:sp>
        <p:nvSpPr>
          <p:cNvPr id="28" name="Text 22"/>
          <p:cNvSpPr txBox="1"/>
          <p:nvPr/>
        </p:nvSpPr>
        <p:spPr>
          <a:xfrm>
            <a:off x="6507328" y="5334821"/>
            <a:ext cx="484312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explanation is an interpretation. Run the code if the behaviour really matters.</a:t>
            </a:r>
            <a:endParaRPr lang="en-US" sz="1200" dirty="0"/>
          </a:p>
        </p:txBody>
      </p:sp>
    </p:spTree>
  </p:cSld>
  <p:clrMapOvr>
    <a:masterClrMapping/>
  </p:clrMapOvr>
</p:sld>
</file>

<file path=ppt/slides/slide2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SLIDE 169 · USE 3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Debugging Assistance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Section 16 · Generative AI for Coding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199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11057839" cy="877824"/>
          </a:xfrm>
          <a:prstGeom prst="roundRect">
            <a:avLst>
              <a:gd name="adj" fmla="val 8333"/>
            </a:avLst>
          </a:prstGeom>
          <a:solidFill>
            <a:srgbClr val="191640">
              <a:alpha val="96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6928" y="1627632"/>
            <a:ext cx="64008" cy="585216"/>
          </a:xfrm>
          <a:prstGeom prst="roundRect">
            <a:avLst>
              <a:gd name="adj" fmla="val 42857"/>
            </a:avLst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59536" y="1572768"/>
            <a:ext cx="10472623" cy="6949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DDD9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Giving the AI the error message and the relevant code, and asking what is wrong.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66928" y="2615184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22960" y="2816352"/>
            <a:ext cx="457200" cy="457200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2930652"/>
            <a:ext cx="228600" cy="22860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499616" y="2816352"/>
            <a:ext cx="41847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What To Include</a:t>
            </a:r>
            <a:endParaRPr lang="en-US" sz="1450" dirty="0"/>
          </a:p>
        </p:txBody>
      </p:sp>
      <p:sp>
        <p:nvSpPr>
          <p:cNvPr id="13" name="Text 10"/>
          <p:cNvSpPr txBox="1"/>
          <p:nvPr/>
        </p:nvSpPr>
        <p:spPr>
          <a:xfrm>
            <a:off x="841248" y="3419856"/>
            <a:ext cx="484312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200"/>
              </a:spcAft>
              <a:buSzPct val="100000"/>
              <a:buChar char="▪"/>
            </a:pPr>
            <a:r>
              <a:rPr lang="en-US" sz="9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full error message</a:t>
            </a:r>
            <a:endParaRPr lang="en-US" sz="900" dirty="0"/>
          </a:p>
          <a:p>
            <a:pPr marL="342900" indent="-342900">
              <a:lnSpc>
                <a:spcPct val="110000"/>
              </a:lnSpc>
              <a:spcAft>
                <a:spcPts val="200"/>
              </a:spcAft>
              <a:buSzPct val="100000"/>
              <a:buChar char="▪"/>
            </a:pPr>
            <a:r>
              <a:rPr lang="en-US" sz="9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relevant code section</a:t>
            </a:r>
            <a:endParaRPr lang="en-US" sz="900" dirty="0"/>
          </a:p>
          <a:p>
            <a:pPr marL="342900" indent="-342900">
              <a:lnSpc>
                <a:spcPct val="110000"/>
              </a:lnSpc>
              <a:spcAft>
                <a:spcPts val="200"/>
              </a:spcAft>
              <a:buSzPct val="100000"/>
              <a:buChar char="▪"/>
            </a:pPr>
            <a:r>
              <a:rPr lang="en-US" sz="9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you expected to happen</a:t>
            </a:r>
            <a:endParaRPr lang="en-US" sz="900" dirty="0"/>
          </a:p>
          <a:p>
            <a:pPr marL="342900" indent="-342900">
              <a:lnSpc>
                <a:spcPct val="110000"/>
              </a:lnSpc>
              <a:spcAft>
                <a:spcPts val="200"/>
              </a:spcAft>
              <a:buSzPct val="100000"/>
              <a:buChar char="▪"/>
            </a:pPr>
            <a:r>
              <a:rPr lang="en-US" sz="9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actually happened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6233008" y="2615184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489040" y="2816352"/>
            <a:ext cx="457200" cy="457200"/>
          </a:xfrm>
          <a:prstGeom prst="ellipse">
            <a:avLst/>
          </a:prstGeom>
          <a:solidFill>
            <a:srgbClr val="22D3EE">
              <a:alpha val="16000"/>
            </a:srgbClr>
          </a:solidFill>
          <a:ln w="12700">
            <a:solidFill>
              <a:srgbClr val="22D3EE">
                <a:alpha val="45000"/>
              </a:srgbClr>
            </a:solidFill>
            <a:prstDash val="solid"/>
          </a:ln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3340" y="2930652"/>
            <a:ext cx="228600" cy="22860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7165696" y="2816352"/>
            <a:ext cx="41847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Example Prompt</a:t>
            </a:r>
            <a:endParaRPr lang="en-US" sz="1450" dirty="0"/>
          </a:p>
        </p:txBody>
      </p:sp>
      <p:sp>
        <p:nvSpPr>
          <p:cNvPr id="18" name="Text 14"/>
          <p:cNvSpPr txBox="1"/>
          <p:nvPr/>
        </p:nvSpPr>
        <p:spPr>
          <a:xfrm>
            <a:off x="6507328" y="3419856"/>
            <a:ext cx="484312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"Explain this Python error and suggest how to fix it", with the traceback pasted below.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566928" y="4530149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822960" y="4731317"/>
            <a:ext cx="457200" cy="457200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260" y="4845617"/>
            <a:ext cx="228600" cy="22860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499616" y="4731317"/>
            <a:ext cx="41847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Ask For Causes, Not Just Fixes</a:t>
            </a:r>
            <a:endParaRPr lang="en-US" sz="1450" dirty="0"/>
          </a:p>
        </p:txBody>
      </p:sp>
      <p:sp>
        <p:nvSpPr>
          <p:cNvPr id="23" name="Text 18"/>
          <p:cNvSpPr txBox="1"/>
          <p:nvPr/>
        </p:nvSpPr>
        <p:spPr>
          <a:xfrm>
            <a:off x="841248" y="5334821"/>
            <a:ext cx="484312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"List three possible causes and how to test each one" teaches you far more than a patch.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6233008" y="4530149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6489040" y="4731317"/>
            <a:ext cx="457200" cy="457200"/>
          </a:xfrm>
          <a:prstGeom prst="ellipse">
            <a:avLst/>
          </a:prstGeom>
          <a:solidFill>
            <a:srgbClr val="34D399">
              <a:alpha val="16000"/>
            </a:srgbClr>
          </a:solidFill>
          <a:ln w="12700">
            <a:solidFill>
              <a:srgbClr val="34D399">
                <a:alpha val="45000"/>
              </a:srgbClr>
            </a:solidFill>
            <a:prstDash val="solid"/>
          </a:ln>
        </p:spPr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3340" y="4845617"/>
            <a:ext cx="228600" cy="228600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7165696" y="4731317"/>
            <a:ext cx="41847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Careful With Confident Fixes</a:t>
            </a:r>
            <a:endParaRPr lang="en-US" sz="1450" dirty="0"/>
          </a:p>
        </p:txBody>
      </p:sp>
      <p:sp>
        <p:nvSpPr>
          <p:cNvPr id="28" name="Text 22"/>
          <p:cNvSpPr txBox="1"/>
          <p:nvPr/>
        </p:nvSpPr>
        <p:spPr>
          <a:xfrm>
            <a:off x="6507328" y="5334821"/>
            <a:ext cx="484312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suggested fix may hide the symptom while leaving the real bug in place.</a:t>
            </a:r>
            <a:endParaRPr lang="en-US" sz="1200" dirty="0"/>
          </a:p>
        </p:txBody>
      </p:sp>
    </p:spTree>
  </p:cSld>
  <p:clrMapOvr>
    <a:masterClrMapping/>
  </p:clrMapOvr>
</p:sld>
</file>

<file path=ppt/slides/slide2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SLIDE 170 · USE 4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Code Documentation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Section 16 · Generative AI for Coding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200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11057839" cy="877824"/>
          </a:xfrm>
          <a:prstGeom prst="roundRect">
            <a:avLst>
              <a:gd name="adj" fmla="val 8333"/>
            </a:avLst>
          </a:prstGeom>
          <a:solidFill>
            <a:srgbClr val="191640">
              <a:alpha val="96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6928" y="1627632"/>
            <a:ext cx="64008" cy="585216"/>
          </a:xfrm>
          <a:prstGeom prst="roundRect">
            <a:avLst>
              <a:gd name="adj" fmla="val 42857"/>
            </a:avLst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59536" y="1572768"/>
            <a:ext cx="10472623" cy="6949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DDD9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Generating comments, docstrings and README files from existing code.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66928" y="2615184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22960" y="2816352"/>
            <a:ext cx="457200" cy="457200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2930652"/>
            <a:ext cx="228600" cy="22860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499616" y="2816352"/>
            <a:ext cx="41847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What It Can Produce</a:t>
            </a:r>
            <a:endParaRPr lang="en-US" sz="1450" dirty="0"/>
          </a:p>
        </p:txBody>
      </p:sp>
      <p:sp>
        <p:nvSpPr>
          <p:cNvPr id="13" name="Text 10"/>
          <p:cNvSpPr txBox="1"/>
          <p:nvPr/>
        </p:nvSpPr>
        <p:spPr>
          <a:xfrm>
            <a:off x="841248" y="3419856"/>
            <a:ext cx="484312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200"/>
              </a:spcAft>
              <a:buSzPct val="100000"/>
              <a:buChar char="▪"/>
            </a:pPr>
            <a:r>
              <a:rPr lang="en-US" sz="9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Function docstrings</a:t>
            </a:r>
            <a:endParaRPr lang="en-US" sz="900" dirty="0"/>
          </a:p>
          <a:p>
            <a:pPr marL="342900" indent="-342900">
              <a:lnSpc>
                <a:spcPct val="110000"/>
              </a:lnSpc>
              <a:spcAft>
                <a:spcPts val="200"/>
              </a:spcAft>
              <a:buSzPct val="100000"/>
              <a:buChar char="▪"/>
            </a:pPr>
            <a:r>
              <a:rPr lang="en-US" sz="9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README with setup steps</a:t>
            </a:r>
            <a:endParaRPr lang="en-US" sz="900" dirty="0"/>
          </a:p>
          <a:p>
            <a:pPr marL="342900" indent="-342900">
              <a:lnSpc>
                <a:spcPct val="110000"/>
              </a:lnSpc>
              <a:spcAft>
                <a:spcPts val="200"/>
              </a:spcAft>
              <a:buSzPct val="100000"/>
              <a:buChar char="▪"/>
            </a:pPr>
            <a:r>
              <a:rPr lang="en-US" sz="9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API documentation</a:t>
            </a:r>
            <a:endParaRPr lang="en-US" sz="900" dirty="0"/>
          </a:p>
          <a:p>
            <a:pPr marL="342900" indent="-342900">
              <a:lnSpc>
                <a:spcPct val="110000"/>
              </a:lnSpc>
              <a:spcAft>
                <a:spcPts val="200"/>
              </a:spcAft>
              <a:buSzPct val="100000"/>
              <a:buChar char="▪"/>
            </a:pPr>
            <a:r>
              <a:rPr lang="en-US" sz="9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Inline explanatory comments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6233008" y="2615184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489040" y="2816352"/>
            <a:ext cx="457200" cy="457200"/>
          </a:xfrm>
          <a:prstGeom prst="ellipse">
            <a:avLst/>
          </a:prstGeom>
          <a:solidFill>
            <a:srgbClr val="22D3EE">
              <a:alpha val="16000"/>
            </a:srgbClr>
          </a:solidFill>
          <a:ln w="12700">
            <a:solidFill>
              <a:srgbClr val="22D3EE">
                <a:alpha val="45000"/>
              </a:srgbClr>
            </a:solidFill>
            <a:prstDash val="solid"/>
          </a:ln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3340" y="2930652"/>
            <a:ext cx="228600" cy="22860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7165696" y="2816352"/>
            <a:ext cx="41847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Why It Helps</a:t>
            </a:r>
            <a:endParaRPr lang="en-US" sz="1450" dirty="0"/>
          </a:p>
        </p:txBody>
      </p:sp>
      <p:sp>
        <p:nvSpPr>
          <p:cNvPr id="18" name="Text 14"/>
          <p:cNvSpPr txBox="1"/>
          <p:nvPr/>
        </p:nvSpPr>
        <p:spPr>
          <a:xfrm>
            <a:off x="6507328" y="3419856"/>
            <a:ext cx="484312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Documentation is the task most often skipped. AI removes most of the effort excuse.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566928" y="4530149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822960" y="4731317"/>
            <a:ext cx="457200" cy="457200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260" y="4845617"/>
            <a:ext cx="228600" cy="22860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499616" y="4731317"/>
            <a:ext cx="41847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Review Carefully</a:t>
            </a:r>
            <a:endParaRPr lang="en-US" sz="1450" dirty="0"/>
          </a:p>
        </p:txBody>
      </p:sp>
      <p:sp>
        <p:nvSpPr>
          <p:cNvPr id="23" name="Text 18"/>
          <p:cNvSpPr txBox="1"/>
          <p:nvPr/>
        </p:nvSpPr>
        <p:spPr>
          <a:xfrm>
            <a:off x="841248" y="5334821"/>
            <a:ext cx="484312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Generated documentation can describe what the code appears to do, not what it actually does.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6233008" y="4530149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6489040" y="4731317"/>
            <a:ext cx="457200" cy="457200"/>
          </a:xfrm>
          <a:prstGeom prst="ellipse">
            <a:avLst/>
          </a:prstGeom>
          <a:solidFill>
            <a:srgbClr val="34D399">
              <a:alpha val="16000"/>
            </a:srgbClr>
          </a:solidFill>
          <a:ln w="12700">
            <a:solidFill>
              <a:srgbClr val="34D399">
                <a:alpha val="45000"/>
              </a:srgbClr>
            </a:solidFill>
            <a:prstDash val="solid"/>
          </a:ln>
        </p:spPr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3340" y="4845617"/>
            <a:ext cx="228600" cy="228600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7165696" y="4731317"/>
            <a:ext cx="41847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Keep It Updated</a:t>
            </a:r>
            <a:endParaRPr lang="en-US" sz="1450" dirty="0"/>
          </a:p>
        </p:txBody>
      </p:sp>
      <p:sp>
        <p:nvSpPr>
          <p:cNvPr id="28" name="Text 22"/>
          <p:cNvSpPr txBox="1"/>
          <p:nvPr/>
        </p:nvSpPr>
        <p:spPr>
          <a:xfrm>
            <a:off x="6507328" y="5334821"/>
            <a:ext cx="484312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Regenerate documentation when code changes, or it becomes misleading.</a:t>
            </a:r>
            <a:endParaRPr lang="en-US" sz="1200" dirty="0"/>
          </a:p>
        </p:txBody>
      </p:sp>
    </p:spTree>
  </p:cSld>
  <p:clrMapOvr>
    <a:masterClrMapping/>
  </p:clrMapOvr>
</p:sld>
</file>

<file path=ppt/slides/slide2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SLIDE 171 · LEARNING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Learning Programming with AI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Section 16 · Generative AI for Coding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201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11057839" cy="670560"/>
          </a:xfrm>
          <a:prstGeom prst="roundRect">
            <a:avLst>
              <a:gd name="adj" fmla="val 10909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04672" y="1600200"/>
            <a:ext cx="432816" cy="432816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2876" y="1708404"/>
            <a:ext cx="216408" cy="216408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475232" y="1591056"/>
            <a:ext cx="9875215" cy="4511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Ask "why", not just "what"</a:t>
            </a:r>
            <a:endParaRPr lang="en-US" sz="13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"Why is a list better than a tuple here?" teaches more than a code snippet.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566928" y="2298192"/>
            <a:ext cx="11057839" cy="670560"/>
          </a:xfrm>
          <a:prstGeom prst="roundRect">
            <a:avLst>
              <a:gd name="adj" fmla="val 10909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804672" y="2417064"/>
            <a:ext cx="432816" cy="432816"/>
          </a:xfrm>
          <a:prstGeom prst="ellipse">
            <a:avLst/>
          </a:prstGeom>
          <a:solidFill>
            <a:srgbClr val="22D3EE">
              <a:alpha val="16000"/>
            </a:srgbClr>
          </a:solidFill>
          <a:ln w="12700">
            <a:solidFill>
              <a:srgbClr val="22D3EE">
                <a:alpha val="45000"/>
              </a:srgbClr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876" y="2525268"/>
            <a:ext cx="216408" cy="216408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475232" y="2407920"/>
            <a:ext cx="9875215" cy="4511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Write first, then compare</a:t>
            </a:r>
            <a:endParaRPr lang="en-US" sz="13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Attempt the problem yourself, then ask AI to review your version and explain differences.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566928" y="3115056"/>
            <a:ext cx="11057839" cy="670560"/>
          </a:xfrm>
          <a:prstGeom prst="roundRect">
            <a:avLst>
              <a:gd name="adj" fmla="val 10909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04672" y="3233928"/>
            <a:ext cx="432816" cy="432816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2876" y="3342132"/>
            <a:ext cx="216408" cy="216408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475232" y="3224784"/>
            <a:ext cx="9875215" cy="4511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Ask for practice problems</a:t>
            </a:r>
            <a:endParaRPr lang="en-US" sz="13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"Give me five exercises on loops, from easy to hard, with solutions hidden at the end."</a:t>
            </a:r>
            <a:endParaRPr lang="en-US" sz="1350" dirty="0"/>
          </a:p>
        </p:txBody>
      </p:sp>
      <p:sp>
        <p:nvSpPr>
          <p:cNvPr id="18" name="Shape 13"/>
          <p:cNvSpPr/>
          <p:nvPr/>
        </p:nvSpPr>
        <p:spPr>
          <a:xfrm>
            <a:off x="566928" y="3931920"/>
            <a:ext cx="11057839" cy="670560"/>
          </a:xfrm>
          <a:prstGeom prst="roundRect">
            <a:avLst>
              <a:gd name="adj" fmla="val 10909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804672" y="4050792"/>
            <a:ext cx="432816" cy="432816"/>
          </a:xfrm>
          <a:prstGeom prst="ellipse">
            <a:avLst/>
          </a:prstGeom>
          <a:solidFill>
            <a:srgbClr val="34D399">
              <a:alpha val="16000"/>
            </a:srgbClr>
          </a:solidFill>
          <a:ln w="12700">
            <a:solidFill>
              <a:srgbClr val="34D399">
                <a:alpha val="45000"/>
              </a:srgbClr>
            </a:solidFill>
            <a:prstDash val="solid"/>
          </a:ln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876" y="4158996"/>
            <a:ext cx="216408" cy="216408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475232" y="4041648"/>
            <a:ext cx="9875215" cy="4511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Debug with guidance</a:t>
            </a:r>
            <a:endParaRPr lang="en-US" sz="13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Ask for hints rather than the fix: "Give me a hint about where the bug might be."</a:t>
            </a:r>
            <a:endParaRPr lang="en-US" sz="1350" dirty="0"/>
          </a:p>
        </p:txBody>
      </p:sp>
      <p:sp>
        <p:nvSpPr>
          <p:cNvPr id="22" name="Shape 16"/>
          <p:cNvSpPr/>
          <p:nvPr/>
        </p:nvSpPr>
        <p:spPr>
          <a:xfrm>
            <a:off x="566928" y="4748784"/>
            <a:ext cx="11057839" cy="670560"/>
          </a:xfrm>
          <a:prstGeom prst="roundRect">
            <a:avLst>
              <a:gd name="adj" fmla="val 10909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804672" y="4867656"/>
            <a:ext cx="432816" cy="432816"/>
          </a:xfrm>
          <a:prstGeom prst="ellipse">
            <a:avLst/>
          </a:prstGeom>
          <a:solidFill>
            <a:srgbClr val="F472B6">
              <a:alpha val="16000"/>
            </a:srgbClr>
          </a:solidFill>
          <a:ln w="12700">
            <a:solidFill>
              <a:srgbClr val="F472B6">
                <a:alpha val="45000"/>
              </a:srgbClr>
            </a:solidFill>
            <a:prstDash val="solid"/>
          </a:ln>
        </p:spPr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2876" y="4975860"/>
            <a:ext cx="216408" cy="216408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1475232" y="4858512"/>
            <a:ext cx="9875215" cy="4511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The trap to avoid</a:t>
            </a:r>
            <a:endParaRPr lang="en-US" sz="13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Copying working code without understanding feels like progress but builds no skill.</a:t>
            </a:r>
            <a:endParaRPr lang="en-US" sz="1350" dirty="0"/>
          </a:p>
        </p:txBody>
      </p:sp>
      <p:sp>
        <p:nvSpPr>
          <p:cNvPr id="26" name="Shape 19"/>
          <p:cNvSpPr/>
          <p:nvPr/>
        </p:nvSpPr>
        <p:spPr>
          <a:xfrm>
            <a:off x="566928" y="5565648"/>
            <a:ext cx="11057839" cy="670560"/>
          </a:xfrm>
          <a:prstGeom prst="roundRect">
            <a:avLst>
              <a:gd name="adj" fmla="val 10909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7" name="Shape 20"/>
          <p:cNvSpPr/>
          <p:nvPr/>
        </p:nvSpPr>
        <p:spPr>
          <a:xfrm>
            <a:off x="804672" y="5684520"/>
            <a:ext cx="432816" cy="432816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28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2876" y="5792724"/>
            <a:ext cx="216408" cy="216408"/>
          </a:xfrm>
          <a:prstGeom prst="rect">
            <a:avLst/>
          </a:prstGeom>
        </p:spPr>
      </p:pic>
      <p:sp>
        <p:nvSpPr>
          <p:cNvPr id="29" name="Text 21"/>
          <p:cNvSpPr txBox="1"/>
          <p:nvPr/>
        </p:nvSpPr>
        <p:spPr>
          <a:xfrm>
            <a:off x="1475232" y="5675376"/>
            <a:ext cx="9875215" cy="4511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Self-test rule</a:t>
            </a:r>
            <a:endParaRPr lang="en-US" sz="13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If you cannot rewrite it from memory tomorrow, you have not learned it yet.</a:t>
            </a:r>
            <a:endParaRPr lang="en-US" sz="1350" dirty="0"/>
          </a:p>
        </p:txBody>
      </p:sp>
    </p:spTree>
  </p:cSld>
  <p:clrMapOvr>
    <a:masterClrMapping/>
  </p:clrMapOvr>
</p:sld>
</file>

<file path=ppt/slides/slide2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SLIDE 172 · LANGUAGE 1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AI for SQL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Section 16 · Generative AI for Coding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202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11057839" cy="877824"/>
          </a:xfrm>
          <a:prstGeom prst="roundRect">
            <a:avLst>
              <a:gd name="adj" fmla="val 8333"/>
            </a:avLst>
          </a:prstGeom>
          <a:solidFill>
            <a:srgbClr val="191640">
              <a:alpha val="96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6928" y="1627632"/>
            <a:ext cx="64008" cy="585216"/>
          </a:xfrm>
          <a:prstGeom prst="roundRect">
            <a:avLst>
              <a:gd name="adj" fmla="val 42857"/>
            </a:avLst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59536" y="1572768"/>
            <a:ext cx="10472623" cy="6949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DDD9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Turning plain-language questions into database queries.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66928" y="2615184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22960" y="2816352"/>
            <a:ext cx="457200" cy="457200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2930652"/>
            <a:ext cx="228600" cy="22860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499616" y="2816352"/>
            <a:ext cx="41847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Give The Schema</a:t>
            </a:r>
            <a:endParaRPr lang="en-US" sz="1450" dirty="0"/>
          </a:p>
        </p:txBody>
      </p:sp>
      <p:sp>
        <p:nvSpPr>
          <p:cNvPr id="13" name="Text 10"/>
          <p:cNvSpPr txBox="1"/>
          <p:nvPr/>
        </p:nvSpPr>
        <p:spPr>
          <a:xfrm>
            <a:off x="841248" y="3419856"/>
            <a:ext cx="484312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Paste the table and column names. Without the schema the model will invent plausible but wrong names.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33008" y="2615184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489040" y="2816352"/>
            <a:ext cx="457200" cy="457200"/>
          </a:xfrm>
          <a:prstGeom prst="ellipse">
            <a:avLst/>
          </a:prstGeom>
          <a:solidFill>
            <a:srgbClr val="22D3EE">
              <a:alpha val="16000"/>
            </a:srgbClr>
          </a:solidFill>
          <a:ln w="12700">
            <a:solidFill>
              <a:srgbClr val="22D3EE">
                <a:alpha val="45000"/>
              </a:srgbClr>
            </a:solidFill>
            <a:prstDash val="solid"/>
          </a:ln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3340" y="2930652"/>
            <a:ext cx="228600" cy="22860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7165696" y="2816352"/>
            <a:ext cx="41847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Example</a:t>
            </a:r>
            <a:endParaRPr lang="en-US" sz="1450" dirty="0"/>
          </a:p>
        </p:txBody>
      </p:sp>
      <p:sp>
        <p:nvSpPr>
          <p:cNvPr id="18" name="Text 14"/>
          <p:cNvSpPr txBox="1"/>
          <p:nvPr/>
        </p:nvSpPr>
        <p:spPr>
          <a:xfrm>
            <a:off x="6507328" y="3419856"/>
            <a:ext cx="484312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"Using these tables, write SQL to list the top 10 customers by total order value in 2025."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566928" y="4530149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822960" y="4731317"/>
            <a:ext cx="457200" cy="457200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260" y="4845617"/>
            <a:ext cx="228600" cy="22860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499616" y="4731317"/>
            <a:ext cx="41847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Great For Learning</a:t>
            </a:r>
            <a:endParaRPr lang="en-US" sz="1450" dirty="0"/>
          </a:p>
        </p:txBody>
      </p:sp>
      <p:sp>
        <p:nvSpPr>
          <p:cNvPr id="23" name="Text 18"/>
          <p:cNvSpPr txBox="1"/>
          <p:nvPr/>
        </p:nvSpPr>
        <p:spPr>
          <a:xfrm>
            <a:off x="841248" y="5334821"/>
            <a:ext cx="484312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Ask it to explain a complex join or window function in simple terms.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6233008" y="4530149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6489040" y="4731317"/>
            <a:ext cx="457200" cy="457200"/>
          </a:xfrm>
          <a:prstGeom prst="ellipse">
            <a:avLst/>
          </a:prstGeom>
          <a:solidFill>
            <a:srgbClr val="F472B6">
              <a:alpha val="16000"/>
            </a:srgbClr>
          </a:solidFill>
          <a:ln w="12700">
            <a:solidFill>
              <a:srgbClr val="F472B6">
                <a:alpha val="45000"/>
              </a:srgbClr>
            </a:solidFill>
            <a:prstDash val="solid"/>
          </a:ln>
        </p:spPr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3340" y="4845617"/>
            <a:ext cx="228600" cy="228600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7165696" y="4731317"/>
            <a:ext cx="41847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Serious Caution</a:t>
            </a:r>
            <a:endParaRPr lang="en-US" sz="1450" dirty="0"/>
          </a:p>
        </p:txBody>
      </p:sp>
      <p:sp>
        <p:nvSpPr>
          <p:cNvPr id="28" name="Text 22"/>
          <p:cNvSpPr txBox="1"/>
          <p:nvPr/>
        </p:nvSpPr>
        <p:spPr>
          <a:xfrm>
            <a:off x="6507328" y="5334821"/>
            <a:ext cx="484312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Never run a generated UPDATE or DELETE on real data without reviewing it and testing on a copy first.</a:t>
            </a:r>
            <a:endParaRPr lang="en-US" sz="1200" dirty="0"/>
          </a:p>
        </p:txBody>
      </p:sp>
    </p:spTree>
  </p:cSld>
  <p:clrMapOvr>
    <a:masterClrMapping/>
  </p:clrMapOvr>
</p:sld>
</file>

<file path=ppt/slides/slide2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SLIDE 173 · LANGUAGE 2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AI for HTML, CSS and JavaScript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Section 16 · Generative AI for Coding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203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11057839" cy="877824"/>
          </a:xfrm>
          <a:prstGeom prst="roundRect">
            <a:avLst>
              <a:gd name="adj" fmla="val 8333"/>
            </a:avLst>
          </a:prstGeom>
          <a:solidFill>
            <a:srgbClr val="191640">
              <a:alpha val="96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6928" y="1627632"/>
            <a:ext cx="64008" cy="585216"/>
          </a:xfrm>
          <a:prstGeom prst="roundRect">
            <a:avLst>
              <a:gd name="adj" fmla="val 42857"/>
            </a:avLst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59536" y="1572768"/>
            <a:ext cx="10472623" cy="6949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DDD9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Front-end work is one of the areas where AI assistance is most immediately useful.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66928" y="2615184"/>
            <a:ext cx="3503066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22960" y="2816352"/>
            <a:ext cx="457200" cy="457200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2930652"/>
            <a:ext cx="228600" cy="22860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499616" y="2816352"/>
            <a:ext cx="229605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HTML structure</a:t>
            </a:r>
            <a:endParaRPr lang="en-US" sz="1450" dirty="0"/>
          </a:p>
        </p:txBody>
      </p:sp>
      <p:sp>
        <p:nvSpPr>
          <p:cNvPr id="13" name="Text 10"/>
          <p:cNvSpPr txBox="1"/>
          <p:nvPr/>
        </p:nvSpPr>
        <p:spPr>
          <a:xfrm>
            <a:off x="841248" y="3419856"/>
            <a:ext cx="2954426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Generate accessible page structure with correct semantic tags.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344314" y="2615184"/>
            <a:ext cx="3503066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600346" y="2816352"/>
            <a:ext cx="457200" cy="457200"/>
          </a:xfrm>
          <a:prstGeom prst="ellipse">
            <a:avLst/>
          </a:prstGeom>
          <a:solidFill>
            <a:srgbClr val="22D3EE">
              <a:alpha val="16000"/>
            </a:srgbClr>
          </a:solidFill>
          <a:ln w="12700">
            <a:solidFill>
              <a:srgbClr val="22D3EE">
                <a:alpha val="45000"/>
              </a:srgbClr>
            </a:solidFill>
            <a:prstDash val="solid"/>
          </a:ln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4646" y="2930652"/>
            <a:ext cx="228600" cy="22860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5277002" y="2816352"/>
            <a:ext cx="229605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CSS layout</a:t>
            </a:r>
            <a:endParaRPr lang="en-US" sz="1450" dirty="0"/>
          </a:p>
        </p:txBody>
      </p:sp>
      <p:sp>
        <p:nvSpPr>
          <p:cNvPr id="18" name="Text 14"/>
          <p:cNvSpPr txBox="1"/>
          <p:nvPr/>
        </p:nvSpPr>
        <p:spPr>
          <a:xfrm>
            <a:off x="4618634" y="3419856"/>
            <a:ext cx="2954426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Flexbox and grid layouts, responsive breakpoints and theme variables.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8121701" y="2615184"/>
            <a:ext cx="3503066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8377733" y="2816352"/>
            <a:ext cx="457200" cy="457200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2033" y="2930652"/>
            <a:ext cx="228600" cy="22860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9054389" y="2816352"/>
            <a:ext cx="229605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JavaScript behaviour</a:t>
            </a:r>
            <a:endParaRPr lang="en-US" sz="1450" dirty="0"/>
          </a:p>
        </p:txBody>
      </p:sp>
      <p:sp>
        <p:nvSpPr>
          <p:cNvPr id="23" name="Text 18"/>
          <p:cNvSpPr txBox="1"/>
          <p:nvPr/>
        </p:nvSpPr>
        <p:spPr>
          <a:xfrm>
            <a:off x="8396021" y="3419856"/>
            <a:ext cx="2954426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Form validation, event handling and small interactive components.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566928" y="4530149"/>
            <a:ext cx="3503066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822960" y="4731317"/>
            <a:ext cx="457200" cy="457200"/>
          </a:xfrm>
          <a:prstGeom prst="ellipse">
            <a:avLst/>
          </a:prstGeom>
          <a:solidFill>
            <a:srgbClr val="34D399">
              <a:alpha val="16000"/>
            </a:srgbClr>
          </a:solidFill>
          <a:ln w="12700">
            <a:solidFill>
              <a:srgbClr val="34D399">
                <a:alpha val="45000"/>
              </a:srgbClr>
            </a:solidFill>
            <a:prstDash val="solid"/>
          </a:ln>
        </p:spPr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7260" y="4845617"/>
            <a:ext cx="228600" cy="228600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1499616" y="4731317"/>
            <a:ext cx="229605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Ask about accessibility</a:t>
            </a:r>
            <a:endParaRPr lang="en-US" sz="1450" dirty="0"/>
          </a:p>
        </p:txBody>
      </p:sp>
      <p:sp>
        <p:nvSpPr>
          <p:cNvPr id="28" name="Text 22"/>
          <p:cNvSpPr txBox="1"/>
          <p:nvPr/>
        </p:nvSpPr>
        <p:spPr>
          <a:xfrm>
            <a:off x="841248" y="5334821"/>
            <a:ext cx="2954426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"Check this form for accessibility issues" catches problems many developers miss.</a:t>
            </a:r>
            <a:endParaRPr lang="en-US" sz="1200" dirty="0"/>
          </a:p>
        </p:txBody>
      </p:sp>
      <p:sp>
        <p:nvSpPr>
          <p:cNvPr id="29" name="Shape 23"/>
          <p:cNvSpPr/>
          <p:nvPr/>
        </p:nvSpPr>
        <p:spPr>
          <a:xfrm>
            <a:off x="4344314" y="4530149"/>
            <a:ext cx="3503066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4600346" y="4731317"/>
            <a:ext cx="457200" cy="457200"/>
          </a:xfrm>
          <a:prstGeom prst="ellipse">
            <a:avLst/>
          </a:prstGeom>
          <a:solidFill>
            <a:srgbClr val="F472B6">
              <a:alpha val="16000"/>
            </a:srgbClr>
          </a:solidFill>
          <a:ln w="12700">
            <a:solidFill>
              <a:srgbClr val="F472B6">
                <a:alpha val="45000"/>
              </a:srgbClr>
            </a:solidFill>
            <a:prstDash val="solid"/>
          </a:ln>
        </p:spPr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14646" y="4845617"/>
            <a:ext cx="228600" cy="228600"/>
          </a:xfrm>
          <a:prstGeom prst="rect">
            <a:avLst/>
          </a:prstGeom>
        </p:spPr>
      </p:pic>
      <p:sp>
        <p:nvSpPr>
          <p:cNvPr id="32" name="Text 25"/>
          <p:cNvSpPr txBox="1"/>
          <p:nvPr/>
        </p:nvSpPr>
        <p:spPr>
          <a:xfrm>
            <a:off x="5277002" y="4731317"/>
            <a:ext cx="229605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Responsive check</a:t>
            </a:r>
            <a:endParaRPr lang="en-US" sz="1450" dirty="0"/>
          </a:p>
        </p:txBody>
      </p:sp>
      <p:sp>
        <p:nvSpPr>
          <p:cNvPr id="33" name="Text 26"/>
          <p:cNvSpPr txBox="1"/>
          <p:nvPr/>
        </p:nvSpPr>
        <p:spPr>
          <a:xfrm>
            <a:off x="4618634" y="5334821"/>
            <a:ext cx="2954426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Ask specifically for mobile behaviour, or you will often get desktop-only layouts.</a:t>
            </a:r>
            <a:endParaRPr lang="en-US" sz="1200" dirty="0"/>
          </a:p>
        </p:txBody>
      </p:sp>
      <p:sp>
        <p:nvSpPr>
          <p:cNvPr id="34" name="Shape 27"/>
          <p:cNvSpPr/>
          <p:nvPr/>
        </p:nvSpPr>
        <p:spPr>
          <a:xfrm>
            <a:off x="8121701" y="4530149"/>
            <a:ext cx="3503066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35" name="Shape 28"/>
          <p:cNvSpPr/>
          <p:nvPr/>
        </p:nvSpPr>
        <p:spPr>
          <a:xfrm>
            <a:off x="8377733" y="4731317"/>
            <a:ext cx="457200" cy="457200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36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92033" y="4845617"/>
            <a:ext cx="228600" cy="228600"/>
          </a:xfrm>
          <a:prstGeom prst="rect">
            <a:avLst/>
          </a:prstGeom>
        </p:spPr>
      </p:pic>
      <p:sp>
        <p:nvSpPr>
          <p:cNvPr id="37" name="Text 29"/>
          <p:cNvSpPr txBox="1"/>
          <p:nvPr/>
        </p:nvSpPr>
        <p:spPr>
          <a:xfrm>
            <a:off x="9054389" y="4731317"/>
            <a:ext cx="229605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Verify browser support</a:t>
            </a:r>
            <a:endParaRPr lang="en-US" sz="1450" dirty="0"/>
          </a:p>
        </p:txBody>
      </p:sp>
      <p:sp>
        <p:nvSpPr>
          <p:cNvPr id="38" name="Text 30"/>
          <p:cNvSpPr txBox="1"/>
          <p:nvPr/>
        </p:nvSpPr>
        <p:spPr>
          <a:xfrm>
            <a:off x="8396021" y="5334821"/>
            <a:ext cx="2954426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Suggested CSS or JS features may not work in all browsers you need to support.</a:t>
            </a:r>
            <a:endParaRPr lang="en-US" sz="1200" dirty="0"/>
          </a:p>
        </p:txBody>
      </p:sp>
    </p:spTree>
  </p:cSld>
  <p:clrMapOvr>
    <a:masterClrMapping/>
  </p:clrMapOvr>
</p:sld>
</file>

<file path=ppt/slides/slide2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SLIDE 174 · LANGUAGE 3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AI for Python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Section 16 · Generative AI for Coding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204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11057839" cy="877824"/>
          </a:xfrm>
          <a:prstGeom prst="roundRect">
            <a:avLst>
              <a:gd name="adj" fmla="val 8333"/>
            </a:avLst>
          </a:prstGeom>
          <a:solidFill>
            <a:srgbClr val="191640">
              <a:alpha val="96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6928" y="1627632"/>
            <a:ext cx="64008" cy="585216"/>
          </a:xfrm>
          <a:prstGeom prst="roundRect">
            <a:avLst>
              <a:gd name="adj" fmla="val 42857"/>
            </a:avLst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59536" y="1572768"/>
            <a:ext cx="10472623" cy="6949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DDD9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Python is extremely well represented in training data, so results are usually strong.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66928" y="2615184"/>
            <a:ext cx="3503066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22960" y="2816352"/>
            <a:ext cx="457200" cy="457200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2930652"/>
            <a:ext cx="228600" cy="22860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499616" y="2816352"/>
            <a:ext cx="229605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Data work</a:t>
            </a:r>
            <a:endParaRPr lang="en-US" sz="1450" dirty="0"/>
          </a:p>
        </p:txBody>
      </p:sp>
      <p:sp>
        <p:nvSpPr>
          <p:cNvPr id="13" name="Text 10"/>
          <p:cNvSpPr txBox="1"/>
          <p:nvPr/>
        </p:nvSpPr>
        <p:spPr>
          <a:xfrm>
            <a:off x="841248" y="3419856"/>
            <a:ext cx="2954426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Loading, cleaning and analysing data with common libraries.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344314" y="2615184"/>
            <a:ext cx="3503066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600346" y="2816352"/>
            <a:ext cx="457200" cy="457200"/>
          </a:xfrm>
          <a:prstGeom prst="ellipse">
            <a:avLst/>
          </a:prstGeom>
          <a:solidFill>
            <a:srgbClr val="22D3EE">
              <a:alpha val="16000"/>
            </a:srgbClr>
          </a:solidFill>
          <a:ln w="12700">
            <a:solidFill>
              <a:srgbClr val="22D3EE">
                <a:alpha val="45000"/>
              </a:srgbClr>
            </a:solidFill>
            <a:prstDash val="solid"/>
          </a:ln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4646" y="2930652"/>
            <a:ext cx="228600" cy="22860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5277002" y="2816352"/>
            <a:ext cx="229605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Automation scripts</a:t>
            </a:r>
            <a:endParaRPr lang="en-US" sz="1450" dirty="0"/>
          </a:p>
        </p:txBody>
      </p:sp>
      <p:sp>
        <p:nvSpPr>
          <p:cNvPr id="18" name="Text 14"/>
          <p:cNvSpPr txBox="1"/>
          <p:nvPr/>
        </p:nvSpPr>
        <p:spPr>
          <a:xfrm>
            <a:off x="4618634" y="3419856"/>
            <a:ext cx="2954426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File renaming, report generation and small repetitive tasks.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8121701" y="2615184"/>
            <a:ext cx="3503066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8377733" y="2816352"/>
            <a:ext cx="457200" cy="457200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2033" y="2930652"/>
            <a:ext cx="228600" cy="22860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9054389" y="2816352"/>
            <a:ext cx="229605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Working with APIs</a:t>
            </a:r>
            <a:endParaRPr lang="en-US" sz="1450" dirty="0"/>
          </a:p>
        </p:txBody>
      </p:sp>
      <p:sp>
        <p:nvSpPr>
          <p:cNvPr id="23" name="Text 18"/>
          <p:cNvSpPr txBox="1"/>
          <p:nvPr/>
        </p:nvSpPr>
        <p:spPr>
          <a:xfrm>
            <a:off x="8396021" y="3419856"/>
            <a:ext cx="2954426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Draft a script that calls an API and handles the response.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566928" y="4530149"/>
            <a:ext cx="3503066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822960" y="4731317"/>
            <a:ext cx="457200" cy="457200"/>
          </a:xfrm>
          <a:prstGeom prst="ellipse">
            <a:avLst/>
          </a:prstGeom>
          <a:solidFill>
            <a:srgbClr val="34D399">
              <a:alpha val="16000"/>
            </a:srgbClr>
          </a:solidFill>
          <a:ln w="12700">
            <a:solidFill>
              <a:srgbClr val="34D399">
                <a:alpha val="45000"/>
              </a:srgbClr>
            </a:solidFill>
            <a:prstDash val="solid"/>
          </a:ln>
        </p:spPr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7260" y="4845617"/>
            <a:ext cx="228600" cy="228600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1499616" y="4731317"/>
            <a:ext cx="229605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Tests</a:t>
            </a:r>
            <a:endParaRPr lang="en-US" sz="1450" dirty="0"/>
          </a:p>
        </p:txBody>
      </p:sp>
      <p:sp>
        <p:nvSpPr>
          <p:cNvPr id="28" name="Text 22"/>
          <p:cNvSpPr txBox="1"/>
          <p:nvPr/>
        </p:nvSpPr>
        <p:spPr>
          <a:xfrm>
            <a:off x="841248" y="5334821"/>
            <a:ext cx="2954426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Generate unit tests, including edge cases you might not think of.</a:t>
            </a:r>
            <a:endParaRPr lang="en-US" sz="1200" dirty="0"/>
          </a:p>
        </p:txBody>
      </p:sp>
      <p:sp>
        <p:nvSpPr>
          <p:cNvPr id="29" name="Shape 23"/>
          <p:cNvSpPr/>
          <p:nvPr/>
        </p:nvSpPr>
        <p:spPr>
          <a:xfrm>
            <a:off x="4344314" y="4530149"/>
            <a:ext cx="3503066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4600346" y="4731317"/>
            <a:ext cx="457200" cy="457200"/>
          </a:xfrm>
          <a:prstGeom prst="ellipse">
            <a:avLst/>
          </a:prstGeom>
          <a:solidFill>
            <a:srgbClr val="F472B6">
              <a:alpha val="16000"/>
            </a:srgbClr>
          </a:solidFill>
          <a:ln w="12700">
            <a:solidFill>
              <a:srgbClr val="F472B6">
                <a:alpha val="45000"/>
              </a:srgbClr>
            </a:solidFill>
            <a:prstDash val="solid"/>
          </a:ln>
        </p:spPr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14646" y="4845617"/>
            <a:ext cx="228600" cy="228600"/>
          </a:xfrm>
          <a:prstGeom prst="rect">
            <a:avLst/>
          </a:prstGeom>
        </p:spPr>
      </p:pic>
      <p:sp>
        <p:nvSpPr>
          <p:cNvPr id="32" name="Text 25"/>
          <p:cNvSpPr txBox="1"/>
          <p:nvPr/>
        </p:nvSpPr>
        <p:spPr>
          <a:xfrm>
            <a:off x="5277002" y="4731317"/>
            <a:ext cx="229605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Learning support</a:t>
            </a:r>
            <a:endParaRPr lang="en-US" sz="1450" dirty="0"/>
          </a:p>
        </p:txBody>
      </p:sp>
      <p:sp>
        <p:nvSpPr>
          <p:cNvPr id="33" name="Text 26"/>
          <p:cNvSpPr txBox="1"/>
          <p:nvPr/>
        </p:nvSpPr>
        <p:spPr>
          <a:xfrm>
            <a:off x="4618634" y="5334821"/>
            <a:ext cx="2954426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Explaining error tracebacks is one of the most useful things for beginners.</a:t>
            </a:r>
            <a:endParaRPr lang="en-US" sz="1200" dirty="0"/>
          </a:p>
        </p:txBody>
      </p:sp>
      <p:sp>
        <p:nvSpPr>
          <p:cNvPr id="34" name="Shape 27"/>
          <p:cNvSpPr/>
          <p:nvPr/>
        </p:nvSpPr>
        <p:spPr>
          <a:xfrm>
            <a:off x="8121701" y="4530149"/>
            <a:ext cx="3503066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35" name="Shape 28"/>
          <p:cNvSpPr/>
          <p:nvPr/>
        </p:nvSpPr>
        <p:spPr>
          <a:xfrm>
            <a:off x="8377733" y="4731317"/>
            <a:ext cx="457200" cy="457200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36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92033" y="4845617"/>
            <a:ext cx="228600" cy="228600"/>
          </a:xfrm>
          <a:prstGeom prst="rect">
            <a:avLst/>
          </a:prstGeom>
        </p:spPr>
      </p:pic>
      <p:sp>
        <p:nvSpPr>
          <p:cNvPr id="37" name="Text 29"/>
          <p:cNvSpPr txBox="1"/>
          <p:nvPr/>
        </p:nvSpPr>
        <p:spPr>
          <a:xfrm>
            <a:off x="9054389" y="4731317"/>
            <a:ext cx="229605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Check library versions</a:t>
            </a:r>
            <a:endParaRPr lang="en-US" sz="1450" dirty="0"/>
          </a:p>
        </p:txBody>
      </p:sp>
      <p:sp>
        <p:nvSpPr>
          <p:cNvPr id="38" name="Text 30"/>
          <p:cNvSpPr txBox="1"/>
          <p:nvPr/>
        </p:nvSpPr>
        <p:spPr>
          <a:xfrm>
            <a:off x="8396021" y="5334821"/>
            <a:ext cx="2954426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Suggested code may use an outdated function. Confirm against the current documentation.</a:t>
            </a:r>
            <a:endParaRPr lang="en-US" sz="1200" dirty="0"/>
          </a:p>
        </p:txBody>
      </p:sp>
    </p:spTree>
  </p:cSld>
  <p:clrMapOvr>
    <a:masterClrMapping/>
  </p:clrMapOvr>
</p:sld>
</file>

<file path=ppt/slides/slide2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SLIDE 175 · RISKS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Risks of AI-Generated Code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Section 16 · Generative AI for Coding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205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11057839" cy="670560"/>
          </a:xfrm>
          <a:prstGeom prst="roundRect">
            <a:avLst>
              <a:gd name="adj" fmla="val 10909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04672" y="1600200"/>
            <a:ext cx="432816" cy="432816"/>
          </a:xfrm>
          <a:prstGeom prst="ellipse">
            <a:avLst/>
          </a:prstGeom>
          <a:solidFill>
            <a:srgbClr val="F472B6">
              <a:alpha val="16000"/>
            </a:srgbClr>
          </a:solidFill>
          <a:ln w="12700">
            <a:solidFill>
              <a:srgbClr val="F472B6">
                <a:alpha val="45000"/>
              </a:srgbClr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2876" y="1708404"/>
            <a:ext cx="216408" cy="216408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475232" y="1591056"/>
            <a:ext cx="9875215" cy="4511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Bugs that look correct</a:t>
            </a:r>
            <a:endParaRPr lang="en-US" sz="13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Code can run without error and still do the wrong thing, especially at the edges.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566928" y="2298192"/>
            <a:ext cx="11057839" cy="670560"/>
          </a:xfrm>
          <a:prstGeom prst="roundRect">
            <a:avLst>
              <a:gd name="adj" fmla="val 10909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804672" y="2417064"/>
            <a:ext cx="432816" cy="432816"/>
          </a:xfrm>
          <a:prstGeom prst="ellipse">
            <a:avLst/>
          </a:prstGeom>
          <a:solidFill>
            <a:srgbClr val="F472B6">
              <a:alpha val="16000"/>
            </a:srgbClr>
          </a:solidFill>
          <a:ln w="12700">
            <a:solidFill>
              <a:srgbClr val="F472B6">
                <a:alpha val="45000"/>
              </a:srgbClr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876" y="2525268"/>
            <a:ext cx="216408" cy="216408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475232" y="2407920"/>
            <a:ext cx="9875215" cy="4511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Security weaknesses</a:t>
            </a:r>
            <a:endParaRPr lang="en-US" sz="13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Generated code may skip input validation or handle secrets unsafely.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566928" y="3115056"/>
            <a:ext cx="11057839" cy="670560"/>
          </a:xfrm>
          <a:prstGeom prst="roundRect">
            <a:avLst>
              <a:gd name="adj" fmla="val 10909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04672" y="3233928"/>
            <a:ext cx="432816" cy="432816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2876" y="3342132"/>
            <a:ext cx="216408" cy="216408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475232" y="3224784"/>
            <a:ext cx="9875215" cy="4511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Wrong assumptions</a:t>
            </a:r>
            <a:endParaRPr lang="en-US" sz="13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model guesses missing details and may assume a structure your project does not have.</a:t>
            </a:r>
            <a:endParaRPr lang="en-US" sz="1350" dirty="0"/>
          </a:p>
        </p:txBody>
      </p:sp>
      <p:sp>
        <p:nvSpPr>
          <p:cNvPr id="18" name="Shape 13"/>
          <p:cNvSpPr/>
          <p:nvPr/>
        </p:nvSpPr>
        <p:spPr>
          <a:xfrm>
            <a:off x="566928" y="3931920"/>
            <a:ext cx="11057839" cy="670560"/>
          </a:xfrm>
          <a:prstGeom prst="roundRect">
            <a:avLst>
              <a:gd name="adj" fmla="val 10909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804672" y="4050792"/>
            <a:ext cx="432816" cy="432816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876" y="4158996"/>
            <a:ext cx="216408" cy="216408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475232" y="4041648"/>
            <a:ext cx="9875215" cy="4511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Outdated information</a:t>
            </a:r>
            <a:endParaRPr lang="en-US" sz="13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It may use functions that are deprecated or removed in the current library version.</a:t>
            </a:r>
            <a:endParaRPr lang="en-US" sz="1350" dirty="0"/>
          </a:p>
        </p:txBody>
      </p:sp>
      <p:sp>
        <p:nvSpPr>
          <p:cNvPr id="22" name="Shape 16"/>
          <p:cNvSpPr/>
          <p:nvPr/>
        </p:nvSpPr>
        <p:spPr>
          <a:xfrm>
            <a:off x="566928" y="4748784"/>
            <a:ext cx="11057839" cy="670560"/>
          </a:xfrm>
          <a:prstGeom prst="roundRect">
            <a:avLst>
              <a:gd name="adj" fmla="val 10909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804672" y="4867656"/>
            <a:ext cx="432816" cy="432816"/>
          </a:xfrm>
          <a:prstGeom prst="ellipse">
            <a:avLst/>
          </a:prstGeom>
          <a:solidFill>
            <a:srgbClr val="22D3EE">
              <a:alpha val="16000"/>
            </a:srgbClr>
          </a:solidFill>
          <a:ln w="12700">
            <a:solidFill>
              <a:srgbClr val="22D3EE">
                <a:alpha val="45000"/>
              </a:srgbClr>
            </a:solidFill>
            <a:prstDash val="solid"/>
          </a:ln>
        </p:spPr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2876" y="4975860"/>
            <a:ext cx="216408" cy="216408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1475232" y="4858512"/>
            <a:ext cx="9875215" cy="4511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Licence and copyright</a:t>
            </a:r>
            <a:endParaRPr lang="en-US" sz="13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Generated code may resemble licensed code. Check your organisation policy on this.</a:t>
            </a:r>
            <a:endParaRPr lang="en-US" sz="1350" dirty="0"/>
          </a:p>
        </p:txBody>
      </p:sp>
      <p:sp>
        <p:nvSpPr>
          <p:cNvPr id="26" name="Shape 19"/>
          <p:cNvSpPr/>
          <p:nvPr/>
        </p:nvSpPr>
        <p:spPr>
          <a:xfrm>
            <a:off x="566928" y="5565648"/>
            <a:ext cx="11057839" cy="670560"/>
          </a:xfrm>
          <a:prstGeom prst="roundRect">
            <a:avLst>
              <a:gd name="adj" fmla="val 10909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7" name="Shape 20"/>
          <p:cNvSpPr/>
          <p:nvPr/>
        </p:nvSpPr>
        <p:spPr>
          <a:xfrm>
            <a:off x="804672" y="5684520"/>
            <a:ext cx="432816" cy="432816"/>
          </a:xfrm>
          <a:prstGeom prst="ellipse">
            <a:avLst/>
          </a:prstGeom>
          <a:solidFill>
            <a:srgbClr val="34D399">
              <a:alpha val="16000"/>
            </a:srgbClr>
          </a:solidFill>
          <a:ln w="12700">
            <a:solidFill>
              <a:srgbClr val="34D399">
                <a:alpha val="45000"/>
              </a:srgbClr>
            </a:solidFill>
            <a:prstDash val="solid"/>
          </a:ln>
        </p:spPr>
      </p:sp>
      <p:pic>
        <p:nvPicPr>
          <p:cNvPr id="28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2876" y="5792724"/>
            <a:ext cx="216408" cy="216408"/>
          </a:xfrm>
          <a:prstGeom prst="rect">
            <a:avLst/>
          </a:prstGeom>
        </p:spPr>
      </p:pic>
      <p:sp>
        <p:nvSpPr>
          <p:cNvPr id="29" name="Text 21"/>
          <p:cNvSpPr txBox="1"/>
          <p:nvPr/>
        </p:nvSpPr>
        <p:spPr>
          <a:xfrm>
            <a:off x="1475232" y="5675376"/>
            <a:ext cx="9875215" cy="4511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Skill erosion</a:t>
            </a:r>
            <a:endParaRPr lang="en-US" sz="13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Over-reliance without understanding weakens your ability to solve problems yourself.</a:t>
            </a:r>
            <a:endParaRPr lang="en-US" sz="1350" dirty="0"/>
          </a:p>
        </p:txBody>
      </p:sp>
    </p:spTree>
  </p:cSld>
  <p:clrMapOvr>
    <a:masterClrMapping/>
  </p:clrMapOvr>
</p:sld>
</file>

<file path=ppt/slides/slide2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SLIDE 176 · CHECKLIST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Best Practices for AI Coding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Section 16 · Generative AI for Coding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206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11057839" cy="670560"/>
          </a:xfrm>
          <a:prstGeom prst="roundRect">
            <a:avLst>
              <a:gd name="adj" fmla="val 10909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04672" y="1600200"/>
            <a:ext cx="432816" cy="432816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2876" y="1708404"/>
            <a:ext cx="216408" cy="216408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475232" y="1591056"/>
            <a:ext cx="9875215" cy="4511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Understand before using</a:t>
            </a:r>
            <a:endParaRPr lang="en-US" sz="13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If you cannot explain every line, do not put it in your project.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566928" y="2298192"/>
            <a:ext cx="11057839" cy="670560"/>
          </a:xfrm>
          <a:prstGeom prst="roundRect">
            <a:avLst>
              <a:gd name="adj" fmla="val 10909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804672" y="2417064"/>
            <a:ext cx="432816" cy="432816"/>
          </a:xfrm>
          <a:prstGeom prst="ellipse">
            <a:avLst/>
          </a:prstGeom>
          <a:solidFill>
            <a:srgbClr val="22D3EE">
              <a:alpha val="16000"/>
            </a:srgbClr>
          </a:solidFill>
          <a:ln w="12700">
            <a:solidFill>
              <a:srgbClr val="22D3EE">
                <a:alpha val="45000"/>
              </a:srgbClr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876" y="2525268"/>
            <a:ext cx="216408" cy="216408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475232" y="2407920"/>
            <a:ext cx="9875215" cy="4511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Test everything</a:t>
            </a:r>
            <a:endParaRPr lang="en-US" sz="13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Run it, test the edge cases, and add automated tests where it matters.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566928" y="3115056"/>
            <a:ext cx="11057839" cy="670560"/>
          </a:xfrm>
          <a:prstGeom prst="roundRect">
            <a:avLst>
              <a:gd name="adj" fmla="val 10909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04672" y="3233928"/>
            <a:ext cx="432816" cy="432816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2876" y="3342132"/>
            <a:ext cx="216408" cy="216408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475232" y="3224784"/>
            <a:ext cx="9875215" cy="4511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Give full context</a:t>
            </a:r>
            <a:endParaRPr lang="en-US" sz="13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Language version, libraries, constraints and the surrounding code.</a:t>
            </a:r>
            <a:endParaRPr lang="en-US" sz="1350" dirty="0"/>
          </a:p>
        </p:txBody>
      </p:sp>
      <p:sp>
        <p:nvSpPr>
          <p:cNvPr id="18" name="Shape 13"/>
          <p:cNvSpPr/>
          <p:nvPr/>
        </p:nvSpPr>
        <p:spPr>
          <a:xfrm>
            <a:off x="566928" y="3931920"/>
            <a:ext cx="11057839" cy="670560"/>
          </a:xfrm>
          <a:prstGeom prst="roundRect">
            <a:avLst>
              <a:gd name="adj" fmla="val 10909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804672" y="4050792"/>
            <a:ext cx="432816" cy="432816"/>
          </a:xfrm>
          <a:prstGeom prst="ellipse">
            <a:avLst/>
          </a:prstGeom>
          <a:solidFill>
            <a:srgbClr val="34D399">
              <a:alpha val="16000"/>
            </a:srgbClr>
          </a:solidFill>
          <a:ln w="12700">
            <a:solidFill>
              <a:srgbClr val="34D399">
                <a:alpha val="45000"/>
              </a:srgbClr>
            </a:solidFill>
            <a:prstDash val="solid"/>
          </a:ln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876" y="4158996"/>
            <a:ext cx="216408" cy="216408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475232" y="4041648"/>
            <a:ext cx="9875215" cy="4511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Work in small pieces</a:t>
            </a:r>
            <a:endParaRPr lang="en-US" sz="13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One function at a time beats asking for an entire application.</a:t>
            </a:r>
            <a:endParaRPr lang="en-US" sz="1350" dirty="0"/>
          </a:p>
        </p:txBody>
      </p:sp>
      <p:sp>
        <p:nvSpPr>
          <p:cNvPr id="22" name="Shape 16"/>
          <p:cNvSpPr/>
          <p:nvPr/>
        </p:nvSpPr>
        <p:spPr>
          <a:xfrm>
            <a:off x="566928" y="4748784"/>
            <a:ext cx="11057839" cy="670560"/>
          </a:xfrm>
          <a:prstGeom prst="roundRect">
            <a:avLst>
              <a:gd name="adj" fmla="val 10909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804672" y="4867656"/>
            <a:ext cx="432816" cy="432816"/>
          </a:xfrm>
          <a:prstGeom prst="ellipse">
            <a:avLst/>
          </a:prstGeom>
          <a:solidFill>
            <a:srgbClr val="F472B6">
              <a:alpha val="16000"/>
            </a:srgbClr>
          </a:solidFill>
          <a:ln w="12700">
            <a:solidFill>
              <a:srgbClr val="F472B6">
                <a:alpha val="45000"/>
              </a:srgbClr>
            </a:solidFill>
            <a:prstDash val="solid"/>
          </a:ln>
        </p:spPr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2876" y="4975860"/>
            <a:ext cx="216408" cy="216408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1475232" y="4858512"/>
            <a:ext cx="9875215" cy="4511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Never paste secrets</a:t>
            </a:r>
            <a:endParaRPr lang="en-US" sz="13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Keys, passwords and customer data must not go into a prompt.</a:t>
            </a:r>
            <a:endParaRPr lang="en-US" sz="1350" dirty="0"/>
          </a:p>
        </p:txBody>
      </p:sp>
      <p:sp>
        <p:nvSpPr>
          <p:cNvPr id="26" name="Shape 19"/>
          <p:cNvSpPr/>
          <p:nvPr/>
        </p:nvSpPr>
        <p:spPr>
          <a:xfrm>
            <a:off x="566928" y="5565648"/>
            <a:ext cx="11057839" cy="670560"/>
          </a:xfrm>
          <a:prstGeom prst="roundRect">
            <a:avLst>
              <a:gd name="adj" fmla="val 10909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7" name="Shape 20"/>
          <p:cNvSpPr/>
          <p:nvPr/>
        </p:nvSpPr>
        <p:spPr>
          <a:xfrm>
            <a:off x="804672" y="5684520"/>
            <a:ext cx="432816" cy="432816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28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2876" y="5792724"/>
            <a:ext cx="216408" cy="216408"/>
          </a:xfrm>
          <a:prstGeom prst="rect">
            <a:avLst/>
          </a:prstGeom>
        </p:spPr>
      </p:pic>
      <p:sp>
        <p:nvSpPr>
          <p:cNvPr id="29" name="Text 21"/>
          <p:cNvSpPr txBox="1"/>
          <p:nvPr/>
        </p:nvSpPr>
        <p:spPr>
          <a:xfrm>
            <a:off x="1475232" y="5675376"/>
            <a:ext cx="9875215" cy="4511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Human code review stays</a:t>
            </a:r>
            <a:endParaRPr lang="en-US" sz="13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 assistance does not remove the need for a colleague to review the change.</a:t>
            </a:r>
            <a:endParaRPr lang="en-US" sz="1350" dirty="0"/>
          </a:p>
        </p:txBody>
      </p:sp>
    </p:spTree>
  </p:cSld>
  <p:clrMapOvr>
    <a:masterClrMapping/>
  </p:clrMapOvr>
</p:sld>
</file>

<file path=ppt/slides/slide2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BBF2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QUIZ 16 · SLIDES 166–176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Quiz 16 — Generative AI for Coding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Section 16 · Generative AI for Coding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207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11057839" cy="848563"/>
          </a:xfrm>
          <a:prstGeom prst="roundRect">
            <a:avLst>
              <a:gd name="adj" fmla="val 8621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68096" y="1627632"/>
            <a:ext cx="310896" cy="310896"/>
          </a:xfrm>
          <a:prstGeom prst="ellipse">
            <a:avLst/>
          </a:prstGeom>
          <a:solidFill>
            <a:srgbClr val="FBBF24">
              <a:alpha val="22000"/>
            </a:srgbClr>
          </a:solidFill>
          <a:ln w="12700">
            <a:solidFill>
              <a:srgbClr val="FBBF24">
                <a:alpha val="5000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68096" y="1627632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BBF2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Q1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188720" y="1600200"/>
            <a:ext cx="8726119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Before using AI-generated code you should: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10207447" y="1618488"/>
            <a:ext cx="1371600" cy="347472"/>
          </a:xfrm>
          <a:prstGeom prst="roundRect">
            <a:avLst>
              <a:gd name="adj" fmla="val 15789"/>
            </a:avLst>
          </a:prstGeom>
          <a:solidFill>
            <a:srgbClr val="A78BFA">
              <a:alpha val="20000"/>
            </a:srgbClr>
          </a:solidFill>
          <a:ln w="12700">
            <a:solidFill>
              <a:srgbClr val="A78BFA">
                <a:alpha val="60000"/>
              </a:srgbClr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207447" y="1618488"/>
            <a:ext cx="13716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Answer: D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1115568" y="2011680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A. </a:t>
            </a:r>
            <a:r>
              <a:rPr lang="en-US" sz="11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Deploy it at once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3674288" y="2011680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B. </a:t>
            </a:r>
            <a:r>
              <a:rPr lang="en-US" sz="11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Delete the tests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6233008" y="2011680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C. </a:t>
            </a:r>
            <a:r>
              <a:rPr lang="en-US" sz="11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Hide it from review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8791727" y="2011680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D. </a:t>
            </a: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Understand and test it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66928" y="2457907"/>
            <a:ext cx="11057839" cy="848563"/>
          </a:xfrm>
          <a:prstGeom prst="roundRect">
            <a:avLst>
              <a:gd name="adj" fmla="val 8621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68096" y="2604211"/>
            <a:ext cx="310896" cy="310896"/>
          </a:xfrm>
          <a:prstGeom prst="ellipse">
            <a:avLst/>
          </a:prstGeom>
          <a:solidFill>
            <a:srgbClr val="FBBF24">
              <a:alpha val="22000"/>
            </a:srgbClr>
          </a:solidFill>
          <a:ln w="12700">
            <a:solidFill>
              <a:srgbClr val="FBBF24">
                <a:alpha val="50000"/>
              </a:srgbClr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68096" y="2604211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BBF2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Q2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1188720" y="2576779"/>
            <a:ext cx="8726119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For SQL help you should always give: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10207447" y="2595067"/>
            <a:ext cx="1371600" cy="347472"/>
          </a:xfrm>
          <a:prstGeom prst="roundRect">
            <a:avLst>
              <a:gd name="adj" fmla="val 15789"/>
            </a:avLst>
          </a:prstGeom>
          <a:solidFill>
            <a:srgbClr val="A78BFA">
              <a:alpha val="20000"/>
            </a:srgbClr>
          </a:solidFill>
          <a:ln w="12700">
            <a:solidFill>
              <a:srgbClr val="A78BFA">
                <a:alpha val="60000"/>
              </a:srgbClr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0207447" y="2595067"/>
            <a:ext cx="13716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Answer: A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1115568" y="2988259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A. </a:t>
            </a: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table schema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3674288" y="2988259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B. </a:t>
            </a:r>
            <a:r>
              <a:rPr lang="en-US" sz="11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Your admin password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6233008" y="2988259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C. </a:t>
            </a:r>
            <a:r>
              <a:rPr lang="en-US" sz="11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server IP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8791727" y="2988259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D. </a:t>
            </a:r>
            <a:r>
              <a:rPr lang="en-US" sz="11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office address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66928" y="3434486"/>
            <a:ext cx="11057839" cy="848563"/>
          </a:xfrm>
          <a:prstGeom prst="roundRect">
            <a:avLst>
              <a:gd name="adj" fmla="val 8621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768096" y="3580790"/>
            <a:ext cx="310896" cy="310896"/>
          </a:xfrm>
          <a:prstGeom prst="ellipse">
            <a:avLst/>
          </a:prstGeom>
          <a:solidFill>
            <a:srgbClr val="FBBF24">
              <a:alpha val="22000"/>
            </a:srgbClr>
          </a:solidFill>
          <a:ln w="12700">
            <a:solidFill>
              <a:srgbClr val="FBBF24">
                <a:alpha val="50000"/>
              </a:srgbClr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68096" y="3580790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BBF2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Q3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1188720" y="3553358"/>
            <a:ext cx="8726119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 major risk of generated code is: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10207447" y="3571646"/>
            <a:ext cx="1371600" cy="347472"/>
          </a:xfrm>
          <a:prstGeom prst="roundRect">
            <a:avLst>
              <a:gd name="adj" fmla="val 15789"/>
            </a:avLst>
          </a:prstGeom>
          <a:solidFill>
            <a:srgbClr val="A78BFA">
              <a:alpha val="20000"/>
            </a:srgbClr>
          </a:solidFill>
          <a:ln w="12700">
            <a:solidFill>
              <a:srgbClr val="A78BFA">
                <a:alpha val="60000"/>
              </a:srgbClr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10207447" y="3571646"/>
            <a:ext cx="13716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Answer: B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1115568" y="3964838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A. </a:t>
            </a:r>
            <a:r>
              <a:rPr lang="en-US" sz="11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Smaller file size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3674288" y="3964838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B. </a:t>
            </a: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Security weaknesses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6233008" y="3964838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C. </a:t>
            </a:r>
            <a:r>
              <a:rPr lang="en-US" sz="11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Faster typing</a:t>
            </a:r>
            <a:endParaRPr lang="en-US" sz="1050" dirty="0"/>
          </a:p>
        </p:txBody>
      </p:sp>
      <p:sp>
        <p:nvSpPr>
          <p:cNvPr id="35" name="Text 33"/>
          <p:cNvSpPr txBox="1"/>
          <p:nvPr/>
        </p:nvSpPr>
        <p:spPr>
          <a:xfrm>
            <a:off x="8791727" y="3964838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D. </a:t>
            </a:r>
            <a:r>
              <a:rPr lang="en-US" sz="11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Better colours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66928" y="4411066"/>
            <a:ext cx="11057839" cy="848563"/>
          </a:xfrm>
          <a:prstGeom prst="roundRect">
            <a:avLst>
              <a:gd name="adj" fmla="val 8621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768096" y="4557370"/>
            <a:ext cx="310896" cy="310896"/>
          </a:xfrm>
          <a:prstGeom prst="ellipse">
            <a:avLst/>
          </a:prstGeom>
          <a:solidFill>
            <a:srgbClr val="FBBF24">
              <a:alpha val="22000"/>
            </a:srgbClr>
          </a:solidFill>
          <a:ln w="12700">
            <a:solidFill>
              <a:srgbClr val="FBBF24">
                <a:alpha val="50000"/>
              </a:srgbClr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768096" y="4557370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BBF2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Q4</a:t>
            </a:r>
            <a:endParaRPr lang="en-US" sz="900" dirty="0"/>
          </a:p>
        </p:txBody>
      </p:sp>
      <p:sp>
        <p:nvSpPr>
          <p:cNvPr id="39" name="Text 37"/>
          <p:cNvSpPr txBox="1"/>
          <p:nvPr/>
        </p:nvSpPr>
        <p:spPr>
          <a:xfrm>
            <a:off x="1188720" y="4529938"/>
            <a:ext cx="8726119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Explaining existing code works well because:</a:t>
            </a:r>
            <a:endParaRPr lang="en-US" sz="1250" dirty="0"/>
          </a:p>
        </p:txBody>
      </p:sp>
      <p:sp>
        <p:nvSpPr>
          <p:cNvPr id="40" name="Shape 38"/>
          <p:cNvSpPr/>
          <p:nvPr/>
        </p:nvSpPr>
        <p:spPr>
          <a:xfrm>
            <a:off x="10207447" y="4548226"/>
            <a:ext cx="1371600" cy="347472"/>
          </a:xfrm>
          <a:prstGeom prst="roundRect">
            <a:avLst>
              <a:gd name="adj" fmla="val 15789"/>
            </a:avLst>
          </a:prstGeom>
          <a:solidFill>
            <a:srgbClr val="A78BFA">
              <a:alpha val="20000"/>
            </a:srgbClr>
          </a:solidFill>
          <a:ln w="12700">
            <a:solidFill>
              <a:srgbClr val="A78BFA">
                <a:alpha val="60000"/>
              </a:srgbClr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10207447" y="4548226"/>
            <a:ext cx="13716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Answer: C</a:t>
            </a:r>
            <a:endParaRPr lang="en-US" sz="1050" dirty="0"/>
          </a:p>
        </p:txBody>
      </p:sp>
      <p:sp>
        <p:nvSpPr>
          <p:cNvPr id="42" name="Text 40"/>
          <p:cNvSpPr txBox="1"/>
          <p:nvPr/>
        </p:nvSpPr>
        <p:spPr>
          <a:xfrm>
            <a:off x="1115568" y="4941418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A. </a:t>
            </a:r>
            <a:r>
              <a:rPr lang="en-US" sz="11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model has seen your project</a:t>
            </a:r>
            <a:endParaRPr lang="en-US" sz="1050" dirty="0"/>
          </a:p>
        </p:txBody>
      </p:sp>
      <p:sp>
        <p:nvSpPr>
          <p:cNvPr id="43" name="Text 41"/>
          <p:cNvSpPr txBox="1"/>
          <p:nvPr/>
        </p:nvSpPr>
        <p:spPr>
          <a:xfrm>
            <a:off x="3674288" y="4941418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B. </a:t>
            </a:r>
            <a:r>
              <a:rPr lang="en-US" sz="11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It needs no context</a:t>
            </a:r>
            <a:endParaRPr lang="en-US" sz="1050" dirty="0"/>
          </a:p>
        </p:txBody>
      </p:sp>
      <p:sp>
        <p:nvSpPr>
          <p:cNvPr id="44" name="Text 42"/>
          <p:cNvSpPr txBox="1"/>
          <p:nvPr/>
        </p:nvSpPr>
        <p:spPr>
          <a:xfrm>
            <a:off x="6233008" y="4941418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C. </a:t>
            </a: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code is given to the model</a:t>
            </a:r>
            <a:endParaRPr lang="en-US" sz="1050" dirty="0"/>
          </a:p>
        </p:txBody>
      </p:sp>
      <p:sp>
        <p:nvSpPr>
          <p:cNvPr id="45" name="Text 43"/>
          <p:cNvSpPr txBox="1"/>
          <p:nvPr/>
        </p:nvSpPr>
        <p:spPr>
          <a:xfrm>
            <a:off x="8791727" y="4941418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D. </a:t>
            </a:r>
            <a:r>
              <a:rPr lang="en-US" sz="11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It runs the code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566928" y="5387645"/>
            <a:ext cx="11057839" cy="848563"/>
          </a:xfrm>
          <a:prstGeom prst="roundRect">
            <a:avLst>
              <a:gd name="adj" fmla="val 8621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768096" y="5533949"/>
            <a:ext cx="310896" cy="310896"/>
          </a:xfrm>
          <a:prstGeom prst="ellipse">
            <a:avLst/>
          </a:prstGeom>
          <a:solidFill>
            <a:srgbClr val="FBBF24">
              <a:alpha val="22000"/>
            </a:srgbClr>
          </a:solidFill>
          <a:ln w="12700">
            <a:solidFill>
              <a:srgbClr val="FBBF24">
                <a:alpha val="50000"/>
              </a:srgbClr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768096" y="5533949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BBF2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Q5</a:t>
            </a:r>
            <a:endParaRPr lang="en-US" sz="900" dirty="0"/>
          </a:p>
        </p:txBody>
      </p:sp>
      <p:sp>
        <p:nvSpPr>
          <p:cNvPr id="49" name="Text 47"/>
          <p:cNvSpPr txBox="1"/>
          <p:nvPr/>
        </p:nvSpPr>
        <p:spPr>
          <a:xfrm>
            <a:off x="1188720" y="5506517"/>
            <a:ext cx="8726119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 healthy way for beginners to learn with AI is to:</a:t>
            </a:r>
            <a:endParaRPr lang="en-US" sz="1250" dirty="0"/>
          </a:p>
        </p:txBody>
      </p:sp>
      <p:sp>
        <p:nvSpPr>
          <p:cNvPr id="50" name="Shape 48"/>
          <p:cNvSpPr/>
          <p:nvPr/>
        </p:nvSpPr>
        <p:spPr>
          <a:xfrm>
            <a:off x="10207447" y="5524805"/>
            <a:ext cx="1371600" cy="347472"/>
          </a:xfrm>
          <a:prstGeom prst="roundRect">
            <a:avLst>
              <a:gd name="adj" fmla="val 15789"/>
            </a:avLst>
          </a:prstGeom>
          <a:solidFill>
            <a:srgbClr val="A78BFA">
              <a:alpha val="20000"/>
            </a:srgbClr>
          </a:solidFill>
          <a:ln w="12700">
            <a:solidFill>
              <a:srgbClr val="A78BFA">
                <a:alpha val="60000"/>
              </a:srgbClr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10207447" y="5524805"/>
            <a:ext cx="13716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Answer: D</a:t>
            </a:r>
            <a:endParaRPr lang="en-US" sz="1050" dirty="0"/>
          </a:p>
        </p:txBody>
      </p:sp>
      <p:sp>
        <p:nvSpPr>
          <p:cNvPr id="52" name="Text 50"/>
          <p:cNvSpPr txBox="1"/>
          <p:nvPr/>
        </p:nvSpPr>
        <p:spPr>
          <a:xfrm>
            <a:off x="1115568" y="5917997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A. </a:t>
            </a:r>
            <a:r>
              <a:rPr lang="en-US" sz="11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Copy without reading</a:t>
            </a:r>
            <a:endParaRPr lang="en-US" sz="1050" dirty="0"/>
          </a:p>
        </p:txBody>
      </p:sp>
      <p:sp>
        <p:nvSpPr>
          <p:cNvPr id="53" name="Text 51"/>
          <p:cNvSpPr txBox="1"/>
          <p:nvPr/>
        </p:nvSpPr>
        <p:spPr>
          <a:xfrm>
            <a:off x="3674288" y="5917997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B. </a:t>
            </a:r>
            <a:r>
              <a:rPr lang="en-US" sz="11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Skip all practice</a:t>
            </a:r>
            <a:endParaRPr lang="en-US" sz="1050" dirty="0"/>
          </a:p>
        </p:txBody>
      </p:sp>
      <p:sp>
        <p:nvSpPr>
          <p:cNvPr id="54" name="Text 52"/>
          <p:cNvSpPr txBox="1"/>
          <p:nvPr/>
        </p:nvSpPr>
        <p:spPr>
          <a:xfrm>
            <a:off x="6233008" y="5917997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C. </a:t>
            </a:r>
            <a:r>
              <a:rPr lang="en-US" sz="11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Avoid errors entirely</a:t>
            </a:r>
            <a:endParaRPr lang="en-US" sz="1050" dirty="0"/>
          </a:p>
        </p:txBody>
      </p:sp>
      <p:sp>
        <p:nvSpPr>
          <p:cNvPr id="55" name="Text 53"/>
          <p:cNvSpPr txBox="1"/>
          <p:nvPr/>
        </p:nvSpPr>
        <p:spPr>
          <a:xfrm>
            <a:off x="8791727" y="5917997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D. </a:t>
            </a: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Attempt first, then compare</a:t>
            </a:r>
            <a:endParaRPr lang="en-US" sz="1050" dirty="0"/>
          </a:p>
        </p:txBody>
      </p:sp>
    </p:spTree>
  </p:cSld>
  <p:clrMapOvr>
    <a:masterClrMapping/>
  </p:clrMapOvr>
</p:sld>
</file>

<file path=ppt/slides/slide2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49808" y="1874520"/>
            <a:ext cx="58521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SECTION 17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49808" y="2240280"/>
            <a:ext cx="6035040" cy="1554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Generative AI for Business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749808" y="3886200"/>
            <a:ext cx="5852160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Where organisations are actually getting value — department by department.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49808" y="4846320"/>
            <a:ext cx="1463040" cy="64008"/>
          </a:xfrm>
          <a:prstGeom prst="roundRect">
            <a:avLst>
              <a:gd name="adj" fmla="val 42857"/>
            </a:avLst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32320" y="1143000"/>
            <a:ext cx="4492447" cy="797357"/>
          </a:xfrm>
          <a:prstGeom prst="roundRect">
            <a:avLst>
              <a:gd name="adj" fmla="val 9174"/>
            </a:avLst>
          </a:prstGeom>
          <a:solidFill>
            <a:srgbClr val="191640"/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51776" y="1313078"/>
            <a:ext cx="457200" cy="457200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66076" y="1427378"/>
            <a:ext cx="228600" cy="22860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8010144" y="1143000"/>
            <a:ext cx="3303727" cy="79735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Marketing &amp; Sales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7132320" y="2086661"/>
            <a:ext cx="4492447" cy="797357"/>
          </a:xfrm>
          <a:prstGeom prst="roundRect">
            <a:avLst>
              <a:gd name="adj" fmla="val 9174"/>
            </a:avLst>
          </a:prstGeom>
          <a:solidFill>
            <a:srgbClr val="191640"/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7351776" y="2256739"/>
            <a:ext cx="457200" cy="457200"/>
          </a:xfrm>
          <a:prstGeom prst="ellipse">
            <a:avLst/>
          </a:prstGeom>
          <a:solidFill>
            <a:srgbClr val="22D3EE">
              <a:alpha val="16000"/>
            </a:srgbClr>
          </a:solidFill>
          <a:ln w="12700">
            <a:solidFill>
              <a:srgbClr val="22D3EE">
                <a:alpha val="45000"/>
              </a:srgbClr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6076" y="2371039"/>
            <a:ext cx="228600" cy="22860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8010144" y="2086661"/>
            <a:ext cx="3303727" cy="79735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Customer Support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7132320" y="3030322"/>
            <a:ext cx="4492447" cy="797357"/>
          </a:xfrm>
          <a:prstGeom prst="roundRect">
            <a:avLst>
              <a:gd name="adj" fmla="val 9174"/>
            </a:avLst>
          </a:prstGeom>
          <a:solidFill>
            <a:srgbClr val="191640"/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351776" y="3200400"/>
            <a:ext cx="457200" cy="457200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6076" y="3314700"/>
            <a:ext cx="228600" cy="22860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010144" y="3030322"/>
            <a:ext cx="3303727" cy="79735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HR &amp; Finance</a:t>
            </a:r>
            <a:endParaRPr lang="en-US" sz="1350" dirty="0"/>
          </a:p>
        </p:txBody>
      </p:sp>
      <p:sp>
        <p:nvSpPr>
          <p:cNvPr id="18" name="Shape 13"/>
          <p:cNvSpPr/>
          <p:nvPr/>
        </p:nvSpPr>
        <p:spPr>
          <a:xfrm>
            <a:off x="7132320" y="3973982"/>
            <a:ext cx="4492447" cy="797357"/>
          </a:xfrm>
          <a:prstGeom prst="roundRect">
            <a:avLst>
              <a:gd name="adj" fmla="val 9174"/>
            </a:avLst>
          </a:prstGeom>
          <a:solidFill>
            <a:srgbClr val="191640"/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7351776" y="4144061"/>
            <a:ext cx="457200" cy="457200"/>
          </a:xfrm>
          <a:prstGeom prst="ellipse">
            <a:avLst/>
          </a:prstGeom>
          <a:solidFill>
            <a:srgbClr val="34D399">
              <a:alpha val="16000"/>
            </a:srgbClr>
          </a:solidFill>
          <a:ln w="12700">
            <a:solidFill>
              <a:srgbClr val="34D399">
                <a:alpha val="45000"/>
              </a:srgbClr>
            </a:solidFill>
            <a:prstDash val="solid"/>
          </a:ln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66076" y="4258361"/>
            <a:ext cx="228600" cy="22860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8010144" y="3973982"/>
            <a:ext cx="3303727" cy="79735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Healthcare &amp; Education</a:t>
            </a:r>
            <a:endParaRPr lang="en-US" sz="1350" dirty="0"/>
          </a:p>
        </p:txBody>
      </p:sp>
      <p:sp>
        <p:nvSpPr>
          <p:cNvPr id="22" name="Shape 16"/>
          <p:cNvSpPr/>
          <p:nvPr/>
        </p:nvSpPr>
        <p:spPr>
          <a:xfrm>
            <a:off x="7132320" y="4917643"/>
            <a:ext cx="4492447" cy="797357"/>
          </a:xfrm>
          <a:prstGeom prst="roundRect">
            <a:avLst>
              <a:gd name="adj" fmla="val 9174"/>
            </a:avLst>
          </a:prstGeom>
          <a:solidFill>
            <a:srgbClr val="191640"/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7351776" y="5087722"/>
            <a:ext cx="457200" cy="457200"/>
          </a:xfrm>
          <a:prstGeom prst="ellipse">
            <a:avLst/>
          </a:prstGeom>
          <a:solidFill>
            <a:srgbClr val="F472B6">
              <a:alpha val="16000"/>
            </a:srgbClr>
          </a:solidFill>
          <a:ln w="12700">
            <a:solidFill>
              <a:srgbClr val="F472B6">
                <a:alpha val="45000"/>
              </a:srgbClr>
            </a:solidFill>
            <a:prstDash val="solid"/>
          </a:ln>
        </p:spPr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66076" y="5202022"/>
            <a:ext cx="228600" cy="228600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8010144" y="4917643"/>
            <a:ext cx="3303727" cy="79735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Enterprise Automation</a:t>
            </a:r>
            <a:endParaRPr lang="en-US" sz="1350" dirty="0"/>
          </a:p>
        </p:txBody>
      </p:sp>
      <p:sp>
        <p:nvSpPr>
          <p:cNvPr id="26" name="Text 19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Section 17 · Generative AI for Business</a:t>
            </a:r>
            <a:endParaRPr lang="en-US" sz="950" dirty="0"/>
          </a:p>
        </p:txBody>
      </p:sp>
      <p:sp>
        <p:nvSpPr>
          <p:cNvPr id="27" name="Text 20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208</a:t>
            </a:r>
            <a:endParaRPr lang="en-US" sz="950" dirty="0"/>
          </a:p>
        </p:txBody>
      </p:sp>
    </p:spTree>
  </p:cSld>
  <p:clrMapOvr>
    <a:masterClrMapping/>
  </p:clrMapOvr>
</p:sld>
</file>

<file path=ppt/slides/slide2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SLIDE 177 · OVERVIEW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Gen AI in Business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Section 17 · Generative AI for Business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209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11057839" cy="877824"/>
          </a:xfrm>
          <a:prstGeom prst="roundRect">
            <a:avLst>
              <a:gd name="adj" fmla="val 8333"/>
            </a:avLst>
          </a:prstGeom>
          <a:solidFill>
            <a:srgbClr val="191640">
              <a:alpha val="96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6928" y="1627632"/>
            <a:ext cx="64008" cy="585216"/>
          </a:xfrm>
          <a:prstGeom prst="roundRect">
            <a:avLst>
              <a:gd name="adj" fmla="val 42857"/>
            </a:avLst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59536" y="1572768"/>
            <a:ext cx="10472623" cy="6949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DDD9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Most business value comes from saving time on routine knowledge work, not from replacing people.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66928" y="2615184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22960" y="2816352"/>
            <a:ext cx="457200" cy="457200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2930652"/>
            <a:ext cx="228600" cy="22860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499616" y="2816352"/>
            <a:ext cx="41847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Where The Value Is</a:t>
            </a:r>
            <a:endParaRPr lang="en-US" sz="1450" dirty="0"/>
          </a:p>
        </p:txBody>
      </p:sp>
      <p:sp>
        <p:nvSpPr>
          <p:cNvPr id="13" name="Text 10"/>
          <p:cNvSpPr txBox="1"/>
          <p:nvPr/>
        </p:nvSpPr>
        <p:spPr>
          <a:xfrm>
            <a:off x="841248" y="3419856"/>
            <a:ext cx="484312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200"/>
              </a:spcAft>
              <a:buSzPct val="100000"/>
              <a:buChar char="▪"/>
            </a:pPr>
            <a:r>
              <a:rPr lang="en-US" sz="9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Drafting documents</a:t>
            </a:r>
            <a:endParaRPr lang="en-US" sz="900" dirty="0"/>
          </a:p>
          <a:p>
            <a:pPr marL="342900" indent="-342900">
              <a:lnSpc>
                <a:spcPct val="110000"/>
              </a:lnSpc>
              <a:spcAft>
                <a:spcPts val="200"/>
              </a:spcAft>
              <a:buSzPct val="100000"/>
              <a:buChar char="▪"/>
            </a:pPr>
            <a:r>
              <a:rPr lang="en-US" sz="9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Summarising information</a:t>
            </a:r>
            <a:endParaRPr lang="en-US" sz="900" dirty="0"/>
          </a:p>
          <a:p>
            <a:pPr marL="342900" indent="-342900">
              <a:lnSpc>
                <a:spcPct val="110000"/>
              </a:lnSpc>
              <a:spcAft>
                <a:spcPts val="200"/>
              </a:spcAft>
              <a:buSzPct val="100000"/>
              <a:buChar char="▪"/>
            </a:pPr>
            <a:r>
              <a:rPr lang="en-US" sz="9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Answering routine questions</a:t>
            </a:r>
            <a:endParaRPr lang="en-US" sz="900" dirty="0"/>
          </a:p>
          <a:p>
            <a:pPr marL="342900" indent="-342900">
              <a:lnSpc>
                <a:spcPct val="110000"/>
              </a:lnSpc>
              <a:spcAft>
                <a:spcPts val="200"/>
              </a:spcAft>
              <a:buSzPct val="100000"/>
              <a:buChar char="▪"/>
            </a:pPr>
            <a:r>
              <a:rPr lang="en-US" sz="9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Turning messy input into structure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6233008" y="2615184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489040" y="2816352"/>
            <a:ext cx="457200" cy="457200"/>
          </a:xfrm>
          <a:prstGeom prst="ellipse">
            <a:avLst/>
          </a:prstGeom>
          <a:solidFill>
            <a:srgbClr val="22D3EE">
              <a:alpha val="16000"/>
            </a:srgbClr>
          </a:solidFill>
          <a:ln w="12700">
            <a:solidFill>
              <a:srgbClr val="22D3EE">
                <a:alpha val="45000"/>
              </a:srgbClr>
            </a:solidFill>
            <a:prstDash val="solid"/>
          </a:ln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3340" y="2930652"/>
            <a:ext cx="228600" cy="22860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7165696" y="2816352"/>
            <a:ext cx="41847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The Realistic Pattern</a:t>
            </a:r>
            <a:endParaRPr lang="en-US" sz="1450" dirty="0"/>
          </a:p>
        </p:txBody>
      </p:sp>
      <p:sp>
        <p:nvSpPr>
          <p:cNvPr id="18" name="Text 14"/>
          <p:cNvSpPr txBox="1"/>
          <p:nvPr/>
        </p:nvSpPr>
        <p:spPr>
          <a:xfrm>
            <a:off x="6507328" y="3419856"/>
            <a:ext cx="484312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 produces the draft, a person reviews and decides. That combination is faster than either alone.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566928" y="4530149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822960" y="4731317"/>
            <a:ext cx="457200" cy="457200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260" y="4845617"/>
            <a:ext cx="228600" cy="22860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499616" y="4731317"/>
            <a:ext cx="41847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Where Projects Fail</a:t>
            </a:r>
            <a:endParaRPr lang="en-US" sz="1450" dirty="0"/>
          </a:p>
        </p:txBody>
      </p:sp>
      <p:sp>
        <p:nvSpPr>
          <p:cNvPr id="23" name="Text 18"/>
          <p:cNvSpPr txBox="1"/>
          <p:nvPr/>
        </p:nvSpPr>
        <p:spPr>
          <a:xfrm>
            <a:off x="841248" y="5334821"/>
            <a:ext cx="484312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Unclear goals, poor data, no human review step, and expecting perfect accuracy from a drafting tool.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6233008" y="4530149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6489040" y="4731317"/>
            <a:ext cx="457200" cy="457200"/>
          </a:xfrm>
          <a:prstGeom prst="ellipse">
            <a:avLst/>
          </a:prstGeom>
          <a:solidFill>
            <a:srgbClr val="34D399">
              <a:alpha val="16000"/>
            </a:srgbClr>
          </a:solidFill>
          <a:ln w="12700">
            <a:solidFill>
              <a:srgbClr val="34D399">
                <a:alpha val="45000"/>
              </a:srgbClr>
            </a:solidFill>
            <a:prstDash val="solid"/>
          </a:ln>
        </p:spPr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3340" y="4845617"/>
            <a:ext cx="228600" cy="228600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7165696" y="4731317"/>
            <a:ext cx="41847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How To Start</a:t>
            </a:r>
            <a:endParaRPr lang="en-US" sz="1450" dirty="0"/>
          </a:p>
        </p:txBody>
      </p:sp>
      <p:sp>
        <p:nvSpPr>
          <p:cNvPr id="28" name="Text 22"/>
          <p:cNvSpPr txBox="1"/>
          <p:nvPr/>
        </p:nvSpPr>
        <p:spPr>
          <a:xfrm>
            <a:off x="6507328" y="5334821"/>
            <a:ext cx="484312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Pick one repetitive task with low risk, measure the time saved, then expand.</a:t>
            </a:r>
            <a:endParaRPr lang="en-US" sz="1200" dirty="0"/>
          </a:p>
        </p:txBody>
      </p:sp>
    </p:spTree>
  </p:cSld>
  <p:clrMapOvr>
    <a:masterClrMapping/>
  </p:clrMapOvr>
</p:sld>
</file>

<file path=ppt/slides/slide2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SLIDE 178 · FUNCTION 1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Marketing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Section 17 · Generative AI for Business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210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3503066" cy="2240280"/>
          </a:xfrm>
          <a:prstGeom prst="roundRect">
            <a:avLst>
              <a:gd name="adj" fmla="val 3265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1737360"/>
            <a:ext cx="566928" cy="566928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4692" y="1879092"/>
            <a:ext cx="283464" cy="283464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609344" y="1737360"/>
            <a:ext cx="218633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Content drafting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841248" y="2505456"/>
            <a:ext cx="2954426" cy="10332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Blog outlines, social posts and email campaigns produced quickly for editing.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344314" y="1481328"/>
            <a:ext cx="3503066" cy="2240280"/>
          </a:xfrm>
          <a:prstGeom prst="roundRect">
            <a:avLst>
              <a:gd name="adj" fmla="val 3265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600346" y="1737360"/>
            <a:ext cx="566928" cy="566928"/>
          </a:xfrm>
          <a:prstGeom prst="ellipse">
            <a:avLst/>
          </a:prstGeom>
          <a:solidFill>
            <a:srgbClr val="22D3EE">
              <a:alpha val="16000"/>
            </a:srgbClr>
          </a:solidFill>
          <a:ln w="12700">
            <a:solidFill>
              <a:srgbClr val="22D3EE">
                <a:alpha val="45000"/>
              </a:srgbClr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2078" y="1879092"/>
            <a:ext cx="283464" cy="283464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5386730" y="1737360"/>
            <a:ext cx="218633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Many variations fast</a:t>
            </a:r>
            <a:endParaRPr lang="en-US" sz="1600" dirty="0"/>
          </a:p>
        </p:txBody>
      </p:sp>
      <p:sp>
        <p:nvSpPr>
          <p:cNvPr id="15" name="Text 11"/>
          <p:cNvSpPr txBox="1"/>
          <p:nvPr/>
        </p:nvSpPr>
        <p:spPr>
          <a:xfrm>
            <a:off x="4618634" y="2505456"/>
            <a:ext cx="2954426" cy="10332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Ten headline versions for testing instead of two.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8121701" y="1481328"/>
            <a:ext cx="3503066" cy="2240280"/>
          </a:xfrm>
          <a:prstGeom prst="roundRect">
            <a:avLst>
              <a:gd name="adj" fmla="val 3265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377733" y="1737360"/>
            <a:ext cx="566928" cy="566928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9465" y="1879092"/>
            <a:ext cx="283464" cy="283464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9164117" y="1737360"/>
            <a:ext cx="218633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Audience adaptation</a:t>
            </a:r>
            <a:endParaRPr lang="en-US" sz="1600" dirty="0"/>
          </a:p>
        </p:txBody>
      </p:sp>
      <p:sp>
        <p:nvSpPr>
          <p:cNvPr id="20" name="Text 15"/>
          <p:cNvSpPr txBox="1"/>
          <p:nvPr/>
        </p:nvSpPr>
        <p:spPr>
          <a:xfrm>
            <a:off x="8396021" y="2505456"/>
            <a:ext cx="2954426" cy="10332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same message rewritten for different segments and tones.</a:t>
            </a:r>
            <a:endParaRPr lang="en-US" sz="1300" dirty="0"/>
          </a:p>
        </p:txBody>
      </p:sp>
      <p:sp>
        <p:nvSpPr>
          <p:cNvPr id="21" name="Shape 16"/>
          <p:cNvSpPr/>
          <p:nvPr/>
        </p:nvSpPr>
        <p:spPr>
          <a:xfrm>
            <a:off x="566928" y="3995928"/>
            <a:ext cx="3503066" cy="2240280"/>
          </a:xfrm>
          <a:prstGeom prst="roundRect">
            <a:avLst>
              <a:gd name="adj" fmla="val 3265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822960" y="4251960"/>
            <a:ext cx="566928" cy="566928"/>
          </a:xfrm>
          <a:prstGeom prst="ellipse">
            <a:avLst/>
          </a:prstGeom>
          <a:solidFill>
            <a:srgbClr val="34D399">
              <a:alpha val="16000"/>
            </a:srgbClr>
          </a:solidFill>
          <a:ln w="12700">
            <a:solidFill>
              <a:srgbClr val="34D399">
                <a:alpha val="45000"/>
              </a:srgbClr>
            </a:solidFill>
            <a:prstDash val="solid"/>
          </a:ln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4692" y="4393692"/>
            <a:ext cx="283464" cy="283464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1609344" y="4251960"/>
            <a:ext cx="218633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Visual concepts</a:t>
            </a:r>
            <a:endParaRPr lang="en-US" sz="1600" dirty="0"/>
          </a:p>
        </p:txBody>
      </p:sp>
      <p:sp>
        <p:nvSpPr>
          <p:cNvPr id="25" name="Text 19"/>
          <p:cNvSpPr txBox="1"/>
          <p:nvPr/>
        </p:nvSpPr>
        <p:spPr>
          <a:xfrm>
            <a:off x="841248" y="5020056"/>
            <a:ext cx="2954426" cy="10332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Generated images for campaign ideas before commissioning final artwork.</a:t>
            </a:r>
            <a:endParaRPr lang="en-US" sz="1300" dirty="0"/>
          </a:p>
        </p:txBody>
      </p:sp>
      <p:sp>
        <p:nvSpPr>
          <p:cNvPr id="26" name="Shape 20"/>
          <p:cNvSpPr/>
          <p:nvPr/>
        </p:nvSpPr>
        <p:spPr>
          <a:xfrm>
            <a:off x="4344314" y="3995928"/>
            <a:ext cx="3503066" cy="2240280"/>
          </a:xfrm>
          <a:prstGeom prst="roundRect">
            <a:avLst>
              <a:gd name="adj" fmla="val 3265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4600346" y="4251960"/>
            <a:ext cx="566928" cy="566928"/>
          </a:xfrm>
          <a:prstGeom prst="ellipse">
            <a:avLst/>
          </a:prstGeom>
          <a:solidFill>
            <a:srgbClr val="F472B6">
              <a:alpha val="16000"/>
            </a:srgbClr>
          </a:solidFill>
          <a:ln w="12700">
            <a:solidFill>
              <a:srgbClr val="F472B6">
                <a:alpha val="45000"/>
              </a:srgbClr>
            </a:solidFill>
            <a:prstDash val="solid"/>
          </a:ln>
        </p:spPr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42078" y="4393692"/>
            <a:ext cx="283464" cy="283464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5386730" y="4251960"/>
            <a:ext cx="218633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Research support</a:t>
            </a:r>
            <a:endParaRPr lang="en-US" sz="1600" dirty="0"/>
          </a:p>
        </p:txBody>
      </p:sp>
      <p:sp>
        <p:nvSpPr>
          <p:cNvPr id="30" name="Text 23"/>
          <p:cNvSpPr txBox="1"/>
          <p:nvPr/>
        </p:nvSpPr>
        <p:spPr>
          <a:xfrm>
            <a:off x="4618634" y="5020056"/>
            <a:ext cx="2954426" cy="10332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Summarise competitor messaging and customer feedback into themes.</a:t>
            </a:r>
            <a:endParaRPr lang="en-US" sz="1300" dirty="0"/>
          </a:p>
        </p:txBody>
      </p:sp>
      <p:sp>
        <p:nvSpPr>
          <p:cNvPr id="31" name="Shape 24"/>
          <p:cNvSpPr/>
          <p:nvPr/>
        </p:nvSpPr>
        <p:spPr>
          <a:xfrm>
            <a:off x="8121701" y="3995928"/>
            <a:ext cx="3503066" cy="2240280"/>
          </a:xfrm>
          <a:prstGeom prst="roundRect">
            <a:avLst>
              <a:gd name="adj" fmla="val 3265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8377733" y="4251960"/>
            <a:ext cx="566928" cy="566928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33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19465" y="4393692"/>
            <a:ext cx="283464" cy="283464"/>
          </a:xfrm>
          <a:prstGeom prst="rect">
            <a:avLst/>
          </a:prstGeom>
        </p:spPr>
      </p:pic>
      <p:sp>
        <p:nvSpPr>
          <p:cNvPr id="34" name="Text 26"/>
          <p:cNvSpPr txBox="1"/>
          <p:nvPr/>
        </p:nvSpPr>
        <p:spPr>
          <a:xfrm>
            <a:off x="9164117" y="4251960"/>
            <a:ext cx="218633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Human review required</a:t>
            </a:r>
            <a:endParaRPr lang="en-US" sz="1600" dirty="0"/>
          </a:p>
        </p:txBody>
      </p:sp>
      <p:sp>
        <p:nvSpPr>
          <p:cNvPr id="35" name="Text 27"/>
          <p:cNvSpPr txBox="1"/>
          <p:nvPr/>
        </p:nvSpPr>
        <p:spPr>
          <a:xfrm>
            <a:off x="8396021" y="5020056"/>
            <a:ext cx="2954426" cy="10332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Claims about products must be verified. AI does not know what is legally accurate for your market.</a:t>
            </a:r>
            <a:endParaRPr lang="en-US" sz="1300" dirty="0"/>
          </a:p>
        </p:txBody>
      </p:sp>
    </p:spTree>
  </p:cSld>
  <p:clrMapOvr>
    <a:masterClrMapping/>
  </p:clrMapOvr>
</p:sld>
</file>

<file path=ppt/slides/slide2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SLIDE 179 · FUNCTION 2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Customer Support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Section 17 · Generative AI for Business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211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3503066" cy="2240280"/>
          </a:xfrm>
          <a:prstGeom prst="roundRect">
            <a:avLst>
              <a:gd name="adj" fmla="val 3265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1737360"/>
            <a:ext cx="566928" cy="566928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4692" y="1879092"/>
            <a:ext cx="283464" cy="283464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609344" y="1737360"/>
            <a:ext cx="218633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Draft replies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841248" y="2505456"/>
            <a:ext cx="2954426" cy="10332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 proposes a response using the documentation; an agent approves or edits it.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344314" y="1481328"/>
            <a:ext cx="3503066" cy="2240280"/>
          </a:xfrm>
          <a:prstGeom prst="roundRect">
            <a:avLst>
              <a:gd name="adj" fmla="val 3265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600346" y="1737360"/>
            <a:ext cx="566928" cy="566928"/>
          </a:xfrm>
          <a:prstGeom prst="ellipse">
            <a:avLst/>
          </a:prstGeom>
          <a:solidFill>
            <a:srgbClr val="22D3EE">
              <a:alpha val="16000"/>
            </a:srgbClr>
          </a:solidFill>
          <a:ln w="12700">
            <a:solidFill>
              <a:srgbClr val="22D3EE">
                <a:alpha val="45000"/>
              </a:srgbClr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2078" y="1879092"/>
            <a:ext cx="283464" cy="283464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5386730" y="1737360"/>
            <a:ext cx="218633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RAG over docs</a:t>
            </a:r>
            <a:endParaRPr lang="en-US" sz="1600" dirty="0"/>
          </a:p>
        </p:txBody>
      </p:sp>
      <p:sp>
        <p:nvSpPr>
          <p:cNvPr id="15" name="Text 11"/>
          <p:cNvSpPr txBox="1"/>
          <p:nvPr/>
        </p:nvSpPr>
        <p:spPr>
          <a:xfrm>
            <a:off x="4618634" y="2505456"/>
            <a:ext cx="2954426" cy="10332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Answers come from approved help articles, with the source shown.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8121701" y="1481328"/>
            <a:ext cx="3503066" cy="2240280"/>
          </a:xfrm>
          <a:prstGeom prst="roundRect">
            <a:avLst>
              <a:gd name="adj" fmla="val 3265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377733" y="1737360"/>
            <a:ext cx="566928" cy="566928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9465" y="1879092"/>
            <a:ext cx="283464" cy="283464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9164117" y="1737360"/>
            <a:ext cx="218633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Language coverage</a:t>
            </a:r>
            <a:endParaRPr lang="en-US" sz="1600" dirty="0"/>
          </a:p>
        </p:txBody>
      </p:sp>
      <p:sp>
        <p:nvSpPr>
          <p:cNvPr id="20" name="Text 15"/>
          <p:cNvSpPr txBox="1"/>
          <p:nvPr/>
        </p:nvSpPr>
        <p:spPr>
          <a:xfrm>
            <a:off x="8396021" y="2505456"/>
            <a:ext cx="2954426" cy="10332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Support in more languages without hiring for every one.</a:t>
            </a:r>
            <a:endParaRPr lang="en-US" sz="1300" dirty="0"/>
          </a:p>
        </p:txBody>
      </p:sp>
      <p:sp>
        <p:nvSpPr>
          <p:cNvPr id="21" name="Shape 16"/>
          <p:cNvSpPr/>
          <p:nvPr/>
        </p:nvSpPr>
        <p:spPr>
          <a:xfrm>
            <a:off x="566928" y="3995928"/>
            <a:ext cx="3503066" cy="2240280"/>
          </a:xfrm>
          <a:prstGeom prst="roundRect">
            <a:avLst>
              <a:gd name="adj" fmla="val 3265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822960" y="4251960"/>
            <a:ext cx="566928" cy="566928"/>
          </a:xfrm>
          <a:prstGeom prst="ellipse">
            <a:avLst/>
          </a:prstGeom>
          <a:solidFill>
            <a:srgbClr val="34D399">
              <a:alpha val="16000"/>
            </a:srgbClr>
          </a:solidFill>
          <a:ln w="12700">
            <a:solidFill>
              <a:srgbClr val="34D399">
                <a:alpha val="45000"/>
              </a:srgbClr>
            </a:solidFill>
            <a:prstDash val="solid"/>
          </a:ln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4692" y="4393692"/>
            <a:ext cx="283464" cy="283464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1609344" y="4251960"/>
            <a:ext cx="218633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Ticket analysis</a:t>
            </a:r>
            <a:endParaRPr lang="en-US" sz="1600" dirty="0"/>
          </a:p>
        </p:txBody>
      </p:sp>
      <p:sp>
        <p:nvSpPr>
          <p:cNvPr id="25" name="Text 19"/>
          <p:cNvSpPr txBox="1"/>
          <p:nvPr/>
        </p:nvSpPr>
        <p:spPr>
          <a:xfrm>
            <a:off x="841248" y="5020056"/>
            <a:ext cx="2954426" cy="10332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Group thousands of tickets into themes to find the real underlying problems.</a:t>
            </a:r>
            <a:endParaRPr lang="en-US" sz="1300" dirty="0"/>
          </a:p>
        </p:txBody>
      </p:sp>
      <p:sp>
        <p:nvSpPr>
          <p:cNvPr id="26" name="Shape 20"/>
          <p:cNvSpPr/>
          <p:nvPr/>
        </p:nvSpPr>
        <p:spPr>
          <a:xfrm>
            <a:off x="4344314" y="3995928"/>
            <a:ext cx="3503066" cy="2240280"/>
          </a:xfrm>
          <a:prstGeom prst="roundRect">
            <a:avLst>
              <a:gd name="adj" fmla="val 3265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4600346" y="4251960"/>
            <a:ext cx="566928" cy="566928"/>
          </a:xfrm>
          <a:prstGeom prst="ellipse">
            <a:avLst/>
          </a:prstGeom>
          <a:solidFill>
            <a:srgbClr val="F472B6">
              <a:alpha val="16000"/>
            </a:srgbClr>
          </a:solidFill>
          <a:ln w="12700">
            <a:solidFill>
              <a:srgbClr val="F472B6">
                <a:alpha val="45000"/>
              </a:srgbClr>
            </a:solidFill>
            <a:prstDash val="solid"/>
          </a:ln>
        </p:spPr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42078" y="4393692"/>
            <a:ext cx="283464" cy="283464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5386730" y="4251960"/>
            <a:ext cx="218633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Faster onboarding</a:t>
            </a:r>
            <a:endParaRPr lang="en-US" sz="1600" dirty="0"/>
          </a:p>
        </p:txBody>
      </p:sp>
      <p:sp>
        <p:nvSpPr>
          <p:cNvPr id="30" name="Text 23"/>
          <p:cNvSpPr txBox="1"/>
          <p:nvPr/>
        </p:nvSpPr>
        <p:spPr>
          <a:xfrm>
            <a:off x="4618634" y="5020056"/>
            <a:ext cx="2954426" cy="10332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New agents get suggested answers while they learn the product.</a:t>
            </a:r>
            <a:endParaRPr lang="en-US" sz="1300" dirty="0"/>
          </a:p>
        </p:txBody>
      </p:sp>
      <p:sp>
        <p:nvSpPr>
          <p:cNvPr id="31" name="Shape 24"/>
          <p:cNvSpPr/>
          <p:nvPr/>
        </p:nvSpPr>
        <p:spPr>
          <a:xfrm>
            <a:off x="8121701" y="3995928"/>
            <a:ext cx="3503066" cy="2240280"/>
          </a:xfrm>
          <a:prstGeom prst="roundRect">
            <a:avLst>
              <a:gd name="adj" fmla="val 3265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8377733" y="4251960"/>
            <a:ext cx="566928" cy="566928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33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19465" y="4393692"/>
            <a:ext cx="283464" cy="283464"/>
          </a:xfrm>
          <a:prstGeom prst="rect">
            <a:avLst/>
          </a:prstGeom>
        </p:spPr>
      </p:pic>
      <p:sp>
        <p:nvSpPr>
          <p:cNvPr id="34" name="Text 26"/>
          <p:cNvSpPr txBox="1"/>
          <p:nvPr/>
        </p:nvSpPr>
        <p:spPr>
          <a:xfrm>
            <a:off x="9164117" y="4251960"/>
            <a:ext cx="218633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Escalation matters</a:t>
            </a:r>
            <a:endParaRPr lang="en-US" sz="1600" dirty="0"/>
          </a:p>
        </p:txBody>
      </p:sp>
      <p:sp>
        <p:nvSpPr>
          <p:cNvPr id="35" name="Text 27"/>
          <p:cNvSpPr txBox="1"/>
          <p:nvPr/>
        </p:nvSpPr>
        <p:spPr>
          <a:xfrm>
            <a:off x="8396021" y="5020056"/>
            <a:ext cx="2954426" cy="10332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Complaints, refunds and distressed customers must reach a human quickly.</a:t>
            </a:r>
            <a:endParaRPr lang="en-US" sz="1300" dirty="0"/>
          </a:p>
        </p:txBody>
      </p:sp>
    </p:spTree>
  </p:cSld>
  <p:clrMapOvr>
    <a:masterClrMapping/>
  </p:clrMapOvr>
</p:sld>
</file>

<file path=ppt/slides/slide2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SLIDE 180 · FUNCTION 3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Sales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Section 17 · Generative AI for Business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212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3503066" cy="2240280"/>
          </a:xfrm>
          <a:prstGeom prst="roundRect">
            <a:avLst>
              <a:gd name="adj" fmla="val 3265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1737360"/>
            <a:ext cx="566928" cy="566928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4692" y="1879092"/>
            <a:ext cx="283464" cy="283464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609344" y="1737360"/>
            <a:ext cx="218633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Outreach drafts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841248" y="2505456"/>
            <a:ext cx="2954426" cy="10332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Personalised first drafts based on public company information.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344314" y="1481328"/>
            <a:ext cx="3503066" cy="2240280"/>
          </a:xfrm>
          <a:prstGeom prst="roundRect">
            <a:avLst>
              <a:gd name="adj" fmla="val 3265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600346" y="1737360"/>
            <a:ext cx="566928" cy="566928"/>
          </a:xfrm>
          <a:prstGeom prst="ellipse">
            <a:avLst/>
          </a:prstGeom>
          <a:solidFill>
            <a:srgbClr val="22D3EE">
              <a:alpha val="16000"/>
            </a:srgbClr>
          </a:solidFill>
          <a:ln w="12700">
            <a:solidFill>
              <a:srgbClr val="22D3EE">
                <a:alpha val="45000"/>
              </a:srgbClr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2078" y="1879092"/>
            <a:ext cx="283464" cy="283464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5386730" y="1737360"/>
            <a:ext cx="218633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Call summaries</a:t>
            </a:r>
            <a:endParaRPr lang="en-US" sz="1600" dirty="0"/>
          </a:p>
        </p:txBody>
      </p:sp>
      <p:sp>
        <p:nvSpPr>
          <p:cNvPr id="15" name="Text 11"/>
          <p:cNvSpPr txBox="1"/>
          <p:nvPr/>
        </p:nvSpPr>
        <p:spPr>
          <a:xfrm>
            <a:off x="4618634" y="2505456"/>
            <a:ext cx="2954426" cy="10332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Turn a recorded call into notes, next steps and owners.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8121701" y="1481328"/>
            <a:ext cx="3503066" cy="2240280"/>
          </a:xfrm>
          <a:prstGeom prst="roundRect">
            <a:avLst>
              <a:gd name="adj" fmla="val 3265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377733" y="1737360"/>
            <a:ext cx="566928" cy="566928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9465" y="1879092"/>
            <a:ext cx="283464" cy="283464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9164117" y="1737360"/>
            <a:ext cx="218633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Objection preparation</a:t>
            </a:r>
            <a:endParaRPr lang="en-US" sz="1600" dirty="0"/>
          </a:p>
        </p:txBody>
      </p:sp>
      <p:sp>
        <p:nvSpPr>
          <p:cNvPr id="20" name="Text 15"/>
          <p:cNvSpPr txBox="1"/>
          <p:nvPr/>
        </p:nvSpPr>
        <p:spPr>
          <a:xfrm>
            <a:off x="8396021" y="2505456"/>
            <a:ext cx="2954426" cy="10332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Practise responses to common customer objections before a meeting.</a:t>
            </a:r>
            <a:endParaRPr lang="en-US" sz="1300" dirty="0"/>
          </a:p>
        </p:txBody>
      </p:sp>
      <p:sp>
        <p:nvSpPr>
          <p:cNvPr id="21" name="Shape 16"/>
          <p:cNvSpPr/>
          <p:nvPr/>
        </p:nvSpPr>
        <p:spPr>
          <a:xfrm>
            <a:off x="566928" y="3995928"/>
            <a:ext cx="3503066" cy="2240280"/>
          </a:xfrm>
          <a:prstGeom prst="roundRect">
            <a:avLst>
              <a:gd name="adj" fmla="val 3265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822960" y="4251960"/>
            <a:ext cx="566928" cy="566928"/>
          </a:xfrm>
          <a:prstGeom prst="ellipse">
            <a:avLst/>
          </a:prstGeom>
          <a:solidFill>
            <a:srgbClr val="34D399">
              <a:alpha val="16000"/>
            </a:srgbClr>
          </a:solidFill>
          <a:ln w="12700">
            <a:solidFill>
              <a:srgbClr val="34D399">
                <a:alpha val="45000"/>
              </a:srgbClr>
            </a:solidFill>
            <a:prstDash val="solid"/>
          </a:ln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4692" y="4393692"/>
            <a:ext cx="283464" cy="283464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1609344" y="4251960"/>
            <a:ext cx="218633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Proposal drafting</a:t>
            </a:r>
            <a:endParaRPr lang="en-US" sz="1600" dirty="0"/>
          </a:p>
        </p:txBody>
      </p:sp>
      <p:sp>
        <p:nvSpPr>
          <p:cNvPr id="25" name="Text 19"/>
          <p:cNvSpPr txBox="1"/>
          <p:nvPr/>
        </p:nvSpPr>
        <p:spPr>
          <a:xfrm>
            <a:off x="841248" y="5020056"/>
            <a:ext cx="2954426" cy="10332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Assemble a first proposal from approved templates and notes.</a:t>
            </a:r>
            <a:endParaRPr lang="en-US" sz="1300" dirty="0"/>
          </a:p>
        </p:txBody>
      </p:sp>
      <p:sp>
        <p:nvSpPr>
          <p:cNvPr id="26" name="Shape 20"/>
          <p:cNvSpPr/>
          <p:nvPr/>
        </p:nvSpPr>
        <p:spPr>
          <a:xfrm>
            <a:off x="4344314" y="3995928"/>
            <a:ext cx="3503066" cy="2240280"/>
          </a:xfrm>
          <a:prstGeom prst="roundRect">
            <a:avLst>
              <a:gd name="adj" fmla="val 3265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4600346" y="4251960"/>
            <a:ext cx="566928" cy="566928"/>
          </a:xfrm>
          <a:prstGeom prst="ellipse">
            <a:avLst/>
          </a:prstGeom>
          <a:solidFill>
            <a:srgbClr val="F472B6">
              <a:alpha val="16000"/>
            </a:srgbClr>
          </a:solidFill>
          <a:ln w="12700">
            <a:solidFill>
              <a:srgbClr val="F472B6">
                <a:alpha val="45000"/>
              </a:srgbClr>
            </a:solidFill>
            <a:prstDash val="solid"/>
          </a:ln>
        </p:spPr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42078" y="4393692"/>
            <a:ext cx="283464" cy="283464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5386730" y="4251960"/>
            <a:ext cx="218633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Account research</a:t>
            </a:r>
            <a:endParaRPr lang="en-US" sz="1600" dirty="0"/>
          </a:p>
        </p:txBody>
      </p:sp>
      <p:sp>
        <p:nvSpPr>
          <p:cNvPr id="30" name="Text 23"/>
          <p:cNvSpPr txBox="1"/>
          <p:nvPr/>
        </p:nvSpPr>
        <p:spPr>
          <a:xfrm>
            <a:off x="4618634" y="5020056"/>
            <a:ext cx="2954426" cy="10332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Summarise public information about a prospect before a call.</a:t>
            </a:r>
            <a:endParaRPr lang="en-US" sz="1300" dirty="0"/>
          </a:p>
        </p:txBody>
      </p:sp>
      <p:sp>
        <p:nvSpPr>
          <p:cNvPr id="31" name="Shape 24"/>
          <p:cNvSpPr/>
          <p:nvPr/>
        </p:nvSpPr>
        <p:spPr>
          <a:xfrm>
            <a:off x="8121701" y="3995928"/>
            <a:ext cx="3503066" cy="2240280"/>
          </a:xfrm>
          <a:prstGeom prst="roundRect">
            <a:avLst>
              <a:gd name="adj" fmla="val 3265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8377733" y="4251960"/>
            <a:ext cx="566928" cy="566928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33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19465" y="4393692"/>
            <a:ext cx="283464" cy="283464"/>
          </a:xfrm>
          <a:prstGeom prst="rect">
            <a:avLst/>
          </a:prstGeom>
        </p:spPr>
      </p:pic>
      <p:sp>
        <p:nvSpPr>
          <p:cNvPr id="34" name="Text 26"/>
          <p:cNvSpPr txBox="1"/>
          <p:nvPr/>
        </p:nvSpPr>
        <p:spPr>
          <a:xfrm>
            <a:off x="9164117" y="4251960"/>
            <a:ext cx="218633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Accuracy and honesty</a:t>
            </a:r>
            <a:endParaRPr lang="en-US" sz="1600" dirty="0"/>
          </a:p>
        </p:txBody>
      </p:sp>
      <p:sp>
        <p:nvSpPr>
          <p:cNvPr id="35" name="Text 27"/>
          <p:cNvSpPr txBox="1"/>
          <p:nvPr/>
        </p:nvSpPr>
        <p:spPr>
          <a:xfrm>
            <a:off x="8396021" y="5020056"/>
            <a:ext cx="2954426" cy="10332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Never send AI-generated claims about pricing or capability without verification.</a:t>
            </a:r>
            <a:endParaRPr lang="en-US" sz="1300" dirty="0"/>
          </a:p>
        </p:txBody>
      </p:sp>
    </p:spTree>
  </p:cSld>
  <p:clrMapOvr>
    <a:masterClrMapping/>
  </p:clrMapOvr>
</p:sld>
</file>

<file path=ppt/slides/slide2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SLIDE 181 · FUNCTION 4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Human Resources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Section 17 · Generative AI for Business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213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3503066" cy="2240280"/>
          </a:xfrm>
          <a:prstGeom prst="roundRect">
            <a:avLst>
              <a:gd name="adj" fmla="val 3265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1737360"/>
            <a:ext cx="566928" cy="566928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4692" y="1879092"/>
            <a:ext cx="283464" cy="283464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609344" y="1737360"/>
            <a:ext cx="218633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Job descriptions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841248" y="2505456"/>
            <a:ext cx="2954426" cy="10332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Draft consistent role descriptions from a short brief.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344314" y="1481328"/>
            <a:ext cx="3503066" cy="2240280"/>
          </a:xfrm>
          <a:prstGeom prst="roundRect">
            <a:avLst>
              <a:gd name="adj" fmla="val 3265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600346" y="1737360"/>
            <a:ext cx="566928" cy="566928"/>
          </a:xfrm>
          <a:prstGeom prst="ellipse">
            <a:avLst/>
          </a:prstGeom>
          <a:solidFill>
            <a:srgbClr val="22D3EE">
              <a:alpha val="16000"/>
            </a:srgbClr>
          </a:solidFill>
          <a:ln w="12700">
            <a:solidFill>
              <a:srgbClr val="22D3EE">
                <a:alpha val="45000"/>
              </a:srgbClr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2078" y="1879092"/>
            <a:ext cx="283464" cy="283464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5386730" y="1737360"/>
            <a:ext cx="218633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Policy questions</a:t>
            </a:r>
            <a:endParaRPr lang="en-US" sz="1600" dirty="0"/>
          </a:p>
        </p:txBody>
      </p:sp>
      <p:sp>
        <p:nvSpPr>
          <p:cNvPr id="15" name="Text 11"/>
          <p:cNvSpPr txBox="1"/>
          <p:nvPr/>
        </p:nvSpPr>
        <p:spPr>
          <a:xfrm>
            <a:off x="4618634" y="2505456"/>
            <a:ext cx="2954426" cy="10332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RAG assistant answers staff questions from the official handbook.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8121701" y="1481328"/>
            <a:ext cx="3503066" cy="2240280"/>
          </a:xfrm>
          <a:prstGeom prst="roundRect">
            <a:avLst>
              <a:gd name="adj" fmla="val 3265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377733" y="1737360"/>
            <a:ext cx="566928" cy="566928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9465" y="1879092"/>
            <a:ext cx="283464" cy="283464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9164117" y="1737360"/>
            <a:ext cx="218633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Training material</a:t>
            </a:r>
            <a:endParaRPr lang="en-US" sz="1600" dirty="0"/>
          </a:p>
        </p:txBody>
      </p:sp>
      <p:sp>
        <p:nvSpPr>
          <p:cNvPr id="20" name="Text 15"/>
          <p:cNvSpPr txBox="1"/>
          <p:nvPr/>
        </p:nvSpPr>
        <p:spPr>
          <a:xfrm>
            <a:off x="8396021" y="2505456"/>
            <a:ext cx="2954426" cy="10332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Onboarding guides and induction content produced faster.</a:t>
            </a:r>
            <a:endParaRPr lang="en-US" sz="1300" dirty="0"/>
          </a:p>
        </p:txBody>
      </p:sp>
      <p:sp>
        <p:nvSpPr>
          <p:cNvPr id="21" name="Shape 16"/>
          <p:cNvSpPr/>
          <p:nvPr/>
        </p:nvSpPr>
        <p:spPr>
          <a:xfrm>
            <a:off x="566928" y="3995928"/>
            <a:ext cx="3503066" cy="2240280"/>
          </a:xfrm>
          <a:prstGeom prst="roundRect">
            <a:avLst>
              <a:gd name="adj" fmla="val 3265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822960" y="4251960"/>
            <a:ext cx="566928" cy="566928"/>
          </a:xfrm>
          <a:prstGeom prst="ellipse">
            <a:avLst/>
          </a:prstGeom>
          <a:solidFill>
            <a:srgbClr val="34D399">
              <a:alpha val="16000"/>
            </a:srgbClr>
          </a:solidFill>
          <a:ln w="12700">
            <a:solidFill>
              <a:srgbClr val="34D399">
                <a:alpha val="45000"/>
              </a:srgbClr>
            </a:solidFill>
            <a:prstDash val="solid"/>
          </a:ln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4692" y="4393692"/>
            <a:ext cx="283464" cy="283464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1609344" y="4251960"/>
            <a:ext cx="218633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Survey analysis</a:t>
            </a:r>
            <a:endParaRPr lang="en-US" sz="1600" dirty="0"/>
          </a:p>
        </p:txBody>
      </p:sp>
      <p:sp>
        <p:nvSpPr>
          <p:cNvPr id="25" name="Text 19"/>
          <p:cNvSpPr txBox="1"/>
          <p:nvPr/>
        </p:nvSpPr>
        <p:spPr>
          <a:xfrm>
            <a:off x="841248" y="5020056"/>
            <a:ext cx="2954426" cy="10332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Summarise open-text employee feedback into themes.</a:t>
            </a:r>
            <a:endParaRPr lang="en-US" sz="1300" dirty="0"/>
          </a:p>
        </p:txBody>
      </p:sp>
      <p:sp>
        <p:nvSpPr>
          <p:cNvPr id="26" name="Shape 20"/>
          <p:cNvSpPr/>
          <p:nvPr/>
        </p:nvSpPr>
        <p:spPr>
          <a:xfrm>
            <a:off x="4344314" y="3995928"/>
            <a:ext cx="3503066" cy="2240280"/>
          </a:xfrm>
          <a:prstGeom prst="roundRect">
            <a:avLst>
              <a:gd name="adj" fmla="val 3265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4600346" y="4251960"/>
            <a:ext cx="566928" cy="566928"/>
          </a:xfrm>
          <a:prstGeom prst="ellipse">
            <a:avLst/>
          </a:prstGeom>
          <a:solidFill>
            <a:srgbClr val="F472B6">
              <a:alpha val="16000"/>
            </a:srgbClr>
          </a:solidFill>
          <a:ln w="12700">
            <a:solidFill>
              <a:srgbClr val="F472B6">
                <a:alpha val="45000"/>
              </a:srgbClr>
            </a:solidFill>
            <a:prstDash val="solid"/>
          </a:ln>
        </p:spPr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42078" y="4393692"/>
            <a:ext cx="283464" cy="283464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5386730" y="4251960"/>
            <a:ext cx="218633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Hiring caution</a:t>
            </a:r>
            <a:endParaRPr lang="en-US" sz="1600" dirty="0"/>
          </a:p>
        </p:txBody>
      </p:sp>
      <p:sp>
        <p:nvSpPr>
          <p:cNvPr id="30" name="Text 23"/>
          <p:cNvSpPr txBox="1"/>
          <p:nvPr/>
        </p:nvSpPr>
        <p:spPr>
          <a:xfrm>
            <a:off x="4618634" y="5020056"/>
            <a:ext cx="2954426" cy="10332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Using AI to screen or rank candidates raises serious fairness and legal issues. Keep humans deciding.</a:t>
            </a:r>
            <a:endParaRPr lang="en-US" sz="1300" dirty="0"/>
          </a:p>
        </p:txBody>
      </p:sp>
      <p:sp>
        <p:nvSpPr>
          <p:cNvPr id="31" name="Shape 24"/>
          <p:cNvSpPr/>
          <p:nvPr/>
        </p:nvSpPr>
        <p:spPr>
          <a:xfrm>
            <a:off x="8121701" y="3995928"/>
            <a:ext cx="3503066" cy="2240280"/>
          </a:xfrm>
          <a:prstGeom prst="roundRect">
            <a:avLst>
              <a:gd name="adj" fmla="val 3265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8377733" y="4251960"/>
            <a:ext cx="566928" cy="566928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33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19465" y="4393692"/>
            <a:ext cx="283464" cy="283464"/>
          </a:xfrm>
          <a:prstGeom prst="rect">
            <a:avLst/>
          </a:prstGeom>
        </p:spPr>
      </p:pic>
      <p:sp>
        <p:nvSpPr>
          <p:cNvPr id="34" name="Text 26"/>
          <p:cNvSpPr txBox="1"/>
          <p:nvPr/>
        </p:nvSpPr>
        <p:spPr>
          <a:xfrm>
            <a:off x="9164117" y="4251960"/>
            <a:ext cx="218633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Sensitive data</a:t>
            </a:r>
            <a:endParaRPr lang="en-US" sz="1600" dirty="0"/>
          </a:p>
        </p:txBody>
      </p:sp>
      <p:sp>
        <p:nvSpPr>
          <p:cNvPr id="35" name="Text 27"/>
          <p:cNvSpPr txBox="1"/>
          <p:nvPr/>
        </p:nvSpPr>
        <p:spPr>
          <a:xfrm>
            <a:off x="8396021" y="5020056"/>
            <a:ext cx="2954426" cy="10332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Employee records are personal data. Only use approved, contracted tools.</a:t>
            </a:r>
            <a:endParaRPr lang="en-US" sz="1300" dirty="0"/>
          </a:p>
        </p:txBody>
      </p:sp>
    </p:spTree>
  </p:cSld>
  <p:clrMapOvr>
    <a:masterClrMapping/>
  </p:clrMapOvr>
</p:sld>
</file>

<file path=ppt/slides/slide2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SLIDE 182 · FUNCTION 5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Finance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Section 17 · Generative AI for Business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214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3503066" cy="2240280"/>
          </a:xfrm>
          <a:prstGeom prst="roundRect">
            <a:avLst>
              <a:gd name="adj" fmla="val 3265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1737360"/>
            <a:ext cx="566928" cy="566928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4692" y="1879092"/>
            <a:ext cx="283464" cy="283464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609344" y="1737360"/>
            <a:ext cx="218633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Report drafting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841248" y="2505456"/>
            <a:ext cx="2954426" cy="10332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Turn figures and notes into a readable written commentary.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344314" y="1481328"/>
            <a:ext cx="3503066" cy="2240280"/>
          </a:xfrm>
          <a:prstGeom prst="roundRect">
            <a:avLst>
              <a:gd name="adj" fmla="val 3265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600346" y="1737360"/>
            <a:ext cx="566928" cy="566928"/>
          </a:xfrm>
          <a:prstGeom prst="ellipse">
            <a:avLst/>
          </a:prstGeom>
          <a:solidFill>
            <a:srgbClr val="22D3EE">
              <a:alpha val="16000"/>
            </a:srgbClr>
          </a:solidFill>
          <a:ln w="12700">
            <a:solidFill>
              <a:srgbClr val="22D3EE">
                <a:alpha val="45000"/>
              </a:srgbClr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2078" y="1879092"/>
            <a:ext cx="283464" cy="283464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5386730" y="1737360"/>
            <a:ext cx="218633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Document review</a:t>
            </a:r>
            <a:endParaRPr lang="en-US" sz="1600" dirty="0"/>
          </a:p>
        </p:txBody>
      </p:sp>
      <p:sp>
        <p:nvSpPr>
          <p:cNvPr id="15" name="Text 11"/>
          <p:cNvSpPr txBox="1"/>
          <p:nvPr/>
        </p:nvSpPr>
        <p:spPr>
          <a:xfrm>
            <a:off x="4618634" y="2505456"/>
            <a:ext cx="2954426" cy="10332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Summarise contracts and filings, flagging sections that need attention.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8121701" y="1481328"/>
            <a:ext cx="3503066" cy="2240280"/>
          </a:xfrm>
          <a:prstGeom prst="roundRect">
            <a:avLst>
              <a:gd name="adj" fmla="val 3265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377733" y="1737360"/>
            <a:ext cx="566928" cy="566928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9465" y="1879092"/>
            <a:ext cx="283464" cy="283464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9164117" y="1737360"/>
            <a:ext cx="218633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Spreadsheet help</a:t>
            </a:r>
            <a:endParaRPr lang="en-US" sz="1600" dirty="0"/>
          </a:p>
        </p:txBody>
      </p:sp>
      <p:sp>
        <p:nvSpPr>
          <p:cNvPr id="20" name="Text 15"/>
          <p:cNvSpPr txBox="1"/>
          <p:nvPr/>
        </p:nvSpPr>
        <p:spPr>
          <a:xfrm>
            <a:off x="8396021" y="2505456"/>
            <a:ext cx="2954426" cy="10332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Explain complex formulas and suggest how to structure a model.</a:t>
            </a:r>
            <a:endParaRPr lang="en-US" sz="1300" dirty="0"/>
          </a:p>
        </p:txBody>
      </p:sp>
      <p:sp>
        <p:nvSpPr>
          <p:cNvPr id="21" name="Shape 16"/>
          <p:cNvSpPr/>
          <p:nvPr/>
        </p:nvSpPr>
        <p:spPr>
          <a:xfrm>
            <a:off x="566928" y="3995928"/>
            <a:ext cx="3503066" cy="2240280"/>
          </a:xfrm>
          <a:prstGeom prst="roundRect">
            <a:avLst>
              <a:gd name="adj" fmla="val 3265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822960" y="4251960"/>
            <a:ext cx="566928" cy="566928"/>
          </a:xfrm>
          <a:prstGeom prst="ellipse">
            <a:avLst/>
          </a:prstGeom>
          <a:solidFill>
            <a:srgbClr val="34D399">
              <a:alpha val="16000"/>
            </a:srgbClr>
          </a:solidFill>
          <a:ln w="12700">
            <a:solidFill>
              <a:srgbClr val="34D399">
                <a:alpha val="45000"/>
              </a:srgbClr>
            </a:solidFill>
            <a:prstDash val="solid"/>
          </a:ln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4692" y="4393692"/>
            <a:ext cx="283464" cy="283464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1609344" y="4251960"/>
            <a:ext cx="218633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Answering policy questions</a:t>
            </a:r>
            <a:endParaRPr lang="en-US" sz="1600" dirty="0"/>
          </a:p>
        </p:txBody>
      </p:sp>
      <p:sp>
        <p:nvSpPr>
          <p:cNvPr id="25" name="Text 19"/>
          <p:cNvSpPr txBox="1"/>
          <p:nvPr/>
        </p:nvSpPr>
        <p:spPr>
          <a:xfrm>
            <a:off x="841248" y="5020056"/>
            <a:ext cx="2954426" cy="10332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RAG assistant over finance procedures reduces repeated queries.</a:t>
            </a:r>
            <a:endParaRPr lang="en-US" sz="1300" dirty="0"/>
          </a:p>
        </p:txBody>
      </p:sp>
      <p:sp>
        <p:nvSpPr>
          <p:cNvPr id="26" name="Shape 20"/>
          <p:cNvSpPr/>
          <p:nvPr/>
        </p:nvSpPr>
        <p:spPr>
          <a:xfrm>
            <a:off x="4344314" y="3995928"/>
            <a:ext cx="3503066" cy="2240280"/>
          </a:xfrm>
          <a:prstGeom prst="roundRect">
            <a:avLst>
              <a:gd name="adj" fmla="val 3265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4600346" y="4251960"/>
            <a:ext cx="566928" cy="566928"/>
          </a:xfrm>
          <a:prstGeom prst="ellipse">
            <a:avLst/>
          </a:prstGeom>
          <a:solidFill>
            <a:srgbClr val="F472B6">
              <a:alpha val="16000"/>
            </a:srgbClr>
          </a:solidFill>
          <a:ln w="12700">
            <a:solidFill>
              <a:srgbClr val="F472B6">
                <a:alpha val="45000"/>
              </a:srgbClr>
            </a:solidFill>
            <a:prstDash val="solid"/>
          </a:ln>
        </p:spPr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42078" y="4393692"/>
            <a:ext cx="283464" cy="283464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5386730" y="4251960"/>
            <a:ext cx="218633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Never trust the arithmetic</a:t>
            </a:r>
            <a:endParaRPr lang="en-US" sz="1600" dirty="0"/>
          </a:p>
        </p:txBody>
      </p:sp>
      <p:sp>
        <p:nvSpPr>
          <p:cNvPr id="30" name="Text 23"/>
          <p:cNvSpPr txBox="1"/>
          <p:nvPr/>
        </p:nvSpPr>
        <p:spPr>
          <a:xfrm>
            <a:off x="4618634" y="5020056"/>
            <a:ext cx="2954426" cy="10332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Language models are unreliable at exact calculation. Numbers must come from a spreadsheet or code.</a:t>
            </a:r>
            <a:endParaRPr lang="en-US" sz="1300" dirty="0"/>
          </a:p>
        </p:txBody>
      </p:sp>
      <p:sp>
        <p:nvSpPr>
          <p:cNvPr id="31" name="Shape 24"/>
          <p:cNvSpPr/>
          <p:nvPr/>
        </p:nvSpPr>
        <p:spPr>
          <a:xfrm>
            <a:off x="8121701" y="3995928"/>
            <a:ext cx="3503066" cy="2240280"/>
          </a:xfrm>
          <a:prstGeom prst="roundRect">
            <a:avLst>
              <a:gd name="adj" fmla="val 3265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8377733" y="4251960"/>
            <a:ext cx="566928" cy="566928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33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19465" y="4393692"/>
            <a:ext cx="283464" cy="283464"/>
          </a:xfrm>
          <a:prstGeom prst="rect">
            <a:avLst/>
          </a:prstGeom>
        </p:spPr>
      </p:pic>
      <p:sp>
        <p:nvSpPr>
          <p:cNvPr id="34" name="Text 26"/>
          <p:cNvSpPr txBox="1"/>
          <p:nvPr/>
        </p:nvSpPr>
        <p:spPr>
          <a:xfrm>
            <a:off x="9164117" y="4251960"/>
            <a:ext cx="218633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Regulated decisions</a:t>
            </a:r>
            <a:endParaRPr lang="en-US" sz="1600" dirty="0"/>
          </a:p>
        </p:txBody>
      </p:sp>
      <p:sp>
        <p:nvSpPr>
          <p:cNvPr id="35" name="Text 27"/>
          <p:cNvSpPr txBox="1"/>
          <p:nvPr/>
        </p:nvSpPr>
        <p:spPr>
          <a:xfrm>
            <a:off x="8396021" y="5020056"/>
            <a:ext cx="2954426" cy="10332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Lending, investment and audit decisions require qualified human judgement and an audit trail.</a:t>
            </a:r>
            <a:endParaRPr lang="en-US" sz="1300" dirty="0"/>
          </a:p>
        </p:txBody>
      </p:sp>
    </p:spTree>
  </p:cSld>
  <p:clrMapOvr>
    <a:masterClrMapping/>
  </p:clrMapOvr>
</p:sld>
</file>

<file path=ppt/slides/slide2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SLIDE 183 · FUNCTION 6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Education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Section 17 · Generative AI for Business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215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3503066" cy="2240280"/>
          </a:xfrm>
          <a:prstGeom prst="roundRect">
            <a:avLst>
              <a:gd name="adj" fmla="val 3265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1737360"/>
            <a:ext cx="566928" cy="566928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4692" y="1879092"/>
            <a:ext cx="283464" cy="283464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609344" y="1737360"/>
            <a:ext cx="218633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Teaching support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841248" y="2505456"/>
            <a:ext cx="2954426" cy="10332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Lesson plans, question banks and material adapted to different levels.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344314" y="1481328"/>
            <a:ext cx="3503066" cy="2240280"/>
          </a:xfrm>
          <a:prstGeom prst="roundRect">
            <a:avLst>
              <a:gd name="adj" fmla="val 3265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600346" y="1737360"/>
            <a:ext cx="566928" cy="566928"/>
          </a:xfrm>
          <a:prstGeom prst="ellipse">
            <a:avLst/>
          </a:prstGeom>
          <a:solidFill>
            <a:srgbClr val="22D3EE">
              <a:alpha val="16000"/>
            </a:srgbClr>
          </a:solidFill>
          <a:ln w="12700">
            <a:solidFill>
              <a:srgbClr val="22D3EE">
                <a:alpha val="45000"/>
              </a:srgbClr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2078" y="1879092"/>
            <a:ext cx="283464" cy="283464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5386730" y="1737360"/>
            <a:ext cx="218633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Student support</a:t>
            </a:r>
            <a:endParaRPr lang="en-US" sz="1600" dirty="0"/>
          </a:p>
        </p:txBody>
      </p:sp>
      <p:sp>
        <p:nvSpPr>
          <p:cNvPr id="15" name="Text 11"/>
          <p:cNvSpPr txBox="1"/>
          <p:nvPr/>
        </p:nvSpPr>
        <p:spPr>
          <a:xfrm>
            <a:off x="4618634" y="2505456"/>
            <a:ext cx="2954426" cy="10332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Explanations on demand, available at any hour and endlessly patient.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8121701" y="1481328"/>
            <a:ext cx="3503066" cy="2240280"/>
          </a:xfrm>
          <a:prstGeom prst="roundRect">
            <a:avLst>
              <a:gd name="adj" fmla="val 3265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377733" y="1737360"/>
            <a:ext cx="566928" cy="566928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9465" y="1879092"/>
            <a:ext cx="283464" cy="283464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9164117" y="1737360"/>
            <a:ext cx="218633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Accessibility</a:t>
            </a:r>
            <a:endParaRPr lang="en-US" sz="1600" dirty="0"/>
          </a:p>
        </p:txBody>
      </p:sp>
      <p:sp>
        <p:nvSpPr>
          <p:cNvPr id="20" name="Text 15"/>
          <p:cNvSpPr txBox="1"/>
          <p:nvPr/>
        </p:nvSpPr>
        <p:spPr>
          <a:xfrm>
            <a:off x="8396021" y="2505456"/>
            <a:ext cx="2954426" cy="10332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Text-to-speech, captions and simplified versions of complex material.</a:t>
            </a:r>
            <a:endParaRPr lang="en-US" sz="1300" dirty="0"/>
          </a:p>
        </p:txBody>
      </p:sp>
      <p:sp>
        <p:nvSpPr>
          <p:cNvPr id="21" name="Shape 16"/>
          <p:cNvSpPr/>
          <p:nvPr/>
        </p:nvSpPr>
        <p:spPr>
          <a:xfrm>
            <a:off x="566928" y="3995928"/>
            <a:ext cx="3503066" cy="2240280"/>
          </a:xfrm>
          <a:prstGeom prst="roundRect">
            <a:avLst>
              <a:gd name="adj" fmla="val 3265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822960" y="4251960"/>
            <a:ext cx="566928" cy="566928"/>
          </a:xfrm>
          <a:prstGeom prst="ellipse">
            <a:avLst/>
          </a:prstGeom>
          <a:solidFill>
            <a:srgbClr val="34D399">
              <a:alpha val="16000"/>
            </a:srgbClr>
          </a:solidFill>
          <a:ln w="12700">
            <a:solidFill>
              <a:srgbClr val="34D399">
                <a:alpha val="45000"/>
              </a:srgbClr>
            </a:solidFill>
            <a:prstDash val="solid"/>
          </a:ln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4692" y="4393692"/>
            <a:ext cx="283464" cy="283464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1609344" y="4251960"/>
            <a:ext cx="218633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Feedback on drafts</a:t>
            </a:r>
            <a:endParaRPr lang="en-US" sz="1600" dirty="0"/>
          </a:p>
        </p:txBody>
      </p:sp>
      <p:sp>
        <p:nvSpPr>
          <p:cNvPr id="25" name="Text 19"/>
          <p:cNvSpPr txBox="1"/>
          <p:nvPr/>
        </p:nvSpPr>
        <p:spPr>
          <a:xfrm>
            <a:off x="841248" y="5020056"/>
            <a:ext cx="2954426" cy="10332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Structural and clarity feedback before a teacher reviews the work.</a:t>
            </a:r>
            <a:endParaRPr lang="en-US" sz="1300" dirty="0"/>
          </a:p>
        </p:txBody>
      </p:sp>
      <p:sp>
        <p:nvSpPr>
          <p:cNvPr id="26" name="Shape 20"/>
          <p:cNvSpPr/>
          <p:nvPr/>
        </p:nvSpPr>
        <p:spPr>
          <a:xfrm>
            <a:off x="4344314" y="3995928"/>
            <a:ext cx="3503066" cy="2240280"/>
          </a:xfrm>
          <a:prstGeom prst="roundRect">
            <a:avLst>
              <a:gd name="adj" fmla="val 3265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4600346" y="4251960"/>
            <a:ext cx="566928" cy="566928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42078" y="4393692"/>
            <a:ext cx="283464" cy="283464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5386730" y="4251960"/>
            <a:ext cx="218633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Assessment integrity</a:t>
            </a:r>
            <a:endParaRPr lang="en-US" sz="1600" dirty="0"/>
          </a:p>
        </p:txBody>
      </p:sp>
      <p:sp>
        <p:nvSpPr>
          <p:cNvPr id="30" name="Text 23"/>
          <p:cNvSpPr txBox="1"/>
          <p:nvPr/>
        </p:nvSpPr>
        <p:spPr>
          <a:xfrm>
            <a:off x="4618634" y="5020056"/>
            <a:ext cx="2954426" cy="10332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Institutions need clear rules on what is allowed. Detection tools are unreliable and can be unfair.</a:t>
            </a:r>
            <a:endParaRPr lang="en-US" sz="1300" dirty="0"/>
          </a:p>
        </p:txBody>
      </p:sp>
      <p:sp>
        <p:nvSpPr>
          <p:cNvPr id="31" name="Shape 24"/>
          <p:cNvSpPr/>
          <p:nvPr/>
        </p:nvSpPr>
        <p:spPr>
          <a:xfrm>
            <a:off x="8121701" y="3995928"/>
            <a:ext cx="3503066" cy="2240280"/>
          </a:xfrm>
          <a:prstGeom prst="roundRect">
            <a:avLst>
              <a:gd name="adj" fmla="val 3265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8377733" y="4251960"/>
            <a:ext cx="566928" cy="566928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33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19465" y="4393692"/>
            <a:ext cx="283464" cy="283464"/>
          </a:xfrm>
          <a:prstGeom prst="rect">
            <a:avLst/>
          </a:prstGeom>
        </p:spPr>
      </p:pic>
      <p:sp>
        <p:nvSpPr>
          <p:cNvPr id="34" name="Text 26"/>
          <p:cNvSpPr txBox="1"/>
          <p:nvPr/>
        </p:nvSpPr>
        <p:spPr>
          <a:xfrm>
            <a:off x="9164117" y="4251960"/>
            <a:ext cx="218633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Teacher stays central</a:t>
            </a:r>
            <a:endParaRPr lang="en-US" sz="1600" dirty="0"/>
          </a:p>
        </p:txBody>
      </p:sp>
      <p:sp>
        <p:nvSpPr>
          <p:cNvPr id="35" name="Text 27"/>
          <p:cNvSpPr txBox="1"/>
          <p:nvPr/>
        </p:nvSpPr>
        <p:spPr>
          <a:xfrm>
            <a:off x="8396021" y="5020056"/>
            <a:ext cx="2954426" cy="10332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 supports teaching. It does not replace the relationship or the professional judgement.</a:t>
            </a:r>
            <a:endParaRPr lang="en-US" sz="1300" dirty="0"/>
          </a:p>
        </p:txBody>
      </p:sp>
    </p:spTree>
  </p:cSld>
  <p:clrMapOvr>
    <a:masterClrMapping/>
  </p:clrMapOvr>
</p:sld>
</file>

<file path=ppt/slides/slide2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SLIDE 184 · FUNCTION 7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Healthcare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Section 17 · Generative AI for Business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216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11057839" cy="877824"/>
          </a:xfrm>
          <a:prstGeom prst="roundRect">
            <a:avLst>
              <a:gd name="adj" fmla="val 8333"/>
            </a:avLst>
          </a:prstGeom>
          <a:solidFill>
            <a:srgbClr val="191640">
              <a:alpha val="96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6928" y="1627632"/>
            <a:ext cx="64008" cy="585216"/>
          </a:xfrm>
          <a:prstGeom prst="roundRect">
            <a:avLst>
              <a:gd name="adj" fmla="val 42857"/>
            </a:avLst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59536" y="1572768"/>
            <a:ext cx="10472623" cy="6949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DDD9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Healthcare uses are real, but this is a high-stakes area where qualified human review is mandatory.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66928" y="2615184"/>
            <a:ext cx="3503066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22960" y="2816352"/>
            <a:ext cx="457200" cy="457200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2930652"/>
            <a:ext cx="228600" cy="22860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499616" y="2816352"/>
            <a:ext cx="229605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Documentation</a:t>
            </a:r>
            <a:endParaRPr lang="en-US" sz="1450" dirty="0"/>
          </a:p>
        </p:txBody>
      </p:sp>
      <p:sp>
        <p:nvSpPr>
          <p:cNvPr id="13" name="Text 10"/>
          <p:cNvSpPr txBox="1"/>
          <p:nvPr/>
        </p:nvSpPr>
        <p:spPr>
          <a:xfrm>
            <a:off x="841248" y="3419856"/>
            <a:ext cx="2954426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Draft clinical notes from a consultation, then reviewed and signed by the clinician.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344314" y="2615184"/>
            <a:ext cx="3503066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600346" y="2816352"/>
            <a:ext cx="457200" cy="457200"/>
          </a:xfrm>
          <a:prstGeom prst="ellipse">
            <a:avLst/>
          </a:prstGeom>
          <a:solidFill>
            <a:srgbClr val="22D3EE">
              <a:alpha val="16000"/>
            </a:srgbClr>
          </a:solidFill>
          <a:ln w="12700">
            <a:solidFill>
              <a:srgbClr val="22D3EE">
                <a:alpha val="45000"/>
              </a:srgbClr>
            </a:solidFill>
            <a:prstDash val="solid"/>
          </a:ln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4646" y="2930652"/>
            <a:ext cx="228600" cy="22860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5277002" y="2816352"/>
            <a:ext cx="229605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Patient communication</a:t>
            </a:r>
            <a:endParaRPr lang="en-US" sz="1450" dirty="0"/>
          </a:p>
        </p:txBody>
      </p:sp>
      <p:sp>
        <p:nvSpPr>
          <p:cNvPr id="18" name="Text 14"/>
          <p:cNvSpPr txBox="1"/>
          <p:nvPr/>
        </p:nvSpPr>
        <p:spPr>
          <a:xfrm>
            <a:off x="4618634" y="3419856"/>
            <a:ext cx="2954426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Explain a discharge letter in simpler language, checked before it is given.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8121701" y="2615184"/>
            <a:ext cx="3503066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8377733" y="2816352"/>
            <a:ext cx="457200" cy="457200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2033" y="2930652"/>
            <a:ext cx="228600" cy="22860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9054389" y="2816352"/>
            <a:ext cx="229605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Literature review</a:t>
            </a:r>
            <a:endParaRPr lang="en-US" sz="1450" dirty="0"/>
          </a:p>
        </p:txBody>
      </p:sp>
      <p:sp>
        <p:nvSpPr>
          <p:cNvPr id="23" name="Text 18"/>
          <p:cNvSpPr txBox="1"/>
          <p:nvPr/>
        </p:nvSpPr>
        <p:spPr>
          <a:xfrm>
            <a:off x="8396021" y="3419856"/>
            <a:ext cx="2954426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Summarise research papers for a professional who will read the originals.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566928" y="4530149"/>
            <a:ext cx="3503066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822960" y="4731317"/>
            <a:ext cx="457200" cy="457200"/>
          </a:xfrm>
          <a:prstGeom prst="ellipse">
            <a:avLst/>
          </a:prstGeom>
          <a:solidFill>
            <a:srgbClr val="34D399">
              <a:alpha val="16000"/>
            </a:srgbClr>
          </a:solidFill>
          <a:ln w="12700">
            <a:solidFill>
              <a:srgbClr val="34D399">
                <a:alpha val="45000"/>
              </a:srgbClr>
            </a:solidFill>
            <a:prstDash val="solid"/>
          </a:ln>
        </p:spPr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7260" y="4845617"/>
            <a:ext cx="228600" cy="228600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1499616" y="4731317"/>
            <a:ext cx="229605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Administration</a:t>
            </a:r>
            <a:endParaRPr lang="en-US" sz="1450" dirty="0"/>
          </a:p>
        </p:txBody>
      </p:sp>
      <p:sp>
        <p:nvSpPr>
          <p:cNvPr id="28" name="Text 22"/>
          <p:cNvSpPr txBox="1"/>
          <p:nvPr/>
        </p:nvSpPr>
        <p:spPr>
          <a:xfrm>
            <a:off x="841248" y="5334821"/>
            <a:ext cx="2954426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Appointment letters, scheduling and routine correspondence.</a:t>
            </a:r>
            <a:endParaRPr lang="en-US" sz="1200" dirty="0"/>
          </a:p>
        </p:txBody>
      </p:sp>
      <p:sp>
        <p:nvSpPr>
          <p:cNvPr id="29" name="Shape 23"/>
          <p:cNvSpPr/>
          <p:nvPr/>
        </p:nvSpPr>
        <p:spPr>
          <a:xfrm>
            <a:off x="4344314" y="4530149"/>
            <a:ext cx="3503066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4600346" y="4731317"/>
            <a:ext cx="457200" cy="457200"/>
          </a:xfrm>
          <a:prstGeom prst="ellipse">
            <a:avLst/>
          </a:prstGeom>
          <a:solidFill>
            <a:srgbClr val="F472B6">
              <a:alpha val="16000"/>
            </a:srgbClr>
          </a:solidFill>
          <a:ln w="12700">
            <a:solidFill>
              <a:srgbClr val="F472B6">
                <a:alpha val="45000"/>
              </a:srgbClr>
            </a:solidFill>
            <a:prstDash val="solid"/>
          </a:ln>
        </p:spPr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14646" y="4845617"/>
            <a:ext cx="228600" cy="228600"/>
          </a:xfrm>
          <a:prstGeom prst="rect">
            <a:avLst/>
          </a:prstGeom>
        </p:spPr>
      </p:pic>
      <p:sp>
        <p:nvSpPr>
          <p:cNvPr id="32" name="Text 25"/>
          <p:cNvSpPr txBox="1"/>
          <p:nvPr/>
        </p:nvSpPr>
        <p:spPr>
          <a:xfrm>
            <a:off x="5277002" y="4731317"/>
            <a:ext cx="229605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Never for diagnosis alone</a:t>
            </a:r>
            <a:endParaRPr lang="en-US" sz="1450" dirty="0"/>
          </a:p>
        </p:txBody>
      </p:sp>
      <p:sp>
        <p:nvSpPr>
          <p:cNvPr id="33" name="Text 26"/>
          <p:cNvSpPr txBox="1"/>
          <p:nvPr/>
        </p:nvSpPr>
        <p:spPr>
          <a:xfrm>
            <a:off x="4618634" y="5334821"/>
            <a:ext cx="2954426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 output must never be the basis of a diagnosis or treatment decision without a qualified professional.</a:t>
            </a:r>
            <a:endParaRPr lang="en-US" sz="1200" dirty="0"/>
          </a:p>
        </p:txBody>
      </p:sp>
      <p:sp>
        <p:nvSpPr>
          <p:cNvPr id="34" name="Shape 27"/>
          <p:cNvSpPr/>
          <p:nvPr/>
        </p:nvSpPr>
        <p:spPr>
          <a:xfrm>
            <a:off x="8121701" y="4530149"/>
            <a:ext cx="3503066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35" name="Shape 28"/>
          <p:cNvSpPr/>
          <p:nvPr/>
        </p:nvSpPr>
        <p:spPr>
          <a:xfrm>
            <a:off x="8377733" y="4731317"/>
            <a:ext cx="457200" cy="457200"/>
          </a:xfrm>
          <a:prstGeom prst="ellipse">
            <a:avLst/>
          </a:prstGeom>
          <a:solidFill>
            <a:srgbClr val="F472B6">
              <a:alpha val="16000"/>
            </a:srgbClr>
          </a:solidFill>
          <a:ln w="12700">
            <a:solidFill>
              <a:srgbClr val="F472B6">
                <a:alpha val="45000"/>
              </a:srgbClr>
            </a:solidFill>
            <a:prstDash val="solid"/>
          </a:ln>
        </p:spPr>
      </p:sp>
      <p:pic>
        <p:nvPicPr>
          <p:cNvPr id="36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92033" y="4845617"/>
            <a:ext cx="228600" cy="228600"/>
          </a:xfrm>
          <a:prstGeom prst="rect">
            <a:avLst/>
          </a:prstGeom>
        </p:spPr>
      </p:pic>
      <p:sp>
        <p:nvSpPr>
          <p:cNvPr id="37" name="Text 29"/>
          <p:cNvSpPr txBox="1"/>
          <p:nvPr/>
        </p:nvSpPr>
        <p:spPr>
          <a:xfrm>
            <a:off x="9054389" y="4731317"/>
            <a:ext cx="229605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Patient data</a:t>
            </a:r>
            <a:endParaRPr lang="en-US" sz="1450" dirty="0"/>
          </a:p>
        </p:txBody>
      </p:sp>
      <p:sp>
        <p:nvSpPr>
          <p:cNvPr id="38" name="Text 30"/>
          <p:cNvSpPr txBox="1"/>
          <p:nvPr/>
        </p:nvSpPr>
        <p:spPr>
          <a:xfrm>
            <a:off x="8396021" y="5334821"/>
            <a:ext cx="2954426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Health data is highly regulated. Only approved systems with proper agreements may be used.</a:t>
            </a:r>
            <a:endParaRPr lang="en-US" sz="1200" dirty="0"/>
          </a:p>
        </p:txBody>
      </p:sp>
    </p:spTree>
  </p:cSld>
  <p:clrMapOvr>
    <a:masterClrMapping/>
  </p:clrMapOvr>
</p:sld>
</file>

<file path=ppt/slides/slide2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SLIDE 185 · FUNCTION 8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Software Development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Section 17 · Generative AI for Business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217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3503066" cy="2240280"/>
          </a:xfrm>
          <a:prstGeom prst="roundRect">
            <a:avLst>
              <a:gd name="adj" fmla="val 3265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1737360"/>
            <a:ext cx="566928" cy="566928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4692" y="1879092"/>
            <a:ext cx="283464" cy="283464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609344" y="1737360"/>
            <a:ext cx="218633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Faster first drafts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841248" y="2505456"/>
            <a:ext cx="2954426" cy="10332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Boilerplate, small functions and test scaffolding produced quickly.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344314" y="1481328"/>
            <a:ext cx="3503066" cy="2240280"/>
          </a:xfrm>
          <a:prstGeom prst="roundRect">
            <a:avLst>
              <a:gd name="adj" fmla="val 3265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600346" y="1737360"/>
            <a:ext cx="566928" cy="566928"/>
          </a:xfrm>
          <a:prstGeom prst="ellipse">
            <a:avLst/>
          </a:prstGeom>
          <a:solidFill>
            <a:srgbClr val="22D3EE">
              <a:alpha val="16000"/>
            </a:srgbClr>
          </a:solidFill>
          <a:ln w="12700">
            <a:solidFill>
              <a:srgbClr val="22D3EE">
                <a:alpha val="45000"/>
              </a:srgbClr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2078" y="1879092"/>
            <a:ext cx="283464" cy="283464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5386730" y="1737360"/>
            <a:ext cx="218633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Understanding legacy code</a:t>
            </a:r>
            <a:endParaRPr lang="en-US" sz="1600" dirty="0"/>
          </a:p>
        </p:txBody>
      </p:sp>
      <p:sp>
        <p:nvSpPr>
          <p:cNvPr id="15" name="Text 11"/>
          <p:cNvSpPr txBox="1"/>
          <p:nvPr/>
        </p:nvSpPr>
        <p:spPr>
          <a:xfrm>
            <a:off x="4618634" y="2505456"/>
            <a:ext cx="2954426" cy="10332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Explanations make an unfamiliar codebase far easier to enter.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8121701" y="1481328"/>
            <a:ext cx="3503066" cy="2240280"/>
          </a:xfrm>
          <a:prstGeom prst="roundRect">
            <a:avLst>
              <a:gd name="adj" fmla="val 3265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377733" y="1737360"/>
            <a:ext cx="566928" cy="566928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9465" y="1879092"/>
            <a:ext cx="283464" cy="283464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9164117" y="1737360"/>
            <a:ext cx="218633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Test coverage</a:t>
            </a:r>
            <a:endParaRPr lang="en-US" sz="1600" dirty="0"/>
          </a:p>
        </p:txBody>
      </p:sp>
      <p:sp>
        <p:nvSpPr>
          <p:cNvPr id="20" name="Text 15"/>
          <p:cNvSpPr txBox="1"/>
          <p:nvPr/>
        </p:nvSpPr>
        <p:spPr>
          <a:xfrm>
            <a:off x="8396021" y="2505456"/>
            <a:ext cx="2954426" cy="10332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Generated test cases, including edge cases developers often miss.</a:t>
            </a:r>
            <a:endParaRPr lang="en-US" sz="1300" dirty="0"/>
          </a:p>
        </p:txBody>
      </p:sp>
      <p:sp>
        <p:nvSpPr>
          <p:cNvPr id="21" name="Shape 16"/>
          <p:cNvSpPr/>
          <p:nvPr/>
        </p:nvSpPr>
        <p:spPr>
          <a:xfrm>
            <a:off x="566928" y="3995928"/>
            <a:ext cx="3503066" cy="2240280"/>
          </a:xfrm>
          <a:prstGeom prst="roundRect">
            <a:avLst>
              <a:gd name="adj" fmla="val 3265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822960" y="4251960"/>
            <a:ext cx="566928" cy="566928"/>
          </a:xfrm>
          <a:prstGeom prst="ellipse">
            <a:avLst/>
          </a:prstGeom>
          <a:solidFill>
            <a:srgbClr val="34D399">
              <a:alpha val="16000"/>
            </a:srgbClr>
          </a:solidFill>
          <a:ln w="12700">
            <a:solidFill>
              <a:srgbClr val="34D399">
                <a:alpha val="45000"/>
              </a:srgbClr>
            </a:solidFill>
            <a:prstDash val="solid"/>
          </a:ln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4692" y="4393692"/>
            <a:ext cx="283464" cy="283464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1609344" y="4251960"/>
            <a:ext cx="218633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Documentation</a:t>
            </a:r>
            <a:endParaRPr lang="en-US" sz="1600" dirty="0"/>
          </a:p>
        </p:txBody>
      </p:sp>
      <p:sp>
        <p:nvSpPr>
          <p:cNvPr id="25" name="Text 19"/>
          <p:cNvSpPr txBox="1"/>
          <p:nvPr/>
        </p:nvSpPr>
        <p:spPr>
          <a:xfrm>
            <a:off x="841248" y="5020056"/>
            <a:ext cx="2954426" cy="10332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task most often skipped becomes cheap enough to actually do.</a:t>
            </a:r>
            <a:endParaRPr lang="en-US" sz="1300" dirty="0"/>
          </a:p>
        </p:txBody>
      </p:sp>
      <p:sp>
        <p:nvSpPr>
          <p:cNvPr id="26" name="Shape 20"/>
          <p:cNvSpPr/>
          <p:nvPr/>
        </p:nvSpPr>
        <p:spPr>
          <a:xfrm>
            <a:off x="4344314" y="3995928"/>
            <a:ext cx="3503066" cy="2240280"/>
          </a:xfrm>
          <a:prstGeom prst="roundRect">
            <a:avLst>
              <a:gd name="adj" fmla="val 3265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4600346" y="4251960"/>
            <a:ext cx="566928" cy="566928"/>
          </a:xfrm>
          <a:prstGeom prst="ellipse">
            <a:avLst/>
          </a:prstGeom>
          <a:solidFill>
            <a:srgbClr val="F472B6">
              <a:alpha val="16000"/>
            </a:srgbClr>
          </a:solidFill>
          <a:ln w="12700">
            <a:solidFill>
              <a:srgbClr val="F472B6">
                <a:alpha val="45000"/>
              </a:srgbClr>
            </a:solidFill>
            <a:prstDash val="solid"/>
          </a:ln>
        </p:spPr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42078" y="4393692"/>
            <a:ext cx="283464" cy="283464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5386730" y="4251960"/>
            <a:ext cx="218633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Agentic workflows</a:t>
            </a:r>
            <a:endParaRPr lang="en-US" sz="1600" dirty="0"/>
          </a:p>
        </p:txBody>
      </p:sp>
      <p:sp>
        <p:nvSpPr>
          <p:cNvPr id="30" name="Text 23"/>
          <p:cNvSpPr txBox="1"/>
          <p:nvPr/>
        </p:nvSpPr>
        <p:spPr>
          <a:xfrm>
            <a:off x="4618634" y="5020056"/>
            <a:ext cx="2954426" cy="10332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Tools that take a task, edit files, run tests and report back.</a:t>
            </a:r>
            <a:endParaRPr lang="en-US" sz="1300" dirty="0"/>
          </a:p>
        </p:txBody>
      </p:sp>
      <p:sp>
        <p:nvSpPr>
          <p:cNvPr id="31" name="Shape 24"/>
          <p:cNvSpPr/>
          <p:nvPr/>
        </p:nvSpPr>
        <p:spPr>
          <a:xfrm>
            <a:off x="8121701" y="3995928"/>
            <a:ext cx="3503066" cy="2240280"/>
          </a:xfrm>
          <a:prstGeom prst="roundRect">
            <a:avLst>
              <a:gd name="adj" fmla="val 3265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8377733" y="4251960"/>
            <a:ext cx="566928" cy="566928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33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19465" y="4393692"/>
            <a:ext cx="283464" cy="283464"/>
          </a:xfrm>
          <a:prstGeom prst="rect">
            <a:avLst/>
          </a:prstGeom>
        </p:spPr>
      </p:pic>
      <p:sp>
        <p:nvSpPr>
          <p:cNvPr id="34" name="Text 26"/>
          <p:cNvSpPr txBox="1"/>
          <p:nvPr/>
        </p:nvSpPr>
        <p:spPr>
          <a:xfrm>
            <a:off x="9164117" y="4251960"/>
            <a:ext cx="218633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Review does not change</a:t>
            </a:r>
            <a:endParaRPr lang="en-US" sz="1600" dirty="0"/>
          </a:p>
        </p:txBody>
      </p:sp>
      <p:sp>
        <p:nvSpPr>
          <p:cNvPr id="35" name="Text 27"/>
          <p:cNvSpPr txBox="1"/>
          <p:nvPr/>
        </p:nvSpPr>
        <p:spPr>
          <a:xfrm>
            <a:off x="8396021" y="5020056"/>
            <a:ext cx="2954426" cy="10332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Code review, testing and security checks remain exactly as important as before.</a:t>
            </a:r>
            <a:endParaRPr lang="en-US" sz="1300" dirty="0"/>
          </a:p>
        </p:txBody>
      </p:sp>
    </p:spTree>
  </p:cSld>
  <p:clrMapOvr>
    <a:masterClrMapping/>
  </p:clrMapOvr>
</p:sld>
</file>

<file path=ppt/slides/slide2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SLIDE 186 · FUNCTION 9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Productivity Across Every Team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Section 17 · Generative AI for Business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218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11057839" cy="670560"/>
          </a:xfrm>
          <a:prstGeom prst="roundRect">
            <a:avLst>
              <a:gd name="adj" fmla="val 10909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04672" y="1600200"/>
            <a:ext cx="432816" cy="432816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2876" y="1708404"/>
            <a:ext cx="216408" cy="216408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475232" y="1591056"/>
            <a:ext cx="9875215" cy="4511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Meetings to actions</a:t>
            </a:r>
            <a:endParaRPr lang="en-US" sz="13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Transcript in, decisions and owners out, in under a minute.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566928" y="2298192"/>
            <a:ext cx="11057839" cy="670560"/>
          </a:xfrm>
          <a:prstGeom prst="roundRect">
            <a:avLst>
              <a:gd name="adj" fmla="val 10909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804672" y="2417064"/>
            <a:ext cx="432816" cy="432816"/>
          </a:xfrm>
          <a:prstGeom prst="ellipse">
            <a:avLst/>
          </a:prstGeom>
          <a:solidFill>
            <a:srgbClr val="22D3EE">
              <a:alpha val="16000"/>
            </a:srgbClr>
          </a:solidFill>
          <a:ln w="12700">
            <a:solidFill>
              <a:srgbClr val="22D3EE">
                <a:alpha val="45000"/>
              </a:srgbClr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876" y="2525268"/>
            <a:ext cx="216408" cy="216408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475232" y="2407920"/>
            <a:ext cx="9875215" cy="4511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Inbox management</a:t>
            </a:r>
            <a:endParaRPr lang="en-US" sz="13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Summarise long threads and draft replies for review.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566928" y="3115056"/>
            <a:ext cx="11057839" cy="670560"/>
          </a:xfrm>
          <a:prstGeom prst="roundRect">
            <a:avLst>
              <a:gd name="adj" fmla="val 10909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04672" y="3233928"/>
            <a:ext cx="432816" cy="432816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2876" y="3342132"/>
            <a:ext cx="216408" cy="216408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475232" y="3224784"/>
            <a:ext cx="9875215" cy="4511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Structure from chaos</a:t>
            </a:r>
            <a:endParaRPr lang="en-US" sz="13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Messy notes converted into clean tables and checklists.</a:t>
            </a:r>
            <a:endParaRPr lang="en-US" sz="1350" dirty="0"/>
          </a:p>
        </p:txBody>
      </p:sp>
      <p:sp>
        <p:nvSpPr>
          <p:cNvPr id="18" name="Shape 13"/>
          <p:cNvSpPr/>
          <p:nvPr/>
        </p:nvSpPr>
        <p:spPr>
          <a:xfrm>
            <a:off x="566928" y="3931920"/>
            <a:ext cx="11057839" cy="670560"/>
          </a:xfrm>
          <a:prstGeom prst="roundRect">
            <a:avLst>
              <a:gd name="adj" fmla="val 10909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804672" y="4050792"/>
            <a:ext cx="432816" cy="432816"/>
          </a:xfrm>
          <a:prstGeom prst="ellipse">
            <a:avLst/>
          </a:prstGeom>
          <a:solidFill>
            <a:srgbClr val="34D399">
              <a:alpha val="16000"/>
            </a:srgbClr>
          </a:solidFill>
          <a:ln w="12700">
            <a:solidFill>
              <a:srgbClr val="34D399">
                <a:alpha val="45000"/>
              </a:srgbClr>
            </a:solidFill>
            <a:prstDash val="solid"/>
          </a:ln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876" y="4158996"/>
            <a:ext cx="216408" cy="216408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475232" y="4041648"/>
            <a:ext cx="9875215" cy="4511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Faster reading</a:t>
            </a:r>
            <a:endParaRPr lang="en-US" sz="13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Summary first, then read only the parts that matter.</a:t>
            </a:r>
            <a:endParaRPr lang="en-US" sz="1350" dirty="0"/>
          </a:p>
        </p:txBody>
      </p:sp>
      <p:sp>
        <p:nvSpPr>
          <p:cNvPr id="22" name="Shape 16"/>
          <p:cNvSpPr/>
          <p:nvPr/>
        </p:nvSpPr>
        <p:spPr>
          <a:xfrm>
            <a:off x="566928" y="4748784"/>
            <a:ext cx="11057839" cy="670560"/>
          </a:xfrm>
          <a:prstGeom prst="roundRect">
            <a:avLst>
              <a:gd name="adj" fmla="val 10909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804672" y="4867656"/>
            <a:ext cx="432816" cy="432816"/>
          </a:xfrm>
          <a:prstGeom prst="ellipse">
            <a:avLst/>
          </a:prstGeom>
          <a:solidFill>
            <a:srgbClr val="F472B6">
              <a:alpha val="16000"/>
            </a:srgbClr>
          </a:solidFill>
          <a:ln w="12700">
            <a:solidFill>
              <a:srgbClr val="F472B6">
                <a:alpha val="45000"/>
              </a:srgbClr>
            </a:solidFill>
            <a:prstDash val="solid"/>
          </a:ln>
        </p:spPr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2876" y="4975860"/>
            <a:ext cx="216408" cy="216408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1475232" y="4858512"/>
            <a:ext cx="9875215" cy="4511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Communication support</a:t>
            </a:r>
            <a:endParaRPr lang="en-US" sz="13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Help writing clearly, particularly for non-native speakers.</a:t>
            </a:r>
            <a:endParaRPr lang="en-US" sz="1350" dirty="0"/>
          </a:p>
        </p:txBody>
      </p:sp>
      <p:sp>
        <p:nvSpPr>
          <p:cNvPr id="26" name="Shape 19"/>
          <p:cNvSpPr/>
          <p:nvPr/>
        </p:nvSpPr>
        <p:spPr>
          <a:xfrm>
            <a:off x="566928" y="5565648"/>
            <a:ext cx="11057839" cy="670560"/>
          </a:xfrm>
          <a:prstGeom prst="roundRect">
            <a:avLst>
              <a:gd name="adj" fmla="val 10909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7" name="Shape 20"/>
          <p:cNvSpPr/>
          <p:nvPr/>
        </p:nvSpPr>
        <p:spPr>
          <a:xfrm>
            <a:off x="804672" y="5684520"/>
            <a:ext cx="432816" cy="432816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28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2876" y="5792724"/>
            <a:ext cx="216408" cy="216408"/>
          </a:xfrm>
          <a:prstGeom prst="rect">
            <a:avLst/>
          </a:prstGeom>
        </p:spPr>
      </p:pic>
      <p:sp>
        <p:nvSpPr>
          <p:cNvPr id="29" name="Text 21"/>
          <p:cNvSpPr txBox="1"/>
          <p:nvPr/>
        </p:nvSpPr>
        <p:spPr>
          <a:xfrm>
            <a:off x="1475232" y="5675376"/>
            <a:ext cx="9875215" cy="4511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The realistic gain</a:t>
            </a:r>
            <a:endParaRPr lang="en-US" sz="13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Saving minutes many times a day adds up far more than one dramatic use case.</a:t>
            </a:r>
            <a:endParaRPr lang="en-US" sz="1350" dirty="0"/>
          </a:p>
        </p:txBody>
      </p:sp>
    </p:spTree>
  </p:cSld>
  <p:clrMapOvr>
    <a:masterClrMapping/>
  </p:clrMapOvr>
</p:sld>
</file>

<file path=ppt/slides/slide2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SLIDE 187 · SCALE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Enterprise AI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Section 17 · Generative AI for Business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219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11057839" cy="877824"/>
          </a:xfrm>
          <a:prstGeom prst="roundRect">
            <a:avLst>
              <a:gd name="adj" fmla="val 8333"/>
            </a:avLst>
          </a:prstGeom>
          <a:solidFill>
            <a:srgbClr val="191640">
              <a:alpha val="96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6928" y="1627632"/>
            <a:ext cx="64008" cy="585216"/>
          </a:xfrm>
          <a:prstGeom prst="roundRect">
            <a:avLst>
              <a:gd name="adj" fmla="val 42857"/>
            </a:avLst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59536" y="1572768"/>
            <a:ext cx="10472623" cy="6949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DDD9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Enterprise AI means deploying Gen AI across an organisation safely, reliably and at scale.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66928" y="2615184"/>
            <a:ext cx="3503066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22960" y="2816352"/>
            <a:ext cx="457200" cy="457200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2930652"/>
            <a:ext cx="228600" cy="22860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499616" y="2816352"/>
            <a:ext cx="229605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Data controls</a:t>
            </a:r>
            <a:endParaRPr lang="en-US" sz="1450" dirty="0"/>
          </a:p>
        </p:txBody>
      </p:sp>
      <p:sp>
        <p:nvSpPr>
          <p:cNvPr id="13" name="Text 10"/>
          <p:cNvSpPr txBox="1"/>
          <p:nvPr/>
        </p:nvSpPr>
        <p:spPr>
          <a:xfrm>
            <a:off x="841248" y="3419856"/>
            <a:ext cx="2954426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Contracts covering where data goes, how long it is kept and whether it is used for training.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344314" y="2615184"/>
            <a:ext cx="3503066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600346" y="2816352"/>
            <a:ext cx="457200" cy="457200"/>
          </a:xfrm>
          <a:prstGeom prst="ellipse">
            <a:avLst/>
          </a:prstGeom>
          <a:solidFill>
            <a:srgbClr val="22D3EE">
              <a:alpha val="16000"/>
            </a:srgbClr>
          </a:solidFill>
          <a:ln w="12700">
            <a:solidFill>
              <a:srgbClr val="22D3EE">
                <a:alpha val="45000"/>
              </a:srgbClr>
            </a:solidFill>
            <a:prstDash val="solid"/>
          </a:ln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4646" y="2930652"/>
            <a:ext cx="228600" cy="22860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5277002" y="2816352"/>
            <a:ext cx="229605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Access management</a:t>
            </a:r>
            <a:endParaRPr lang="en-US" sz="1450" dirty="0"/>
          </a:p>
        </p:txBody>
      </p:sp>
      <p:sp>
        <p:nvSpPr>
          <p:cNvPr id="18" name="Text 14"/>
          <p:cNvSpPr txBox="1"/>
          <p:nvPr/>
        </p:nvSpPr>
        <p:spPr>
          <a:xfrm>
            <a:off x="4618634" y="3419856"/>
            <a:ext cx="2954426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 assistants must respect the same permissions as the underlying systems.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8121701" y="2615184"/>
            <a:ext cx="3503066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8377733" y="2816352"/>
            <a:ext cx="457200" cy="457200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2033" y="2930652"/>
            <a:ext cx="228600" cy="22860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9054389" y="2816352"/>
            <a:ext cx="229605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Multi-model strategy</a:t>
            </a:r>
            <a:endParaRPr lang="en-US" sz="1450" dirty="0"/>
          </a:p>
        </p:txBody>
      </p:sp>
      <p:sp>
        <p:nvSpPr>
          <p:cNvPr id="23" name="Text 18"/>
          <p:cNvSpPr txBox="1"/>
          <p:nvPr/>
        </p:nvSpPr>
        <p:spPr>
          <a:xfrm>
            <a:off x="8396021" y="3419856"/>
            <a:ext cx="2954426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Many organisations route different tasks to different models rather than committing to one.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566928" y="4530149"/>
            <a:ext cx="3503066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822960" y="4731317"/>
            <a:ext cx="457200" cy="457200"/>
          </a:xfrm>
          <a:prstGeom prst="ellipse">
            <a:avLst/>
          </a:prstGeom>
          <a:solidFill>
            <a:srgbClr val="34D399">
              <a:alpha val="16000"/>
            </a:srgbClr>
          </a:solidFill>
          <a:ln w="12700">
            <a:solidFill>
              <a:srgbClr val="34D399">
                <a:alpha val="45000"/>
              </a:srgbClr>
            </a:solidFill>
            <a:prstDash val="solid"/>
          </a:ln>
        </p:spPr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7260" y="4845617"/>
            <a:ext cx="228600" cy="228600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1499616" y="4731317"/>
            <a:ext cx="229605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Evaluation</a:t>
            </a:r>
            <a:endParaRPr lang="en-US" sz="1450" dirty="0"/>
          </a:p>
        </p:txBody>
      </p:sp>
      <p:sp>
        <p:nvSpPr>
          <p:cNvPr id="28" name="Text 22"/>
          <p:cNvSpPr txBox="1"/>
          <p:nvPr/>
        </p:nvSpPr>
        <p:spPr>
          <a:xfrm>
            <a:off x="841248" y="5334821"/>
            <a:ext cx="2954426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Test suites that check output quality before and after any model or prompt change.</a:t>
            </a:r>
            <a:endParaRPr lang="en-US" sz="1200" dirty="0"/>
          </a:p>
        </p:txBody>
      </p:sp>
      <p:sp>
        <p:nvSpPr>
          <p:cNvPr id="29" name="Shape 23"/>
          <p:cNvSpPr/>
          <p:nvPr/>
        </p:nvSpPr>
        <p:spPr>
          <a:xfrm>
            <a:off x="4344314" y="4530149"/>
            <a:ext cx="3503066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4600346" y="4731317"/>
            <a:ext cx="457200" cy="457200"/>
          </a:xfrm>
          <a:prstGeom prst="ellipse">
            <a:avLst/>
          </a:prstGeom>
          <a:solidFill>
            <a:srgbClr val="F472B6">
              <a:alpha val="16000"/>
            </a:srgbClr>
          </a:solidFill>
          <a:ln w="12700">
            <a:solidFill>
              <a:srgbClr val="F472B6">
                <a:alpha val="45000"/>
              </a:srgbClr>
            </a:solidFill>
            <a:prstDash val="solid"/>
          </a:ln>
        </p:spPr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14646" y="4845617"/>
            <a:ext cx="228600" cy="228600"/>
          </a:xfrm>
          <a:prstGeom prst="rect">
            <a:avLst/>
          </a:prstGeom>
        </p:spPr>
      </p:pic>
      <p:sp>
        <p:nvSpPr>
          <p:cNvPr id="32" name="Text 25"/>
          <p:cNvSpPr txBox="1"/>
          <p:nvPr/>
        </p:nvSpPr>
        <p:spPr>
          <a:xfrm>
            <a:off x="5277002" y="4731317"/>
            <a:ext cx="229605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Cost monitoring</a:t>
            </a:r>
            <a:endParaRPr lang="en-US" sz="1450" dirty="0"/>
          </a:p>
        </p:txBody>
      </p:sp>
      <p:sp>
        <p:nvSpPr>
          <p:cNvPr id="33" name="Text 26"/>
          <p:cNvSpPr txBox="1"/>
          <p:nvPr/>
        </p:nvSpPr>
        <p:spPr>
          <a:xfrm>
            <a:off x="4618634" y="5334821"/>
            <a:ext cx="2954426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Token usage is a real running cost that needs visibility and limits.</a:t>
            </a:r>
            <a:endParaRPr lang="en-US" sz="1200" dirty="0"/>
          </a:p>
        </p:txBody>
      </p:sp>
      <p:sp>
        <p:nvSpPr>
          <p:cNvPr id="34" name="Shape 27"/>
          <p:cNvSpPr/>
          <p:nvPr/>
        </p:nvSpPr>
        <p:spPr>
          <a:xfrm>
            <a:off x="8121701" y="4530149"/>
            <a:ext cx="3503066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35" name="Shape 28"/>
          <p:cNvSpPr/>
          <p:nvPr/>
        </p:nvSpPr>
        <p:spPr>
          <a:xfrm>
            <a:off x="8377733" y="4731317"/>
            <a:ext cx="457200" cy="457200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36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92033" y="4845617"/>
            <a:ext cx="228600" cy="228600"/>
          </a:xfrm>
          <a:prstGeom prst="rect">
            <a:avLst/>
          </a:prstGeom>
        </p:spPr>
      </p:pic>
      <p:sp>
        <p:nvSpPr>
          <p:cNvPr id="37" name="Text 29"/>
          <p:cNvSpPr txBox="1"/>
          <p:nvPr/>
        </p:nvSpPr>
        <p:spPr>
          <a:xfrm>
            <a:off x="9054389" y="4731317"/>
            <a:ext cx="229605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Governance</a:t>
            </a:r>
            <a:endParaRPr lang="en-US" sz="1450" dirty="0"/>
          </a:p>
        </p:txBody>
      </p:sp>
      <p:sp>
        <p:nvSpPr>
          <p:cNvPr id="38" name="Text 30"/>
          <p:cNvSpPr txBox="1"/>
          <p:nvPr/>
        </p:nvSpPr>
        <p:spPr>
          <a:xfrm>
            <a:off x="8396021" y="5334821"/>
            <a:ext cx="2954426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clear policy on approved tools, approved uses and required human review.</a:t>
            </a:r>
            <a:endParaRPr lang="en-US" sz="1200" dirty="0"/>
          </a:p>
        </p:txBody>
      </p:sp>
    </p:spTree>
  </p:cSld>
  <p:clrMapOvr>
    <a:masterClrMapping/>
  </p:clrMapOvr>
</p:sld>
</file>

<file path=ppt/slides/slide2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SLIDE 188 · AUTOMATION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AI Automation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Section 17 · Generative AI for Business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220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481328"/>
            <a:ext cx="11057839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DDD9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typical automated workflow combining AI with existing business systems.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66928" y="2048256"/>
            <a:ext cx="3350666" cy="1316736"/>
          </a:xfrm>
          <a:prstGeom prst="roundRect">
            <a:avLst>
              <a:gd name="adj" fmla="val 5556"/>
            </a:avLst>
          </a:prstGeom>
          <a:solidFill>
            <a:srgbClr val="191640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068525" y="1874520"/>
            <a:ext cx="347472" cy="347472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068525" y="1874520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0A1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94944" y="2322576"/>
            <a:ext cx="3094634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A78BF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Trigger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94944" y="2779776"/>
            <a:ext cx="3094634" cy="44805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form, email or ticket arrives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009034" y="2587752"/>
            <a:ext cx="320040" cy="237744"/>
          </a:xfrm>
          <a:prstGeom prst="rightArrow">
            <a:avLst/>
          </a:prstGeom>
          <a:solidFill>
            <a:srgbClr val="22D3EE">
              <a:alpha val="70000"/>
            </a:srgbClr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420514" y="2048256"/>
            <a:ext cx="3350666" cy="1316736"/>
          </a:xfrm>
          <a:prstGeom prst="roundRect">
            <a:avLst>
              <a:gd name="adj" fmla="val 5556"/>
            </a:avLst>
          </a:prstGeom>
          <a:solidFill>
            <a:srgbClr val="191640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922112" y="1874520"/>
            <a:ext cx="347472" cy="34747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922112" y="1874520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0A1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4548530" y="2322576"/>
            <a:ext cx="3094634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2D3E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Extract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4548530" y="2779776"/>
            <a:ext cx="3094634" cy="44805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 pulls the key fields into structure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7862621" y="2587752"/>
            <a:ext cx="320040" cy="237744"/>
          </a:xfrm>
          <a:prstGeom prst="rightArrow">
            <a:avLst/>
          </a:prstGeom>
          <a:solidFill>
            <a:srgbClr val="22D3EE">
              <a:alpha val="70000"/>
            </a:srgbClr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274101" y="2048256"/>
            <a:ext cx="3350666" cy="1316736"/>
          </a:xfrm>
          <a:prstGeom prst="roundRect">
            <a:avLst>
              <a:gd name="adj" fmla="val 5556"/>
            </a:avLst>
          </a:prstGeom>
          <a:solidFill>
            <a:srgbClr val="191640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775698" y="1874520"/>
            <a:ext cx="347472" cy="347472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775698" y="1874520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0A1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8402117" y="2322576"/>
            <a:ext cx="3094634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BBF2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Decide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8402117" y="2779776"/>
            <a:ext cx="3094634" cy="44805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Rules and AI classify and route it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66928" y="3822192"/>
            <a:ext cx="3350666" cy="1316736"/>
          </a:xfrm>
          <a:prstGeom prst="roundRect">
            <a:avLst>
              <a:gd name="adj" fmla="val 5556"/>
            </a:avLst>
          </a:prstGeom>
          <a:solidFill>
            <a:srgbClr val="191640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068525" y="3648456"/>
            <a:ext cx="347472" cy="347472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2068525" y="3648456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0A1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4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694944" y="4096512"/>
            <a:ext cx="3094634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4D39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Draft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694944" y="4553712"/>
            <a:ext cx="3094634" cy="44805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 prepares the reply or record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4009034" y="4361688"/>
            <a:ext cx="320040" cy="237744"/>
          </a:xfrm>
          <a:prstGeom prst="rightArrow">
            <a:avLst/>
          </a:prstGeom>
          <a:solidFill>
            <a:srgbClr val="22D3EE">
              <a:alpha val="70000"/>
            </a:srgbClr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420514" y="3822192"/>
            <a:ext cx="3350666" cy="1316736"/>
          </a:xfrm>
          <a:prstGeom prst="roundRect">
            <a:avLst>
              <a:gd name="adj" fmla="val 5556"/>
            </a:avLst>
          </a:prstGeom>
          <a:solidFill>
            <a:srgbClr val="191640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5922112" y="3648456"/>
            <a:ext cx="347472" cy="347472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5922112" y="3648456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0A1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5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4548530" y="4096512"/>
            <a:ext cx="3094634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4D39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Human check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4548530" y="4553712"/>
            <a:ext cx="3094634" cy="44805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person approves anything that matters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7862621" y="4361688"/>
            <a:ext cx="320040" cy="237744"/>
          </a:xfrm>
          <a:prstGeom prst="rightArrow">
            <a:avLst/>
          </a:prstGeom>
          <a:solidFill>
            <a:srgbClr val="22D3EE">
              <a:alpha val="70000"/>
            </a:srgbClr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274101" y="3822192"/>
            <a:ext cx="3350666" cy="1316736"/>
          </a:xfrm>
          <a:prstGeom prst="roundRect">
            <a:avLst>
              <a:gd name="adj" fmla="val 5556"/>
            </a:avLst>
          </a:prstGeom>
          <a:solidFill>
            <a:srgbClr val="191640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9775698" y="3648456"/>
            <a:ext cx="347472" cy="347472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9775698" y="3648456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0A1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6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8402117" y="4096512"/>
            <a:ext cx="3094634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A78BF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Act</a:t>
            </a:r>
            <a:endParaRPr lang="en-US" sz="1400" dirty="0"/>
          </a:p>
        </p:txBody>
      </p:sp>
      <p:sp>
        <p:nvSpPr>
          <p:cNvPr id="40" name="Text 38"/>
          <p:cNvSpPr txBox="1"/>
          <p:nvPr/>
        </p:nvSpPr>
        <p:spPr>
          <a:xfrm>
            <a:off x="8402117" y="4553712"/>
            <a:ext cx="3094634" cy="44805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system updates and sends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566928" y="5276088"/>
            <a:ext cx="11057839" cy="960120"/>
          </a:xfrm>
          <a:prstGeom prst="roundRect">
            <a:avLst>
              <a:gd name="adj" fmla="val 7619"/>
            </a:avLst>
          </a:prstGeom>
          <a:solidFill>
            <a:srgbClr val="191640">
              <a:alpha val="96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42" name="Text 40"/>
          <p:cNvSpPr txBox="1"/>
          <p:nvPr/>
        </p:nvSpPr>
        <p:spPr>
          <a:xfrm>
            <a:off x="841248" y="5385816"/>
            <a:ext cx="10509199" cy="7406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A78BF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Remember:  </a:t>
            </a:r>
            <a:r>
              <a:rPr lang="en-US" sz="13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Automate the preparation, not the judgement. The approval step is what keeps automation safe.</a:t>
            </a:r>
            <a:endParaRPr lang="en-US" sz="1300" dirty="0"/>
          </a:p>
        </p:txBody>
      </p:sp>
    </p:spTree>
  </p:cSld>
  <p:clrMapOvr>
    <a:masterClrMapping/>
  </p:clrMapOvr>
</p:sld>
</file>

<file path=ppt/slides/slide2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BBF2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QUIZ 17 · SLIDES 177–188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Quiz 17 — Generative AI for Business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Section 17 · Generative AI for Business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221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11057839" cy="848563"/>
          </a:xfrm>
          <a:prstGeom prst="roundRect">
            <a:avLst>
              <a:gd name="adj" fmla="val 8621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68096" y="1627632"/>
            <a:ext cx="310896" cy="310896"/>
          </a:xfrm>
          <a:prstGeom prst="ellipse">
            <a:avLst/>
          </a:prstGeom>
          <a:solidFill>
            <a:srgbClr val="FBBF24">
              <a:alpha val="22000"/>
            </a:srgbClr>
          </a:solidFill>
          <a:ln w="12700">
            <a:solidFill>
              <a:srgbClr val="FBBF24">
                <a:alpha val="5000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68096" y="1627632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BBF2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Q1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188720" y="1600200"/>
            <a:ext cx="8726119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Most business value from Gen AI comes from: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10207447" y="1618488"/>
            <a:ext cx="1371600" cy="347472"/>
          </a:xfrm>
          <a:prstGeom prst="roundRect">
            <a:avLst>
              <a:gd name="adj" fmla="val 15789"/>
            </a:avLst>
          </a:prstGeom>
          <a:solidFill>
            <a:srgbClr val="A78BFA">
              <a:alpha val="20000"/>
            </a:srgbClr>
          </a:solidFill>
          <a:ln w="12700">
            <a:solidFill>
              <a:srgbClr val="A78BFA">
                <a:alpha val="60000"/>
              </a:srgbClr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207447" y="1618488"/>
            <a:ext cx="13716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Answer: A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1115568" y="2011680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A. </a:t>
            </a: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Saving time on routine knowledge work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3674288" y="2011680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B. </a:t>
            </a:r>
            <a:r>
              <a:rPr lang="en-US" sz="11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Replacing all staff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6233008" y="2011680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C. </a:t>
            </a:r>
            <a:r>
              <a:rPr lang="en-US" sz="11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Buying more hardware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8791727" y="2011680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D. </a:t>
            </a:r>
            <a:r>
              <a:rPr lang="en-US" sz="11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Reducing office space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66928" y="2457907"/>
            <a:ext cx="11057839" cy="848563"/>
          </a:xfrm>
          <a:prstGeom prst="roundRect">
            <a:avLst>
              <a:gd name="adj" fmla="val 8621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68096" y="2604211"/>
            <a:ext cx="310896" cy="310896"/>
          </a:xfrm>
          <a:prstGeom prst="ellipse">
            <a:avLst/>
          </a:prstGeom>
          <a:solidFill>
            <a:srgbClr val="FBBF24">
              <a:alpha val="22000"/>
            </a:srgbClr>
          </a:solidFill>
          <a:ln w="12700">
            <a:solidFill>
              <a:srgbClr val="FBBF24">
                <a:alpha val="50000"/>
              </a:srgbClr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68096" y="2604211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BBF2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Q2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1188720" y="2576779"/>
            <a:ext cx="8726119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In healthcare, AI output must always be: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10207447" y="2595067"/>
            <a:ext cx="1371600" cy="347472"/>
          </a:xfrm>
          <a:prstGeom prst="roundRect">
            <a:avLst>
              <a:gd name="adj" fmla="val 15789"/>
            </a:avLst>
          </a:prstGeom>
          <a:solidFill>
            <a:srgbClr val="A78BFA">
              <a:alpha val="20000"/>
            </a:srgbClr>
          </a:solidFill>
          <a:ln w="12700">
            <a:solidFill>
              <a:srgbClr val="A78BFA">
                <a:alpha val="60000"/>
              </a:srgbClr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0207447" y="2595067"/>
            <a:ext cx="13716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Answer: B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1115568" y="2988259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A. </a:t>
            </a:r>
            <a:r>
              <a:rPr lang="en-US" sz="11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Sent straight to patients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3674288" y="2988259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B. </a:t>
            </a: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Reviewed by a qualified professional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6233008" y="2988259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C. </a:t>
            </a:r>
            <a:r>
              <a:rPr lang="en-US" sz="11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Used for diagnosis alone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8791727" y="2988259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D. </a:t>
            </a:r>
            <a:r>
              <a:rPr lang="en-US" sz="11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Kept unchecked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66928" y="3434486"/>
            <a:ext cx="11057839" cy="848563"/>
          </a:xfrm>
          <a:prstGeom prst="roundRect">
            <a:avLst>
              <a:gd name="adj" fmla="val 8621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768096" y="3580790"/>
            <a:ext cx="310896" cy="310896"/>
          </a:xfrm>
          <a:prstGeom prst="ellipse">
            <a:avLst/>
          </a:prstGeom>
          <a:solidFill>
            <a:srgbClr val="FBBF24">
              <a:alpha val="22000"/>
            </a:srgbClr>
          </a:solidFill>
          <a:ln w="12700">
            <a:solidFill>
              <a:srgbClr val="FBBF24">
                <a:alpha val="50000"/>
              </a:srgbClr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68096" y="3580790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BBF2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Q3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1188720" y="3553358"/>
            <a:ext cx="8726119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For exact financial numbers you should rely on: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10207447" y="3571646"/>
            <a:ext cx="1371600" cy="347472"/>
          </a:xfrm>
          <a:prstGeom prst="roundRect">
            <a:avLst>
              <a:gd name="adj" fmla="val 15789"/>
            </a:avLst>
          </a:prstGeom>
          <a:solidFill>
            <a:srgbClr val="A78BFA">
              <a:alpha val="20000"/>
            </a:srgbClr>
          </a:solidFill>
          <a:ln w="12700">
            <a:solidFill>
              <a:srgbClr val="A78BFA">
                <a:alpha val="60000"/>
              </a:srgbClr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10207447" y="3571646"/>
            <a:ext cx="13716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Answer: C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1115568" y="3964838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A. </a:t>
            </a:r>
            <a:r>
              <a:rPr lang="en-US" sz="11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model arithmetic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3674288" y="3964838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B. </a:t>
            </a:r>
            <a:r>
              <a:rPr lang="en-US" sz="11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longer prompt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6233008" y="3964838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C. </a:t>
            </a: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spreadsheet or code</a:t>
            </a:r>
            <a:endParaRPr lang="en-US" sz="1050" dirty="0"/>
          </a:p>
        </p:txBody>
      </p:sp>
      <p:sp>
        <p:nvSpPr>
          <p:cNvPr id="35" name="Text 33"/>
          <p:cNvSpPr txBox="1"/>
          <p:nvPr/>
        </p:nvSpPr>
        <p:spPr>
          <a:xfrm>
            <a:off x="8791727" y="3964838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D. </a:t>
            </a:r>
            <a:r>
              <a:rPr lang="en-US" sz="11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bigger model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66928" y="4411066"/>
            <a:ext cx="11057839" cy="848563"/>
          </a:xfrm>
          <a:prstGeom prst="roundRect">
            <a:avLst>
              <a:gd name="adj" fmla="val 8621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768096" y="4557370"/>
            <a:ext cx="310896" cy="310896"/>
          </a:xfrm>
          <a:prstGeom prst="ellipse">
            <a:avLst/>
          </a:prstGeom>
          <a:solidFill>
            <a:srgbClr val="FBBF24">
              <a:alpha val="22000"/>
            </a:srgbClr>
          </a:solidFill>
          <a:ln w="12700">
            <a:solidFill>
              <a:srgbClr val="FBBF24">
                <a:alpha val="50000"/>
              </a:srgbClr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768096" y="4557370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BBF2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Q4</a:t>
            </a:r>
            <a:endParaRPr lang="en-US" sz="900" dirty="0"/>
          </a:p>
        </p:txBody>
      </p:sp>
      <p:sp>
        <p:nvSpPr>
          <p:cNvPr id="39" name="Text 37"/>
          <p:cNvSpPr txBox="1"/>
          <p:nvPr/>
        </p:nvSpPr>
        <p:spPr>
          <a:xfrm>
            <a:off x="1188720" y="4529938"/>
            <a:ext cx="8726119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Using AI to rank job candidates raises concerns about:</a:t>
            </a:r>
            <a:endParaRPr lang="en-US" sz="1250" dirty="0"/>
          </a:p>
        </p:txBody>
      </p:sp>
      <p:sp>
        <p:nvSpPr>
          <p:cNvPr id="40" name="Shape 38"/>
          <p:cNvSpPr/>
          <p:nvPr/>
        </p:nvSpPr>
        <p:spPr>
          <a:xfrm>
            <a:off x="10207447" y="4548226"/>
            <a:ext cx="1371600" cy="347472"/>
          </a:xfrm>
          <a:prstGeom prst="roundRect">
            <a:avLst>
              <a:gd name="adj" fmla="val 15789"/>
            </a:avLst>
          </a:prstGeom>
          <a:solidFill>
            <a:srgbClr val="A78BFA">
              <a:alpha val="20000"/>
            </a:srgbClr>
          </a:solidFill>
          <a:ln w="12700">
            <a:solidFill>
              <a:srgbClr val="A78BFA">
                <a:alpha val="60000"/>
              </a:srgbClr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10207447" y="4548226"/>
            <a:ext cx="13716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Answer: D</a:t>
            </a:r>
            <a:endParaRPr lang="en-US" sz="1050" dirty="0"/>
          </a:p>
        </p:txBody>
      </p:sp>
      <p:sp>
        <p:nvSpPr>
          <p:cNvPr id="42" name="Text 40"/>
          <p:cNvSpPr txBox="1"/>
          <p:nvPr/>
        </p:nvSpPr>
        <p:spPr>
          <a:xfrm>
            <a:off x="1115568" y="4941418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A. </a:t>
            </a:r>
            <a:r>
              <a:rPr lang="en-US" sz="11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Screen size</a:t>
            </a:r>
            <a:endParaRPr lang="en-US" sz="1050" dirty="0"/>
          </a:p>
        </p:txBody>
      </p:sp>
      <p:sp>
        <p:nvSpPr>
          <p:cNvPr id="43" name="Text 41"/>
          <p:cNvSpPr txBox="1"/>
          <p:nvPr/>
        </p:nvSpPr>
        <p:spPr>
          <a:xfrm>
            <a:off x="3674288" y="4941418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B. </a:t>
            </a:r>
            <a:r>
              <a:rPr lang="en-US" sz="11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Internet speed</a:t>
            </a:r>
            <a:endParaRPr lang="en-US" sz="1050" dirty="0"/>
          </a:p>
        </p:txBody>
      </p:sp>
      <p:sp>
        <p:nvSpPr>
          <p:cNvPr id="44" name="Text 42"/>
          <p:cNvSpPr txBox="1"/>
          <p:nvPr/>
        </p:nvSpPr>
        <p:spPr>
          <a:xfrm>
            <a:off x="6233008" y="4941418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C. </a:t>
            </a:r>
            <a:r>
              <a:rPr lang="en-US" sz="11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File formats</a:t>
            </a:r>
            <a:endParaRPr lang="en-US" sz="1050" dirty="0"/>
          </a:p>
        </p:txBody>
      </p:sp>
      <p:sp>
        <p:nvSpPr>
          <p:cNvPr id="45" name="Text 43"/>
          <p:cNvSpPr txBox="1"/>
          <p:nvPr/>
        </p:nvSpPr>
        <p:spPr>
          <a:xfrm>
            <a:off x="8791727" y="4941418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D. </a:t>
            </a: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Fairness and legal risk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566928" y="5387645"/>
            <a:ext cx="11057839" cy="848563"/>
          </a:xfrm>
          <a:prstGeom prst="roundRect">
            <a:avLst>
              <a:gd name="adj" fmla="val 8621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768096" y="5533949"/>
            <a:ext cx="310896" cy="310896"/>
          </a:xfrm>
          <a:prstGeom prst="ellipse">
            <a:avLst/>
          </a:prstGeom>
          <a:solidFill>
            <a:srgbClr val="FBBF24">
              <a:alpha val="22000"/>
            </a:srgbClr>
          </a:solidFill>
          <a:ln w="12700">
            <a:solidFill>
              <a:srgbClr val="FBBF24">
                <a:alpha val="50000"/>
              </a:srgbClr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768096" y="5533949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BBF2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Q5</a:t>
            </a:r>
            <a:endParaRPr lang="en-US" sz="900" dirty="0"/>
          </a:p>
        </p:txBody>
      </p:sp>
      <p:sp>
        <p:nvSpPr>
          <p:cNvPr id="49" name="Text 47"/>
          <p:cNvSpPr txBox="1"/>
          <p:nvPr/>
        </p:nvSpPr>
        <p:spPr>
          <a:xfrm>
            <a:off x="1188720" y="5506517"/>
            <a:ext cx="8726119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 safe automation design always includes:</a:t>
            </a:r>
            <a:endParaRPr lang="en-US" sz="1250" dirty="0"/>
          </a:p>
        </p:txBody>
      </p:sp>
      <p:sp>
        <p:nvSpPr>
          <p:cNvPr id="50" name="Shape 48"/>
          <p:cNvSpPr/>
          <p:nvPr/>
        </p:nvSpPr>
        <p:spPr>
          <a:xfrm>
            <a:off x="10207447" y="5524805"/>
            <a:ext cx="1371600" cy="347472"/>
          </a:xfrm>
          <a:prstGeom prst="roundRect">
            <a:avLst>
              <a:gd name="adj" fmla="val 15789"/>
            </a:avLst>
          </a:prstGeom>
          <a:solidFill>
            <a:srgbClr val="A78BFA">
              <a:alpha val="20000"/>
            </a:srgbClr>
          </a:solidFill>
          <a:ln w="12700">
            <a:solidFill>
              <a:srgbClr val="A78BFA">
                <a:alpha val="60000"/>
              </a:srgbClr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10207447" y="5524805"/>
            <a:ext cx="13716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Answer: A</a:t>
            </a:r>
            <a:endParaRPr lang="en-US" sz="1050" dirty="0"/>
          </a:p>
        </p:txBody>
      </p:sp>
      <p:sp>
        <p:nvSpPr>
          <p:cNvPr id="52" name="Text 50"/>
          <p:cNvSpPr txBox="1"/>
          <p:nvPr/>
        </p:nvSpPr>
        <p:spPr>
          <a:xfrm>
            <a:off x="1115568" y="5917997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A. </a:t>
            </a: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human approval step</a:t>
            </a:r>
            <a:endParaRPr lang="en-US" sz="1050" dirty="0"/>
          </a:p>
        </p:txBody>
      </p:sp>
      <p:sp>
        <p:nvSpPr>
          <p:cNvPr id="53" name="Text 51"/>
          <p:cNvSpPr txBox="1"/>
          <p:nvPr/>
        </p:nvSpPr>
        <p:spPr>
          <a:xfrm>
            <a:off x="3674288" y="5917997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B. </a:t>
            </a:r>
            <a:r>
              <a:rPr lang="en-US" sz="11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 logging</a:t>
            </a:r>
            <a:endParaRPr lang="en-US" sz="1050" dirty="0"/>
          </a:p>
        </p:txBody>
      </p:sp>
      <p:sp>
        <p:nvSpPr>
          <p:cNvPr id="54" name="Text 52"/>
          <p:cNvSpPr txBox="1"/>
          <p:nvPr/>
        </p:nvSpPr>
        <p:spPr>
          <a:xfrm>
            <a:off x="6233008" y="5917997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C. </a:t>
            </a:r>
            <a:r>
              <a:rPr lang="en-US" sz="11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Full admin rights</a:t>
            </a:r>
            <a:endParaRPr lang="en-US" sz="1050" dirty="0"/>
          </a:p>
        </p:txBody>
      </p:sp>
      <p:sp>
        <p:nvSpPr>
          <p:cNvPr id="55" name="Text 53"/>
          <p:cNvSpPr txBox="1"/>
          <p:nvPr/>
        </p:nvSpPr>
        <p:spPr>
          <a:xfrm>
            <a:off x="8791727" y="5917997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D. </a:t>
            </a:r>
            <a:r>
              <a:rPr lang="en-US" sz="11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Unlimited spending</a:t>
            </a:r>
            <a:endParaRPr lang="en-US" sz="1050" dirty="0"/>
          </a:p>
        </p:txBody>
      </p:sp>
    </p:spTree>
  </p:cSld>
  <p:clrMapOvr>
    <a:masterClrMapping/>
  </p:clrMapOvr>
</p:sld>
</file>

<file path=ppt/slides/slide2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49808" y="1874520"/>
            <a:ext cx="58521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SECTION 18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49808" y="2240280"/>
            <a:ext cx="6035040" cy="1554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Hallucinations &amp; Limitations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749808" y="3886200"/>
            <a:ext cx="5852160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most important section for using Generative AI safely in real work.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49808" y="4846320"/>
            <a:ext cx="1463040" cy="64008"/>
          </a:xfrm>
          <a:prstGeom prst="roundRect">
            <a:avLst>
              <a:gd name="adj" fmla="val 42857"/>
            </a:avLst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32320" y="1143000"/>
            <a:ext cx="4492447" cy="797357"/>
          </a:xfrm>
          <a:prstGeom prst="roundRect">
            <a:avLst>
              <a:gd name="adj" fmla="val 9174"/>
            </a:avLst>
          </a:prstGeom>
          <a:solidFill>
            <a:srgbClr val="191640"/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51776" y="1313078"/>
            <a:ext cx="457200" cy="457200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66076" y="1427378"/>
            <a:ext cx="228600" cy="22860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8010144" y="1143000"/>
            <a:ext cx="3303727" cy="79735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What is a Hallucination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7132320" y="2086661"/>
            <a:ext cx="4492447" cy="797357"/>
          </a:xfrm>
          <a:prstGeom prst="roundRect">
            <a:avLst>
              <a:gd name="adj" fmla="val 9174"/>
            </a:avLst>
          </a:prstGeom>
          <a:solidFill>
            <a:srgbClr val="191640"/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7351776" y="2256739"/>
            <a:ext cx="457200" cy="457200"/>
          </a:xfrm>
          <a:prstGeom prst="ellipse">
            <a:avLst/>
          </a:prstGeom>
          <a:solidFill>
            <a:srgbClr val="22D3EE">
              <a:alpha val="16000"/>
            </a:srgbClr>
          </a:solidFill>
          <a:ln w="12700">
            <a:solidFill>
              <a:srgbClr val="22D3EE">
                <a:alpha val="45000"/>
              </a:srgbClr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6076" y="2371039"/>
            <a:ext cx="228600" cy="22860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8010144" y="2086661"/>
            <a:ext cx="3303727" cy="79735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Why They Happen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7132320" y="3030322"/>
            <a:ext cx="4492447" cy="797357"/>
          </a:xfrm>
          <a:prstGeom prst="roundRect">
            <a:avLst>
              <a:gd name="adj" fmla="val 9174"/>
            </a:avLst>
          </a:prstGeom>
          <a:solidFill>
            <a:srgbClr val="191640"/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351776" y="3200400"/>
            <a:ext cx="457200" cy="457200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6076" y="3314700"/>
            <a:ext cx="228600" cy="22860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010144" y="3030322"/>
            <a:ext cx="3303727" cy="79735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How to Reduce Them</a:t>
            </a:r>
            <a:endParaRPr lang="en-US" sz="1350" dirty="0"/>
          </a:p>
        </p:txBody>
      </p:sp>
      <p:sp>
        <p:nvSpPr>
          <p:cNvPr id="18" name="Shape 13"/>
          <p:cNvSpPr/>
          <p:nvPr/>
        </p:nvSpPr>
        <p:spPr>
          <a:xfrm>
            <a:off x="7132320" y="3973982"/>
            <a:ext cx="4492447" cy="797357"/>
          </a:xfrm>
          <a:prstGeom prst="roundRect">
            <a:avLst>
              <a:gd name="adj" fmla="val 9174"/>
            </a:avLst>
          </a:prstGeom>
          <a:solidFill>
            <a:srgbClr val="191640"/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7351776" y="4144061"/>
            <a:ext cx="457200" cy="457200"/>
          </a:xfrm>
          <a:prstGeom prst="ellipse">
            <a:avLst/>
          </a:prstGeom>
          <a:solidFill>
            <a:srgbClr val="34D399">
              <a:alpha val="16000"/>
            </a:srgbClr>
          </a:solidFill>
          <a:ln w="12700">
            <a:solidFill>
              <a:srgbClr val="34D399">
                <a:alpha val="45000"/>
              </a:srgbClr>
            </a:solidFill>
            <a:prstDash val="solid"/>
          </a:ln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66076" y="4258361"/>
            <a:ext cx="228600" cy="22860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8010144" y="3973982"/>
            <a:ext cx="3303727" cy="79735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Verification Habits</a:t>
            </a:r>
            <a:endParaRPr lang="en-US" sz="1350" dirty="0"/>
          </a:p>
        </p:txBody>
      </p:sp>
      <p:sp>
        <p:nvSpPr>
          <p:cNvPr id="22" name="Shape 16"/>
          <p:cNvSpPr/>
          <p:nvPr/>
        </p:nvSpPr>
        <p:spPr>
          <a:xfrm>
            <a:off x="7132320" y="4917643"/>
            <a:ext cx="4492447" cy="797357"/>
          </a:xfrm>
          <a:prstGeom prst="roundRect">
            <a:avLst>
              <a:gd name="adj" fmla="val 9174"/>
            </a:avLst>
          </a:prstGeom>
          <a:solidFill>
            <a:srgbClr val="191640"/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7351776" y="5087722"/>
            <a:ext cx="457200" cy="457200"/>
          </a:xfrm>
          <a:prstGeom prst="ellipse">
            <a:avLst/>
          </a:prstGeom>
          <a:solidFill>
            <a:srgbClr val="F472B6">
              <a:alpha val="16000"/>
            </a:srgbClr>
          </a:solidFill>
          <a:ln w="12700">
            <a:solidFill>
              <a:srgbClr val="F472B6">
                <a:alpha val="45000"/>
              </a:srgbClr>
            </a:solidFill>
            <a:prstDash val="solid"/>
          </a:ln>
        </p:spPr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66076" y="5202022"/>
            <a:ext cx="228600" cy="228600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8010144" y="4917643"/>
            <a:ext cx="3303727" cy="79735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Broader Limitations</a:t>
            </a:r>
            <a:endParaRPr lang="en-US" sz="1350" dirty="0"/>
          </a:p>
        </p:txBody>
      </p:sp>
      <p:sp>
        <p:nvSpPr>
          <p:cNvPr id="26" name="Text 19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Section 18 · Hallucinations &amp; Limitations</a:t>
            </a:r>
            <a:endParaRPr lang="en-US" sz="950" dirty="0"/>
          </a:p>
        </p:txBody>
      </p:sp>
      <p:sp>
        <p:nvSpPr>
          <p:cNvPr id="27" name="Text 20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222</a:t>
            </a:r>
            <a:endParaRPr lang="en-US" sz="950" dirty="0"/>
          </a:p>
        </p:txBody>
      </p:sp>
    </p:spTree>
  </p:cSld>
  <p:clrMapOvr>
    <a:masterClrMapping/>
  </p:clrMapOvr>
</p:sld>
</file>

<file path=ppt/slides/slide2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SLIDE 189 · DEFINITION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What is an AI Hallucination?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Section 18 · Hallucinations &amp; Limitations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223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11057839" cy="877824"/>
          </a:xfrm>
          <a:prstGeom prst="roundRect">
            <a:avLst>
              <a:gd name="adj" fmla="val 8333"/>
            </a:avLst>
          </a:prstGeom>
          <a:solidFill>
            <a:srgbClr val="191640">
              <a:alpha val="96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6928" y="1627632"/>
            <a:ext cx="64008" cy="585216"/>
          </a:xfrm>
          <a:prstGeom prst="roundRect">
            <a:avLst>
              <a:gd name="adj" fmla="val 42857"/>
            </a:avLst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59536" y="1572768"/>
            <a:ext cx="10472623" cy="6949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DDD9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hallucination is when the AI produces information that sounds convincing but is false or invented.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66928" y="2615184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22960" y="2816352"/>
            <a:ext cx="457200" cy="457200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2930652"/>
            <a:ext cx="228600" cy="22860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499616" y="2816352"/>
            <a:ext cx="41847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Simple Explanation</a:t>
            </a:r>
            <a:endParaRPr lang="en-US" sz="1450" dirty="0"/>
          </a:p>
        </p:txBody>
      </p:sp>
      <p:sp>
        <p:nvSpPr>
          <p:cNvPr id="13" name="Text 10"/>
          <p:cNvSpPr txBox="1"/>
          <p:nvPr/>
        </p:nvSpPr>
        <p:spPr>
          <a:xfrm>
            <a:off x="841248" y="3419856"/>
            <a:ext cx="484312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model fills a gap with something that fits the pattern of a correct answer, even when it has no real basis.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33008" y="2615184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489040" y="2816352"/>
            <a:ext cx="457200" cy="457200"/>
          </a:xfrm>
          <a:prstGeom prst="ellipse">
            <a:avLst/>
          </a:prstGeom>
          <a:solidFill>
            <a:srgbClr val="22D3EE">
              <a:alpha val="16000"/>
            </a:srgbClr>
          </a:solidFill>
          <a:ln w="12700">
            <a:solidFill>
              <a:srgbClr val="22D3EE">
                <a:alpha val="45000"/>
              </a:srgbClr>
            </a:solidFill>
            <a:prstDash val="solid"/>
          </a:ln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3340" y="2930652"/>
            <a:ext cx="228600" cy="22860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7165696" y="2816352"/>
            <a:ext cx="41847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Common Forms</a:t>
            </a:r>
            <a:endParaRPr lang="en-US" sz="1450" dirty="0"/>
          </a:p>
        </p:txBody>
      </p:sp>
      <p:sp>
        <p:nvSpPr>
          <p:cNvPr id="18" name="Text 14"/>
          <p:cNvSpPr txBox="1"/>
          <p:nvPr/>
        </p:nvSpPr>
        <p:spPr>
          <a:xfrm>
            <a:off x="6507328" y="3419856"/>
            <a:ext cx="484312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200"/>
              </a:spcAft>
              <a:buSzPct val="100000"/>
              <a:buChar char="▪"/>
            </a:pPr>
            <a:r>
              <a:rPr lang="en-US" sz="9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Invented facts and dates</a:t>
            </a:r>
            <a:endParaRPr lang="en-US" sz="900" dirty="0"/>
          </a:p>
          <a:p>
            <a:pPr marL="342900" indent="-342900">
              <a:lnSpc>
                <a:spcPct val="110000"/>
              </a:lnSpc>
              <a:spcAft>
                <a:spcPts val="200"/>
              </a:spcAft>
              <a:buSzPct val="100000"/>
              <a:buChar char="▪"/>
            </a:pPr>
            <a:r>
              <a:rPr lang="en-US" sz="9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Fake citations and links</a:t>
            </a:r>
            <a:endParaRPr lang="en-US" sz="900" dirty="0"/>
          </a:p>
          <a:p>
            <a:pPr marL="342900" indent="-342900">
              <a:lnSpc>
                <a:spcPct val="110000"/>
              </a:lnSpc>
              <a:spcAft>
                <a:spcPts val="200"/>
              </a:spcAft>
              <a:buSzPct val="100000"/>
              <a:buChar char="▪"/>
            </a:pPr>
            <a:r>
              <a:rPr lang="en-US" sz="9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Non-existent functions in code</a:t>
            </a:r>
            <a:endParaRPr lang="en-US" sz="900" dirty="0"/>
          </a:p>
          <a:p>
            <a:pPr marL="342900" indent="-342900">
              <a:lnSpc>
                <a:spcPct val="110000"/>
              </a:lnSpc>
              <a:spcAft>
                <a:spcPts val="200"/>
              </a:spcAft>
              <a:buSzPct val="100000"/>
              <a:buChar char="▪"/>
            </a:pPr>
            <a:r>
              <a:rPr lang="en-US" sz="9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Made-up quotes attributed to people</a:t>
            </a:r>
            <a:endParaRPr lang="en-US" sz="900" dirty="0"/>
          </a:p>
        </p:txBody>
      </p:sp>
      <p:sp>
        <p:nvSpPr>
          <p:cNvPr id="19" name="Shape 15"/>
          <p:cNvSpPr/>
          <p:nvPr/>
        </p:nvSpPr>
        <p:spPr>
          <a:xfrm>
            <a:off x="566928" y="4530149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822960" y="4731317"/>
            <a:ext cx="457200" cy="457200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260" y="4845617"/>
            <a:ext cx="228600" cy="22860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499616" y="4731317"/>
            <a:ext cx="41847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Why It Is Dangerous</a:t>
            </a:r>
            <a:endParaRPr lang="en-US" sz="1450" dirty="0"/>
          </a:p>
        </p:txBody>
      </p:sp>
      <p:sp>
        <p:nvSpPr>
          <p:cNvPr id="23" name="Text 18"/>
          <p:cNvSpPr txBox="1"/>
          <p:nvPr/>
        </p:nvSpPr>
        <p:spPr>
          <a:xfrm>
            <a:off x="841248" y="5334821"/>
            <a:ext cx="484312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tone is exactly as confident as when the answer is correct. There is no warning signal.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6233008" y="4530149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6489040" y="4731317"/>
            <a:ext cx="457200" cy="457200"/>
          </a:xfrm>
          <a:prstGeom prst="ellipse">
            <a:avLst/>
          </a:prstGeom>
          <a:solidFill>
            <a:srgbClr val="34D399">
              <a:alpha val="16000"/>
            </a:srgbClr>
          </a:solidFill>
          <a:ln w="12700">
            <a:solidFill>
              <a:srgbClr val="34D399">
                <a:alpha val="45000"/>
              </a:srgbClr>
            </a:solidFill>
            <a:prstDash val="solid"/>
          </a:ln>
        </p:spPr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3340" y="4845617"/>
            <a:ext cx="228600" cy="228600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7165696" y="4731317"/>
            <a:ext cx="41847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The Practical Response</a:t>
            </a:r>
            <a:endParaRPr lang="en-US" sz="1450" dirty="0"/>
          </a:p>
        </p:txBody>
      </p:sp>
      <p:sp>
        <p:nvSpPr>
          <p:cNvPr id="28" name="Text 22"/>
          <p:cNvSpPr txBox="1"/>
          <p:nvPr/>
        </p:nvSpPr>
        <p:spPr>
          <a:xfrm>
            <a:off x="6507328" y="5334821"/>
            <a:ext cx="484312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Treat AI output as a draft from a fast but unverified assistant. Check anything that matters.</a:t>
            </a:r>
            <a:endParaRPr lang="en-US" sz="1200" dirty="0"/>
          </a:p>
        </p:txBody>
      </p:sp>
    </p:spTree>
  </p:cSld>
  <p:clrMapOvr>
    <a:masterClrMapping/>
  </p:clrMapOvr>
</p:sld>
</file>

<file path=ppt/slides/slide2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SLIDE 190 · CAUSES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Why Hallucinations Happen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Section 18 · Hallucinations &amp; Limitations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224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11057839" cy="877824"/>
          </a:xfrm>
          <a:prstGeom prst="roundRect">
            <a:avLst>
              <a:gd name="adj" fmla="val 8333"/>
            </a:avLst>
          </a:prstGeom>
          <a:solidFill>
            <a:srgbClr val="191640">
              <a:alpha val="96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6928" y="1627632"/>
            <a:ext cx="64008" cy="585216"/>
          </a:xfrm>
          <a:prstGeom prst="roundRect">
            <a:avLst>
              <a:gd name="adj" fmla="val 42857"/>
            </a:avLst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59536" y="1572768"/>
            <a:ext cx="10472623" cy="6949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DDD9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Hallucination is a side effect of how these models work, not a simple bug to be patched.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66928" y="2615184"/>
            <a:ext cx="3503066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22960" y="2816352"/>
            <a:ext cx="457200" cy="457200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2930652"/>
            <a:ext cx="228600" cy="22860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499616" y="2816352"/>
            <a:ext cx="229605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It predicts plausible text</a:t>
            </a:r>
            <a:endParaRPr lang="en-US" sz="1450" dirty="0"/>
          </a:p>
        </p:txBody>
      </p:sp>
      <p:sp>
        <p:nvSpPr>
          <p:cNvPr id="13" name="Text 10"/>
          <p:cNvSpPr txBox="1"/>
          <p:nvPr/>
        </p:nvSpPr>
        <p:spPr>
          <a:xfrm>
            <a:off x="841248" y="3419856"/>
            <a:ext cx="2954426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objective is to produce likely next tokens, not to check facts against a source of truth.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344314" y="2615184"/>
            <a:ext cx="3503066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600346" y="2816352"/>
            <a:ext cx="457200" cy="457200"/>
          </a:xfrm>
          <a:prstGeom prst="ellipse">
            <a:avLst/>
          </a:prstGeom>
          <a:solidFill>
            <a:srgbClr val="22D3EE">
              <a:alpha val="16000"/>
            </a:srgbClr>
          </a:solidFill>
          <a:ln w="12700">
            <a:solidFill>
              <a:srgbClr val="22D3EE">
                <a:alpha val="45000"/>
              </a:srgbClr>
            </a:solidFill>
            <a:prstDash val="solid"/>
          </a:ln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4646" y="2930652"/>
            <a:ext cx="228600" cy="22860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5277002" y="2816352"/>
            <a:ext cx="229605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Gaps in training data</a:t>
            </a:r>
            <a:endParaRPr lang="en-US" sz="1450" dirty="0"/>
          </a:p>
        </p:txBody>
      </p:sp>
      <p:sp>
        <p:nvSpPr>
          <p:cNvPr id="18" name="Text 14"/>
          <p:cNvSpPr txBox="1"/>
          <p:nvPr/>
        </p:nvSpPr>
        <p:spPr>
          <a:xfrm>
            <a:off x="4618634" y="3419856"/>
            <a:ext cx="2954426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For rare or specialised topics there is little reliable data, so the model interpolates.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8121701" y="2615184"/>
            <a:ext cx="3503066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8377733" y="2816352"/>
            <a:ext cx="457200" cy="457200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2033" y="2930652"/>
            <a:ext cx="228600" cy="22860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9054389" y="2816352"/>
            <a:ext cx="229605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No confidence signal to you</a:t>
            </a:r>
            <a:endParaRPr lang="en-US" sz="1450" dirty="0"/>
          </a:p>
        </p:txBody>
      </p:sp>
      <p:sp>
        <p:nvSpPr>
          <p:cNvPr id="23" name="Text 18"/>
          <p:cNvSpPr txBox="1"/>
          <p:nvPr/>
        </p:nvSpPr>
        <p:spPr>
          <a:xfrm>
            <a:off x="8396021" y="3419856"/>
            <a:ext cx="2954426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Internally there are probabilities, but the written answer does not express doubt unless asked to.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566928" y="4530149"/>
            <a:ext cx="3503066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822960" y="4731317"/>
            <a:ext cx="457200" cy="457200"/>
          </a:xfrm>
          <a:prstGeom prst="ellipse">
            <a:avLst/>
          </a:prstGeom>
          <a:solidFill>
            <a:srgbClr val="34D399">
              <a:alpha val="16000"/>
            </a:srgbClr>
          </a:solidFill>
          <a:ln w="12700">
            <a:solidFill>
              <a:srgbClr val="34D399">
                <a:alpha val="45000"/>
              </a:srgbClr>
            </a:solidFill>
            <a:prstDash val="solid"/>
          </a:ln>
        </p:spPr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7260" y="4845617"/>
            <a:ext cx="228600" cy="228600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1499616" y="4731317"/>
            <a:ext cx="229605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Outdated knowledge</a:t>
            </a:r>
            <a:endParaRPr lang="en-US" sz="1450" dirty="0"/>
          </a:p>
        </p:txBody>
      </p:sp>
      <p:sp>
        <p:nvSpPr>
          <p:cNvPr id="28" name="Text 22"/>
          <p:cNvSpPr txBox="1"/>
          <p:nvPr/>
        </p:nvSpPr>
        <p:spPr>
          <a:xfrm>
            <a:off x="841248" y="5334821"/>
            <a:ext cx="2954426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Anything after the training cut-off is unknown, and the model may answer anyway.</a:t>
            </a:r>
            <a:endParaRPr lang="en-US" sz="1200" dirty="0"/>
          </a:p>
        </p:txBody>
      </p:sp>
      <p:sp>
        <p:nvSpPr>
          <p:cNvPr id="29" name="Shape 23"/>
          <p:cNvSpPr/>
          <p:nvPr/>
        </p:nvSpPr>
        <p:spPr>
          <a:xfrm>
            <a:off x="4344314" y="4530149"/>
            <a:ext cx="3503066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4600346" y="4731317"/>
            <a:ext cx="457200" cy="457200"/>
          </a:xfrm>
          <a:prstGeom prst="ellipse">
            <a:avLst/>
          </a:prstGeom>
          <a:solidFill>
            <a:srgbClr val="F472B6">
              <a:alpha val="16000"/>
            </a:srgbClr>
          </a:solidFill>
          <a:ln w="12700">
            <a:solidFill>
              <a:srgbClr val="F472B6">
                <a:alpha val="45000"/>
              </a:srgbClr>
            </a:solidFill>
            <a:prstDash val="solid"/>
          </a:ln>
        </p:spPr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14646" y="4845617"/>
            <a:ext cx="228600" cy="228600"/>
          </a:xfrm>
          <a:prstGeom prst="rect">
            <a:avLst/>
          </a:prstGeom>
        </p:spPr>
      </p:pic>
      <p:sp>
        <p:nvSpPr>
          <p:cNvPr id="32" name="Text 25"/>
          <p:cNvSpPr txBox="1"/>
          <p:nvPr/>
        </p:nvSpPr>
        <p:spPr>
          <a:xfrm>
            <a:off x="5277002" y="4731317"/>
            <a:ext cx="229605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Trained to be helpful</a:t>
            </a:r>
            <a:endParaRPr lang="en-US" sz="1450" dirty="0"/>
          </a:p>
        </p:txBody>
      </p:sp>
      <p:sp>
        <p:nvSpPr>
          <p:cNvPr id="33" name="Text 26"/>
          <p:cNvSpPr txBox="1"/>
          <p:nvPr/>
        </p:nvSpPr>
        <p:spPr>
          <a:xfrm>
            <a:off x="4618634" y="5334821"/>
            <a:ext cx="2954426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Models are optimised to give an answer, which can bias them away from saying "I do not know".</a:t>
            </a:r>
            <a:endParaRPr lang="en-US" sz="1200" dirty="0"/>
          </a:p>
        </p:txBody>
      </p:sp>
      <p:sp>
        <p:nvSpPr>
          <p:cNvPr id="34" name="Shape 27"/>
          <p:cNvSpPr/>
          <p:nvPr/>
        </p:nvSpPr>
        <p:spPr>
          <a:xfrm>
            <a:off x="8121701" y="4530149"/>
            <a:ext cx="3503066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35" name="Shape 28"/>
          <p:cNvSpPr/>
          <p:nvPr/>
        </p:nvSpPr>
        <p:spPr>
          <a:xfrm>
            <a:off x="8377733" y="4731317"/>
            <a:ext cx="457200" cy="457200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36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92033" y="4845617"/>
            <a:ext cx="228600" cy="228600"/>
          </a:xfrm>
          <a:prstGeom prst="rect">
            <a:avLst/>
          </a:prstGeom>
        </p:spPr>
      </p:pic>
      <p:sp>
        <p:nvSpPr>
          <p:cNvPr id="37" name="Text 29"/>
          <p:cNvSpPr txBox="1"/>
          <p:nvPr/>
        </p:nvSpPr>
        <p:spPr>
          <a:xfrm>
            <a:off x="9054389" y="4731317"/>
            <a:ext cx="229605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Ambiguous prompts</a:t>
            </a:r>
            <a:endParaRPr lang="en-US" sz="1450" dirty="0"/>
          </a:p>
        </p:txBody>
      </p:sp>
      <p:sp>
        <p:nvSpPr>
          <p:cNvPr id="38" name="Text 30"/>
          <p:cNvSpPr txBox="1"/>
          <p:nvPr/>
        </p:nvSpPr>
        <p:spPr>
          <a:xfrm>
            <a:off x="8396021" y="5334821"/>
            <a:ext cx="2954426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When a question is unclear, the model fills in assumptions rather than asking.</a:t>
            </a:r>
            <a:endParaRPr lang="en-US" sz="1200" dirty="0"/>
          </a:p>
        </p:txBody>
      </p:sp>
    </p:spTree>
  </p:cSld>
  <p:clrMapOvr>
    <a:masterClrMapping/>
  </p:clrMapOvr>
</p:sld>
</file>

<file path=ppt/slides/slide2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SLIDE 191 · FICTIONAL EXAMPLE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An Example of a Hallucination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Section 18 · Hallucinations &amp; Limitations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225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5364328" cy="3840480"/>
          </a:xfrm>
          <a:prstGeom prst="roundRect">
            <a:avLst>
              <a:gd name="adj" fmla="val 1905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41248" y="1737360"/>
            <a:ext cx="530352" cy="530352"/>
          </a:xfrm>
          <a:prstGeom prst="ellipse">
            <a:avLst/>
          </a:prstGeom>
          <a:solidFill>
            <a:srgbClr val="22D3EE">
              <a:alpha val="16000"/>
            </a:srgbClr>
          </a:solidFill>
          <a:ln w="12700">
            <a:solidFill>
              <a:srgbClr val="22D3EE">
                <a:alpha val="45000"/>
              </a:srgbClr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3836" y="1869948"/>
            <a:ext cx="265176" cy="265176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591056" y="1737360"/>
            <a:ext cx="4047592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2D3E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What was asked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877824" y="2505456"/>
            <a:ext cx="4742536" cy="261518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▪"/>
            </a:pPr>
            <a:r>
              <a:rPr lang="en-US" sz="135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"Give me three research papers about AI in rural school education, with authors and years."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▪"/>
            </a:pPr>
            <a:r>
              <a:rPr lang="en-US" sz="135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topic is narrow and specialised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▪"/>
            </a:pPr>
            <a:r>
              <a:rPr lang="en-US" sz="135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 documents were supplied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▪"/>
            </a:pPr>
            <a:r>
              <a:rPr lang="en-US" sz="135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 source was specified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6260440" y="1481328"/>
            <a:ext cx="5364328" cy="3840480"/>
          </a:xfrm>
          <a:prstGeom prst="roundRect">
            <a:avLst>
              <a:gd name="adj" fmla="val 1905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534760" y="1737360"/>
            <a:ext cx="530352" cy="530352"/>
          </a:xfrm>
          <a:prstGeom prst="ellipse">
            <a:avLst/>
          </a:prstGeom>
          <a:solidFill>
            <a:srgbClr val="F472B6">
              <a:alpha val="16000"/>
            </a:srgbClr>
          </a:solidFill>
          <a:ln w="12700">
            <a:solidFill>
              <a:srgbClr val="F472B6">
                <a:alpha val="45000"/>
              </a:srgbClr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7348" y="1869948"/>
            <a:ext cx="265176" cy="265176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7284568" y="1737360"/>
            <a:ext cx="4047592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472B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What can happen</a:t>
            </a:r>
            <a:endParaRPr lang="en-US" sz="1800" dirty="0"/>
          </a:p>
        </p:txBody>
      </p:sp>
      <p:sp>
        <p:nvSpPr>
          <p:cNvPr id="15" name="Text 11"/>
          <p:cNvSpPr txBox="1"/>
          <p:nvPr/>
        </p:nvSpPr>
        <p:spPr>
          <a:xfrm>
            <a:off x="6571336" y="2505456"/>
            <a:ext cx="4742536" cy="261518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▪"/>
            </a:pPr>
            <a:r>
              <a:rPr lang="en-US" sz="135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Three realistic-looking titles appear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▪"/>
            </a:pPr>
            <a:r>
              <a:rPr lang="en-US" sz="135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Author names and years look plausible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▪"/>
            </a:pPr>
            <a:r>
              <a:rPr lang="en-US" sz="135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journal names sound genuine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▪"/>
            </a:pPr>
            <a:r>
              <a:rPr lang="en-US" sz="135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One or more of the papers does not exist at all</a:t>
            </a:r>
            <a:endParaRPr lang="en-US" sz="1350" dirty="0"/>
          </a:p>
        </p:txBody>
      </p:sp>
      <p:sp>
        <p:nvSpPr>
          <p:cNvPr id="16" name="Shape 12"/>
          <p:cNvSpPr/>
          <p:nvPr/>
        </p:nvSpPr>
        <p:spPr>
          <a:xfrm>
            <a:off x="566928" y="5458968"/>
            <a:ext cx="11057839" cy="777240"/>
          </a:xfrm>
          <a:prstGeom prst="roundRect">
            <a:avLst>
              <a:gd name="adj" fmla="val 9412"/>
            </a:avLst>
          </a:prstGeom>
          <a:solidFill>
            <a:srgbClr val="191640">
              <a:alpha val="96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7" name="Text 13"/>
          <p:cNvSpPr txBox="1"/>
          <p:nvPr/>
        </p:nvSpPr>
        <p:spPr>
          <a:xfrm>
            <a:off x="841248" y="5550408"/>
            <a:ext cx="10509199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22D3E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Key point:  </a:t>
            </a:r>
            <a:r>
              <a:rPr lang="en-US" sz="13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This is a fictional illustration of a well-documented failure pattern. Never cite a reference without opening it yourself.</a:t>
            </a:r>
            <a:endParaRPr lang="en-US" sz="1300" dirty="0"/>
          </a:p>
        </p:txBody>
      </p:sp>
    </p:spTree>
  </p:cSld>
  <p:clrMapOvr>
    <a:masterClrMapping/>
  </p:clrMapOvr>
</p:sld>
</file>

<file path=ppt/slides/slide2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SLIDE 192 · PREVENTION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How to Reduce Hallucinations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Section 18 · Hallucinations &amp; Limitations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226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11057839" cy="670560"/>
          </a:xfrm>
          <a:prstGeom prst="roundRect">
            <a:avLst>
              <a:gd name="adj" fmla="val 10909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04672" y="1600200"/>
            <a:ext cx="432816" cy="432816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2876" y="1708404"/>
            <a:ext cx="216408" cy="216408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475232" y="1591056"/>
            <a:ext cx="9875215" cy="4511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Write better prompts</a:t>
            </a:r>
            <a:endParaRPr lang="en-US" sz="13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Be specific, and add: "If you are not sure, say so rather than guessing."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566928" y="2298192"/>
            <a:ext cx="11057839" cy="670560"/>
          </a:xfrm>
          <a:prstGeom prst="roundRect">
            <a:avLst>
              <a:gd name="adj" fmla="val 10909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804672" y="2417064"/>
            <a:ext cx="432816" cy="432816"/>
          </a:xfrm>
          <a:prstGeom prst="ellipse">
            <a:avLst/>
          </a:prstGeom>
          <a:solidFill>
            <a:srgbClr val="22D3EE">
              <a:alpha val="16000"/>
            </a:srgbClr>
          </a:solidFill>
          <a:ln w="12700">
            <a:solidFill>
              <a:srgbClr val="22D3EE">
                <a:alpha val="45000"/>
              </a:srgbClr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876" y="2525268"/>
            <a:ext cx="216408" cy="216408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475232" y="2407920"/>
            <a:ext cx="9875215" cy="4511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Supply the context</a:t>
            </a:r>
            <a:endParaRPr lang="en-US" sz="13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Paste the source text and ask the model to answer only from it.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566928" y="3115056"/>
            <a:ext cx="11057839" cy="670560"/>
          </a:xfrm>
          <a:prstGeom prst="roundRect">
            <a:avLst>
              <a:gd name="adj" fmla="val 10909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04672" y="3233928"/>
            <a:ext cx="432816" cy="432816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2876" y="3342132"/>
            <a:ext cx="216408" cy="216408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475232" y="3224784"/>
            <a:ext cx="9875215" cy="4511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Use RAG</a:t>
            </a:r>
            <a:endParaRPr lang="en-US" sz="13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For many documents, retrieval gives the model the right material automatically.</a:t>
            </a:r>
            <a:endParaRPr lang="en-US" sz="1350" dirty="0"/>
          </a:p>
        </p:txBody>
      </p:sp>
      <p:sp>
        <p:nvSpPr>
          <p:cNvPr id="18" name="Shape 13"/>
          <p:cNvSpPr/>
          <p:nvPr/>
        </p:nvSpPr>
        <p:spPr>
          <a:xfrm>
            <a:off x="566928" y="3931920"/>
            <a:ext cx="11057839" cy="670560"/>
          </a:xfrm>
          <a:prstGeom prst="roundRect">
            <a:avLst>
              <a:gd name="adj" fmla="val 10909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804672" y="4050792"/>
            <a:ext cx="432816" cy="432816"/>
          </a:xfrm>
          <a:prstGeom prst="ellipse">
            <a:avLst/>
          </a:prstGeom>
          <a:solidFill>
            <a:srgbClr val="34D399">
              <a:alpha val="16000"/>
            </a:srgbClr>
          </a:solidFill>
          <a:ln w="12700">
            <a:solidFill>
              <a:srgbClr val="34D399">
                <a:alpha val="45000"/>
              </a:srgbClr>
            </a:solidFill>
            <a:prstDash val="solid"/>
          </a:ln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876" y="4158996"/>
            <a:ext cx="216408" cy="216408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475232" y="4041648"/>
            <a:ext cx="9875215" cy="4511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Ask for sources</a:t>
            </a:r>
            <a:endParaRPr lang="en-US" sz="13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Request a quote or a section reference so the claim can be traced.</a:t>
            </a:r>
            <a:endParaRPr lang="en-US" sz="1350" dirty="0"/>
          </a:p>
        </p:txBody>
      </p:sp>
      <p:sp>
        <p:nvSpPr>
          <p:cNvPr id="22" name="Shape 16"/>
          <p:cNvSpPr/>
          <p:nvPr/>
        </p:nvSpPr>
        <p:spPr>
          <a:xfrm>
            <a:off x="566928" y="4748784"/>
            <a:ext cx="11057839" cy="670560"/>
          </a:xfrm>
          <a:prstGeom prst="roundRect">
            <a:avLst>
              <a:gd name="adj" fmla="val 10909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804672" y="4867656"/>
            <a:ext cx="432816" cy="432816"/>
          </a:xfrm>
          <a:prstGeom prst="ellipse">
            <a:avLst/>
          </a:prstGeom>
          <a:solidFill>
            <a:srgbClr val="F472B6">
              <a:alpha val="16000"/>
            </a:srgbClr>
          </a:solidFill>
          <a:ln w="12700">
            <a:solidFill>
              <a:srgbClr val="F472B6">
                <a:alpha val="45000"/>
              </a:srgbClr>
            </a:solidFill>
            <a:prstDash val="solid"/>
          </a:ln>
        </p:spPr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2876" y="4975860"/>
            <a:ext cx="216408" cy="216408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1475232" y="4858512"/>
            <a:ext cx="9875215" cy="4511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Verify independently</a:t>
            </a:r>
            <a:endParaRPr lang="en-US" sz="13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Check names, numbers, dates and citations against the original source.</a:t>
            </a:r>
            <a:endParaRPr lang="en-US" sz="1350" dirty="0"/>
          </a:p>
        </p:txBody>
      </p:sp>
      <p:sp>
        <p:nvSpPr>
          <p:cNvPr id="26" name="Shape 19"/>
          <p:cNvSpPr/>
          <p:nvPr/>
        </p:nvSpPr>
        <p:spPr>
          <a:xfrm>
            <a:off x="566928" y="5565648"/>
            <a:ext cx="11057839" cy="670560"/>
          </a:xfrm>
          <a:prstGeom prst="roundRect">
            <a:avLst>
              <a:gd name="adj" fmla="val 10909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7" name="Shape 20"/>
          <p:cNvSpPr/>
          <p:nvPr/>
        </p:nvSpPr>
        <p:spPr>
          <a:xfrm>
            <a:off x="804672" y="5684520"/>
            <a:ext cx="432816" cy="432816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28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2876" y="5792724"/>
            <a:ext cx="216408" cy="216408"/>
          </a:xfrm>
          <a:prstGeom prst="rect">
            <a:avLst/>
          </a:prstGeom>
        </p:spPr>
      </p:pic>
      <p:sp>
        <p:nvSpPr>
          <p:cNvPr id="29" name="Text 21"/>
          <p:cNvSpPr txBox="1"/>
          <p:nvPr/>
        </p:nvSpPr>
        <p:spPr>
          <a:xfrm>
            <a:off x="1475232" y="5675376"/>
            <a:ext cx="9875215" cy="4511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Keep human review</a:t>
            </a:r>
            <a:endParaRPr lang="en-US" sz="13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For anything that matters, a person must approve before it is used or published.</a:t>
            </a:r>
            <a:endParaRPr lang="en-US" sz="1350" dirty="0"/>
          </a:p>
        </p:txBody>
      </p:sp>
    </p:spTree>
  </p:cSld>
  <p:clrMapOvr>
    <a:masterClrMapping/>
  </p:clrMapOvr>
</p:sld>
</file>

<file path=ppt/slides/slide2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SLIDE 193 · MINDSET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AI Can Be Wrong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Section 18 · Hallucinations &amp; Limitations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227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11057839" cy="877824"/>
          </a:xfrm>
          <a:prstGeom prst="roundRect">
            <a:avLst>
              <a:gd name="adj" fmla="val 8333"/>
            </a:avLst>
          </a:prstGeom>
          <a:solidFill>
            <a:srgbClr val="191640">
              <a:alpha val="96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6928" y="1627632"/>
            <a:ext cx="64008" cy="585216"/>
          </a:xfrm>
          <a:prstGeom prst="roundRect">
            <a:avLst>
              <a:gd name="adj" fmla="val 42857"/>
            </a:avLst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59536" y="1572768"/>
            <a:ext cx="10472623" cy="6949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DDD9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Confidence in the writing style tells you nothing about the accuracy of the content.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66928" y="2615184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22960" y="2816352"/>
            <a:ext cx="457200" cy="457200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2930652"/>
            <a:ext cx="228600" cy="22860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499616" y="2816352"/>
            <a:ext cx="41847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Match Checking To Stakes</a:t>
            </a:r>
            <a:endParaRPr lang="en-US" sz="1450" dirty="0"/>
          </a:p>
        </p:txBody>
      </p:sp>
      <p:sp>
        <p:nvSpPr>
          <p:cNvPr id="13" name="Text 10"/>
          <p:cNvSpPr txBox="1"/>
          <p:nvPr/>
        </p:nvSpPr>
        <p:spPr>
          <a:xfrm>
            <a:off x="841248" y="3419856"/>
            <a:ext cx="484312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brainstorm needs little checking. A medical, legal or financial claim needs full verification.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33008" y="2615184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489040" y="2816352"/>
            <a:ext cx="457200" cy="457200"/>
          </a:xfrm>
          <a:prstGeom prst="ellipse">
            <a:avLst/>
          </a:prstGeom>
          <a:solidFill>
            <a:srgbClr val="22D3EE">
              <a:alpha val="16000"/>
            </a:srgbClr>
          </a:solidFill>
          <a:ln w="12700">
            <a:solidFill>
              <a:srgbClr val="22D3EE">
                <a:alpha val="45000"/>
              </a:srgbClr>
            </a:solidFill>
            <a:prstDash val="solid"/>
          </a:ln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3340" y="2930652"/>
            <a:ext cx="228600" cy="22860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7165696" y="2816352"/>
            <a:ext cx="41847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Always Verify These</a:t>
            </a:r>
            <a:endParaRPr lang="en-US" sz="1450" dirty="0"/>
          </a:p>
        </p:txBody>
      </p:sp>
      <p:sp>
        <p:nvSpPr>
          <p:cNvPr id="18" name="Text 14"/>
          <p:cNvSpPr txBox="1"/>
          <p:nvPr/>
        </p:nvSpPr>
        <p:spPr>
          <a:xfrm>
            <a:off x="6507328" y="3419856"/>
            <a:ext cx="484312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200"/>
              </a:spcAft>
              <a:buSzPct val="100000"/>
              <a:buChar char="▪"/>
            </a:pPr>
            <a:r>
              <a:rPr lang="en-US" sz="9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Numbers and statistics</a:t>
            </a:r>
            <a:endParaRPr lang="en-US" sz="900" dirty="0"/>
          </a:p>
          <a:p>
            <a:pPr marL="342900" indent="-342900">
              <a:lnSpc>
                <a:spcPct val="110000"/>
              </a:lnSpc>
              <a:spcAft>
                <a:spcPts val="200"/>
              </a:spcAft>
              <a:buSzPct val="100000"/>
              <a:buChar char="▪"/>
            </a:pPr>
            <a:r>
              <a:rPr lang="en-US" sz="9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Names, dates and quotes</a:t>
            </a:r>
            <a:endParaRPr lang="en-US" sz="900" dirty="0"/>
          </a:p>
          <a:p>
            <a:pPr marL="342900" indent="-342900">
              <a:lnSpc>
                <a:spcPct val="110000"/>
              </a:lnSpc>
              <a:spcAft>
                <a:spcPts val="200"/>
              </a:spcAft>
              <a:buSzPct val="100000"/>
              <a:buChar char="▪"/>
            </a:pPr>
            <a:r>
              <a:rPr lang="en-US" sz="9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Citations and links</a:t>
            </a:r>
            <a:endParaRPr lang="en-US" sz="900" dirty="0"/>
          </a:p>
          <a:p>
            <a:pPr marL="342900" indent="-342900">
              <a:lnSpc>
                <a:spcPct val="110000"/>
              </a:lnSpc>
              <a:spcAft>
                <a:spcPts val="200"/>
              </a:spcAft>
              <a:buSzPct val="100000"/>
              <a:buChar char="▪"/>
            </a:pPr>
            <a:r>
              <a:rPr lang="en-US" sz="9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Legal, medical and financial claims</a:t>
            </a:r>
            <a:endParaRPr lang="en-US" sz="900" dirty="0"/>
          </a:p>
        </p:txBody>
      </p:sp>
      <p:sp>
        <p:nvSpPr>
          <p:cNvPr id="19" name="Shape 15"/>
          <p:cNvSpPr/>
          <p:nvPr/>
        </p:nvSpPr>
        <p:spPr>
          <a:xfrm>
            <a:off x="566928" y="4530149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822960" y="4731317"/>
            <a:ext cx="457200" cy="457200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260" y="4845617"/>
            <a:ext cx="228600" cy="22860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499616" y="4731317"/>
            <a:ext cx="41847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Usually Safe To Trust</a:t>
            </a:r>
            <a:endParaRPr lang="en-US" sz="1450" dirty="0"/>
          </a:p>
        </p:txBody>
      </p:sp>
      <p:sp>
        <p:nvSpPr>
          <p:cNvPr id="23" name="Text 18"/>
          <p:cNvSpPr txBox="1"/>
          <p:nvPr/>
        </p:nvSpPr>
        <p:spPr>
          <a:xfrm>
            <a:off x="841248" y="5334821"/>
            <a:ext cx="484312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Grammar fixes, rewording, formatting and brainstorming, where being wrong costs nothing.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6233008" y="4530149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6489040" y="4731317"/>
            <a:ext cx="457200" cy="457200"/>
          </a:xfrm>
          <a:prstGeom prst="ellipse">
            <a:avLst/>
          </a:prstGeom>
          <a:solidFill>
            <a:srgbClr val="34D399">
              <a:alpha val="16000"/>
            </a:srgbClr>
          </a:solidFill>
          <a:ln w="12700">
            <a:solidFill>
              <a:srgbClr val="34D399">
                <a:alpha val="45000"/>
              </a:srgbClr>
            </a:solidFill>
            <a:prstDash val="solid"/>
          </a:ln>
        </p:spPr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3340" y="4845617"/>
            <a:ext cx="228600" cy="228600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7165696" y="4731317"/>
            <a:ext cx="41847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The Habit To Build</a:t>
            </a:r>
            <a:endParaRPr lang="en-US" sz="1450" dirty="0"/>
          </a:p>
        </p:txBody>
      </p:sp>
      <p:sp>
        <p:nvSpPr>
          <p:cNvPr id="28" name="Text 22"/>
          <p:cNvSpPr txBox="1"/>
          <p:nvPr/>
        </p:nvSpPr>
        <p:spPr>
          <a:xfrm>
            <a:off x="6507328" y="5334821"/>
            <a:ext cx="484312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Ask yourself: what would go wrong if this specific sentence were false?</a:t>
            </a:r>
            <a:endParaRPr lang="en-US" sz="1200" dirty="0"/>
          </a:p>
        </p:txBody>
      </p:sp>
    </p:spTree>
  </p:cSld>
  <p:clrMapOvr>
    <a:masterClrMapping/>
  </p:clrMapOvr>
</p:sld>
</file>

<file path=ppt/slides/slide2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SLIDE 194 · FULL PICTURE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AI Limitations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Section 18 · Hallucinations &amp; Limitations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228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2558720" cy="2240280"/>
          </a:xfrm>
          <a:prstGeom prst="roundRect">
            <a:avLst>
              <a:gd name="adj" fmla="val 3265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1737360"/>
            <a:ext cx="566928" cy="566928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4692" y="1879092"/>
            <a:ext cx="283464" cy="283464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609344" y="1737360"/>
            <a:ext cx="1241984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Accuracy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841248" y="2505456"/>
            <a:ext cx="2010080" cy="10332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Output can be wrong, and the wording gives no clue when it is.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3399968" y="1481328"/>
            <a:ext cx="2558720" cy="2240280"/>
          </a:xfrm>
          <a:prstGeom prst="roundRect">
            <a:avLst>
              <a:gd name="adj" fmla="val 3265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656000" y="1737360"/>
            <a:ext cx="566928" cy="566928"/>
          </a:xfrm>
          <a:prstGeom prst="ellipse">
            <a:avLst/>
          </a:prstGeom>
          <a:solidFill>
            <a:srgbClr val="22D3EE">
              <a:alpha val="16000"/>
            </a:srgbClr>
          </a:solidFill>
          <a:ln w="12700">
            <a:solidFill>
              <a:srgbClr val="22D3EE">
                <a:alpha val="45000"/>
              </a:srgbClr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7732" y="1879092"/>
            <a:ext cx="283464" cy="283464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4442384" y="1737360"/>
            <a:ext cx="1241984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Context limits</a:t>
            </a:r>
            <a:endParaRPr lang="en-US" sz="1600" dirty="0"/>
          </a:p>
        </p:txBody>
      </p:sp>
      <p:sp>
        <p:nvSpPr>
          <p:cNvPr id="15" name="Text 11"/>
          <p:cNvSpPr txBox="1"/>
          <p:nvPr/>
        </p:nvSpPr>
        <p:spPr>
          <a:xfrm>
            <a:off x="3674288" y="2505456"/>
            <a:ext cx="2010080" cy="10332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Only what fits in the context window can be considered at one time.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233008" y="1481328"/>
            <a:ext cx="2558720" cy="2240280"/>
          </a:xfrm>
          <a:prstGeom prst="roundRect">
            <a:avLst>
              <a:gd name="adj" fmla="val 3265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89040" y="1737360"/>
            <a:ext cx="566928" cy="566928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0772" y="1879092"/>
            <a:ext cx="283464" cy="283464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7275424" y="1737360"/>
            <a:ext cx="1241984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Bias</a:t>
            </a:r>
            <a:endParaRPr lang="en-US" sz="1600" dirty="0"/>
          </a:p>
        </p:txBody>
      </p:sp>
      <p:sp>
        <p:nvSpPr>
          <p:cNvPr id="20" name="Text 15"/>
          <p:cNvSpPr txBox="1"/>
          <p:nvPr/>
        </p:nvSpPr>
        <p:spPr>
          <a:xfrm>
            <a:off x="6507328" y="2505456"/>
            <a:ext cx="2010080" cy="10332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Patterns in training data, including unfair ones, appear in the output.</a:t>
            </a:r>
            <a:endParaRPr lang="en-US" sz="1300" dirty="0"/>
          </a:p>
        </p:txBody>
      </p:sp>
      <p:sp>
        <p:nvSpPr>
          <p:cNvPr id="21" name="Shape 16"/>
          <p:cNvSpPr/>
          <p:nvPr/>
        </p:nvSpPr>
        <p:spPr>
          <a:xfrm>
            <a:off x="9066047" y="1481328"/>
            <a:ext cx="2558720" cy="2240280"/>
          </a:xfrm>
          <a:prstGeom prst="roundRect">
            <a:avLst>
              <a:gd name="adj" fmla="val 3265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9322079" y="1737360"/>
            <a:ext cx="566928" cy="566928"/>
          </a:xfrm>
          <a:prstGeom prst="ellipse">
            <a:avLst/>
          </a:prstGeom>
          <a:solidFill>
            <a:srgbClr val="34D399">
              <a:alpha val="16000"/>
            </a:srgbClr>
          </a:solidFill>
          <a:ln w="12700">
            <a:solidFill>
              <a:srgbClr val="34D399">
                <a:alpha val="45000"/>
              </a:srgbClr>
            </a:solidFill>
            <a:prstDash val="solid"/>
          </a:ln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63811" y="1879092"/>
            <a:ext cx="283464" cy="283464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10108463" y="1737360"/>
            <a:ext cx="1241984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Knowledge limits</a:t>
            </a:r>
            <a:endParaRPr lang="en-US" sz="1600" dirty="0"/>
          </a:p>
        </p:txBody>
      </p:sp>
      <p:sp>
        <p:nvSpPr>
          <p:cNvPr id="25" name="Text 19"/>
          <p:cNvSpPr txBox="1"/>
          <p:nvPr/>
        </p:nvSpPr>
        <p:spPr>
          <a:xfrm>
            <a:off x="9340367" y="2505456"/>
            <a:ext cx="2010080" cy="10332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 awareness of events after training unless search or documents are provided.</a:t>
            </a:r>
            <a:endParaRPr lang="en-US" sz="1300" dirty="0"/>
          </a:p>
        </p:txBody>
      </p:sp>
      <p:sp>
        <p:nvSpPr>
          <p:cNvPr id="26" name="Shape 20"/>
          <p:cNvSpPr/>
          <p:nvPr/>
        </p:nvSpPr>
        <p:spPr>
          <a:xfrm>
            <a:off x="566928" y="3995928"/>
            <a:ext cx="2558720" cy="2240280"/>
          </a:xfrm>
          <a:prstGeom prst="roundRect">
            <a:avLst>
              <a:gd name="adj" fmla="val 3265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822960" y="4251960"/>
            <a:ext cx="566928" cy="566928"/>
          </a:xfrm>
          <a:prstGeom prst="ellipse">
            <a:avLst/>
          </a:prstGeom>
          <a:solidFill>
            <a:srgbClr val="F472B6">
              <a:alpha val="16000"/>
            </a:srgbClr>
          </a:solidFill>
          <a:ln w="12700">
            <a:solidFill>
              <a:srgbClr val="F472B6">
                <a:alpha val="45000"/>
              </a:srgbClr>
            </a:solidFill>
            <a:prstDash val="solid"/>
          </a:ln>
        </p:spPr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4692" y="4393692"/>
            <a:ext cx="283464" cy="283464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1609344" y="4251960"/>
            <a:ext cx="1241984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Reasoning limits</a:t>
            </a:r>
            <a:endParaRPr lang="en-US" sz="1600" dirty="0"/>
          </a:p>
        </p:txBody>
      </p:sp>
      <p:sp>
        <p:nvSpPr>
          <p:cNvPr id="30" name="Text 23"/>
          <p:cNvSpPr txBox="1"/>
          <p:nvPr/>
        </p:nvSpPr>
        <p:spPr>
          <a:xfrm>
            <a:off x="841248" y="5020056"/>
            <a:ext cx="2010080" cy="10332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Long chains of logic drift, and exact arithmetic is unreliable.</a:t>
            </a:r>
            <a:endParaRPr lang="en-US" sz="1300" dirty="0"/>
          </a:p>
        </p:txBody>
      </p:sp>
      <p:sp>
        <p:nvSpPr>
          <p:cNvPr id="31" name="Shape 24"/>
          <p:cNvSpPr/>
          <p:nvPr/>
        </p:nvSpPr>
        <p:spPr>
          <a:xfrm>
            <a:off x="3399968" y="3995928"/>
            <a:ext cx="2558720" cy="2240280"/>
          </a:xfrm>
          <a:prstGeom prst="roundRect">
            <a:avLst>
              <a:gd name="adj" fmla="val 3265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3656000" y="4251960"/>
            <a:ext cx="566928" cy="566928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33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97732" y="4393692"/>
            <a:ext cx="283464" cy="283464"/>
          </a:xfrm>
          <a:prstGeom prst="rect">
            <a:avLst/>
          </a:prstGeom>
        </p:spPr>
      </p:pic>
      <p:sp>
        <p:nvSpPr>
          <p:cNvPr id="34" name="Text 26"/>
          <p:cNvSpPr txBox="1"/>
          <p:nvPr/>
        </p:nvSpPr>
        <p:spPr>
          <a:xfrm>
            <a:off x="4442384" y="4251960"/>
            <a:ext cx="1241984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Privacy</a:t>
            </a:r>
            <a:endParaRPr lang="en-US" sz="1600" dirty="0"/>
          </a:p>
        </p:txBody>
      </p:sp>
      <p:sp>
        <p:nvSpPr>
          <p:cNvPr id="35" name="Text 27"/>
          <p:cNvSpPr txBox="1"/>
          <p:nvPr/>
        </p:nvSpPr>
        <p:spPr>
          <a:xfrm>
            <a:off x="3674288" y="5020056"/>
            <a:ext cx="2010080" cy="10332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Anything you send may leave your organisation. Check the terms before sharing data.</a:t>
            </a:r>
            <a:endParaRPr lang="en-US" sz="1300" dirty="0"/>
          </a:p>
        </p:txBody>
      </p:sp>
      <p:sp>
        <p:nvSpPr>
          <p:cNvPr id="36" name="Shape 28"/>
          <p:cNvSpPr/>
          <p:nvPr/>
        </p:nvSpPr>
        <p:spPr>
          <a:xfrm>
            <a:off x="6233008" y="3995928"/>
            <a:ext cx="2558720" cy="2240280"/>
          </a:xfrm>
          <a:prstGeom prst="roundRect">
            <a:avLst>
              <a:gd name="adj" fmla="val 3265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37" name="Shape 29"/>
          <p:cNvSpPr/>
          <p:nvPr/>
        </p:nvSpPr>
        <p:spPr>
          <a:xfrm>
            <a:off x="6489040" y="4251960"/>
            <a:ext cx="566928" cy="566928"/>
          </a:xfrm>
          <a:prstGeom prst="ellipse">
            <a:avLst/>
          </a:prstGeom>
          <a:solidFill>
            <a:srgbClr val="22D3EE">
              <a:alpha val="16000"/>
            </a:srgbClr>
          </a:solidFill>
          <a:ln w="12700">
            <a:solidFill>
              <a:srgbClr val="22D3EE">
                <a:alpha val="45000"/>
              </a:srgbClr>
            </a:solidFill>
            <a:prstDash val="solid"/>
          </a:ln>
        </p:spPr>
      </p:sp>
      <p:pic>
        <p:nvPicPr>
          <p:cNvPr id="38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30772" y="4393692"/>
            <a:ext cx="283464" cy="283464"/>
          </a:xfrm>
          <a:prstGeom prst="rect">
            <a:avLst/>
          </a:prstGeom>
        </p:spPr>
      </p:pic>
      <p:sp>
        <p:nvSpPr>
          <p:cNvPr id="39" name="Text 30"/>
          <p:cNvSpPr txBox="1"/>
          <p:nvPr/>
        </p:nvSpPr>
        <p:spPr>
          <a:xfrm>
            <a:off x="7275424" y="4251960"/>
            <a:ext cx="1241984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Security</a:t>
            </a:r>
            <a:endParaRPr lang="en-US" sz="1600" dirty="0"/>
          </a:p>
        </p:txBody>
      </p:sp>
      <p:sp>
        <p:nvSpPr>
          <p:cNvPr id="40" name="Text 31"/>
          <p:cNvSpPr txBox="1"/>
          <p:nvPr/>
        </p:nvSpPr>
        <p:spPr>
          <a:xfrm>
            <a:off x="6507328" y="5020056"/>
            <a:ext cx="2010080" cy="10332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Prompt injection through untrusted content can manipulate what an AI system does.</a:t>
            </a:r>
            <a:endParaRPr lang="en-US" sz="1300" dirty="0"/>
          </a:p>
        </p:txBody>
      </p:sp>
      <p:sp>
        <p:nvSpPr>
          <p:cNvPr id="41" name="Shape 32"/>
          <p:cNvSpPr/>
          <p:nvPr/>
        </p:nvSpPr>
        <p:spPr>
          <a:xfrm>
            <a:off x="9066047" y="3995928"/>
            <a:ext cx="2558720" cy="2240280"/>
          </a:xfrm>
          <a:prstGeom prst="roundRect">
            <a:avLst>
              <a:gd name="adj" fmla="val 3265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42" name="Shape 33"/>
          <p:cNvSpPr/>
          <p:nvPr/>
        </p:nvSpPr>
        <p:spPr>
          <a:xfrm>
            <a:off x="9322079" y="4251960"/>
            <a:ext cx="566928" cy="566928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43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63811" y="4393692"/>
            <a:ext cx="283464" cy="283464"/>
          </a:xfrm>
          <a:prstGeom prst="rect">
            <a:avLst/>
          </a:prstGeom>
        </p:spPr>
      </p:pic>
      <p:sp>
        <p:nvSpPr>
          <p:cNvPr id="44" name="Text 34"/>
          <p:cNvSpPr txBox="1"/>
          <p:nvPr/>
        </p:nvSpPr>
        <p:spPr>
          <a:xfrm>
            <a:off x="10108463" y="4251960"/>
            <a:ext cx="1241984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No accountability</a:t>
            </a:r>
            <a:endParaRPr lang="en-US" sz="1600" dirty="0"/>
          </a:p>
        </p:txBody>
      </p:sp>
      <p:sp>
        <p:nvSpPr>
          <p:cNvPr id="45" name="Text 35"/>
          <p:cNvSpPr txBox="1"/>
          <p:nvPr/>
        </p:nvSpPr>
        <p:spPr>
          <a:xfrm>
            <a:off x="9340367" y="5020056"/>
            <a:ext cx="2010080" cy="10332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model cannot be responsible for an outcome. A person always has to be.</a:t>
            </a:r>
            <a:endParaRPr lang="en-US" sz="1300" dirty="0"/>
          </a:p>
        </p:txBody>
      </p:sp>
    </p:spTree>
  </p:cSld>
  <p:clrMapOvr>
    <a:masterClrMapping/>
  </p:clrMapOvr>
</p:sld>
</file>

<file path=ppt/slides/slide2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BBF2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QUIZ 18 · SLIDES 189–194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Quiz 18 — Hallucinations &amp; Limitations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Section 18 · Hallucinations &amp; Limitations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229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11057839" cy="848563"/>
          </a:xfrm>
          <a:prstGeom prst="roundRect">
            <a:avLst>
              <a:gd name="adj" fmla="val 8621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68096" y="1627632"/>
            <a:ext cx="310896" cy="310896"/>
          </a:xfrm>
          <a:prstGeom prst="ellipse">
            <a:avLst/>
          </a:prstGeom>
          <a:solidFill>
            <a:srgbClr val="FBBF24">
              <a:alpha val="22000"/>
            </a:srgbClr>
          </a:solidFill>
          <a:ln w="12700">
            <a:solidFill>
              <a:srgbClr val="FBBF24">
                <a:alpha val="5000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68096" y="1627632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BBF2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Q1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188720" y="1600200"/>
            <a:ext cx="8726119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An AI hallucination is: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10207447" y="1618488"/>
            <a:ext cx="1371600" cy="347472"/>
          </a:xfrm>
          <a:prstGeom prst="roundRect">
            <a:avLst>
              <a:gd name="adj" fmla="val 15789"/>
            </a:avLst>
          </a:prstGeom>
          <a:solidFill>
            <a:srgbClr val="A78BFA">
              <a:alpha val="20000"/>
            </a:srgbClr>
          </a:solidFill>
          <a:ln w="12700">
            <a:solidFill>
              <a:srgbClr val="A78BFA">
                <a:alpha val="60000"/>
              </a:srgbClr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207447" y="1618488"/>
            <a:ext cx="13716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Answer: B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1115568" y="2011680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A. </a:t>
            </a:r>
            <a:r>
              <a:rPr lang="en-US" sz="11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screen error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3674288" y="2011680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B. </a:t>
            </a: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Confident but false output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6233008" y="2011680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C. </a:t>
            </a:r>
            <a:r>
              <a:rPr lang="en-US" sz="11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slow response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8791727" y="2011680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D. </a:t>
            </a:r>
            <a:r>
              <a:rPr lang="en-US" sz="11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missing file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66928" y="2457907"/>
            <a:ext cx="11057839" cy="848563"/>
          </a:xfrm>
          <a:prstGeom prst="roundRect">
            <a:avLst>
              <a:gd name="adj" fmla="val 8621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68096" y="2604211"/>
            <a:ext cx="310896" cy="310896"/>
          </a:xfrm>
          <a:prstGeom prst="ellipse">
            <a:avLst/>
          </a:prstGeom>
          <a:solidFill>
            <a:srgbClr val="FBBF24">
              <a:alpha val="22000"/>
            </a:srgbClr>
          </a:solidFill>
          <a:ln w="12700">
            <a:solidFill>
              <a:srgbClr val="FBBF24">
                <a:alpha val="50000"/>
              </a:srgbClr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68096" y="2604211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BBF2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Q2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1188720" y="2576779"/>
            <a:ext cx="8726119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Hallucinations happen partly because models: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10207447" y="2595067"/>
            <a:ext cx="1371600" cy="347472"/>
          </a:xfrm>
          <a:prstGeom prst="roundRect">
            <a:avLst>
              <a:gd name="adj" fmla="val 15789"/>
            </a:avLst>
          </a:prstGeom>
          <a:solidFill>
            <a:srgbClr val="A78BFA">
              <a:alpha val="20000"/>
            </a:srgbClr>
          </a:solidFill>
          <a:ln w="12700">
            <a:solidFill>
              <a:srgbClr val="A78BFA">
                <a:alpha val="60000"/>
              </a:srgbClr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0207447" y="2595067"/>
            <a:ext cx="13716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Answer: C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1115568" y="2988259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A. </a:t>
            </a:r>
            <a:r>
              <a:rPr lang="en-US" sz="11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Have no parameters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3674288" y="2988259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B. </a:t>
            </a:r>
            <a:r>
              <a:rPr lang="en-US" sz="11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Cannot read English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6233008" y="2988259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C. </a:t>
            </a: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Predict likely text, not verified facts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8791727" y="2988259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D. </a:t>
            </a:r>
            <a:r>
              <a:rPr lang="en-US" sz="11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Always search the web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66928" y="3434486"/>
            <a:ext cx="11057839" cy="848563"/>
          </a:xfrm>
          <a:prstGeom prst="roundRect">
            <a:avLst>
              <a:gd name="adj" fmla="val 8621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768096" y="3580790"/>
            <a:ext cx="310896" cy="310896"/>
          </a:xfrm>
          <a:prstGeom prst="ellipse">
            <a:avLst/>
          </a:prstGeom>
          <a:solidFill>
            <a:srgbClr val="FBBF24">
              <a:alpha val="22000"/>
            </a:srgbClr>
          </a:solidFill>
          <a:ln w="12700">
            <a:solidFill>
              <a:srgbClr val="FBBF24">
                <a:alpha val="50000"/>
              </a:srgbClr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68096" y="3580790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BBF2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Q3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1188720" y="3553358"/>
            <a:ext cx="8726119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Which most reduces hallucination?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10207447" y="3571646"/>
            <a:ext cx="1371600" cy="347472"/>
          </a:xfrm>
          <a:prstGeom prst="roundRect">
            <a:avLst>
              <a:gd name="adj" fmla="val 15789"/>
            </a:avLst>
          </a:prstGeom>
          <a:solidFill>
            <a:srgbClr val="A78BFA">
              <a:alpha val="20000"/>
            </a:srgbClr>
          </a:solidFill>
          <a:ln w="12700">
            <a:solidFill>
              <a:srgbClr val="A78BFA">
                <a:alpha val="60000"/>
              </a:srgbClr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10207447" y="3571646"/>
            <a:ext cx="13716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Answer: D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1115568" y="3964838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A. </a:t>
            </a:r>
            <a:r>
              <a:rPr lang="en-US" sz="11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Using a longer chat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3674288" y="3964838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B. </a:t>
            </a:r>
            <a:r>
              <a:rPr lang="en-US" sz="11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Asking twice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6233008" y="3964838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C. </a:t>
            </a:r>
            <a:r>
              <a:rPr lang="en-US" sz="11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Using capital letters</a:t>
            </a:r>
            <a:endParaRPr lang="en-US" sz="1050" dirty="0"/>
          </a:p>
        </p:txBody>
      </p:sp>
      <p:sp>
        <p:nvSpPr>
          <p:cNvPr id="35" name="Text 33"/>
          <p:cNvSpPr txBox="1"/>
          <p:nvPr/>
        </p:nvSpPr>
        <p:spPr>
          <a:xfrm>
            <a:off x="8791727" y="3964838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D. </a:t>
            </a: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Giving source documents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66928" y="4411066"/>
            <a:ext cx="11057839" cy="848563"/>
          </a:xfrm>
          <a:prstGeom prst="roundRect">
            <a:avLst>
              <a:gd name="adj" fmla="val 8621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768096" y="4557370"/>
            <a:ext cx="310896" cy="310896"/>
          </a:xfrm>
          <a:prstGeom prst="ellipse">
            <a:avLst/>
          </a:prstGeom>
          <a:solidFill>
            <a:srgbClr val="FBBF24">
              <a:alpha val="22000"/>
            </a:srgbClr>
          </a:solidFill>
          <a:ln w="12700">
            <a:solidFill>
              <a:srgbClr val="FBBF24">
                <a:alpha val="50000"/>
              </a:srgbClr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768096" y="4557370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BBF2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Q4</a:t>
            </a:r>
            <a:endParaRPr lang="en-US" sz="900" dirty="0"/>
          </a:p>
        </p:txBody>
      </p:sp>
      <p:sp>
        <p:nvSpPr>
          <p:cNvPr id="39" name="Text 37"/>
          <p:cNvSpPr txBox="1"/>
          <p:nvPr/>
        </p:nvSpPr>
        <p:spPr>
          <a:xfrm>
            <a:off x="1188720" y="4529938"/>
            <a:ext cx="8726119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AI citations should always be:</a:t>
            </a:r>
            <a:endParaRPr lang="en-US" sz="1250" dirty="0"/>
          </a:p>
        </p:txBody>
      </p:sp>
      <p:sp>
        <p:nvSpPr>
          <p:cNvPr id="40" name="Shape 38"/>
          <p:cNvSpPr/>
          <p:nvPr/>
        </p:nvSpPr>
        <p:spPr>
          <a:xfrm>
            <a:off x="10207447" y="4548226"/>
            <a:ext cx="1371600" cy="347472"/>
          </a:xfrm>
          <a:prstGeom prst="roundRect">
            <a:avLst>
              <a:gd name="adj" fmla="val 15789"/>
            </a:avLst>
          </a:prstGeom>
          <a:solidFill>
            <a:srgbClr val="A78BFA">
              <a:alpha val="20000"/>
            </a:srgbClr>
          </a:solidFill>
          <a:ln w="12700">
            <a:solidFill>
              <a:srgbClr val="A78BFA">
                <a:alpha val="60000"/>
              </a:srgbClr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10207447" y="4548226"/>
            <a:ext cx="13716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Answer: A</a:t>
            </a:r>
            <a:endParaRPr lang="en-US" sz="1050" dirty="0"/>
          </a:p>
        </p:txBody>
      </p:sp>
      <p:sp>
        <p:nvSpPr>
          <p:cNvPr id="42" name="Text 40"/>
          <p:cNvSpPr txBox="1"/>
          <p:nvPr/>
        </p:nvSpPr>
        <p:spPr>
          <a:xfrm>
            <a:off x="1115568" y="4941418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A. </a:t>
            </a: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Opened and verified</a:t>
            </a:r>
            <a:endParaRPr lang="en-US" sz="1050" dirty="0"/>
          </a:p>
        </p:txBody>
      </p:sp>
      <p:sp>
        <p:nvSpPr>
          <p:cNvPr id="43" name="Text 41"/>
          <p:cNvSpPr txBox="1"/>
          <p:nvPr/>
        </p:nvSpPr>
        <p:spPr>
          <a:xfrm>
            <a:off x="3674288" y="4941418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B. </a:t>
            </a:r>
            <a:r>
              <a:rPr lang="en-US" sz="11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Trusted immediately</a:t>
            </a:r>
            <a:endParaRPr lang="en-US" sz="1050" dirty="0"/>
          </a:p>
        </p:txBody>
      </p:sp>
      <p:sp>
        <p:nvSpPr>
          <p:cNvPr id="44" name="Text 42"/>
          <p:cNvSpPr txBox="1"/>
          <p:nvPr/>
        </p:nvSpPr>
        <p:spPr>
          <a:xfrm>
            <a:off x="6233008" y="4941418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C. </a:t>
            </a:r>
            <a:r>
              <a:rPr lang="en-US" sz="11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Copied without reading</a:t>
            </a:r>
            <a:endParaRPr lang="en-US" sz="1050" dirty="0"/>
          </a:p>
        </p:txBody>
      </p:sp>
      <p:sp>
        <p:nvSpPr>
          <p:cNvPr id="45" name="Text 43"/>
          <p:cNvSpPr txBox="1"/>
          <p:nvPr/>
        </p:nvSpPr>
        <p:spPr>
          <a:xfrm>
            <a:off x="8791727" y="4941418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D. </a:t>
            </a:r>
            <a:r>
              <a:rPr lang="en-US" sz="11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Ignored completely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566928" y="5387645"/>
            <a:ext cx="11057839" cy="848563"/>
          </a:xfrm>
          <a:prstGeom prst="roundRect">
            <a:avLst>
              <a:gd name="adj" fmla="val 8621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768096" y="5533949"/>
            <a:ext cx="310896" cy="310896"/>
          </a:xfrm>
          <a:prstGeom prst="ellipse">
            <a:avLst/>
          </a:prstGeom>
          <a:solidFill>
            <a:srgbClr val="FBBF24">
              <a:alpha val="22000"/>
            </a:srgbClr>
          </a:solidFill>
          <a:ln w="12700">
            <a:solidFill>
              <a:srgbClr val="FBBF24">
                <a:alpha val="50000"/>
              </a:srgbClr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768096" y="5533949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BBF2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Q5</a:t>
            </a:r>
            <a:endParaRPr lang="en-US" sz="900" dirty="0"/>
          </a:p>
        </p:txBody>
      </p:sp>
      <p:sp>
        <p:nvSpPr>
          <p:cNvPr id="49" name="Text 47"/>
          <p:cNvSpPr txBox="1"/>
          <p:nvPr/>
        </p:nvSpPr>
        <p:spPr>
          <a:xfrm>
            <a:off x="1188720" y="5506517"/>
            <a:ext cx="8726119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 confident tone in an AI answer means:</a:t>
            </a:r>
            <a:endParaRPr lang="en-US" sz="1250" dirty="0"/>
          </a:p>
        </p:txBody>
      </p:sp>
      <p:sp>
        <p:nvSpPr>
          <p:cNvPr id="50" name="Shape 48"/>
          <p:cNvSpPr/>
          <p:nvPr/>
        </p:nvSpPr>
        <p:spPr>
          <a:xfrm>
            <a:off x="10207447" y="5524805"/>
            <a:ext cx="1371600" cy="347472"/>
          </a:xfrm>
          <a:prstGeom prst="roundRect">
            <a:avLst>
              <a:gd name="adj" fmla="val 15789"/>
            </a:avLst>
          </a:prstGeom>
          <a:solidFill>
            <a:srgbClr val="A78BFA">
              <a:alpha val="20000"/>
            </a:srgbClr>
          </a:solidFill>
          <a:ln w="12700">
            <a:solidFill>
              <a:srgbClr val="A78BFA">
                <a:alpha val="60000"/>
              </a:srgbClr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10207447" y="5524805"/>
            <a:ext cx="13716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Answer: B</a:t>
            </a:r>
            <a:endParaRPr lang="en-US" sz="1050" dirty="0"/>
          </a:p>
        </p:txBody>
      </p:sp>
      <p:sp>
        <p:nvSpPr>
          <p:cNvPr id="52" name="Text 50"/>
          <p:cNvSpPr txBox="1"/>
          <p:nvPr/>
        </p:nvSpPr>
        <p:spPr>
          <a:xfrm>
            <a:off x="1115568" y="5917997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A. </a:t>
            </a:r>
            <a:r>
              <a:rPr lang="en-US" sz="11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answer is correct</a:t>
            </a:r>
            <a:endParaRPr lang="en-US" sz="1050" dirty="0"/>
          </a:p>
        </p:txBody>
      </p:sp>
      <p:sp>
        <p:nvSpPr>
          <p:cNvPr id="53" name="Text 51"/>
          <p:cNvSpPr txBox="1"/>
          <p:nvPr/>
        </p:nvSpPr>
        <p:spPr>
          <a:xfrm>
            <a:off x="3674288" y="5917997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B. </a:t>
            </a: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Nothing about accuracy</a:t>
            </a:r>
            <a:endParaRPr lang="en-US" sz="1050" dirty="0"/>
          </a:p>
        </p:txBody>
      </p:sp>
      <p:sp>
        <p:nvSpPr>
          <p:cNvPr id="54" name="Text 52"/>
          <p:cNvSpPr txBox="1"/>
          <p:nvPr/>
        </p:nvSpPr>
        <p:spPr>
          <a:xfrm>
            <a:off x="6233008" y="5917997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C. </a:t>
            </a:r>
            <a:r>
              <a:rPr lang="en-US" sz="11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source is verified</a:t>
            </a:r>
            <a:endParaRPr lang="en-US" sz="1050" dirty="0"/>
          </a:p>
        </p:txBody>
      </p:sp>
      <p:sp>
        <p:nvSpPr>
          <p:cNvPr id="55" name="Text 53"/>
          <p:cNvSpPr txBox="1"/>
          <p:nvPr/>
        </p:nvSpPr>
        <p:spPr>
          <a:xfrm>
            <a:off x="8791727" y="5917997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D. </a:t>
            </a:r>
            <a:r>
              <a:rPr lang="en-US" sz="11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model searched online</a:t>
            </a:r>
            <a:endParaRPr lang="en-US" sz="1050" dirty="0"/>
          </a:p>
        </p:txBody>
      </p:sp>
    </p:spTree>
  </p:cSld>
  <p:clrMapOvr>
    <a:masterClrMapping/>
  </p:clrMapOvr>
</p:sld>
</file>

<file path=ppt/slides/slide2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49808" y="1874520"/>
            <a:ext cx="58521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SECTION 19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49808" y="2240280"/>
            <a:ext cx="6035040" cy="1554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Responsible AI, Ethics &amp; Safety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749808" y="3886200"/>
            <a:ext cx="5852160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Using powerful tools in a way that is fair, private, honest and accountable.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49808" y="4846320"/>
            <a:ext cx="1463040" cy="64008"/>
          </a:xfrm>
          <a:prstGeom prst="roundRect">
            <a:avLst>
              <a:gd name="adj" fmla="val 42857"/>
            </a:avLst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32320" y="1143000"/>
            <a:ext cx="4492447" cy="797357"/>
          </a:xfrm>
          <a:prstGeom prst="roundRect">
            <a:avLst>
              <a:gd name="adj" fmla="val 9174"/>
            </a:avLst>
          </a:prstGeom>
          <a:solidFill>
            <a:srgbClr val="191640"/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51776" y="1313078"/>
            <a:ext cx="457200" cy="457200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66076" y="1427378"/>
            <a:ext cx="228600" cy="22860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8010144" y="1143000"/>
            <a:ext cx="3303727" cy="79735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Bias and Fairness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7132320" y="2086661"/>
            <a:ext cx="4492447" cy="797357"/>
          </a:xfrm>
          <a:prstGeom prst="roundRect">
            <a:avLst>
              <a:gd name="adj" fmla="val 9174"/>
            </a:avLst>
          </a:prstGeom>
          <a:solidFill>
            <a:srgbClr val="191640"/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7351776" y="2256739"/>
            <a:ext cx="457200" cy="457200"/>
          </a:xfrm>
          <a:prstGeom prst="ellipse">
            <a:avLst/>
          </a:prstGeom>
          <a:solidFill>
            <a:srgbClr val="22D3EE">
              <a:alpha val="16000"/>
            </a:srgbClr>
          </a:solidFill>
          <a:ln w="12700">
            <a:solidFill>
              <a:srgbClr val="22D3EE">
                <a:alpha val="45000"/>
              </a:srgbClr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6076" y="2371039"/>
            <a:ext cx="228600" cy="22860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8010144" y="2086661"/>
            <a:ext cx="3303727" cy="79735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Privacy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7132320" y="3030322"/>
            <a:ext cx="4492447" cy="797357"/>
          </a:xfrm>
          <a:prstGeom prst="roundRect">
            <a:avLst>
              <a:gd name="adj" fmla="val 9174"/>
            </a:avLst>
          </a:prstGeom>
          <a:solidFill>
            <a:srgbClr val="191640"/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351776" y="3200400"/>
            <a:ext cx="457200" cy="457200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6076" y="3314700"/>
            <a:ext cx="228600" cy="22860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010144" y="3030322"/>
            <a:ext cx="3303727" cy="79735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Copyright</a:t>
            </a:r>
            <a:endParaRPr lang="en-US" sz="1350" dirty="0"/>
          </a:p>
        </p:txBody>
      </p:sp>
      <p:sp>
        <p:nvSpPr>
          <p:cNvPr id="18" name="Shape 13"/>
          <p:cNvSpPr/>
          <p:nvPr/>
        </p:nvSpPr>
        <p:spPr>
          <a:xfrm>
            <a:off x="7132320" y="3973982"/>
            <a:ext cx="4492447" cy="797357"/>
          </a:xfrm>
          <a:prstGeom prst="roundRect">
            <a:avLst>
              <a:gd name="adj" fmla="val 9174"/>
            </a:avLst>
          </a:prstGeom>
          <a:solidFill>
            <a:srgbClr val="191640"/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7351776" y="4144061"/>
            <a:ext cx="457200" cy="457200"/>
          </a:xfrm>
          <a:prstGeom prst="ellipse">
            <a:avLst/>
          </a:prstGeom>
          <a:solidFill>
            <a:srgbClr val="34D399">
              <a:alpha val="16000"/>
            </a:srgbClr>
          </a:solidFill>
          <a:ln w="12700">
            <a:solidFill>
              <a:srgbClr val="34D399">
                <a:alpha val="45000"/>
              </a:srgbClr>
            </a:solidFill>
            <a:prstDash val="solid"/>
          </a:ln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66076" y="4258361"/>
            <a:ext cx="228600" cy="22860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8010144" y="3973982"/>
            <a:ext cx="3303727" cy="79735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Deepfakes &amp; Misinformation</a:t>
            </a:r>
            <a:endParaRPr lang="en-US" sz="1350" dirty="0"/>
          </a:p>
        </p:txBody>
      </p:sp>
      <p:sp>
        <p:nvSpPr>
          <p:cNvPr id="22" name="Shape 16"/>
          <p:cNvSpPr/>
          <p:nvPr/>
        </p:nvSpPr>
        <p:spPr>
          <a:xfrm>
            <a:off x="7132320" y="4917643"/>
            <a:ext cx="4492447" cy="797357"/>
          </a:xfrm>
          <a:prstGeom prst="roundRect">
            <a:avLst>
              <a:gd name="adj" fmla="val 9174"/>
            </a:avLst>
          </a:prstGeom>
          <a:solidFill>
            <a:srgbClr val="191640"/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7351776" y="5087722"/>
            <a:ext cx="457200" cy="457200"/>
          </a:xfrm>
          <a:prstGeom prst="ellipse">
            <a:avLst/>
          </a:prstGeom>
          <a:solidFill>
            <a:srgbClr val="F472B6">
              <a:alpha val="16000"/>
            </a:srgbClr>
          </a:solidFill>
          <a:ln w="12700">
            <a:solidFill>
              <a:srgbClr val="F472B6">
                <a:alpha val="45000"/>
              </a:srgbClr>
            </a:solidFill>
            <a:prstDash val="solid"/>
          </a:ln>
        </p:spPr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66076" y="5202022"/>
            <a:ext cx="228600" cy="228600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8010144" y="4917643"/>
            <a:ext cx="3303727" cy="79735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Human Oversight</a:t>
            </a:r>
            <a:endParaRPr lang="en-US" sz="1350" dirty="0"/>
          </a:p>
        </p:txBody>
      </p:sp>
      <p:sp>
        <p:nvSpPr>
          <p:cNvPr id="26" name="Text 19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Section 19 · Responsible AI, Ethics &amp; Safety</a:t>
            </a:r>
            <a:endParaRPr lang="en-US" sz="950" dirty="0"/>
          </a:p>
        </p:txBody>
      </p:sp>
      <p:sp>
        <p:nvSpPr>
          <p:cNvPr id="27" name="Text 20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230</a:t>
            </a:r>
            <a:endParaRPr lang="en-US" sz="950" dirty="0"/>
          </a:p>
        </p:txBody>
      </p:sp>
    </p:spTree>
  </p:cSld>
  <p:clrMapOvr>
    <a:masterClrMapping/>
  </p:clrMapOvr>
</p:sld>
</file>

<file path=ppt/slides/slide2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SLIDE 195 · DEFINITION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What is Responsible AI?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Section 19 · Responsible AI, Ethics &amp; Safety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231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11057839" cy="877824"/>
          </a:xfrm>
          <a:prstGeom prst="roundRect">
            <a:avLst>
              <a:gd name="adj" fmla="val 8333"/>
            </a:avLst>
          </a:prstGeom>
          <a:solidFill>
            <a:srgbClr val="191640">
              <a:alpha val="96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6928" y="1627632"/>
            <a:ext cx="64008" cy="585216"/>
          </a:xfrm>
          <a:prstGeom prst="roundRect">
            <a:avLst>
              <a:gd name="adj" fmla="val 42857"/>
            </a:avLst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59536" y="1572768"/>
            <a:ext cx="10472623" cy="6949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DDD9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Responsible AI means building and using AI in a way that is fair, safe, private, transparent and accountable.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66928" y="2615184"/>
            <a:ext cx="3503066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22960" y="2816352"/>
            <a:ext cx="457200" cy="457200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2930652"/>
            <a:ext cx="228600" cy="22860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499616" y="2816352"/>
            <a:ext cx="229605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Fairness</a:t>
            </a:r>
            <a:endParaRPr lang="en-US" sz="1450" dirty="0"/>
          </a:p>
        </p:txBody>
      </p:sp>
      <p:sp>
        <p:nvSpPr>
          <p:cNvPr id="13" name="Text 10"/>
          <p:cNvSpPr txBox="1"/>
          <p:nvPr/>
        </p:nvSpPr>
        <p:spPr>
          <a:xfrm>
            <a:off x="841248" y="3419856"/>
            <a:ext cx="2954426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It should not systematically disadvantage particular groups of people.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344314" y="2615184"/>
            <a:ext cx="3503066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600346" y="2816352"/>
            <a:ext cx="457200" cy="457200"/>
          </a:xfrm>
          <a:prstGeom prst="ellipse">
            <a:avLst/>
          </a:prstGeom>
          <a:solidFill>
            <a:srgbClr val="22D3EE">
              <a:alpha val="16000"/>
            </a:srgbClr>
          </a:solidFill>
          <a:ln w="12700">
            <a:solidFill>
              <a:srgbClr val="22D3EE">
                <a:alpha val="45000"/>
              </a:srgbClr>
            </a:solidFill>
            <a:prstDash val="solid"/>
          </a:ln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4646" y="2930652"/>
            <a:ext cx="228600" cy="22860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5277002" y="2816352"/>
            <a:ext cx="229605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Transparency</a:t>
            </a:r>
            <a:endParaRPr lang="en-US" sz="1450" dirty="0"/>
          </a:p>
        </p:txBody>
      </p:sp>
      <p:sp>
        <p:nvSpPr>
          <p:cNvPr id="18" name="Text 14"/>
          <p:cNvSpPr txBox="1"/>
          <p:nvPr/>
        </p:nvSpPr>
        <p:spPr>
          <a:xfrm>
            <a:off x="4618634" y="3419856"/>
            <a:ext cx="2954426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People should know when they are interacting with AI and how it is being used.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8121701" y="2615184"/>
            <a:ext cx="3503066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8377733" y="2816352"/>
            <a:ext cx="457200" cy="457200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2033" y="2930652"/>
            <a:ext cx="228600" cy="22860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9054389" y="2816352"/>
            <a:ext cx="229605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Privacy</a:t>
            </a:r>
            <a:endParaRPr lang="en-US" sz="1450" dirty="0"/>
          </a:p>
        </p:txBody>
      </p:sp>
      <p:sp>
        <p:nvSpPr>
          <p:cNvPr id="23" name="Text 18"/>
          <p:cNvSpPr txBox="1"/>
          <p:nvPr/>
        </p:nvSpPr>
        <p:spPr>
          <a:xfrm>
            <a:off x="8396021" y="3419856"/>
            <a:ext cx="2954426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Personal data must be protected and only used for agreed purposes.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566928" y="4530149"/>
            <a:ext cx="3503066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822960" y="4731317"/>
            <a:ext cx="457200" cy="457200"/>
          </a:xfrm>
          <a:prstGeom prst="ellipse">
            <a:avLst/>
          </a:prstGeom>
          <a:solidFill>
            <a:srgbClr val="34D399">
              <a:alpha val="16000"/>
            </a:srgbClr>
          </a:solidFill>
          <a:ln w="12700">
            <a:solidFill>
              <a:srgbClr val="34D399">
                <a:alpha val="45000"/>
              </a:srgbClr>
            </a:solidFill>
            <a:prstDash val="solid"/>
          </a:ln>
        </p:spPr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7260" y="4845617"/>
            <a:ext cx="228600" cy="228600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1499616" y="4731317"/>
            <a:ext cx="229605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Accountability</a:t>
            </a:r>
            <a:endParaRPr lang="en-US" sz="1450" dirty="0"/>
          </a:p>
        </p:txBody>
      </p:sp>
      <p:sp>
        <p:nvSpPr>
          <p:cNvPr id="28" name="Text 22"/>
          <p:cNvSpPr txBox="1"/>
          <p:nvPr/>
        </p:nvSpPr>
        <p:spPr>
          <a:xfrm>
            <a:off x="841248" y="5334821"/>
            <a:ext cx="2954426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named person or team is answerable for what the system does.</a:t>
            </a:r>
            <a:endParaRPr lang="en-US" sz="1200" dirty="0"/>
          </a:p>
        </p:txBody>
      </p:sp>
      <p:sp>
        <p:nvSpPr>
          <p:cNvPr id="29" name="Shape 23"/>
          <p:cNvSpPr/>
          <p:nvPr/>
        </p:nvSpPr>
        <p:spPr>
          <a:xfrm>
            <a:off x="4344314" y="4530149"/>
            <a:ext cx="3503066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4600346" y="4731317"/>
            <a:ext cx="457200" cy="457200"/>
          </a:xfrm>
          <a:prstGeom prst="ellipse">
            <a:avLst/>
          </a:prstGeom>
          <a:solidFill>
            <a:srgbClr val="F472B6">
              <a:alpha val="16000"/>
            </a:srgbClr>
          </a:solidFill>
          <a:ln w="12700">
            <a:solidFill>
              <a:srgbClr val="F472B6">
                <a:alpha val="45000"/>
              </a:srgbClr>
            </a:solidFill>
            <a:prstDash val="solid"/>
          </a:ln>
        </p:spPr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14646" y="4845617"/>
            <a:ext cx="228600" cy="228600"/>
          </a:xfrm>
          <a:prstGeom prst="rect">
            <a:avLst/>
          </a:prstGeom>
        </p:spPr>
      </p:pic>
      <p:sp>
        <p:nvSpPr>
          <p:cNvPr id="32" name="Text 25"/>
          <p:cNvSpPr txBox="1"/>
          <p:nvPr/>
        </p:nvSpPr>
        <p:spPr>
          <a:xfrm>
            <a:off x="5277002" y="4731317"/>
            <a:ext cx="229605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Safety</a:t>
            </a:r>
            <a:endParaRPr lang="en-US" sz="1450" dirty="0"/>
          </a:p>
        </p:txBody>
      </p:sp>
      <p:sp>
        <p:nvSpPr>
          <p:cNvPr id="33" name="Text 26"/>
          <p:cNvSpPr txBox="1"/>
          <p:nvPr/>
        </p:nvSpPr>
        <p:spPr>
          <a:xfrm>
            <a:off x="4618634" y="5334821"/>
            <a:ext cx="2954426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Limits and testing to prevent harmful outputs and misuse.</a:t>
            </a:r>
            <a:endParaRPr lang="en-US" sz="1200" dirty="0"/>
          </a:p>
        </p:txBody>
      </p:sp>
      <p:sp>
        <p:nvSpPr>
          <p:cNvPr id="34" name="Shape 27"/>
          <p:cNvSpPr/>
          <p:nvPr/>
        </p:nvSpPr>
        <p:spPr>
          <a:xfrm>
            <a:off x="8121701" y="4530149"/>
            <a:ext cx="3503066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35" name="Shape 28"/>
          <p:cNvSpPr/>
          <p:nvPr/>
        </p:nvSpPr>
        <p:spPr>
          <a:xfrm>
            <a:off x="8377733" y="4731317"/>
            <a:ext cx="457200" cy="457200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36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92033" y="4845617"/>
            <a:ext cx="228600" cy="228600"/>
          </a:xfrm>
          <a:prstGeom prst="rect">
            <a:avLst/>
          </a:prstGeom>
        </p:spPr>
      </p:pic>
      <p:sp>
        <p:nvSpPr>
          <p:cNvPr id="37" name="Text 29"/>
          <p:cNvSpPr txBox="1"/>
          <p:nvPr/>
        </p:nvSpPr>
        <p:spPr>
          <a:xfrm>
            <a:off x="9054389" y="4731317"/>
            <a:ext cx="229605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Reliability</a:t>
            </a:r>
            <a:endParaRPr lang="en-US" sz="1450" dirty="0"/>
          </a:p>
        </p:txBody>
      </p:sp>
      <p:sp>
        <p:nvSpPr>
          <p:cNvPr id="38" name="Text 30"/>
          <p:cNvSpPr txBox="1"/>
          <p:nvPr/>
        </p:nvSpPr>
        <p:spPr>
          <a:xfrm>
            <a:off x="8396021" y="5334821"/>
            <a:ext cx="2954426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Performance should be tested and monitored, not simply assumed.</a:t>
            </a:r>
            <a:endParaRPr lang="en-US" sz="1200" dirty="0"/>
          </a:p>
        </p:txBody>
      </p:sp>
    </p:spTree>
  </p:cSld>
  <p:clrMapOvr>
    <a:masterClrMapping/>
  </p:clrMapOvr>
</p:sld>
</file>

<file path=ppt/slides/slide2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SLIDE 196 · ISSUE 1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AI Bias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Section 19 · Responsible AI, Ethics &amp; Safety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232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11057839" cy="877824"/>
          </a:xfrm>
          <a:prstGeom prst="roundRect">
            <a:avLst>
              <a:gd name="adj" fmla="val 8333"/>
            </a:avLst>
          </a:prstGeom>
          <a:solidFill>
            <a:srgbClr val="191640">
              <a:alpha val="96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6928" y="1627632"/>
            <a:ext cx="64008" cy="585216"/>
          </a:xfrm>
          <a:prstGeom prst="roundRect">
            <a:avLst>
              <a:gd name="adj" fmla="val 42857"/>
            </a:avLst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59536" y="1572768"/>
            <a:ext cx="10472623" cy="6949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DDD9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Bias means the model produces systematically unfair results for some people or groups.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66928" y="2615184"/>
            <a:ext cx="3503066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22960" y="2816352"/>
            <a:ext cx="457200" cy="457200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2930652"/>
            <a:ext cx="228600" cy="22860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499616" y="2816352"/>
            <a:ext cx="229605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Where It Comes From</a:t>
            </a:r>
            <a:endParaRPr lang="en-US" sz="1450" dirty="0"/>
          </a:p>
        </p:txBody>
      </p:sp>
      <p:sp>
        <p:nvSpPr>
          <p:cNvPr id="13" name="Text 10"/>
          <p:cNvSpPr txBox="1"/>
          <p:nvPr/>
        </p:nvSpPr>
        <p:spPr>
          <a:xfrm>
            <a:off x="841248" y="3419856"/>
            <a:ext cx="2954426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Training data reflects the world as recorded, including historical inequality and under-representation.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344314" y="2615184"/>
            <a:ext cx="3503066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600346" y="2816352"/>
            <a:ext cx="457200" cy="457200"/>
          </a:xfrm>
          <a:prstGeom prst="ellipse">
            <a:avLst/>
          </a:prstGeom>
          <a:solidFill>
            <a:srgbClr val="22D3EE">
              <a:alpha val="16000"/>
            </a:srgbClr>
          </a:solidFill>
          <a:ln w="12700">
            <a:solidFill>
              <a:srgbClr val="22D3EE">
                <a:alpha val="45000"/>
              </a:srgbClr>
            </a:solidFill>
            <a:prstDash val="solid"/>
          </a:ln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4646" y="2930652"/>
            <a:ext cx="228600" cy="22860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5277002" y="2816352"/>
            <a:ext cx="229605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Simple Example</a:t>
            </a:r>
            <a:endParaRPr lang="en-US" sz="1450" dirty="0"/>
          </a:p>
        </p:txBody>
      </p:sp>
      <p:sp>
        <p:nvSpPr>
          <p:cNvPr id="18" name="Text 14"/>
          <p:cNvSpPr txBox="1"/>
          <p:nvPr/>
        </p:nvSpPr>
        <p:spPr>
          <a:xfrm>
            <a:off x="4618634" y="3419856"/>
            <a:ext cx="2954426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If a role has historically been filled mostly by one group, generated text may assume that pattern continues.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8121701" y="2615184"/>
            <a:ext cx="3503066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8377733" y="2816352"/>
            <a:ext cx="457200" cy="457200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2033" y="2930652"/>
            <a:ext cx="228600" cy="22860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9054389" y="2816352"/>
            <a:ext cx="229605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How It Is Found</a:t>
            </a:r>
            <a:endParaRPr lang="en-US" sz="1450" dirty="0"/>
          </a:p>
        </p:txBody>
      </p:sp>
      <p:sp>
        <p:nvSpPr>
          <p:cNvPr id="23" name="Text 18"/>
          <p:cNvSpPr txBox="1"/>
          <p:nvPr/>
        </p:nvSpPr>
        <p:spPr>
          <a:xfrm>
            <a:off x="8396021" y="3419856"/>
            <a:ext cx="2954426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Test the same prompt with different names, genders and regions and compare the outputs carefully.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566928" y="4530149"/>
            <a:ext cx="3503066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822960" y="4731317"/>
            <a:ext cx="457200" cy="457200"/>
          </a:xfrm>
          <a:prstGeom prst="ellipse">
            <a:avLst/>
          </a:prstGeom>
          <a:solidFill>
            <a:srgbClr val="34D399">
              <a:alpha val="16000"/>
            </a:srgbClr>
          </a:solidFill>
          <a:ln w="12700">
            <a:solidFill>
              <a:srgbClr val="34D399">
                <a:alpha val="45000"/>
              </a:srgbClr>
            </a:solidFill>
            <a:prstDash val="solid"/>
          </a:ln>
        </p:spPr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7260" y="4845617"/>
            <a:ext cx="228600" cy="228600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1499616" y="4731317"/>
            <a:ext cx="229605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How It Is Reduced</a:t>
            </a:r>
            <a:endParaRPr lang="en-US" sz="1450" dirty="0"/>
          </a:p>
        </p:txBody>
      </p:sp>
      <p:sp>
        <p:nvSpPr>
          <p:cNvPr id="28" name="Text 22"/>
          <p:cNvSpPr txBox="1"/>
          <p:nvPr/>
        </p:nvSpPr>
        <p:spPr>
          <a:xfrm>
            <a:off x="841248" y="5334821"/>
            <a:ext cx="2954426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200"/>
              </a:spcAft>
              <a:buSzPct val="100000"/>
              <a:buChar char="▪"/>
            </a:pPr>
            <a:r>
              <a:rPr lang="en-US" sz="9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More representative data</a:t>
            </a:r>
            <a:endParaRPr lang="en-US" sz="900" dirty="0"/>
          </a:p>
          <a:p>
            <a:pPr marL="342900" indent="-342900">
              <a:lnSpc>
                <a:spcPct val="110000"/>
              </a:lnSpc>
              <a:spcAft>
                <a:spcPts val="200"/>
              </a:spcAft>
              <a:buSzPct val="100000"/>
              <a:buChar char="▪"/>
            </a:pPr>
            <a:r>
              <a:rPr lang="en-US" sz="9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Bias testing before release</a:t>
            </a:r>
            <a:endParaRPr lang="en-US" sz="900" dirty="0"/>
          </a:p>
          <a:p>
            <a:pPr marL="342900" indent="-342900">
              <a:lnSpc>
                <a:spcPct val="110000"/>
              </a:lnSpc>
              <a:spcAft>
                <a:spcPts val="200"/>
              </a:spcAft>
              <a:buSzPct val="100000"/>
              <a:buChar char="▪"/>
            </a:pPr>
            <a:r>
              <a:rPr lang="en-US" sz="9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Clear neutral prompts</a:t>
            </a:r>
            <a:endParaRPr lang="en-US" sz="900" dirty="0"/>
          </a:p>
          <a:p>
            <a:pPr marL="342900" indent="-342900">
              <a:lnSpc>
                <a:spcPct val="110000"/>
              </a:lnSpc>
              <a:spcAft>
                <a:spcPts val="200"/>
              </a:spcAft>
              <a:buSzPct val="100000"/>
              <a:buChar char="▪"/>
            </a:pPr>
            <a:r>
              <a:rPr lang="en-US" sz="9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Human review of decisions</a:t>
            </a:r>
            <a:endParaRPr lang="en-US" sz="900" dirty="0"/>
          </a:p>
        </p:txBody>
      </p:sp>
      <p:sp>
        <p:nvSpPr>
          <p:cNvPr id="29" name="Shape 23"/>
          <p:cNvSpPr/>
          <p:nvPr/>
        </p:nvSpPr>
        <p:spPr>
          <a:xfrm>
            <a:off x="4344314" y="4530149"/>
            <a:ext cx="3503066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4600346" y="4731317"/>
            <a:ext cx="457200" cy="457200"/>
          </a:xfrm>
          <a:prstGeom prst="ellipse">
            <a:avLst/>
          </a:prstGeom>
          <a:solidFill>
            <a:srgbClr val="F472B6">
              <a:alpha val="16000"/>
            </a:srgbClr>
          </a:solidFill>
          <a:ln w="12700">
            <a:solidFill>
              <a:srgbClr val="F472B6">
                <a:alpha val="45000"/>
              </a:srgbClr>
            </a:solidFill>
            <a:prstDash val="solid"/>
          </a:ln>
        </p:spPr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14646" y="4845617"/>
            <a:ext cx="228600" cy="228600"/>
          </a:xfrm>
          <a:prstGeom prst="rect">
            <a:avLst/>
          </a:prstGeom>
        </p:spPr>
      </p:pic>
      <p:sp>
        <p:nvSpPr>
          <p:cNvPr id="32" name="Text 25"/>
          <p:cNvSpPr txBox="1"/>
          <p:nvPr/>
        </p:nvSpPr>
        <p:spPr>
          <a:xfrm>
            <a:off x="5277002" y="4731317"/>
            <a:ext cx="229605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It Cannot Be Fully Removed</a:t>
            </a:r>
            <a:endParaRPr lang="en-US" sz="1450" dirty="0"/>
          </a:p>
        </p:txBody>
      </p:sp>
      <p:sp>
        <p:nvSpPr>
          <p:cNvPr id="33" name="Text 26"/>
          <p:cNvSpPr txBox="1"/>
          <p:nvPr/>
        </p:nvSpPr>
        <p:spPr>
          <a:xfrm>
            <a:off x="4618634" y="5334821"/>
            <a:ext cx="2954426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Bias can be reduced and monitored, but no model is completely neutral.</a:t>
            </a:r>
            <a:endParaRPr lang="en-US" sz="1200" dirty="0"/>
          </a:p>
        </p:txBody>
      </p:sp>
      <p:sp>
        <p:nvSpPr>
          <p:cNvPr id="34" name="Shape 27"/>
          <p:cNvSpPr/>
          <p:nvPr/>
        </p:nvSpPr>
        <p:spPr>
          <a:xfrm>
            <a:off x="8121701" y="4530149"/>
            <a:ext cx="3503066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35" name="Shape 28"/>
          <p:cNvSpPr/>
          <p:nvPr/>
        </p:nvSpPr>
        <p:spPr>
          <a:xfrm>
            <a:off x="8377733" y="4731317"/>
            <a:ext cx="457200" cy="457200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36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92033" y="4845617"/>
            <a:ext cx="228600" cy="228600"/>
          </a:xfrm>
          <a:prstGeom prst="rect">
            <a:avLst/>
          </a:prstGeom>
        </p:spPr>
      </p:pic>
      <p:sp>
        <p:nvSpPr>
          <p:cNvPr id="37" name="Text 29"/>
          <p:cNvSpPr txBox="1"/>
          <p:nvPr/>
        </p:nvSpPr>
        <p:spPr>
          <a:xfrm>
            <a:off x="9054389" y="4731317"/>
            <a:ext cx="229605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Highest Risk Areas</a:t>
            </a:r>
            <a:endParaRPr lang="en-US" sz="1450" dirty="0"/>
          </a:p>
        </p:txBody>
      </p:sp>
      <p:sp>
        <p:nvSpPr>
          <p:cNvPr id="38" name="Text 30"/>
          <p:cNvSpPr txBox="1"/>
          <p:nvPr/>
        </p:nvSpPr>
        <p:spPr>
          <a:xfrm>
            <a:off x="8396021" y="5334821"/>
            <a:ext cx="2954426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Hiring, lending, admissions, policing and healthcare — anywhere the output affects a person life.</a:t>
            </a:r>
            <a:endParaRPr lang="en-US" sz="1200" dirty="0"/>
          </a:p>
        </p:txBody>
      </p:sp>
    </p:spTree>
  </p:cSld>
  <p:clrMapOvr>
    <a:masterClrMapping/>
  </p:clrMapOvr>
</p:sld>
</file>

<file path=ppt/slides/slide2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SLIDE 197 · ISSUE 2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Privacy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Section 19 · Responsible AI, Ethics &amp; Safety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233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11057839" cy="877824"/>
          </a:xfrm>
          <a:prstGeom prst="roundRect">
            <a:avLst>
              <a:gd name="adj" fmla="val 8333"/>
            </a:avLst>
          </a:prstGeom>
          <a:solidFill>
            <a:srgbClr val="191640">
              <a:alpha val="96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6928" y="1627632"/>
            <a:ext cx="64008" cy="585216"/>
          </a:xfrm>
          <a:prstGeom prst="roundRect">
            <a:avLst>
              <a:gd name="adj" fmla="val 42857"/>
            </a:avLst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59536" y="1572768"/>
            <a:ext cx="10472623" cy="6949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DDD9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Anything you type into an AI tool may be transmitted, stored and processed outside your control.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66928" y="2615184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22960" y="2816352"/>
            <a:ext cx="457200" cy="457200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2930652"/>
            <a:ext cx="228600" cy="22860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499616" y="2816352"/>
            <a:ext cx="41847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Never Paste These</a:t>
            </a:r>
            <a:endParaRPr lang="en-US" sz="1450" dirty="0"/>
          </a:p>
        </p:txBody>
      </p:sp>
      <p:sp>
        <p:nvSpPr>
          <p:cNvPr id="13" name="Text 10"/>
          <p:cNvSpPr txBox="1"/>
          <p:nvPr/>
        </p:nvSpPr>
        <p:spPr>
          <a:xfrm>
            <a:off x="841248" y="3419856"/>
            <a:ext cx="484312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200"/>
              </a:spcAft>
              <a:buSzPct val="100000"/>
              <a:buChar char="▪"/>
            </a:pPr>
            <a:r>
              <a:rPr lang="en-US" sz="9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Passwords and keys</a:t>
            </a:r>
            <a:endParaRPr lang="en-US" sz="900" dirty="0"/>
          </a:p>
          <a:p>
            <a:pPr marL="342900" indent="-342900">
              <a:lnSpc>
                <a:spcPct val="110000"/>
              </a:lnSpc>
              <a:spcAft>
                <a:spcPts val="200"/>
              </a:spcAft>
              <a:buSzPct val="100000"/>
              <a:buChar char="▪"/>
            </a:pPr>
            <a:r>
              <a:rPr lang="en-US" sz="9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Customer personal data</a:t>
            </a:r>
            <a:endParaRPr lang="en-US" sz="900" dirty="0"/>
          </a:p>
          <a:p>
            <a:pPr marL="342900" indent="-342900">
              <a:lnSpc>
                <a:spcPct val="110000"/>
              </a:lnSpc>
              <a:spcAft>
                <a:spcPts val="200"/>
              </a:spcAft>
              <a:buSzPct val="100000"/>
              <a:buChar char="▪"/>
            </a:pPr>
            <a:r>
              <a:rPr lang="en-US" sz="9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Medical or financial records</a:t>
            </a:r>
            <a:endParaRPr lang="en-US" sz="900" dirty="0"/>
          </a:p>
          <a:p>
            <a:pPr marL="342900" indent="-342900">
              <a:lnSpc>
                <a:spcPct val="110000"/>
              </a:lnSpc>
              <a:spcAft>
                <a:spcPts val="200"/>
              </a:spcAft>
              <a:buSzPct val="100000"/>
              <a:buChar char="▪"/>
            </a:pPr>
            <a:r>
              <a:rPr lang="en-US" sz="9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Confidential company documents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6233008" y="2615184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489040" y="2816352"/>
            <a:ext cx="457200" cy="457200"/>
          </a:xfrm>
          <a:prstGeom prst="ellipse">
            <a:avLst/>
          </a:prstGeom>
          <a:solidFill>
            <a:srgbClr val="22D3EE">
              <a:alpha val="16000"/>
            </a:srgbClr>
          </a:solidFill>
          <a:ln w="12700">
            <a:solidFill>
              <a:srgbClr val="22D3EE">
                <a:alpha val="45000"/>
              </a:srgbClr>
            </a:solidFill>
            <a:prstDash val="solid"/>
          </a:ln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3340" y="2930652"/>
            <a:ext cx="228600" cy="22860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7165696" y="2816352"/>
            <a:ext cx="41847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Check The Terms</a:t>
            </a:r>
            <a:endParaRPr lang="en-US" sz="1450" dirty="0"/>
          </a:p>
        </p:txBody>
      </p:sp>
      <p:sp>
        <p:nvSpPr>
          <p:cNvPr id="18" name="Text 14"/>
          <p:cNvSpPr txBox="1"/>
          <p:nvPr/>
        </p:nvSpPr>
        <p:spPr>
          <a:xfrm>
            <a:off x="6507328" y="3419856"/>
            <a:ext cx="484312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Ask: is my input used for training? How long is it kept? Who can access it?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566928" y="4530149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822960" y="4731317"/>
            <a:ext cx="457200" cy="457200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260" y="4845617"/>
            <a:ext cx="228600" cy="22860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499616" y="4731317"/>
            <a:ext cx="41847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Business Versions Differ</a:t>
            </a:r>
            <a:endParaRPr lang="en-US" sz="1450" dirty="0"/>
          </a:p>
        </p:txBody>
      </p:sp>
      <p:sp>
        <p:nvSpPr>
          <p:cNvPr id="23" name="Text 18"/>
          <p:cNvSpPr txBox="1"/>
          <p:nvPr/>
        </p:nvSpPr>
        <p:spPr>
          <a:xfrm>
            <a:off x="841248" y="5334821"/>
            <a:ext cx="484312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Enterprise plans usually offer contractual guarantees that consumer plans do not.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6233008" y="4530149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6489040" y="4731317"/>
            <a:ext cx="457200" cy="457200"/>
          </a:xfrm>
          <a:prstGeom prst="ellipse">
            <a:avLst/>
          </a:prstGeom>
          <a:solidFill>
            <a:srgbClr val="34D399">
              <a:alpha val="16000"/>
            </a:srgbClr>
          </a:solidFill>
          <a:ln w="12700">
            <a:solidFill>
              <a:srgbClr val="34D399">
                <a:alpha val="45000"/>
              </a:srgbClr>
            </a:solidFill>
            <a:prstDash val="solid"/>
          </a:ln>
        </p:spPr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3340" y="4845617"/>
            <a:ext cx="228600" cy="228600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7165696" y="4731317"/>
            <a:ext cx="41847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Reduce Before You Send</a:t>
            </a:r>
            <a:endParaRPr lang="en-US" sz="1450" dirty="0"/>
          </a:p>
        </p:txBody>
      </p:sp>
      <p:sp>
        <p:nvSpPr>
          <p:cNvPr id="28" name="Text 22"/>
          <p:cNvSpPr txBox="1"/>
          <p:nvPr/>
        </p:nvSpPr>
        <p:spPr>
          <a:xfrm>
            <a:off x="6507328" y="5334821"/>
            <a:ext cx="484312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Remove names and identifiers. Share the minimum needed for the task.</a:t>
            </a:r>
            <a:endParaRPr lang="en-US" sz="1200" dirty="0"/>
          </a:p>
        </p:txBody>
      </p:sp>
    </p:spTree>
  </p:cSld>
  <p:clrMapOvr>
    <a:masterClrMapping/>
  </p:clrMapOvr>
</p:sld>
</file>

<file path=ppt/slides/slide2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SLIDE 198 · ISSUE 3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Copyright and Intellectual Property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Section 19 · Responsible AI, Ethics &amp; Safety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234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11057839" cy="877824"/>
          </a:xfrm>
          <a:prstGeom prst="roundRect">
            <a:avLst>
              <a:gd name="adj" fmla="val 8333"/>
            </a:avLst>
          </a:prstGeom>
          <a:solidFill>
            <a:srgbClr val="191640">
              <a:alpha val="96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6928" y="1627632"/>
            <a:ext cx="64008" cy="585216"/>
          </a:xfrm>
          <a:prstGeom prst="roundRect">
            <a:avLst>
              <a:gd name="adj" fmla="val 42857"/>
            </a:avLst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59536" y="1572768"/>
            <a:ext cx="10472623" cy="6949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DDD9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Two separate questions: what went into training, and who owns what comes out.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66928" y="2615184"/>
            <a:ext cx="3503066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22960" y="2816352"/>
            <a:ext cx="457200" cy="457200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2930652"/>
            <a:ext cx="228600" cy="22860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499616" y="2816352"/>
            <a:ext cx="229605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Training Data Question</a:t>
            </a:r>
            <a:endParaRPr lang="en-US" sz="1450" dirty="0"/>
          </a:p>
        </p:txBody>
      </p:sp>
      <p:sp>
        <p:nvSpPr>
          <p:cNvPr id="13" name="Text 10"/>
          <p:cNvSpPr txBox="1"/>
          <p:nvPr/>
        </p:nvSpPr>
        <p:spPr>
          <a:xfrm>
            <a:off x="841248" y="3419856"/>
            <a:ext cx="2954426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Whether training on copyrighted material is permitted is being actively litigated in several countries.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344314" y="2615184"/>
            <a:ext cx="3503066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600346" y="2816352"/>
            <a:ext cx="457200" cy="457200"/>
          </a:xfrm>
          <a:prstGeom prst="ellipse">
            <a:avLst/>
          </a:prstGeom>
          <a:solidFill>
            <a:srgbClr val="22D3EE">
              <a:alpha val="16000"/>
            </a:srgbClr>
          </a:solidFill>
          <a:ln w="12700">
            <a:solidFill>
              <a:srgbClr val="22D3EE">
                <a:alpha val="45000"/>
              </a:srgbClr>
            </a:solidFill>
            <a:prstDash val="solid"/>
          </a:ln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4646" y="2930652"/>
            <a:ext cx="228600" cy="22860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5277002" y="2816352"/>
            <a:ext cx="229605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Output Ownership</a:t>
            </a:r>
            <a:endParaRPr lang="en-US" sz="1450" dirty="0"/>
          </a:p>
        </p:txBody>
      </p:sp>
      <p:sp>
        <p:nvSpPr>
          <p:cNvPr id="18" name="Text 14"/>
          <p:cNvSpPr txBox="1"/>
          <p:nvPr/>
        </p:nvSpPr>
        <p:spPr>
          <a:xfrm>
            <a:off x="4618634" y="3419856"/>
            <a:ext cx="2954426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Rules differ by country, and some jurisdictions limit copyright for purely AI-generated work.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8121701" y="2615184"/>
            <a:ext cx="3503066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8377733" y="2816352"/>
            <a:ext cx="457200" cy="457200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2033" y="2930652"/>
            <a:ext cx="228600" cy="22860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9054389" y="2816352"/>
            <a:ext cx="229605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Check The Tool Terms</a:t>
            </a:r>
            <a:endParaRPr lang="en-US" sz="1450" dirty="0"/>
          </a:p>
        </p:txBody>
      </p:sp>
      <p:sp>
        <p:nvSpPr>
          <p:cNvPr id="23" name="Text 18"/>
          <p:cNvSpPr txBox="1"/>
          <p:nvPr/>
        </p:nvSpPr>
        <p:spPr>
          <a:xfrm>
            <a:off x="8396021" y="3419856"/>
            <a:ext cx="2954426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Each provider sets its own commercial-use terms. Read them before using output in business.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566928" y="4530149"/>
            <a:ext cx="3503066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822960" y="4731317"/>
            <a:ext cx="457200" cy="457200"/>
          </a:xfrm>
          <a:prstGeom prst="ellipse">
            <a:avLst/>
          </a:prstGeom>
          <a:solidFill>
            <a:srgbClr val="34D399">
              <a:alpha val="16000"/>
            </a:srgbClr>
          </a:solidFill>
          <a:ln w="12700">
            <a:solidFill>
              <a:srgbClr val="34D399">
                <a:alpha val="45000"/>
              </a:srgbClr>
            </a:solidFill>
            <a:prstDash val="solid"/>
          </a:ln>
        </p:spPr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7260" y="4845617"/>
            <a:ext cx="228600" cy="228600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1499616" y="4731317"/>
            <a:ext cx="229605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Style Imitation</a:t>
            </a:r>
            <a:endParaRPr lang="en-US" sz="1450" dirty="0"/>
          </a:p>
        </p:txBody>
      </p:sp>
      <p:sp>
        <p:nvSpPr>
          <p:cNvPr id="28" name="Text 22"/>
          <p:cNvSpPr txBox="1"/>
          <p:nvPr/>
        </p:nvSpPr>
        <p:spPr>
          <a:xfrm>
            <a:off x="841248" y="5334821"/>
            <a:ext cx="2954426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Deliberately copying a living artist recognisable style raises ethical and possibly legal problems.</a:t>
            </a:r>
            <a:endParaRPr lang="en-US" sz="1200" dirty="0"/>
          </a:p>
        </p:txBody>
      </p:sp>
      <p:sp>
        <p:nvSpPr>
          <p:cNvPr id="29" name="Shape 23"/>
          <p:cNvSpPr/>
          <p:nvPr/>
        </p:nvSpPr>
        <p:spPr>
          <a:xfrm>
            <a:off x="4344314" y="4530149"/>
            <a:ext cx="3503066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4600346" y="4731317"/>
            <a:ext cx="457200" cy="457200"/>
          </a:xfrm>
          <a:prstGeom prst="ellipse">
            <a:avLst/>
          </a:prstGeom>
          <a:solidFill>
            <a:srgbClr val="F472B6">
              <a:alpha val="16000"/>
            </a:srgbClr>
          </a:solidFill>
          <a:ln w="12700">
            <a:solidFill>
              <a:srgbClr val="F472B6">
                <a:alpha val="45000"/>
              </a:srgbClr>
            </a:solidFill>
            <a:prstDash val="solid"/>
          </a:ln>
        </p:spPr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14646" y="4845617"/>
            <a:ext cx="228600" cy="228600"/>
          </a:xfrm>
          <a:prstGeom prst="rect">
            <a:avLst/>
          </a:prstGeom>
        </p:spPr>
      </p:pic>
      <p:sp>
        <p:nvSpPr>
          <p:cNvPr id="32" name="Text 25"/>
          <p:cNvSpPr txBox="1"/>
          <p:nvPr/>
        </p:nvSpPr>
        <p:spPr>
          <a:xfrm>
            <a:off x="5277002" y="4731317"/>
            <a:ext cx="229605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This Is Changing</a:t>
            </a:r>
            <a:endParaRPr lang="en-US" sz="1450" dirty="0"/>
          </a:p>
        </p:txBody>
      </p:sp>
      <p:sp>
        <p:nvSpPr>
          <p:cNvPr id="33" name="Text 26"/>
          <p:cNvSpPr txBox="1"/>
          <p:nvPr/>
        </p:nvSpPr>
        <p:spPr>
          <a:xfrm>
            <a:off x="4618634" y="5334821"/>
            <a:ext cx="2954426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Law in this area is developing quickly. Treat anything you read as possibly out of date.</a:t>
            </a:r>
            <a:endParaRPr lang="en-US" sz="1200" dirty="0"/>
          </a:p>
        </p:txBody>
      </p:sp>
      <p:sp>
        <p:nvSpPr>
          <p:cNvPr id="34" name="Shape 27"/>
          <p:cNvSpPr/>
          <p:nvPr/>
        </p:nvSpPr>
        <p:spPr>
          <a:xfrm>
            <a:off x="8121701" y="4530149"/>
            <a:ext cx="3503066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35" name="Shape 28"/>
          <p:cNvSpPr/>
          <p:nvPr/>
        </p:nvSpPr>
        <p:spPr>
          <a:xfrm>
            <a:off x="8377733" y="4731317"/>
            <a:ext cx="457200" cy="457200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36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92033" y="4845617"/>
            <a:ext cx="228600" cy="228600"/>
          </a:xfrm>
          <a:prstGeom prst="rect">
            <a:avLst/>
          </a:prstGeom>
        </p:spPr>
      </p:pic>
      <p:sp>
        <p:nvSpPr>
          <p:cNvPr id="37" name="Text 29"/>
          <p:cNvSpPr txBox="1"/>
          <p:nvPr/>
        </p:nvSpPr>
        <p:spPr>
          <a:xfrm>
            <a:off x="9054389" y="4731317"/>
            <a:ext cx="229605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Safe Practice</a:t>
            </a:r>
            <a:endParaRPr lang="en-US" sz="1450" dirty="0"/>
          </a:p>
        </p:txBody>
      </p:sp>
      <p:sp>
        <p:nvSpPr>
          <p:cNvPr id="38" name="Text 30"/>
          <p:cNvSpPr txBox="1"/>
          <p:nvPr/>
        </p:nvSpPr>
        <p:spPr>
          <a:xfrm>
            <a:off x="8396021" y="5334821"/>
            <a:ext cx="2954426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 AI for drafts and ideas, add substantial human work, and keep a record of your process.</a:t>
            </a:r>
            <a:endParaRPr lang="en-US" sz="1200" dirty="0"/>
          </a:p>
        </p:txBody>
      </p:sp>
    </p:spTree>
  </p:cSld>
  <p:clrMapOvr>
    <a:masterClrMapping/>
  </p:clrMapOvr>
</p:sld>
</file>

<file path=ppt/slides/slide2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SLIDE 199 · ISSUE 4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Deepfakes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Section 19 · Responsible AI, Ethics &amp; Safety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235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11057839" cy="877824"/>
          </a:xfrm>
          <a:prstGeom prst="roundRect">
            <a:avLst>
              <a:gd name="adj" fmla="val 8333"/>
            </a:avLst>
          </a:prstGeom>
          <a:solidFill>
            <a:srgbClr val="191640">
              <a:alpha val="96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6928" y="1627632"/>
            <a:ext cx="64008" cy="585216"/>
          </a:xfrm>
          <a:prstGeom prst="roundRect">
            <a:avLst>
              <a:gd name="adj" fmla="val 42857"/>
            </a:avLst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59536" y="1572768"/>
            <a:ext cx="10472623" cy="6949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DDD9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Synthetic media showing a real person saying or doing something they never did.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66928" y="2615184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22960" y="2816352"/>
            <a:ext cx="457200" cy="457200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2930652"/>
            <a:ext cx="228600" cy="22860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499616" y="2816352"/>
            <a:ext cx="41847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The Core Harm</a:t>
            </a:r>
            <a:endParaRPr lang="en-US" sz="1450" dirty="0"/>
          </a:p>
        </p:txBody>
      </p:sp>
      <p:sp>
        <p:nvSpPr>
          <p:cNvPr id="13" name="Text 10"/>
          <p:cNvSpPr txBox="1"/>
          <p:nvPr/>
        </p:nvSpPr>
        <p:spPr>
          <a:xfrm>
            <a:off x="841248" y="3419856"/>
            <a:ext cx="484312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It attacks the basic assumption that video and audio are evidence of what happened.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33008" y="2615184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489040" y="2816352"/>
            <a:ext cx="457200" cy="457200"/>
          </a:xfrm>
          <a:prstGeom prst="ellipse">
            <a:avLst/>
          </a:prstGeom>
          <a:solidFill>
            <a:srgbClr val="22D3EE">
              <a:alpha val="16000"/>
            </a:srgbClr>
          </a:solidFill>
          <a:ln w="12700">
            <a:solidFill>
              <a:srgbClr val="22D3EE">
                <a:alpha val="45000"/>
              </a:srgbClr>
            </a:solidFill>
            <a:prstDash val="solid"/>
          </a:ln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3340" y="2930652"/>
            <a:ext cx="228600" cy="22860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7165696" y="2816352"/>
            <a:ext cx="41847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Who Is Targeted</a:t>
            </a:r>
            <a:endParaRPr lang="en-US" sz="1450" dirty="0"/>
          </a:p>
        </p:txBody>
      </p:sp>
      <p:sp>
        <p:nvSpPr>
          <p:cNvPr id="18" name="Text 14"/>
          <p:cNvSpPr txBox="1"/>
          <p:nvPr/>
        </p:nvSpPr>
        <p:spPr>
          <a:xfrm>
            <a:off x="6507328" y="3419856"/>
            <a:ext cx="484312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Public figures in political manipulation, and ordinary people in harassment and fraud.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566928" y="4530149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822960" y="4731317"/>
            <a:ext cx="457200" cy="457200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260" y="4845617"/>
            <a:ext cx="228600" cy="22860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499616" y="4731317"/>
            <a:ext cx="41847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Legal Position</a:t>
            </a:r>
            <a:endParaRPr lang="en-US" sz="1450" dirty="0"/>
          </a:p>
        </p:txBody>
      </p:sp>
      <p:sp>
        <p:nvSpPr>
          <p:cNvPr id="23" name="Text 18"/>
          <p:cNvSpPr txBox="1"/>
          <p:nvPr/>
        </p:nvSpPr>
        <p:spPr>
          <a:xfrm>
            <a:off x="841248" y="5334821"/>
            <a:ext cx="484312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Many countries have laws against harmful deepfakes, especially non-consensual and election-related content.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6233008" y="4530149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6489040" y="4731317"/>
            <a:ext cx="457200" cy="457200"/>
          </a:xfrm>
          <a:prstGeom prst="ellipse">
            <a:avLst/>
          </a:prstGeom>
          <a:solidFill>
            <a:srgbClr val="34D399">
              <a:alpha val="16000"/>
            </a:srgbClr>
          </a:solidFill>
          <a:ln w="12700">
            <a:solidFill>
              <a:srgbClr val="34D399">
                <a:alpha val="45000"/>
              </a:srgbClr>
            </a:solidFill>
            <a:prstDash val="solid"/>
          </a:ln>
        </p:spPr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3340" y="4845617"/>
            <a:ext cx="228600" cy="228600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7165696" y="4731317"/>
            <a:ext cx="41847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What Helps</a:t>
            </a:r>
            <a:endParaRPr lang="en-US" sz="1450" dirty="0"/>
          </a:p>
        </p:txBody>
      </p:sp>
      <p:sp>
        <p:nvSpPr>
          <p:cNvPr id="28" name="Text 22"/>
          <p:cNvSpPr txBox="1"/>
          <p:nvPr/>
        </p:nvSpPr>
        <p:spPr>
          <a:xfrm>
            <a:off x="6507328" y="5334821"/>
            <a:ext cx="484312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Provenance standards, platform labelling, media literacy education and verifying the source.</a:t>
            </a:r>
            <a:endParaRPr lang="en-US" sz="1200" dirty="0"/>
          </a:p>
        </p:txBody>
      </p:sp>
    </p:spTree>
  </p:cSld>
  <p:clrMapOvr>
    <a:masterClrMapping/>
  </p:clrMapOvr>
</p:sld>
</file>

<file path=ppt/slides/slide2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SLIDE 200 · ISSUE 5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Misinformation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Section 19 · Responsible AI, Ethics &amp; Safety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236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11057839" cy="877824"/>
          </a:xfrm>
          <a:prstGeom prst="roundRect">
            <a:avLst>
              <a:gd name="adj" fmla="val 8333"/>
            </a:avLst>
          </a:prstGeom>
          <a:solidFill>
            <a:srgbClr val="191640">
              <a:alpha val="96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6928" y="1627632"/>
            <a:ext cx="64008" cy="585216"/>
          </a:xfrm>
          <a:prstGeom prst="roundRect">
            <a:avLst>
              <a:gd name="adj" fmla="val 42857"/>
            </a:avLst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59536" y="1572768"/>
            <a:ext cx="10472623" cy="6949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DDD9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Generative AI makes it cheap to produce large volumes of convincing but false content.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66928" y="2615184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22960" y="2816352"/>
            <a:ext cx="457200" cy="457200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2930652"/>
            <a:ext cx="228600" cy="22860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499616" y="2816352"/>
            <a:ext cx="41847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Why It Is Different Now</a:t>
            </a:r>
            <a:endParaRPr lang="en-US" sz="1450" dirty="0"/>
          </a:p>
        </p:txBody>
      </p:sp>
      <p:sp>
        <p:nvSpPr>
          <p:cNvPr id="13" name="Text 10"/>
          <p:cNvSpPr txBox="1"/>
          <p:nvPr/>
        </p:nvSpPr>
        <p:spPr>
          <a:xfrm>
            <a:off x="841248" y="3419856"/>
            <a:ext cx="484312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once needed a team can now be produced in seconds, at scale, in any language.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33008" y="2615184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489040" y="2816352"/>
            <a:ext cx="457200" cy="457200"/>
          </a:xfrm>
          <a:prstGeom prst="ellipse">
            <a:avLst/>
          </a:prstGeom>
          <a:solidFill>
            <a:srgbClr val="22D3EE">
              <a:alpha val="16000"/>
            </a:srgbClr>
          </a:solidFill>
          <a:ln w="12700">
            <a:solidFill>
              <a:srgbClr val="22D3EE">
                <a:alpha val="45000"/>
              </a:srgbClr>
            </a:solidFill>
            <a:prstDash val="solid"/>
          </a:ln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3340" y="2930652"/>
            <a:ext cx="228600" cy="22860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7165696" y="2816352"/>
            <a:ext cx="41847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Accidental Misinformation</a:t>
            </a:r>
            <a:endParaRPr lang="en-US" sz="1450" dirty="0"/>
          </a:p>
        </p:txBody>
      </p:sp>
      <p:sp>
        <p:nvSpPr>
          <p:cNvPr id="18" name="Text 14"/>
          <p:cNvSpPr txBox="1"/>
          <p:nvPr/>
        </p:nvSpPr>
        <p:spPr>
          <a:xfrm>
            <a:off x="6507328" y="3419856"/>
            <a:ext cx="484312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Most false AI content is not malicious. It is a hallucination that someone shared without checking.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566928" y="4530149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822960" y="4731317"/>
            <a:ext cx="457200" cy="457200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260" y="4845617"/>
            <a:ext cx="228600" cy="22860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499616" y="4731317"/>
            <a:ext cx="41847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How To Protect Yourself</a:t>
            </a:r>
            <a:endParaRPr lang="en-US" sz="1450" dirty="0"/>
          </a:p>
        </p:txBody>
      </p:sp>
      <p:sp>
        <p:nvSpPr>
          <p:cNvPr id="23" name="Text 18"/>
          <p:cNvSpPr txBox="1"/>
          <p:nvPr/>
        </p:nvSpPr>
        <p:spPr>
          <a:xfrm>
            <a:off x="841248" y="5334821"/>
            <a:ext cx="484312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200"/>
              </a:spcAft>
              <a:buSzPct val="100000"/>
              <a:buChar char="▪"/>
            </a:pPr>
            <a:r>
              <a:rPr lang="en-US" sz="9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Check the original source</a:t>
            </a:r>
            <a:endParaRPr lang="en-US" sz="900" dirty="0"/>
          </a:p>
          <a:p>
            <a:pPr marL="342900" indent="-342900">
              <a:lnSpc>
                <a:spcPct val="110000"/>
              </a:lnSpc>
              <a:spcAft>
                <a:spcPts val="200"/>
              </a:spcAft>
              <a:buSzPct val="100000"/>
              <a:buChar char="▪"/>
            </a:pPr>
            <a:r>
              <a:rPr lang="en-US" sz="9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Look for other reputable reports</a:t>
            </a:r>
            <a:endParaRPr lang="en-US" sz="900" dirty="0"/>
          </a:p>
          <a:p>
            <a:pPr marL="342900" indent="-342900">
              <a:lnSpc>
                <a:spcPct val="110000"/>
              </a:lnSpc>
              <a:spcAft>
                <a:spcPts val="200"/>
              </a:spcAft>
              <a:buSzPct val="100000"/>
              <a:buChar char="▪"/>
            </a:pPr>
            <a:r>
              <a:rPr lang="en-US" sz="9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Be suspicious of outrage</a:t>
            </a:r>
            <a:endParaRPr lang="en-US" sz="900" dirty="0"/>
          </a:p>
          <a:p>
            <a:pPr marL="342900" indent="-342900">
              <a:lnSpc>
                <a:spcPct val="110000"/>
              </a:lnSpc>
              <a:spcAft>
                <a:spcPts val="200"/>
              </a:spcAft>
              <a:buSzPct val="100000"/>
              <a:buChar char="▪"/>
            </a:pPr>
            <a:r>
              <a:rPr lang="en-US" sz="9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Pause before sharing</a:t>
            </a:r>
            <a:endParaRPr lang="en-US" sz="900" dirty="0"/>
          </a:p>
        </p:txBody>
      </p:sp>
      <p:sp>
        <p:nvSpPr>
          <p:cNvPr id="24" name="Shape 19"/>
          <p:cNvSpPr/>
          <p:nvPr/>
        </p:nvSpPr>
        <p:spPr>
          <a:xfrm>
            <a:off x="6233008" y="4530149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6489040" y="4731317"/>
            <a:ext cx="457200" cy="457200"/>
          </a:xfrm>
          <a:prstGeom prst="ellipse">
            <a:avLst/>
          </a:prstGeom>
          <a:solidFill>
            <a:srgbClr val="34D399">
              <a:alpha val="16000"/>
            </a:srgbClr>
          </a:solidFill>
          <a:ln w="12700">
            <a:solidFill>
              <a:srgbClr val="34D399">
                <a:alpha val="45000"/>
              </a:srgbClr>
            </a:solidFill>
            <a:prstDash val="solid"/>
          </a:ln>
        </p:spPr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3340" y="4845617"/>
            <a:ext cx="228600" cy="228600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7165696" y="4731317"/>
            <a:ext cx="41847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Teach This</a:t>
            </a:r>
            <a:endParaRPr lang="en-US" sz="1450" dirty="0"/>
          </a:p>
        </p:txBody>
      </p:sp>
      <p:sp>
        <p:nvSpPr>
          <p:cNvPr id="28" name="Text 22"/>
          <p:cNvSpPr txBox="1"/>
          <p:nvPr/>
        </p:nvSpPr>
        <p:spPr>
          <a:xfrm>
            <a:off x="6507328" y="5334821"/>
            <a:ext cx="484312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Media literacy is now a core skill, not an optional extra.</a:t>
            </a:r>
            <a:endParaRPr lang="en-US" sz="1200" dirty="0"/>
          </a:p>
        </p:txBody>
      </p:sp>
    </p:spTree>
  </p:cSld>
  <p:clrMapOvr>
    <a:masterClrMapping/>
  </p:clrMapOvr>
</p:sld>
</file>

<file path=ppt/slides/slide2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SLIDE 201 · ISSUE 6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AI Security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Section 19 · Responsible AI, Ethics &amp; Safety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237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11057839" cy="877824"/>
          </a:xfrm>
          <a:prstGeom prst="roundRect">
            <a:avLst>
              <a:gd name="adj" fmla="val 8333"/>
            </a:avLst>
          </a:prstGeom>
          <a:solidFill>
            <a:srgbClr val="191640">
              <a:alpha val="96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6928" y="1627632"/>
            <a:ext cx="64008" cy="585216"/>
          </a:xfrm>
          <a:prstGeom prst="roundRect">
            <a:avLst>
              <a:gd name="adj" fmla="val 42857"/>
            </a:avLst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59536" y="1572768"/>
            <a:ext cx="10472623" cy="6949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DDD9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 systems introduce security issues that traditional software does not have.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66928" y="2615184"/>
            <a:ext cx="3503066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22960" y="2816352"/>
            <a:ext cx="457200" cy="457200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2930652"/>
            <a:ext cx="228600" cy="22860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499616" y="2816352"/>
            <a:ext cx="229605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Prompt injection</a:t>
            </a:r>
            <a:endParaRPr lang="en-US" sz="1450" dirty="0"/>
          </a:p>
        </p:txBody>
      </p:sp>
      <p:sp>
        <p:nvSpPr>
          <p:cNvPr id="13" name="Text 10"/>
          <p:cNvSpPr txBox="1"/>
          <p:nvPr/>
        </p:nvSpPr>
        <p:spPr>
          <a:xfrm>
            <a:off x="841248" y="3419856"/>
            <a:ext cx="2954426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Hidden instructions inside a document or web page can try to redirect an AI system. Treat fetched content as untrusted data.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344314" y="2615184"/>
            <a:ext cx="3503066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600346" y="2816352"/>
            <a:ext cx="457200" cy="457200"/>
          </a:xfrm>
          <a:prstGeom prst="ellipse">
            <a:avLst/>
          </a:prstGeom>
          <a:solidFill>
            <a:srgbClr val="22D3EE">
              <a:alpha val="16000"/>
            </a:srgbClr>
          </a:solidFill>
          <a:ln w="12700">
            <a:solidFill>
              <a:srgbClr val="22D3EE">
                <a:alpha val="45000"/>
              </a:srgbClr>
            </a:solidFill>
            <a:prstDash val="solid"/>
          </a:ln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4646" y="2930652"/>
            <a:ext cx="228600" cy="22860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5277002" y="2816352"/>
            <a:ext cx="229605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Data leakage</a:t>
            </a:r>
            <a:endParaRPr lang="en-US" sz="1450" dirty="0"/>
          </a:p>
        </p:txBody>
      </p:sp>
      <p:sp>
        <p:nvSpPr>
          <p:cNvPr id="18" name="Text 14"/>
          <p:cNvSpPr txBox="1"/>
          <p:nvPr/>
        </p:nvSpPr>
        <p:spPr>
          <a:xfrm>
            <a:off x="4618634" y="3419856"/>
            <a:ext cx="2954426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badly designed assistant can reveal information the user should not be allowed to see.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8121701" y="2615184"/>
            <a:ext cx="3503066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8377733" y="2816352"/>
            <a:ext cx="457200" cy="457200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2033" y="2930652"/>
            <a:ext cx="228600" cy="22860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9054389" y="2816352"/>
            <a:ext cx="229605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Permission bypass</a:t>
            </a:r>
            <a:endParaRPr lang="en-US" sz="1450" dirty="0"/>
          </a:p>
        </p:txBody>
      </p:sp>
      <p:sp>
        <p:nvSpPr>
          <p:cNvPr id="23" name="Text 18"/>
          <p:cNvSpPr txBox="1"/>
          <p:nvPr/>
        </p:nvSpPr>
        <p:spPr>
          <a:xfrm>
            <a:off x="8396021" y="3419856"/>
            <a:ext cx="2954426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 AI system must enforce exactly the same access rules as the systems behind it.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566928" y="4530149"/>
            <a:ext cx="3503066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822960" y="4731317"/>
            <a:ext cx="457200" cy="457200"/>
          </a:xfrm>
          <a:prstGeom prst="ellipse">
            <a:avLst/>
          </a:prstGeom>
          <a:solidFill>
            <a:srgbClr val="34D399">
              <a:alpha val="16000"/>
            </a:srgbClr>
          </a:solidFill>
          <a:ln w="12700">
            <a:solidFill>
              <a:srgbClr val="34D399">
                <a:alpha val="45000"/>
              </a:srgbClr>
            </a:solidFill>
            <a:prstDash val="solid"/>
          </a:ln>
        </p:spPr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7260" y="4845617"/>
            <a:ext cx="228600" cy="228600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1499616" y="4731317"/>
            <a:ext cx="229605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Agent risk</a:t>
            </a:r>
            <a:endParaRPr lang="en-US" sz="1450" dirty="0"/>
          </a:p>
        </p:txBody>
      </p:sp>
      <p:sp>
        <p:nvSpPr>
          <p:cNvPr id="28" name="Text 22"/>
          <p:cNvSpPr txBox="1"/>
          <p:nvPr/>
        </p:nvSpPr>
        <p:spPr>
          <a:xfrm>
            <a:off x="841248" y="5334821"/>
            <a:ext cx="2954426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Agents with tool access can take real actions. Limit permissions and require approval.</a:t>
            </a:r>
            <a:endParaRPr lang="en-US" sz="1200" dirty="0"/>
          </a:p>
        </p:txBody>
      </p:sp>
      <p:sp>
        <p:nvSpPr>
          <p:cNvPr id="29" name="Shape 23"/>
          <p:cNvSpPr/>
          <p:nvPr/>
        </p:nvSpPr>
        <p:spPr>
          <a:xfrm>
            <a:off x="4344314" y="4530149"/>
            <a:ext cx="3503066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4600346" y="4731317"/>
            <a:ext cx="457200" cy="457200"/>
          </a:xfrm>
          <a:prstGeom prst="ellipse">
            <a:avLst/>
          </a:prstGeom>
          <a:solidFill>
            <a:srgbClr val="F472B6">
              <a:alpha val="16000"/>
            </a:srgbClr>
          </a:solidFill>
          <a:ln w="12700">
            <a:solidFill>
              <a:srgbClr val="F472B6">
                <a:alpha val="45000"/>
              </a:srgbClr>
            </a:solidFill>
            <a:prstDash val="solid"/>
          </a:ln>
        </p:spPr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14646" y="4845617"/>
            <a:ext cx="228600" cy="228600"/>
          </a:xfrm>
          <a:prstGeom prst="rect">
            <a:avLst/>
          </a:prstGeom>
        </p:spPr>
      </p:pic>
      <p:sp>
        <p:nvSpPr>
          <p:cNvPr id="32" name="Text 25"/>
          <p:cNvSpPr txBox="1"/>
          <p:nvPr/>
        </p:nvSpPr>
        <p:spPr>
          <a:xfrm>
            <a:off x="5277002" y="4731317"/>
            <a:ext cx="229605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Better phishing</a:t>
            </a:r>
            <a:endParaRPr lang="en-US" sz="1450" dirty="0"/>
          </a:p>
        </p:txBody>
      </p:sp>
      <p:sp>
        <p:nvSpPr>
          <p:cNvPr id="33" name="Text 26"/>
          <p:cNvSpPr txBox="1"/>
          <p:nvPr/>
        </p:nvSpPr>
        <p:spPr>
          <a:xfrm>
            <a:off x="4618634" y="5334821"/>
            <a:ext cx="2954426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Attackers use AI to write more convincing messages, so awareness training matters more than ever.</a:t>
            </a:r>
            <a:endParaRPr lang="en-US" sz="1200" dirty="0"/>
          </a:p>
        </p:txBody>
      </p:sp>
      <p:sp>
        <p:nvSpPr>
          <p:cNvPr id="34" name="Shape 27"/>
          <p:cNvSpPr/>
          <p:nvPr/>
        </p:nvSpPr>
        <p:spPr>
          <a:xfrm>
            <a:off x="8121701" y="4530149"/>
            <a:ext cx="3503066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35" name="Shape 28"/>
          <p:cNvSpPr/>
          <p:nvPr/>
        </p:nvSpPr>
        <p:spPr>
          <a:xfrm>
            <a:off x="8377733" y="4731317"/>
            <a:ext cx="457200" cy="457200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36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92033" y="4845617"/>
            <a:ext cx="228600" cy="228600"/>
          </a:xfrm>
          <a:prstGeom prst="rect">
            <a:avLst/>
          </a:prstGeom>
        </p:spPr>
      </p:pic>
      <p:sp>
        <p:nvSpPr>
          <p:cNvPr id="37" name="Text 29"/>
          <p:cNvSpPr txBox="1"/>
          <p:nvPr/>
        </p:nvSpPr>
        <p:spPr>
          <a:xfrm>
            <a:off x="9054389" y="4731317"/>
            <a:ext cx="229605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Monitoring</a:t>
            </a:r>
            <a:endParaRPr lang="en-US" sz="1450" dirty="0"/>
          </a:p>
        </p:txBody>
      </p:sp>
      <p:sp>
        <p:nvSpPr>
          <p:cNvPr id="38" name="Text 30"/>
          <p:cNvSpPr txBox="1"/>
          <p:nvPr/>
        </p:nvSpPr>
        <p:spPr>
          <a:xfrm>
            <a:off x="8396021" y="5334821"/>
            <a:ext cx="2954426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Log AI interactions so unusual behaviour can be detected and investigated.</a:t>
            </a:r>
            <a:endParaRPr lang="en-US" sz="1200" dirty="0"/>
          </a:p>
        </p:txBody>
      </p:sp>
    </p:spTree>
  </p:cSld>
  <p:clrMapOvr>
    <a:masterClrMapping/>
  </p:clrMapOvr>
</p:sld>
</file>

<file path=ppt/slides/slide2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SLIDE 202 · PRINCIPLE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Human Oversight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Section 19 · Responsible AI, Ethics &amp; Safety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238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11057839" cy="877824"/>
          </a:xfrm>
          <a:prstGeom prst="roundRect">
            <a:avLst>
              <a:gd name="adj" fmla="val 8333"/>
            </a:avLst>
          </a:prstGeom>
          <a:solidFill>
            <a:srgbClr val="191640">
              <a:alpha val="96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6928" y="1627632"/>
            <a:ext cx="64008" cy="585216"/>
          </a:xfrm>
          <a:prstGeom prst="roundRect">
            <a:avLst>
              <a:gd name="adj" fmla="val 42857"/>
            </a:avLst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59536" y="1572768"/>
            <a:ext cx="10472623" cy="6949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DDD9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person must stay responsible for decisions, especially where the outcome affects people.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66928" y="2615184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22960" y="2816352"/>
            <a:ext cx="457200" cy="457200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2930652"/>
            <a:ext cx="228600" cy="22860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499616" y="2816352"/>
            <a:ext cx="41847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Human in the loop</a:t>
            </a:r>
            <a:endParaRPr lang="en-US" sz="1450" dirty="0"/>
          </a:p>
        </p:txBody>
      </p:sp>
      <p:sp>
        <p:nvSpPr>
          <p:cNvPr id="13" name="Text 10"/>
          <p:cNvSpPr txBox="1"/>
          <p:nvPr/>
        </p:nvSpPr>
        <p:spPr>
          <a:xfrm>
            <a:off x="841248" y="3419856"/>
            <a:ext cx="484312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person reviews and approves before the output is used. Right for anything important.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33008" y="2615184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489040" y="2816352"/>
            <a:ext cx="457200" cy="457200"/>
          </a:xfrm>
          <a:prstGeom prst="ellipse">
            <a:avLst/>
          </a:prstGeom>
          <a:solidFill>
            <a:srgbClr val="22D3EE">
              <a:alpha val="16000"/>
            </a:srgbClr>
          </a:solidFill>
          <a:ln w="12700">
            <a:solidFill>
              <a:srgbClr val="22D3EE">
                <a:alpha val="45000"/>
              </a:srgbClr>
            </a:solidFill>
            <a:prstDash val="solid"/>
          </a:ln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3340" y="2930652"/>
            <a:ext cx="228600" cy="22860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7165696" y="2816352"/>
            <a:ext cx="41847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Human on the loop</a:t>
            </a:r>
            <a:endParaRPr lang="en-US" sz="1450" dirty="0"/>
          </a:p>
        </p:txBody>
      </p:sp>
      <p:sp>
        <p:nvSpPr>
          <p:cNvPr id="18" name="Text 14"/>
          <p:cNvSpPr txBox="1"/>
          <p:nvPr/>
        </p:nvSpPr>
        <p:spPr>
          <a:xfrm>
            <a:off x="6507328" y="3419856"/>
            <a:ext cx="484312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system runs automatically but a person monitors and can intervene. For lower-risk volume work.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566928" y="4530149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822960" y="4731317"/>
            <a:ext cx="457200" cy="457200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260" y="4845617"/>
            <a:ext cx="228600" cy="22860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499616" y="4731317"/>
            <a:ext cx="41847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Decide by risk</a:t>
            </a:r>
            <a:endParaRPr lang="en-US" sz="1450" dirty="0"/>
          </a:p>
        </p:txBody>
      </p:sp>
      <p:sp>
        <p:nvSpPr>
          <p:cNvPr id="23" name="Text 18"/>
          <p:cNvSpPr txBox="1"/>
          <p:nvPr/>
        </p:nvSpPr>
        <p:spPr>
          <a:xfrm>
            <a:off x="841248" y="5334821"/>
            <a:ext cx="484312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Match the level of oversight to what happens if the output is wrong.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6233008" y="4530149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6489040" y="4731317"/>
            <a:ext cx="457200" cy="457200"/>
          </a:xfrm>
          <a:prstGeom prst="ellipse">
            <a:avLst/>
          </a:prstGeom>
          <a:solidFill>
            <a:srgbClr val="34D399">
              <a:alpha val="16000"/>
            </a:srgbClr>
          </a:solidFill>
          <a:ln w="12700">
            <a:solidFill>
              <a:srgbClr val="34D399">
                <a:alpha val="45000"/>
              </a:srgbClr>
            </a:solidFill>
            <a:prstDash val="solid"/>
          </a:ln>
        </p:spPr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3340" y="4845617"/>
            <a:ext cx="228600" cy="228600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7165696" y="4731317"/>
            <a:ext cx="41847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Accountability cannot be delegated</a:t>
            </a:r>
            <a:endParaRPr lang="en-US" sz="1450" dirty="0"/>
          </a:p>
        </p:txBody>
      </p:sp>
      <p:sp>
        <p:nvSpPr>
          <p:cNvPr id="28" name="Text 22"/>
          <p:cNvSpPr txBox="1"/>
          <p:nvPr/>
        </p:nvSpPr>
        <p:spPr>
          <a:xfrm>
            <a:off x="6507328" y="5334821"/>
            <a:ext cx="484312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"The AI said so" is never an acceptable explanation for a bad decision.</a:t>
            </a:r>
            <a:endParaRPr lang="en-US" sz="1200" dirty="0"/>
          </a:p>
        </p:txBody>
      </p:sp>
    </p:spTree>
  </p:cSld>
  <p:clrMapOvr>
    <a:masterClrMapping/>
  </p:clrMapOvr>
</p:sld>
</file>

<file path=ppt/slides/slide2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SLIDE 203 · PRACTICE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Responsible Prompting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Section 19 · Responsible AI, Ethics &amp; Safety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239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11057839" cy="670560"/>
          </a:xfrm>
          <a:prstGeom prst="roundRect">
            <a:avLst>
              <a:gd name="adj" fmla="val 10909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04672" y="1600200"/>
            <a:ext cx="432816" cy="432816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2876" y="1708404"/>
            <a:ext cx="216408" cy="216408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475232" y="1591056"/>
            <a:ext cx="9875215" cy="4511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Do not include personal data</a:t>
            </a:r>
            <a:endParaRPr lang="en-US" sz="13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Remove names and identifiers unless the tool is approved for that data.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566928" y="2298192"/>
            <a:ext cx="11057839" cy="670560"/>
          </a:xfrm>
          <a:prstGeom prst="roundRect">
            <a:avLst>
              <a:gd name="adj" fmla="val 10909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804672" y="2417064"/>
            <a:ext cx="432816" cy="432816"/>
          </a:xfrm>
          <a:prstGeom prst="ellipse">
            <a:avLst/>
          </a:prstGeom>
          <a:solidFill>
            <a:srgbClr val="22D3EE">
              <a:alpha val="16000"/>
            </a:srgbClr>
          </a:solidFill>
          <a:ln w="12700">
            <a:solidFill>
              <a:srgbClr val="22D3EE">
                <a:alpha val="45000"/>
              </a:srgbClr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876" y="2525268"/>
            <a:ext cx="216408" cy="216408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475232" y="2407920"/>
            <a:ext cx="9875215" cy="4511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Do not request harmful content</a:t>
            </a:r>
            <a:endParaRPr lang="en-US" sz="13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Impersonation, deception and misuse are misuse regardless of how the request is phrased.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566928" y="3115056"/>
            <a:ext cx="11057839" cy="670560"/>
          </a:xfrm>
          <a:prstGeom prst="roundRect">
            <a:avLst>
              <a:gd name="adj" fmla="val 10909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04672" y="3233928"/>
            <a:ext cx="432816" cy="432816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2876" y="3342132"/>
            <a:ext cx="216408" cy="216408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475232" y="3224784"/>
            <a:ext cx="9875215" cy="4511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Ask for balance</a:t>
            </a:r>
            <a:endParaRPr lang="en-US" sz="13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 contested topics, request multiple perspectives rather than one confident opinion.</a:t>
            </a:r>
            <a:endParaRPr lang="en-US" sz="1350" dirty="0"/>
          </a:p>
        </p:txBody>
      </p:sp>
      <p:sp>
        <p:nvSpPr>
          <p:cNvPr id="18" name="Shape 13"/>
          <p:cNvSpPr/>
          <p:nvPr/>
        </p:nvSpPr>
        <p:spPr>
          <a:xfrm>
            <a:off x="566928" y="3931920"/>
            <a:ext cx="11057839" cy="670560"/>
          </a:xfrm>
          <a:prstGeom prst="roundRect">
            <a:avLst>
              <a:gd name="adj" fmla="val 10909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804672" y="4050792"/>
            <a:ext cx="432816" cy="432816"/>
          </a:xfrm>
          <a:prstGeom prst="ellipse">
            <a:avLst/>
          </a:prstGeom>
          <a:solidFill>
            <a:srgbClr val="34D399">
              <a:alpha val="16000"/>
            </a:srgbClr>
          </a:solidFill>
          <a:ln w="12700">
            <a:solidFill>
              <a:srgbClr val="34D399">
                <a:alpha val="45000"/>
              </a:srgbClr>
            </a:solidFill>
            <a:prstDash val="solid"/>
          </a:ln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876" y="4158996"/>
            <a:ext cx="216408" cy="216408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475232" y="4041648"/>
            <a:ext cx="9875215" cy="4511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Invite uncertainty</a:t>
            </a:r>
            <a:endParaRPr lang="en-US" sz="13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Add: "Tell me where you are unsure or where this may be outdated."</a:t>
            </a:r>
            <a:endParaRPr lang="en-US" sz="1350" dirty="0"/>
          </a:p>
        </p:txBody>
      </p:sp>
      <p:sp>
        <p:nvSpPr>
          <p:cNvPr id="22" name="Shape 16"/>
          <p:cNvSpPr/>
          <p:nvPr/>
        </p:nvSpPr>
        <p:spPr>
          <a:xfrm>
            <a:off x="566928" y="4748784"/>
            <a:ext cx="11057839" cy="670560"/>
          </a:xfrm>
          <a:prstGeom prst="roundRect">
            <a:avLst>
              <a:gd name="adj" fmla="val 10909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804672" y="4867656"/>
            <a:ext cx="432816" cy="432816"/>
          </a:xfrm>
          <a:prstGeom prst="ellipse">
            <a:avLst/>
          </a:prstGeom>
          <a:solidFill>
            <a:srgbClr val="F472B6">
              <a:alpha val="16000"/>
            </a:srgbClr>
          </a:solidFill>
          <a:ln w="12700">
            <a:solidFill>
              <a:srgbClr val="F472B6">
                <a:alpha val="45000"/>
              </a:srgbClr>
            </a:solidFill>
            <a:prstDash val="solid"/>
          </a:ln>
        </p:spPr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2876" y="4975860"/>
            <a:ext cx="216408" cy="216408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1475232" y="4858512"/>
            <a:ext cx="9875215" cy="4511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Disclose AI use</a:t>
            </a:r>
            <a:endParaRPr lang="en-US" sz="13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Follow your organisation or institution rules on declaring AI assistance.</a:t>
            </a:r>
            <a:endParaRPr lang="en-US" sz="1350" dirty="0"/>
          </a:p>
        </p:txBody>
      </p:sp>
      <p:sp>
        <p:nvSpPr>
          <p:cNvPr id="26" name="Shape 19"/>
          <p:cNvSpPr/>
          <p:nvPr/>
        </p:nvSpPr>
        <p:spPr>
          <a:xfrm>
            <a:off x="566928" y="5565648"/>
            <a:ext cx="11057839" cy="670560"/>
          </a:xfrm>
          <a:prstGeom prst="roundRect">
            <a:avLst>
              <a:gd name="adj" fmla="val 10909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7" name="Shape 20"/>
          <p:cNvSpPr/>
          <p:nvPr/>
        </p:nvSpPr>
        <p:spPr>
          <a:xfrm>
            <a:off x="804672" y="5684520"/>
            <a:ext cx="432816" cy="432816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28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2876" y="5792724"/>
            <a:ext cx="216408" cy="216408"/>
          </a:xfrm>
          <a:prstGeom prst="rect">
            <a:avLst/>
          </a:prstGeom>
        </p:spPr>
      </p:pic>
      <p:sp>
        <p:nvSpPr>
          <p:cNvPr id="29" name="Text 21"/>
          <p:cNvSpPr txBox="1"/>
          <p:nvPr/>
        </p:nvSpPr>
        <p:spPr>
          <a:xfrm>
            <a:off x="1475232" y="5675376"/>
            <a:ext cx="9875215" cy="4511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Own the output</a:t>
            </a:r>
            <a:endParaRPr lang="en-US" sz="13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Once you send it, it is your work and your responsibility.</a:t>
            </a:r>
            <a:endParaRPr lang="en-US" sz="1350" dirty="0"/>
          </a:p>
        </p:txBody>
      </p:sp>
    </p:spTree>
  </p:cSld>
  <p:clrMapOvr>
    <a:masterClrMapping/>
  </p:clrMapOvr>
</p:sld>
</file>

<file path=ppt/slides/slide2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SLIDE 204 · DO'S AND DON'TS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AI Do's and Don'ts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Section 19 · Responsible AI, Ethics &amp; Safety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240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5364328" cy="3840480"/>
          </a:xfrm>
          <a:prstGeom prst="roundRect">
            <a:avLst>
              <a:gd name="adj" fmla="val 1905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41248" y="1737360"/>
            <a:ext cx="530352" cy="530352"/>
          </a:xfrm>
          <a:prstGeom prst="ellipse">
            <a:avLst/>
          </a:prstGeom>
          <a:solidFill>
            <a:srgbClr val="F472B6">
              <a:alpha val="16000"/>
            </a:srgbClr>
          </a:solidFill>
          <a:ln w="12700">
            <a:solidFill>
              <a:srgbClr val="F472B6">
                <a:alpha val="45000"/>
              </a:srgbClr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3836" y="1869948"/>
            <a:ext cx="265176" cy="265176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591056" y="1737360"/>
            <a:ext cx="4047592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472B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DON'T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877824" y="2505456"/>
            <a:ext cx="4742536" cy="261518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▪"/>
            </a:pPr>
            <a:r>
              <a:rPr lang="en-US" sz="135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Do not paste passwords or customer data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▪"/>
            </a:pPr>
            <a:r>
              <a:rPr lang="en-US" sz="135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Do not publish AI output without checking facts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▪"/>
            </a:pPr>
            <a:r>
              <a:rPr lang="en-US" sz="135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Do not cite references you have not opened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▪"/>
            </a:pPr>
            <a:r>
              <a:rPr lang="en-US" sz="135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Do not use AI for a high-stakes decision alone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▪"/>
            </a:pPr>
            <a:r>
              <a:rPr lang="en-US" sz="135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Do not generate content impersonating a real person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▪"/>
            </a:pPr>
            <a:r>
              <a:rPr lang="en-US" sz="135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Do not assume a confident tone means accuracy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6260440" y="1481328"/>
            <a:ext cx="5364328" cy="3840480"/>
          </a:xfrm>
          <a:prstGeom prst="roundRect">
            <a:avLst>
              <a:gd name="adj" fmla="val 1905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534760" y="1737360"/>
            <a:ext cx="530352" cy="530352"/>
          </a:xfrm>
          <a:prstGeom prst="ellipse">
            <a:avLst/>
          </a:prstGeom>
          <a:solidFill>
            <a:srgbClr val="34D399">
              <a:alpha val="16000"/>
            </a:srgbClr>
          </a:solidFill>
          <a:ln w="12700">
            <a:solidFill>
              <a:srgbClr val="34D399">
                <a:alpha val="45000"/>
              </a:srgbClr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7348" y="1869948"/>
            <a:ext cx="265176" cy="265176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7284568" y="1737360"/>
            <a:ext cx="4047592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4D39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DO</a:t>
            </a:r>
            <a:endParaRPr lang="en-US" sz="1800" dirty="0"/>
          </a:p>
        </p:txBody>
      </p:sp>
      <p:sp>
        <p:nvSpPr>
          <p:cNvPr id="15" name="Text 11"/>
          <p:cNvSpPr txBox="1"/>
          <p:nvPr/>
        </p:nvSpPr>
        <p:spPr>
          <a:xfrm>
            <a:off x="6571336" y="2505456"/>
            <a:ext cx="4742536" cy="261518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▪"/>
            </a:pPr>
            <a:r>
              <a:rPr lang="en-US" sz="135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Do give clear context and constraints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▪"/>
            </a:pPr>
            <a:r>
              <a:rPr lang="en-US" sz="135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Do verify facts, numbers and citations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▪"/>
            </a:pPr>
            <a:r>
              <a:rPr lang="en-US" sz="135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Do use approved tools for confidential work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▪"/>
            </a:pPr>
            <a:r>
              <a:rPr lang="en-US" sz="135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Do keep a human reviewing important output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▪"/>
            </a:pPr>
            <a:r>
              <a:rPr lang="en-US" sz="135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Do disclose AI use where rules require it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▪"/>
            </a:pPr>
            <a:r>
              <a:rPr lang="en-US" sz="135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Do keep learning — the tools change quickly</a:t>
            </a:r>
            <a:endParaRPr lang="en-US" sz="1350" dirty="0"/>
          </a:p>
        </p:txBody>
      </p:sp>
      <p:sp>
        <p:nvSpPr>
          <p:cNvPr id="16" name="Shape 12"/>
          <p:cNvSpPr/>
          <p:nvPr/>
        </p:nvSpPr>
        <p:spPr>
          <a:xfrm>
            <a:off x="566928" y="5458968"/>
            <a:ext cx="11057839" cy="777240"/>
          </a:xfrm>
          <a:prstGeom prst="roundRect">
            <a:avLst>
              <a:gd name="adj" fmla="val 9412"/>
            </a:avLst>
          </a:prstGeom>
          <a:solidFill>
            <a:srgbClr val="191640">
              <a:alpha val="96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7" name="Text 13"/>
          <p:cNvSpPr txBox="1"/>
          <p:nvPr/>
        </p:nvSpPr>
        <p:spPr>
          <a:xfrm>
            <a:off x="841248" y="5550408"/>
            <a:ext cx="10509199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22D3E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Key point:  </a:t>
            </a:r>
            <a:r>
              <a:rPr lang="en-US" sz="13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If you remember three things: protect private data, verify what matters, and keep a human accountable.</a:t>
            </a:r>
            <a:endParaRPr lang="en-US" sz="1300" dirty="0"/>
          </a:p>
        </p:txBody>
      </p:sp>
    </p:spTree>
  </p:cSld>
  <p:clrMapOvr>
    <a:masterClrMapping/>
  </p:clrMapOvr>
</p:sld>
</file>

<file path=ppt/slides/slide2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SLIDE 205 · SUMMARY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Safe and Responsible AI Usage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Section 19 · Responsible AI, Ethics &amp; Safety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241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11057839" cy="670560"/>
          </a:xfrm>
          <a:prstGeom prst="roundRect">
            <a:avLst>
              <a:gd name="adj" fmla="val 10909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04672" y="1600200"/>
            <a:ext cx="432816" cy="432816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2876" y="1708404"/>
            <a:ext cx="216408" cy="216408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475232" y="1591056"/>
            <a:ext cx="9875215" cy="4511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Understand what it is</a:t>
            </a:r>
            <a:endParaRPr lang="en-US" sz="13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powerful pattern-based drafting tool, not an oracle and not a source of truth.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566928" y="2298192"/>
            <a:ext cx="11057839" cy="670560"/>
          </a:xfrm>
          <a:prstGeom prst="roundRect">
            <a:avLst>
              <a:gd name="adj" fmla="val 10909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804672" y="2417064"/>
            <a:ext cx="432816" cy="432816"/>
          </a:xfrm>
          <a:prstGeom prst="ellipse">
            <a:avLst/>
          </a:prstGeom>
          <a:solidFill>
            <a:srgbClr val="22D3EE">
              <a:alpha val="16000"/>
            </a:srgbClr>
          </a:solidFill>
          <a:ln w="12700">
            <a:solidFill>
              <a:srgbClr val="22D3EE">
                <a:alpha val="45000"/>
              </a:srgbClr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876" y="2525268"/>
            <a:ext cx="216408" cy="216408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475232" y="2407920"/>
            <a:ext cx="9875215" cy="4511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Match trust to stakes</a:t>
            </a:r>
            <a:endParaRPr lang="en-US" sz="13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Low stakes: use freely. High stakes: verify everything and involve a professional.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566928" y="3115056"/>
            <a:ext cx="11057839" cy="670560"/>
          </a:xfrm>
          <a:prstGeom prst="roundRect">
            <a:avLst>
              <a:gd name="adj" fmla="val 10909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04672" y="3233928"/>
            <a:ext cx="432816" cy="432816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2876" y="3342132"/>
            <a:ext cx="216408" cy="216408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475232" y="3224784"/>
            <a:ext cx="9875215" cy="4511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Protect data</a:t>
            </a:r>
            <a:endParaRPr lang="en-US" sz="13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Approved tools only for anything personal, confidential or regulated.</a:t>
            </a:r>
            <a:endParaRPr lang="en-US" sz="1350" dirty="0"/>
          </a:p>
        </p:txBody>
      </p:sp>
      <p:sp>
        <p:nvSpPr>
          <p:cNvPr id="18" name="Shape 13"/>
          <p:cNvSpPr/>
          <p:nvPr/>
        </p:nvSpPr>
        <p:spPr>
          <a:xfrm>
            <a:off x="566928" y="3931920"/>
            <a:ext cx="11057839" cy="670560"/>
          </a:xfrm>
          <a:prstGeom prst="roundRect">
            <a:avLst>
              <a:gd name="adj" fmla="val 10909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804672" y="4050792"/>
            <a:ext cx="432816" cy="432816"/>
          </a:xfrm>
          <a:prstGeom prst="ellipse">
            <a:avLst/>
          </a:prstGeom>
          <a:solidFill>
            <a:srgbClr val="34D399">
              <a:alpha val="16000"/>
            </a:srgbClr>
          </a:solidFill>
          <a:ln w="12700">
            <a:solidFill>
              <a:srgbClr val="34D399">
                <a:alpha val="45000"/>
              </a:srgbClr>
            </a:solidFill>
            <a:prstDash val="solid"/>
          </a:ln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876" y="4158996"/>
            <a:ext cx="216408" cy="216408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475232" y="4041648"/>
            <a:ext cx="9875215" cy="4511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Keep humans in charge</a:t>
            </a:r>
            <a:endParaRPr lang="en-US" sz="13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 prepares, people decide. Especially where the outcome affects someone.</a:t>
            </a:r>
            <a:endParaRPr lang="en-US" sz="1350" dirty="0"/>
          </a:p>
        </p:txBody>
      </p:sp>
      <p:sp>
        <p:nvSpPr>
          <p:cNvPr id="22" name="Shape 16"/>
          <p:cNvSpPr/>
          <p:nvPr/>
        </p:nvSpPr>
        <p:spPr>
          <a:xfrm>
            <a:off x="566928" y="4748784"/>
            <a:ext cx="11057839" cy="670560"/>
          </a:xfrm>
          <a:prstGeom prst="roundRect">
            <a:avLst>
              <a:gd name="adj" fmla="val 10909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804672" y="4867656"/>
            <a:ext cx="432816" cy="432816"/>
          </a:xfrm>
          <a:prstGeom prst="ellipse">
            <a:avLst/>
          </a:prstGeom>
          <a:solidFill>
            <a:srgbClr val="F472B6">
              <a:alpha val="16000"/>
            </a:srgbClr>
          </a:solidFill>
          <a:ln w="12700">
            <a:solidFill>
              <a:srgbClr val="F472B6">
                <a:alpha val="45000"/>
              </a:srgbClr>
            </a:solidFill>
            <a:prstDash val="solid"/>
          </a:ln>
        </p:spPr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2876" y="4975860"/>
            <a:ext cx="216408" cy="216408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1475232" y="4858512"/>
            <a:ext cx="9875215" cy="4511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Be transparent</a:t>
            </a:r>
            <a:endParaRPr lang="en-US" sz="13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Tell people when AI was involved in what they are reading or receiving.</a:t>
            </a:r>
            <a:endParaRPr lang="en-US" sz="1350" dirty="0"/>
          </a:p>
        </p:txBody>
      </p:sp>
      <p:sp>
        <p:nvSpPr>
          <p:cNvPr id="26" name="Shape 19"/>
          <p:cNvSpPr/>
          <p:nvPr/>
        </p:nvSpPr>
        <p:spPr>
          <a:xfrm>
            <a:off x="566928" y="5565648"/>
            <a:ext cx="11057839" cy="670560"/>
          </a:xfrm>
          <a:prstGeom prst="roundRect">
            <a:avLst>
              <a:gd name="adj" fmla="val 10909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7" name="Shape 20"/>
          <p:cNvSpPr/>
          <p:nvPr/>
        </p:nvSpPr>
        <p:spPr>
          <a:xfrm>
            <a:off x="804672" y="5684520"/>
            <a:ext cx="432816" cy="432816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28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2876" y="5792724"/>
            <a:ext cx="216408" cy="216408"/>
          </a:xfrm>
          <a:prstGeom prst="rect">
            <a:avLst/>
          </a:prstGeom>
        </p:spPr>
      </p:pic>
      <p:sp>
        <p:nvSpPr>
          <p:cNvPr id="29" name="Text 21"/>
          <p:cNvSpPr txBox="1"/>
          <p:nvPr/>
        </p:nvSpPr>
        <p:spPr>
          <a:xfrm>
            <a:off x="1475232" y="5675376"/>
            <a:ext cx="9875215" cy="4511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Keep learning</a:t>
            </a:r>
            <a:endParaRPr lang="en-US" sz="13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Capabilities, risks and rules are all changing. Re-check what you believe.</a:t>
            </a:r>
            <a:endParaRPr lang="en-US" sz="1350" dirty="0"/>
          </a:p>
        </p:txBody>
      </p:sp>
    </p:spTree>
  </p:cSld>
  <p:clrMapOvr>
    <a:masterClrMapping/>
  </p:clrMapOvr>
</p:sld>
</file>

<file path=ppt/slides/slide2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BBF2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QUIZ 19 · SLIDES 195–205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Quiz 19 — Responsible AI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Section 19 · Responsible AI, Ethics &amp; Safety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242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11057839" cy="848563"/>
          </a:xfrm>
          <a:prstGeom prst="roundRect">
            <a:avLst>
              <a:gd name="adj" fmla="val 8621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68096" y="1627632"/>
            <a:ext cx="310896" cy="310896"/>
          </a:xfrm>
          <a:prstGeom prst="ellipse">
            <a:avLst/>
          </a:prstGeom>
          <a:solidFill>
            <a:srgbClr val="FBBF24">
              <a:alpha val="22000"/>
            </a:srgbClr>
          </a:solidFill>
          <a:ln w="12700">
            <a:solidFill>
              <a:srgbClr val="FBBF24">
                <a:alpha val="5000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68096" y="1627632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BBF2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Q1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188720" y="1600200"/>
            <a:ext cx="8726119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AI bias mainly comes from: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10207447" y="1618488"/>
            <a:ext cx="1371600" cy="347472"/>
          </a:xfrm>
          <a:prstGeom prst="roundRect">
            <a:avLst>
              <a:gd name="adj" fmla="val 15789"/>
            </a:avLst>
          </a:prstGeom>
          <a:solidFill>
            <a:srgbClr val="A78BFA">
              <a:alpha val="20000"/>
            </a:srgbClr>
          </a:solidFill>
          <a:ln w="12700">
            <a:solidFill>
              <a:srgbClr val="A78BFA">
                <a:alpha val="60000"/>
              </a:srgbClr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207447" y="1618488"/>
            <a:ext cx="13716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Answer: C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1115568" y="2011680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A. </a:t>
            </a:r>
            <a:r>
              <a:rPr lang="en-US" sz="11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Slow internet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3674288" y="2011680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B. </a:t>
            </a:r>
            <a:r>
              <a:rPr lang="en-US" sz="11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Small screens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6233008" y="2011680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C. </a:t>
            </a: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Patterns in the training data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8791727" y="2011680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D. </a:t>
            </a:r>
            <a:r>
              <a:rPr lang="en-US" sz="11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Short prompts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66928" y="2457907"/>
            <a:ext cx="11057839" cy="848563"/>
          </a:xfrm>
          <a:prstGeom prst="roundRect">
            <a:avLst>
              <a:gd name="adj" fmla="val 8621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68096" y="2604211"/>
            <a:ext cx="310896" cy="310896"/>
          </a:xfrm>
          <a:prstGeom prst="ellipse">
            <a:avLst/>
          </a:prstGeom>
          <a:solidFill>
            <a:srgbClr val="FBBF24">
              <a:alpha val="22000"/>
            </a:srgbClr>
          </a:solidFill>
          <a:ln w="12700">
            <a:solidFill>
              <a:srgbClr val="FBBF24">
                <a:alpha val="50000"/>
              </a:srgbClr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68096" y="2604211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BBF2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Q2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1188720" y="2576779"/>
            <a:ext cx="8726119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Which should never be pasted into an AI tool?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10207447" y="2595067"/>
            <a:ext cx="1371600" cy="347472"/>
          </a:xfrm>
          <a:prstGeom prst="roundRect">
            <a:avLst>
              <a:gd name="adj" fmla="val 15789"/>
            </a:avLst>
          </a:prstGeom>
          <a:solidFill>
            <a:srgbClr val="A78BFA">
              <a:alpha val="20000"/>
            </a:srgbClr>
          </a:solidFill>
          <a:ln w="12700">
            <a:solidFill>
              <a:srgbClr val="A78BFA">
                <a:alpha val="60000"/>
              </a:srgbClr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0207447" y="2595067"/>
            <a:ext cx="13716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Answer: D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1115568" y="2988259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A. </a:t>
            </a:r>
            <a:r>
              <a:rPr lang="en-US" sz="11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public news headline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3674288" y="2988259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B. </a:t>
            </a:r>
            <a:r>
              <a:rPr lang="en-US" sz="11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maths question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6233008" y="2988259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C. </a:t>
            </a:r>
            <a:r>
              <a:rPr lang="en-US" sz="11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grammar question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8791727" y="2988259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D. </a:t>
            </a: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Customer personal data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66928" y="3434486"/>
            <a:ext cx="11057839" cy="848563"/>
          </a:xfrm>
          <a:prstGeom prst="roundRect">
            <a:avLst>
              <a:gd name="adj" fmla="val 8621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768096" y="3580790"/>
            <a:ext cx="310896" cy="310896"/>
          </a:xfrm>
          <a:prstGeom prst="ellipse">
            <a:avLst/>
          </a:prstGeom>
          <a:solidFill>
            <a:srgbClr val="FBBF24">
              <a:alpha val="22000"/>
            </a:srgbClr>
          </a:solidFill>
          <a:ln w="12700">
            <a:solidFill>
              <a:srgbClr val="FBBF24">
                <a:alpha val="50000"/>
              </a:srgbClr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68096" y="3580790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BBF2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Q3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1188720" y="3553358"/>
            <a:ext cx="8726119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Prompt injection means: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10207447" y="3571646"/>
            <a:ext cx="1371600" cy="347472"/>
          </a:xfrm>
          <a:prstGeom prst="roundRect">
            <a:avLst>
              <a:gd name="adj" fmla="val 15789"/>
            </a:avLst>
          </a:prstGeom>
          <a:solidFill>
            <a:srgbClr val="A78BFA">
              <a:alpha val="20000"/>
            </a:srgbClr>
          </a:solidFill>
          <a:ln w="12700">
            <a:solidFill>
              <a:srgbClr val="A78BFA">
                <a:alpha val="60000"/>
              </a:srgbClr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10207447" y="3571646"/>
            <a:ext cx="13716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Answer: A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1115568" y="3964838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A. </a:t>
            </a: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Hidden instructions in content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3674288" y="3964838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B. </a:t>
            </a:r>
            <a:r>
              <a:rPr lang="en-US" sz="11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hardware fault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6233008" y="3964838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C. </a:t>
            </a:r>
            <a:r>
              <a:rPr lang="en-US" sz="11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slow model</a:t>
            </a:r>
            <a:endParaRPr lang="en-US" sz="1050" dirty="0"/>
          </a:p>
        </p:txBody>
      </p:sp>
      <p:sp>
        <p:nvSpPr>
          <p:cNvPr id="35" name="Text 33"/>
          <p:cNvSpPr txBox="1"/>
          <p:nvPr/>
        </p:nvSpPr>
        <p:spPr>
          <a:xfrm>
            <a:off x="8791727" y="3964838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D. </a:t>
            </a:r>
            <a:r>
              <a:rPr lang="en-US" sz="11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missing file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66928" y="4411066"/>
            <a:ext cx="11057839" cy="848563"/>
          </a:xfrm>
          <a:prstGeom prst="roundRect">
            <a:avLst>
              <a:gd name="adj" fmla="val 8621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768096" y="4557370"/>
            <a:ext cx="310896" cy="310896"/>
          </a:xfrm>
          <a:prstGeom prst="ellipse">
            <a:avLst/>
          </a:prstGeom>
          <a:solidFill>
            <a:srgbClr val="FBBF24">
              <a:alpha val="22000"/>
            </a:srgbClr>
          </a:solidFill>
          <a:ln w="12700">
            <a:solidFill>
              <a:srgbClr val="FBBF24">
                <a:alpha val="50000"/>
              </a:srgbClr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768096" y="4557370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BBF2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Q4</a:t>
            </a:r>
            <a:endParaRPr lang="en-US" sz="900" dirty="0"/>
          </a:p>
        </p:txBody>
      </p:sp>
      <p:sp>
        <p:nvSpPr>
          <p:cNvPr id="39" name="Text 37"/>
          <p:cNvSpPr txBox="1"/>
          <p:nvPr/>
        </p:nvSpPr>
        <p:spPr>
          <a:xfrm>
            <a:off x="1188720" y="4529938"/>
            <a:ext cx="8726119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"Human in the loop" means a person:</a:t>
            </a:r>
            <a:endParaRPr lang="en-US" sz="1250" dirty="0"/>
          </a:p>
        </p:txBody>
      </p:sp>
      <p:sp>
        <p:nvSpPr>
          <p:cNvPr id="40" name="Shape 38"/>
          <p:cNvSpPr/>
          <p:nvPr/>
        </p:nvSpPr>
        <p:spPr>
          <a:xfrm>
            <a:off x="10207447" y="4548226"/>
            <a:ext cx="1371600" cy="347472"/>
          </a:xfrm>
          <a:prstGeom prst="roundRect">
            <a:avLst>
              <a:gd name="adj" fmla="val 15789"/>
            </a:avLst>
          </a:prstGeom>
          <a:solidFill>
            <a:srgbClr val="A78BFA">
              <a:alpha val="20000"/>
            </a:srgbClr>
          </a:solidFill>
          <a:ln w="12700">
            <a:solidFill>
              <a:srgbClr val="A78BFA">
                <a:alpha val="60000"/>
              </a:srgbClr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10207447" y="4548226"/>
            <a:ext cx="13716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Answer: B</a:t>
            </a:r>
            <a:endParaRPr lang="en-US" sz="1050" dirty="0"/>
          </a:p>
        </p:txBody>
      </p:sp>
      <p:sp>
        <p:nvSpPr>
          <p:cNvPr id="42" name="Text 40"/>
          <p:cNvSpPr txBox="1"/>
          <p:nvPr/>
        </p:nvSpPr>
        <p:spPr>
          <a:xfrm>
            <a:off x="1115568" y="4941418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A. </a:t>
            </a:r>
            <a:r>
              <a:rPr lang="en-US" sz="11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Never sees the output</a:t>
            </a:r>
            <a:endParaRPr lang="en-US" sz="1050" dirty="0"/>
          </a:p>
        </p:txBody>
      </p:sp>
      <p:sp>
        <p:nvSpPr>
          <p:cNvPr id="43" name="Text 41"/>
          <p:cNvSpPr txBox="1"/>
          <p:nvPr/>
        </p:nvSpPr>
        <p:spPr>
          <a:xfrm>
            <a:off x="3674288" y="4941418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B. </a:t>
            </a: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Reviews before the output is used</a:t>
            </a:r>
            <a:endParaRPr lang="en-US" sz="1050" dirty="0"/>
          </a:p>
        </p:txBody>
      </p:sp>
      <p:sp>
        <p:nvSpPr>
          <p:cNvPr id="44" name="Text 42"/>
          <p:cNvSpPr txBox="1"/>
          <p:nvPr/>
        </p:nvSpPr>
        <p:spPr>
          <a:xfrm>
            <a:off x="6233008" y="4941418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C. </a:t>
            </a:r>
            <a:r>
              <a:rPr lang="en-US" sz="11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Only writes the prompt</a:t>
            </a:r>
            <a:endParaRPr lang="en-US" sz="1050" dirty="0"/>
          </a:p>
        </p:txBody>
      </p:sp>
      <p:sp>
        <p:nvSpPr>
          <p:cNvPr id="45" name="Text 43"/>
          <p:cNvSpPr txBox="1"/>
          <p:nvPr/>
        </p:nvSpPr>
        <p:spPr>
          <a:xfrm>
            <a:off x="8791727" y="4941418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D. </a:t>
            </a:r>
            <a:r>
              <a:rPr lang="en-US" sz="11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Turns off the system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566928" y="5387645"/>
            <a:ext cx="11057839" cy="848563"/>
          </a:xfrm>
          <a:prstGeom prst="roundRect">
            <a:avLst>
              <a:gd name="adj" fmla="val 8621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768096" y="5533949"/>
            <a:ext cx="310896" cy="310896"/>
          </a:xfrm>
          <a:prstGeom prst="ellipse">
            <a:avLst/>
          </a:prstGeom>
          <a:solidFill>
            <a:srgbClr val="FBBF24">
              <a:alpha val="22000"/>
            </a:srgbClr>
          </a:solidFill>
          <a:ln w="12700">
            <a:solidFill>
              <a:srgbClr val="FBBF24">
                <a:alpha val="50000"/>
              </a:srgbClr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768096" y="5533949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BBF2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Q5</a:t>
            </a:r>
            <a:endParaRPr lang="en-US" sz="900" dirty="0"/>
          </a:p>
        </p:txBody>
      </p:sp>
      <p:sp>
        <p:nvSpPr>
          <p:cNvPr id="49" name="Text 47"/>
          <p:cNvSpPr txBox="1"/>
          <p:nvPr/>
        </p:nvSpPr>
        <p:spPr>
          <a:xfrm>
            <a:off x="1188720" y="5506517"/>
            <a:ext cx="8726119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Responsibility for AI output belongs to:</a:t>
            </a:r>
            <a:endParaRPr lang="en-US" sz="1250" dirty="0"/>
          </a:p>
        </p:txBody>
      </p:sp>
      <p:sp>
        <p:nvSpPr>
          <p:cNvPr id="50" name="Shape 48"/>
          <p:cNvSpPr/>
          <p:nvPr/>
        </p:nvSpPr>
        <p:spPr>
          <a:xfrm>
            <a:off x="10207447" y="5524805"/>
            <a:ext cx="1371600" cy="347472"/>
          </a:xfrm>
          <a:prstGeom prst="roundRect">
            <a:avLst>
              <a:gd name="adj" fmla="val 15789"/>
            </a:avLst>
          </a:prstGeom>
          <a:solidFill>
            <a:srgbClr val="A78BFA">
              <a:alpha val="20000"/>
            </a:srgbClr>
          </a:solidFill>
          <a:ln w="12700">
            <a:solidFill>
              <a:srgbClr val="A78BFA">
                <a:alpha val="60000"/>
              </a:srgbClr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10207447" y="5524805"/>
            <a:ext cx="13716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Answer: C</a:t>
            </a:r>
            <a:endParaRPr lang="en-US" sz="1050" dirty="0"/>
          </a:p>
        </p:txBody>
      </p:sp>
      <p:sp>
        <p:nvSpPr>
          <p:cNvPr id="52" name="Text 50"/>
          <p:cNvSpPr txBox="1"/>
          <p:nvPr/>
        </p:nvSpPr>
        <p:spPr>
          <a:xfrm>
            <a:off x="1115568" y="5917997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A. </a:t>
            </a:r>
            <a:r>
              <a:rPr lang="en-US" sz="11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model</a:t>
            </a:r>
            <a:endParaRPr lang="en-US" sz="1050" dirty="0"/>
          </a:p>
        </p:txBody>
      </p:sp>
      <p:sp>
        <p:nvSpPr>
          <p:cNvPr id="53" name="Text 51"/>
          <p:cNvSpPr txBox="1"/>
          <p:nvPr/>
        </p:nvSpPr>
        <p:spPr>
          <a:xfrm>
            <a:off x="3674288" y="5917997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B. </a:t>
            </a:r>
            <a:r>
              <a:rPr lang="en-US" sz="11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Nobody</a:t>
            </a:r>
            <a:endParaRPr lang="en-US" sz="1050" dirty="0"/>
          </a:p>
        </p:txBody>
      </p:sp>
      <p:sp>
        <p:nvSpPr>
          <p:cNvPr id="54" name="Text 52"/>
          <p:cNvSpPr txBox="1"/>
          <p:nvPr/>
        </p:nvSpPr>
        <p:spPr>
          <a:xfrm>
            <a:off x="6233008" y="5917997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C. </a:t>
            </a: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person using it</a:t>
            </a:r>
            <a:endParaRPr lang="en-US" sz="1050" dirty="0"/>
          </a:p>
        </p:txBody>
      </p:sp>
      <p:sp>
        <p:nvSpPr>
          <p:cNvPr id="55" name="Text 53"/>
          <p:cNvSpPr txBox="1"/>
          <p:nvPr/>
        </p:nvSpPr>
        <p:spPr>
          <a:xfrm>
            <a:off x="8791727" y="5917997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D. </a:t>
            </a:r>
            <a:r>
              <a:rPr lang="en-US" sz="11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keyboard</a:t>
            </a:r>
            <a:endParaRPr lang="en-US" sz="1050" dirty="0"/>
          </a:p>
        </p:txBody>
      </p:sp>
    </p:spTree>
  </p:cSld>
  <p:clrMapOvr>
    <a:masterClrMapping/>
  </p:clrMapOvr>
</p:sld>
</file>

<file path=ppt/slides/slide2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49808" y="1874520"/>
            <a:ext cx="58521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SECTION 20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49808" y="2240280"/>
            <a:ext cx="6035040" cy="1554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Generative AI Architecture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749808" y="3886200"/>
            <a:ext cx="5852160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How real AI applications are actually put together, layer by layer.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49808" y="4846320"/>
            <a:ext cx="1463040" cy="64008"/>
          </a:xfrm>
          <a:prstGeom prst="roundRect">
            <a:avLst>
              <a:gd name="adj" fmla="val 42857"/>
            </a:avLst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32320" y="1143000"/>
            <a:ext cx="4492447" cy="797357"/>
          </a:xfrm>
          <a:prstGeom prst="roundRect">
            <a:avLst>
              <a:gd name="adj" fmla="val 9174"/>
            </a:avLst>
          </a:prstGeom>
          <a:solidFill>
            <a:srgbClr val="191640"/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51776" y="1313078"/>
            <a:ext cx="457200" cy="457200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66076" y="1427378"/>
            <a:ext cx="228600" cy="22860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8010144" y="1143000"/>
            <a:ext cx="3303727" cy="79735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Complete Architecture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7132320" y="2086661"/>
            <a:ext cx="4492447" cy="797357"/>
          </a:xfrm>
          <a:prstGeom prst="roundRect">
            <a:avLst>
              <a:gd name="adj" fmla="val 9174"/>
            </a:avLst>
          </a:prstGeom>
          <a:solidFill>
            <a:srgbClr val="191640"/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7351776" y="2256739"/>
            <a:ext cx="457200" cy="457200"/>
          </a:xfrm>
          <a:prstGeom prst="ellipse">
            <a:avLst/>
          </a:prstGeom>
          <a:solidFill>
            <a:srgbClr val="22D3EE">
              <a:alpha val="16000"/>
            </a:srgbClr>
          </a:solidFill>
          <a:ln w="12700">
            <a:solidFill>
              <a:srgbClr val="22D3EE">
                <a:alpha val="45000"/>
              </a:srgbClr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6076" y="2371039"/>
            <a:ext cx="228600" cy="22860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8010144" y="2086661"/>
            <a:ext cx="3303727" cy="79735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LLM Application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7132320" y="3030322"/>
            <a:ext cx="4492447" cy="797357"/>
          </a:xfrm>
          <a:prstGeom prst="roundRect">
            <a:avLst>
              <a:gd name="adj" fmla="val 9174"/>
            </a:avLst>
          </a:prstGeom>
          <a:solidFill>
            <a:srgbClr val="191640"/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351776" y="3200400"/>
            <a:ext cx="457200" cy="457200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6076" y="3314700"/>
            <a:ext cx="228600" cy="22860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010144" y="3030322"/>
            <a:ext cx="3303727" cy="79735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RAG Architecture</a:t>
            </a:r>
            <a:endParaRPr lang="en-US" sz="1350" dirty="0"/>
          </a:p>
        </p:txBody>
      </p:sp>
      <p:sp>
        <p:nvSpPr>
          <p:cNvPr id="18" name="Shape 13"/>
          <p:cNvSpPr/>
          <p:nvPr/>
        </p:nvSpPr>
        <p:spPr>
          <a:xfrm>
            <a:off x="7132320" y="3973982"/>
            <a:ext cx="4492447" cy="797357"/>
          </a:xfrm>
          <a:prstGeom prst="roundRect">
            <a:avLst>
              <a:gd name="adj" fmla="val 9174"/>
            </a:avLst>
          </a:prstGeom>
          <a:solidFill>
            <a:srgbClr val="191640"/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7351776" y="4144061"/>
            <a:ext cx="457200" cy="457200"/>
          </a:xfrm>
          <a:prstGeom prst="ellipse">
            <a:avLst/>
          </a:prstGeom>
          <a:solidFill>
            <a:srgbClr val="34D399">
              <a:alpha val="16000"/>
            </a:srgbClr>
          </a:solidFill>
          <a:ln w="12700">
            <a:solidFill>
              <a:srgbClr val="34D399">
                <a:alpha val="45000"/>
              </a:srgbClr>
            </a:solidFill>
            <a:prstDash val="solid"/>
          </a:ln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66076" y="4258361"/>
            <a:ext cx="228600" cy="22860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8010144" y="3973982"/>
            <a:ext cx="3303727" cy="79735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Agent Architecture</a:t>
            </a:r>
            <a:endParaRPr lang="en-US" sz="1350" dirty="0"/>
          </a:p>
        </p:txBody>
      </p:sp>
      <p:sp>
        <p:nvSpPr>
          <p:cNvPr id="22" name="Shape 16"/>
          <p:cNvSpPr/>
          <p:nvPr/>
        </p:nvSpPr>
        <p:spPr>
          <a:xfrm>
            <a:off x="7132320" y="4917643"/>
            <a:ext cx="4492447" cy="797357"/>
          </a:xfrm>
          <a:prstGeom prst="roundRect">
            <a:avLst>
              <a:gd name="adj" fmla="val 9174"/>
            </a:avLst>
          </a:prstGeom>
          <a:solidFill>
            <a:srgbClr val="191640"/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7351776" y="5087722"/>
            <a:ext cx="457200" cy="457200"/>
          </a:xfrm>
          <a:prstGeom prst="ellipse">
            <a:avLst/>
          </a:prstGeom>
          <a:solidFill>
            <a:srgbClr val="F472B6">
              <a:alpha val="16000"/>
            </a:srgbClr>
          </a:solidFill>
          <a:ln w="12700">
            <a:solidFill>
              <a:srgbClr val="F472B6">
                <a:alpha val="45000"/>
              </a:srgbClr>
            </a:solidFill>
            <a:prstDash val="solid"/>
          </a:ln>
        </p:spPr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66076" y="5202022"/>
            <a:ext cx="228600" cy="228600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8010144" y="4917643"/>
            <a:ext cx="3303727" cy="79735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Security Layers</a:t>
            </a:r>
            <a:endParaRPr lang="en-US" sz="1350" dirty="0"/>
          </a:p>
        </p:txBody>
      </p:sp>
      <p:sp>
        <p:nvSpPr>
          <p:cNvPr id="26" name="Text 19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Section 20 · Generative AI Architecture</a:t>
            </a:r>
            <a:endParaRPr lang="en-US" sz="950" dirty="0"/>
          </a:p>
        </p:txBody>
      </p:sp>
      <p:sp>
        <p:nvSpPr>
          <p:cNvPr id="27" name="Text 20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243</a:t>
            </a:r>
            <a:endParaRPr lang="en-US" sz="950" dirty="0"/>
          </a:p>
        </p:txBody>
      </p:sp>
    </p:spTree>
  </p:cSld>
  <p:clrMapOvr>
    <a:masterClrMapping/>
  </p:clrMapOvr>
</p:sld>
</file>

<file path=ppt/slides/slide2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SLIDE 206 · BIG PICTURE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Complete Gen AI Architecture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Section 20 · Generative AI Architecture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244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3350666" cy="1600200"/>
          </a:xfrm>
          <a:prstGeom prst="roundRect">
            <a:avLst>
              <a:gd name="adj" fmla="val 4571"/>
            </a:avLst>
          </a:prstGeom>
          <a:solidFill>
            <a:srgbClr val="191640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068525" y="1307592"/>
            <a:ext cx="347472" cy="347472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068525" y="1307592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0A1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94944" y="1755648"/>
            <a:ext cx="3094634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A78BF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User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94944" y="2212848"/>
            <a:ext cx="3094634" cy="731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person with a question or task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009034" y="2162556"/>
            <a:ext cx="320040" cy="237744"/>
          </a:xfrm>
          <a:prstGeom prst="rightArrow">
            <a:avLst/>
          </a:prstGeom>
          <a:solidFill>
            <a:srgbClr val="22D3EE">
              <a:alpha val="70000"/>
            </a:srgbClr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420514" y="1481328"/>
            <a:ext cx="3350666" cy="1600200"/>
          </a:xfrm>
          <a:prstGeom prst="roundRect">
            <a:avLst>
              <a:gd name="adj" fmla="val 4571"/>
            </a:avLst>
          </a:prstGeom>
          <a:solidFill>
            <a:srgbClr val="191640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922112" y="1307592"/>
            <a:ext cx="347472" cy="34747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922112" y="1307592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0A1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4548530" y="1755648"/>
            <a:ext cx="3094634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2D3E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Application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4548530" y="2212848"/>
            <a:ext cx="3094634" cy="731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interface and business logic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7862621" y="2162556"/>
            <a:ext cx="320040" cy="237744"/>
          </a:xfrm>
          <a:prstGeom prst="rightArrow">
            <a:avLst/>
          </a:prstGeom>
          <a:solidFill>
            <a:srgbClr val="22D3EE">
              <a:alpha val="70000"/>
            </a:srgbClr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274101" y="1481328"/>
            <a:ext cx="3350666" cy="1600200"/>
          </a:xfrm>
          <a:prstGeom prst="roundRect">
            <a:avLst>
              <a:gd name="adj" fmla="val 4571"/>
            </a:avLst>
          </a:prstGeom>
          <a:solidFill>
            <a:srgbClr val="191640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9775698" y="1307592"/>
            <a:ext cx="347472" cy="347472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775698" y="1307592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0A1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8402117" y="1755648"/>
            <a:ext cx="3094634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BBF2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Prompt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8402117" y="2212848"/>
            <a:ext cx="3094634" cy="731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System rules plus context plus the request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66928" y="3538728"/>
            <a:ext cx="3350666" cy="1600200"/>
          </a:xfrm>
          <a:prstGeom prst="roundRect">
            <a:avLst>
              <a:gd name="adj" fmla="val 4571"/>
            </a:avLst>
          </a:prstGeom>
          <a:solidFill>
            <a:srgbClr val="191640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068525" y="3364992"/>
            <a:ext cx="347472" cy="347472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2068525" y="3364992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0A1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4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694944" y="3813048"/>
            <a:ext cx="3094634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4D39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Model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694944" y="4270248"/>
            <a:ext cx="3094634" cy="731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language or multimodal model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4009034" y="4219956"/>
            <a:ext cx="320040" cy="237744"/>
          </a:xfrm>
          <a:prstGeom prst="rightArrow">
            <a:avLst/>
          </a:prstGeom>
          <a:solidFill>
            <a:srgbClr val="22D3EE">
              <a:alpha val="70000"/>
            </a:srgbClr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420514" y="3538728"/>
            <a:ext cx="3350666" cy="1600200"/>
          </a:xfrm>
          <a:prstGeom prst="roundRect">
            <a:avLst>
              <a:gd name="adj" fmla="val 4571"/>
            </a:avLst>
          </a:prstGeom>
          <a:solidFill>
            <a:srgbClr val="191640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922112" y="3364992"/>
            <a:ext cx="347472" cy="347472"/>
          </a:xfrm>
          <a:prstGeom prst="ellipse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5922112" y="3364992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0A1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5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4548530" y="3813048"/>
            <a:ext cx="3094634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472B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Tools / RAG / APIs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4548530" y="4270248"/>
            <a:ext cx="3094634" cy="731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External data and actions when needed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7862621" y="4219956"/>
            <a:ext cx="320040" cy="237744"/>
          </a:xfrm>
          <a:prstGeom prst="rightArrow">
            <a:avLst/>
          </a:prstGeom>
          <a:solidFill>
            <a:srgbClr val="22D3EE">
              <a:alpha val="70000"/>
            </a:srgbClr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274101" y="3538728"/>
            <a:ext cx="3350666" cy="1600200"/>
          </a:xfrm>
          <a:prstGeom prst="roundRect">
            <a:avLst>
              <a:gd name="adj" fmla="val 4571"/>
            </a:avLst>
          </a:prstGeom>
          <a:solidFill>
            <a:srgbClr val="191640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9775698" y="3364992"/>
            <a:ext cx="347472" cy="347472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9775698" y="3364992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0A1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6</a:t>
            </a:r>
            <a:endParaRPr lang="en-US" sz="1200" dirty="0"/>
          </a:p>
        </p:txBody>
      </p:sp>
      <p:sp>
        <p:nvSpPr>
          <p:cNvPr id="38" name="Text 36"/>
          <p:cNvSpPr txBox="1"/>
          <p:nvPr/>
        </p:nvSpPr>
        <p:spPr>
          <a:xfrm>
            <a:off x="8402117" y="3813048"/>
            <a:ext cx="3094634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A78BF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Output</a:t>
            </a:r>
            <a:endParaRPr lang="en-US" sz="1400" dirty="0"/>
          </a:p>
        </p:txBody>
      </p:sp>
      <p:sp>
        <p:nvSpPr>
          <p:cNvPr id="39" name="Text 37"/>
          <p:cNvSpPr txBox="1"/>
          <p:nvPr/>
        </p:nvSpPr>
        <p:spPr>
          <a:xfrm>
            <a:off x="8402117" y="4270248"/>
            <a:ext cx="3094634" cy="731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response, checked and returned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566928" y="5276088"/>
            <a:ext cx="11057839" cy="960120"/>
          </a:xfrm>
          <a:prstGeom prst="roundRect">
            <a:avLst>
              <a:gd name="adj" fmla="val 7619"/>
            </a:avLst>
          </a:prstGeom>
          <a:solidFill>
            <a:srgbClr val="191640">
              <a:alpha val="96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41" name="Text 39"/>
          <p:cNvSpPr txBox="1"/>
          <p:nvPr/>
        </p:nvSpPr>
        <p:spPr>
          <a:xfrm>
            <a:off x="841248" y="5385816"/>
            <a:ext cx="10509199" cy="7406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A78BF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Remember:  </a:t>
            </a:r>
            <a:r>
              <a:rPr lang="en-US" sz="13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Almost every AI product you use follows this shape. The differences are in what sits in the tools layer.</a:t>
            </a:r>
            <a:endParaRPr lang="en-US" sz="1300" dirty="0"/>
          </a:p>
        </p:txBody>
      </p:sp>
    </p:spTree>
  </p:cSld>
  <p:clrMapOvr>
    <a:masterClrMapping/>
  </p:clrMapOvr>
</p:sld>
</file>

<file path=ppt/slides/slide2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SLIDE 207 · PATTERN 1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Basic LLM Application Architecture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Section 20 · Generative AI Architecture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245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11057839" cy="877824"/>
          </a:xfrm>
          <a:prstGeom prst="roundRect">
            <a:avLst>
              <a:gd name="adj" fmla="val 8333"/>
            </a:avLst>
          </a:prstGeom>
          <a:solidFill>
            <a:srgbClr val="191640">
              <a:alpha val="96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6928" y="1627632"/>
            <a:ext cx="64008" cy="585216"/>
          </a:xfrm>
          <a:prstGeom prst="roundRect">
            <a:avLst>
              <a:gd name="adj" fmla="val 42857"/>
            </a:avLst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59536" y="1572768"/>
            <a:ext cx="10472623" cy="6949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DDD9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simplest useful design: an application that sends prompts to a model and returns the answer.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66928" y="2615184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22960" y="2816352"/>
            <a:ext cx="457200" cy="457200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2930652"/>
            <a:ext cx="228600" cy="22860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499616" y="2816352"/>
            <a:ext cx="41847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Front end</a:t>
            </a:r>
            <a:endParaRPr lang="en-US" sz="1450" dirty="0"/>
          </a:p>
        </p:txBody>
      </p:sp>
      <p:sp>
        <p:nvSpPr>
          <p:cNvPr id="13" name="Text 10"/>
          <p:cNvSpPr txBox="1"/>
          <p:nvPr/>
        </p:nvSpPr>
        <p:spPr>
          <a:xfrm>
            <a:off x="841248" y="3419856"/>
            <a:ext cx="484312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Where the user types and reads: web page, mobile app or a chat panel inside another product.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33008" y="2615184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489040" y="2816352"/>
            <a:ext cx="457200" cy="457200"/>
          </a:xfrm>
          <a:prstGeom prst="ellipse">
            <a:avLst/>
          </a:prstGeom>
          <a:solidFill>
            <a:srgbClr val="22D3EE">
              <a:alpha val="16000"/>
            </a:srgbClr>
          </a:solidFill>
          <a:ln w="12700">
            <a:solidFill>
              <a:srgbClr val="22D3EE">
                <a:alpha val="45000"/>
              </a:srgbClr>
            </a:solidFill>
            <a:prstDash val="solid"/>
          </a:ln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3340" y="2930652"/>
            <a:ext cx="228600" cy="22860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7165696" y="2816352"/>
            <a:ext cx="41847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Back end</a:t>
            </a:r>
            <a:endParaRPr lang="en-US" sz="1450" dirty="0"/>
          </a:p>
        </p:txBody>
      </p:sp>
      <p:sp>
        <p:nvSpPr>
          <p:cNvPr id="18" name="Text 14"/>
          <p:cNvSpPr txBox="1"/>
          <p:nvPr/>
        </p:nvSpPr>
        <p:spPr>
          <a:xfrm>
            <a:off x="6507328" y="3419856"/>
            <a:ext cx="484312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Builds the prompt, applies system instructions and calls the model API. Keys stay here, never in the browser.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566928" y="4530149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822960" y="4731317"/>
            <a:ext cx="457200" cy="457200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260" y="4845617"/>
            <a:ext cx="228600" cy="22860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499616" y="4731317"/>
            <a:ext cx="41847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Model API</a:t>
            </a:r>
            <a:endParaRPr lang="en-US" sz="1450" dirty="0"/>
          </a:p>
        </p:txBody>
      </p:sp>
      <p:sp>
        <p:nvSpPr>
          <p:cNvPr id="23" name="Text 18"/>
          <p:cNvSpPr txBox="1"/>
          <p:nvPr/>
        </p:nvSpPr>
        <p:spPr>
          <a:xfrm>
            <a:off x="841248" y="5334821"/>
            <a:ext cx="484312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hosted model that generates the response.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6233008" y="4530149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6489040" y="4731317"/>
            <a:ext cx="457200" cy="457200"/>
          </a:xfrm>
          <a:prstGeom prst="ellipse">
            <a:avLst/>
          </a:prstGeom>
          <a:solidFill>
            <a:srgbClr val="34D399">
              <a:alpha val="16000"/>
            </a:srgbClr>
          </a:solidFill>
          <a:ln w="12700">
            <a:solidFill>
              <a:srgbClr val="34D399">
                <a:alpha val="45000"/>
              </a:srgbClr>
            </a:solidFill>
            <a:prstDash val="solid"/>
          </a:ln>
        </p:spPr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3340" y="4845617"/>
            <a:ext cx="228600" cy="228600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7165696" y="4731317"/>
            <a:ext cx="41847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Guardrails</a:t>
            </a:r>
            <a:endParaRPr lang="en-US" sz="1450" dirty="0"/>
          </a:p>
        </p:txBody>
      </p:sp>
      <p:sp>
        <p:nvSpPr>
          <p:cNvPr id="28" name="Text 22"/>
          <p:cNvSpPr txBox="1"/>
          <p:nvPr/>
        </p:nvSpPr>
        <p:spPr>
          <a:xfrm>
            <a:off x="6507328" y="5334821"/>
            <a:ext cx="484312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Input and output checks: block unsafe requests, filter sensitive data, enforce the output format.</a:t>
            </a:r>
            <a:endParaRPr lang="en-US" sz="1200" dirty="0"/>
          </a:p>
        </p:txBody>
      </p:sp>
    </p:spTree>
  </p:cSld>
  <p:clrMapOvr>
    <a:masterClrMapping/>
  </p:clrMapOvr>
</p:sld>
</file>

<file path=ppt/slides/slide2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SLIDE 208 · PATTERN 2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RAG Architecture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Section 20 · Generative AI Architecture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246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481328"/>
            <a:ext cx="11057839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DDD9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Adding your own documents to the basic pattern.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66928" y="2048256"/>
            <a:ext cx="3350666" cy="1316736"/>
          </a:xfrm>
          <a:prstGeom prst="roundRect">
            <a:avLst>
              <a:gd name="adj" fmla="val 5556"/>
            </a:avLst>
          </a:prstGeom>
          <a:solidFill>
            <a:srgbClr val="191640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068525" y="1874520"/>
            <a:ext cx="347472" cy="347472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068525" y="1874520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0A1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94944" y="2322576"/>
            <a:ext cx="3094634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A78BF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Question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94944" y="2779776"/>
            <a:ext cx="3094634" cy="44805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user asks something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009034" y="2587752"/>
            <a:ext cx="320040" cy="237744"/>
          </a:xfrm>
          <a:prstGeom prst="rightArrow">
            <a:avLst/>
          </a:prstGeom>
          <a:solidFill>
            <a:srgbClr val="22D3EE">
              <a:alpha val="70000"/>
            </a:srgbClr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420514" y="2048256"/>
            <a:ext cx="3350666" cy="1316736"/>
          </a:xfrm>
          <a:prstGeom prst="roundRect">
            <a:avLst>
              <a:gd name="adj" fmla="val 5556"/>
            </a:avLst>
          </a:prstGeom>
          <a:solidFill>
            <a:srgbClr val="191640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922112" y="1874520"/>
            <a:ext cx="347472" cy="34747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922112" y="1874520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0A1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4548530" y="2322576"/>
            <a:ext cx="3094634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2D3E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Embed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4548530" y="2779776"/>
            <a:ext cx="3094634" cy="44805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question becomes a vector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7862621" y="2587752"/>
            <a:ext cx="320040" cy="237744"/>
          </a:xfrm>
          <a:prstGeom prst="rightArrow">
            <a:avLst/>
          </a:prstGeom>
          <a:solidFill>
            <a:srgbClr val="22D3EE">
              <a:alpha val="70000"/>
            </a:srgbClr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274101" y="2048256"/>
            <a:ext cx="3350666" cy="1316736"/>
          </a:xfrm>
          <a:prstGeom prst="roundRect">
            <a:avLst>
              <a:gd name="adj" fmla="val 5556"/>
            </a:avLst>
          </a:prstGeom>
          <a:solidFill>
            <a:srgbClr val="191640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775698" y="1874520"/>
            <a:ext cx="347472" cy="347472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775698" y="1874520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0A1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8402117" y="2322576"/>
            <a:ext cx="3094634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BBF2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Vector DB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8402117" y="2779776"/>
            <a:ext cx="3094634" cy="44805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Closest document chunks are found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66928" y="3822192"/>
            <a:ext cx="3350666" cy="1316736"/>
          </a:xfrm>
          <a:prstGeom prst="roundRect">
            <a:avLst>
              <a:gd name="adj" fmla="val 5556"/>
            </a:avLst>
          </a:prstGeom>
          <a:solidFill>
            <a:srgbClr val="191640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068525" y="3648456"/>
            <a:ext cx="347472" cy="347472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2068525" y="3648456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0A1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4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694944" y="4096512"/>
            <a:ext cx="3094634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4D39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Build prompt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694944" y="4553712"/>
            <a:ext cx="3094634" cy="44805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Chunks plus the question go together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4009034" y="4361688"/>
            <a:ext cx="320040" cy="237744"/>
          </a:xfrm>
          <a:prstGeom prst="rightArrow">
            <a:avLst/>
          </a:prstGeom>
          <a:solidFill>
            <a:srgbClr val="22D3EE">
              <a:alpha val="70000"/>
            </a:srgbClr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420514" y="3822192"/>
            <a:ext cx="3350666" cy="1316736"/>
          </a:xfrm>
          <a:prstGeom prst="roundRect">
            <a:avLst>
              <a:gd name="adj" fmla="val 5556"/>
            </a:avLst>
          </a:prstGeom>
          <a:solidFill>
            <a:srgbClr val="191640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5922112" y="3648456"/>
            <a:ext cx="347472" cy="347472"/>
          </a:xfrm>
          <a:prstGeom prst="ellipse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5922112" y="3648456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0A1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5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4548530" y="4096512"/>
            <a:ext cx="3094634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472B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Model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4548530" y="4553712"/>
            <a:ext cx="3094634" cy="44805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Answers using the supplied text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7862621" y="4361688"/>
            <a:ext cx="320040" cy="237744"/>
          </a:xfrm>
          <a:prstGeom prst="rightArrow">
            <a:avLst/>
          </a:prstGeom>
          <a:solidFill>
            <a:srgbClr val="22D3EE">
              <a:alpha val="70000"/>
            </a:srgbClr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274101" y="3822192"/>
            <a:ext cx="3350666" cy="1316736"/>
          </a:xfrm>
          <a:prstGeom prst="roundRect">
            <a:avLst>
              <a:gd name="adj" fmla="val 5556"/>
            </a:avLst>
          </a:prstGeom>
          <a:solidFill>
            <a:srgbClr val="191640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9775698" y="3648456"/>
            <a:ext cx="347472" cy="347472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9775698" y="3648456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0A1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6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8402117" y="4096512"/>
            <a:ext cx="3094634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A78BF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Answer + source</a:t>
            </a:r>
            <a:endParaRPr lang="en-US" sz="1400" dirty="0"/>
          </a:p>
        </p:txBody>
      </p:sp>
      <p:sp>
        <p:nvSpPr>
          <p:cNvPr id="40" name="Text 38"/>
          <p:cNvSpPr txBox="1"/>
          <p:nvPr/>
        </p:nvSpPr>
        <p:spPr>
          <a:xfrm>
            <a:off x="8402117" y="4553712"/>
            <a:ext cx="3094634" cy="44805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Response returned with a reference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566928" y="5276088"/>
            <a:ext cx="11057839" cy="960120"/>
          </a:xfrm>
          <a:prstGeom prst="roundRect">
            <a:avLst>
              <a:gd name="adj" fmla="val 7619"/>
            </a:avLst>
          </a:prstGeom>
          <a:solidFill>
            <a:srgbClr val="191640">
              <a:alpha val="96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42" name="Text 40"/>
          <p:cNvSpPr txBox="1"/>
          <p:nvPr/>
        </p:nvSpPr>
        <p:spPr>
          <a:xfrm>
            <a:off x="841248" y="5385816"/>
            <a:ext cx="10509199" cy="7406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A78BF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Remember:  </a:t>
            </a:r>
            <a:r>
              <a:rPr lang="en-US" sz="13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 offline pipeline runs separately: documents are loaded, chunked, embedded and indexed whenever content changes.</a:t>
            </a:r>
            <a:endParaRPr lang="en-US" sz="1300" dirty="0"/>
          </a:p>
        </p:txBody>
      </p:sp>
    </p:spTree>
  </p:cSld>
  <p:clrMapOvr>
    <a:masterClrMapping/>
  </p:clrMapOvr>
</p:sld>
</file>

<file path=ppt/slides/slide2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SLIDE 209 · PATTERN 3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AI Agent Architecture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Section 20 · Generative AI Architecture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247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3350666" cy="1600200"/>
          </a:xfrm>
          <a:prstGeom prst="roundRect">
            <a:avLst>
              <a:gd name="adj" fmla="val 4571"/>
            </a:avLst>
          </a:prstGeom>
          <a:solidFill>
            <a:srgbClr val="191640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068525" y="1307592"/>
            <a:ext cx="347472" cy="347472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068525" y="1307592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0A1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94944" y="1755648"/>
            <a:ext cx="3094634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A78BF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Goal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94944" y="2212848"/>
            <a:ext cx="3094634" cy="731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user states the desired outcome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009034" y="2162556"/>
            <a:ext cx="320040" cy="237744"/>
          </a:xfrm>
          <a:prstGeom prst="rightArrow">
            <a:avLst/>
          </a:prstGeom>
          <a:solidFill>
            <a:srgbClr val="22D3EE">
              <a:alpha val="70000"/>
            </a:srgbClr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420514" y="1481328"/>
            <a:ext cx="3350666" cy="1600200"/>
          </a:xfrm>
          <a:prstGeom prst="roundRect">
            <a:avLst>
              <a:gd name="adj" fmla="val 4571"/>
            </a:avLst>
          </a:prstGeom>
          <a:solidFill>
            <a:srgbClr val="191640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922112" y="1307592"/>
            <a:ext cx="347472" cy="34747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922112" y="1307592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0A1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4548530" y="1755648"/>
            <a:ext cx="3094634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2D3E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Planner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4548530" y="2212848"/>
            <a:ext cx="3094634" cy="731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model decides the next step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7862621" y="2162556"/>
            <a:ext cx="320040" cy="237744"/>
          </a:xfrm>
          <a:prstGeom prst="rightArrow">
            <a:avLst/>
          </a:prstGeom>
          <a:solidFill>
            <a:srgbClr val="22D3EE">
              <a:alpha val="70000"/>
            </a:srgbClr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274101" y="1481328"/>
            <a:ext cx="3350666" cy="1600200"/>
          </a:xfrm>
          <a:prstGeom prst="roundRect">
            <a:avLst>
              <a:gd name="adj" fmla="val 4571"/>
            </a:avLst>
          </a:prstGeom>
          <a:solidFill>
            <a:srgbClr val="191640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9775698" y="1307592"/>
            <a:ext cx="347472" cy="347472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775698" y="1307592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0A1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8402117" y="1755648"/>
            <a:ext cx="3094634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BBF2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Tool layer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8402117" y="2212848"/>
            <a:ext cx="3094634" cy="731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Search, database, code, business APIs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66928" y="3538728"/>
            <a:ext cx="3350666" cy="1600200"/>
          </a:xfrm>
          <a:prstGeom prst="roundRect">
            <a:avLst>
              <a:gd name="adj" fmla="val 4571"/>
            </a:avLst>
          </a:prstGeom>
          <a:solidFill>
            <a:srgbClr val="191640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068525" y="3364992"/>
            <a:ext cx="347472" cy="347472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2068525" y="3364992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0A1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4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694944" y="3813048"/>
            <a:ext cx="3094634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4D39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Observation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694944" y="4270248"/>
            <a:ext cx="3094634" cy="731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Results are fed back into context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4009034" y="4219956"/>
            <a:ext cx="320040" cy="237744"/>
          </a:xfrm>
          <a:prstGeom prst="rightArrow">
            <a:avLst/>
          </a:prstGeom>
          <a:solidFill>
            <a:srgbClr val="22D3EE">
              <a:alpha val="70000"/>
            </a:srgbClr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420514" y="3538728"/>
            <a:ext cx="3350666" cy="1600200"/>
          </a:xfrm>
          <a:prstGeom prst="roundRect">
            <a:avLst>
              <a:gd name="adj" fmla="val 4571"/>
            </a:avLst>
          </a:prstGeom>
          <a:solidFill>
            <a:srgbClr val="191640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922112" y="3364992"/>
            <a:ext cx="347472" cy="347472"/>
          </a:xfrm>
          <a:prstGeom prst="ellipse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5922112" y="3364992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0A1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5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4548530" y="3813048"/>
            <a:ext cx="3094634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472B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Memory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4548530" y="4270248"/>
            <a:ext cx="3094634" cy="731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Useful facts are stored for later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7862621" y="4219956"/>
            <a:ext cx="320040" cy="237744"/>
          </a:xfrm>
          <a:prstGeom prst="rightArrow">
            <a:avLst/>
          </a:prstGeom>
          <a:solidFill>
            <a:srgbClr val="22D3EE">
              <a:alpha val="70000"/>
            </a:srgbClr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274101" y="3538728"/>
            <a:ext cx="3350666" cy="1600200"/>
          </a:xfrm>
          <a:prstGeom prst="roundRect">
            <a:avLst>
              <a:gd name="adj" fmla="val 4571"/>
            </a:avLst>
          </a:prstGeom>
          <a:solidFill>
            <a:srgbClr val="191640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9775698" y="3364992"/>
            <a:ext cx="347472" cy="347472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9775698" y="3364992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0A1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6</a:t>
            </a:r>
            <a:endParaRPr lang="en-US" sz="1200" dirty="0"/>
          </a:p>
        </p:txBody>
      </p:sp>
      <p:sp>
        <p:nvSpPr>
          <p:cNvPr id="38" name="Text 36"/>
          <p:cNvSpPr txBox="1"/>
          <p:nvPr/>
        </p:nvSpPr>
        <p:spPr>
          <a:xfrm>
            <a:off x="8402117" y="3813048"/>
            <a:ext cx="3094634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4D39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Result</a:t>
            </a:r>
            <a:endParaRPr lang="en-US" sz="1400" dirty="0"/>
          </a:p>
        </p:txBody>
      </p:sp>
      <p:sp>
        <p:nvSpPr>
          <p:cNvPr id="39" name="Text 37"/>
          <p:cNvSpPr txBox="1"/>
          <p:nvPr/>
        </p:nvSpPr>
        <p:spPr>
          <a:xfrm>
            <a:off x="8402117" y="4270248"/>
            <a:ext cx="3094634" cy="731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Final output, after human approval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566928" y="5276088"/>
            <a:ext cx="11057839" cy="960120"/>
          </a:xfrm>
          <a:prstGeom prst="roundRect">
            <a:avLst>
              <a:gd name="adj" fmla="val 7619"/>
            </a:avLst>
          </a:prstGeom>
          <a:solidFill>
            <a:srgbClr val="191640">
              <a:alpha val="96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41" name="Text 39"/>
          <p:cNvSpPr txBox="1"/>
          <p:nvPr/>
        </p:nvSpPr>
        <p:spPr>
          <a:xfrm>
            <a:off x="841248" y="5385816"/>
            <a:ext cx="10509199" cy="7406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A78BF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Remember:  </a:t>
            </a:r>
            <a:r>
              <a:rPr lang="en-US" sz="13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planner and tool steps loop. Hard limits on steps, time and spend keep the loop under control.</a:t>
            </a:r>
            <a:endParaRPr lang="en-US" sz="1300" dirty="0"/>
          </a:p>
        </p:txBody>
      </p:sp>
    </p:spTree>
  </p:cSld>
  <p:clrMapOvr>
    <a:masterClrMapping/>
  </p:clrMapOvr>
</p:sld>
</file>

<file path=ppt/slides/slide2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SLIDE 210 · PATTERN 4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Enterprise Gen AI Architecture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Section 20 · Generative AI Architecture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248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11057839" cy="877824"/>
          </a:xfrm>
          <a:prstGeom prst="roundRect">
            <a:avLst>
              <a:gd name="adj" fmla="val 8333"/>
            </a:avLst>
          </a:prstGeom>
          <a:solidFill>
            <a:srgbClr val="191640">
              <a:alpha val="96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6928" y="1627632"/>
            <a:ext cx="64008" cy="585216"/>
          </a:xfrm>
          <a:prstGeom prst="roundRect">
            <a:avLst>
              <a:gd name="adj" fmla="val 42857"/>
            </a:avLst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59536" y="1572768"/>
            <a:ext cx="10472623" cy="6949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DDD9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a large organisation adds on top of the basic patterns.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66928" y="2615184"/>
            <a:ext cx="3503066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22960" y="2816352"/>
            <a:ext cx="457200" cy="457200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2930652"/>
            <a:ext cx="228600" cy="22860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499616" y="2816352"/>
            <a:ext cx="229605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Identity and access</a:t>
            </a:r>
            <a:endParaRPr lang="en-US" sz="1450" dirty="0"/>
          </a:p>
        </p:txBody>
      </p:sp>
      <p:sp>
        <p:nvSpPr>
          <p:cNvPr id="13" name="Text 10"/>
          <p:cNvSpPr txBox="1"/>
          <p:nvPr/>
        </p:nvSpPr>
        <p:spPr>
          <a:xfrm>
            <a:off x="841248" y="3419856"/>
            <a:ext cx="2954426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Single sign-on, and the AI respects the same permissions as the source systems.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344314" y="2615184"/>
            <a:ext cx="3503066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600346" y="2816352"/>
            <a:ext cx="457200" cy="457200"/>
          </a:xfrm>
          <a:prstGeom prst="ellipse">
            <a:avLst/>
          </a:prstGeom>
          <a:solidFill>
            <a:srgbClr val="22D3EE">
              <a:alpha val="16000"/>
            </a:srgbClr>
          </a:solidFill>
          <a:ln w="12700">
            <a:solidFill>
              <a:srgbClr val="22D3EE">
                <a:alpha val="45000"/>
              </a:srgbClr>
            </a:solidFill>
            <a:prstDash val="solid"/>
          </a:ln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4646" y="2930652"/>
            <a:ext cx="228600" cy="22860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5277002" y="2816352"/>
            <a:ext cx="229605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Model gateway</a:t>
            </a:r>
            <a:endParaRPr lang="en-US" sz="1450" dirty="0"/>
          </a:p>
        </p:txBody>
      </p:sp>
      <p:sp>
        <p:nvSpPr>
          <p:cNvPr id="18" name="Text 14"/>
          <p:cNvSpPr txBox="1"/>
          <p:nvPr/>
        </p:nvSpPr>
        <p:spPr>
          <a:xfrm>
            <a:off x="4618634" y="3419856"/>
            <a:ext cx="2954426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One internal endpoint that routes to different models, with failover and cost control.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8121701" y="2615184"/>
            <a:ext cx="3503066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8377733" y="2816352"/>
            <a:ext cx="457200" cy="457200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2033" y="2930652"/>
            <a:ext cx="228600" cy="22860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9054389" y="2816352"/>
            <a:ext cx="229605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Data platform</a:t>
            </a:r>
            <a:endParaRPr lang="en-US" sz="1450" dirty="0"/>
          </a:p>
        </p:txBody>
      </p:sp>
      <p:sp>
        <p:nvSpPr>
          <p:cNvPr id="23" name="Text 18"/>
          <p:cNvSpPr txBox="1"/>
          <p:nvPr/>
        </p:nvSpPr>
        <p:spPr>
          <a:xfrm>
            <a:off x="8396021" y="3419856"/>
            <a:ext cx="2954426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Approved document sources, embedding pipelines and vector storage.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566928" y="4530149"/>
            <a:ext cx="3503066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822960" y="4731317"/>
            <a:ext cx="457200" cy="457200"/>
          </a:xfrm>
          <a:prstGeom prst="ellipse">
            <a:avLst/>
          </a:prstGeom>
          <a:solidFill>
            <a:srgbClr val="34D399">
              <a:alpha val="16000"/>
            </a:srgbClr>
          </a:solidFill>
          <a:ln w="12700">
            <a:solidFill>
              <a:srgbClr val="34D399">
                <a:alpha val="45000"/>
              </a:srgbClr>
            </a:solidFill>
            <a:prstDash val="solid"/>
          </a:ln>
        </p:spPr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7260" y="4845617"/>
            <a:ext cx="228600" cy="228600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1499616" y="4731317"/>
            <a:ext cx="229605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Guardrail layer</a:t>
            </a:r>
            <a:endParaRPr lang="en-US" sz="1450" dirty="0"/>
          </a:p>
        </p:txBody>
      </p:sp>
      <p:sp>
        <p:nvSpPr>
          <p:cNvPr id="28" name="Text 22"/>
          <p:cNvSpPr txBox="1"/>
          <p:nvPr/>
        </p:nvSpPr>
        <p:spPr>
          <a:xfrm>
            <a:off x="841248" y="5334821"/>
            <a:ext cx="2954426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Policy checks on input and output, plus sensitive-data filtering.</a:t>
            </a:r>
            <a:endParaRPr lang="en-US" sz="1200" dirty="0"/>
          </a:p>
        </p:txBody>
      </p:sp>
      <p:sp>
        <p:nvSpPr>
          <p:cNvPr id="29" name="Shape 23"/>
          <p:cNvSpPr/>
          <p:nvPr/>
        </p:nvSpPr>
        <p:spPr>
          <a:xfrm>
            <a:off x="4344314" y="4530149"/>
            <a:ext cx="3503066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4600346" y="4731317"/>
            <a:ext cx="457200" cy="457200"/>
          </a:xfrm>
          <a:prstGeom prst="ellipse">
            <a:avLst/>
          </a:prstGeom>
          <a:solidFill>
            <a:srgbClr val="F472B6">
              <a:alpha val="16000"/>
            </a:srgbClr>
          </a:solidFill>
          <a:ln w="12700">
            <a:solidFill>
              <a:srgbClr val="F472B6">
                <a:alpha val="45000"/>
              </a:srgbClr>
            </a:solidFill>
            <a:prstDash val="solid"/>
          </a:ln>
        </p:spPr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14646" y="4845617"/>
            <a:ext cx="228600" cy="228600"/>
          </a:xfrm>
          <a:prstGeom prst="rect">
            <a:avLst/>
          </a:prstGeom>
        </p:spPr>
      </p:pic>
      <p:sp>
        <p:nvSpPr>
          <p:cNvPr id="32" name="Text 25"/>
          <p:cNvSpPr txBox="1"/>
          <p:nvPr/>
        </p:nvSpPr>
        <p:spPr>
          <a:xfrm>
            <a:off x="5277002" y="4731317"/>
            <a:ext cx="229605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Evaluation</a:t>
            </a:r>
            <a:endParaRPr lang="en-US" sz="1450" dirty="0"/>
          </a:p>
        </p:txBody>
      </p:sp>
      <p:sp>
        <p:nvSpPr>
          <p:cNvPr id="33" name="Text 26"/>
          <p:cNvSpPr txBox="1"/>
          <p:nvPr/>
        </p:nvSpPr>
        <p:spPr>
          <a:xfrm>
            <a:off x="4618634" y="5334821"/>
            <a:ext cx="2954426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Automated test suites that run whenever a prompt or model changes.</a:t>
            </a:r>
            <a:endParaRPr lang="en-US" sz="1200" dirty="0"/>
          </a:p>
        </p:txBody>
      </p:sp>
      <p:sp>
        <p:nvSpPr>
          <p:cNvPr id="34" name="Shape 27"/>
          <p:cNvSpPr/>
          <p:nvPr/>
        </p:nvSpPr>
        <p:spPr>
          <a:xfrm>
            <a:off x="8121701" y="4530149"/>
            <a:ext cx="3503066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35" name="Shape 28"/>
          <p:cNvSpPr/>
          <p:nvPr/>
        </p:nvSpPr>
        <p:spPr>
          <a:xfrm>
            <a:off x="8377733" y="4731317"/>
            <a:ext cx="457200" cy="457200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36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92033" y="4845617"/>
            <a:ext cx="228600" cy="228600"/>
          </a:xfrm>
          <a:prstGeom prst="rect">
            <a:avLst/>
          </a:prstGeom>
        </p:spPr>
      </p:pic>
      <p:sp>
        <p:nvSpPr>
          <p:cNvPr id="37" name="Text 29"/>
          <p:cNvSpPr txBox="1"/>
          <p:nvPr/>
        </p:nvSpPr>
        <p:spPr>
          <a:xfrm>
            <a:off x="9054389" y="4731317"/>
            <a:ext cx="229605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Observability</a:t>
            </a:r>
            <a:endParaRPr lang="en-US" sz="1450" dirty="0"/>
          </a:p>
        </p:txBody>
      </p:sp>
      <p:sp>
        <p:nvSpPr>
          <p:cNvPr id="38" name="Text 30"/>
          <p:cNvSpPr txBox="1"/>
          <p:nvPr/>
        </p:nvSpPr>
        <p:spPr>
          <a:xfrm>
            <a:off x="8396021" y="5334821"/>
            <a:ext cx="2954426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Logging, tracing, quality metrics and token cost dashboards.</a:t>
            </a:r>
            <a:endParaRPr lang="en-US" sz="1200" dirty="0"/>
          </a:p>
        </p:txBody>
      </p:sp>
    </p:spTree>
  </p:cSld>
  <p:clrMapOvr>
    <a:masterClrMapping/>
  </p:clrMapOvr>
</p:sld>
</file>

<file path=ppt/slides/slide2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SLIDE 211 · DATA FLOW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AI Application Data Flow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Section 20 · Generative AI Architecture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249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3350666" cy="1600200"/>
          </a:xfrm>
          <a:prstGeom prst="roundRect">
            <a:avLst>
              <a:gd name="adj" fmla="val 4571"/>
            </a:avLst>
          </a:prstGeom>
          <a:solidFill>
            <a:srgbClr val="191640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068525" y="1307592"/>
            <a:ext cx="347472" cy="347472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068525" y="1307592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0A1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94944" y="1755648"/>
            <a:ext cx="3094634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A78BF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Input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94944" y="2212848"/>
            <a:ext cx="3094634" cy="731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User request enters the application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009034" y="2162556"/>
            <a:ext cx="320040" cy="237744"/>
          </a:xfrm>
          <a:prstGeom prst="rightArrow">
            <a:avLst/>
          </a:prstGeom>
          <a:solidFill>
            <a:srgbClr val="22D3EE">
              <a:alpha val="70000"/>
            </a:srgbClr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420514" y="1481328"/>
            <a:ext cx="3350666" cy="1600200"/>
          </a:xfrm>
          <a:prstGeom prst="roundRect">
            <a:avLst>
              <a:gd name="adj" fmla="val 4571"/>
            </a:avLst>
          </a:prstGeom>
          <a:solidFill>
            <a:srgbClr val="191640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922112" y="1307592"/>
            <a:ext cx="347472" cy="34747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922112" y="1307592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0A1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4548530" y="1755648"/>
            <a:ext cx="3094634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2D3E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Validate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4548530" y="2212848"/>
            <a:ext cx="3094634" cy="731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Check permissions and filter sensitive data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7862621" y="2162556"/>
            <a:ext cx="320040" cy="237744"/>
          </a:xfrm>
          <a:prstGeom prst="rightArrow">
            <a:avLst/>
          </a:prstGeom>
          <a:solidFill>
            <a:srgbClr val="22D3EE">
              <a:alpha val="70000"/>
            </a:srgbClr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274101" y="1481328"/>
            <a:ext cx="3350666" cy="1600200"/>
          </a:xfrm>
          <a:prstGeom prst="roundRect">
            <a:avLst>
              <a:gd name="adj" fmla="val 4571"/>
            </a:avLst>
          </a:prstGeom>
          <a:solidFill>
            <a:srgbClr val="191640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9775698" y="1307592"/>
            <a:ext cx="347472" cy="347472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775698" y="1307592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0A1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8402117" y="1755648"/>
            <a:ext cx="3094634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BBF2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Enrich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8402117" y="2212848"/>
            <a:ext cx="3094634" cy="731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Add context from documents and databases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66928" y="3538728"/>
            <a:ext cx="3350666" cy="1600200"/>
          </a:xfrm>
          <a:prstGeom prst="roundRect">
            <a:avLst>
              <a:gd name="adj" fmla="val 4571"/>
            </a:avLst>
          </a:prstGeom>
          <a:solidFill>
            <a:srgbClr val="191640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068525" y="3364992"/>
            <a:ext cx="347472" cy="347472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2068525" y="3364992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0A1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4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694944" y="3813048"/>
            <a:ext cx="3094634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4D39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Generate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694944" y="4270248"/>
            <a:ext cx="3094634" cy="731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model produces a response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4009034" y="4219956"/>
            <a:ext cx="320040" cy="237744"/>
          </a:xfrm>
          <a:prstGeom prst="rightArrow">
            <a:avLst/>
          </a:prstGeom>
          <a:solidFill>
            <a:srgbClr val="22D3EE">
              <a:alpha val="70000"/>
            </a:srgbClr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420514" y="3538728"/>
            <a:ext cx="3350666" cy="1600200"/>
          </a:xfrm>
          <a:prstGeom prst="roundRect">
            <a:avLst>
              <a:gd name="adj" fmla="val 4571"/>
            </a:avLst>
          </a:prstGeom>
          <a:solidFill>
            <a:srgbClr val="191640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922112" y="3364992"/>
            <a:ext cx="347472" cy="347472"/>
          </a:xfrm>
          <a:prstGeom prst="ellipse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5922112" y="3364992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0A1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5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4548530" y="3813048"/>
            <a:ext cx="3094634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472B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Check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4548530" y="4270248"/>
            <a:ext cx="3094634" cy="731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Output is filtered and formatted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7862621" y="4219956"/>
            <a:ext cx="320040" cy="237744"/>
          </a:xfrm>
          <a:prstGeom prst="rightArrow">
            <a:avLst/>
          </a:prstGeom>
          <a:solidFill>
            <a:srgbClr val="22D3EE">
              <a:alpha val="70000"/>
            </a:srgbClr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274101" y="3538728"/>
            <a:ext cx="3350666" cy="1600200"/>
          </a:xfrm>
          <a:prstGeom prst="roundRect">
            <a:avLst>
              <a:gd name="adj" fmla="val 4571"/>
            </a:avLst>
          </a:prstGeom>
          <a:solidFill>
            <a:srgbClr val="191640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9775698" y="3364992"/>
            <a:ext cx="347472" cy="347472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9775698" y="3364992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0A1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6</a:t>
            </a:r>
            <a:endParaRPr lang="en-US" sz="1200" dirty="0"/>
          </a:p>
        </p:txBody>
      </p:sp>
      <p:sp>
        <p:nvSpPr>
          <p:cNvPr id="38" name="Text 36"/>
          <p:cNvSpPr txBox="1"/>
          <p:nvPr/>
        </p:nvSpPr>
        <p:spPr>
          <a:xfrm>
            <a:off x="8402117" y="3813048"/>
            <a:ext cx="3094634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A78BF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Deliver &amp; log</a:t>
            </a:r>
            <a:endParaRPr lang="en-US" sz="1400" dirty="0"/>
          </a:p>
        </p:txBody>
      </p:sp>
      <p:sp>
        <p:nvSpPr>
          <p:cNvPr id="39" name="Text 37"/>
          <p:cNvSpPr txBox="1"/>
          <p:nvPr/>
        </p:nvSpPr>
        <p:spPr>
          <a:xfrm>
            <a:off x="8402117" y="4270248"/>
            <a:ext cx="3094634" cy="731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User sees the answer; the event is recorded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566928" y="5276088"/>
            <a:ext cx="11057839" cy="960120"/>
          </a:xfrm>
          <a:prstGeom prst="roundRect">
            <a:avLst>
              <a:gd name="adj" fmla="val 7619"/>
            </a:avLst>
          </a:prstGeom>
          <a:solidFill>
            <a:srgbClr val="191640">
              <a:alpha val="96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41" name="Text 39"/>
          <p:cNvSpPr txBox="1"/>
          <p:nvPr/>
        </p:nvSpPr>
        <p:spPr>
          <a:xfrm>
            <a:off x="841248" y="5385816"/>
            <a:ext cx="10509199" cy="7406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A78BF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Remember:  </a:t>
            </a:r>
            <a:r>
              <a:rPr lang="en-US" sz="13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two checking steps are what separate a demo from a production system.</a:t>
            </a:r>
            <a:endParaRPr lang="en-US" sz="1300" dirty="0"/>
          </a:p>
        </p:txBody>
      </p:sp>
    </p:spTree>
  </p:cSld>
  <p:clrMapOvr>
    <a:masterClrMapping/>
  </p:clrMapOvr>
</p:sld>
</file>

<file path=ppt/slides/slide2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SLIDE 212 · PROTECTION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Security and Privacy Layers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Section 20 · Generative AI Architecture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250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2558720" cy="2240280"/>
          </a:xfrm>
          <a:prstGeom prst="roundRect">
            <a:avLst>
              <a:gd name="adj" fmla="val 3265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1737360"/>
            <a:ext cx="566928" cy="566928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4692" y="1879092"/>
            <a:ext cx="283464" cy="283464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609344" y="1737360"/>
            <a:ext cx="1241984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Authentication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841248" y="2505456"/>
            <a:ext cx="2010080" cy="10332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Know who is asking before anything else happens.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3399968" y="1481328"/>
            <a:ext cx="2558720" cy="2240280"/>
          </a:xfrm>
          <a:prstGeom prst="roundRect">
            <a:avLst>
              <a:gd name="adj" fmla="val 3265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656000" y="1737360"/>
            <a:ext cx="566928" cy="566928"/>
          </a:xfrm>
          <a:prstGeom prst="ellipse">
            <a:avLst/>
          </a:prstGeom>
          <a:solidFill>
            <a:srgbClr val="22D3EE">
              <a:alpha val="16000"/>
            </a:srgbClr>
          </a:solidFill>
          <a:ln w="12700">
            <a:solidFill>
              <a:srgbClr val="22D3EE">
                <a:alpha val="45000"/>
              </a:srgbClr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7732" y="1879092"/>
            <a:ext cx="283464" cy="283464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4442384" y="1737360"/>
            <a:ext cx="1241984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Authorization</a:t>
            </a:r>
            <a:endParaRPr lang="en-US" sz="1600" dirty="0"/>
          </a:p>
        </p:txBody>
      </p:sp>
      <p:sp>
        <p:nvSpPr>
          <p:cNvPr id="15" name="Text 11"/>
          <p:cNvSpPr txBox="1"/>
          <p:nvPr/>
        </p:nvSpPr>
        <p:spPr>
          <a:xfrm>
            <a:off x="3674288" y="2505456"/>
            <a:ext cx="2010080" cy="10332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AI may only reach data this specific user is allowed to see.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233008" y="1481328"/>
            <a:ext cx="2558720" cy="2240280"/>
          </a:xfrm>
          <a:prstGeom prst="roundRect">
            <a:avLst>
              <a:gd name="adj" fmla="val 3265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89040" y="1737360"/>
            <a:ext cx="566928" cy="566928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0772" y="1879092"/>
            <a:ext cx="283464" cy="283464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7275424" y="1737360"/>
            <a:ext cx="1241984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Input filtering</a:t>
            </a:r>
            <a:endParaRPr lang="en-US" sz="1600" dirty="0"/>
          </a:p>
        </p:txBody>
      </p:sp>
      <p:sp>
        <p:nvSpPr>
          <p:cNvPr id="20" name="Text 15"/>
          <p:cNvSpPr txBox="1"/>
          <p:nvPr/>
        </p:nvSpPr>
        <p:spPr>
          <a:xfrm>
            <a:off x="6507328" y="2505456"/>
            <a:ext cx="2010080" cy="10332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Detect prompt injection attempts and strip sensitive fields before sending.</a:t>
            </a:r>
            <a:endParaRPr lang="en-US" sz="1300" dirty="0"/>
          </a:p>
        </p:txBody>
      </p:sp>
      <p:sp>
        <p:nvSpPr>
          <p:cNvPr id="21" name="Shape 16"/>
          <p:cNvSpPr/>
          <p:nvPr/>
        </p:nvSpPr>
        <p:spPr>
          <a:xfrm>
            <a:off x="9066047" y="1481328"/>
            <a:ext cx="2558720" cy="2240280"/>
          </a:xfrm>
          <a:prstGeom prst="roundRect">
            <a:avLst>
              <a:gd name="adj" fmla="val 3265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9322079" y="1737360"/>
            <a:ext cx="566928" cy="566928"/>
          </a:xfrm>
          <a:prstGeom prst="ellipse">
            <a:avLst/>
          </a:prstGeom>
          <a:solidFill>
            <a:srgbClr val="34D399">
              <a:alpha val="16000"/>
            </a:srgbClr>
          </a:solidFill>
          <a:ln w="12700">
            <a:solidFill>
              <a:srgbClr val="34D399">
                <a:alpha val="45000"/>
              </a:srgbClr>
            </a:solidFill>
            <a:prstDash val="solid"/>
          </a:ln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63811" y="1879092"/>
            <a:ext cx="283464" cy="283464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10108463" y="1737360"/>
            <a:ext cx="1241984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Encryption</a:t>
            </a:r>
            <a:endParaRPr lang="en-US" sz="1600" dirty="0"/>
          </a:p>
        </p:txBody>
      </p:sp>
      <p:sp>
        <p:nvSpPr>
          <p:cNvPr id="25" name="Text 19"/>
          <p:cNvSpPr txBox="1"/>
          <p:nvPr/>
        </p:nvSpPr>
        <p:spPr>
          <a:xfrm>
            <a:off x="9340367" y="2505456"/>
            <a:ext cx="2010080" cy="10332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HTTPS in transit, encryption at rest, and API keys stored in a secret manager.</a:t>
            </a:r>
            <a:endParaRPr lang="en-US" sz="1300" dirty="0"/>
          </a:p>
        </p:txBody>
      </p:sp>
      <p:sp>
        <p:nvSpPr>
          <p:cNvPr id="26" name="Shape 20"/>
          <p:cNvSpPr/>
          <p:nvPr/>
        </p:nvSpPr>
        <p:spPr>
          <a:xfrm>
            <a:off x="566928" y="3995928"/>
            <a:ext cx="2558720" cy="2240280"/>
          </a:xfrm>
          <a:prstGeom prst="roundRect">
            <a:avLst>
              <a:gd name="adj" fmla="val 3265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822960" y="4251960"/>
            <a:ext cx="566928" cy="566928"/>
          </a:xfrm>
          <a:prstGeom prst="ellipse">
            <a:avLst/>
          </a:prstGeom>
          <a:solidFill>
            <a:srgbClr val="F472B6">
              <a:alpha val="16000"/>
            </a:srgbClr>
          </a:solidFill>
          <a:ln w="12700">
            <a:solidFill>
              <a:srgbClr val="F472B6">
                <a:alpha val="45000"/>
              </a:srgbClr>
            </a:solidFill>
            <a:prstDash val="solid"/>
          </a:ln>
        </p:spPr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4692" y="4393692"/>
            <a:ext cx="283464" cy="283464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1609344" y="4251960"/>
            <a:ext cx="1241984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Output filtering</a:t>
            </a:r>
            <a:endParaRPr lang="en-US" sz="1600" dirty="0"/>
          </a:p>
        </p:txBody>
      </p:sp>
      <p:sp>
        <p:nvSpPr>
          <p:cNvPr id="30" name="Text 23"/>
          <p:cNvSpPr txBox="1"/>
          <p:nvPr/>
        </p:nvSpPr>
        <p:spPr>
          <a:xfrm>
            <a:off x="841248" y="5020056"/>
            <a:ext cx="2010080" cy="10332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Block unsafe content and prevent leakage of data the user should not receive.</a:t>
            </a:r>
            <a:endParaRPr lang="en-US" sz="1300" dirty="0"/>
          </a:p>
        </p:txBody>
      </p:sp>
      <p:sp>
        <p:nvSpPr>
          <p:cNvPr id="31" name="Shape 24"/>
          <p:cNvSpPr/>
          <p:nvPr/>
        </p:nvSpPr>
        <p:spPr>
          <a:xfrm>
            <a:off x="3399968" y="3995928"/>
            <a:ext cx="2558720" cy="2240280"/>
          </a:xfrm>
          <a:prstGeom prst="roundRect">
            <a:avLst>
              <a:gd name="adj" fmla="val 3265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3656000" y="4251960"/>
            <a:ext cx="566928" cy="566928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33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97732" y="4393692"/>
            <a:ext cx="283464" cy="283464"/>
          </a:xfrm>
          <a:prstGeom prst="rect">
            <a:avLst/>
          </a:prstGeom>
        </p:spPr>
      </p:pic>
      <p:sp>
        <p:nvSpPr>
          <p:cNvPr id="34" name="Text 26"/>
          <p:cNvSpPr txBox="1"/>
          <p:nvPr/>
        </p:nvSpPr>
        <p:spPr>
          <a:xfrm>
            <a:off x="4442384" y="4251960"/>
            <a:ext cx="1241984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Audit logging</a:t>
            </a:r>
            <a:endParaRPr lang="en-US" sz="1600" dirty="0"/>
          </a:p>
        </p:txBody>
      </p:sp>
      <p:sp>
        <p:nvSpPr>
          <p:cNvPr id="35" name="Text 27"/>
          <p:cNvSpPr txBox="1"/>
          <p:nvPr/>
        </p:nvSpPr>
        <p:spPr>
          <a:xfrm>
            <a:off x="3674288" y="5020056"/>
            <a:ext cx="2010080" cy="10332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Record who asked what and what the system did, for review and investigation.</a:t>
            </a:r>
            <a:endParaRPr lang="en-US" sz="1300" dirty="0"/>
          </a:p>
        </p:txBody>
      </p:sp>
      <p:sp>
        <p:nvSpPr>
          <p:cNvPr id="36" name="Shape 28"/>
          <p:cNvSpPr/>
          <p:nvPr/>
        </p:nvSpPr>
        <p:spPr>
          <a:xfrm>
            <a:off x="6233008" y="3995928"/>
            <a:ext cx="2558720" cy="2240280"/>
          </a:xfrm>
          <a:prstGeom prst="roundRect">
            <a:avLst>
              <a:gd name="adj" fmla="val 3265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37" name="Shape 29"/>
          <p:cNvSpPr/>
          <p:nvPr/>
        </p:nvSpPr>
        <p:spPr>
          <a:xfrm>
            <a:off x="6489040" y="4251960"/>
            <a:ext cx="566928" cy="566928"/>
          </a:xfrm>
          <a:prstGeom prst="ellipse">
            <a:avLst/>
          </a:prstGeom>
          <a:solidFill>
            <a:srgbClr val="22D3EE">
              <a:alpha val="16000"/>
            </a:srgbClr>
          </a:solidFill>
          <a:ln w="12700">
            <a:solidFill>
              <a:srgbClr val="22D3EE">
                <a:alpha val="45000"/>
              </a:srgbClr>
            </a:solidFill>
            <a:prstDash val="solid"/>
          </a:ln>
        </p:spPr>
      </p:sp>
      <p:pic>
        <p:nvPicPr>
          <p:cNvPr id="38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30772" y="4393692"/>
            <a:ext cx="283464" cy="283464"/>
          </a:xfrm>
          <a:prstGeom prst="rect">
            <a:avLst/>
          </a:prstGeom>
        </p:spPr>
      </p:pic>
      <p:sp>
        <p:nvSpPr>
          <p:cNvPr id="39" name="Text 30"/>
          <p:cNvSpPr txBox="1"/>
          <p:nvPr/>
        </p:nvSpPr>
        <p:spPr>
          <a:xfrm>
            <a:off x="7275424" y="4251960"/>
            <a:ext cx="1241984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Retention limits</a:t>
            </a:r>
            <a:endParaRPr lang="en-US" sz="1600" dirty="0"/>
          </a:p>
        </p:txBody>
      </p:sp>
      <p:sp>
        <p:nvSpPr>
          <p:cNvPr id="40" name="Text 31"/>
          <p:cNvSpPr txBox="1"/>
          <p:nvPr/>
        </p:nvSpPr>
        <p:spPr>
          <a:xfrm>
            <a:off x="6507328" y="5020056"/>
            <a:ext cx="2010080" cy="10332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Keep prompts and outputs only as long as policy allows, then delete.</a:t>
            </a:r>
            <a:endParaRPr lang="en-US" sz="1300" dirty="0"/>
          </a:p>
        </p:txBody>
      </p:sp>
      <p:sp>
        <p:nvSpPr>
          <p:cNvPr id="41" name="Shape 32"/>
          <p:cNvSpPr/>
          <p:nvPr/>
        </p:nvSpPr>
        <p:spPr>
          <a:xfrm>
            <a:off x="9066047" y="3995928"/>
            <a:ext cx="2558720" cy="2240280"/>
          </a:xfrm>
          <a:prstGeom prst="roundRect">
            <a:avLst>
              <a:gd name="adj" fmla="val 3265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42" name="Shape 33"/>
          <p:cNvSpPr/>
          <p:nvPr/>
        </p:nvSpPr>
        <p:spPr>
          <a:xfrm>
            <a:off x="9322079" y="4251960"/>
            <a:ext cx="566928" cy="566928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43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63811" y="4393692"/>
            <a:ext cx="283464" cy="283464"/>
          </a:xfrm>
          <a:prstGeom prst="rect">
            <a:avLst/>
          </a:prstGeom>
        </p:spPr>
      </p:pic>
      <p:sp>
        <p:nvSpPr>
          <p:cNvPr id="44" name="Text 34"/>
          <p:cNvSpPr txBox="1"/>
          <p:nvPr/>
        </p:nvSpPr>
        <p:spPr>
          <a:xfrm>
            <a:off x="10108463" y="4251960"/>
            <a:ext cx="1241984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Human review gate</a:t>
            </a:r>
            <a:endParaRPr lang="en-US" sz="1600" dirty="0"/>
          </a:p>
        </p:txBody>
      </p:sp>
      <p:sp>
        <p:nvSpPr>
          <p:cNvPr id="45" name="Text 35"/>
          <p:cNvSpPr txBox="1"/>
          <p:nvPr/>
        </p:nvSpPr>
        <p:spPr>
          <a:xfrm>
            <a:off x="9340367" y="5020056"/>
            <a:ext cx="2010080" cy="10332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For sensitive actions, require approval before anything reaches the real world.</a:t>
            </a:r>
            <a:endParaRPr lang="en-US" sz="1300" dirty="0"/>
          </a:p>
        </p:txBody>
      </p:sp>
    </p:spTree>
  </p:cSld>
  <p:clrMapOvr>
    <a:masterClrMapping/>
  </p:clrMapOvr>
</p:sld>
</file>

<file path=ppt/slides/slide2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BBF2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QUIZ 20 · SLIDES 206–212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Quiz 20 — Gen AI Architecture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Section 20 · Generative AI Architecture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251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11057839" cy="848563"/>
          </a:xfrm>
          <a:prstGeom prst="roundRect">
            <a:avLst>
              <a:gd name="adj" fmla="val 8621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68096" y="1627632"/>
            <a:ext cx="310896" cy="310896"/>
          </a:xfrm>
          <a:prstGeom prst="ellipse">
            <a:avLst/>
          </a:prstGeom>
          <a:solidFill>
            <a:srgbClr val="FBBF24">
              <a:alpha val="22000"/>
            </a:srgbClr>
          </a:solidFill>
          <a:ln w="12700">
            <a:solidFill>
              <a:srgbClr val="FBBF24">
                <a:alpha val="5000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68096" y="1627632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BBF2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Q1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188720" y="1600200"/>
            <a:ext cx="8726119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In a basic LLM application, API keys should live: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10207447" y="1618488"/>
            <a:ext cx="1371600" cy="347472"/>
          </a:xfrm>
          <a:prstGeom prst="roundRect">
            <a:avLst>
              <a:gd name="adj" fmla="val 15789"/>
            </a:avLst>
          </a:prstGeom>
          <a:solidFill>
            <a:srgbClr val="A78BFA">
              <a:alpha val="20000"/>
            </a:srgbClr>
          </a:solidFill>
          <a:ln w="12700">
            <a:solidFill>
              <a:srgbClr val="A78BFA">
                <a:alpha val="60000"/>
              </a:srgbClr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207447" y="1618488"/>
            <a:ext cx="13716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Answer: D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1115568" y="2011680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A. </a:t>
            </a:r>
            <a:r>
              <a:rPr lang="en-US" sz="11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 the browser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3674288" y="2011680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B. </a:t>
            </a:r>
            <a:r>
              <a:rPr lang="en-US" sz="11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 the prompt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6233008" y="2011680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C. </a:t>
            </a:r>
            <a:r>
              <a:rPr lang="en-US" sz="11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 a public repo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8791727" y="2011680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D. </a:t>
            </a: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 the back end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66928" y="2457907"/>
            <a:ext cx="11057839" cy="848563"/>
          </a:xfrm>
          <a:prstGeom prst="roundRect">
            <a:avLst>
              <a:gd name="adj" fmla="val 8621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68096" y="2604211"/>
            <a:ext cx="310896" cy="310896"/>
          </a:xfrm>
          <a:prstGeom prst="ellipse">
            <a:avLst/>
          </a:prstGeom>
          <a:solidFill>
            <a:srgbClr val="FBBF24">
              <a:alpha val="22000"/>
            </a:srgbClr>
          </a:solidFill>
          <a:ln w="12700">
            <a:solidFill>
              <a:srgbClr val="FBBF24">
                <a:alpha val="50000"/>
              </a:srgbClr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68096" y="2604211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BBF2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Q2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1188720" y="2576779"/>
            <a:ext cx="8726119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In RAG architecture, the vector database is used to: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10207447" y="2595067"/>
            <a:ext cx="1371600" cy="347472"/>
          </a:xfrm>
          <a:prstGeom prst="roundRect">
            <a:avLst>
              <a:gd name="adj" fmla="val 15789"/>
            </a:avLst>
          </a:prstGeom>
          <a:solidFill>
            <a:srgbClr val="A78BFA">
              <a:alpha val="20000"/>
            </a:srgbClr>
          </a:solidFill>
          <a:ln w="12700">
            <a:solidFill>
              <a:srgbClr val="A78BFA">
                <a:alpha val="60000"/>
              </a:srgbClr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0207447" y="2595067"/>
            <a:ext cx="13716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Answer: A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1115568" y="2988259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A. </a:t>
            </a: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Find relevant chunks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3674288" y="2988259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B. </a:t>
            </a:r>
            <a:r>
              <a:rPr lang="en-US" sz="11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Train the model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6233008" y="2988259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C. </a:t>
            </a:r>
            <a:r>
              <a:rPr lang="en-US" sz="11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Render the page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8791727" y="2988259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D. </a:t>
            </a:r>
            <a:r>
              <a:rPr lang="en-US" sz="11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Store passwords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66928" y="3434486"/>
            <a:ext cx="11057839" cy="848563"/>
          </a:xfrm>
          <a:prstGeom prst="roundRect">
            <a:avLst>
              <a:gd name="adj" fmla="val 8621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768096" y="3580790"/>
            <a:ext cx="310896" cy="310896"/>
          </a:xfrm>
          <a:prstGeom prst="ellipse">
            <a:avLst/>
          </a:prstGeom>
          <a:solidFill>
            <a:srgbClr val="FBBF24">
              <a:alpha val="22000"/>
            </a:srgbClr>
          </a:solidFill>
          <a:ln w="12700">
            <a:solidFill>
              <a:srgbClr val="FBBF24">
                <a:alpha val="50000"/>
              </a:srgbClr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68096" y="3580790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BBF2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Q3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1188720" y="3553358"/>
            <a:ext cx="8726119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The agent loop includes planning, tools and: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10207447" y="3571646"/>
            <a:ext cx="1371600" cy="347472"/>
          </a:xfrm>
          <a:prstGeom prst="roundRect">
            <a:avLst>
              <a:gd name="adj" fmla="val 15789"/>
            </a:avLst>
          </a:prstGeom>
          <a:solidFill>
            <a:srgbClr val="A78BFA">
              <a:alpha val="20000"/>
            </a:srgbClr>
          </a:solidFill>
          <a:ln w="12700">
            <a:solidFill>
              <a:srgbClr val="A78BFA">
                <a:alpha val="60000"/>
              </a:srgbClr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10207447" y="3571646"/>
            <a:ext cx="13716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Answer: B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1115568" y="3964838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A. </a:t>
            </a:r>
            <a:r>
              <a:rPr lang="en-US" sz="11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Printing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3674288" y="3964838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B. </a:t>
            </a: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Observation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6233008" y="3964838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C. </a:t>
            </a:r>
            <a:r>
              <a:rPr lang="en-US" sz="11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Compiling</a:t>
            </a:r>
            <a:endParaRPr lang="en-US" sz="1050" dirty="0"/>
          </a:p>
        </p:txBody>
      </p:sp>
      <p:sp>
        <p:nvSpPr>
          <p:cNvPr id="35" name="Text 33"/>
          <p:cNvSpPr txBox="1"/>
          <p:nvPr/>
        </p:nvSpPr>
        <p:spPr>
          <a:xfrm>
            <a:off x="8791727" y="3964838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D. </a:t>
            </a:r>
            <a:r>
              <a:rPr lang="en-US" sz="11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Formatting disks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66928" y="4411066"/>
            <a:ext cx="11057839" cy="848563"/>
          </a:xfrm>
          <a:prstGeom prst="roundRect">
            <a:avLst>
              <a:gd name="adj" fmla="val 8621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768096" y="4557370"/>
            <a:ext cx="310896" cy="310896"/>
          </a:xfrm>
          <a:prstGeom prst="ellipse">
            <a:avLst/>
          </a:prstGeom>
          <a:solidFill>
            <a:srgbClr val="FBBF24">
              <a:alpha val="22000"/>
            </a:srgbClr>
          </a:solidFill>
          <a:ln w="12700">
            <a:solidFill>
              <a:srgbClr val="FBBF24">
                <a:alpha val="50000"/>
              </a:srgbClr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768096" y="4557370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BBF2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Q4</a:t>
            </a:r>
            <a:endParaRPr lang="en-US" sz="900" dirty="0"/>
          </a:p>
        </p:txBody>
      </p:sp>
      <p:sp>
        <p:nvSpPr>
          <p:cNvPr id="39" name="Text 37"/>
          <p:cNvSpPr txBox="1"/>
          <p:nvPr/>
        </p:nvSpPr>
        <p:spPr>
          <a:xfrm>
            <a:off x="1188720" y="4529938"/>
            <a:ext cx="8726119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An AI assistant must respect:</a:t>
            </a:r>
            <a:endParaRPr lang="en-US" sz="1250" dirty="0"/>
          </a:p>
        </p:txBody>
      </p:sp>
      <p:sp>
        <p:nvSpPr>
          <p:cNvPr id="40" name="Shape 38"/>
          <p:cNvSpPr/>
          <p:nvPr/>
        </p:nvSpPr>
        <p:spPr>
          <a:xfrm>
            <a:off x="10207447" y="4548226"/>
            <a:ext cx="1371600" cy="347472"/>
          </a:xfrm>
          <a:prstGeom prst="roundRect">
            <a:avLst>
              <a:gd name="adj" fmla="val 15789"/>
            </a:avLst>
          </a:prstGeom>
          <a:solidFill>
            <a:srgbClr val="A78BFA">
              <a:alpha val="20000"/>
            </a:srgbClr>
          </a:solidFill>
          <a:ln w="12700">
            <a:solidFill>
              <a:srgbClr val="A78BFA">
                <a:alpha val="60000"/>
              </a:srgbClr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10207447" y="4548226"/>
            <a:ext cx="13716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Answer: C</a:t>
            </a:r>
            <a:endParaRPr lang="en-US" sz="1050" dirty="0"/>
          </a:p>
        </p:txBody>
      </p:sp>
      <p:sp>
        <p:nvSpPr>
          <p:cNvPr id="42" name="Text 40"/>
          <p:cNvSpPr txBox="1"/>
          <p:nvPr/>
        </p:nvSpPr>
        <p:spPr>
          <a:xfrm>
            <a:off x="1115568" y="4941418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A. </a:t>
            </a:r>
            <a:r>
              <a:rPr lang="en-US" sz="11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 permissions at all</a:t>
            </a:r>
            <a:endParaRPr lang="en-US" sz="1050" dirty="0"/>
          </a:p>
        </p:txBody>
      </p:sp>
      <p:sp>
        <p:nvSpPr>
          <p:cNvPr id="43" name="Text 41"/>
          <p:cNvSpPr txBox="1"/>
          <p:nvPr/>
        </p:nvSpPr>
        <p:spPr>
          <a:xfrm>
            <a:off x="3674288" y="4941418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B. </a:t>
            </a:r>
            <a:r>
              <a:rPr lang="en-US" sz="11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Only admin rights</a:t>
            </a:r>
            <a:endParaRPr lang="en-US" sz="1050" dirty="0"/>
          </a:p>
        </p:txBody>
      </p:sp>
      <p:sp>
        <p:nvSpPr>
          <p:cNvPr id="44" name="Text 42"/>
          <p:cNvSpPr txBox="1"/>
          <p:nvPr/>
        </p:nvSpPr>
        <p:spPr>
          <a:xfrm>
            <a:off x="6233008" y="4941418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C. </a:t>
            </a: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same permissions as source systems</a:t>
            </a:r>
            <a:endParaRPr lang="en-US" sz="1050" dirty="0"/>
          </a:p>
        </p:txBody>
      </p:sp>
      <p:sp>
        <p:nvSpPr>
          <p:cNvPr id="45" name="Text 43"/>
          <p:cNvSpPr txBox="1"/>
          <p:nvPr/>
        </p:nvSpPr>
        <p:spPr>
          <a:xfrm>
            <a:off x="8791727" y="4941418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D. </a:t>
            </a:r>
            <a:r>
              <a:rPr lang="en-US" sz="11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Only the user name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566928" y="5387645"/>
            <a:ext cx="11057839" cy="848563"/>
          </a:xfrm>
          <a:prstGeom prst="roundRect">
            <a:avLst>
              <a:gd name="adj" fmla="val 8621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768096" y="5533949"/>
            <a:ext cx="310896" cy="310896"/>
          </a:xfrm>
          <a:prstGeom prst="ellipse">
            <a:avLst/>
          </a:prstGeom>
          <a:solidFill>
            <a:srgbClr val="FBBF24">
              <a:alpha val="22000"/>
            </a:srgbClr>
          </a:solidFill>
          <a:ln w="12700">
            <a:solidFill>
              <a:srgbClr val="FBBF24">
                <a:alpha val="50000"/>
              </a:srgbClr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768096" y="5533949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BBF2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Q5</a:t>
            </a:r>
            <a:endParaRPr lang="en-US" sz="900" dirty="0"/>
          </a:p>
        </p:txBody>
      </p:sp>
      <p:sp>
        <p:nvSpPr>
          <p:cNvPr id="49" name="Text 47"/>
          <p:cNvSpPr txBox="1"/>
          <p:nvPr/>
        </p:nvSpPr>
        <p:spPr>
          <a:xfrm>
            <a:off x="1188720" y="5506517"/>
            <a:ext cx="8726119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Audit logging in an AI system helps to:</a:t>
            </a:r>
            <a:endParaRPr lang="en-US" sz="1250" dirty="0"/>
          </a:p>
        </p:txBody>
      </p:sp>
      <p:sp>
        <p:nvSpPr>
          <p:cNvPr id="50" name="Shape 48"/>
          <p:cNvSpPr/>
          <p:nvPr/>
        </p:nvSpPr>
        <p:spPr>
          <a:xfrm>
            <a:off x="10207447" y="5524805"/>
            <a:ext cx="1371600" cy="347472"/>
          </a:xfrm>
          <a:prstGeom prst="roundRect">
            <a:avLst>
              <a:gd name="adj" fmla="val 15789"/>
            </a:avLst>
          </a:prstGeom>
          <a:solidFill>
            <a:srgbClr val="A78BFA">
              <a:alpha val="20000"/>
            </a:srgbClr>
          </a:solidFill>
          <a:ln w="12700">
            <a:solidFill>
              <a:srgbClr val="A78BFA">
                <a:alpha val="60000"/>
              </a:srgbClr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10207447" y="5524805"/>
            <a:ext cx="13716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Answer: D</a:t>
            </a:r>
            <a:endParaRPr lang="en-US" sz="1050" dirty="0"/>
          </a:p>
        </p:txBody>
      </p:sp>
      <p:sp>
        <p:nvSpPr>
          <p:cNvPr id="52" name="Text 50"/>
          <p:cNvSpPr txBox="1"/>
          <p:nvPr/>
        </p:nvSpPr>
        <p:spPr>
          <a:xfrm>
            <a:off x="1115568" y="5917997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A. </a:t>
            </a:r>
            <a:r>
              <a:rPr lang="en-US" sz="11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Speed up the model</a:t>
            </a:r>
            <a:endParaRPr lang="en-US" sz="1050" dirty="0"/>
          </a:p>
        </p:txBody>
      </p:sp>
      <p:sp>
        <p:nvSpPr>
          <p:cNvPr id="53" name="Text 51"/>
          <p:cNvSpPr txBox="1"/>
          <p:nvPr/>
        </p:nvSpPr>
        <p:spPr>
          <a:xfrm>
            <a:off x="3674288" y="5917997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B. </a:t>
            </a:r>
            <a:r>
              <a:rPr lang="en-US" sz="11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Reduce token cost</a:t>
            </a:r>
            <a:endParaRPr lang="en-US" sz="1050" dirty="0"/>
          </a:p>
        </p:txBody>
      </p:sp>
      <p:sp>
        <p:nvSpPr>
          <p:cNvPr id="54" name="Text 52"/>
          <p:cNvSpPr txBox="1"/>
          <p:nvPr/>
        </p:nvSpPr>
        <p:spPr>
          <a:xfrm>
            <a:off x="6233008" y="5917997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C. </a:t>
            </a:r>
            <a:r>
              <a:rPr lang="en-US" sz="11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Improve graphics</a:t>
            </a:r>
            <a:endParaRPr lang="en-US" sz="1050" dirty="0"/>
          </a:p>
        </p:txBody>
      </p:sp>
      <p:sp>
        <p:nvSpPr>
          <p:cNvPr id="55" name="Text 53"/>
          <p:cNvSpPr txBox="1"/>
          <p:nvPr/>
        </p:nvSpPr>
        <p:spPr>
          <a:xfrm>
            <a:off x="8791727" y="5917997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D. </a:t>
            </a: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Review what was asked and done</a:t>
            </a:r>
            <a:endParaRPr lang="en-US" sz="1050" dirty="0"/>
          </a:p>
        </p:txBody>
      </p:sp>
    </p:spTree>
  </p:cSld>
  <p:clrMapOvr>
    <a:masterClrMapping/>
  </p:clrMapOvr>
</p:sld>
</file>

<file path=ppt/slides/slide2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49808" y="1874520"/>
            <a:ext cx="58521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SECTION 21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49808" y="2240280"/>
            <a:ext cx="6035040" cy="1554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Generative AI Careers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749808" y="3886200"/>
            <a:ext cx="5852160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real roles, the skills each one needs, and a realistic learning plan.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49808" y="4846320"/>
            <a:ext cx="1463040" cy="64008"/>
          </a:xfrm>
          <a:prstGeom prst="roundRect">
            <a:avLst>
              <a:gd name="adj" fmla="val 42857"/>
            </a:avLst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32320" y="1143000"/>
            <a:ext cx="4492447" cy="797357"/>
          </a:xfrm>
          <a:prstGeom prst="roundRect">
            <a:avLst>
              <a:gd name="adj" fmla="val 9174"/>
            </a:avLst>
          </a:prstGeom>
          <a:solidFill>
            <a:srgbClr val="191640"/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51776" y="1313078"/>
            <a:ext cx="457200" cy="457200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66076" y="1427378"/>
            <a:ext cx="228600" cy="22860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8010144" y="1143000"/>
            <a:ext cx="3303727" cy="79735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Career Overview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7132320" y="2086661"/>
            <a:ext cx="4492447" cy="797357"/>
          </a:xfrm>
          <a:prstGeom prst="roundRect">
            <a:avLst>
              <a:gd name="adj" fmla="val 9174"/>
            </a:avLst>
          </a:prstGeom>
          <a:solidFill>
            <a:srgbClr val="191640"/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7351776" y="2256739"/>
            <a:ext cx="457200" cy="457200"/>
          </a:xfrm>
          <a:prstGeom prst="ellipse">
            <a:avLst/>
          </a:prstGeom>
          <a:solidFill>
            <a:srgbClr val="22D3EE">
              <a:alpha val="16000"/>
            </a:srgbClr>
          </a:solidFill>
          <a:ln w="12700">
            <a:solidFill>
              <a:srgbClr val="22D3EE">
                <a:alpha val="45000"/>
              </a:srgbClr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6076" y="2371039"/>
            <a:ext cx="228600" cy="22860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8010144" y="2086661"/>
            <a:ext cx="3303727" cy="79735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Prompt &amp; AI Engineer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7132320" y="3030322"/>
            <a:ext cx="4492447" cy="797357"/>
          </a:xfrm>
          <a:prstGeom prst="roundRect">
            <a:avLst>
              <a:gd name="adj" fmla="val 9174"/>
            </a:avLst>
          </a:prstGeom>
          <a:solidFill>
            <a:srgbClr val="191640"/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351776" y="3200400"/>
            <a:ext cx="457200" cy="457200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6076" y="3314700"/>
            <a:ext cx="228600" cy="22860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010144" y="3030322"/>
            <a:ext cx="3303727" cy="79735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Data &amp; ML Roles</a:t>
            </a:r>
            <a:endParaRPr lang="en-US" sz="1350" dirty="0"/>
          </a:p>
        </p:txBody>
      </p:sp>
      <p:sp>
        <p:nvSpPr>
          <p:cNvPr id="18" name="Shape 13"/>
          <p:cNvSpPr/>
          <p:nvPr/>
        </p:nvSpPr>
        <p:spPr>
          <a:xfrm>
            <a:off x="7132320" y="3973982"/>
            <a:ext cx="4492447" cy="797357"/>
          </a:xfrm>
          <a:prstGeom prst="roundRect">
            <a:avLst>
              <a:gd name="adj" fmla="val 9174"/>
            </a:avLst>
          </a:prstGeom>
          <a:solidFill>
            <a:srgbClr val="191640"/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7351776" y="4144061"/>
            <a:ext cx="457200" cy="457200"/>
          </a:xfrm>
          <a:prstGeom prst="ellipse">
            <a:avLst/>
          </a:prstGeom>
          <a:solidFill>
            <a:srgbClr val="34D399">
              <a:alpha val="16000"/>
            </a:srgbClr>
          </a:solidFill>
          <a:ln w="12700">
            <a:solidFill>
              <a:srgbClr val="34D399">
                <a:alpha val="45000"/>
              </a:srgbClr>
            </a:solidFill>
            <a:prstDash val="solid"/>
          </a:ln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66076" y="4258361"/>
            <a:ext cx="228600" cy="22860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8010144" y="3973982"/>
            <a:ext cx="3303727" cy="79735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Product &amp; Content</a:t>
            </a:r>
            <a:endParaRPr lang="en-US" sz="1350" dirty="0"/>
          </a:p>
        </p:txBody>
      </p:sp>
      <p:sp>
        <p:nvSpPr>
          <p:cNvPr id="22" name="Shape 16"/>
          <p:cNvSpPr/>
          <p:nvPr/>
        </p:nvSpPr>
        <p:spPr>
          <a:xfrm>
            <a:off x="7132320" y="4917643"/>
            <a:ext cx="4492447" cy="797357"/>
          </a:xfrm>
          <a:prstGeom prst="roundRect">
            <a:avLst>
              <a:gd name="adj" fmla="val 9174"/>
            </a:avLst>
          </a:prstGeom>
          <a:solidFill>
            <a:srgbClr val="191640"/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7351776" y="5087722"/>
            <a:ext cx="457200" cy="457200"/>
          </a:xfrm>
          <a:prstGeom prst="ellipse">
            <a:avLst/>
          </a:prstGeom>
          <a:solidFill>
            <a:srgbClr val="F472B6">
              <a:alpha val="16000"/>
            </a:srgbClr>
          </a:solidFill>
          <a:ln w="12700">
            <a:solidFill>
              <a:srgbClr val="F472B6">
                <a:alpha val="45000"/>
              </a:srgbClr>
            </a:solidFill>
            <a:prstDash val="solid"/>
          </a:ln>
        </p:spPr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66076" y="5202022"/>
            <a:ext cx="228600" cy="228600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8010144" y="4917643"/>
            <a:ext cx="3303727" cy="79735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Learning Roadmap</a:t>
            </a:r>
            <a:endParaRPr lang="en-US" sz="1350" dirty="0"/>
          </a:p>
        </p:txBody>
      </p:sp>
      <p:sp>
        <p:nvSpPr>
          <p:cNvPr id="26" name="Text 19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Section 21 · Generative AI Careers</a:t>
            </a:r>
            <a:endParaRPr lang="en-US" sz="950" dirty="0"/>
          </a:p>
        </p:txBody>
      </p:sp>
      <p:sp>
        <p:nvSpPr>
          <p:cNvPr id="27" name="Text 20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252</a:t>
            </a:r>
            <a:endParaRPr lang="en-US" sz="950" dirty="0"/>
          </a:p>
        </p:txBody>
      </p:sp>
    </p:spTree>
  </p:cSld>
  <p:clrMapOvr>
    <a:masterClrMapping/>
  </p:clrMapOvr>
</p:sld>
</file>

<file path=ppt/slides/slide2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SLIDE 213 · OVERVIEW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Generative AI Career Opportunities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Section 21 · Generative AI Careers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253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11057839" cy="877824"/>
          </a:xfrm>
          <a:prstGeom prst="roundRect">
            <a:avLst>
              <a:gd name="adj" fmla="val 8333"/>
            </a:avLst>
          </a:prstGeom>
          <a:solidFill>
            <a:srgbClr val="191640">
              <a:alpha val="96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6928" y="1627632"/>
            <a:ext cx="64008" cy="585216"/>
          </a:xfrm>
          <a:prstGeom prst="roundRect">
            <a:avLst>
              <a:gd name="adj" fmla="val 42857"/>
            </a:avLst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59536" y="1572768"/>
            <a:ext cx="10472623" cy="6949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DDD9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Gen AI created new roles and changed many existing ones. There is a path for technical and non-technical people.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66928" y="2615184"/>
            <a:ext cx="3503066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22960" y="2816352"/>
            <a:ext cx="457200" cy="457200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2930652"/>
            <a:ext cx="228600" cy="22860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499616" y="2816352"/>
            <a:ext cx="229605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Building roles</a:t>
            </a:r>
            <a:endParaRPr lang="en-US" sz="1450" dirty="0"/>
          </a:p>
        </p:txBody>
      </p:sp>
      <p:sp>
        <p:nvSpPr>
          <p:cNvPr id="13" name="Text 10"/>
          <p:cNvSpPr txBox="1"/>
          <p:nvPr/>
        </p:nvSpPr>
        <p:spPr>
          <a:xfrm>
            <a:off x="841248" y="3419856"/>
            <a:ext cx="2954426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 engineer, application developer, ML engineer — you build the systems.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344314" y="2615184"/>
            <a:ext cx="3503066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600346" y="2816352"/>
            <a:ext cx="457200" cy="457200"/>
          </a:xfrm>
          <a:prstGeom prst="ellipse">
            <a:avLst/>
          </a:prstGeom>
          <a:solidFill>
            <a:srgbClr val="22D3EE">
              <a:alpha val="16000"/>
            </a:srgbClr>
          </a:solidFill>
          <a:ln w="12700">
            <a:solidFill>
              <a:srgbClr val="22D3EE">
                <a:alpha val="45000"/>
              </a:srgbClr>
            </a:solidFill>
            <a:prstDash val="solid"/>
          </a:ln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4646" y="2930652"/>
            <a:ext cx="228600" cy="22860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5277002" y="2816352"/>
            <a:ext cx="229605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Data roles</a:t>
            </a:r>
            <a:endParaRPr lang="en-US" sz="1450" dirty="0"/>
          </a:p>
        </p:txBody>
      </p:sp>
      <p:sp>
        <p:nvSpPr>
          <p:cNvPr id="18" name="Text 14"/>
          <p:cNvSpPr txBox="1"/>
          <p:nvPr/>
        </p:nvSpPr>
        <p:spPr>
          <a:xfrm>
            <a:off x="4618634" y="3419856"/>
            <a:ext cx="2954426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scientist, data engineer — you prepare and analyse what models learn from.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8121701" y="2615184"/>
            <a:ext cx="3503066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8377733" y="2816352"/>
            <a:ext cx="457200" cy="457200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2033" y="2930652"/>
            <a:ext cx="228600" cy="22860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9054389" y="2816352"/>
            <a:ext cx="229605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Product roles</a:t>
            </a:r>
            <a:endParaRPr lang="en-US" sz="1450" dirty="0"/>
          </a:p>
        </p:txBody>
      </p:sp>
      <p:sp>
        <p:nvSpPr>
          <p:cNvPr id="23" name="Text 18"/>
          <p:cNvSpPr txBox="1"/>
          <p:nvPr/>
        </p:nvSpPr>
        <p:spPr>
          <a:xfrm>
            <a:off x="8396021" y="3419856"/>
            <a:ext cx="2954426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 product manager, automation specialist — you decide what gets built and why.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566928" y="4530149"/>
            <a:ext cx="3503066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822960" y="4731317"/>
            <a:ext cx="457200" cy="457200"/>
          </a:xfrm>
          <a:prstGeom prst="ellipse">
            <a:avLst/>
          </a:prstGeom>
          <a:solidFill>
            <a:srgbClr val="34D399">
              <a:alpha val="16000"/>
            </a:srgbClr>
          </a:solidFill>
          <a:ln w="12700">
            <a:solidFill>
              <a:srgbClr val="34D399">
                <a:alpha val="45000"/>
              </a:srgbClr>
            </a:solidFill>
            <a:prstDash val="solid"/>
          </a:ln>
        </p:spPr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7260" y="4845617"/>
            <a:ext cx="228600" cy="228600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1499616" y="4731317"/>
            <a:ext cx="229605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Content roles</a:t>
            </a:r>
            <a:endParaRPr lang="en-US" sz="1450" dirty="0"/>
          </a:p>
        </p:txBody>
      </p:sp>
      <p:sp>
        <p:nvSpPr>
          <p:cNvPr id="28" name="Text 22"/>
          <p:cNvSpPr txBox="1"/>
          <p:nvPr/>
        </p:nvSpPr>
        <p:spPr>
          <a:xfrm>
            <a:off x="841248" y="5334821"/>
            <a:ext cx="2954426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 content specialist, prompt designer — you shape how AI is used in communication.</a:t>
            </a:r>
            <a:endParaRPr lang="en-US" sz="1200" dirty="0"/>
          </a:p>
        </p:txBody>
      </p:sp>
      <p:sp>
        <p:nvSpPr>
          <p:cNvPr id="29" name="Shape 23"/>
          <p:cNvSpPr/>
          <p:nvPr/>
        </p:nvSpPr>
        <p:spPr>
          <a:xfrm>
            <a:off x="4344314" y="4530149"/>
            <a:ext cx="3503066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4600346" y="4731317"/>
            <a:ext cx="457200" cy="457200"/>
          </a:xfrm>
          <a:prstGeom prst="ellipse">
            <a:avLst/>
          </a:prstGeom>
          <a:solidFill>
            <a:srgbClr val="F472B6">
              <a:alpha val="16000"/>
            </a:srgbClr>
          </a:solidFill>
          <a:ln w="12700">
            <a:solidFill>
              <a:srgbClr val="F472B6">
                <a:alpha val="45000"/>
              </a:srgbClr>
            </a:solidFill>
            <a:prstDash val="solid"/>
          </a:ln>
        </p:spPr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14646" y="4845617"/>
            <a:ext cx="228600" cy="228600"/>
          </a:xfrm>
          <a:prstGeom prst="rect">
            <a:avLst/>
          </a:prstGeom>
        </p:spPr>
      </p:pic>
      <p:sp>
        <p:nvSpPr>
          <p:cNvPr id="32" name="Text 25"/>
          <p:cNvSpPr txBox="1"/>
          <p:nvPr/>
        </p:nvSpPr>
        <p:spPr>
          <a:xfrm>
            <a:off x="5277002" y="4731317"/>
            <a:ext cx="229605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Research roles</a:t>
            </a:r>
            <a:endParaRPr lang="en-US" sz="1450" dirty="0"/>
          </a:p>
        </p:txBody>
      </p:sp>
      <p:sp>
        <p:nvSpPr>
          <p:cNvPr id="33" name="Text 26"/>
          <p:cNvSpPr txBox="1"/>
          <p:nvPr/>
        </p:nvSpPr>
        <p:spPr>
          <a:xfrm>
            <a:off x="4618634" y="5334821"/>
            <a:ext cx="2954426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 researcher — you work on the models and methods themselves.</a:t>
            </a:r>
            <a:endParaRPr lang="en-US" sz="1200" dirty="0"/>
          </a:p>
        </p:txBody>
      </p:sp>
      <p:sp>
        <p:nvSpPr>
          <p:cNvPr id="34" name="Shape 27"/>
          <p:cNvSpPr/>
          <p:nvPr/>
        </p:nvSpPr>
        <p:spPr>
          <a:xfrm>
            <a:off x="8121701" y="4530149"/>
            <a:ext cx="3503066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35" name="Shape 28"/>
          <p:cNvSpPr/>
          <p:nvPr/>
        </p:nvSpPr>
        <p:spPr>
          <a:xfrm>
            <a:off x="8377733" y="4731317"/>
            <a:ext cx="457200" cy="457200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36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92033" y="4845617"/>
            <a:ext cx="228600" cy="228600"/>
          </a:xfrm>
          <a:prstGeom prst="rect">
            <a:avLst/>
          </a:prstGeom>
        </p:spPr>
      </p:pic>
      <p:sp>
        <p:nvSpPr>
          <p:cNvPr id="37" name="Text 29"/>
          <p:cNvSpPr txBox="1"/>
          <p:nvPr/>
        </p:nvSpPr>
        <p:spPr>
          <a:xfrm>
            <a:off x="9054389" y="4731317"/>
            <a:ext cx="229605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The honest truth</a:t>
            </a:r>
            <a:endParaRPr lang="en-US" sz="1450" dirty="0"/>
          </a:p>
        </p:txBody>
      </p:sp>
      <p:sp>
        <p:nvSpPr>
          <p:cNvPr id="38" name="Text 30"/>
          <p:cNvSpPr txBox="1"/>
          <p:nvPr/>
        </p:nvSpPr>
        <p:spPr>
          <a:xfrm>
            <a:off x="8396021" y="5334821"/>
            <a:ext cx="2954426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Most roles are existing jobs plus AI skills. You do not have to become a researcher to benefit.</a:t>
            </a:r>
            <a:endParaRPr lang="en-US" sz="1200" dirty="0"/>
          </a:p>
        </p:txBody>
      </p:sp>
    </p:spTree>
  </p:cSld>
  <p:clrMapOvr>
    <a:masterClrMapping/>
  </p:clrMapOvr>
</p:sld>
</file>

<file path=ppt/slides/slide2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SLIDE 214 · ROLE 1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Prompt Engineer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Section 21 · Generative AI Careers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254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11057839" cy="877824"/>
          </a:xfrm>
          <a:prstGeom prst="roundRect">
            <a:avLst>
              <a:gd name="adj" fmla="val 8333"/>
            </a:avLst>
          </a:prstGeom>
          <a:solidFill>
            <a:srgbClr val="191640">
              <a:alpha val="96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6928" y="1627632"/>
            <a:ext cx="64008" cy="585216"/>
          </a:xfrm>
          <a:prstGeom prst="roundRect">
            <a:avLst>
              <a:gd name="adj" fmla="val 42857"/>
            </a:avLst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59536" y="1572768"/>
            <a:ext cx="10472623" cy="6949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DDD9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Designs, tests and maintains the prompts that make AI systems behave reliably.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66928" y="2615184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22960" y="2816352"/>
            <a:ext cx="457200" cy="457200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2930652"/>
            <a:ext cx="228600" cy="22860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499616" y="2816352"/>
            <a:ext cx="41847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Daily work</a:t>
            </a:r>
            <a:endParaRPr lang="en-US" sz="1450" dirty="0"/>
          </a:p>
        </p:txBody>
      </p:sp>
      <p:sp>
        <p:nvSpPr>
          <p:cNvPr id="13" name="Text 10"/>
          <p:cNvSpPr txBox="1"/>
          <p:nvPr/>
        </p:nvSpPr>
        <p:spPr>
          <a:xfrm>
            <a:off x="841248" y="3419856"/>
            <a:ext cx="484312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Write prompt templates, test them against many cases, and fix the ones that fail.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33008" y="2615184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489040" y="2816352"/>
            <a:ext cx="457200" cy="457200"/>
          </a:xfrm>
          <a:prstGeom prst="ellipse">
            <a:avLst/>
          </a:prstGeom>
          <a:solidFill>
            <a:srgbClr val="22D3EE">
              <a:alpha val="16000"/>
            </a:srgbClr>
          </a:solidFill>
          <a:ln w="12700">
            <a:solidFill>
              <a:srgbClr val="22D3EE">
                <a:alpha val="45000"/>
              </a:srgbClr>
            </a:solidFill>
            <a:prstDash val="solid"/>
          </a:ln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3340" y="2930652"/>
            <a:ext cx="228600" cy="22860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7165696" y="2816352"/>
            <a:ext cx="41847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Skills needed</a:t>
            </a:r>
            <a:endParaRPr lang="en-US" sz="1450" dirty="0"/>
          </a:p>
        </p:txBody>
      </p:sp>
      <p:sp>
        <p:nvSpPr>
          <p:cNvPr id="18" name="Text 14"/>
          <p:cNvSpPr txBox="1"/>
          <p:nvPr/>
        </p:nvSpPr>
        <p:spPr>
          <a:xfrm>
            <a:off x="6507328" y="3419856"/>
            <a:ext cx="484312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200"/>
              </a:spcAft>
              <a:buSzPct val="100000"/>
              <a:buChar char="▪"/>
            </a:pPr>
            <a:r>
              <a:rPr lang="en-US" sz="9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Very clear written English</a:t>
            </a:r>
            <a:endParaRPr lang="en-US" sz="900" dirty="0"/>
          </a:p>
          <a:p>
            <a:pPr marL="342900" indent="-342900">
              <a:lnSpc>
                <a:spcPct val="110000"/>
              </a:lnSpc>
              <a:spcAft>
                <a:spcPts val="200"/>
              </a:spcAft>
              <a:buSzPct val="100000"/>
              <a:buChar char="▪"/>
            </a:pPr>
            <a:r>
              <a:rPr lang="en-US" sz="9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Systematic testing habits</a:t>
            </a:r>
            <a:endParaRPr lang="en-US" sz="900" dirty="0"/>
          </a:p>
          <a:p>
            <a:pPr marL="342900" indent="-342900">
              <a:lnSpc>
                <a:spcPct val="110000"/>
              </a:lnSpc>
              <a:spcAft>
                <a:spcPts val="200"/>
              </a:spcAft>
              <a:buSzPct val="100000"/>
              <a:buChar char="▪"/>
            </a:pPr>
            <a:r>
              <a:rPr lang="en-US" sz="9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Domain knowledge</a:t>
            </a:r>
            <a:endParaRPr lang="en-US" sz="900" dirty="0"/>
          </a:p>
          <a:p>
            <a:pPr marL="342900" indent="-342900">
              <a:lnSpc>
                <a:spcPct val="110000"/>
              </a:lnSpc>
              <a:spcAft>
                <a:spcPts val="200"/>
              </a:spcAft>
              <a:buSzPct val="100000"/>
              <a:buChar char="▪"/>
            </a:pPr>
            <a:r>
              <a:rPr lang="en-US" sz="9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Basic scripting helps</a:t>
            </a:r>
            <a:endParaRPr lang="en-US" sz="900" dirty="0"/>
          </a:p>
        </p:txBody>
      </p:sp>
      <p:sp>
        <p:nvSpPr>
          <p:cNvPr id="19" name="Shape 15"/>
          <p:cNvSpPr/>
          <p:nvPr/>
        </p:nvSpPr>
        <p:spPr>
          <a:xfrm>
            <a:off x="566928" y="4530149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822960" y="4731317"/>
            <a:ext cx="457200" cy="457200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260" y="4845617"/>
            <a:ext cx="228600" cy="22860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499616" y="4731317"/>
            <a:ext cx="41847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Honest note</a:t>
            </a:r>
            <a:endParaRPr lang="en-US" sz="1450" dirty="0"/>
          </a:p>
        </p:txBody>
      </p:sp>
      <p:sp>
        <p:nvSpPr>
          <p:cNvPr id="23" name="Text 18"/>
          <p:cNvSpPr txBox="1"/>
          <p:nvPr/>
        </p:nvSpPr>
        <p:spPr>
          <a:xfrm>
            <a:off x="841248" y="5334821"/>
            <a:ext cx="484312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Pure prompt-only roles are becoming less common. The skill is increasingly part of other jobs.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6233008" y="4530149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6489040" y="4731317"/>
            <a:ext cx="457200" cy="457200"/>
          </a:xfrm>
          <a:prstGeom prst="ellipse">
            <a:avLst/>
          </a:prstGeom>
          <a:solidFill>
            <a:srgbClr val="34D399">
              <a:alpha val="16000"/>
            </a:srgbClr>
          </a:solidFill>
          <a:ln w="12700">
            <a:solidFill>
              <a:srgbClr val="34D399">
                <a:alpha val="45000"/>
              </a:srgbClr>
            </a:solidFill>
            <a:prstDash val="solid"/>
          </a:ln>
        </p:spPr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3340" y="4845617"/>
            <a:ext cx="228600" cy="228600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7165696" y="4731317"/>
            <a:ext cx="41847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Where it leads</a:t>
            </a:r>
            <a:endParaRPr lang="en-US" sz="1450" dirty="0"/>
          </a:p>
        </p:txBody>
      </p:sp>
      <p:sp>
        <p:nvSpPr>
          <p:cNvPr id="28" name="Text 22"/>
          <p:cNvSpPr txBox="1"/>
          <p:nvPr/>
        </p:nvSpPr>
        <p:spPr>
          <a:xfrm>
            <a:off x="6507328" y="5334821"/>
            <a:ext cx="484312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 engineer, AI product manager, or a specialist role inside your current domain.</a:t>
            </a:r>
            <a:endParaRPr lang="en-US" sz="1200" dirty="0"/>
          </a:p>
        </p:txBody>
      </p:sp>
    </p:spTree>
  </p:cSld>
  <p:clrMapOvr>
    <a:masterClrMapping/>
  </p:clrMapOvr>
</p:sld>
</file>

<file path=ppt/slides/slide2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SLIDE 215 · ROLE 2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AI Engineer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Section 21 · Generative AI Careers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255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11057839" cy="877824"/>
          </a:xfrm>
          <a:prstGeom prst="roundRect">
            <a:avLst>
              <a:gd name="adj" fmla="val 8333"/>
            </a:avLst>
          </a:prstGeom>
          <a:solidFill>
            <a:srgbClr val="191640">
              <a:alpha val="96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6928" y="1627632"/>
            <a:ext cx="64008" cy="585216"/>
          </a:xfrm>
          <a:prstGeom prst="roundRect">
            <a:avLst>
              <a:gd name="adj" fmla="val 42857"/>
            </a:avLst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59536" y="1572768"/>
            <a:ext cx="10472623" cy="6949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DDD9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Builds applications on top of existing models — the most in-demand entry point for developers.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66928" y="2615184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22960" y="2816352"/>
            <a:ext cx="457200" cy="457200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2930652"/>
            <a:ext cx="228600" cy="22860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499616" y="2816352"/>
            <a:ext cx="41847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Daily work</a:t>
            </a:r>
            <a:endParaRPr lang="en-US" sz="1450" dirty="0"/>
          </a:p>
        </p:txBody>
      </p:sp>
      <p:sp>
        <p:nvSpPr>
          <p:cNvPr id="13" name="Text 10"/>
          <p:cNvSpPr txBox="1"/>
          <p:nvPr/>
        </p:nvSpPr>
        <p:spPr>
          <a:xfrm>
            <a:off x="841248" y="3419856"/>
            <a:ext cx="484312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Integrate model APIs, build RAG pipelines, create agent workflows, add guardrails and evaluation.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33008" y="2615184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489040" y="2816352"/>
            <a:ext cx="457200" cy="457200"/>
          </a:xfrm>
          <a:prstGeom prst="ellipse">
            <a:avLst/>
          </a:prstGeom>
          <a:solidFill>
            <a:srgbClr val="22D3EE">
              <a:alpha val="16000"/>
            </a:srgbClr>
          </a:solidFill>
          <a:ln w="12700">
            <a:solidFill>
              <a:srgbClr val="22D3EE">
                <a:alpha val="45000"/>
              </a:srgbClr>
            </a:solidFill>
            <a:prstDash val="solid"/>
          </a:ln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3340" y="2930652"/>
            <a:ext cx="228600" cy="22860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7165696" y="2816352"/>
            <a:ext cx="41847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Skills needed</a:t>
            </a:r>
            <a:endParaRPr lang="en-US" sz="1450" dirty="0"/>
          </a:p>
        </p:txBody>
      </p:sp>
      <p:sp>
        <p:nvSpPr>
          <p:cNvPr id="18" name="Text 14"/>
          <p:cNvSpPr txBox="1"/>
          <p:nvPr/>
        </p:nvSpPr>
        <p:spPr>
          <a:xfrm>
            <a:off x="6507328" y="3419856"/>
            <a:ext cx="484312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200"/>
              </a:spcAft>
              <a:buSzPct val="100000"/>
              <a:buChar char="▪"/>
            </a:pPr>
            <a:r>
              <a:rPr lang="en-US" sz="9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Python or JavaScript</a:t>
            </a:r>
            <a:endParaRPr lang="en-US" sz="900" dirty="0"/>
          </a:p>
          <a:p>
            <a:pPr marL="342900" indent="-342900">
              <a:lnSpc>
                <a:spcPct val="110000"/>
              </a:lnSpc>
              <a:spcAft>
                <a:spcPts val="200"/>
              </a:spcAft>
              <a:buSzPct val="100000"/>
              <a:buChar char="▪"/>
            </a:pPr>
            <a:r>
              <a:rPr lang="en-US" sz="9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APIs and backend basics</a:t>
            </a:r>
            <a:endParaRPr lang="en-US" sz="900" dirty="0"/>
          </a:p>
          <a:p>
            <a:pPr marL="342900" indent="-342900">
              <a:lnSpc>
                <a:spcPct val="110000"/>
              </a:lnSpc>
              <a:spcAft>
                <a:spcPts val="200"/>
              </a:spcAft>
              <a:buSzPct val="100000"/>
              <a:buChar char="▪"/>
            </a:pPr>
            <a:r>
              <a:rPr lang="en-US" sz="9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Vector databases and RAG</a:t>
            </a:r>
            <a:endParaRPr lang="en-US" sz="900" dirty="0"/>
          </a:p>
          <a:p>
            <a:pPr marL="342900" indent="-342900">
              <a:lnSpc>
                <a:spcPct val="110000"/>
              </a:lnSpc>
              <a:spcAft>
                <a:spcPts val="200"/>
              </a:spcAft>
              <a:buSzPct val="100000"/>
              <a:buChar char="▪"/>
            </a:pPr>
            <a:r>
              <a:rPr lang="en-US" sz="9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Cloud fundamentals</a:t>
            </a:r>
            <a:endParaRPr lang="en-US" sz="900" dirty="0"/>
          </a:p>
        </p:txBody>
      </p:sp>
      <p:sp>
        <p:nvSpPr>
          <p:cNvPr id="19" name="Shape 15"/>
          <p:cNvSpPr/>
          <p:nvPr/>
        </p:nvSpPr>
        <p:spPr>
          <a:xfrm>
            <a:off x="566928" y="4530149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822960" y="4731317"/>
            <a:ext cx="457200" cy="457200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260" y="4845617"/>
            <a:ext cx="228600" cy="22860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499616" y="4731317"/>
            <a:ext cx="41847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Key point</a:t>
            </a:r>
            <a:endParaRPr lang="en-US" sz="1450" dirty="0"/>
          </a:p>
        </p:txBody>
      </p:sp>
      <p:sp>
        <p:nvSpPr>
          <p:cNvPr id="23" name="Text 18"/>
          <p:cNvSpPr txBox="1"/>
          <p:nvPr/>
        </p:nvSpPr>
        <p:spPr>
          <a:xfrm>
            <a:off x="841248" y="5334821"/>
            <a:ext cx="484312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You do not train models. You build useful products using models that already exist.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6233008" y="4530149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6489040" y="4731317"/>
            <a:ext cx="457200" cy="457200"/>
          </a:xfrm>
          <a:prstGeom prst="ellipse">
            <a:avLst/>
          </a:prstGeom>
          <a:solidFill>
            <a:srgbClr val="34D399">
              <a:alpha val="16000"/>
            </a:srgbClr>
          </a:solidFill>
          <a:ln w="12700">
            <a:solidFill>
              <a:srgbClr val="34D399">
                <a:alpha val="45000"/>
              </a:srgbClr>
            </a:solidFill>
            <a:prstDash val="solid"/>
          </a:ln>
        </p:spPr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3340" y="4845617"/>
            <a:ext cx="228600" cy="228600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7165696" y="4731317"/>
            <a:ext cx="41847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Where it leads</a:t>
            </a:r>
            <a:endParaRPr lang="en-US" sz="1450" dirty="0"/>
          </a:p>
        </p:txBody>
      </p:sp>
      <p:sp>
        <p:nvSpPr>
          <p:cNvPr id="28" name="Text 22"/>
          <p:cNvSpPr txBox="1"/>
          <p:nvPr/>
        </p:nvSpPr>
        <p:spPr>
          <a:xfrm>
            <a:off x="6507328" y="5334821"/>
            <a:ext cx="484312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Senior AI engineer, AI architect or technical lead.</a:t>
            </a:r>
            <a:endParaRPr lang="en-US" sz="1200" dirty="0"/>
          </a:p>
        </p:txBody>
      </p:sp>
    </p:spTree>
  </p:cSld>
  <p:clrMapOvr>
    <a:masterClrMapping/>
  </p:clrMapOvr>
</p:sld>
</file>

<file path=ppt/slides/slide2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SLIDE 216 · ROLE 3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Machine Learning Engineer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Section 21 · Generative AI Careers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256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11057839" cy="877824"/>
          </a:xfrm>
          <a:prstGeom prst="roundRect">
            <a:avLst>
              <a:gd name="adj" fmla="val 8333"/>
            </a:avLst>
          </a:prstGeom>
          <a:solidFill>
            <a:srgbClr val="191640">
              <a:alpha val="96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6928" y="1627632"/>
            <a:ext cx="64008" cy="585216"/>
          </a:xfrm>
          <a:prstGeom prst="roundRect">
            <a:avLst>
              <a:gd name="adj" fmla="val 42857"/>
            </a:avLst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59536" y="1572768"/>
            <a:ext cx="10472623" cy="6949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DDD9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Trains, fine-tunes and deploys models, and keeps them running reliably in production.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66928" y="2615184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22960" y="2816352"/>
            <a:ext cx="457200" cy="457200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2930652"/>
            <a:ext cx="228600" cy="22860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499616" y="2816352"/>
            <a:ext cx="41847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Daily work</a:t>
            </a:r>
            <a:endParaRPr lang="en-US" sz="1450" dirty="0"/>
          </a:p>
        </p:txBody>
      </p:sp>
      <p:sp>
        <p:nvSpPr>
          <p:cNvPr id="13" name="Text 10"/>
          <p:cNvSpPr txBox="1"/>
          <p:nvPr/>
        </p:nvSpPr>
        <p:spPr>
          <a:xfrm>
            <a:off x="841248" y="3419856"/>
            <a:ext cx="484312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Build training pipelines, fine-tune models, optimise inference and monitor performance over time.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33008" y="2615184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489040" y="2816352"/>
            <a:ext cx="457200" cy="457200"/>
          </a:xfrm>
          <a:prstGeom prst="ellipse">
            <a:avLst/>
          </a:prstGeom>
          <a:solidFill>
            <a:srgbClr val="22D3EE">
              <a:alpha val="16000"/>
            </a:srgbClr>
          </a:solidFill>
          <a:ln w="12700">
            <a:solidFill>
              <a:srgbClr val="22D3EE">
                <a:alpha val="45000"/>
              </a:srgbClr>
            </a:solidFill>
            <a:prstDash val="solid"/>
          </a:ln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3340" y="2930652"/>
            <a:ext cx="228600" cy="22860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7165696" y="2816352"/>
            <a:ext cx="41847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Skills needed</a:t>
            </a:r>
            <a:endParaRPr lang="en-US" sz="1450" dirty="0"/>
          </a:p>
        </p:txBody>
      </p:sp>
      <p:sp>
        <p:nvSpPr>
          <p:cNvPr id="18" name="Text 14"/>
          <p:cNvSpPr txBox="1"/>
          <p:nvPr/>
        </p:nvSpPr>
        <p:spPr>
          <a:xfrm>
            <a:off x="6507328" y="3419856"/>
            <a:ext cx="484312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200"/>
              </a:spcAft>
              <a:buSzPct val="100000"/>
              <a:buChar char="▪"/>
            </a:pPr>
            <a:r>
              <a:rPr lang="en-US" sz="9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Strong Python</a:t>
            </a:r>
            <a:endParaRPr lang="en-US" sz="900" dirty="0"/>
          </a:p>
          <a:p>
            <a:pPr marL="342900" indent="-342900">
              <a:lnSpc>
                <a:spcPct val="110000"/>
              </a:lnSpc>
              <a:spcAft>
                <a:spcPts val="200"/>
              </a:spcAft>
              <a:buSzPct val="100000"/>
              <a:buChar char="▪"/>
            </a:pPr>
            <a:r>
              <a:rPr lang="en-US" sz="9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ML frameworks</a:t>
            </a:r>
            <a:endParaRPr lang="en-US" sz="900" dirty="0"/>
          </a:p>
          <a:p>
            <a:pPr marL="342900" indent="-342900">
              <a:lnSpc>
                <a:spcPct val="110000"/>
              </a:lnSpc>
              <a:spcAft>
                <a:spcPts val="200"/>
              </a:spcAft>
              <a:buSzPct val="100000"/>
              <a:buChar char="▪"/>
            </a:pPr>
            <a:r>
              <a:rPr lang="en-US" sz="9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Mathematics and statistics</a:t>
            </a:r>
            <a:endParaRPr lang="en-US" sz="900" dirty="0"/>
          </a:p>
          <a:p>
            <a:pPr marL="342900" indent="-342900">
              <a:lnSpc>
                <a:spcPct val="110000"/>
              </a:lnSpc>
              <a:spcAft>
                <a:spcPts val="200"/>
              </a:spcAft>
              <a:buSzPct val="100000"/>
              <a:buChar char="▪"/>
            </a:pPr>
            <a:r>
              <a:rPr lang="en-US" sz="9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MLOps and deployment</a:t>
            </a:r>
            <a:endParaRPr lang="en-US" sz="900" dirty="0"/>
          </a:p>
        </p:txBody>
      </p:sp>
      <p:sp>
        <p:nvSpPr>
          <p:cNvPr id="19" name="Shape 15"/>
          <p:cNvSpPr/>
          <p:nvPr/>
        </p:nvSpPr>
        <p:spPr>
          <a:xfrm>
            <a:off x="566928" y="4530149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822960" y="4731317"/>
            <a:ext cx="457200" cy="457200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260" y="4845617"/>
            <a:ext cx="228600" cy="22860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499616" y="4731317"/>
            <a:ext cx="41847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Background</a:t>
            </a:r>
            <a:endParaRPr lang="en-US" sz="1450" dirty="0"/>
          </a:p>
        </p:txBody>
      </p:sp>
      <p:sp>
        <p:nvSpPr>
          <p:cNvPr id="23" name="Text 18"/>
          <p:cNvSpPr txBox="1"/>
          <p:nvPr/>
        </p:nvSpPr>
        <p:spPr>
          <a:xfrm>
            <a:off x="841248" y="5334821"/>
            <a:ext cx="484312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Usually a computer science, mathematics or engineering foundation, or serious self-study.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6233008" y="4530149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6489040" y="4731317"/>
            <a:ext cx="457200" cy="457200"/>
          </a:xfrm>
          <a:prstGeom prst="ellipse">
            <a:avLst/>
          </a:prstGeom>
          <a:solidFill>
            <a:srgbClr val="34D399">
              <a:alpha val="16000"/>
            </a:srgbClr>
          </a:solidFill>
          <a:ln w="12700">
            <a:solidFill>
              <a:srgbClr val="34D399">
                <a:alpha val="45000"/>
              </a:srgbClr>
            </a:solidFill>
            <a:prstDash val="solid"/>
          </a:ln>
        </p:spPr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3340" y="4845617"/>
            <a:ext cx="228600" cy="228600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7165696" y="4731317"/>
            <a:ext cx="41847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Where it leads</a:t>
            </a:r>
            <a:endParaRPr lang="en-US" sz="1450" dirty="0"/>
          </a:p>
        </p:txBody>
      </p:sp>
      <p:sp>
        <p:nvSpPr>
          <p:cNvPr id="28" name="Text 22"/>
          <p:cNvSpPr txBox="1"/>
          <p:nvPr/>
        </p:nvSpPr>
        <p:spPr>
          <a:xfrm>
            <a:off x="6507328" y="5334821"/>
            <a:ext cx="484312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Senior ML engineer, ML platform lead or research engineer.</a:t>
            </a:r>
            <a:endParaRPr lang="en-US" sz="1200" dirty="0"/>
          </a:p>
        </p:txBody>
      </p:sp>
    </p:spTree>
  </p:cSld>
  <p:clrMapOvr>
    <a:masterClrMapping/>
  </p:clrMapOvr>
</p:sld>
</file>

<file path=ppt/slides/slide2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SLIDE 217 · ROLE 4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Data Scientist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Section 21 · Generative AI Careers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257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11057839" cy="877824"/>
          </a:xfrm>
          <a:prstGeom prst="roundRect">
            <a:avLst>
              <a:gd name="adj" fmla="val 8333"/>
            </a:avLst>
          </a:prstGeom>
          <a:solidFill>
            <a:srgbClr val="191640">
              <a:alpha val="96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6928" y="1627632"/>
            <a:ext cx="64008" cy="585216"/>
          </a:xfrm>
          <a:prstGeom prst="roundRect">
            <a:avLst>
              <a:gd name="adj" fmla="val 42857"/>
            </a:avLst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59536" y="1572768"/>
            <a:ext cx="10472623" cy="6949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DDD9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Analyses data to answer business questions, now often using AI as part of the toolkit.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66928" y="2615184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22960" y="2816352"/>
            <a:ext cx="457200" cy="457200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2930652"/>
            <a:ext cx="228600" cy="22860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499616" y="2816352"/>
            <a:ext cx="41847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Daily work</a:t>
            </a:r>
            <a:endParaRPr lang="en-US" sz="1450" dirty="0"/>
          </a:p>
        </p:txBody>
      </p:sp>
      <p:sp>
        <p:nvSpPr>
          <p:cNvPr id="13" name="Text 10"/>
          <p:cNvSpPr txBox="1"/>
          <p:nvPr/>
        </p:nvSpPr>
        <p:spPr>
          <a:xfrm>
            <a:off x="841248" y="3419856"/>
            <a:ext cx="484312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Explore data, build models, run experiments and explain findings to decision makers.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33008" y="2615184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489040" y="2816352"/>
            <a:ext cx="457200" cy="457200"/>
          </a:xfrm>
          <a:prstGeom prst="ellipse">
            <a:avLst/>
          </a:prstGeom>
          <a:solidFill>
            <a:srgbClr val="22D3EE">
              <a:alpha val="16000"/>
            </a:srgbClr>
          </a:solidFill>
          <a:ln w="12700">
            <a:solidFill>
              <a:srgbClr val="22D3EE">
                <a:alpha val="45000"/>
              </a:srgbClr>
            </a:solidFill>
            <a:prstDash val="solid"/>
          </a:ln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3340" y="2930652"/>
            <a:ext cx="228600" cy="22860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7165696" y="2816352"/>
            <a:ext cx="41847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Skills needed</a:t>
            </a:r>
            <a:endParaRPr lang="en-US" sz="1450" dirty="0"/>
          </a:p>
        </p:txBody>
      </p:sp>
      <p:sp>
        <p:nvSpPr>
          <p:cNvPr id="18" name="Text 14"/>
          <p:cNvSpPr txBox="1"/>
          <p:nvPr/>
        </p:nvSpPr>
        <p:spPr>
          <a:xfrm>
            <a:off x="6507328" y="3419856"/>
            <a:ext cx="484312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200"/>
              </a:spcAft>
              <a:buSzPct val="100000"/>
              <a:buChar char="▪"/>
            </a:pPr>
            <a:r>
              <a:rPr lang="en-US" sz="9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Statistics</a:t>
            </a:r>
            <a:endParaRPr lang="en-US" sz="900" dirty="0"/>
          </a:p>
          <a:p>
            <a:pPr marL="342900" indent="-342900">
              <a:lnSpc>
                <a:spcPct val="110000"/>
              </a:lnSpc>
              <a:spcAft>
                <a:spcPts val="200"/>
              </a:spcAft>
              <a:buSzPct val="100000"/>
              <a:buChar char="▪"/>
            </a:pPr>
            <a:r>
              <a:rPr lang="en-US" sz="9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Python or R and SQL</a:t>
            </a:r>
            <a:endParaRPr lang="en-US" sz="900" dirty="0"/>
          </a:p>
          <a:p>
            <a:pPr marL="342900" indent="-342900">
              <a:lnSpc>
                <a:spcPct val="110000"/>
              </a:lnSpc>
              <a:spcAft>
                <a:spcPts val="200"/>
              </a:spcAft>
              <a:buSzPct val="100000"/>
              <a:buChar char="▪"/>
            </a:pPr>
            <a:r>
              <a:rPr lang="en-US" sz="9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visualisation</a:t>
            </a:r>
            <a:endParaRPr lang="en-US" sz="900" dirty="0"/>
          </a:p>
          <a:p>
            <a:pPr marL="342900" indent="-342900">
              <a:lnSpc>
                <a:spcPct val="110000"/>
              </a:lnSpc>
              <a:spcAft>
                <a:spcPts val="200"/>
              </a:spcAft>
              <a:buSzPct val="100000"/>
              <a:buChar char="▪"/>
            </a:pPr>
            <a:r>
              <a:rPr lang="en-US" sz="9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Clear communication</a:t>
            </a:r>
            <a:endParaRPr lang="en-US" sz="900" dirty="0"/>
          </a:p>
        </p:txBody>
      </p:sp>
      <p:sp>
        <p:nvSpPr>
          <p:cNvPr id="19" name="Shape 15"/>
          <p:cNvSpPr/>
          <p:nvPr/>
        </p:nvSpPr>
        <p:spPr>
          <a:xfrm>
            <a:off x="566928" y="4530149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822960" y="4731317"/>
            <a:ext cx="457200" cy="457200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260" y="4845617"/>
            <a:ext cx="228600" cy="22860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499616" y="4731317"/>
            <a:ext cx="41847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How Gen AI changed it</a:t>
            </a:r>
            <a:endParaRPr lang="en-US" sz="1450" dirty="0"/>
          </a:p>
        </p:txBody>
      </p:sp>
      <p:sp>
        <p:nvSpPr>
          <p:cNvPr id="23" name="Text 18"/>
          <p:cNvSpPr txBox="1"/>
          <p:nvPr/>
        </p:nvSpPr>
        <p:spPr>
          <a:xfrm>
            <a:off x="841248" y="5334821"/>
            <a:ext cx="484312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Faster exploratory code, easier analysis of text data, and AI-assisted reporting.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6233008" y="4530149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6489040" y="4731317"/>
            <a:ext cx="457200" cy="457200"/>
          </a:xfrm>
          <a:prstGeom prst="ellipse">
            <a:avLst/>
          </a:prstGeom>
          <a:solidFill>
            <a:srgbClr val="34D399">
              <a:alpha val="16000"/>
            </a:srgbClr>
          </a:solidFill>
          <a:ln w="12700">
            <a:solidFill>
              <a:srgbClr val="34D399">
                <a:alpha val="45000"/>
              </a:srgbClr>
            </a:solidFill>
            <a:prstDash val="solid"/>
          </a:ln>
        </p:spPr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3340" y="4845617"/>
            <a:ext cx="228600" cy="228600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7165696" y="4731317"/>
            <a:ext cx="41847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Where it leads</a:t>
            </a:r>
            <a:endParaRPr lang="en-US" sz="1450" dirty="0"/>
          </a:p>
        </p:txBody>
      </p:sp>
      <p:sp>
        <p:nvSpPr>
          <p:cNvPr id="28" name="Text 22"/>
          <p:cNvSpPr txBox="1"/>
          <p:nvPr/>
        </p:nvSpPr>
        <p:spPr>
          <a:xfrm>
            <a:off x="6507328" y="5334821"/>
            <a:ext cx="484312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Senior data scientist, analytics lead or ML engineer.</a:t>
            </a:r>
            <a:endParaRPr lang="en-US" sz="1200" dirty="0"/>
          </a:p>
        </p:txBody>
      </p:sp>
    </p:spTree>
  </p:cSld>
  <p:clrMapOvr>
    <a:masterClrMapping/>
  </p:clrMapOvr>
</p:sld>
</file>

<file path=ppt/slides/slide2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SLIDE 218 · ROLE 5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AI Application Developer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Section 21 · Generative AI Careers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258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11057839" cy="877824"/>
          </a:xfrm>
          <a:prstGeom prst="roundRect">
            <a:avLst>
              <a:gd name="adj" fmla="val 8333"/>
            </a:avLst>
          </a:prstGeom>
          <a:solidFill>
            <a:srgbClr val="191640">
              <a:alpha val="96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6928" y="1627632"/>
            <a:ext cx="64008" cy="585216"/>
          </a:xfrm>
          <a:prstGeom prst="roundRect">
            <a:avLst>
              <a:gd name="adj" fmla="val 42857"/>
            </a:avLst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59536" y="1572768"/>
            <a:ext cx="10472623" cy="6949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DDD9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software developer who adds AI features to normal products.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66928" y="2615184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22960" y="2816352"/>
            <a:ext cx="457200" cy="457200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2930652"/>
            <a:ext cx="228600" cy="22860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499616" y="2816352"/>
            <a:ext cx="41847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Daily work</a:t>
            </a:r>
            <a:endParaRPr lang="en-US" sz="1450" dirty="0"/>
          </a:p>
        </p:txBody>
      </p:sp>
      <p:sp>
        <p:nvSpPr>
          <p:cNvPr id="13" name="Text 10"/>
          <p:cNvSpPr txBox="1"/>
          <p:nvPr/>
        </p:nvSpPr>
        <p:spPr>
          <a:xfrm>
            <a:off x="841248" y="3419856"/>
            <a:ext cx="484312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Build the interface and logic around AI features inside web and mobile applications.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33008" y="2615184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489040" y="2816352"/>
            <a:ext cx="457200" cy="457200"/>
          </a:xfrm>
          <a:prstGeom prst="ellipse">
            <a:avLst/>
          </a:prstGeom>
          <a:solidFill>
            <a:srgbClr val="22D3EE">
              <a:alpha val="16000"/>
            </a:srgbClr>
          </a:solidFill>
          <a:ln w="12700">
            <a:solidFill>
              <a:srgbClr val="22D3EE">
                <a:alpha val="45000"/>
              </a:srgbClr>
            </a:solidFill>
            <a:prstDash val="solid"/>
          </a:ln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3340" y="2930652"/>
            <a:ext cx="228600" cy="22860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7165696" y="2816352"/>
            <a:ext cx="41847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Skills needed</a:t>
            </a:r>
            <a:endParaRPr lang="en-US" sz="1450" dirty="0"/>
          </a:p>
        </p:txBody>
      </p:sp>
      <p:sp>
        <p:nvSpPr>
          <p:cNvPr id="18" name="Text 14"/>
          <p:cNvSpPr txBox="1"/>
          <p:nvPr/>
        </p:nvSpPr>
        <p:spPr>
          <a:xfrm>
            <a:off x="6507328" y="3419856"/>
            <a:ext cx="484312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200"/>
              </a:spcAft>
              <a:buSzPct val="100000"/>
              <a:buChar char="▪"/>
            </a:pPr>
            <a:r>
              <a:rPr lang="en-US" sz="9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Normal software development</a:t>
            </a:r>
            <a:endParaRPr lang="en-US" sz="900" dirty="0"/>
          </a:p>
          <a:p>
            <a:pPr marL="342900" indent="-342900">
              <a:lnSpc>
                <a:spcPct val="110000"/>
              </a:lnSpc>
              <a:spcAft>
                <a:spcPts val="200"/>
              </a:spcAft>
              <a:buSzPct val="100000"/>
              <a:buChar char="▪"/>
            </a:pPr>
            <a:r>
              <a:rPr lang="en-US" sz="9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API integration</a:t>
            </a:r>
            <a:endParaRPr lang="en-US" sz="900" dirty="0"/>
          </a:p>
          <a:p>
            <a:pPr marL="342900" indent="-342900">
              <a:lnSpc>
                <a:spcPct val="110000"/>
              </a:lnSpc>
              <a:spcAft>
                <a:spcPts val="200"/>
              </a:spcAft>
              <a:buSzPct val="100000"/>
              <a:buChar char="▪"/>
            </a:pPr>
            <a:r>
              <a:rPr lang="en-US" sz="9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Prompt design basics</a:t>
            </a:r>
            <a:endParaRPr lang="en-US" sz="900" dirty="0"/>
          </a:p>
          <a:p>
            <a:pPr marL="342900" indent="-342900">
              <a:lnSpc>
                <a:spcPct val="110000"/>
              </a:lnSpc>
              <a:spcAft>
                <a:spcPts val="200"/>
              </a:spcAft>
              <a:buSzPct val="100000"/>
              <a:buChar char="▪"/>
            </a:pPr>
            <a:r>
              <a:rPr lang="en-US" sz="9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Good UX judgement</a:t>
            </a:r>
            <a:endParaRPr lang="en-US" sz="900" dirty="0"/>
          </a:p>
        </p:txBody>
      </p:sp>
      <p:sp>
        <p:nvSpPr>
          <p:cNvPr id="19" name="Shape 15"/>
          <p:cNvSpPr/>
          <p:nvPr/>
        </p:nvSpPr>
        <p:spPr>
          <a:xfrm>
            <a:off x="566928" y="4530149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822960" y="4731317"/>
            <a:ext cx="457200" cy="457200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260" y="4845617"/>
            <a:ext cx="228600" cy="22860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499616" y="4731317"/>
            <a:ext cx="41847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Why it is accessible</a:t>
            </a:r>
            <a:endParaRPr lang="en-US" sz="1450" dirty="0"/>
          </a:p>
        </p:txBody>
      </p:sp>
      <p:sp>
        <p:nvSpPr>
          <p:cNvPr id="23" name="Text 18"/>
          <p:cNvSpPr txBox="1"/>
          <p:nvPr/>
        </p:nvSpPr>
        <p:spPr>
          <a:xfrm>
            <a:off x="841248" y="5334821"/>
            <a:ext cx="484312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It is mostly ordinary development work. Existing developers can move into it quickly.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6233008" y="4530149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6489040" y="4731317"/>
            <a:ext cx="457200" cy="457200"/>
          </a:xfrm>
          <a:prstGeom prst="ellipse">
            <a:avLst/>
          </a:prstGeom>
          <a:solidFill>
            <a:srgbClr val="34D399">
              <a:alpha val="16000"/>
            </a:srgbClr>
          </a:solidFill>
          <a:ln w="12700">
            <a:solidFill>
              <a:srgbClr val="34D399">
                <a:alpha val="45000"/>
              </a:srgbClr>
            </a:solidFill>
            <a:prstDash val="solid"/>
          </a:ln>
        </p:spPr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3340" y="4845617"/>
            <a:ext cx="228600" cy="228600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7165696" y="4731317"/>
            <a:ext cx="41847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Where it leads</a:t>
            </a:r>
            <a:endParaRPr lang="en-US" sz="1450" dirty="0"/>
          </a:p>
        </p:txBody>
      </p:sp>
      <p:sp>
        <p:nvSpPr>
          <p:cNvPr id="28" name="Text 22"/>
          <p:cNvSpPr txBox="1"/>
          <p:nvPr/>
        </p:nvSpPr>
        <p:spPr>
          <a:xfrm>
            <a:off x="6507328" y="5334821"/>
            <a:ext cx="484312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 engineer, full-stack lead or product engineer.</a:t>
            </a:r>
            <a:endParaRPr lang="en-US" sz="1200" dirty="0"/>
          </a:p>
        </p:txBody>
      </p:sp>
    </p:spTree>
  </p:cSld>
  <p:clrMapOvr>
    <a:masterClrMapping/>
  </p:clrMapOvr>
</p:sld>
</file>

<file path=ppt/slides/slide2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SLIDE 219 · ROLE 6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AI Product Manager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Section 21 · Generative AI Careers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259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11057839" cy="877824"/>
          </a:xfrm>
          <a:prstGeom prst="roundRect">
            <a:avLst>
              <a:gd name="adj" fmla="val 8333"/>
            </a:avLst>
          </a:prstGeom>
          <a:solidFill>
            <a:srgbClr val="191640">
              <a:alpha val="96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6928" y="1627632"/>
            <a:ext cx="64008" cy="585216"/>
          </a:xfrm>
          <a:prstGeom prst="roundRect">
            <a:avLst>
              <a:gd name="adj" fmla="val 42857"/>
            </a:avLst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59536" y="1572768"/>
            <a:ext cx="10472623" cy="6949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DDD9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Decides what AI features to build, for whom, and how success will be measured.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66928" y="2615184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22960" y="2816352"/>
            <a:ext cx="457200" cy="457200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2930652"/>
            <a:ext cx="228600" cy="22860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499616" y="2816352"/>
            <a:ext cx="41847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Daily work</a:t>
            </a:r>
            <a:endParaRPr lang="en-US" sz="1450" dirty="0"/>
          </a:p>
        </p:txBody>
      </p:sp>
      <p:sp>
        <p:nvSpPr>
          <p:cNvPr id="13" name="Text 10"/>
          <p:cNvSpPr txBox="1"/>
          <p:nvPr/>
        </p:nvSpPr>
        <p:spPr>
          <a:xfrm>
            <a:off x="841248" y="3419856"/>
            <a:ext cx="484312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Talk to users, define requirements, prioritise, and judge whether output quality is good enough to ship.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33008" y="2615184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489040" y="2816352"/>
            <a:ext cx="457200" cy="457200"/>
          </a:xfrm>
          <a:prstGeom prst="ellipse">
            <a:avLst/>
          </a:prstGeom>
          <a:solidFill>
            <a:srgbClr val="22D3EE">
              <a:alpha val="16000"/>
            </a:srgbClr>
          </a:solidFill>
          <a:ln w="12700">
            <a:solidFill>
              <a:srgbClr val="22D3EE">
                <a:alpha val="45000"/>
              </a:srgbClr>
            </a:solidFill>
            <a:prstDash val="solid"/>
          </a:ln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3340" y="2930652"/>
            <a:ext cx="228600" cy="22860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7165696" y="2816352"/>
            <a:ext cx="41847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Skills needed</a:t>
            </a:r>
            <a:endParaRPr lang="en-US" sz="1450" dirty="0"/>
          </a:p>
        </p:txBody>
      </p:sp>
      <p:sp>
        <p:nvSpPr>
          <p:cNvPr id="18" name="Text 14"/>
          <p:cNvSpPr txBox="1"/>
          <p:nvPr/>
        </p:nvSpPr>
        <p:spPr>
          <a:xfrm>
            <a:off x="6507328" y="3419856"/>
            <a:ext cx="484312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200"/>
              </a:spcAft>
              <a:buSzPct val="100000"/>
              <a:buChar char="▪"/>
            </a:pPr>
            <a:r>
              <a:rPr lang="en-US" sz="9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Understanding of AI capabilities and limits</a:t>
            </a:r>
            <a:endParaRPr lang="en-US" sz="900" dirty="0"/>
          </a:p>
          <a:p>
            <a:pPr marL="342900" indent="-342900">
              <a:lnSpc>
                <a:spcPct val="110000"/>
              </a:lnSpc>
              <a:spcAft>
                <a:spcPts val="200"/>
              </a:spcAft>
              <a:buSzPct val="100000"/>
              <a:buChar char="▪"/>
            </a:pPr>
            <a:r>
              <a:rPr lang="en-US" sz="9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Product and user research</a:t>
            </a:r>
            <a:endParaRPr lang="en-US" sz="900" dirty="0"/>
          </a:p>
          <a:p>
            <a:pPr marL="342900" indent="-342900">
              <a:lnSpc>
                <a:spcPct val="110000"/>
              </a:lnSpc>
              <a:spcAft>
                <a:spcPts val="200"/>
              </a:spcAft>
              <a:buSzPct val="100000"/>
              <a:buChar char="▪"/>
            </a:pPr>
            <a:r>
              <a:rPr lang="en-US" sz="9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Evaluation thinking</a:t>
            </a:r>
            <a:endParaRPr lang="en-US" sz="900" dirty="0"/>
          </a:p>
          <a:p>
            <a:pPr marL="342900" indent="-342900">
              <a:lnSpc>
                <a:spcPct val="110000"/>
              </a:lnSpc>
              <a:spcAft>
                <a:spcPts val="200"/>
              </a:spcAft>
              <a:buSzPct val="100000"/>
              <a:buChar char="▪"/>
            </a:pPr>
            <a:r>
              <a:rPr lang="en-US" sz="9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Strong communication</a:t>
            </a:r>
            <a:endParaRPr lang="en-US" sz="900" dirty="0"/>
          </a:p>
        </p:txBody>
      </p:sp>
      <p:sp>
        <p:nvSpPr>
          <p:cNvPr id="19" name="Shape 15"/>
          <p:cNvSpPr/>
          <p:nvPr/>
        </p:nvSpPr>
        <p:spPr>
          <a:xfrm>
            <a:off x="566928" y="4530149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822960" y="4731317"/>
            <a:ext cx="457200" cy="457200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260" y="4845617"/>
            <a:ext cx="228600" cy="22860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499616" y="4731317"/>
            <a:ext cx="41847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The special challenge</a:t>
            </a:r>
            <a:endParaRPr lang="en-US" sz="1450" dirty="0"/>
          </a:p>
        </p:txBody>
      </p:sp>
      <p:sp>
        <p:nvSpPr>
          <p:cNvPr id="23" name="Text 18"/>
          <p:cNvSpPr txBox="1"/>
          <p:nvPr/>
        </p:nvSpPr>
        <p:spPr>
          <a:xfrm>
            <a:off x="841248" y="5334821"/>
            <a:ext cx="484312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 output is probabilistic. Deciding "good enough" is a judgement call, not a pass or fail test.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6233008" y="4530149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6489040" y="4731317"/>
            <a:ext cx="457200" cy="457200"/>
          </a:xfrm>
          <a:prstGeom prst="ellipse">
            <a:avLst/>
          </a:prstGeom>
          <a:solidFill>
            <a:srgbClr val="34D399">
              <a:alpha val="16000"/>
            </a:srgbClr>
          </a:solidFill>
          <a:ln w="12700">
            <a:solidFill>
              <a:srgbClr val="34D399">
                <a:alpha val="45000"/>
              </a:srgbClr>
            </a:solidFill>
            <a:prstDash val="solid"/>
          </a:ln>
        </p:spPr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3340" y="4845617"/>
            <a:ext cx="228600" cy="228600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7165696" y="4731317"/>
            <a:ext cx="41847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Where it leads</a:t>
            </a:r>
            <a:endParaRPr lang="en-US" sz="1450" dirty="0"/>
          </a:p>
        </p:txBody>
      </p:sp>
      <p:sp>
        <p:nvSpPr>
          <p:cNvPr id="28" name="Text 22"/>
          <p:cNvSpPr txBox="1"/>
          <p:nvPr/>
        </p:nvSpPr>
        <p:spPr>
          <a:xfrm>
            <a:off x="6507328" y="5334821"/>
            <a:ext cx="484312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Senior product manager or head of AI product.</a:t>
            </a:r>
            <a:endParaRPr lang="en-US" sz="1200" dirty="0"/>
          </a:p>
        </p:txBody>
      </p:sp>
    </p:spTree>
  </p:cSld>
  <p:clrMapOvr>
    <a:masterClrMapping/>
  </p:clrMapOvr>
</p:sld>
</file>

<file path=ppt/slides/slide2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SLIDE 220 · ROLE 7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AI Automation Specialist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Section 21 · Generative AI Careers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260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11057839" cy="877824"/>
          </a:xfrm>
          <a:prstGeom prst="roundRect">
            <a:avLst>
              <a:gd name="adj" fmla="val 8333"/>
            </a:avLst>
          </a:prstGeom>
          <a:solidFill>
            <a:srgbClr val="191640">
              <a:alpha val="96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6928" y="1627632"/>
            <a:ext cx="64008" cy="585216"/>
          </a:xfrm>
          <a:prstGeom prst="roundRect">
            <a:avLst>
              <a:gd name="adj" fmla="val 42857"/>
            </a:avLst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59536" y="1572768"/>
            <a:ext cx="10472623" cy="6949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DDD9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Redesigns business workflows so that AI handles the repetitive parts safely.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66928" y="2615184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22960" y="2816352"/>
            <a:ext cx="457200" cy="457200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2930652"/>
            <a:ext cx="228600" cy="22860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499616" y="2816352"/>
            <a:ext cx="41847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Daily work</a:t>
            </a:r>
            <a:endParaRPr lang="en-US" sz="1450" dirty="0"/>
          </a:p>
        </p:txBody>
      </p:sp>
      <p:sp>
        <p:nvSpPr>
          <p:cNvPr id="13" name="Text 10"/>
          <p:cNvSpPr txBox="1"/>
          <p:nvPr/>
        </p:nvSpPr>
        <p:spPr>
          <a:xfrm>
            <a:off x="841248" y="3419856"/>
            <a:ext cx="484312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Map a process, find the automatable steps, build the workflow and add the human approval points.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33008" y="2615184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489040" y="2816352"/>
            <a:ext cx="457200" cy="457200"/>
          </a:xfrm>
          <a:prstGeom prst="ellipse">
            <a:avLst/>
          </a:prstGeom>
          <a:solidFill>
            <a:srgbClr val="22D3EE">
              <a:alpha val="16000"/>
            </a:srgbClr>
          </a:solidFill>
          <a:ln w="12700">
            <a:solidFill>
              <a:srgbClr val="22D3EE">
                <a:alpha val="45000"/>
              </a:srgbClr>
            </a:solidFill>
            <a:prstDash val="solid"/>
          </a:ln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3340" y="2930652"/>
            <a:ext cx="228600" cy="22860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7165696" y="2816352"/>
            <a:ext cx="41847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Skills needed</a:t>
            </a:r>
            <a:endParaRPr lang="en-US" sz="1450" dirty="0"/>
          </a:p>
        </p:txBody>
      </p:sp>
      <p:sp>
        <p:nvSpPr>
          <p:cNvPr id="18" name="Text 14"/>
          <p:cNvSpPr txBox="1"/>
          <p:nvPr/>
        </p:nvSpPr>
        <p:spPr>
          <a:xfrm>
            <a:off x="6507328" y="3419856"/>
            <a:ext cx="484312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200"/>
              </a:spcAft>
              <a:buSzPct val="100000"/>
              <a:buChar char="▪"/>
            </a:pPr>
            <a:r>
              <a:rPr lang="en-US" sz="9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Process analysis</a:t>
            </a:r>
            <a:endParaRPr lang="en-US" sz="900" dirty="0"/>
          </a:p>
          <a:p>
            <a:pPr marL="342900" indent="-342900">
              <a:lnSpc>
                <a:spcPct val="110000"/>
              </a:lnSpc>
              <a:spcAft>
                <a:spcPts val="200"/>
              </a:spcAft>
              <a:buSzPct val="100000"/>
              <a:buChar char="▪"/>
            </a:pPr>
            <a:r>
              <a:rPr lang="en-US" sz="9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Automation platforms</a:t>
            </a:r>
            <a:endParaRPr lang="en-US" sz="900" dirty="0"/>
          </a:p>
          <a:p>
            <a:pPr marL="342900" indent="-342900">
              <a:lnSpc>
                <a:spcPct val="110000"/>
              </a:lnSpc>
              <a:spcAft>
                <a:spcPts val="200"/>
              </a:spcAft>
              <a:buSzPct val="100000"/>
              <a:buChar char="▪"/>
            </a:pPr>
            <a:r>
              <a:rPr lang="en-US" sz="9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Prompt design</a:t>
            </a:r>
            <a:endParaRPr lang="en-US" sz="900" dirty="0"/>
          </a:p>
          <a:p>
            <a:pPr marL="342900" indent="-342900">
              <a:lnSpc>
                <a:spcPct val="110000"/>
              </a:lnSpc>
              <a:spcAft>
                <a:spcPts val="200"/>
              </a:spcAft>
              <a:buSzPct val="100000"/>
              <a:buChar char="▪"/>
            </a:pPr>
            <a:r>
              <a:rPr lang="en-US" sz="9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Change management</a:t>
            </a:r>
            <a:endParaRPr lang="en-US" sz="900" dirty="0"/>
          </a:p>
        </p:txBody>
      </p:sp>
      <p:sp>
        <p:nvSpPr>
          <p:cNvPr id="19" name="Shape 15"/>
          <p:cNvSpPr/>
          <p:nvPr/>
        </p:nvSpPr>
        <p:spPr>
          <a:xfrm>
            <a:off x="566928" y="4530149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822960" y="4731317"/>
            <a:ext cx="457200" cy="457200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260" y="4845617"/>
            <a:ext cx="228600" cy="22860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499616" y="4731317"/>
            <a:ext cx="41847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Why it is growing</a:t>
            </a:r>
            <a:endParaRPr lang="en-US" sz="1450" dirty="0"/>
          </a:p>
        </p:txBody>
      </p:sp>
      <p:sp>
        <p:nvSpPr>
          <p:cNvPr id="23" name="Text 18"/>
          <p:cNvSpPr txBox="1"/>
          <p:nvPr/>
        </p:nvSpPr>
        <p:spPr>
          <a:xfrm>
            <a:off x="841248" y="5334821"/>
            <a:ext cx="484312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Every department has repetitive document work, and this role turns that into measurable savings.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6233008" y="4530149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6489040" y="4731317"/>
            <a:ext cx="457200" cy="457200"/>
          </a:xfrm>
          <a:prstGeom prst="ellipse">
            <a:avLst/>
          </a:prstGeom>
          <a:solidFill>
            <a:srgbClr val="34D399">
              <a:alpha val="16000"/>
            </a:srgbClr>
          </a:solidFill>
          <a:ln w="12700">
            <a:solidFill>
              <a:srgbClr val="34D399">
                <a:alpha val="45000"/>
              </a:srgbClr>
            </a:solidFill>
            <a:prstDash val="solid"/>
          </a:ln>
        </p:spPr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3340" y="4845617"/>
            <a:ext cx="228600" cy="228600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7165696" y="4731317"/>
            <a:ext cx="41847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Good entry route</a:t>
            </a:r>
            <a:endParaRPr lang="en-US" sz="1450" dirty="0"/>
          </a:p>
        </p:txBody>
      </p:sp>
      <p:sp>
        <p:nvSpPr>
          <p:cNvPr id="28" name="Text 22"/>
          <p:cNvSpPr txBox="1"/>
          <p:nvPr/>
        </p:nvSpPr>
        <p:spPr>
          <a:xfrm>
            <a:off x="6507328" y="5334821"/>
            <a:ext cx="484312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Excellent for people from operations or business backgrounds rather than computer science.</a:t>
            </a:r>
            <a:endParaRPr lang="en-US" sz="1200" dirty="0"/>
          </a:p>
        </p:txBody>
      </p:sp>
    </p:spTree>
  </p:cSld>
  <p:clrMapOvr>
    <a:masterClrMapping/>
  </p:clrMapOvr>
</p:sld>
</file>

<file path=ppt/slides/slide2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SLIDE 221 · ROLE 8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AI Researcher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Section 21 · Generative AI Careers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261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11057839" cy="877824"/>
          </a:xfrm>
          <a:prstGeom prst="roundRect">
            <a:avLst>
              <a:gd name="adj" fmla="val 8333"/>
            </a:avLst>
          </a:prstGeom>
          <a:solidFill>
            <a:srgbClr val="191640">
              <a:alpha val="96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6928" y="1627632"/>
            <a:ext cx="64008" cy="585216"/>
          </a:xfrm>
          <a:prstGeom prst="roundRect">
            <a:avLst>
              <a:gd name="adj" fmla="val 42857"/>
            </a:avLst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59536" y="1572768"/>
            <a:ext cx="10472623" cy="6949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DDD9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Works on new models, methods and evaluation at the frontier of the field.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66928" y="2615184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22960" y="2816352"/>
            <a:ext cx="457200" cy="457200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2930652"/>
            <a:ext cx="228600" cy="22860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499616" y="2816352"/>
            <a:ext cx="41847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Daily work</a:t>
            </a:r>
            <a:endParaRPr lang="en-US" sz="1450" dirty="0"/>
          </a:p>
        </p:txBody>
      </p:sp>
      <p:sp>
        <p:nvSpPr>
          <p:cNvPr id="13" name="Text 10"/>
          <p:cNvSpPr txBox="1"/>
          <p:nvPr/>
        </p:nvSpPr>
        <p:spPr>
          <a:xfrm>
            <a:off x="841248" y="3419856"/>
            <a:ext cx="484312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Read papers, form hypotheses, run experiments and publish results.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33008" y="2615184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489040" y="2816352"/>
            <a:ext cx="457200" cy="457200"/>
          </a:xfrm>
          <a:prstGeom prst="ellipse">
            <a:avLst/>
          </a:prstGeom>
          <a:solidFill>
            <a:srgbClr val="22D3EE">
              <a:alpha val="16000"/>
            </a:srgbClr>
          </a:solidFill>
          <a:ln w="12700">
            <a:solidFill>
              <a:srgbClr val="22D3EE">
                <a:alpha val="45000"/>
              </a:srgbClr>
            </a:solidFill>
            <a:prstDash val="solid"/>
          </a:ln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3340" y="2930652"/>
            <a:ext cx="228600" cy="22860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7165696" y="2816352"/>
            <a:ext cx="41847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Skills needed</a:t>
            </a:r>
            <a:endParaRPr lang="en-US" sz="1450" dirty="0"/>
          </a:p>
        </p:txBody>
      </p:sp>
      <p:sp>
        <p:nvSpPr>
          <p:cNvPr id="18" name="Text 14"/>
          <p:cNvSpPr txBox="1"/>
          <p:nvPr/>
        </p:nvSpPr>
        <p:spPr>
          <a:xfrm>
            <a:off x="6507328" y="3419856"/>
            <a:ext cx="484312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200"/>
              </a:spcAft>
              <a:buSzPct val="100000"/>
              <a:buChar char="▪"/>
            </a:pPr>
            <a:r>
              <a:rPr lang="en-US" sz="9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Deep mathematics</a:t>
            </a:r>
            <a:endParaRPr lang="en-US" sz="900" dirty="0"/>
          </a:p>
          <a:p>
            <a:pPr marL="342900" indent="-342900">
              <a:lnSpc>
                <a:spcPct val="110000"/>
              </a:lnSpc>
              <a:spcAft>
                <a:spcPts val="200"/>
              </a:spcAft>
              <a:buSzPct val="100000"/>
              <a:buChar char="▪"/>
            </a:pPr>
            <a:r>
              <a:rPr lang="en-US" sz="9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Strong research methodology</a:t>
            </a:r>
            <a:endParaRPr lang="en-US" sz="900" dirty="0"/>
          </a:p>
          <a:p>
            <a:pPr marL="342900" indent="-342900">
              <a:lnSpc>
                <a:spcPct val="110000"/>
              </a:lnSpc>
              <a:spcAft>
                <a:spcPts val="200"/>
              </a:spcAft>
              <a:buSzPct val="100000"/>
              <a:buChar char="▪"/>
            </a:pPr>
            <a:r>
              <a:rPr lang="en-US" sz="9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Advanced ML knowledge</a:t>
            </a:r>
            <a:endParaRPr lang="en-US" sz="900" dirty="0"/>
          </a:p>
          <a:p>
            <a:pPr marL="342900" indent="-342900">
              <a:lnSpc>
                <a:spcPct val="110000"/>
              </a:lnSpc>
              <a:spcAft>
                <a:spcPts val="200"/>
              </a:spcAft>
              <a:buSzPct val="100000"/>
              <a:buChar char="▪"/>
            </a:pPr>
            <a:r>
              <a:rPr lang="en-US" sz="9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Scientific writing</a:t>
            </a:r>
            <a:endParaRPr lang="en-US" sz="900" dirty="0"/>
          </a:p>
        </p:txBody>
      </p:sp>
      <p:sp>
        <p:nvSpPr>
          <p:cNvPr id="19" name="Shape 15"/>
          <p:cNvSpPr/>
          <p:nvPr/>
        </p:nvSpPr>
        <p:spPr>
          <a:xfrm>
            <a:off x="566928" y="4530149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822960" y="4731317"/>
            <a:ext cx="457200" cy="457200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260" y="4845617"/>
            <a:ext cx="228600" cy="22860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499616" y="4731317"/>
            <a:ext cx="41847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Typical path</a:t>
            </a:r>
            <a:endParaRPr lang="en-US" sz="1450" dirty="0"/>
          </a:p>
        </p:txBody>
      </p:sp>
      <p:sp>
        <p:nvSpPr>
          <p:cNvPr id="23" name="Text 18"/>
          <p:cNvSpPr txBox="1"/>
          <p:nvPr/>
        </p:nvSpPr>
        <p:spPr>
          <a:xfrm>
            <a:off x="841248" y="5334821"/>
            <a:ext cx="484312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Usually a postgraduate or doctoral background, plus published work.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6233008" y="4530149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6489040" y="4731317"/>
            <a:ext cx="457200" cy="457200"/>
          </a:xfrm>
          <a:prstGeom prst="ellipse">
            <a:avLst/>
          </a:prstGeom>
          <a:solidFill>
            <a:srgbClr val="34D399">
              <a:alpha val="16000"/>
            </a:srgbClr>
          </a:solidFill>
          <a:ln w="12700">
            <a:solidFill>
              <a:srgbClr val="34D399">
                <a:alpha val="45000"/>
              </a:srgbClr>
            </a:solidFill>
            <a:prstDash val="solid"/>
          </a:ln>
        </p:spPr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3340" y="4845617"/>
            <a:ext cx="228600" cy="228600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7165696" y="4731317"/>
            <a:ext cx="41847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Be realistic</a:t>
            </a:r>
            <a:endParaRPr lang="en-US" sz="1450" dirty="0"/>
          </a:p>
        </p:txBody>
      </p:sp>
      <p:sp>
        <p:nvSpPr>
          <p:cNvPr id="28" name="Text 22"/>
          <p:cNvSpPr txBox="1"/>
          <p:nvPr/>
        </p:nvSpPr>
        <p:spPr>
          <a:xfrm>
            <a:off x="6507328" y="5334821"/>
            <a:ext cx="484312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These roles are few and highly competitive. Most Gen AI careers are in building and applying, not research.</a:t>
            </a:r>
            <a:endParaRPr lang="en-US" sz="1200" dirty="0"/>
          </a:p>
        </p:txBody>
      </p:sp>
    </p:spTree>
  </p:cSld>
  <p:clrMapOvr>
    <a:masterClrMapping/>
  </p:clrMapOvr>
</p:sld>
</file>

<file path=ppt/slides/slide2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SLIDE 222 · ROLE 9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AI Content Specialist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Section 21 · Generative AI Careers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262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11057839" cy="877824"/>
          </a:xfrm>
          <a:prstGeom prst="roundRect">
            <a:avLst>
              <a:gd name="adj" fmla="val 8333"/>
            </a:avLst>
          </a:prstGeom>
          <a:solidFill>
            <a:srgbClr val="191640">
              <a:alpha val="96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6928" y="1627632"/>
            <a:ext cx="64008" cy="585216"/>
          </a:xfrm>
          <a:prstGeom prst="roundRect">
            <a:avLst>
              <a:gd name="adj" fmla="val 42857"/>
            </a:avLst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59536" y="1572768"/>
            <a:ext cx="10472623" cy="6949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DDD9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Uses Gen AI in content production while keeping quality, accuracy and brand voice.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66928" y="2615184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22960" y="2816352"/>
            <a:ext cx="457200" cy="457200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2930652"/>
            <a:ext cx="228600" cy="22860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499616" y="2816352"/>
            <a:ext cx="41847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Daily work</a:t>
            </a:r>
            <a:endParaRPr lang="en-US" sz="1450" dirty="0"/>
          </a:p>
        </p:txBody>
      </p:sp>
      <p:sp>
        <p:nvSpPr>
          <p:cNvPr id="13" name="Text 10"/>
          <p:cNvSpPr txBox="1"/>
          <p:nvPr/>
        </p:nvSpPr>
        <p:spPr>
          <a:xfrm>
            <a:off x="841248" y="3419856"/>
            <a:ext cx="484312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Plan content, generate drafts with AI, then edit, fact-check and adapt to the brand voice.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33008" y="2615184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489040" y="2816352"/>
            <a:ext cx="457200" cy="457200"/>
          </a:xfrm>
          <a:prstGeom prst="ellipse">
            <a:avLst/>
          </a:prstGeom>
          <a:solidFill>
            <a:srgbClr val="22D3EE">
              <a:alpha val="16000"/>
            </a:srgbClr>
          </a:solidFill>
          <a:ln w="12700">
            <a:solidFill>
              <a:srgbClr val="22D3EE">
                <a:alpha val="45000"/>
              </a:srgbClr>
            </a:solidFill>
            <a:prstDash val="solid"/>
          </a:ln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3340" y="2930652"/>
            <a:ext cx="228600" cy="22860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7165696" y="2816352"/>
            <a:ext cx="41847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Skills needed</a:t>
            </a:r>
            <a:endParaRPr lang="en-US" sz="1450" dirty="0"/>
          </a:p>
        </p:txBody>
      </p:sp>
      <p:sp>
        <p:nvSpPr>
          <p:cNvPr id="18" name="Text 14"/>
          <p:cNvSpPr txBox="1"/>
          <p:nvPr/>
        </p:nvSpPr>
        <p:spPr>
          <a:xfrm>
            <a:off x="6507328" y="3419856"/>
            <a:ext cx="484312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200"/>
              </a:spcAft>
              <a:buSzPct val="100000"/>
              <a:buChar char="▪"/>
            </a:pPr>
            <a:r>
              <a:rPr lang="en-US" sz="9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Strong writing and editing</a:t>
            </a:r>
            <a:endParaRPr lang="en-US" sz="900" dirty="0"/>
          </a:p>
          <a:p>
            <a:pPr marL="342900" indent="-342900">
              <a:lnSpc>
                <a:spcPct val="110000"/>
              </a:lnSpc>
              <a:spcAft>
                <a:spcPts val="200"/>
              </a:spcAft>
              <a:buSzPct val="100000"/>
              <a:buChar char="▪"/>
            </a:pPr>
            <a:r>
              <a:rPr lang="en-US" sz="9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Prompt design</a:t>
            </a:r>
            <a:endParaRPr lang="en-US" sz="900" dirty="0"/>
          </a:p>
          <a:p>
            <a:pPr marL="342900" indent="-342900">
              <a:lnSpc>
                <a:spcPct val="110000"/>
              </a:lnSpc>
              <a:spcAft>
                <a:spcPts val="200"/>
              </a:spcAft>
              <a:buSzPct val="100000"/>
              <a:buChar char="▪"/>
            </a:pPr>
            <a:r>
              <a:rPr lang="en-US" sz="9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Fact-checking discipline</a:t>
            </a:r>
            <a:endParaRPr lang="en-US" sz="900" dirty="0"/>
          </a:p>
          <a:p>
            <a:pPr marL="342900" indent="-342900">
              <a:lnSpc>
                <a:spcPct val="110000"/>
              </a:lnSpc>
              <a:spcAft>
                <a:spcPts val="200"/>
              </a:spcAft>
              <a:buSzPct val="100000"/>
              <a:buChar char="▪"/>
            </a:pPr>
            <a:r>
              <a:rPr lang="en-US" sz="9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SEO and audience knowledge</a:t>
            </a:r>
            <a:endParaRPr lang="en-US" sz="900" dirty="0"/>
          </a:p>
        </p:txBody>
      </p:sp>
      <p:sp>
        <p:nvSpPr>
          <p:cNvPr id="19" name="Shape 15"/>
          <p:cNvSpPr/>
          <p:nvPr/>
        </p:nvSpPr>
        <p:spPr>
          <a:xfrm>
            <a:off x="566928" y="4530149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822960" y="4731317"/>
            <a:ext cx="457200" cy="457200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260" y="4845617"/>
            <a:ext cx="228600" cy="22860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499616" y="4731317"/>
            <a:ext cx="41847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What makes you valuable</a:t>
            </a:r>
            <a:endParaRPr lang="en-US" sz="1450" dirty="0"/>
          </a:p>
        </p:txBody>
      </p:sp>
      <p:sp>
        <p:nvSpPr>
          <p:cNvPr id="23" name="Text 18"/>
          <p:cNvSpPr txBox="1"/>
          <p:nvPr/>
        </p:nvSpPr>
        <p:spPr>
          <a:xfrm>
            <a:off x="841248" y="5334821"/>
            <a:ext cx="484312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Anyone can generate text. Knowing what is worth publishing is the actual skill.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6233008" y="4530149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6489040" y="4731317"/>
            <a:ext cx="457200" cy="457200"/>
          </a:xfrm>
          <a:prstGeom prst="ellipse">
            <a:avLst/>
          </a:prstGeom>
          <a:solidFill>
            <a:srgbClr val="34D399">
              <a:alpha val="16000"/>
            </a:srgbClr>
          </a:solidFill>
          <a:ln w="12700">
            <a:solidFill>
              <a:srgbClr val="34D399">
                <a:alpha val="45000"/>
              </a:srgbClr>
            </a:solidFill>
            <a:prstDash val="solid"/>
          </a:ln>
        </p:spPr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3340" y="4845617"/>
            <a:ext cx="228600" cy="228600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7165696" y="4731317"/>
            <a:ext cx="41847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Ethics</a:t>
            </a:r>
            <a:endParaRPr lang="en-US" sz="1450" dirty="0"/>
          </a:p>
        </p:txBody>
      </p:sp>
      <p:sp>
        <p:nvSpPr>
          <p:cNvPr id="28" name="Text 22"/>
          <p:cNvSpPr txBox="1"/>
          <p:nvPr/>
        </p:nvSpPr>
        <p:spPr>
          <a:xfrm>
            <a:off x="6507328" y="5334821"/>
            <a:ext cx="484312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Disclose AI use where required and never publish unverified claims.</a:t>
            </a:r>
            <a:endParaRPr lang="en-US" sz="1200" dirty="0"/>
          </a:p>
        </p:txBody>
      </p:sp>
    </p:spTree>
  </p:cSld>
  <p:clrMapOvr>
    <a:masterClrMapping/>
  </p:clrMapOvr>
</p:sld>
</file>

<file path=ppt/slides/slide2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SLIDE 223 · SKILLS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Skills Required for Gen AI Careers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Section 21 · Generative AI Careers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263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3503066" cy="1051560"/>
          </a:xfrm>
          <a:prstGeom prst="roundRect">
            <a:avLst>
              <a:gd name="adj" fmla="val 6957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1618488"/>
            <a:ext cx="402336" cy="402336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3544" y="1719072"/>
            <a:ext cx="201168" cy="201168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444752" y="1618488"/>
            <a:ext cx="2350922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AI fundamentals</a:t>
            </a:r>
            <a:endParaRPr lang="en-US" sz="1350" dirty="0"/>
          </a:p>
        </p:txBody>
      </p:sp>
      <p:sp>
        <p:nvSpPr>
          <p:cNvPr id="10" name="Text 7"/>
          <p:cNvSpPr txBox="1"/>
          <p:nvPr/>
        </p:nvSpPr>
        <p:spPr>
          <a:xfrm>
            <a:off x="841248" y="2112264"/>
            <a:ext cx="2954426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9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models can and cannot do. This is the foundation for every role.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4344314" y="1481328"/>
            <a:ext cx="3503066" cy="1051560"/>
          </a:xfrm>
          <a:prstGeom prst="roundRect">
            <a:avLst>
              <a:gd name="adj" fmla="val 6957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600346" y="1618488"/>
            <a:ext cx="402336" cy="402336"/>
          </a:xfrm>
          <a:prstGeom prst="ellipse">
            <a:avLst/>
          </a:prstGeom>
          <a:solidFill>
            <a:srgbClr val="22D3EE">
              <a:alpha val="16000"/>
            </a:srgbClr>
          </a:solidFill>
          <a:ln w="12700">
            <a:solidFill>
              <a:srgbClr val="22D3EE">
                <a:alpha val="45000"/>
              </a:srgbClr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0930" y="1719072"/>
            <a:ext cx="201168" cy="201168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5222138" y="1618488"/>
            <a:ext cx="2350922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Prompting</a:t>
            </a:r>
            <a:endParaRPr lang="en-US" sz="1350" dirty="0"/>
          </a:p>
        </p:txBody>
      </p:sp>
      <p:sp>
        <p:nvSpPr>
          <p:cNvPr id="15" name="Text 11"/>
          <p:cNvSpPr txBox="1"/>
          <p:nvPr/>
        </p:nvSpPr>
        <p:spPr>
          <a:xfrm>
            <a:off x="4618634" y="2112264"/>
            <a:ext cx="2954426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9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Writing clear, testable instructions and improving them systematically.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8121701" y="1481328"/>
            <a:ext cx="3503066" cy="1051560"/>
          </a:xfrm>
          <a:prstGeom prst="roundRect">
            <a:avLst>
              <a:gd name="adj" fmla="val 6957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377733" y="1618488"/>
            <a:ext cx="402336" cy="402336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8317" y="1719072"/>
            <a:ext cx="201168" cy="201168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8999525" y="1618488"/>
            <a:ext cx="2350922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Programming</a:t>
            </a:r>
            <a:endParaRPr lang="en-US" sz="1350" dirty="0"/>
          </a:p>
        </p:txBody>
      </p:sp>
      <p:sp>
        <p:nvSpPr>
          <p:cNvPr id="20" name="Text 15"/>
          <p:cNvSpPr txBox="1"/>
          <p:nvPr/>
        </p:nvSpPr>
        <p:spPr>
          <a:xfrm>
            <a:off x="8396021" y="2112264"/>
            <a:ext cx="2954426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9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Python for most AI work; JavaScript for application development.</a:t>
            </a:r>
            <a:endParaRPr lang="en-US" sz="900" dirty="0"/>
          </a:p>
        </p:txBody>
      </p:sp>
      <p:sp>
        <p:nvSpPr>
          <p:cNvPr id="21" name="Shape 16"/>
          <p:cNvSpPr/>
          <p:nvPr/>
        </p:nvSpPr>
        <p:spPr>
          <a:xfrm>
            <a:off x="566928" y="2715768"/>
            <a:ext cx="3503066" cy="1051560"/>
          </a:xfrm>
          <a:prstGeom prst="roundRect">
            <a:avLst>
              <a:gd name="adj" fmla="val 6957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822960" y="2852928"/>
            <a:ext cx="402336" cy="402336"/>
          </a:xfrm>
          <a:prstGeom prst="ellipse">
            <a:avLst/>
          </a:prstGeom>
          <a:solidFill>
            <a:srgbClr val="34D399">
              <a:alpha val="16000"/>
            </a:srgbClr>
          </a:solidFill>
          <a:ln w="12700">
            <a:solidFill>
              <a:srgbClr val="34D399">
                <a:alpha val="45000"/>
              </a:srgbClr>
            </a:solidFill>
            <a:prstDash val="solid"/>
          </a:ln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3544" y="2953512"/>
            <a:ext cx="201168" cy="201168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1444752" y="2852928"/>
            <a:ext cx="2350922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APIs</a:t>
            </a:r>
            <a:endParaRPr lang="en-US" sz="1350" dirty="0"/>
          </a:p>
        </p:txBody>
      </p:sp>
      <p:sp>
        <p:nvSpPr>
          <p:cNvPr id="25" name="Text 19"/>
          <p:cNvSpPr txBox="1"/>
          <p:nvPr/>
        </p:nvSpPr>
        <p:spPr>
          <a:xfrm>
            <a:off x="841248" y="3346704"/>
            <a:ext cx="2954426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9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How to call services, handle responses and manage keys safely.</a:t>
            </a:r>
            <a:endParaRPr lang="en-US" sz="900" dirty="0"/>
          </a:p>
        </p:txBody>
      </p:sp>
      <p:sp>
        <p:nvSpPr>
          <p:cNvPr id="26" name="Shape 20"/>
          <p:cNvSpPr/>
          <p:nvPr/>
        </p:nvSpPr>
        <p:spPr>
          <a:xfrm>
            <a:off x="4344314" y="2715768"/>
            <a:ext cx="3503066" cy="1051560"/>
          </a:xfrm>
          <a:prstGeom prst="roundRect">
            <a:avLst>
              <a:gd name="adj" fmla="val 6957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4600346" y="2852928"/>
            <a:ext cx="402336" cy="402336"/>
          </a:xfrm>
          <a:prstGeom prst="ellipse">
            <a:avLst/>
          </a:prstGeom>
          <a:solidFill>
            <a:srgbClr val="F472B6">
              <a:alpha val="16000"/>
            </a:srgbClr>
          </a:solidFill>
          <a:ln w="12700">
            <a:solidFill>
              <a:srgbClr val="F472B6">
                <a:alpha val="45000"/>
              </a:srgbClr>
            </a:solidFill>
            <a:prstDash val="solid"/>
          </a:ln>
        </p:spPr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00930" y="2953512"/>
            <a:ext cx="201168" cy="201168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5222138" y="2852928"/>
            <a:ext cx="2350922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Data skills</a:t>
            </a:r>
            <a:endParaRPr lang="en-US" sz="1350" dirty="0"/>
          </a:p>
        </p:txBody>
      </p:sp>
      <p:sp>
        <p:nvSpPr>
          <p:cNvPr id="30" name="Text 23"/>
          <p:cNvSpPr txBox="1"/>
          <p:nvPr/>
        </p:nvSpPr>
        <p:spPr>
          <a:xfrm>
            <a:off x="4618634" y="3346704"/>
            <a:ext cx="2954426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SQL, cleaning data and understanding data quality.</a:t>
            </a:r>
            <a:endParaRPr lang="en-US" sz="1050" dirty="0"/>
          </a:p>
        </p:txBody>
      </p:sp>
      <p:sp>
        <p:nvSpPr>
          <p:cNvPr id="31" name="Shape 24"/>
          <p:cNvSpPr/>
          <p:nvPr/>
        </p:nvSpPr>
        <p:spPr>
          <a:xfrm>
            <a:off x="8121701" y="2715768"/>
            <a:ext cx="3503066" cy="1051560"/>
          </a:xfrm>
          <a:prstGeom prst="roundRect">
            <a:avLst>
              <a:gd name="adj" fmla="val 6957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8377733" y="2852928"/>
            <a:ext cx="402336" cy="402336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33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78317" y="2953512"/>
            <a:ext cx="201168" cy="201168"/>
          </a:xfrm>
          <a:prstGeom prst="rect">
            <a:avLst/>
          </a:prstGeom>
        </p:spPr>
      </p:pic>
      <p:sp>
        <p:nvSpPr>
          <p:cNvPr id="34" name="Text 26"/>
          <p:cNvSpPr txBox="1"/>
          <p:nvPr/>
        </p:nvSpPr>
        <p:spPr>
          <a:xfrm>
            <a:off x="8999525" y="2852928"/>
            <a:ext cx="2350922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LLM concepts</a:t>
            </a:r>
            <a:endParaRPr lang="en-US" sz="1350" dirty="0"/>
          </a:p>
        </p:txBody>
      </p:sp>
      <p:sp>
        <p:nvSpPr>
          <p:cNvPr id="35" name="Text 27"/>
          <p:cNvSpPr txBox="1"/>
          <p:nvPr/>
        </p:nvSpPr>
        <p:spPr>
          <a:xfrm>
            <a:off x="8396021" y="3346704"/>
            <a:ext cx="2954426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Tokens, context, temperature, cost and evaluation.</a:t>
            </a:r>
            <a:endParaRPr lang="en-US" sz="1050" dirty="0"/>
          </a:p>
        </p:txBody>
      </p:sp>
      <p:sp>
        <p:nvSpPr>
          <p:cNvPr id="36" name="Shape 28"/>
          <p:cNvSpPr/>
          <p:nvPr/>
        </p:nvSpPr>
        <p:spPr>
          <a:xfrm>
            <a:off x="566928" y="3950208"/>
            <a:ext cx="3503066" cy="1051560"/>
          </a:xfrm>
          <a:prstGeom prst="roundRect">
            <a:avLst>
              <a:gd name="adj" fmla="val 6957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37" name="Shape 29"/>
          <p:cNvSpPr/>
          <p:nvPr/>
        </p:nvSpPr>
        <p:spPr>
          <a:xfrm>
            <a:off x="822960" y="4087368"/>
            <a:ext cx="402336" cy="402336"/>
          </a:xfrm>
          <a:prstGeom prst="ellipse">
            <a:avLst/>
          </a:prstGeom>
          <a:solidFill>
            <a:srgbClr val="22D3EE">
              <a:alpha val="16000"/>
            </a:srgbClr>
          </a:solidFill>
          <a:ln w="12700">
            <a:solidFill>
              <a:srgbClr val="22D3EE">
                <a:alpha val="45000"/>
              </a:srgbClr>
            </a:solidFill>
            <a:prstDash val="solid"/>
          </a:ln>
        </p:spPr>
      </p:sp>
      <p:pic>
        <p:nvPicPr>
          <p:cNvPr id="38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3544" y="4187952"/>
            <a:ext cx="201168" cy="201168"/>
          </a:xfrm>
          <a:prstGeom prst="rect">
            <a:avLst/>
          </a:prstGeom>
        </p:spPr>
      </p:pic>
      <p:sp>
        <p:nvSpPr>
          <p:cNvPr id="39" name="Text 30"/>
          <p:cNvSpPr txBox="1"/>
          <p:nvPr/>
        </p:nvSpPr>
        <p:spPr>
          <a:xfrm>
            <a:off x="1444752" y="4087368"/>
            <a:ext cx="2350922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RAG</a:t>
            </a:r>
            <a:endParaRPr lang="en-US" sz="1350" dirty="0"/>
          </a:p>
        </p:txBody>
      </p:sp>
      <p:sp>
        <p:nvSpPr>
          <p:cNvPr id="40" name="Text 31"/>
          <p:cNvSpPr txBox="1"/>
          <p:nvPr/>
        </p:nvSpPr>
        <p:spPr>
          <a:xfrm>
            <a:off x="841248" y="4581144"/>
            <a:ext cx="2954426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9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Chunking, embeddings, vector search and retrieval quality.</a:t>
            </a:r>
            <a:endParaRPr lang="en-US" sz="900" dirty="0"/>
          </a:p>
        </p:txBody>
      </p:sp>
      <p:sp>
        <p:nvSpPr>
          <p:cNvPr id="41" name="Shape 32"/>
          <p:cNvSpPr/>
          <p:nvPr/>
        </p:nvSpPr>
        <p:spPr>
          <a:xfrm>
            <a:off x="4344314" y="3950208"/>
            <a:ext cx="3503066" cy="1051560"/>
          </a:xfrm>
          <a:prstGeom prst="roundRect">
            <a:avLst>
              <a:gd name="adj" fmla="val 6957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42" name="Shape 33"/>
          <p:cNvSpPr/>
          <p:nvPr/>
        </p:nvSpPr>
        <p:spPr>
          <a:xfrm>
            <a:off x="4600346" y="4087368"/>
            <a:ext cx="402336" cy="402336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43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00930" y="4187952"/>
            <a:ext cx="201168" cy="201168"/>
          </a:xfrm>
          <a:prstGeom prst="rect">
            <a:avLst/>
          </a:prstGeom>
        </p:spPr>
      </p:pic>
      <p:sp>
        <p:nvSpPr>
          <p:cNvPr id="44" name="Text 34"/>
          <p:cNvSpPr txBox="1"/>
          <p:nvPr/>
        </p:nvSpPr>
        <p:spPr>
          <a:xfrm>
            <a:off x="5222138" y="4087368"/>
            <a:ext cx="2350922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Agents and tools</a:t>
            </a:r>
            <a:endParaRPr lang="en-US" sz="1350" dirty="0"/>
          </a:p>
        </p:txBody>
      </p:sp>
      <p:sp>
        <p:nvSpPr>
          <p:cNvPr id="45" name="Text 35"/>
          <p:cNvSpPr txBox="1"/>
          <p:nvPr/>
        </p:nvSpPr>
        <p:spPr>
          <a:xfrm>
            <a:off x="4618634" y="4581144"/>
            <a:ext cx="2954426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Tool calling, planning loops and safety limits.</a:t>
            </a:r>
            <a:endParaRPr lang="en-US" sz="1100" dirty="0"/>
          </a:p>
        </p:txBody>
      </p:sp>
      <p:sp>
        <p:nvSpPr>
          <p:cNvPr id="46" name="Shape 36"/>
          <p:cNvSpPr/>
          <p:nvPr/>
        </p:nvSpPr>
        <p:spPr>
          <a:xfrm>
            <a:off x="8121701" y="3950208"/>
            <a:ext cx="3503066" cy="1051560"/>
          </a:xfrm>
          <a:prstGeom prst="roundRect">
            <a:avLst>
              <a:gd name="adj" fmla="val 6957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47" name="Shape 37"/>
          <p:cNvSpPr/>
          <p:nvPr/>
        </p:nvSpPr>
        <p:spPr>
          <a:xfrm>
            <a:off x="8377733" y="4087368"/>
            <a:ext cx="402336" cy="402336"/>
          </a:xfrm>
          <a:prstGeom prst="ellipse">
            <a:avLst/>
          </a:prstGeom>
          <a:solidFill>
            <a:srgbClr val="34D399">
              <a:alpha val="16000"/>
            </a:srgbClr>
          </a:solidFill>
          <a:ln w="12700">
            <a:solidFill>
              <a:srgbClr val="34D399">
                <a:alpha val="45000"/>
              </a:srgbClr>
            </a:solidFill>
            <a:prstDash val="solid"/>
          </a:ln>
        </p:spPr>
      </p:sp>
      <p:pic>
        <p:nvPicPr>
          <p:cNvPr id="48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78317" y="4187952"/>
            <a:ext cx="201168" cy="201168"/>
          </a:xfrm>
          <a:prstGeom prst="rect">
            <a:avLst/>
          </a:prstGeom>
        </p:spPr>
      </p:pic>
      <p:sp>
        <p:nvSpPr>
          <p:cNvPr id="49" name="Text 38"/>
          <p:cNvSpPr txBox="1"/>
          <p:nvPr/>
        </p:nvSpPr>
        <p:spPr>
          <a:xfrm>
            <a:off x="8999525" y="4087368"/>
            <a:ext cx="2350922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Cloud</a:t>
            </a:r>
            <a:endParaRPr lang="en-US" sz="1350" dirty="0"/>
          </a:p>
        </p:txBody>
      </p:sp>
      <p:sp>
        <p:nvSpPr>
          <p:cNvPr id="50" name="Text 39"/>
          <p:cNvSpPr txBox="1"/>
          <p:nvPr/>
        </p:nvSpPr>
        <p:spPr>
          <a:xfrm>
            <a:off x="8396021" y="4581144"/>
            <a:ext cx="2954426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Deploying, securing and monitoring applications.</a:t>
            </a:r>
            <a:endParaRPr lang="en-US" sz="1050" dirty="0"/>
          </a:p>
        </p:txBody>
      </p:sp>
      <p:sp>
        <p:nvSpPr>
          <p:cNvPr id="51" name="Shape 40"/>
          <p:cNvSpPr/>
          <p:nvPr/>
        </p:nvSpPr>
        <p:spPr>
          <a:xfrm>
            <a:off x="566928" y="5184648"/>
            <a:ext cx="3503066" cy="1051560"/>
          </a:xfrm>
          <a:prstGeom prst="roundRect">
            <a:avLst>
              <a:gd name="adj" fmla="val 6957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52" name="Shape 41"/>
          <p:cNvSpPr/>
          <p:nvPr/>
        </p:nvSpPr>
        <p:spPr>
          <a:xfrm>
            <a:off x="822960" y="5321808"/>
            <a:ext cx="402336" cy="402336"/>
          </a:xfrm>
          <a:prstGeom prst="ellipse">
            <a:avLst/>
          </a:prstGeom>
          <a:solidFill>
            <a:srgbClr val="F472B6">
              <a:alpha val="16000"/>
            </a:srgbClr>
          </a:solidFill>
          <a:ln w="12700">
            <a:solidFill>
              <a:srgbClr val="F472B6">
                <a:alpha val="45000"/>
              </a:srgbClr>
            </a:solidFill>
            <a:prstDash val="solid"/>
          </a:ln>
        </p:spPr>
      </p:sp>
      <p:pic>
        <p:nvPicPr>
          <p:cNvPr id="53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23544" y="5422392"/>
            <a:ext cx="201168" cy="201168"/>
          </a:xfrm>
          <a:prstGeom prst="rect">
            <a:avLst/>
          </a:prstGeom>
        </p:spPr>
      </p:pic>
      <p:sp>
        <p:nvSpPr>
          <p:cNvPr id="54" name="Text 42"/>
          <p:cNvSpPr txBox="1"/>
          <p:nvPr/>
        </p:nvSpPr>
        <p:spPr>
          <a:xfrm>
            <a:off x="1444752" y="5321808"/>
            <a:ext cx="2350922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Communication</a:t>
            </a:r>
            <a:endParaRPr lang="en-US" sz="1350" dirty="0"/>
          </a:p>
        </p:txBody>
      </p:sp>
      <p:sp>
        <p:nvSpPr>
          <p:cNvPr id="55" name="Text 43"/>
          <p:cNvSpPr txBox="1"/>
          <p:nvPr/>
        </p:nvSpPr>
        <p:spPr>
          <a:xfrm>
            <a:off x="841248" y="5815584"/>
            <a:ext cx="2954426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9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Explaining AI clearly to non-technical people. Consistently undervalued and always needed.</a:t>
            </a:r>
            <a:endParaRPr lang="en-US" sz="900" dirty="0"/>
          </a:p>
        </p:txBody>
      </p:sp>
      <p:sp>
        <p:nvSpPr>
          <p:cNvPr id="56" name="Shape 44"/>
          <p:cNvSpPr/>
          <p:nvPr/>
        </p:nvSpPr>
        <p:spPr>
          <a:xfrm>
            <a:off x="4344314" y="5184648"/>
            <a:ext cx="3503066" cy="1051560"/>
          </a:xfrm>
          <a:prstGeom prst="roundRect">
            <a:avLst>
              <a:gd name="adj" fmla="val 6957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57" name="Shape 45"/>
          <p:cNvSpPr/>
          <p:nvPr/>
        </p:nvSpPr>
        <p:spPr>
          <a:xfrm>
            <a:off x="4600346" y="5321808"/>
            <a:ext cx="402336" cy="402336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58" name="Image 1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700930" y="5422392"/>
            <a:ext cx="201168" cy="201168"/>
          </a:xfrm>
          <a:prstGeom prst="rect">
            <a:avLst/>
          </a:prstGeom>
        </p:spPr>
      </p:pic>
      <p:sp>
        <p:nvSpPr>
          <p:cNvPr id="59" name="Text 46"/>
          <p:cNvSpPr txBox="1"/>
          <p:nvPr/>
        </p:nvSpPr>
        <p:spPr>
          <a:xfrm>
            <a:off x="5222138" y="5321808"/>
            <a:ext cx="2350922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Responsible AI</a:t>
            </a:r>
            <a:endParaRPr lang="en-US" sz="1350" dirty="0"/>
          </a:p>
        </p:txBody>
      </p:sp>
      <p:sp>
        <p:nvSpPr>
          <p:cNvPr id="60" name="Text 47"/>
          <p:cNvSpPr txBox="1"/>
          <p:nvPr/>
        </p:nvSpPr>
        <p:spPr>
          <a:xfrm>
            <a:off x="4618634" y="5815584"/>
            <a:ext cx="2954426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Privacy, bias, evaluation and human oversight.</a:t>
            </a:r>
            <a:endParaRPr lang="en-US" sz="1100" dirty="0"/>
          </a:p>
        </p:txBody>
      </p:sp>
      <p:sp>
        <p:nvSpPr>
          <p:cNvPr id="61" name="Shape 48"/>
          <p:cNvSpPr/>
          <p:nvPr/>
        </p:nvSpPr>
        <p:spPr>
          <a:xfrm>
            <a:off x="8121701" y="5184648"/>
            <a:ext cx="3503066" cy="1051560"/>
          </a:xfrm>
          <a:prstGeom prst="roundRect">
            <a:avLst>
              <a:gd name="adj" fmla="val 6957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62" name="Shape 49"/>
          <p:cNvSpPr/>
          <p:nvPr/>
        </p:nvSpPr>
        <p:spPr>
          <a:xfrm>
            <a:off x="8377733" y="5321808"/>
            <a:ext cx="402336" cy="402336"/>
          </a:xfrm>
          <a:prstGeom prst="ellipse">
            <a:avLst/>
          </a:prstGeom>
          <a:solidFill>
            <a:srgbClr val="22D3EE">
              <a:alpha val="16000"/>
            </a:srgbClr>
          </a:solidFill>
          <a:ln w="12700">
            <a:solidFill>
              <a:srgbClr val="22D3EE">
                <a:alpha val="45000"/>
              </a:srgbClr>
            </a:solidFill>
            <a:prstDash val="solid"/>
          </a:ln>
        </p:spPr>
      </p:sp>
      <p:pic>
        <p:nvPicPr>
          <p:cNvPr id="63" name="Image 11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478317" y="5422392"/>
            <a:ext cx="201168" cy="201168"/>
          </a:xfrm>
          <a:prstGeom prst="rect">
            <a:avLst/>
          </a:prstGeom>
        </p:spPr>
      </p:pic>
      <p:sp>
        <p:nvSpPr>
          <p:cNvPr id="64" name="Text 50"/>
          <p:cNvSpPr txBox="1"/>
          <p:nvPr/>
        </p:nvSpPr>
        <p:spPr>
          <a:xfrm>
            <a:off x="8999525" y="5321808"/>
            <a:ext cx="2350922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Learning habit</a:t>
            </a:r>
            <a:endParaRPr lang="en-US" sz="1350" dirty="0"/>
          </a:p>
        </p:txBody>
      </p:sp>
      <p:sp>
        <p:nvSpPr>
          <p:cNvPr id="65" name="Text 51"/>
          <p:cNvSpPr txBox="1"/>
          <p:nvPr/>
        </p:nvSpPr>
        <p:spPr>
          <a:xfrm>
            <a:off x="8396021" y="5815584"/>
            <a:ext cx="2954426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9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field changes fast. The ability to keep relearning is itself the skill.</a:t>
            </a:r>
            <a:endParaRPr lang="en-US" sz="900" dirty="0"/>
          </a:p>
        </p:txBody>
      </p:sp>
    </p:spTree>
  </p:cSld>
  <p:clrMapOvr>
    <a:masterClrMapping/>
  </p:clrMapOvr>
</p:sld>
</file>

<file path=ppt/slides/slide2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SLIDE 224 · ROADMAP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Generative AI Learning Roadmap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Section 21 · Generative AI Careers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264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2387270" cy="1011936"/>
          </a:xfrm>
          <a:prstGeom prst="roundRect">
            <a:avLst>
              <a:gd name="adj" fmla="val 7229"/>
            </a:avLst>
          </a:prstGeom>
          <a:solidFill>
            <a:srgbClr val="191640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586827" y="1307592"/>
            <a:ext cx="347472" cy="347472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586827" y="1307592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0A1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94944" y="1645920"/>
            <a:ext cx="2131238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A78BF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Computer Basics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694944" y="2011680"/>
            <a:ext cx="2131238" cy="39014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Files, internet, how software works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045638" y="1868424"/>
            <a:ext cx="320040" cy="237744"/>
          </a:xfrm>
          <a:prstGeom prst="rightArrow">
            <a:avLst/>
          </a:prstGeom>
          <a:solidFill>
            <a:srgbClr val="22D3EE">
              <a:alpha val="70000"/>
            </a:srgbClr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57118" y="1481328"/>
            <a:ext cx="2387270" cy="1011936"/>
          </a:xfrm>
          <a:prstGeom prst="roundRect">
            <a:avLst>
              <a:gd name="adj" fmla="val 7229"/>
            </a:avLst>
          </a:prstGeom>
          <a:solidFill>
            <a:srgbClr val="191640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477017" y="1307592"/>
            <a:ext cx="347472" cy="34747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477017" y="1307592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0A1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3585134" y="1645920"/>
            <a:ext cx="2131238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2D3E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AI Fundamentals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3585134" y="2011680"/>
            <a:ext cx="2131238" cy="39014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AI, ML, deep learning concepts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935828" y="1868424"/>
            <a:ext cx="320040" cy="237744"/>
          </a:xfrm>
          <a:prstGeom prst="rightArrow">
            <a:avLst/>
          </a:prstGeom>
          <a:solidFill>
            <a:srgbClr val="22D3EE">
              <a:alpha val="70000"/>
            </a:srgbClr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347308" y="1481328"/>
            <a:ext cx="2387270" cy="1011936"/>
          </a:xfrm>
          <a:prstGeom prst="roundRect">
            <a:avLst>
              <a:gd name="adj" fmla="val 7229"/>
            </a:avLst>
          </a:prstGeom>
          <a:solidFill>
            <a:srgbClr val="191640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367207" y="1307592"/>
            <a:ext cx="347472" cy="347472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367207" y="1307592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0A1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6475324" y="1645920"/>
            <a:ext cx="2131238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BBF2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Python Basics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6475324" y="2011680"/>
            <a:ext cx="2131238" cy="39014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Variables, loops, functions, libraries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8826017" y="1868424"/>
            <a:ext cx="320040" cy="237744"/>
          </a:xfrm>
          <a:prstGeom prst="rightArrow">
            <a:avLst/>
          </a:prstGeom>
          <a:solidFill>
            <a:srgbClr val="22D3EE">
              <a:alpha val="70000"/>
            </a:srgbClr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237497" y="1481328"/>
            <a:ext cx="2387270" cy="1011936"/>
          </a:xfrm>
          <a:prstGeom prst="roundRect">
            <a:avLst>
              <a:gd name="adj" fmla="val 7229"/>
            </a:avLst>
          </a:prstGeom>
          <a:solidFill>
            <a:srgbClr val="191640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10257396" y="1307592"/>
            <a:ext cx="347472" cy="347472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10257396" y="1307592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0A1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4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9365513" y="1645920"/>
            <a:ext cx="2131238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34D39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ML Basics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9365513" y="2011680"/>
            <a:ext cx="2131238" cy="39014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Training, evaluation, overfitting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66928" y="2804160"/>
            <a:ext cx="2387270" cy="1011936"/>
          </a:xfrm>
          <a:prstGeom prst="roundRect">
            <a:avLst>
              <a:gd name="adj" fmla="val 7229"/>
            </a:avLst>
          </a:prstGeom>
          <a:solidFill>
            <a:srgbClr val="191640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1586827" y="2630424"/>
            <a:ext cx="347472" cy="347472"/>
          </a:xfrm>
          <a:prstGeom prst="ellipse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1586827" y="2630424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0A1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5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694944" y="2968752"/>
            <a:ext cx="2131238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472B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Deep Learning</a:t>
            </a:r>
            <a:endParaRPr lang="en-US" sz="1250" dirty="0"/>
          </a:p>
        </p:txBody>
      </p:sp>
      <p:sp>
        <p:nvSpPr>
          <p:cNvPr id="33" name="Text 31"/>
          <p:cNvSpPr txBox="1"/>
          <p:nvPr/>
        </p:nvSpPr>
        <p:spPr>
          <a:xfrm>
            <a:off x="694944" y="3334512"/>
            <a:ext cx="2131238" cy="39014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Neural networks and transformers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3045638" y="3191256"/>
            <a:ext cx="320040" cy="237744"/>
          </a:xfrm>
          <a:prstGeom prst="rightArrow">
            <a:avLst/>
          </a:prstGeom>
          <a:solidFill>
            <a:srgbClr val="22D3EE">
              <a:alpha val="70000"/>
            </a:srgbClr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457118" y="2804160"/>
            <a:ext cx="2387270" cy="1011936"/>
          </a:xfrm>
          <a:prstGeom prst="roundRect">
            <a:avLst>
              <a:gd name="adj" fmla="val 7229"/>
            </a:avLst>
          </a:prstGeom>
          <a:solidFill>
            <a:srgbClr val="191640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477017" y="2630424"/>
            <a:ext cx="347472" cy="347472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4477017" y="2630424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0A1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6</a:t>
            </a:r>
            <a:endParaRPr lang="en-US" sz="1200" dirty="0"/>
          </a:p>
        </p:txBody>
      </p:sp>
      <p:sp>
        <p:nvSpPr>
          <p:cNvPr id="38" name="Text 36"/>
          <p:cNvSpPr txBox="1"/>
          <p:nvPr/>
        </p:nvSpPr>
        <p:spPr>
          <a:xfrm>
            <a:off x="3585134" y="2968752"/>
            <a:ext cx="2131238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A78BF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Generative AI</a:t>
            </a:r>
            <a:endParaRPr lang="en-US" sz="1250" dirty="0"/>
          </a:p>
        </p:txBody>
      </p:sp>
      <p:sp>
        <p:nvSpPr>
          <p:cNvPr id="39" name="Text 37"/>
          <p:cNvSpPr txBox="1"/>
          <p:nvPr/>
        </p:nvSpPr>
        <p:spPr>
          <a:xfrm>
            <a:off x="3585134" y="3334512"/>
            <a:ext cx="2131238" cy="39014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How LLMs and image models work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5935828" y="3191256"/>
            <a:ext cx="320040" cy="237744"/>
          </a:xfrm>
          <a:prstGeom prst="rightArrow">
            <a:avLst/>
          </a:prstGeom>
          <a:solidFill>
            <a:srgbClr val="22D3EE">
              <a:alpha val="70000"/>
            </a:srgbClr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347308" y="2804160"/>
            <a:ext cx="2387270" cy="1011936"/>
          </a:xfrm>
          <a:prstGeom prst="roundRect">
            <a:avLst>
              <a:gd name="adj" fmla="val 7229"/>
            </a:avLst>
          </a:prstGeom>
          <a:solidFill>
            <a:srgbClr val="191640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7367207" y="2630424"/>
            <a:ext cx="347472" cy="34747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7367207" y="2630424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0A1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7</a:t>
            </a:r>
            <a:endParaRPr lang="en-US" sz="1200" dirty="0"/>
          </a:p>
        </p:txBody>
      </p:sp>
      <p:sp>
        <p:nvSpPr>
          <p:cNvPr id="44" name="Text 42"/>
          <p:cNvSpPr txBox="1"/>
          <p:nvPr/>
        </p:nvSpPr>
        <p:spPr>
          <a:xfrm>
            <a:off x="6475324" y="2968752"/>
            <a:ext cx="2131238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2D3E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Prompt Engineering</a:t>
            </a:r>
            <a:endParaRPr lang="en-US" sz="1250" dirty="0"/>
          </a:p>
        </p:txBody>
      </p:sp>
      <p:sp>
        <p:nvSpPr>
          <p:cNvPr id="45" name="Text 43"/>
          <p:cNvSpPr txBox="1"/>
          <p:nvPr/>
        </p:nvSpPr>
        <p:spPr>
          <a:xfrm>
            <a:off x="6475324" y="3334512"/>
            <a:ext cx="2131238" cy="39014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Structure, patterns and testing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8826017" y="3191256"/>
            <a:ext cx="320040" cy="237744"/>
          </a:xfrm>
          <a:prstGeom prst="rightArrow">
            <a:avLst/>
          </a:prstGeom>
          <a:solidFill>
            <a:srgbClr val="22D3EE">
              <a:alpha val="70000"/>
            </a:srgbClr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9237497" y="2804160"/>
            <a:ext cx="2387270" cy="1011936"/>
          </a:xfrm>
          <a:prstGeom prst="roundRect">
            <a:avLst>
              <a:gd name="adj" fmla="val 7229"/>
            </a:avLst>
          </a:prstGeom>
          <a:solidFill>
            <a:srgbClr val="191640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10257396" y="2630424"/>
            <a:ext cx="347472" cy="347472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10257396" y="2630424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0A1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8</a:t>
            </a:r>
            <a:endParaRPr lang="en-US" sz="1200" dirty="0"/>
          </a:p>
        </p:txBody>
      </p:sp>
      <p:sp>
        <p:nvSpPr>
          <p:cNvPr id="50" name="Text 48"/>
          <p:cNvSpPr txBox="1"/>
          <p:nvPr/>
        </p:nvSpPr>
        <p:spPr>
          <a:xfrm>
            <a:off x="9365513" y="2968752"/>
            <a:ext cx="2131238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BBF2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LLM APIs</a:t>
            </a:r>
            <a:endParaRPr lang="en-US" sz="1250" dirty="0"/>
          </a:p>
        </p:txBody>
      </p:sp>
      <p:sp>
        <p:nvSpPr>
          <p:cNvPr id="51" name="Text 49"/>
          <p:cNvSpPr txBox="1"/>
          <p:nvPr/>
        </p:nvSpPr>
        <p:spPr>
          <a:xfrm>
            <a:off x="9365513" y="3334512"/>
            <a:ext cx="2131238" cy="39014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Build something that calls a model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566928" y="4126992"/>
            <a:ext cx="2387270" cy="1011936"/>
          </a:xfrm>
          <a:prstGeom prst="roundRect">
            <a:avLst>
              <a:gd name="adj" fmla="val 7229"/>
            </a:avLst>
          </a:prstGeom>
          <a:solidFill>
            <a:srgbClr val="191640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1586827" y="3953256"/>
            <a:ext cx="347472" cy="347472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1586827" y="3953256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0A1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9</a:t>
            </a:r>
            <a:endParaRPr lang="en-US" sz="1200" dirty="0"/>
          </a:p>
        </p:txBody>
      </p:sp>
      <p:sp>
        <p:nvSpPr>
          <p:cNvPr id="55" name="Text 53"/>
          <p:cNvSpPr txBox="1"/>
          <p:nvPr/>
        </p:nvSpPr>
        <p:spPr>
          <a:xfrm>
            <a:off x="694944" y="4291584"/>
            <a:ext cx="2131238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34D39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RAG</a:t>
            </a:r>
            <a:endParaRPr lang="en-US" sz="1250" dirty="0"/>
          </a:p>
        </p:txBody>
      </p:sp>
      <p:sp>
        <p:nvSpPr>
          <p:cNvPr id="56" name="Text 54"/>
          <p:cNvSpPr txBox="1"/>
          <p:nvPr/>
        </p:nvSpPr>
        <p:spPr>
          <a:xfrm>
            <a:off x="694944" y="4657344"/>
            <a:ext cx="2131238" cy="39014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Embeddings, vector DB, retrieval</a:t>
            </a:r>
            <a:endParaRPr lang="en-US" sz="1050" dirty="0"/>
          </a:p>
        </p:txBody>
      </p:sp>
      <p:sp>
        <p:nvSpPr>
          <p:cNvPr id="57" name="Shape 55"/>
          <p:cNvSpPr/>
          <p:nvPr/>
        </p:nvSpPr>
        <p:spPr>
          <a:xfrm>
            <a:off x="3045638" y="4514088"/>
            <a:ext cx="320040" cy="237744"/>
          </a:xfrm>
          <a:prstGeom prst="rightArrow">
            <a:avLst/>
          </a:prstGeom>
          <a:solidFill>
            <a:srgbClr val="22D3EE">
              <a:alpha val="70000"/>
            </a:srgbClr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3457118" y="4126992"/>
            <a:ext cx="2387270" cy="1011936"/>
          </a:xfrm>
          <a:prstGeom prst="roundRect">
            <a:avLst>
              <a:gd name="adj" fmla="val 7229"/>
            </a:avLst>
          </a:prstGeom>
          <a:solidFill>
            <a:srgbClr val="191640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59" name="Shape 57"/>
          <p:cNvSpPr/>
          <p:nvPr/>
        </p:nvSpPr>
        <p:spPr>
          <a:xfrm>
            <a:off x="4477017" y="3953256"/>
            <a:ext cx="347472" cy="347472"/>
          </a:xfrm>
          <a:prstGeom prst="ellipse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4477017" y="3953256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0A1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10</a:t>
            </a:r>
            <a:endParaRPr lang="en-US" sz="1200" dirty="0"/>
          </a:p>
        </p:txBody>
      </p:sp>
      <p:sp>
        <p:nvSpPr>
          <p:cNvPr id="61" name="Text 59"/>
          <p:cNvSpPr txBox="1"/>
          <p:nvPr/>
        </p:nvSpPr>
        <p:spPr>
          <a:xfrm>
            <a:off x="3585134" y="4291584"/>
            <a:ext cx="2131238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472B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AI Agents</a:t>
            </a:r>
            <a:endParaRPr lang="en-US" sz="1250" dirty="0"/>
          </a:p>
        </p:txBody>
      </p:sp>
      <p:sp>
        <p:nvSpPr>
          <p:cNvPr id="62" name="Text 60"/>
          <p:cNvSpPr txBox="1"/>
          <p:nvPr/>
        </p:nvSpPr>
        <p:spPr>
          <a:xfrm>
            <a:off x="3585134" y="4657344"/>
            <a:ext cx="2131238" cy="39014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Tools, planning, guardrails</a:t>
            </a:r>
            <a:endParaRPr lang="en-US" sz="1050" dirty="0"/>
          </a:p>
        </p:txBody>
      </p:sp>
      <p:sp>
        <p:nvSpPr>
          <p:cNvPr id="63" name="Shape 61"/>
          <p:cNvSpPr/>
          <p:nvPr/>
        </p:nvSpPr>
        <p:spPr>
          <a:xfrm>
            <a:off x="5935828" y="4514088"/>
            <a:ext cx="320040" cy="237744"/>
          </a:xfrm>
          <a:prstGeom prst="rightArrow">
            <a:avLst/>
          </a:prstGeom>
          <a:solidFill>
            <a:srgbClr val="22D3EE">
              <a:alpha val="70000"/>
            </a:srgbClr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6347308" y="4126992"/>
            <a:ext cx="2387270" cy="1011936"/>
          </a:xfrm>
          <a:prstGeom prst="roundRect">
            <a:avLst>
              <a:gd name="adj" fmla="val 7229"/>
            </a:avLst>
          </a:prstGeom>
          <a:solidFill>
            <a:srgbClr val="191640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65" name="Shape 63"/>
          <p:cNvSpPr/>
          <p:nvPr/>
        </p:nvSpPr>
        <p:spPr>
          <a:xfrm>
            <a:off x="7367207" y="3953256"/>
            <a:ext cx="347472" cy="347472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66" name="Text 64"/>
          <p:cNvSpPr txBox="1"/>
          <p:nvPr/>
        </p:nvSpPr>
        <p:spPr>
          <a:xfrm>
            <a:off x="7367207" y="3953256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0A1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11</a:t>
            </a:r>
            <a:endParaRPr lang="en-US" sz="1200" dirty="0"/>
          </a:p>
        </p:txBody>
      </p:sp>
      <p:sp>
        <p:nvSpPr>
          <p:cNvPr id="67" name="Text 65"/>
          <p:cNvSpPr txBox="1"/>
          <p:nvPr/>
        </p:nvSpPr>
        <p:spPr>
          <a:xfrm>
            <a:off x="6475324" y="4291584"/>
            <a:ext cx="2131238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A78BF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AI Applications</a:t>
            </a:r>
            <a:endParaRPr lang="en-US" sz="1250" dirty="0"/>
          </a:p>
        </p:txBody>
      </p:sp>
      <p:sp>
        <p:nvSpPr>
          <p:cNvPr id="68" name="Text 66"/>
          <p:cNvSpPr txBox="1"/>
          <p:nvPr/>
        </p:nvSpPr>
        <p:spPr>
          <a:xfrm>
            <a:off x="6475324" y="4657344"/>
            <a:ext cx="2131238" cy="39014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Ship a real project end to end</a:t>
            </a:r>
            <a:endParaRPr lang="en-US" sz="1050" dirty="0"/>
          </a:p>
        </p:txBody>
      </p:sp>
      <p:sp>
        <p:nvSpPr>
          <p:cNvPr id="69" name="Shape 67"/>
          <p:cNvSpPr/>
          <p:nvPr/>
        </p:nvSpPr>
        <p:spPr>
          <a:xfrm>
            <a:off x="8826017" y="4514088"/>
            <a:ext cx="320040" cy="237744"/>
          </a:xfrm>
          <a:prstGeom prst="rightArrow">
            <a:avLst/>
          </a:prstGeom>
          <a:solidFill>
            <a:srgbClr val="22D3EE">
              <a:alpha val="70000"/>
            </a:srgbClr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9237497" y="4126992"/>
            <a:ext cx="2387270" cy="1011936"/>
          </a:xfrm>
          <a:prstGeom prst="roundRect">
            <a:avLst>
              <a:gd name="adj" fmla="val 7229"/>
            </a:avLst>
          </a:prstGeom>
          <a:solidFill>
            <a:srgbClr val="191640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71" name="Shape 69"/>
          <p:cNvSpPr/>
          <p:nvPr/>
        </p:nvSpPr>
        <p:spPr>
          <a:xfrm>
            <a:off x="10257396" y="3953256"/>
            <a:ext cx="347472" cy="34747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72" name="Text 70"/>
          <p:cNvSpPr txBox="1"/>
          <p:nvPr/>
        </p:nvSpPr>
        <p:spPr>
          <a:xfrm>
            <a:off x="10257396" y="3953256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0A1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12</a:t>
            </a:r>
            <a:endParaRPr lang="en-US" sz="1200" dirty="0"/>
          </a:p>
        </p:txBody>
      </p:sp>
      <p:sp>
        <p:nvSpPr>
          <p:cNvPr id="73" name="Text 71"/>
          <p:cNvSpPr txBox="1"/>
          <p:nvPr/>
        </p:nvSpPr>
        <p:spPr>
          <a:xfrm>
            <a:off x="9365513" y="4291584"/>
            <a:ext cx="2131238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2D3E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Specialisation</a:t>
            </a:r>
            <a:endParaRPr lang="en-US" sz="1250" dirty="0"/>
          </a:p>
        </p:txBody>
      </p:sp>
      <p:sp>
        <p:nvSpPr>
          <p:cNvPr id="74" name="Text 72"/>
          <p:cNvSpPr txBox="1"/>
          <p:nvPr/>
        </p:nvSpPr>
        <p:spPr>
          <a:xfrm>
            <a:off x="9365513" y="4657344"/>
            <a:ext cx="2131238" cy="39014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5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Pick your depth and go deep</a:t>
            </a:r>
            <a:endParaRPr lang="en-US" sz="1050" dirty="0"/>
          </a:p>
        </p:txBody>
      </p:sp>
      <p:sp>
        <p:nvSpPr>
          <p:cNvPr id="75" name="Shape 73"/>
          <p:cNvSpPr/>
          <p:nvPr/>
        </p:nvSpPr>
        <p:spPr>
          <a:xfrm>
            <a:off x="566928" y="5276088"/>
            <a:ext cx="11057839" cy="960120"/>
          </a:xfrm>
          <a:prstGeom prst="roundRect">
            <a:avLst>
              <a:gd name="adj" fmla="val 7619"/>
            </a:avLst>
          </a:prstGeom>
          <a:solidFill>
            <a:srgbClr val="191640">
              <a:alpha val="96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76" name="Text 74"/>
          <p:cNvSpPr txBox="1"/>
          <p:nvPr/>
        </p:nvSpPr>
        <p:spPr>
          <a:xfrm>
            <a:off x="841248" y="5385816"/>
            <a:ext cx="10509199" cy="7406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A78BF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Remember:  </a:t>
            </a:r>
            <a:r>
              <a:rPr lang="en-US" sz="13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Build something small at every stage. Three finished small projects teach more than twelve unfinished tutorials.</a:t>
            </a:r>
            <a:endParaRPr lang="en-US" sz="1300" dirty="0"/>
          </a:p>
        </p:txBody>
      </p:sp>
    </p:spTree>
  </p:cSld>
  <p:clrMapOvr>
    <a:masterClrMapping/>
  </p:clrMapOvr>
</p:sld>
</file>

<file path=ppt/slides/slide2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BBF2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QUIZ 21 · SLIDES 213–224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Quiz 21 — Generative AI Careers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Section 21 · Generative AI Careers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265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11057839" cy="848563"/>
          </a:xfrm>
          <a:prstGeom prst="roundRect">
            <a:avLst>
              <a:gd name="adj" fmla="val 8621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68096" y="1627632"/>
            <a:ext cx="310896" cy="310896"/>
          </a:xfrm>
          <a:prstGeom prst="ellipse">
            <a:avLst/>
          </a:prstGeom>
          <a:solidFill>
            <a:srgbClr val="FBBF24">
              <a:alpha val="22000"/>
            </a:srgbClr>
          </a:solidFill>
          <a:ln w="12700">
            <a:solidFill>
              <a:srgbClr val="FBBF24">
                <a:alpha val="5000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68096" y="1627632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BBF2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Q1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188720" y="1600200"/>
            <a:ext cx="8726119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An AI engineer mainly: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10207447" y="1618488"/>
            <a:ext cx="1371600" cy="347472"/>
          </a:xfrm>
          <a:prstGeom prst="roundRect">
            <a:avLst>
              <a:gd name="adj" fmla="val 15789"/>
            </a:avLst>
          </a:prstGeom>
          <a:solidFill>
            <a:srgbClr val="A78BFA">
              <a:alpha val="20000"/>
            </a:srgbClr>
          </a:solidFill>
          <a:ln w="12700">
            <a:solidFill>
              <a:srgbClr val="A78BFA">
                <a:alpha val="60000"/>
              </a:srgbClr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207447" y="1618488"/>
            <a:ext cx="13716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Answer: A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1115568" y="2011680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A. </a:t>
            </a: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Builds apps using existing models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3674288" y="2011680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B. </a:t>
            </a:r>
            <a:r>
              <a:rPr lang="en-US" sz="11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Trains models from scratch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6233008" y="2011680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C. </a:t>
            </a:r>
            <a:r>
              <a:rPr lang="en-US" sz="11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Repairs hardware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8791727" y="2011680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D. </a:t>
            </a:r>
            <a:r>
              <a:rPr lang="en-US" sz="11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Designs logos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66928" y="2457907"/>
            <a:ext cx="11057839" cy="848563"/>
          </a:xfrm>
          <a:prstGeom prst="roundRect">
            <a:avLst>
              <a:gd name="adj" fmla="val 8621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68096" y="2604211"/>
            <a:ext cx="310896" cy="310896"/>
          </a:xfrm>
          <a:prstGeom prst="ellipse">
            <a:avLst/>
          </a:prstGeom>
          <a:solidFill>
            <a:srgbClr val="FBBF24">
              <a:alpha val="22000"/>
            </a:srgbClr>
          </a:solidFill>
          <a:ln w="12700">
            <a:solidFill>
              <a:srgbClr val="FBBF24">
                <a:alpha val="50000"/>
              </a:srgbClr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68096" y="2604211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BBF2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Q2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1188720" y="2576779"/>
            <a:ext cx="8726119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Which skill is needed in almost every AI role?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10207447" y="2595067"/>
            <a:ext cx="1371600" cy="347472"/>
          </a:xfrm>
          <a:prstGeom prst="roundRect">
            <a:avLst>
              <a:gd name="adj" fmla="val 15789"/>
            </a:avLst>
          </a:prstGeom>
          <a:solidFill>
            <a:srgbClr val="A78BFA">
              <a:alpha val="20000"/>
            </a:srgbClr>
          </a:solidFill>
          <a:ln w="12700">
            <a:solidFill>
              <a:srgbClr val="A78BFA">
                <a:alpha val="60000"/>
              </a:srgbClr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0207447" y="2595067"/>
            <a:ext cx="13716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Answer: B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1115568" y="2988259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A. </a:t>
            </a:r>
            <a:r>
              <a:rPr lang="en-US" sz="11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Video editing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3674288" y="2988259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B. </a:t>
            </a: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Clear communication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6233008" y="2988259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C. </a:t>
            </a:r>
            <a:r>
              <a:rPr lang="en-US" sz="11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Graphic design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8791727" y="2988259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D. </a:t>
            </a:r>
            <a:r>
              <a:rPr lang="en-US" sz="11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Hardware repair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66928" y="3434486"/>
            <a:ext cx="11057839" cy="848563"/>
          </a:xfrm>
          <a:prstGeom prst="roundRect">
            <a:avLst>
              <a:gd name="adj" fmla="val 8621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768096" y="3580790"/>
            <a:ext cx="310896" cy="310896"/>
          </a:xfrm>
          <a:prstGeom prst="ellipse">
            <a:avLst/>
          </a:prstGeom>
          <a:solidFill>
            <a:srgbClr val="FBBF24">
              <a:alpha val="22000"/>
            </a:srgbClr>
          </a:solidFill>
          <a:ln w="12700">
            <a:solidFill>
              <a:srgbClr val="FBBF24">
                <a:alpha val="50000"/>
              </a:srgbClr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68096" y="3580790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BBF2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Q3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1188720" y="3553358"/>
            <a:ext cx="8726119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AI researcher roles usually require: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10207447" y="3571646"/>
            <a:ext cx="1371600" cy="347472"/>
          </a:xfrm>
          <a:prstGeom prst="roundRect">
            <a:avLst>
              <a:gd name="adj" fmla="val 15789"/>
            </a:avLst>
          </a:prstGeom>
          <a:solidFill>
            <a:srgbClr val="A78BFA">
              <a:alpha val="20000"/>
            </a:srgbClr>
          </a:solidFill>
          <a:ln w="12700">
            <a:solidFill>
              <a:srgbClr val="A78BFA">
                <a:alpha val="60000"/>
              </a:srgbClr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10207447" y="3571646"/>
            <a:ext cx="13716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Answer: C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1115568" y="3964838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A. </a:t>
            </a:r>
            <a:r>
              <a:rPr lang="en-US" sz="11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 maths at all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3674288" y="3964838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B. </a:t>
            </a:r>
            <a:r>
              <a:rPr lang="en-US" sz="11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Only prompting skill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6233008" y="3964838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C. </a:t>
            </a: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Advanced research background</a:t>
            </a:r>
            <a:endParaRPr lang="en-US" sz="1050" dirty="0"/>
          </a:p>
        </p:txBody>
      </p:sp>
      <p:sp>
        <p:nvSpPr>
          <p:cNvPr id="35" name="Text 33"/>
          <p:cNvSpPr txBox="1"/>
          <p:nvPr/>
        </p:nvSpPr>
        <p:spPr>
          <a:xfrm>
            <a:off x="8791727" y="3964838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D. </a:t>
            </a:r>
            <a:r>
              <a:rPr lang="en-US" sz="11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Only design skill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66928" y="4411066"/>
            <a:ext cx="11057839" cy="848563"/>
          </a:xfrm>
          <a:prstGeom prst="roundRect">
            <a:avLst>
              <a:gd name="adj" fmla="val 8621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768096" y="4557370"/>
            <a:ext cx="310896" cy="310896"/>
          </a:xfrm>
          <a:prstGeom prst="ellipse">
            <a:avLst/>
          </a:prstGeom>
          <a:solidFill>
            <a:srgbClr val="FBBF24">
              <a:alpha val="22000"/>
            </a:srgbClr>
          </a:solidFill>
          <a:ln w="12700">
            <a:solidFill>
              <a:srgbClr val="FBBF24">
                <a:alpha val="50000"/>
              </a:srgbClr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768096" y="4557370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BBF2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Q4</a:t>
            </a:r>
            <a:endParaRPr lang="en-US" sz="900" dirty="0"/>
          </a:p>
        </p:txBody>
      </p:sp>
      <p:sp>
        <p:nvSpPr>
          <p:cNvPr id="39" name="Text 37"/>
          <p:cNvSpPr txBox="1"/>
          <p:nvPr/>
        </p:nvSpPr>
        <p:spPr>
          <a:xfrm>
            <a:off x="1188720" y="4529938"/>
            <a:ext cx="8726119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 good first step in the roadmap is:</a:t>
            </a:r>
            <a:endParaRPr lang="en-US" sz="1250" dirty="0"/>
          </a:p>
        </p:txBody>
      </p:sp>
      <p:sp>
        <p:nvSpPr>
          <p:cNvPr id="40" name="Shape 38"/>
          <p:cNvSpPr/>
          <p:nvPr/>
        </p:nvSpPr>
        <p:spPr>
          <a:xfrm>
            <a:off x="10207447" y="4548226"/>
            <a:ext cx="1371600" cy="347472"/>
          </a:xfrm>
          <a:prstGeom prst="roundRect">
            <a:avLst>
              <a:gd name="adj" fmla="val 15789"/>
            </a:avLst>
          </a:prstGeom>
          <a:solidFill>
            <a:srgbClr val="A78BFA">
              <a:alpha val="20000"/>
            </a:srgbClr>
          </a:solidFill>
          <a:ln w="12700">
            <a:solidFill>
              <a:srgbClr val="A78BFA">
                <a:alpha val="60000"/>
              </a:srgbClr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10207447" y="4548226"/>
            <a:ext cx="13716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Answer: D</a:t>
            </a:r>
            <a:endParaRPr lang="en-US" sz="1050" dirty="0"/>
          </a:p>
        </p:txBody>
      </p:sp>
      <p:sp>
        <p:nvSpPr>
          <p:cNvPr id="42" name="Text 40"/>
          <p:cNvSpPr txBox="1"/>
          <p:nvPr/>
        </p:nvSpPr>
        <p:spPr>
          <a:xfrm>
            <a:off x="1115568" y="4941418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A. </a:t>
            </a:r>
            <a:r>
              <a:rPr lang="en-US" sz="11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Training a large model</a:t>
            </a:r>
            <a:endParaRPr lang="en-US" sz="1050" dirty="0"/>
          </a:p>
        </p:txBody>
      </p:sp>
      <p:sp>
        <p:nvSpPr>
          <p:cNvPr id="43" name="Text 41"/>
          <p:cNvSpPr txBox="1"/>
          <p:nvPr/>
        </p:nvSpPr>
        <p:spPr>
          <a:xfrm>
            <a:off x="3674288" y="4941418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B. </a:t>
            </a:r>
            <a:r>
              <a:rPr lang="en-US" sz="11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Writing a research paper</a:t>
            </a:r>
            <a:endParaRPr lang="en-US" sz="1050" dirty="0"/>
          </a:p>
        </p:txBody>
      </p:sp>
      <p:sp>
        <p:nvSpPr>
          <p:cNvPr id="44" name="Text 42"/>
          <p:cNvSpPr txBox="1"/>
          <p:nvPr/>
        </p:nvSpPr>
        <p:spPr>
          <a:xfrm>
            <a:off x="6233008" y="4941418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C. </a:t>
            </a:r>
            <a:r>
              <a:rPr lang="en-US" sz="11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Building a data centre</a:t>
            </a:r>
            <a:endParaRPr lang="en-US" sz="1050" dirty="0"/>
          </a:p>
        </p:txBody>
      </p:sp>
      <p:sp>
        <p:nvSpPr>
          <p:cNvPr id="45" name="Text 43"/>
          <p:cNvSpPr txBox="1"/>
          <p:nvPr/>
        </p:nvSpPr>
        <p:spPr>
          <a:xfrm>
            <a:off x="8791727" y="4941418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D. </a:t>
            </a: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 fundamentals and Python basics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566928" y="5387645"/>
            <a:ext cx="11057839" cy="848563"/>
          </a:xfrm>
          <a:prstGeom prst="roundRect">
            <a:avLst>
              <a:gd name="adj" fmla="val 8621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768096" y="5533949"/>
            <a:ext cx="310896" cy="310896"/>
          </a:xfrm>
          <a:prstGeom prst="ellipse">
            <a:avLst/>
          </a:prstGeom>
          <a:solidFill>
            <a:srgbClr val="FBBF24">
              <a:alpha val="22000"/>
            </a:srgbClr>
          </a:solidFill>
          <a:ln w="12700">
            <a:solidFill>
              <a:srgbClr val="FBBF24">
                <a:alpha val="50000"/>
              </a:srgbClr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768096" y="5533949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BBF2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Q5</a:t>
            </a:r>
            <a:endParaRPr lang="en-US" sz="900" dirty="0"/>
          </a:p>
        </p:txBody>
      </p:sp>
      <p:sp>
        <p:nvSpPr>
          <p:cNvPr id="49" name="Text 47"/>
          <p:cNvSpPr txBox="1"/>
          <p:nvPr/>
        </p:nvSpPr>
        <p:spPr>
          <a:xfrm>
            <a:off x="1188720" y="5506517"/>
            <a:ext cx="8726119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The best way to learn is to:</a:t>
            </a:r>
            <a:endParaRPr lang="en-US" sz="1250" dirty="0"/>
          </a:p>
        </p:txBody>
      </p:sp>
      <p:sp>
        <p:nvSpPr>
          <p:cNvPr id="50" name="Shape 48"/>
          <p:cNvSpPr/>
          <p:nvPr/>
        </p:nvSpPr>
        <p:spPr>
          <a:xfrm>
            <a:off x="10207447" y="5524805"/>
            <a:ext cx="1371600" cy="347472"/>
          </a:xfrm>
          <a:prstGeom prst="roundRect">
            <a:avLst>
              <a:gd name="adj" fmla="val 15789"/>
            </a:avLst>
          </a:prstGeom>
          <a:solidFill>
            <a:srgbClr val="A78BFA">
              <a:alpha val="20000"/>
            </a:srgbClr>
          </a:solidFill>
          <a:ln w="12700">
            <a:solidFill>
              <a:srgbClr val="A78BFA">
                <a:alpha val="60000"/>
              </a:srgbClr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10207447" y="5524805"/>
            <a:ext cx="13716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Answer: A</a:t>
            </a:r>
            <a:endParaRPr lang="en-US" sz="1050" dirty="0"/>
          </a:p>
        </p:txBody>
      </p:sp>
      <p:sp>
        <p:nvSpPr>
          <p:cNvPr id="52" name="Text 50"/>
          <p:cNvSpPr txBox="1"/>
          <p:nvPr/>
        </p:nvSpPr>
        <p:spPr>
          <a:xfrm>
            <a:off x="1115568" y="5917997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A. </a:t>
            </a: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Build small real projects</a:t>
            </a:r>
            <a:endParaRPr lang="en-US" sz="1050" dirty="0"/>
          </a:p>
        </p:txBody>
      </p:sp>
      <p:sp>
        <p:nvSpPr>
          <p:cNvPr id="53" name="Text 51"/>
          <p:cNvSpPr txBox="1"/>
          <p:nvPr/>
        </p:nvSpPr>
        <p:spPr>
          <a:xfrm>
            <a:off x="3674288" y="5917997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B. </a:t>
            </a:r>
            <a:r>
              <a:rPr lang="en-US" sz="11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Only watch videos</a:t>
            </a:r>
            <a:endParaRPr lang="en-US" sz="1050" dirty="0"/>
          </a:p>
        </p:txBody>
      </p:sp>
      <p:sp>
        <p:nvSpPr>
          <p:cNvPr id="54" name="Text 52"/>
          <p:cNvSpPr txBox="1"/>
          <p:nvPr/>
        </p:nvSpPr>
        <p:spPr>
          <a:xfrm>
            <a:off x="6233008" y="5917997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C. </a:t>
            </a:r>
            <a:r>
              <a:rPr lang="en-US" sz="11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Only read theory</a:t>
            </a:r>
            <a:endParaRPr lang="en-US" sz="1050" dirty="0"/>
          </a:p>
        </p:txBody>
      </p:sp>
      <p:sp>
        <p:nvSpPr>
          <p:cNvPr id="55" name="Text 53"/>
          <p:cNvSpPr txBox="1"/>
          <p:nvPr/>
        </p:nvSpPr>
        <p:spPr>
          <a:xfrm>
            <a:off x="8791727" y="5917997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D. </a:t>
            </a:r>
            <a:r>
              <a:rPr lang="en-US" sz="11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Wait for a job first</a:t>
            </a:r>
            <a:endParaRPr lang="en-US" sz="1050" dirty="0"/>
          </a:p>
        </p:txBody>
      </p:sp>
    </p:spTree>
  </p:cSld>
  <p:clrMapOvr>
    <a:masterClrMapping/>
  </p:clrMapOvr>
</p:sld>
</file>

<file path=ppt/slides/slide2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49808" y="1874520"/>
            <a:ext cx="58521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SECTION 22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49808" y="2240280"/>
            <a:ext cx="6035040" cy="1554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The Future of Generative AI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749808" y="3886200"/>
            <a:ext cx="5852160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Where things stand now, what is clearly moving, and what remains uncertain.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49808" y="4846320"/>
            <a:ext cx="1463040" cy="64008"/>
          </a:xfrm>
          <a:prstGeom prst="roundRect">
            <a:avLst>
              <a:gd name="adj" fmla="val 42857"/>
            </a:avLst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32320" y="1143000"/>
            <a:ext cx="4492447" cy="797357"/>
          </a:xfrm>
          <a:prstGeom prst="roundRect">
            <a:avLst>
              <a:gd name="adj" fmla="val 9174"/>
            </a:avLst>
          </a:prstGeom>
          <a:solidFill>
            <a:srgbClr val="191640"/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51776" y="1313078"/>
            <a:ext cx="457200" cy="457200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66076" y="1427378"/>
            <a:ext cx="228600" cy="22860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8010144" y="1143000"/>
            <a:ext cx="3303727" cy="79735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Current State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7132320" y="2086661"/>
            <a:ext cx="4492447" cy="797357"/>
          </a:xfrm>
          <a:prstGeom prst="roundRect">
            <a:avLst>
              <a:gd name="adj" fmla="val 9174"/>
            </a:avLst>
          </a:prstGeom>
          <a:solidFill>
            <a:srgbClr val="191640"/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7351776" y="2256739"/>
            <a:ext cx="457200" cy="457200"/>
          </a:xfrm>
          <a:prstGeom prst="ellipse">
            <a:avLst/>
          </a:prstGeom>
          <a:solidFill>
            <a:srgbClr val="22D3EE">
              <a:alpha val="16000"/>
            </a:srgbClr>
          </a:solidFill>
          <a:ln w="12700">
            <a:solidFill>
              <a:srgbClr val="22D3EE">
                <a:alpha val="45000"/>
              </a:srgbClr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6076" y="2371039"/>
            <a:ext cx="228600" cy="22860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8010144" y="2086661"/>
            <a:ext cx="3303727" cy="79735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Multimodal AI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7132320" y="3030322"/>
            <a:ext cx="4492447" cy="797357"/>
          </a:xfrm>
          <a:prstGeom prst="roundRect">
            <a:avLst>
              <a:gd name="adj" fmla="val 9174"/>
            </a:avLst>
          </a:prstGeom>
          <a:solidFill>
            <a:srgbClr val="191640"/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351776" y="3200400"/>
            <a:ext cx="457200" cy="457200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6076" y="3314700"/>
            <a:ext cx="228600" cy="22860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010144" y="3030322"/>
            <a:ext cx="3303727" cy="79735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Agents &amp; Automation</a:t>
            </a:r>
            <a:endParaRPr lang="en-US" sz="1350" dirty="0"/>
          </a:p>
        </p:txBody>
      </p:sp>
      <p:sp>
        <p:nvSpPr>
          <p:cNvPr id="18" name="Shape 13"/>
          <p:cNvSpPr/>
          <p:nvPr/>
        </p:nvSpPr>
        <p:spPr>
          <a:xfrm>
            <a:off x="7132320" y="3973982"/>
            <a:ext cx="4492447" cy="797357"/>
          </a:xfrm>
          <a:prstGeom prst="roundRect">
            <a:avLst>
              <a:gd name="adj" fmla="val 9174"/>
            </a:avLst>
          </a:prstGeom>
          <a:solidFill>
            <a:srgbClr val="191640"/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7351776" y="4144061"/>
            <a:ext cx="457200" cy="457200"/>
          </a:xfrm>
          <a:prstGeom prst="ellipse">
            <a:avLst/>
          </a:prstGeom>
          <a:solidFill>
            <a:srgbClr val="34D399">
              <a:alpha val="16000"/>
            </a:srgbClr>
          </a:solidFill>
          <a:ln w="12700">
            <a:solidFill>
              <a:srgbClr val="34D399">
                <a:alpha val="45000"/>
              </a:srgbClr>
            </a:solidFill>
            <a:prstDash val="solid"/>
          </a:ln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66076" y="4258361"/>
            <a:ext cx="228600" cy="22860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8010144" y="3973982"/>
            <a:ext cx="3303727" cy="79735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Human Collaboration</a:t>
            </a:r>
            <a:endParaRPr lang="en-US" sz="1350" dirty="0"/>
          </a:p>
        </p:txBody>
      </p:sp>
      <p:sp>
        <p:nvSpPr>
          <p:cNvPr id="22" name="Shape 16"/>
          <p:cNvSpPr/>
          <p:nvPr/>
        </p:nvSpPr>
        <p:spPr>
          <a:xfrm>
            <a:off x="7132320" y="4917643"/>
            <a:ext cx="4492447" cy="797357"/>
          </a:xfrm>
          <a:prstGeom prst="roundRect">
            <a:avLst>
              <a:gd name="adj" fmla="val 9174"/>
            </a:avLst>
          </a:prstGeom>
          <a:solidFill>
            <a:srgbClr val="191640"/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7351776" y="5087722"/>
            <a:ext cx="457200" cy="457200"/>
          </a:xfrm>
          <a:prstGeom prst="ellipse">
            <a:avLst/>
          </a:prstGeom>
          <a:solidFill>
            <a:srgbClr val="F472B6">
              <a:alpha val="16000"/>
            </a:srgbClr>
          </a:solidFill>
          <a:ln w="12700">
            <a:solidFill>
              <a:srgbClr val="F472B6">
                <a:alpha val="45000"/>
              </a:srgbClr>
            </a:solidFill>
            <a:prstDash val="solid"/>
          </a:ln>
        </p:spPr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66076" y="5202022"/>
            <a:ext cx="228600" cy="228600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8010144" y="4917643"/>
            <a:ext cx="3303727" cy="79735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Future Skills</a:t>
            </a:r>
            <a:endParaRPr lang="en-US" sz="1350" dirty="0"/>
          </a:p>
        </p:txBody>
      </p:sp>
      <p:sp>
        <p:nvSpPr>
          <p:cNvPr id="26" name="Text 19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Section 22 · The Future of Generative AI</a:t>
            </a:r>
            <a:endParaRPr lang="en-US" sz="950" dirty="0"/>
          </a:p>
        </p:txBody>
      </p:sp>
      <p:sp>
        <p:nvSpPr>
          <p:cNvPr id="27" name="Text 20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266</a:t>
            </a:r>
            <a:endParaRPr lang="en-US" sz="950" dirty="0"/>
          </a:p>
        </p:txBody>
      </p:sp>
    </p:spTree>
  </p:cSld>
  <p:clrMapOvr>
    <a:masterClrMapping/>
  </p:clrMapOvr>
</p:sld>
</file>

<file path=ppt/slides/slide2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SLIDE 225 · TODAY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Current State of Generative AI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Section 22 · The Future of Generative AI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267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11057839" cy="877824"/>
          </a:xfrm>
          <a:prstGeom prst="roundRect">
            <a:avLst>
              <a:gd name="adj" fmla="val 8333"/>
            </a:avLst>
          </a:prstGeom>
          <a:solidFill>
            <a:srgbClr val="191640">
              <a:alpha val="96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6928" y="1627632"/>
            <a:ext cx="64008" cy="585216"/>
          </a:xfrm>
          <a:prstGeom prst="roundRect">
            <a:avLst>
              <a:gd name="adj" fmla="val 42857"/>
            </a:avLst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59536" y="1572768"/>
            <a:ext cx="10472623" cy="6949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DDD9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Gen AI has moved from demonstrations into everyday work — with clear strengths and clear limits.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66928" y="2615184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22960" y="2816352"/>
            <a:ext cx="457200" cy="457200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2930652"/>
            <a:ext cx="228600" cy="22860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499616" y="2816352"/>
            <a:ext cx="41847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What works reliably today</a:t>
            </a:r>
            <a:endParaRPr lang="en-US" sz="1450" dirty="0"/>
          </a:p>
        </p:txBody>
      </p:sp>
      <p:sp>
        <p:nvSpPr>
          <p:cNvPr id="13" name="Text 10"/>
          <p:cNvSpPr txBox="1"/>
          <p:nvPr/>
        </p:nvSpPr>
        <p:spPr>
          <a:xfrm>
            <a:off x="841248" y="3419856"/>
            <a:ext cx="484312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200"/>
              </a:spcAft>
              <a:buSzPct val="100000"/>
              <a:buChar char="▪"/>
            </a:pPr>
            <a:r>
              <a:rPr lang="en-US" sz="9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Drafting and summarising</a:t>
            </a:r>
            <a:endParaRPr lang="en-US" sz="900" dirty="0"/>
          </a:p>
          <a:p>
            <a:pPr marL="342900" indent="-342900">
              <a:lnSpc>
                <a:spcPct val="110000"/>
              </a:lnSpc>
              <a:spcAft>
                <a:spcPts val="200"/>
              </a:spcAft>
              <a:buSzPct val="100000"/>
              <a:buChar char="▪"/>
            </a:pPr>
            <a:r>
              <a:rPr lang="en-US" sz="9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Translation and explanation</a:t>
            </a:r>
            <a:endParaRPr lang="en-US" sz="900" dirty="0"/>
          </a:p>
          <a:p>
            <a:pPr marL="342900" indent="-342900">
              <a:lnSpc>
                <a:spcPct val="110000"/>
              </a:lnSpc>
              <a:spcAft>
                <a:spcPts val="200"/>
              </a:spcAft>
              <a:buSzPct val="100000"/>
              <a:buChar char="▪"/>
            </a:pPr>
            <a:r>
              <a:rPr lang="en-US" sz="9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Coding assistance</a:t>
            </a:r>
            <a:endParaRPr lang="en-US" sz="900" dirty="0"/>
          </a:p>
          <a:p>
            <a:pPr marL="342900" indent="-342900">
              <a:lnSpc>
                <a:spcPct val="110000"/>
              </a:lnSpc>
              <a:spcAft>
                <a:spcPts val="200"/>
              </a:spcAft>
              <a:buSzPct val="100000"/>
              <a:buChar char="▪"/>
            </a:pPr>
            <a:r>
              <a:rPr lang="en-US" sz="9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Search over your own documents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6233008" y="2615184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489040" y="2816352"/>
            <a:ext cx="457200" cy="457200"/>
          </a:xfrm>
          <a:prstGeom prst="ellipse">
            <a:avLst/>
          </a:prstGeom>
          <a:solidFill>
            <a:srgbClr val="22D3EE">
              <a:alpha val="16000"/>
            </a:srgbClr>
          </a:solidFill>
          <a:ln w="12700">
            <a:solidFill>
              <a:srgbClr val="22D3EE">
                <a:alpha val="45000"/>
              </a:srgbClr>
            </a:solidFill>
            <a:prstDash val="solid"/>
          </a:ln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3340" y="2930652"/>
            <a:ext cx="228600" cy="22860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7165696" y="2816352"/>
            <a:ext cx="41847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What is still unreliable</a:t>
            </a:r>
            <a:endParaRPr lang="en-US" sz="1450" dirty="0"/>
          </a:p>
        </p:txBody>
      </p:sp>
      <p:sp>
        <p:nvSpPr>
          <p:cNvPr id="18" name="Text 14"/>
          <p:cNvSpPr txBox="1"/>
          <p:nvPr/>
        </p:nvSpPr>
        <p:spPr>
          <a:xfrm>
            <a:off x="6507328" y="3419856"/>
            <a:ext cx="484312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200"/>
              </a:spcAft>
              <a:buSzPct val="100000"/>
              <a:buChar char="▪"/>
            </a:pPr>
            <a:r>
              <a:rPr lang="en-US" sz="9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Guaranteed factual accuracy</a:t>
            </a:r>
            <a:endParaRPr lang="en-US" sz="900" dirty="0"/>
          </a:p>
          <a:p>
            <a:pPr marL="342900" indent="-342900">
              <a:lnSpc>
                <a:spcPct val="110000"/>
              </a:lnSpc>
              <a:spcAft>
                <a:spcPts val="200"/>
              </a:spcAft>
              <a:buSzPct val="100000"/>
              <a:buChar char="▪"/>
            </a:pPr>
            <a:r>
              <a:rPr lang="en-US" sz="9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Exact arithmetic without tools</a:t>
            </a:r>
            <a:endParaRPr lang="en-US" sz="900" dirty="0"/>
          </a:p>
          <a:p>
            <a:pPr marL="342900" indent="-342900">
              <a:lnSpc>
                <a:spcPct val="110000"/>
              </a:lnSpc>
              <a:spcAft>
                <a:spcPts val="200"/>
              </a:spcAft>
              <a:buSzPct val="100000"/>
              <a:buChar char="▪"/>
            </a:pPr>
            <a:r>
              <a:rPr lang="en-US" sz="9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Long fully consistent video</a:t>
            </a:r>
            <a:endParaRPr lang="en-US" sz="900" dirty="0"/>
          </a:p>
          <a:p>
            <a:pPr marL="342900" indent="-342900">
              <a:lnSpc>
                <a:spcPct val="110000"/>
              </a:lnSpc>
              <a:spcAft>
                <a:spcPts val="200"/>
              </a:spcAft>
              <a:buSzPct val="100000"/>
              <a:buChar char="▪"/>
            </a:pPr>
            <a:r>
              <a:rPr lang="en-US" sz="9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Complex unsupervised reasoning</a:t>
            </a:r>
            <a:endParaRPr lang="en-US" sz="900" dirty="0"/>
          </a:p>
        </p:txBody>
      </p:sp>
      <p:sp>
        <p:nvSpPr>
          <p:cNvPr id="19" name="Shape 15"/>
          <p:cNvSpPr/>
          <p:nvPr/>
        </p:nvSpPr>
        <p:spPr>
          <a:xfrm>
            <a:off x="566928" y="4530149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822960" y="4731317"/>
            <a:ext cx="457200" cy="457200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260" y="4845617"/>
            <a:ext cx="228600" cy="22860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499616" y="4731317"/>
            <a:ext cx="41847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Clear direction of travel</a:t>
            </a:r>
            <a:endParaRPr lang="en-US" sz="1450" dirty="0"/>
          </a:p>
        </p:txBody>
      </p:sp>
      <p:sp>
        <p:nvSpPr>
          <p:cNvPr id="23" name="Text 18"/>
          <p:cNvSpPr txBox="1"/>
          <p:nvPr/>
        </p:nvSpPr>
        <p:spPr>
          <a:xfrm>
            <a:off x="841248" y="5334821"/>
            <a:ext cx="484312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Multimodal by default, agentic workflows, smaller task-specific models, and standard ways to connect tools.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6233008" y="4530149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6489040" y="4731317"/>
            <a:ext cx="457200" cy="457200"/>
          </a:xfrm>
          <a:prstGeom prst="ellipse">
            <a:avLst/>
          </a:prstGeom>
          <a:solidFill>
            <a:srgbClr val="34D399">
              <a:alpha val="16000"/>
            </a:srgbClr>
          </a:solidFill>
          <a:ln w="12700">
            <a:solidFill>
              <a:srgbClr val="34D399">
                <a:alpha val="45000"/>
              </a:srgbClr>
            </a:solidFill>
            <a:prstDash val="solid"/>
          </a:ln>
        </p:spPr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3340" y="4845617"/>
            <a:ext cx="228600" cy="228600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7165696" y="4731317"/>
            <a:ext cx="41847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How to talk about it</a:t>
            </a:r>
            <a:endParaRPr lang="en-US" sz="1450" dirty="0"/>
          </a:p>
        </p:txBody>
      </p:sp>
      <p:sp>
        <p:nvSpPr>
          <p:cNvPr id="28" name="Text 22"/>
          <p:cNvSpPr txBox="1"/>
          <p:nvPr/>
        </p:nvSpPr>
        <p:spPr>
          <a:xfrm>
            <a:off x="6507328" y="5334821"/>
            <a:ext cx="484312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Avoid claiming any model is permanently best. Capabilities change within months.</a:t>
            </a:r>
            <a:endParaRPr lang="en-US" sz="1200" dirty="0"/>
          </a:p>
        </p:txBody>
      </p:sp>
    </p:spTree>
  </p:cSld>
  <p:clrMapOvr>
    <a:masterClrMapping/>
  </p:clrMapOvr>
</p:sld>
</file>

<file path=ppt/slides/slide2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SLIDE 226 · DIRECTION 1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Multimodal AI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Section 22 · The Future of Generative AI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268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481328"/>
            <a:ext cx="11057839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DDD9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One model that handles several types of input and output together.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66928" y="2048256"/>
            <a:ext cx="3350666" cy="1316736"/>
          </a:xfrm>
          <a:prstGeom prst="roundRect">
            <a:avLst>
              <a:gd name="adj" fmla="val 5556"/>
            </a:avLst>
          </a:prstGeom>
          <a:solidFill>
            <a:srgbClr val="191640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068525" y="1874520"/>
            <a:ext cx="347472" cy="347472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068525" y="1874520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0A1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94944" y="2322576"/>
            <a:ext cx="3094634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A78BF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Text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94944" y="2779776"/>
            <a:ext cx="3094634" cy="44805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Questions and instructions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009034" y="2587752"/>
            <a:ext cx="320040" cy="237744"/>
          </a:xfrm>
          <a:prstGeom prst="rightArrow">
            <a:avLst/>
          </a:prstGeom>
          <a:solidFill>
            <a:srgbClr val="22D3EE">
              <a:alpha val="70000"/>
            </a:srgbClr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420514" y="2048256"/>
            <a:ext cx="3350666" cy="1316736"/>
          </a:xfrm>
          <a:prstGeom prst="roundRect">
            <a:avLst>
              <a:gd name="adj" fmla="val 5556"/>
            </a:avLst>
          </a:prstGeom>
          <a:solidFill>
            <a:srgbClr val="191640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922112" y="1874520"/>
            <a:ext cx="347472" cy="34747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922112" y="1874520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0A1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4548530" y="2322576"/>
            <a:ext cx="3094634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2D3E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Image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4548530" y="2779776"/>
            <a:ext cx="3094634" cy="44805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Photos, diagrams, screenshots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7862621" y="2587752"/>
            <a:ext cx="320040" cy="237744"/>
          </a:xfrm>
          <a:prstGeom prst="rightArrow">
            <a:avLst/>
          </a:prstGeom>
          <a:solidFill>
            <a:srgbClr val="22D3EE">
              <a:alpha val="70000"/>
            </a:srgbClr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274101" y="2048256"/>
            <a:ext cx="3350666" cy="1316736"/>
          </a:xfrm>
          <a:prstGeom prst="roundRect">
            <a:avLst>
              <a:gd name="adj" fmla="val 5556"/>
            </a:avLst>
          </a:prstGeom>
          <a:solidFill>
            <a:srgbClr val="191640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775698" y="1874520"/>
            <a:ext cx="347472" cy="347472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775698" y="1874520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0A1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8402117" y="2322576"/>
            <a:ext cx="3094634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BBF2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Audio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8402117" y="2779776"/>
            <a:ext cx="3094634" cy="44805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Speech and sound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66928" y="3822192"/>
            <a:ext cx="3350666" cy="1316736"/>
          </a:xfrm>
          <a:prstGeom prst="roundRect">
            <a:avLst>
              <a:gd name="adj" fmla="val 5556"/>
            </a:avLst>
          </a:prstGeom>
          <a:solidFill>
            <a:srgbClr val="191640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068525" y="3648456"/>
            <a:ext cx="347472" cy="347472"/>
          </a:xfrm>
          <a:prstGeom prst="ellipse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2068525" y="3648456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0A1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4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694944" y="4096512"/>
            <a:ext cx="3094634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472B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Video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694944" y="4553712"/>
            <a:ext cx="3094634" cy="44805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Clips and recordings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4009034" y="4361688"/>
            <a:ext cx="320040" cy="237744"/>
          </a:xfrm>
          <a:prstGeom prst="rightArrow">
            <a:avLst/>
          </a:prstGeom>
          <a:solidFill>
            <a:srgbClr val="22D3EE">
              <a:alpha val="70000"/>
            </a:srgbClr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420514" y="3822192"/>
            <a:ext cx="3350666" cy="1316736"/>
          </a:xfrm>
          <a:prstGeom prst="roundRect">
            <a:avLst>
              <a:gd name="adj" fmla="val 5556"/>
            </a:avLst>
          </a:prstGeom>
          <a:solidFill>
            <a:srgbClr val="191640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5922112" y="3648456"/>
            <a:ext cx="347472" cy="347472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5922112" y="3648456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0A1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5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4548530" y="4096512"/>
            <a:ext cx="3094634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4D39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AI Model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4548530" y="4553712"/>
            <a:ext cx="3094634" cy="44805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Understands all of them in one context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7862621" y="4361688"/>
            <a:ext cx="320040" cy="237744"/>
          </a:xfrm>
          <a:prstGeom prst="rightArrow">
            <a:avLst/>
          </a:prstGeom>
          <a:solidFill>
            <a:srgbClr val="22D3EE">
              <a:alpha val="70000"/>
            </a:srgbClr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274101" y="3822192"/>
            <a:ext cx="3350666" cy="1316736"/>
          </a:xfrm>
          <a:prstGeom prst="roundRect">
            <a:avLst>
              <a:gd name="adj" fmla="val 5556"/>
            </a:avLst>
          </a:prstGeom>
          <a:solidFill>
            <a:srgbClr val="191640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9775698" y="3648456"/>
            <a:ext cx="347472" cy="347472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9775698" y="3648456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0A1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6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8402117" y="4096512"/>
            <a:ext cx="3094634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A78BF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Response</a:t>
            </a:r>
            <a:endParaRPr lang="en-US" sz="1400" dirty="0"/>
          </a:p>
        </p:txBody>
      </p:sp>
      <p:sp>
        <p:nvSpPr>
          <p:cNvPr id="40" name="Text 38"/>
          <p:cNvSpPr txBox="1"/>
          <p:nvPr/>
        </p:nvSpPr>
        <p:spPr>
          <a:xfrm>
            <a:off x="8402117" y="4553712"/>
            <a:ext cx="3094634" cy="44805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Answer in whichever form is useful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566928" y="5276088"/>
            <a:ext cx="11057839" cy="960120"/>
          </a:xfrm>
          <a:prstGeom prst="roundRect">
            <a:avLst>
              <a:gd name="adj" fmla="val 7619"/>
            </a:avLst>
          </a:prstGeom>
          <a:solidFill>
            <a:srgbClr val="191640">
              <a:alpha val="96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42" name="Text 40"/>
          <p:cNvSpPr txBox="1"/>
          <p:nvPr/>
        </p:nvSpPr>
        <p:spPr>
          <a:xfrm>
            <a:off x="841248" y="5385816"/>
            <a:ext cx="10509199" cy="7406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A78BF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Remember:  </a:t>
            </a:r>
            <a:r>
              <a:rPr lang="en-US" sz="13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Practical example: photograph a broken appliance, describe the noise it makes, and ask what is likely wrong.</a:t>
            </a:r>
            <a:endParaRPr lang="en-US" sz="1300" dirty="0"/>
          </a:p>
        </p:txBody>
      </p:sp>
    </p:spTree>
  </p:cSld>
  <p:clrMapOvr>
    <a:masterClrMapping/>
  </p:clrMapOvr>
</p:sld>
</file>

<file path=ppt/slides/slide2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SLIDE 227 · DIRECTION 2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AI Agents and Automation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Section 22 · The Future of Generative AI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269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11057839" cy="877824"/>
          </a:xfrm>
          <a:prstGeom prst="roundRect">
            <a:avLst>
              <a:gd name="adj" fmla="val 8333"/>
            </a:avLst>
          </a:prstGeom>
          <a:solidFill>
            <a:srgbClr val="191640">
              <a:alpha val="96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6928" y="1627632"/>
            <a:ext cx="64008" cy="585216"/>
          </a:xfrm>
          <a:prstGeom prst="roundRect">
            <a:avLst>
              <a:gd name="adj" fmla="val 42857"/>
            </a:avLst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59536" y="1572768"/>
            <a:ext cx="10472623" cy="6949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DDD9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shift from asking AI to write something to asking AI to get something done.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66928" y="2615184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22960" y="2816352"/>
            <a:ext cx="457200" cy="457200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2930652"/>
            <a:ext cx="228600" cy="22860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499616" y="2816352"/>
            <a:ext cx="41847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What is changing</a:t>
            </a:r>
            <a:endParaRPr lang="en-US" sz="1450" dirty="0"/>
          </a:p>
        </p:txBody>
      </p:sp>
      <p:sp>
        <p:nvSpPr>
          <p:cNvPr id="13" name="Text 10"/>
          <p:cNvSpPr txBox="1"/>
          <p:nvPr/>
        </p:nvSpPr>
        <p:spPr>
          <a:xfrm>
            <a:off x="841248" y="3419856"/>
            <a:ext cx="484312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Systems that plan, use tools, check results and complete multi-step work.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33008" y="2615184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489040" y="2816352"/>
            <a:ext cx="457200" cy="457200"/>
          </a:xfrm>
          <a:prstGeom prst="ellipse">
            <a:avLst/>
          </a:prstGeom>
          <a:solidFill>
            <a:srgbClr val="22D3EE">
              <a:alpha val="16000"/>
            </a:srgbClr>
          </a:solidFill>
          <a:ln w="12700">
            <a:solidFill>
              <a:srgbClr val="22D3EE">
                <a:alpha val="45000"/>
              </a:srgbClr>
            </a:solidFill>
            <a:prstDash val="solid"/>
          </a:ln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3340" y="2930652"/>
            <a:ext cx="228600" cy="22860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7165696" y="2816352"/>
            <a:ext cx="41847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Standard tool connections</a:t>
            </a:r>
            <a:endParaRPr lang="en-US" sz="1450" dirty="0"/>
          </a:p>
        </p:txBody>
      </p:sp>
      <p:sp>
        <p:nvSpPr>
          <p:cNvPr id="18" name="Text 14"/>
          <p:cNvSpPr txBox="1"/>
          <p:nvPr/>
        </p:nvSpPr>
        <p:spPr>
          <a:xfrm>
            <a:off x="6507328" y="3419856"/>
            <a:ext cx="484312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Common protocols for connecting models to tools are making agents far easier to build.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566928" y="4530149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822960" y="4731317"/>
            <a:ext cx="457200" cy="457200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260" y="4845617"/>
            <a:ext cx="228600" cy="22860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499616" y="4731317"/>
            <a:ext cx="41847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Where it lands first</a:t>
            </a:r>
            <a:endParaRPr lang="en-US" sz="1450" dirty="0"/>
          </a:p>
        </p:txBody>
      </p:sp>
      <p:sp>
        <p:nvSpPr>
          <p:cNvPr id="23" name="Text 18"/>
          <p:cNvSpPr txBox="1"/>
          <p:nvPr/>
        </p:nvSpPr>
        <p:spPr>
          <a:xfrm>
            <a:off x="841248" y="5334821"/>
            <a:ext cx="484312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Support triage, routine document processing, scheduling and data preparation.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6233008" y="4530149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6489040" y="4731317"/>
            <a:ext cx="457200" cy="457200"/>
          </a:xfrm>
          <a:prstGeom prst="ellipse">
            <a:avLst/>
          </a:prstGeom>
          <a:solidFill>
            <a:srgbClr val="34D399">
              <a:alpha val="16000"/>
            </a:srgbClr>
          </a:solidFill>
          <a:ln w="12700">
            <a:solidFill>
              <a:srgbClr val="34D399">
                <a:alpha val="45000"/>
              </a:srgbClr>
            </a:solidFill>
            <a:prstDash val="solid"/>
          </a:ln>
        </p:spPr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3340" y="4845617"/>
            <a:ext cx="228600" cy="228600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7165696" y="4731317"/>
            <a:ext cx="41847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What stays human</a:t>
            </a:r>
            <a:endParaRPr lang="en-US" sz="1450" dirty="0"/>
          </a:p>
        </p:txBody>
      </p:sp>
      <p:sp>
        <p:nvSpPr>
          <p:cNvPr id="28" name="Text 22"/>
          <p:cNvSpPr txBox="1"/>
          <p:nvPr/>
        </p:nvSpPr>
        <p:spPr>
          <a:xfrm>
            <a:off x="6507328" y="5334821"/>
            <a:ext cx="484312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Approval of consequential actions, judgement calls and accountability.</a:t>
            </a:r>
            <a:endParaRPr lang="en-US" sz="1200" dirty="0"/>
          </a:p>
        </p:txBody>
      </p:sp>
    </p:spTree>
  </p:cSld>
  <p:clrMapOvr>
    <a:masterClrMapping/>
  </p:clrMapOvr>
</p:sld>
</file>

<file path=ppt/slides/slide2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SLIDE 228 · DIRECTION 3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AI in Education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Section 22 · The Future of Generative AI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270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3503066" cy="2240280"/>
          </a:xfrm>
          <a:prstGeom prst="roundRect">
            <a:avLst>
              <a:gd name="adj" fmla="val 3265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1737360"/>
            <a:ext cx="566928" cy="566928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4692" y="1879092"/>
            <a:ext cx="283464" cy="283464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609344" y="1737360"/>
            <a:ext cx="218633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Personal tutoring at scale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841248" y="2505456"/>
            <a:ext cx="2954426" cy="10332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Every student able to ask unlimited questions at their own level.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344314" y="1481328"/>
            <a:ext cx="3503066" cy="2240280"/>
          </a:xfrm>
          <a:prstGeom prst="roundRect">
            <a:avLst>
              <a:gd name="adj" fmla="val 3265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600346" y="1737360"/>
            <a:ext cx="566928" cy="566928"/>
          </a:xfrm>
          <a:prstGeom prst="ellipse">
            <a:avLst/>
          </a:prstGeom>
          <a:solidFill>
            <a:srgbClr val="22D3EE">
              <a:alpha val="16000"/>
            </a:srgbClr>
          </a:solidFill>
          <a:ln w="12700">
            <a:solidFill>
              <a:srgbClr val="22D3EE">
                <a:alpha val="45000"/>
              </a:srgbClr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2078" y="1879092"/>
            <a:ext cx="283464" cy="283464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5386730" y="1737360"/>
            <a:ext cx="218633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Teacher workload</a:t>
            </a:r>
            <a:endParaRPr lang="en-US" sz="1600" dirty="0"/>
          </a:p>
        </p:txBody>
      </p:sp>
      <p:sp>
        <p:nvSpPr>
          <p:cNvPr id="15" name="Text 11"/>
          <p:cNvSpPr txBox="1"/>
          <p:nvPr/>
        </p:nvSpPr>
        <p:spPr>
          <a:xfrm>
            <a:off x="4618634" y="2505456"/>
            <a:ext cx="2954426" cy="10332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Preparation, differentiation and feedback drafting become faster.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8121701" y="1481328"/>
            <a:ext cx="3503066" cy="2240280"/>
          </a:xfrm>
          <a:prstGeom prst="roundRect">
            <a:avLst>
              <a:gd name="adj" fmla="val 3265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377733" y="1737360"/>
            <a:ext cx="566928" cy="566928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9465" y="1879092"/>
            <a:ext cx="283464" cy="283464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9164117" y="1737360"/>
            <a:ext cx="218633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Assessment changes</a:t>
            </a:r>
            <a:endParaRPr lang="en-US" sz="1600" dirty="0"/>
          </a:p>
        </p:txBody>
      </p:sp>
      <p:sp>
        <p:nvSpPr>
          <p:cNvPr id="20" name="Text 15"/>
          <p:cNvSpPr txBox="1"/>
          <p:nvPr/>
        </p:nvSpPr>
        <p:spPr>
          <a:xfrm>
            <a:off x="8396021" y="2505456"/>
            <a:ext cx="2954426" cy="10332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More oral, project and in-class assessment, because take-home text is easy to generate.</a:t>
            </a:r>
            <a:endParaRPr lang="en-US" sz="1300" dirty="0"/>
          </a:p>
        </p:txBody>
      </p:sp>
      <p:sp>
        <p:nvSpPr>
          <p:cNvPr id="21" name="Shape 16"/>
          <p:cNvSpPr/>
          <p:nvPr/>
        </p:nvSpPr>
        <p:spPr>
          <a:xfrm>
            <a:off x="566928" y="3995928"/>
            <a:ext cx="3503066" cy="2240280"/>
          </a:xfrm>
          <a:prstGeom prst="roundRect">
            <a:avLst>
              <a:gd name="adj" fmla="val 3265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822960" y="4251960"/>
            <a:ext cx="566928" cy="566928"/>
          </a:xfrm>
          <a:prstGeom prst="ellipse">
            <a:avLst/>
          </a:prstGeom>
          <a:solidFill>
            <a:srgbClr val="34D399">
              <a:alpha val="16000"/>
            </a:srgbClr>
          </a:solidFill>
          <a:ln w="12700">
            <a:solidFill>
              <a:srgbClr val="34D399">
                <a:alpha val="45000"/>
              </a:srgbClr>
            </a:solidFill>
            <a:prstDash val="solid"/>
          </a:ln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4692" y="4393692"/>
            <a:ext cx="283464" cy="283464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1609344" y="4251960"/>
            <a:ext cx="218633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Accessibility gains</a:t>
            </a:r>
            <a:endParaRPr lang="en-US" sz="1600" dirty="0"/>
          </a:p>
        </p:txBody>
      </p:sp>
      <p:sp>
        <p:nvSpPr>
          <p:cNvPr id="25" name="Text 19"/>
          <p:cNvSpPr txBox="1"/>
          <p:nvPr/>
        </p:nvSpPr>
        <p:spPr>
          <a:xfrm>
            <a:off x="841248" y="5020056"/>
            <a:ext cx="2954426" cy="10332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Real improvements for learners with disabilities and for second-language students.</a:t>
            </a:r>
            <a:endParaRPr lang="en-US" sz="1300" dirty="0"/>
          </a:p>
        </p:txBody>
      </p:sp>
      <p:sp>
        <p:nvSpPr>
          <p:cNvPr id="26" name="Shape 20"/>
          <p:cNvSpPr/>
          <p:nvPr/>
        </p:nvSpPr>
        <p:spPr>
          <a:xfrm>
            <a:off x="4344314" y="3995928"/>
            <a:ext cx="3503066" cy="2240280"/>
          </a:xfrm>
          <a:prstGeom prst="roundRect">
            <a:avLst>
              <a:gd name="adj" fmla="val 3265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4600346" y="4251960"/>
            <a:ext cx="566928" cy="566928"/>
          </a:xfrm>
          <a:prstGeom prst="ellipse">
            <a:avLst/>
          </a:prstGeom>
          <a:solidFill>
            <a:srgbClr val="F472B6">
              <a:alpha val="16000"/>
            </a:srgbClr>
          </a:solidFill>
          <a:ln w="12700">
            <a:solidFill>
              <a:srgbClr val="F472B6">
                <a:alpha val="45000"/>
              </a:srgbClr>
            </a:solidFill>
            <a:prstDash val="solid"/>
          </a:ln>
        </p:spPr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42078" y="4393692"/>
            <a:ext cx="283464" cy="283464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5386730" y="4251960"/>
            <a:ext cx="218633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Open concerns</a:t>
            </a:r>
            <a:endParaRPr lang="en-US" sz="1600" dirty="0"/>
          </a:p>
        </p:txBody>
      </p:sp>
      <p:sp>
        <p:nvSpPr>
          <p:cNvPr id="30" name="Text 23"/>
          <p:cNvSpPr txBox="1"/>
          <p:nvPr/>
        </p:nvSpPr>
        <p:spPr>
          <a:xfrm>
            <a:off x="4618634" y="5020056"/>
            <a:ext cx="2954426" cy="10332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Over-reliance, unequal access to tools, and unreliable AI-detection software.</a:t>
            </a:r>
            <a:endParaRPr lang="en-US" sz="1300" dirty="0"/>
          </a:p>
        </p:txBody>
      </p:sp>
      <p:sp>
        <p:nvSpPr>
          <p:cNvPr id="31" name="Shape 24"/>
          <p:cNvSpPr/>
          <p:nvPr/>
        </p:nvSpPr>
        <p:spPr>
          <a:xfrm>
            <a:off x="8121701" y="3995928"/>
            <a:ext cx="3503066" cy="2240280"/>
          </a:xfrm>
          <a:prstGeom prst="roundRect">
            <a:avLst>
              <a:gd name="adj" fmla="val 3265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8377733" y="4251960"/>
            <a:ext cx="566928" cy="566928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33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19465" y="4393692"/>
            <a:ext cx="283464" cy="283464"/>
          </a:xfrm>
          <a:prstGeom prst="rect">
            <a:avLst/>
          </a:prstGeom>
        </p:spPr>
      </p:pic>
      <p:sp>
        <p:nvSpPr>
          <p:cNvPr id="34" name="Text 26"/>
          <p:cNvSpPr txBox="1"/>
          <p:nvPr/>
        </p:nvSpPr>
        <p:spPr>
          <a:xfrm>
            <a:off x="9164117" y="4251960"/>
            <a:ext cx="218633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What does not change</a:t>
            </a:r>
            <a:endParaRPr lang="en-US" sz="1600" dirty="0"/>
          </a:p>
        </p:txBody>
      </p:sp>
      <p:sp>
        <p:nvSpPr>
          <p:cNvPr id="35" name="Text 27"/>
          <p:cNvSpPr txBox="1"/>
          <p:nvPr/>
        </p:nvSpPr>
        <p:spPr>
          <a:xfrm>
            <a:off x="8396021" y="5020056"/>
            <a:ext cx="2954426" cy="10332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Motivation, mentoring and the human relationship in teaching.</a:t>
            </a:r>
            <a:endParaRPr lang="en-US" sz="1300" dirty="0"/>
          </a:p>
        </p:txBody>
      </p:sp>
    </p:spTree>
  </p:cSld>
  <p:clrMapOvr>
    <a:masterClrMapping/>
  </p:clrMapOvr>
</p:sld>
</file>

<file path=ppt/slides/slide2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SLIDE 229 · DIRECTION 4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AI in Software Development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Section 22 · The Future of Generative AI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271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3503066" cy="2240280"/>
          </a:xfrm>
          <a:prstGeom prst="roundRect">
            <a:avLst>
              <a:gd name="adj" fmla="val 3265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1737360"/>
            <a:ext cx="566928" cy="566928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4692" y="1879092"/>
            <a:ext cx="283464" cy="283464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609344" y="1737360"/>
            <a:ext cx="218633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Faster routine work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841248" y="2505456"/>
            <a:ext cx="2954426" cy="10332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Boilerplate, tests and documentation take far less time than before.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344314" y="1481328"/>
            <a:ext cx="3503066" cy="2240280"/>
          </a:xfrm>
          <a:prstGeom prst="roundRect">
            <a:avLst>
              <a:gd name="adj" fmla="val 3265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600346" y="1737360"/>
            <a:ext cx="566928" cy="566928"/>
          </a:xfrm>
          <a:prstGeom prst="ellipse">
            <a:avLst/>
          </a:prstGeom>
          <a:solidFill>
            <a:srgbClr val="22D3EE">
              <a:alpha val="16000"/>
            </a:srgbClr>
          </a:solidFill>
          <a:ln w="12700">
            <a:solidFill>
              <a:srgbClr val="22D3EE">
                <a:alpha val="45000"/>
              </a:srgbClr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2078" y="1879092"/>
            <a:ext cx="283464" cy="283464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5386730" y="1737360"/>
            <a:ext cx="218633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Agentic development</a:t>
            </a:r>
            <a:endParaRPr lang="en-US" sz="1600" dirty="0"/>
          </a:p>
        </p:txBody>
      </p:sp>
      <p:sp>
        <p:nvSpPr>
          <p:cNvPr id="15" name="Text 11"/>
          <p:cNvSpPr txBox="1"/>
          <p:nvPr/>
        </p:nvSpPr>
        <p:spPr>
          <a:xfrm>
            <a:off x="4618634" y="2505456"/>
            <a:ext cx="2954426" cy="10332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Tools that take a task, edit several files, run tests and report back.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8121701" y="1481328"/>
            <a:ext cx="3503066" cy="2240280"/>
          </a:xfrm>
          <a:prstGeom prst="roundRect">
            <a:avLst>
              <a:gd name="adj" fmla="val 3265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377733" y="1737360"/>
            <a:ext cx="566928" cy="566928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9465" y="1879092"/>
            <a:ext cx="283464" cy="283464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9164117" y="1737360"/>
            <a:ext cx="218633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More time on design</a:t>
            </a:r>
            <a:endParaRPr lang="en-US" sz="1600" dirty="0"/>
          </a:p>
        </p:txBody>
      </p:sp>
      <p:sp>
        <p:nvSpPr>
          <p:cNvPr id="20" name="Text 15"/>
          <p:cNvSpPr txBox="1"/>
          <p:nvPr/>
        </p:nvSpPr>
        <p:spPr>
          <a:xfrm>
            <a:off x="8396021" y="2505456"/>
            <a:ext cx="2954426" cy="10332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When typing is cheaper, architecture and requirements become the bottleneck.</a:t>
            </a:r>
            <a:endParaRPr lang="en-US" sz="1300" dirty="0"/>
          </a:p>
        </p:txBody>
      </p:sp>
      <p:sp>
        <p:nvSpPr>
          <p:cNvPr id="21" name="Shape 16"/>
          <p:cNvSpPr/>
          <p:nvPr/>
        </p:nvSpPr>
        <p:spPr>
          <a:xfrm>
            <a:off x="566928" y="3995928"/>
            <a:ext cx="3503066" cy="2240280"/>
          </a:xfrm>
          <a:prstGeom prst="roundRect">
            <a:avLst>
              <a:gd name="adj" fmla="val 3265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822960" y="4251960"/>
            <a:ext cx="566928" cy="566928"/>
          </a:xfrm>
          <a:prstGeom prst="ellipse">
            <a:avLst/>
          </a:prstGeom>
          <a:solidFill>
            <a:srgbClr val="34D399">
              <a:alpha val="16000"/>
            </a:srgbClr>
          </a:solidFill>
          <a:ln w="12700">
            <a:solidFill>
              <a:srgbClr val="34D399">
                <a:alpha val="45000"/>
              </a:srgbClr>
            </a:solidFill>
            <a:prstDash val="solid"/>
          </a:ln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4692" y="4393692"/>
            <a:ext cx="283464" cy="283464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1609344" y="4251960"/>
            <a:ext cx="218633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Review matters more</a:t>
            </a:r>
            <a:endParaRPr lang="en-US" sz="1600" dirty="0"/>
          </a:p>
        </p:txBody>
      </p:sp>
      <p:sp>
        <p:nvSpPr>
          <p:cNvPr id="25" name="Text 19"/>
          <p:cNvSpPr txBox="1"/>
          <p:nvPr/>
        </p:nvSpPr>
        <p:spPr>
          <a:xfrm>
            <a:off x="841248" y="5020056"/>
            <a:ext cx="2954426" cy="10332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More generated code means more review, testing and security checking, not less.</a:t>
            </a:r>
            <a:endParaRPr lang="en-US" sz="1300" dirty="0"/>
          </a:p>
        </p:txBody>
      </p:sp>
      <p:sp>
        <p:nvSpPr>
          <p:cNvPr id="26" name="Shape 20"/>
          <p:cNvSpPr/>
          <p:nvPr/>
        </p:nvSpPr>
        <p:spPr>
          <a:xfrm>
            <a:off x="4344314" y="3995928"/>
            <a:ext cx="3503066" cy="2240280"/>
          </a:xfrm>
          <a:prstGeom prst="roundRect">
            <a:avLst>
              <a:gd name="adj" fmla="val 3265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4600346" y="4251960"/>
            <a:ext cx="566928" cy="566928"/>
          </a:xfrm>
          <a:prstGeom prst="ellipse">
            <a:avLst/>
          </a:prstGeom>
          <a:solidFill>
            <a:srgbClr val="F472B6">
              <a:alpha val="16000"/>
            </a:srgbClr>
          </a:solidFill>
          <a:ln w="12700">
            <a:solidFill>
              <a:srgbClr val="F472B6">
                <a:alpha val="45000"/>
              </a:srgbClr>
            </a:solidFill>
            <a:prstDash val="solid"/>
          </a:ln>
        </p:spPr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42078" y="4393692"/>
            <a:ext cx="283464" cy="283464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5386730" y="4251960"/>
            <a:ext cx="218633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Learning changes</a:t>
            </a:r>
            <a:endParaRPr lang="en-US" sz="1600" dirty="0"/>
          </a:p>
        </p:txBody>
      </p:sp>
      <p:sp>
        <p:nvSpPr>
          <p:cNvPr id="30" name="Text 23"/>
          <p:cNvSpPr txBox="1"/>
          <p:nvPr/>
        </p:nvSpPr>
        <p:spPr>
          <a:xfrm>
            <a:off x="4618634" y="5020056"/>
            <a:ext cx="2954426" cy="10332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Beginners must work harder to build real understanding rather than accepting output.</a:t>
            </a:r>
            <a:endParaRPr lang="en-US" sz="1300" dirty="0"/>
          </a:p>
        </p:txBody>
      </p:sp>
      <p:sp>
        <p:nvSpPr>
          <p:cNvPr id="31" name="Shape 24"/>
          <p:cNvSpPr/>
          <p:nvPr/>
        </p:nvSpPr>
        <p:spPr>
          <a:xfrm>
            <a:off x="8121701" y="3995928"/>
            <a:ext cx="3503066" cy="2240280"/>
          </a:xfrm>
          <a:prstGeom prst="roundRect">
            <a:avLst>
              <a:gd name="adj" fmla="val 3265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8377733" y="4251960"/>
            <a:ext cx="566928" cy="566928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33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19465" y="4393692"/>
            <a:ext cx="283464" cy="283464"/>
          </a:xfrm>
          <a:prstGeom prst="rect">
            <a:avLst/>
          </a:prstGeom>
        </p:spPr>
      </p:pic>
      <p:sp>
        <p:nvSpPr>
          <p:cNvPr id="34" name="Text 26"/>
          <p:cNvSpPr txBox="1"/>
          <p:nvPr/>
        </p:nvSpPr>
        <p:spPr>
          <a:xfrm>
            <a:off x="9164117" y="4251960"/>
            <a:ext cx="218633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Honest uncertainty</a:t>
            </a:r>
            <a:endParaRPr lang="en-US" sz="1600" dirty="0"/>
          </a:p>
        </p:txBody>
      </p:sp>
      <p:sp>
        <p:nvSpPr>
          <p:cNvPr id="35" name="Text 27"/>
          <p:cNvSpPr txBox="1"/>
          <p:nvPr/>
        </p:nvSpPr>
        <p:spPr>
          <a:xfrm>
            <a:off x="8396021" y="5020056"/>
            <a:ext cx="2954426" cy="10332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How much this changes team sizes and job structures is genuinely not yet settled.</a:t>
            </a:r>
            <a:endParaRPr lang="en-US" sz="1300" dirty="0"/>
          </a:p>
        </p:txBody>
      </p:sp>
    </p:spTree>
  </p:cSld>
  <p:clrMapOvr>
    <a:masterClrMapping/>
  </p:clrMapOvr>
</p:sld>
</file>

<file path=ppt/slides/slide2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SLIDE 230 · DIRECTION 5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AI in Business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Section 22 · The Future of Generative AI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272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3503066" cy="2240280"/>
          </a:xfrm>
          <a:prstGeom prst="roundRect">
            <a:avLst>
              <a:gd name="adj" fmla="val 3265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1737360"/>
            <a:ext cx="566928" cy="566928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4692" y="1879092"/>
            <a:ext cx="283464" cy="283464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609344" y="1737360"/>
            <a:ext cx="218633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From pilots to production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841248" y="2505456"/>
            <a:ext cx="2954426" cy="10332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focus has moved from experiments to reliability, cost control and measurable value.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344314" y="1481328"/>
            <a:ext cx="3503066" cy="2240280"/>
          </a:xfrm>
          <a:prstGeom prst="roundRect">
            <a:avLst>
              <a:gd name="adj" fmla="val 3265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600346" y="1737360"/>
            <a:ext cx="566928" cy="566928"/>
          </a:xfrm>
          <a:prstGeom prst="ellipse">
            <a:avLst/>
          </a:prstGeom>
          <a:solidFill>
            <a:srgbClr val="22D3EE">
              <a:alpha val="16000"/>
            </a:srgbClr>
          </a:solidFill>
          <a:ln w="12700">
            <a:solidFill>
              <a:srgbClr val="22D3EE">
                <a:alpha val="45000"/>
              </a:srgbClr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2078" y="1879092"/>
            <a:ext cx="283464" cy="283464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5386730" y="1737360"/>
            <a:ext cx="218633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Multi-model strategies</a:t>
            </a:r>
            <a:endParaRPr lang="en-US" sz="1600" dirty="0"/>
          </a:p>
        </p:txBody>
      </p:sp>
      <p:sp>
        <p:nvSpPr>
          <p:cNvPr id="15" name="Text 11"/>
          <p:cNvSpPr txBox="1"/>
          <p:nvPr/>
        </p:nvSpPr>
        <p:spPr>
          <a:xfrm>
            <a:off x="4618634" y="2505456"/>
            <a:ext cx="2954426" cy="10332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Organisations route tasks to different models rather than depending on one provider.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8121701" y="1481328"/>
            <a:ext cx="3503066" cy="2240280"/>
          </a:xfrm>
          <a:prstGeom prst="roundRect">
            <a:avLst>
              <a:gd name="adj" fmla="val 3265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377733" y="1737360"/>
            <a:ext cx="566928" cy="566928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9465" y="1879092"/>
            <a:ext cx="283464" cy="283464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9164117" y="1737360"/>
            <a:ext cx="218633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Evaluation becomes standard</a:t>
            </a:r>
            <a:endParaRPr lang="en-US" sz="1600" dirty="0"/>
          </a:p>
        </p:txBody>
      </p:sp>
      <p:sp>
        <p:nvSpPr>
          <p:cNvPr id="20" name="Text 15"/>
          <p:cNvSpPr txBox="1"/>
          <p:nvPr/>
        </p:nvSpPr>
        <p:spPr>
          <a:xfrm>
            <a:off x="8396021" y="2505456"/>
            <a:ext cx="2954426" cy="10332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Teams build their own test suites instead of relying on public benchmarks.</a:t>
            </a:r>
            <a:endParaRPr lang="en-US" sz="1300" dirty="0"/>
          </a:p>
        </p:txBody>
      </p:sp>
      <p:sp>
        <p:nvSpPr>
          <p:cNvPr id="21" name="Shape 16"/>
          <p:cNvSpPr/>
          <p:nvPr/>
        </p:nvSpPr>
        <p:spPr>
          <a:xfrm>
            <a:off x="566928" y="3995928"/>
            <a:ext cx="3503066" cy="2240280"/>
          </a:xfrm>
          <a:prstGeom prst="roundRect">
            <a:avLst>
              <a:gd name="adj" fmla="val 3265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822960" y="4251960"/>
            <a:ext cx="566928" cy="566928"/>
          </a:xfrm>
          <a:prstGeom prst="ellipse">
            <a:avLst/>
          </a:prstGeom>
          <a:solidFill>
            <a:srgbClr val="34D399">
              <a:alpha val="16000"/>
            </a:srgbClr>
          </a:solidFill>
          <a:ln w="12700">
            <a:solidFill>
              <a:srgbClr val="34D399">
                <a:alpha val="45000"/>
              </a:srgbClr>
            </a:solidFill>
            <a:prstDash val="solid"/>
          </a:ln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4692" y="4393692"/>
            <a:ext cx="283464" cy="283464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1609344" y="4251960"/>
            <a:ext cx="218633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Governance grows up</a:t>
            </a:r>
            <a:endParaRPr lang="en-US" sz="1600" dirty="0"/>
          </a:p>
        </p:txBody>
      </p:sp>
      <p:sp>
        <p:nvSpPr>
          <p:cNvPr id="25" name="Text 19"/>
          <p:cNvSpPr txBox="1"/>
          <p:nvPr/>
        </p:nvSpPr>
        <p:spPr>
          <a:xfrm>
            <a:off x="841248" y="5020056"/>
            <a:ext cx="2954426" cy="10332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Approved tools, approved uses, audit trails and required human review.</a:t>
            </a:r>
            <a:endParaRPr lang="en-US" sz="1300" dirty="0"/>
          </a:p>
        </p:txBody>
      </p:sp>
      <p:sp>
        <p:nvSpPr>
          <p:cNvPr id="26" name="Shape 20"/>
          <p:cNvSpPr/>
          <p:nvPr/>
        </p:nvSpPr>
        <p:spPr>
          <a:xfrm>
            <a:off x="4344314" y="3995928"/>
            <a:ext cx="3503066" cy="2240280"/>
          </a:xfrm>
          <a:prstGeom prst="roundRect">
            <a:avLst>
              <a:gd name="adj" fmla="val 3265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4600346" y="4251960"/>
            <a:ext cx="566928" cy="566928"/>
          </a:xfrm>
          <a:prstGeom prst="ellipse">
            <a:avLst/>
          </a:prstGeom>
          <a:solidFill>
            <a:srgbClr val="F472B6">
              <a:alpha val="16000"/>
            </a:srgbClr>
          </a:solidFill>
          <a:ln w="12700">
            <a:solidFill>
              <a:srgbClr val="F472B6">
                <a:alpha val="45000"/>
              </a:srgbClr>
            </a:solidFill>
            <a:prstDash val="solid"/>
          </a:ln>
        </p:spPr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42078" y="4393692"/>
            <a:ext cx="283464" cy="283464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5386730" y="4251960"/>
            <a:ext cx="218633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Roles shift</a:t>
            </a:r>
            <a:endParaRPr lang="en-US" sz="1600" dirty="0"/>
          </a:p>
        </p:txBody>
      </p:sp>
      <p:sp>
        <p:nvSpPr>
          <p:cNvPr id="30" name="Text 23"/>
          <p:cNvSpPr txBox="1"/>
          <p:nvPr/>
        </p:nvSpPr>
        <p:spPr>
          <a:xfrm>
            <a:off x="4618634" y="5020056"/>
            <a:ext cx="2954426" cy="10332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Fewer hours on drafting, more on review, judgement and exception handling.</a:t>
            </a:r>
            <a:endParaRPr lang="en-US" sz="1300" dirty="0"/>
          </a:p>
        </p:txBody>
      </p:sp>
      <p:sp>
        <p:nvSpPr>
          <p:cNvPr id="31" name="Shape 24"/>
          <p:cNvSpPr/>
          <p:nvPr/>
        </p:nvSpPr>
        <p:spPr>
          <a:xfrm>
            <a:off x="8121701" y="3995928"/>
            <a:ext cx="3503066" cy="2240280"/>
          </a:xfrm>
          <a:prstGeom prst="roundRect">
            <a:avLst>
              <a:gd name="adj" fmla="val 3265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8377733" y="4251960"/>
            <a:ext cx="566928" cy="566928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33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19465" y="4393692"/>
            <a:ext cx="283464" cy="283464"/>
          </a:xfrm>
          <a:prstGeom prst="rect">
            <a:avLst/>
          </a:prstGeom>
        </p:spPr>
      </p:pic>
      <p:sp>
        <p:nvSpPr>
          <p:cNvPr id="34" name="Text 26"/>
          <p:cNvSpPr txBox="1"/>
          <p:nvPr/>
        </p:nvSpPr>
        <p:spPr>
          <a:xfrm>
            <a:off x="9164117" y="4251960"/>
            <a:ext cx="218633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Realistic expectation</a:t>
            </a:r>
            <a:endParaRPr lang="en-US" sz="1600" dirty="0"/>
          </a:p>
        </p:txBody>
      </p:sp>
      <p:sp>
        <p:nvSpPr>
          <p:cNvPr id="35" name="Text 27"/>
          <p:cNvSpPr txBox="1"/>
          <p:nvPr/>
        </p:nvSpPr>
        <p:spPr>
          <a:xfrm>
            <a:off x="8396021" y="5020056"/>
            <a:ext cx="2954426" cy="10332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Value comes from redesigning workflows, not from simply buying a tool.</a:t>
            </a:r>
            <a:endParaRPr lang="en-US" sz="1300" dirty="0"/>
          </a:p>
        </p:txBody>
      </p:sp>
    </p:spTree>
  </p:cSld>
  <p:clrMapOvr>
    <a:masterClrMapping/>
  </p:clrMapOvr>
</p:sld>
</file>

<file path=ppt/slides/slide2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SLIDE 231 · DIRECTION 6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AI and Robotics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Section 22 · The Future of Generative AI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273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11057839" cy="877824"/>
          </a:xfrm>
          <a:prstGeom prst="roundRect">
            <a:avLst>
              <a:gd name="adj" fmla="val 8333"/>
            </a:avLst>
          </a:prstGeom>
          <a:solidFill>
            <a:srgbClr val="191640">
              <a:alpha val="96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6928" y="1627632"/>
            <a:ext cx="64008" cy="585216"/>
          </a:xfrm>
          <a:prstGeom prst="roundRect">
            <a:avLst>
              <a:gd name="adj" fmla="val 42857"/>
            </a:avLst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59536" y="1572768"/>
            <a:ext cx="10472623" cy="6949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DDD9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Connecting AI models to machines that act in the physical world.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66928" y="2615184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22960" y="2816352"/>
            <a:ext cx="457200" cy="457200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2930652"/>
            <a:ext cx="228600" cy="22860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499616" y="2816352"/>
            <a:ext cx="41847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What is being explored</a:t>
            </a:r>
            <a:endParaRPr lang="en-US" sz="1450" dirty="0"/>
          </a:p>
        </p:txBody>
      </p:sp>
      <p:sp>
        <p:nvSpPr>
          <p:cNvPr id="13" name="Text 10"/>
          <p:cNvSpPr txBox="1"/>
          <p:nvPr/>
        </p:nvSpPr>
        <p:spPr>
          <a:xfrm>
            <a:off x="841248" y="3419856"/>
            <a:ext cx="484312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Using language and vision models to let robots understand instructions and their surroundings.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33008" y="2615184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489040" y="2816352"/>
            <a:ext cx="457200" cy="457200"/>
          </a:xfrm>
          <a:prstGeom prst="ellipse">
            <a:avLst/>
          </a:prstGeom>
          <a:solidFill>
            <a:srgbClr val="22D3EE">
              <a:alpha val="16000"/>
            </a:srgbClr>
          </a:solidFill>
          <a:ln w="12700">
            <a:solidFill>
              <a:srgbClr val="22D3EE">
                <a:alpha val="45000"/>
              </a:srgbClr>
            </a:solidFill>
            <a:prstDash val="solid"/>
          </a:ln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3340" y="2930652"/>
            <a:ext cx="228600" cy="22860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7165696" y="2816352"/>
            <a:ext cx="41847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Where it appears first</a:t>
            </a:r>
            <a:endParaRPr lang="en-US" sz="1450" dirty="0"/>
          </a:p>
        </p:txBody>
      </p:sp>
      <p:sp>
        <p:nvSpPr>
          <p:cNvPr id="18" name="Text 14"/>
          <p:cNvSpPr txBox="1"/>
          <p:nvPr/>
        </p:nvSpPr>
        <p:spPr>
          <a:xfrm>
            <a:off x="6507328" y="3419856"/>
            <a:ext cx="484312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Warehouses, manufacturing, inspection and agriculture — structured environments with clear tasks.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566928" y="4530149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822960" y="4731317"/>
            <a:ext cx="457200" cy="457200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260" y="4845617"/>
            <a:ext cx="228600" cy="22860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499616" y="4731317"/>
            <a:ext cx="41847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Why it is hard</a:t>
            </a:r>
            <a:endParaRPr lang="en-US" sz="1450" dirty="0"/>
          </a:p>
        </p:txBody>
      </p:sp>
      <p:sp>
        <p:nvSpPr>
          <p:cNvPr id="23" name="Text 18"/>
          <p:cNvSpPr txBox="1"/>
          <p:nvPr/>
        </p:nvSpPr>
        <p:spPr>
          <a:xfrm>
            <a:off x="841248" y="5334821"/>
            <a:ext cx="484312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physical world is unforgiving. A wrong sentence is annoying; a wrong movement can injure someone.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6233008" y="4530149"/>
            <a:ext cx="539176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6489040" y="4731317"/>
            <a:ext cx="457200" cy="457200"/>
          </a:xfrm>
          <a:prstGeom prst="ellipse">
            <a:avLst/>
          </a:prstGeom>
          <a:solidFill>
            <a:srgbClr val="34D399">
              <a:alpha val="16000"/>
            </a:srgbClr>
          </a:solidFill>
          <a:ln w="12700">
            <a:solidFill>
              <a:srgbClr val="34D399">
                <a:alpha val="45000"/>
              </a:srgbClr>
            </a:solidFill>
            <a:prstDash val="solid"/>
          </a:ln>
        </p:spPr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3340" y="4845617"/>
            <a:ext cx="228600" cy="228600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7165696" y="4731317"/>
            <a:ext cx="41847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Honest timeline</a:t>
            </a:r>
            <a:endParaRPr lang="en-US" sz="1450" dirty="0"/>
          </a:p>
        </p:txBody>
      </p:sp>
      <p:sp>
        <p:nvSpPr>
          <p:cNvPr id="28" name="Text 22"/>
          <p:cNvSpPr txBox="1"/>
          <p:nvPr/>
        </p:nvSpPr>
        <p:spPr>
          <a:xfrm>
            <a:off x="6507328" y="5334821"/>
            <a:ext cx="484312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General-purpose home robots remain a research goal, not a near-term product.</a:t>
            </a:r>
            <a:endParaRPr lang="en-US" sz="1200" dirty="0"/>
          </a:p>
        </p:txBody>
      </p:sp>
    </p:spTree>
  </p:cSld>
  <p:clrMapOvr>
    <a:masterClrMapping/>
  </p:clrMapOvr>
</p:sld>
</file>

<file path=ppt/slides/slide2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SLIDE 232 · WORKING TOGETHER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AI and Human Collaboration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Section 22 · The Future of Generative AI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274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5364328" cy="3840480"/>
          </a:xfrm>
          <a:prstGeom prst="roundRect">
            <a:avLst>
              <a:gd name="adj" fmla="val 1905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41248" y="1737360"/>
            <a:ext cx="530352" cy="530352"/>
          </a:xfrm>
          <a:prstGeom prst="ellipse">
            <a:avLst/>
          </a:prstGeom>
          <a:solidFill>
            <a:srgbClr val="22D3EE">
              <a:alpha val="16000"/>
            </a:srgbClr>
          </a:solidFill>
          <a:ln w="12700">
            <a:solidFill>
              <a:srgbClr val="22D3EE">
                <a:alpha val="45000"/>
              </a:srgbClr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3836" y="1869948"/>
            <a:ext cx="265176" cy="265176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591056" y="1737360"/>
            <a:ext cx="4047592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2D3E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What AI does better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877824" y="2505456"/>
            <a:ext cx="4742536" cy="261518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▪"/>
            </a:pPr>
            <a:r>
              <a:rPr lang="en-US" sz="135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Processing huge volumes of text quickly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▪"/>
            </a:pPr>
            <a:r>
              <a:rPr lang="en-US" sz="135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Producing first drafts instantly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▪"/>
            </a:pPr>
            <a:r>
              <a:rPr lang="en-US" sz="135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Working without tiring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▪"/>
            </a:pPr>
            <a:r>
              <a:rPr lang="en-US" sz="135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Recalling patterns across vast material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▪"/>
            </a:pPr>
            <a:r>
              <a:rPr lang="en-US" sz="135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Doing repetitive work consistently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6260440" y="1481328"/>
            <a:ext cx="5364328" cy="3840480"/>
          </a:xfrm>
          <a:prstGeom prst="roundRect">
            <a:avLst>
              <a:gd name="adj" fmla="val 1905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534760" y="1737360"/>
            <a:ext cx="530352" cy="530352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7348" y="1869948"/>
            <a:ext cx="265176" cy="265176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7284568" y="1737360"/>
            <a:ext cx="4047592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A78BF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What humans do better</a:t>
            </a:r>
            <a:endParaRPr lang="en-US" sz="1800" dirty="0"/>
          </a:p>
        </p:txBody>
      </p:sp>
      <p:sp>
        <p:nvSpPr>
          <p:cNvPr id="15" name="Text 11"/>
          <p:cNvSpPr txBox="1"/>
          <p:nvPr/>
        </p:nvSpPr>
        <p:spPr>
          <a:xfrm>
            <a:off x="6571336" y="2505456"/>
            <a:ext cx="4742536" cy="261518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▪"/>
            </a:pPr>
            <a:r>
              <a:rPr lang="en-US" sz="135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Judgement about what actually matters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▪"/>
            </a:pPr>
            <a:r>
              <a:rPr lang="en-US" sz="135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Real understanding of context and people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▪"/>
            </a:pPr>
            <a:r>
              <a:rPr lang="en-US" sz="135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Accountability for decisions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▪"/>
            </a:pPr>
            <a:r>
              <a:rPr lang="en-US" sz="135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Ethical reasoning and empathy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▪"/>
            </a:pPr>
            <a:r>
              <a:rPr lang="en-US" sz="135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Knowing when the output is wrong</a:t>
            </a:r>
            <a:endParaRPr lang="en-US" sz="1350" dirty="0"/>
          </a:p>
        </p:txBody>
      </p:sp>
      <p:sp>
        <p:nvSpPr>
          <p:cNvPr id="16" name="Shape 12"/>
          <p:cNvSpPr/>
          <p:nvPr/>
        </p:nvSpPr>
        <p:spPr>
          <a:xfrm>
            <a:off x="566928" y="5458968"/>
            <a:ext cx="11057839" cy="777240"/>
          </a:xfrm>
          <a:prstGeom prst="roundRect">
            <a:avLst>
              <a:gd name="adj" fmla="val 9412"/>
            </a:avLst>
          </a:prstGeom>
          <a:solidFill>
            <a:srgbClr val="191640">
              <a:alpha val="96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7" name="Text 13"/>
          <p:cNvSpPr txBox="1"/>
          <p:nvPr/>
        </p:nvSpPr>
        <p:spPr>
          <a:xfrm>
            <a:off x="841248" y="5550408"/>
            <a:ext cx="10509199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22D3E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Key point:  </a:t>
            </a:r>
            <a:r>
              <a:rPr lang="en-US" sz="13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productive pattern is AI drafts, human decides. Neither alone matches the two working together.</a:t>
            </a:r>
            <a:endParaRPr lang="en-US" sz="1300" dirty="0"/>
          </a:p>
        </p:txBody>
      </p:sp>
    </p:spTree>
  </p:cSld>
  <p:clrMapOvr>
    <a:masterClrMapping/>
  </p:clrMapOvr>
</p:sld>
</file>

<file path=ppt/slides/slide2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SLIDE 233 · OPEN PROBLEMS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Challenges for the Future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Section 22 · The Future of Generative AI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275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2558720" cy="2240280"/>
          </a:xfrm>
          <a:prstGeom prst="roundRect">
            <a:avLst>
              <a:gd name="adj" fmla="val 3265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1737360"/>
            <a:ext cx="566928" cy="566928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4692" y="1879092"/>
            <a:ext cx="283464" cy="283464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609344" y="1737360"/>
            <a:ext cx="1241984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Reliability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841248" y="2505456"/>
            <a:ext cx="2010080" cy="10332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Hallucination is reduced but not solved. High-stakes use still needs verification.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3399968" y="1481328"/>
            <a:ext cx="2558720" cy="2240280"/>
          </a:xfrm>
          <a:prstGeom prst="roundRect">
            <a:avLst>
              <a:gd name="adj" fmla="val 3265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656000" y="1737360"/>
            <a:ext cx="566928" cy="566928"/>
          </a:xfrm>
          <a:prstGeom prst="ellipse">
            <a:avLst/>
          </a:prstGeom>
          <a:solidFill>
            <a:srgbClr val="22D3EE">
              <a:alpha val="16000"/>
            </a:srgbClr>
          </a:solidFill>
          <a:ln w="12700">
            <a:solidFill>
              <a:srgbClr val="22D3EE">
                <a:alpha val="45000"/>
              </a:srgbClr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7732" y="1879092"/>
            <a:ext cx="283464" cy="283464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4442384" y="1737360"/>
            <a:ext cx="1241984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Energy and cost</a:t>
            </a:r>
            <a:endParaRPr lang="en-US" sz="1600" dirty="0"/>
          </a:p>
        </p:txBody>
      </p:sp>
      <p:sp>
        <p:nvSpPr>
          <p:cNvPr id="15" name="Text 11"/>
          <p:cNvSpPr txBox="1"/>
          <p:nvPr/>
        </p:nvSpPr>
        <p:spPr>
          <a:xfrm>
            <a:off x="3674288" y="2505456"/>
            <a:ext cx="2010080" cy="10332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Training and serving large models consumes significant energy and money.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233008" y="1481328"/>
            <a:ext cx="2558720" cy="2240280"/>
          </a:xfrm>
          <a:prstGeom prst="roundRect">
            <a:avLst>
              <a:gd name="adj" fmla="val 3265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89040" y="1737360"/>
            <a:ext cx="566928" cy="566928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0772" y="1879092"/>
            <a:ext cx="283464" cy="283464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7275424" y="1737360"/>
            <a:ext cx="1241984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Regulation</a:t>
            </a:r>
            <a:endParaRPr lang="en-US" sz="1600" dirty="0"/>
          </a:p>
        </p:txBody>
      </p:sp>
      <p:sp>
        <p:nvSpPr>
          <p:cNvPr id="20" name="Text 15"/>
          <p:cNvSpPr txBox="1"/>
          <p:nvPr/>
        </p:nvSpPr>
        <p:spPr>
          <a:xfrm>
            <a:off x="6507328" y="2505456"/>
            <a:ext cx="2010080" cy="10332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Rules are being written now and differ between countries. Compliance will get more complex.</a:t>
            </a:r>
            <a:endParaRPr lang="en-US" sz="1300" dirty="0"/>
          </a:p>
        </p:txBody>
      </p:sp>
      <p:sp>
        <p:nvSpPr>
          <p:cNvPr id="21" name="Shape 16"/>
          <p:cNvSpPr/>
          <p:nvPr/>
        </p:nvSpPr>
        <p:spPr>
          <a:xfrm>
            <a:off x="9066047" y="1481328"/>
            <a:ext cx="2558720" cy="2240280"/>
          </a:xfrm>
          <a:prstGeom prst="roundRect">
            <a:avLst>
              <a:gd name="adj" fmla="val 3265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9322079" y="1737360"/>
            <a:ext cx="566928" cy="566928"/>
          </a:xfrm>
          <a:prstGeom prst="ellipse">
            <a:avLst/>
          </a:prstGeom>
          <a:solidFill>
            <a:srgbClr val="34D399">
              <a:alpha val="16000"/>
            </a:srgbClr>
          </a:solidFill>
          <a:ln w="12700">
            <a:solidFill>
              <a:srgbClr val="34D399">
                <a:alpha val="45000"/>
              </a:srgbClr>
            </a:solidFill>
            <a:prstDash val="solid"/>
          </a:ln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63811" y="1879092"/>
            <a:ext cx="283464" cy="283464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10108463" y="1737360"/>
            <a:ext cx="1241984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Copyright</a:t>
            </a:r>
            <a:endParaRPr lang="en-US" sz="1600" dirty="0"/>
          </a:p>
        </p:txBody>
      </p:sp>
      <p:sp>
        <p:nvSpPr>
          <p:cNvPr id="25" name="Text 19"/>
          <p:cNvSpPr txBox="1"/>
          <p:nvPr/>
        </p:nvSpPr>
        <p:spPr>
          <a:xfrm>
            <a:off x="9340367" y="2505456"/>
            <a:ext cx="2010080" cy="10332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Training data and output ownership remain legally unsettled in many places.</a:t>
            </a:r>
            <a:endParaRPr lang="en-US" sz="1300" dirty="0"/>
          </a:p>
        </p:txBody>
      </p:sp>
      <p:sp>
        <p:nvSpPr>
          <p:cNvPr id="26" name="Shape 20"/>
          <p:cNvSpPr/>
          <p:nvPr/>
        </p:nvSpPr>
        <p:spPr>
          <a:xfrm>
            <a:off x="566928" y="3995928"/>
            <a:ext cx="2558720" cy="2240280"/>
          </a:xfrm>
          <a:prstGeom prst="roundRect">
            <a:avLst>
              <a:gd name="adj" fmla="val 3265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822960" y="4251960"/>
            <a:ext cx="566928" cy="566928"/>
          </a:xfrm>
          <a:prstGeom prst="ellipse">
            <a:avLst/>
          </a:prstGeom>
          <a:solidFill>
            <a:srgbClr val="F472B6">
              <a:alpha val="16000"/>
            </a:srgbClr>
          </a:solidFill>
          <a:ln w="12700">
            <a:solidFill>
              <a:srgbClr val="F472B6">
                <a:alpha val="45000"/>
              </a:srgbClr>
            </a:solidFill>
            <a:prstDash val="solid"/>
          </a:ln>
        </p:spPr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4692" y="4393692"/>
            <a:ext cx="283464" cy="283464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1609344" y="4251960"/>
            <a:ext cx="1241984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Jobs and transition</a:t>
            </a:r>
            <a:endParaRPr lang="en-US" sz="1600" dirty="0"/>
          </a:p>
        </p:txBody>
      </p:sp>
      <p:sp>
        <p:nvSpPr>
          <p:cNvPr id="30" name="Text 23"/>
          <p:cNvSpPr txBox="1"/>
          <p:nvPr/>
        </p:nvSpPr>
        <p:spPr>
          <a:xfrm>
            <a:off x="841248" y="5020056"/>
            <a:ext cx="2010080" cy="10332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Some tasks change quickly. Managing that transition fairly is a real societal problem.</a:t>
            </a:r>
            <a:endParaRPr lang="en-US" sz="1300" dirty="0"/>
          </a:p>
        </p:txBody>
      </p:sp>
      <p:sp>
        <p:nvSpPr>
          <p:cNvPr id="31" name="Shape 24"/>
          <p:cNvSpPr/>
          <p:nvPr/>
        </p:nvSpPr>
        <p:spPr>
          <a:xfrm>
            <a:off x="3399968" y="3995928"/>
            <a:ext cx="2558720" cy="2240280"/>
          </a:xfrm>
          <a:prstGeom prst="roundRect">
            <a:avLst>
              <a:gd name="adj" fmla="val 3265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3656000" y="4251960"/>
            <a:ext cx="566928" cy="566928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33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97732" y="4393692"/>
            <a:ext cx="283464" cy="283464"/>
          </a:xfrm>
          <a:prstGeom prst="rect">
            <a:avLst/>
          </a:prstGeom>
        </p:spPr>
      </p:pic>
      <p:sp>
        <p:nvSpPr>
          <p:cNvPr id="34" name="Text 26"/>
          <p:cNvSpPr txBox="1"/>
          <p:nvPr/>
        </p:nvSpPr>
        <p:spPr>
          <a:xfrm>
            <a:off x="4442384" y="4251960"/>
            <a:ext cx="1241984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Information integrity</a:t>
            </a:r>
            <a:endParaRPr lang="en-US" sz="1600" dirty="0"/>
          </a:p>
        </p:txBody>
      </p:sp>
      <p:sp>
        <p:nvSpPr>
          <p:cNvPr id="35" name="Text 27"/>
          <p:cNvSpPr txBox="1"/>
          <p:nvPr/>
        </p:nvSpPr>
        <p:spPr>
          <a:xfrm>
            <a:off x="3674288" y="5020056"/>
            <a:ext cx="2010080" cy="10332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Cheap synthetic content makes verifying what is real harder for everyone.</a:t>
            </a:r>
            <a:endParaRPr lang="en-US" sz="1300" dirty="0"/>
          </a:p>
        </p:txBody>
      </p:sp>
      <p:sp>
        <p:nvSpPr>
          <p:cNvPr id="36" name="Shape 28"/>
          <p:cNvSpPr/>
          <p:nvPr/>
        </p:nvSpPr>
        <p:spPr>
          <a:xfrm>
            <a:off x="6233008" y="3995928"/>
            <a:ext cx="2558720" cy="2240280"/>
          </a:xfrm>
          <a:prstGeom prst="roundRect">
            <a:avLst>
              <a:gd name="adj" fmla="val 3265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37" name="Shape 29"/>
          <p:cNvSpPr/>
          <p:nvPr/>
        </p:nvSpPr>
        <p:spPr>
          <a:xfrm>
            <a:off x="6489040" y="4251960"/>
            <a:ext cx="566928" cy="566928"/>
          </a:xfrm>
          <a:prstGeom prst="ellipse">
            <a:avLst/>
          </a:prstGeom>
          <a:solidFill>
            <a:srgbClr val="22D3EE">
              <a:alpha val="16000"/>
            </a:srgbClr>
          </a:solidFill>
          <a:ln w="12700">
            <a:solidFill>
              <a:srgbClr val="22D3EE">
                <a:alpha val="45000"/>
              </a:srgbClr>
            </a:solidFill>
            <a:prstDash val="solid"/>
          </a:ln>
        </p:spPr>
      </p:sp>
      <p:pic>
        <p:nvPicPr>
          <p:cNvPr id="38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30772" y="4393692"/>
            <a:ext cx="283464" cy="283464"/>
          </a:xfrm>
          <a:prstGeom prst="rect">
            <a:avLst/>
          </a:prstGeom>
        </p:spPr>
      </p:pic>
      <p:sp>
        <p:nvSpPr>
          <p:cNvPr id="39" name="Text 30"/>
          <p:cNvSpPr txBox="1"/>
          <p:nvPr/>
        </p:nvSpPr>
        <p:spPr>
          <a:xfrm>
            <a:off x="7275424" y="4251960"/>
            <a:ext cx="1241984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Unequal access</a:t>
            </a:r>
            <a:endParaRPr lang="en-US" sz="1600" dirty="0"/>
          </a:p>
        </p:txBody>
      </p:sp>
      <p:sp>
        <p:nvSpPr>
          <p:cNvPr id="40" name="Text 31"/>
          <p:cNvSpPr txBox="1"/>
          <p:nvPr/>
        </p:nvSpPr>
        <p:spPr>
          <a:xfrm>
            <a:off x="6507328" y="5020056"/>
            <a:ext cx="2010080" cy="10332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best tools cost money, which risks widening existing gaps.</a:t>
            </a:r>
            <a:endParaRPr lang="en-US" sz="1300" dirty="0"/>
          </a:p>
        </p:txBody>
      </p:sp>
      <p:sp>
        <p:nvSpPr>
          <p:cNvPr id="41" name="Shape 32"/>
          <p:cNvSpPr/>
          <p:nvPr/>
        </p:nvSpPr>
        <p:spPr>
          <a:xfrm>
            <a:off x="9066047" y="3995928"/>
            <a:ext cx="2558720" cy="2240280"/>
          </a:xfrm>
          <a:prstGeom prst="roundRect">
            <a:avLst>
              <a:gd name="adj" fmla="val 3265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42" name="Shape 33"/>
          <p:cNvSpPr/>
          <p:nvPr/>
        </p:nvSpPr>
        <p:spPr>
          <a:xfrm>
            <a:off x="9322079" y="4251960"/>
            <a:ext cx="566928" cy="566928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43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63811" y="4393692"/>
            <a:ext cx="283464" cy="283464"/>
          </a:xfrm>
          <a:prstGeom prst="rect">
            <a:avLst/>
          </a:prstGeom>
        </p:spPr>
      </p:pic>
      <p:sp>
        <p:nvSpPr>
          <p:cNvPr id="44" name="Text 34"/>
          <p:cNvSpPr txBox="1"/>
          <p:nvPr/>
        </p:nvSpPr>
        <p:spPr>
          <a:xfrm>
            <a:off x="10108463" y="4251960"/>
            <a:ext cx="1241984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Security</a:t>
            </a:r>
            <a:endParaRPr lang="en-US" sz="1600" dirty="0"/>
          </a:p>
        </p:txBody>
      </p:sp>
      <p:sp>
        <p:nvSpPr>
          <p:cNvPr id="45" name="Text 35"/>
          <p:cNvSpPr txBox="1"/>
          <p:nvPr/>
        </p:nvSpPr>
        <p:spPr>
          <a:xfrm>
            <a:off x="9340367" y="5020056"/>
            <a:ext cx="2010080" cy="10332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Prompt injection and agent misuse are new attack surfaces still being understood.</a:t>
            </a:r>
            <a:endParaRPr lang="en-US" sz="1300" dirty="0"/>
          </a:p>
        </p:txBody>
      </p:sp>
    </p:spTree>
  </p:cSld>
  <p:clrMapOvr>
    <a:masterClrMapping/>
  </p:clrMapOvr>
</p:sld>
</file>

<file path=ppt/slides/slide2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SLIDE 234 · WHAT TO BUILD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Future Skills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Section 22 · The Future of Generative AI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276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11057839" cy="670560"/>
          </a:xfrm>
          <a:prstGeom prst="roundRect">
            <a:avLst>
              <a:gd name="adj" fmla="val 10909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04672" y="1600200"/>
            <a:ext cx="432816" cy="432816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2876" y="1708404"/>
            <a:ext cx="216408" cy="216408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475232" y="1591056"/>
            <a:ext cx="9875215" cy="4511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Working with AI</a:t>
            </a:r>
            <a:endParaRPr lang="en-US" sz="13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Clear instructions, good context and systematic iteration. Useful in every profession.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566928" y="2298192"/>
            <a:ext cx="11057839" cy="670560"/>
          </a:xfrm>
          <a:prstGeom prst="roundRect">
            <a:avLst>
              <a:gd name="adj" fmla="val 10909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804672" y="2417064"/>
            <a:ext cx="432816" cy="432816"/>
          </a:xfrm>
          <a:prstGeom prst="ellipse">
            <a:avLst/>
          </a:prstGeom>
          <a:solidFill>
            <a:srgbClr val="22D3EE">
              <a:alpha val="16000"/>
            </a:srgbClr>
          </a:solidFill>
          <a:ln w="12700">
            <a:solidFill>
              <a:srgbClr val="22D3EE">
                <a:alpha val="45000"/>
              </a:srgbClr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876" y="2525268"/>
            <a:ext cx="216408" cy="216408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475232" y="2407920"/>
            <a:ext cx="9875215" cy="4511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Verification</a:t>
            </a:r>
            <a:endParaRPr lang="en-US" sz="13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Knowing how to check a claim is becoming more valuable than knowing the claim.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566928" y="3115056"/>
            <a:ext cx="11057839" cy="670560"/>
          </a:xfrm>
          <a:prstGeom prst="roundRect">
            <a:avLst>
              <a:gd name="adj" fmla="val 10909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04672" y="3233928"/>
            <a:ext cx="432816" cy="432816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2876" y="3342132"/>
            <a:ext cx="216408" cy="216408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475232" y="3224784"/>
            <a:ext cx="9875215" cy="4511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Judgement</a:t>
            </a:r>
            <a:endParaRPr lang="en-US" sz="13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Deciding what is worth doing, and what "good enough" means, stays human work.</a:t>
            </a:r>
            <a:endParaRPr lang="en-US" sz="1350" dirty="0"/>
          </a:p>
        </p:txBody>
      </p:sp>
      <p:sp>
        <p:nvSpPr>
          <p:cNvPr id="18" name="Shape 13"/>
          <p:cNvSpPr/>
          <p:nvPr/>
        </p:nvSpPr>
        <p:spPr>
          <a:xfrm>
            <a:off x="566928" y="3931920"/>
            <a:ext cx="11057839" cy="670560"/>
          </a:xfrm>
          <a:prstGeom prst="roundRect">
            <a:avLst>
              <a:gd name="adj" fmla="val 10909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804672" y="4050792"/>
            <a:ext cx="432816" cy="432816"/>
          </a:xfrm>
          <a:prstGeom prst="ellipse">
            <a:avLst/>
          </a:prstGeom>
          <a:solidFill>
            <a:srgbClr val="34D399">
              <a:alpha val="16000"/>
            </a:srgbClr>
          </a:solidFill>
          <a:ln w="12700">
            <a:solidFill>
              <a:srgbClr val="34D399">
                <a:alpha val="45000"/>
              </a:srgbClr>
            </a:solidFill>
            <a:prstDash val="solid"/>
          </a:ln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876" y="4158996"/>
            <a:ext cx="216408" cy="216408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475232" y="4041648"/>
            <a:ext cx="9875215" cy="4511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Problem framing</a:t>
            </a:r>
            <a:endParaRPr lang="en-US" sz="13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When answers are cheap, asking the right question is where the value moves.</a:t>
            </a:r>
            <a:endParaRPr lang="en-US" sz="1350" dirty="0"/>
          </a:p>
        </p:txBody>
      </p:sp>
      <p:sp>
        <p:nvSpPr>
          <p:cNvPr id="22" name="Shape 16"/>
          <p:cNvSpPr/>
          <p:nvPr/>
        </p:nvSpPr>
        <p:spPr>
          <a:xfrm>
            <a:off x="566928" y="4748784"/>
            <a:ext cx="11057839" cy="670560"/>
          </a:xfrm>
          <a:prstGeom prst="roundRect">
            <a:avLst>
              <a:gd name="adj" fmla="val 10909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804672" y="4867656"/>
            <a:ext cx="432816" cy="432816"/>
          </a:xfrm>
          <a:prstGeom prst="ellipse">
            <a:avLst/>
          </a:prstGeom>
          <a:solidFill>
            <a:srgbClr val="F472B6">
              <a:alpha val="16000"/>
            </a:srgbClr>
          </a:solidFill>
          <a:ln w="12700">
            <a:solidFill>
              <a:srgbClr val="F472B6">
                <a:alpha val="45000"/>
              </a:srgbClr>
            </a:solidFill>
            <a:prstDash val="solid"/>
          </a:ln>
        </p:spPr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2876" y="4975860"/>
            <a:ext cx="216408" cy="216408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1475232" y="4858512"/>
            <a:ext cx="9875215" cy="4511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Communication</a:t>
            </a:r>
            <a:endParaRPr lang="en-US" sz="13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Explaining complex things simply to people who must act on them.</a:t>
            </a:r>
            <a:endParaRPr lang="en-US" sz="1350" dirty="0"/>
          </a:p>
        </p:txBody>
      </p:sp>
      <p:sp>
        <p:nvSpPr>
          <p:cNvPr id="26" name="Shape 19"/>
          <p:cNvSpPr/>
          <p:nvPr/>
        </p:nvSpPr>
        <p:spPr>
          <a:xfrm>
            <a:off x="566928" y="5565648"/>
            <a:ext cx="11057839" cy="670560"/>
          </a:xfrm>
          <a:prstGeom prst="roundRect">
            <a:avLst>
              <a:gd name="adj" fmla="val 10909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7" name="Shape 20"/>
          <p:cNvSpPr/>
          <p:nvPr/>
        </p:nvSpPr>
        <p:spPr>
          <a:xfrm>
            <a:off x="804672" y="5684520"/>
            <a:ext cx="432816" cy="432816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28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2876" y="5792724"/>
            <a:ext cx="216408" cy="216408"/>
          </a:xfrm>
          <a:prstGeom prst="rect">
            <a:avLst/>
          </a:prstGeom>
        </p:spPr>
      </p:pic>
      <p:sp>
        <p:nvSpPr>
          <p:cNvPr id="29" name="Text 21"/>
          <p:cNvSpPr txBox="1"/>
          <p:nvPr/>
        </p:nvSpPr>
        <p:spPr>
          <a:xfrm>
            <a:off x="1475232" y="5675376"/>
            <a:ext cx="9875215" cy="4511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Adaptability</a:t>
            </a:r>
            <a:endParaRPr lang="en-US" sz="135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specific tools will change. The habit of relearning is the durable skill.</a:t>
            </a:r>
            <a:endParaRPr lang="en-US" sz="1350" dirty="0"/>
          </a:p>
        </p:txBody>
      </p:sp>
    </p:spTree>
  </p:cSld>
  <p:clrMapOvr>
    <a:masterClrMapping/>
  </p:clrMapOvr>
</p:sld>
</file>

<file path=ppt/slides/slide2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SLIDE 235 · NEXT STEPS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What Beginners Should Learn Next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Section 22 · The Future of Generative AI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277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11057839" cy="877824"/>
          </a:xfrm>
          <a:prstGeom prst="roundRect">
            <a:avLst>
              <a:gd name="adj" fmla="val 8333"/>
            </a:avLst>
          </a:prstGeom>
          <a:solidFill>
            <a:srgbClr val="191640">
              <a:alpha val="96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6928" y="1627632"/>
            <a:ext cx="64008" cy="585216"/>
          </a:xfrm>
          <a:prstGeom prst="roundRect">
            <a:avLst>
              <a:gd name="adj" fmla="val 42857"/>
            </a:avLst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59536" y="1572768"/>
            <a:ext cx="10472623" cy="6949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DDD9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practical plan for the weeks after this course.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66928" y="2615184"/>
            <a:ext cx="3503066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22960" y="2816352"/>
            <a:ext cx="457200" cy="457200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2930652"/>
            <a:ext cx="228600" cy="22860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499616" y="2816352"/>
            <a:ext cx="229605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Week 1–2 · Practise prompting</a:t>
            </a:r>
            <a:endParaRPr lang="en-US" sz="1450" dirty="0"/>
          </a:p>
        </p:txBody>
      </p:sp>
      <p:sp>
        <p:nvSpPr>
          <p:cNvPr id="13" name="Text 10"/>
          <p:cNvSpPr txBox="1"/>
          <p:nvPr/>
        </p:nvSpPr>
        <p:spPr>
          <a:xfrm>
            <a:off x="841248" y="3419856"/>
            <a:ext cx="2954426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 AI daily on real tasks. Keep a file of the prompts that worked well.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344314" y="2615184"/>
            <a:ext cx="3503066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600346" y="2816352"/>
            <a:ext cx="457200" cy="457200"/>
          </a:xfrm>
          <a:prstGeom prst="ellipse">
            <a:avLst/>
          </a:prstGeom>
          <a:solidFill>
            <a:srgbClr val="22D3EE">
              <a:alpha val="16000"/>
            </a:srgbClr>
          </a:solidFill>
          <a:ln w="12700">
            <a:solidFill>
              <a:srgbClr val="22D3EE">
                <a:alpha val="45000"/>
              </a:srgbClr>
            </a:solidFill>
            <a:prstDash val="solid"/>
          </a:ln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4646" y="2930652"/>
            <a:ext cx="228600" cy="22860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5277002" y="2816352"/>
            <a:ext cx="229605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Week 3–6 · Python basics</a:t>
            </a:r>
            <a:endParaRPr lang="en-US" sz="1450" dirty="0"/>
          </a:p>
        </p:txBody>
      </p:sp>
      <p:sp>
        <p:nvSpPr>
          <p:cNvPr id="18" name="Text 14"/>
          <p:cNvSpPr txBox="1"/>
          <p:nvPr/>
        </p:nvSpPr>
        <p:spPr>
          <a:xfrm>
            <a:off x="4618634" y="3419856"/>
            <a:ext cx="2954426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Enough to call an API and process the response. You do not need to be an expert.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8121701" y="2615184"/>
            <a:ext cx="3503066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8377733" y="2816352"/>
            <a:ext cx="457200" cy="457200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2033" y="2930652"/>
            <a:ext cx="228600" cy="22860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9054389" y="2816352"/>
            <a:ext cx="229605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Week 7–8 · Call a model API</a:t>
            </a:r>
            <a:endParaRPr lang="en-US" sz="1450" dirty="0"/>
          </a:p>
        </p:txBody>
      </p:sp>
      <p:sp>
        <p:nvSpPr>
          <p:cNvPr id="23" name="Text 18"/>
          <p:cNvSpPr txBox="1"/>
          <p:nvPr/>
        </p:nvSpPr>
        <p:spPr>
          <a:xfrm>
            <a:off x="8396021" y="3419856"/>
            <a:ext cx="2954426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Build one small application that sends a prompt and displays the answer.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566928" y="4530149"/>
            <a:ext cx="3503066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822960" y="4731317"/>
            <a:ext cx="457200" cy="457200"/>
          </a:xfrm>
          <a:prstGeom prst="ellipse">
            <a:avLst/>
          </a:prstGeom>
          <a:solidFill>
            <a:srgbClr val="34D399">
              <a:alpha val="16000"/>
            </a:srgbClr>
          </a:solidFill>
          <a:ln w="12700">
            <a:solidFill>
              <a:srgbClr val="34D399">
                <a:alpha val="45000"/>
              </a:srgbClr>
            </a:solidFill>
            <a:prstDash val="solid"/>
          </a:ln>
        </p:spPr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7260" y="4845617"/>
            <a:ext cx="228600" cy="228600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1499616" y="4731317"/>
            <a:ext cx="229605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Week 9–12 · Build a RAG project</a:t>
            </a:r>
            <a:endParaRPr lang="en-US" sz="1450" dirty="0"/>
          </a:p>
        </p:txBody>
      </p:sp>
      <p:sp>
        <p:nvSpPr>
          <p:cNvPr id="28" name="Text 22"/>
          <p:cNvSpPr txBox="1"/>
          <p:nvPr/>
        </p:nvSpPr>
        <p:spPr>
          <a:xfrm>
            <a:off x="841248" y="5334821"/>
            <a:ext cx="2954426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Index your own notes and ask questions about them. This single project teaches a great deal.</a:t>
            </a:r>
            <a:endParaRPr lang="en-US" sz="1200" dirty="0"/>
          </a:p>
        </p:txBody>
      </p:sp>
      <p:sp>
        <p:nvSpPr>
          <p:cNvPr id="29" name="Shape 23"/>
          <p:cNvSpPr/>
          <p:nvPr/>
        </p:nvSpPr>
        <p:spPr>
          <a:xfrm>
            <a:off x="4344314" y="4530149"/>
            <a:ext cx="3503066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4600346" y="4731317"/>
            <a:ext cx="457200" cy="457200"/>
          </a:xfrm>
          <a:prstGeom prst="ellipse">
            <a:avLst/>
          </a:prstGeom>
          <a:solidFill>
            <a:srgbClr val="F472B6">
              <a:alpha val="16000"/>
            </a:srgbClr>
          </a:solidFill>
          <a:ln w="12700">
            <a:solidFill>
              <a:srgbClr val="F472B6">
                <a:alpha val="45000"/>
              </a:srgbClr>
            </a:solidFill>
            <a:prstDash val="solid"/>
          </a:ln>
        </p:spPr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14646" y="4845617"/>
            <a:ext cx="228600" cy="228600"/>
          </a:xfrm>
          <a:prstGeom prst="rect">
            <a:avLst/>
          </a:prstGeom>
        </p:spPr>
      </p:pic>
      <p:sp>
        <p:nvSpPr>
          <p:cNvPr id="32" name="Text 25"/>
          <p:cNvSpPr txBox="1"/>
          <p:nvPr/>
        </p:nvSpPr>
        <p:spPr>
          <a:xfrm>
            <a:off x="5277002" y="4731317"/>
            <a:ext cx="229605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After that · Agents</a:t>
            </a:r>
            <a:endParaRPr lang="en-US" sz="1450" dirty="0"/>
          </a:p>
        </p:txBody>
      </p:sp>
      <p:sp>
        <p:nvSpPr>
          <p:cNvPr id="33" name="Text 26"/>
          <p:cNvSpPr txBox="1"/>
          <p:nvPr/>
        </p:nvSpPr>
        <p:spPr>
          <a:xfrm>
            <a:off x="4618634" y="5334821"/>
            <a:ext cx="2954426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Add one tool, then two. Learn where agents break and how to limit them.</a:t>
            </a:r>
            <a:endParaRPr lang="en-US" sz="1200" dirty="0"/>
          </a:p>
        </p:txBody>
      </p:sp>
      <p:sp>
        <p:nvSpPr>
          <p:cNvPr id="34" name="Shape 27"/>
          <p:cNvSpPr/>
          <p:nvPr/>
        </p:nvSpPr>
        <p:spPr>
          <a:xfrm>
            <a:off x="8121701" y="4530149"/>
            <a:ext cx="3503066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35" name="Shape 28"/>
          <p:cNvSpPr/>
          <p:nvPr/>
        </p:nvSpPr>
        <p:spPr>
          <a:xfrm>
            <a:off x="8377733" y="4731317"/>
            <a:ext cx="457200" cy="457200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36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92033" y="4845617"/>
            <a:ext cx="228600" cy="228600"/>
          </a:xfrm>
          <a:prstGeom prst="rect">
            <a:avLst/>
          </a:prstGeom>
        </p:spPr>
      </p:pic>
      <p:sp>
        <p:nvSpPr>
          <p:cNvPr id="37" name="Text 29"/>
          <p:cNvSpPr txBox="1"/>
          <p:nvPr/>
        </p:nvSpPr>
        <p:spPr>
          <a:xfrm>
            <a:off x="9054389" y="4731317"/>
            <a:ext cx="229605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Always · Ship something</a:t>
            </a:r>
            <a:endParaRPr lang="en-US" sz="1450" dirty="0"/>
          </a:p>
        </p:txBody>
      </p:sp>
      <p:sp>
        <p:nvSpPr>
          <p:cNvPr id="38" name="Text 30"/>
          <p:cNvSpPr txBox="1"/>
          <p:nvPr/>
        </p:nvSpPr>
        <p:spPr>
          <a:xfrm>
            <a:off x="8396021" y="5334821"/>
            <a:ext cx="2954426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finished small project beats a long list of tutorials you never completed.</a:t>
            </a:r>
            <a:endParaRPr lang="en-US" sz="1200" dirty="0"/>
          </a:p>
        </p:txBody>
      </p:sp>
    </p:spTree>
  </p:cSld>
  <p:clrMapOvr>
    <a:masterClrMapping/>
  </p:clrMapOvr>
</p:sld>
</file>

<file path=ppt/slides/slide2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BBF2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QUIZ 22 · SLIDES 225–235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Quiz 22 — The Future of Generative AI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Section 22 · The Future of Generative AI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278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11057839" cy="848563"/>
          </a:xfrm>
          <a:prstGeom prst="roundRect">
            <a:avLst>
              <a:gd name="adj" fmla="val 8621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68096" y="1627632"/>
            <a:ext cx="310896" cy="310896"/>
          </a:xfrm>
          <a:prstGeom prst="ellipse">
            <a:avLst/>
          </a:prstGeom>
          <a:solidFill>
            <a:srgbClr val="FBBF24">
              <a:alpha val="22000"/>
            </a:srgbClr>
          </a:solidFill>
          <a:ln w="12700">
            <a:solidFill>
              <a:srgbClr val="FBBF24">
                <a:alpha val="5000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68096" y="1627632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BBF2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Q1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188720" y="1600200"/>
            <a:ext cx="8726119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Multimodal AI means the model handles: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10207447" y="1618488"/>
            <a:ext cx="1371600" cy="347472"/>
          </a:xfrm>
          <a:prstGeom prst="roundRect">
            <a:avLst>
              <a:gd name="adj" fmla="val 15789"/>
            </a:avLst>
          </a:prstGeom>
          <a:solidFill>
            <a:srgbClr val="A78BFA">
              <a:alpha val="20000"/>
            </a:srgbClr>
          </a:solidFill>
          <a:ln w="12700">
            <a:solidFill>
              <a:srgbClr val="A78BFA">
                <a:alpha val="60000"/>
              </a:srgbClr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207447" y="1618488"/>
            <a:ext cx="13716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Answer: B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1115568" y="2011680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A. </a:t>
            </a:r>
            <a:r>
              <a:rPr lang="en-US" sz="11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Only text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3674288" y="2011680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B. </a:t>
            </a: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Text, image, audio and video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6233008" y="2011680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C. </a:t>
            </a:r>
            <a:r>
              <a:rPr lang="en-US" sz="11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Only images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8791727" y="2011680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D. </a:t>
            </a:r>
            <a:r>
              <a:rPr lang="en-US" sz="11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Only code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66928" y="2457907"/>
            <a:ext cx="11057839" cy="848563"/>
          </a:xfrm>
          <a:prstGeom prst="roundRect">
            <a:avLst>
              <a:gd name="adj" fmla="val 8621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68096" y="2604211"/>
            <a:ext cx="310896" cy="310896"/>
          </a:xfrm>
          <a:prstGeom prst="ellipse">
            <a:avLst/>
          </a:prstGeom>
          <a:solidFill>
            <a:srgbClr val="FBBF24">
              <a:alpha val="22000"/>
            </a:srgbClr>
          </a:solidFill>
          <a:ln w="12700">
            <a:solidFill>
              <a:srgbClr val="FBBF24">
                <a:alpha val="50000"/>
              </a:srgbClr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68096" y="2604211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BBF2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Q2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1188720" y="2576779"/>
            <a:ext cx="8726119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The shift towards agents means AI moves from: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10207447" y="2595067"/>
            <a:ext cx="1371600" cy="347472"/>
          </a:xfrm>
          <a:prstGeom prst="roundRect">
            <a:avLst>
              <a:gd name="adj" fmla="val 15789"/>
            </a:avLst>
          </a:prstGeom>
          <a:solidFill>
            <a:srgbClr val="A78BFA">
              <a:alpha val="20000"/>
            </a:srgbClr>
          </a:solidFill>
          <a:ln w="12700">
            <a:solidFill>
              <a:srgbClr val="A78BFA">
                <a:alpha val="60000"/>
              </a:srgbClr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0207447" y="2595067"/>
            <a:ext cx="13716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Answer: C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1115568" y="2988259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A. </a:t>
            </a:r>
            <a:r>
              <a:rPr lang="en-US" sz="11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Images to text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3674288" y="2988259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B. </a:t>
            </a:r>
            <a:r>
              <a:rPr lang="en-US" sz="11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Cloud to paper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6233008" y="2988259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C. </a:t>
            </a: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Writing to completing tasks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8791727" y="2988259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D. </a:t>
            </a:r>
            <a:r>
              <a:rPr lang="en-US" sz="11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Coding to typing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66928" y="3434486"/>
            <a:ext cx="11057839" cy="848563"/>
          </a:xfrm>
          <a:prstGeom prst="roundRect">
            <a:avLst>
              <a:gd name="adj" fmla="val 8621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768096" y="3580790"/>
            <a:ext cx="310896" cy="310896"/>
          </a:xfrm>
          <a:prstGeom prst="ellipse">
            <a:avLst/>
          </a:prstGeom>
          <a:solidFill>
            <a:srgbClr val="FBBF24">
              <a:alpha val="22000"/>
            </a:srgbClr>
          </a:solidFill>
          <a:ln w="12700">
            <a:solidFill>
              <a:srgbClr val="FBBF24">
                <a:alpha val="50000"/>
              </a:srgbClr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68096" y="3580790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BBF2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Q3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1188720" y="3553358"/>
            <a:ext cx="8726119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 remaining major challenge is: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10207447" y="3571646"/>
            <a:ext cx="1371600" cy="347472"/>
          </a:xfrm>
          <a:prstGeom prst="roundRect">
            <a:avLst>
              <a:gd name="adj" fmla="val 15789"/>
            </a:avLst>
          </a:prstGeom>
          <a:solidFill>
            <a:srgbClr val="A78BFA">
              <a:alpha val="20000"/>
            </a:srgbClr>
          </a:solidFill>
          <a:ln w="12700">
            <a:solidFill>
              <a:srgbClr val="A78BFA">
                <a:alpha val="60000"/>
              </a:srgbClr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10207447" y="3571646"/>
            <a:ext cx="13716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Answer: D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1115568" y="3964838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A. </a:t>
            </a:r>
            <a:r>
              <a:rPr lang="en-US" sz="11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Making text longer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3674288" y="3964838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B. </a:t>
            </a:r>
            <a:r>
              <a:rPr lang="en-US" sz="11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Adding more colours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6233008" y="3964838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C. </a:t>
            </a:r>
            <a:r>
              <a:rPr lang="en-US" sz="11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Reducing font size</a:t>
            </a:r>
            <a:endParaRPr lang="en-US" sz="1050" dirty="0"/>
          </a:p>
        </p:txBody>
      </p:sp>
      <p:sp>
        <p:nvSpPr>
          <p:cNvPr id="35" name="Text 33"/>
          <p:cNvSpPr txBox="1"/>
          <p:nvPr/>
        </p:nvSpPr>
        <p:spPr>
          <a:xfrm>
            <a:off x="8791727" y="3964838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D. </a:t>
            </a: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Reliability of factual output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66928" y="4411066"/>
            <a:ext cx="11057839" cy="848563"/>
          </a:xfrm>
          <a:prstGeom prst="roundRect">
            <a:avLst>
              <a:gd name="adj" fmla="val 8621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768096" y="4557370"/>
            <a:ext cx="310896" cy="310896"/>
          </a:xfrm>
          <a:prstGeom prst="ellipse">
            <a:avLst/>
          </a:prstGeom>
          <a:solidFill>
            <a:srgbClr val="FBBF24">
              <a:alpha val="22000"/>
            </a:srgbClr>
          </a:solidFill>
          <a:ln w="12700">
            <a:solidFill>
              <a:srgbClr val="FBBF24">
                <a:alpha val="50000"/>
              </a:srgbClr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768096" y="4557370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BBF2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Q4</a:t>
            </a:r>
            <a:endParaRPr lang="en-US" sz="900" dirty="0"/>
          </a:p>
        </p:txBody>
      </p:sp>
      <p:sp>
        <p:nvSpPr>
          <p:cNvPr id="39" name="Text 37"/>
          <p:cNvSpPr txBox="1"/>
          <p:nvPr/>
        </p:nvSpPr>
        <p:spPr>
          <a:xfrm>
            <a:off x="1188720" y="4529938"/>
            <a:ext cx="8726119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The most durable future skill is:</a:t>
            </a:r>
            <a:endParaRPr lang="en-US" sz="1250" dirty="0"/>
          </a:p>
        </p:txBody>
      </p:sp>
      <p:sp>
        <p:nvSpPr>
          <p:cNvPr id="40" name="Shape 38"/>
          <p:cNvSpPr/>
          <p:nvPr/>
        </p:nvSpPr>
        <p:spPr>
          <a:xfrm>
            <a:off x="10207447" y="4548226"/>
            <a:ext cx="1371600" cy="347472"/>
          </a:xfrm>
          <a:prstGeom prst="roundRect">
            <a:avLst>
              <a:gd name="adj" fmla="val 15789"/>
            </a:avLst>
          </a:prstGeom>
          <a:solidFill>
            <a:srgbClr val="A78BFA">
              <a:alpha val="20000"/>
            </a:srgbClr>
          </a:solidFill>
          <a:ln w="12700">
            <a:solidFill>
              <a:srgbClr val="A78BFA">
                <a:alpha val="60000"/>
              </a:srgbClr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10207447" y="4548226"/>
            <a:ext cx="13716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Answer: A</a:t>
            </a:r>
            <a:endParaRPr lang="en-US" sz="1050" dirty="0"/>
          </a:p>
        </p:txBody>
      </p:sp>
      <p:sp>
        <p:nvSpPr>
          <p:cNvPr id="42" name="Text 40"/>
          <p:cNvSpPr txBox="1"/>
          <p:nvPr/>
        </p:nvSpPr>
        <p:spPr>
          <a:xfrm>
            <a:off x="1115568" y="4941418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A. </a:t>
            </a: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Ability to keep relearning</a:t>
            </a:r>
            <a:endParaRPr lang="en-US" sz="1050" dirty="0"/>
          </a:p>
        </p:txBody>
      </p:sp>
      <p:sp>
        <p:nvSpPr>
          <p:cNvPr id="43" name="Text 41"/>
          <p:cNvSpPr txBox="1"/>
          <p:nvPr/>
        </p:nvSpPr>
        <p:spPr>
          <a:xfrm>
            <a:off x="3674288" y="4941418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B. </a:t>
            </a:r>
            <a:r>
              <a:rPr lang="en-US" sz="11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Memorising one tool</a:t>
            </a:r>
            <a:endParaRPr lang="en-US" sz="1050" dirty="0"/>
          </a:p>
        </p:txBody>
      </p:sp>
      <p:sp>
        <p:nvSpPr>
          <p:cNvPr id="44" name="Text 42"/>
          <p:cNvSpPr txBox="1"/>
          <p:nvPr/>
        </p:nvSpPr>
        <p:spPr>
          <a:xfrm>
            <a:off x="6233008" y="4941418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C. </a:t>
            </a:r>
            <a:r>
              <a:rPr lang="en-US" sz="11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Typing speed</a:t>
            </a:r>
            <a:endParaRPr lang="en-US" sz="1050" dirty="0"/>
          </a:p>
        </p:txBody>
      </p:sp>
      <p:sp>
        <p:nvSpPr>
          <p:cNvPr id="45" name="Text 43"/>
          <p:cNvSpPr txBox="1"/>
          <p:nvPr/>
        </p:nvSpPr>
        <p:spPr>
          <a:xfrm>
            <a:off x="8791727" y="4941418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D. </a:t>
            </a:r>
            <a:r>
              <a:rPr lang="en-US" sz="11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Using one model only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566928" y="5387645"/>
            <a:ext cx="11057839" cy="848563"/>
          </a:xfrm>
          <a:prstGeom prst="roundRect">
            <a:avLst>
              <a:gd name="adj" fmla="val 8621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768096" y="5533949"/>
            <a:ext cx="310896" cy="310896"/>
          </a:xfrm>
          <a:prstGeom prst="ellipse">
            <a:avLst/>
          </a:prstGeom>
          <a:solidFill>
            <a:srgbClr val="FBBF24">
              <a:alpha val="22000"/>
            </a:srgbClr>
          </a:solidFill>
          <a:ln w="12700">
            <a:solidFill>
              <a:srgbClr val="FBBF24">
                <a:alpha val="50000"/>
              </a:srgbClr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768096" y="5533949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BBF2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Q5</a:t>
            </a:r>
            <a:endParaRPr lang="en-US" sz="900" dirty="0"/>
          </a:p>
        </p:txBody>
      </p:sp>
      <p:sp>
        <p:nvSpPr>
          <p:cNvPr id="49" name="Text 47"/>
          <p:cNvSpPr txBox="1"/>
          <p:nvPr/>
        </p:nvSpPr>
        <p:spPr>
          <a:xfrm>
            <a:off x="1188720" y="5506517"/>
            <a:ext cx="8726119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The most productive human-AI pattern is:</a:t>
            </a:r>
            <a:endParaRPr lang="en-US" sz="1250" dirty="0"/>
          </a:p>
        </p:txBody>
      </p:sp>
      <p:sp>
        <p:nvSpPr>
          <p:cNvPr id="50" name="Shape 48"/>
          <p:cNvSpPr/>
          <p:nvPr/>
        </p:nvSpPr>
        <p:spPr>
          <a:xfrm>
            <a:off x="10207447" y="5524805"/>
            <a:ext cx="1371600" cy="347472"/>
          </a:xfrm>
          <a:prstGeom prst="roundRect">
            <a:avLst>
              <a:gd name="adj" fmla="val 15789"/>
            </a:avLst>
          </a:prstGeom>
          <a:solidFill>
            <a:srgbClr val="A78BFA">
              <a:alpha val="20000"/>
            </a:srgbClr>
          </a:solidFill>
          <a:ln w="12700">
            <a:solidFill>
              <a:srgbClr val="A78BFA">
                <a:alpha val="60000"/>
              </a:srgbClr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10207447" y="5524805"/>
            <a:ext cx="13716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Answer: B</a:t>
            </a:r>
            <a:endParaRPr lang="en-US" sz="1050" dirty="0"/>
          </a:p>
        </p:txBody>
      </p:sp>
      <p:sp>
        <p:nvSpPr>
          <p:cNvPr id="52" name="Text 50"/>
          <p:cNvSpPr txBox="1"/>
          <p:nvPr/>
        </p:nvSpPr>
        <p:spPr>
          <a:xfrm>
            <a:off x="1115568" y="5917997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A. </a:t>
            </a:r>
            <a:r>
              <a:rPr lang="en-US" sz="11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 decides everything</a:t>
            </a:r>
            <a:endParaRPr lang="en-US" sz="1050" dirty="0"/>
          </a:p>
        </p:txBody>
      </p:sp>
      <p:sp>
        <p:nvSpPr>
          <p:cNvPr id="53" name="Text 51"/>
          <p:cNvSpPr txBox="1"/>
          <p:nvPr/>
        </p:nvSpPr>
        <p:spPr>
          <a:xfrm>
            <a:off x="3674288" y="5917997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B. </a:t>
            </a: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 drafts, human decides</a:t>
            </a:r>
            <a:endParaRPr lang="en-US" sz="1050" dirty="0"/>
          </a:p>
        </p:txBody>
      </p:sp>
      <p:sp>
        <p:nvSpPr>
          <p:cNvPr id="54" name="Text 52"/>
          <p:cNvSpPr txBox="1"/>
          <p:nvPr/>
        </p:nvSpPr>
        <p:spPr>
          <a:xfrm>
            <a:off x="6233008" y="5917997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C. </a:t>
            </a:r>
            <a:r>
              <a:rPr lang="en-US" sz="11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Humans do all typing</a:t>
            </a:r>
            <a:endParaRPr lang="en-US" sz="1050" dirty="0"/>
          </a:p>
        </p:txBody>
      </p:sp>
      <p:sp>
        <p:nvSpPr>
          <p:cNvPr id="55" name="Text 53"/>
          <p:cNvSpPr txBox="1"/>
          <p:nvPr/>
        </p:nvSpPr>
        <p:spPr>
          <a:xfrm>
            <a:off x="8791727" y="5917997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D. </a:t>
            </a:r>
            <a:r>
              <a:rPr lang="en-US" sz="11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 review at all</a:t>
            </a:r>
            <a:endParaRPr lang="en-US" sz="1050" dirty="0"/>
          </a:p>
        </p:txBody>
      </p:sp>
    </p:spTree>
  </p:cSld>
  <p:clrMapOvr>
    <a:masterClrMapping/>
  </p:clrMapOvr>
</p:sld>
</file>

<file path=ppt/slides/slide2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49808" y="1874520"/>
            <a:ext cx="58521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SECTION 23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49808" y="2240280"/>
            <a:ext cx="6035040" cy="1554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Final Revision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749808" y="3886200"/>
            <a:ext cx="5852160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Pulling the whole course together before the final knowledge check.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49808" y="4846320"/>
            <a:ext cx="1463040" cy="64008"/>
          </a:xfrm>
          <a:prstGeom prst="roundRect">
            <a:avLst>
              <a:gd name="adj" fmla="val 42857"/>
            </a:avLst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32320" y="1143000"/>
            <a:ext cx="4492447" cy="797357"/>
          </a:xfrm>
          <a:prstGeom prst="roundRect">
            <a:avLst>
              <a:gd name="adj" fmla="val 9174"/>
            </a:avLst>
          </a:prstGeom>
          <a:solidFill>
            <a:srgbClr val="191640"/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51776" y="1313078"/>
            <a:ext cx="457200" cy="457200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66076" y="1427378"/>
            <a:ext cx="228600" cy="22860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8010144" y="1143000"/>
            <a:ext cx="3303727" cy="79735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Course Mind Map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7132320" y="2086661"/>
            <a:ext cx="4492447" cy="797357"/>
          </a:xfrm>
          <a:prstGeom prst="roundRect">
            <a:avLst>
              <a:gd name="adj" fmla="val 9174"/>
            </a:avLst>
          </a:prstGeom>
          <a:solidFill>
            <a:srgbClr val="191640"/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7351776" y="2256739"/>
            <a:ext cx="457200" cy="457200"/>
          </a:xfrm>
          <a:prstGeom prst="ellipse">
            <a:avLst/>
          </a:prstGeom>
          <a:solidFill>
            <a:srgbClr val="22D3EE">
              <a:alpha val="16000"/>
            </a:srgbClr>
          </a:solidFill>
          <a:ln w="12700">
            <a:solidFill>
              <a:srgbClr val="22D3EE">
                <a:alpha val="45000"/>
              </a:srgbClr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6076" y="2371039"/>
            <a:ext cx="228600" cy="22860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8010144" y="2086661"/>
            <a:ext cx="3303727" cy="79735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Top 30 Terms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7132320" y="3030322"/>
            <a:ext cx="4492447" cy="797357"/>
          </a:xfrm>
          <a:prstGeom prst="roundRect">
            <a:avLst>
              <a:gd name="adj" fmla="val 9174"/>
            </a:avLst>
          </a:prstGeom>
          <a:solidFill>
            <a:srgbClr val="191640"/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351776" y="3200400"/>
            <a:ext cx="457200" cy="457200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6076" y="3314700"/>
            <a:ext cx="228600" cy="22860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010144" y="3030322"/>
            <a:ext cx="3303727" cy="79735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Top 25 Prompt Tips</a:t>
            </a:r>
            <a:endParaRPr lang="en-US" sz="1350" dirty="0"/>
          </a:p>
        </p:txBody>
      </p:sp>
      <p:sp>
        <p:nvSpPr>
          <p:cNvPr id="18" name="Shape 13"/>
          <p:cNvSpPr/>
          <p:nvPr/>
        </p:nvSpPr>
        <p:spPr>
          <a:xfrm>
            <a:off x="7132320" y="3973982"/>
            <a:ext cx="4492447" cy="797357"/>
          </a:xfrm>
          <a:prstGeom prst="roundRect">
            <a:avLst>
              <a:gd name="adj" fmla="val 9174"/>
            </a:avLst>
          </a:prstGeom>
          <a:solidFill>
            <a:srgbClr val="191640"/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7351776" y="4144061"/>
            <a:ext cx="457200" cy="457200"/>
          </a:xfrm>
          <a:prstGeom prst="ellipse">
            <a:avLst/>
          </a:prstGeom>
          <a:solidFill>
            <a:srgbClr val="34D399">
              <a:alpha val="16000"/>
            </a:srgbClr>
          </a:solidFill>
          <a:ln w="12700">
            <a:solidFill>
              <a:srgbClr val="34D399">
                <a:alpha val="45000"/>
              </a:srgbClr>
            </a:solidFill>
            <a:prstDash val="solid"/>
          </a:ln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66076" y="4258361"/>
            <a:ext cx="228600" cy="22860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8010144" y="3973982"/>
            <a:ext cx="3303727" cy="79735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Top 25 Use Cases</a:t>
            </a:r>
            <a:endParaRPr lang="en-US" sz="1350" dirty="0"/>
          </a:p>
        </p:txBody>
      </p:sp>
      <p:sp>
        <p:nvSpPr>
          <p:cNvPr id="22" name="Shape 16"/>
          <p:cNvSpPr/>
          <p:nvPr/>
        </p:nvSpPr>
        <p:spPr>
          <a:xfrm>
            <a:off x="7132320" y="4917643"/>
            <a:ext cx="4492447" cy="797357"/>
          </a:xfrm>
          <a:prstGeom prst="roundRect">
            <a:avLst>
              <a:gd name="adj" fmla="val 9174"/>
            </a:avLst>
          </a:prstGeom>
          <a:solidFill>
            <a:srgbClr val="191640"/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7351776" y="5087722"/>
            <a:ext cx="457200" cy="457200"/>
          </a:xfrm>
          <a:prstGeom prst="ellipse">
            <a:avLst/>
          </a:prstGeom>
          <a:solidFill>
            <a:srgbClr val="F472B6">
              <a:alpha val="16000"/>
            </a:srgbClr>
          </a:solidFill>
          <a:ln w="12700">
            <a:solidFill>
              <a:srgbClr val="F472B6">
                <a:alpha val="45000"/>
              </a:srgbClr>
            </a:solidFill>
            <a:prstDash val="solid"/>
          </a:ln>
        </p:spPr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66076" y="5202022"/>
            <a:ext cx="228600" cy="228600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8010144" y="4917643"/>
            <a:ext cx="3303727" cy="79735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Final Knowledge Check</a:t>
            </a:r>
            <a:endParaRPr lang="en-US" sz="1350" dirty="0"/>
          </a:p>
        </p:txBody>
      </p:sp>
      <p:sp>
        <p:nvSpPr>
          <p:cNvPr id="26" name="Text 19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Final Section · Revision</a:t>
            </a:r>
            <a:endParaRPr lang="en-US" sz="950" dirty="0"/>
          </a:p>
        </p:txBody>
      </p:sp>
      <p:sp>
        <p:nvSpPr>
          <p:cNvPr id="27" name="Text 20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279</a:t>
            </a:r>
            <a:endParaRPr lang="en-US" sz="950" dirty="0"/>
          </a:p>
        </p:txBody>
      </p:sp>
    </p:spTree>
  </p:cSld>
  <p:clrMapOvr>
    <a:masterClrMapping/>
  </p:clrMapOvr>
</p:sld>
</file>

<file path=ppt/slides/slide2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SLIDE 236 · BIG PICTURE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Complete Generative AI Mind Map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Final Section · Revision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280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3584448" y="1808988"/>
            <a:ext cx="2511400" cy="2049780"/>
          </a:xfrm>
          <a:prstGeom prst="line">
            <a:avLst/>
          </a:prstGeom>
          <a:noFill/>
          <a:ln w="19050">
            <a:solidFill>
              <a:srgbClr val="322C63"/>
            </a:solidFill>
            <a:prstDash val="sysDot"/>
          </a:ln>
        </p:spPr>
      </p:sp>
      <p:sp>
        <p:nvSpPr>
          <p:cNvPr id="7" name="Shape 5"/>
          <p:cNvSpPr/>
          <p:nvPr/>
        </p:nvSpPr>
        <p:spPr>
          <a:xfrm flipH="1">
            <a:off x="6095848" y="1808988"/>
            <a:ext cx="2511400" cy="2049780"/>
          </a:xfrm>
          <a:prstGeom prst="line">
            <a:avLst/>
          </a:prstGeom>
          <a:noFill/>
          <a:ln w="19050">
            <a:solidFill>
              <a:srgbClr val="322C63"/>
            </a:solidFill>
            <a:prstDash val="sysDot"/>
          </a:ln>
        </p:spPr>
      </p:sp>
      <p:sp>
        <p:nvSpPr>
          <p:cNvPr id="8" name="Shape 6"/>
          <p:cNvSpPr/>
          <p:nvPr/>
        </p:nvSpPr>
        <p:spPr>
          <a:xfrm>
            <a:off x="3584448" y="2628900"/>
            <a:ext cx="2511400" cy="1229868"/>
          </a:xfrm>
          <a:prstGeom prst="line">
            <a:avLst/>
          </a:prstGeom>
          <a:noFill/>
          <a:ln w="19050">
            <a:solidFill>
              <a:srgbClr val="322C63"/>
            </a:solidFill>
            <a:prstDash val="sysDot"/>
          </a:ln>
        </p:spPr>
      </p:sp>
      <p:sp>
        <p:nvSpPr>
          <p:cNvPr id="9" name="Shape 7"/>
          <p:cNvSpPr/>
          <p:nvPr/>
        </p:nvSpPr>
        <p:spPr>
          <a:xfrm flipH="1">
            <a:off x="6095848" y="2628900"/>
            <a:ext cx="2511400" cy="1229868"/>
          </a:xfrm>
          <a:prstGeom prst="line">
            <a:avLst/>
          </a:prstGeom>
          <a:noFill/>
          <a:ln w="19050">
            <a:solidFill>
              <a:srgbClr val="322C63"/>
            </a:solidFill>
            <a:prstDash val="sysDot"/>
          </a:ln>
        </p:spPr>
      </p:sp>
      <p:sp>
        <p:nvSpPr>
          <p:cNvPr id="10" name="Shape 8"/>
          <p:cNvSpPr/>
          <p:nvPr/>
        </p:nvSpPr>
        <p:spPr>
          <a:xfrm>
            <a:off x="3584448" y="3448812"/>
            <a:ext cx="2511400" cy="409956"/>
          </a:xfrm>
          <a:prstGeom prst="line">
            <a:avLst/>
          </a:prstGeom>
          <a:noFill/>
          <a:ln w="19050">
            <a:solidFill>
              <a:srgbClr val="322C63"/>
            </a:solidFill>
            <a:prstDash val="sysDot"/>
          </a:ln>
        </p:spPr>
      </p:sp>
      <p:sp>
        <p:nvSpPr>
          <p:cNvPr id="11" name="Shape 9"/>
          <p:cNvSpPr/>
          <p:nvPr/>
        </p:nvSpPr>
        <p:spPr>
          <a:xfrm flipH="1">
            <a:off x="6095848" y="3448812"/>
            <a:ext cx="2511400" cy="409956"/>
          </a:xfrm>
          <a:prstGeom prst="line">
            <a:avLst/>
          </a:prstGeom>
          <a:noFill/>
          <a:ln w="19050">
            <a:solidFill>
              <a:srgbClr val="322C63"/>
            </a:solidFill>
            <a:prstDash val="sysDot"/>
          </a:ln>
        </p:spPr>
      </p:sp>
      <p:sp>
        <p:nvSpPr>
          <p:cNvPr id="12" name="Shape 10"/>
          <p:cNvSpPr/>
          <p:nvPr/>
        </p:nvSpPr>
        <p:spPr>
          <a:xfrm flipV="1">
            <a:off x="3584448" y="3858768"/>
            <a:ext cx="2511400" cy="409956"/>
          </a:xfrm>
          <a:prstGeom prst="line">
            <a:avLst/>
          </a:prstGeom>
          <a:noFill/>
          <a:ln w="19050">
            <a:solidFill>
              <a:srgbClr val="322C63"/>
            </a:solidFill>
            <a:prstDash val="sysDot"/>
          </a:ln>
        </p:spPr>
      </p:sp>
      <p:sp>
        <p:nvSpPr>
          <p:cNvPr id="13" name="Shape 11"/>
          <p:cNvSpPr/>
          <p:nvPr/>
        </p:nvSpPr>
        <p:spPr>
          <a:xfrm flipH="1" flipV="1">
            <a:off x="6095848" y="3858768"/>
            <a:ext cx="2511400" cy="409956"/>
          </a:xfrm>
          <a:prstGeom prst="line">
            <a:avLst/>
          </a:prstGeom>
          <a:noFill/>
          <a:ln w="19050">
            <a:solidFill>
              <a:srgbClr val="322C63"/>
            </a:solidFill>
            <a:prstDash val="sysDot"/>
          </a:ln>
        </p:spPr>
      </p:sp>
      <p:sp>
        <p:nvSpPr>
          <p:cNvPr id="14" name="Shape 12"/>
          <p:cNvSpPr/>
          <p:nvPr/>
        </p:nvSpPr>
        <p:spPr>
          <a:xfrm flipV="1">
            <a:off x="3584448" y="3858768"/>
            <a:ext cx="2511400" cy="1229868"/>
          </a:xfrm>
          <a:prstGeom prst="line">
            <a:avLst/>
          </a:prstGeom>
          <a:noFill/>
          <a:ln w="19050">
            <a:solidFill>
              <a:srgbClr val="322C63"/>
            </a:solidFill>
            <a:prstDash val="sysDot"/>
          </a:ln>
        </p:spPr>
      </p:sp>
      <p:sp>
        <p:nvSpPr>
          <p:cNvPr id="15" name="Shape 13"/>
          <p:cNvSpPr/>
          <p:nvPr/>
        </p:nvSpPr>
        <p:spPr>
          <a:xfrm flipH="1" flipV="1">
            <a:off x="6095848" y="3858768"/>
            <a:ext cx="2511400" cy="1229868"/>
          </a:xfrm>
          <a:prstGeom prst="line">
            <a:avLst/>
          </a:prstGeom>
          <a:noFill/>
          <a:ln w="19050">
            <a:solidFill>
              <a:srgbClr val="322C63"/>
            </a:solidFill>
            <a:prstDash val="sysDot"/>
          </a:ln>
        </p:spPr>
      </p:sp>
      <p:sp>
        <p:nvSpPr>
          <p:cNvPr id="16" name="Shape 14"/>
          <p:cNvSpPr/>
          <p:nvPr/>
        </p:nvSpPr>
        <p:spPr>
          <a:xfrm flipV="1">
            <a:off x="3584448" y="3858768"/>
            <a:ext cx="2511400" cy="2049780"/>
          </a:xfrm>
          <a:prstGeom prst="line">
            <a:avLst/>
          </a:prstGeom>
          <a:noFill/>
          <a:ln w="19050">
            <a:solidFill>
              <a:srgbClr val="322C63"/>
            </a:solidFill>
            <a:prstDash val="sysDot"/>
          </a:ln>
        </p:spPr>
      </p:sp>
      <p:sp>
        <p:nvSpPr>
          <p:cNvPr id="17" name="Shape 15"/>
          <p:cNvSpPr/>
          <p:nvPr/>
        </p:nvSpPr>
        <p:spPr>
          <a:xfrm flipH="1" flipV="1">
            <a:off x="6095848" y="3858768"/>
            <a:ext cx="2511400" cy="2049780"/>
          </a:xfrm>
          <a:prstGeom prst="line">
            <a:avLst/>
          </a:prstGeom>
          <a:noFill/>
          <a:ln w="19050">
            <a:solidFill>
              <a:srgbClr val="322C63"/>
            </a:solidFill>
            <a:prstDash val="sysDot"/>
          </a:ln>
        </p:spPr>
      </p:sp>
      <p:sp>
        <p:nvSpPr>
          <p:cNvPr id="18" name="Shape 16"/>
          <p:cNvSpPr/>
          <p:nvPr/>
        </p:nvSpPr>
        <p:spPr>
          <a:xfrm>
            <a:off x="566928" y="1481328"/>
            <a:ext cx="3017520" cy="655320"/>
          </a:xfrm>
          <a:prstGeom prst="roundRect">
            <a:avLst>
              <a:gd name="adj" fmla="val 11163"/>
            </a:avLst>
          </a:prstGeom>
          <a:solidFill>
            <a:srgbClr val="191640"/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31520" y="1607820"/>
            <a:ext cx="402336" cy="402336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20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" y="1708404"/>
            <a:ext cx="201168" cy="201168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1298448" y="1554480"/>
            <a:ext cx="2157984" cy="509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AI → ML → DL</a:t>
            </a:r>
            <a:endParaRPr lang="en-US" sz="12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hierarchy of the field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8607247" y="1481328"/>
            <a:ext cx="3017520" cy="655320"/>
          </a:xfrm>
          <a:prstGeom prst="roundRect">
            <a:avLst>
              <a:gd name="adj" fmla="val 11163"/>
            </a:avLst>
          </a:prstGeom>
          <a:solidFill>
            <a:srgbClr val="191640"/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8771839" y="1607820"/>
            <a:ext cx="402336" cy="402336"/>
          </a:xfrm>
          <a:prstGeom prst="ellipse">
            <a:avLst/>
          </a:prstGeom>
          <a:solidFill>
            <a:srgbClr val="22D3EE">
              <a:alpha val="16000"/>
            </a:srgbClr>
          </a:solidFill>
          <a:ln w="12700">
            <a:solidFill>
              <a:srgbClr val="22D3EE">
                <a:alpha val="45000"/>
              </a:srgbClr>
            </a:solidFill>
            <a:prstDash val="solid"/>
          </a:ln>
        </p:spPr>
      </p:sp>
      <p:pic>
        <p:nvPicPr>
          <p:cNvPr id="24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72423" y="1708404"/>
            <a:ext cx="201168" cy="201168"/>
          </a:xfrm>
          <a:prstGeom prst="rect">
            <a:avLst/>
          </a:prstGeom>
        </p:spPr>
      </p:pic>
      <p:sp>
        <p:nvSpPr>
          <p:cNvPr id="25" name="Text 21"/>
          <p:cNvSpPr txBox="1"/>
          <p:nvPr/>
        </p:nvSpPr>
        <p:spPr>
          <a:xfrm>
            <a:off x="9338767" y="1554480"/>
            <a:ext cx="2157984" cy="509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Neural Networks</a:t>
            </a:r>
            <a:endParaRPr lang="en-US" sz="12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Layers, weights, training</a:t>
            </a:r>
            <a:endParaRPr lang="en-US" sz="1250" dirty="0"/>
          </a:p>
        </p:txBody>
      </p:sp>
      <p:sp>
        <p:nvSpPr>
          <p:cNvPr id="26" name="Shape 22"/>
          <p:cNvSpPr/>
          <p:nvPr/>
        </p:nvSpPr>
        <p:spPr>
          <a:xfrm>
            <a:off x="566928" y="2301240"/>
            <a:ext cx="3017520" cy="655320"/>
          </a:xfrm>
          <a:prstGeom prst="roundRect">
            <a:avLst>
              <a:gd name="adj" fmla="val 11163"/>
            </a:avLst>
          </a:prstGeom>
          <a:solidFill>
            <a:srgbClr val="191640"/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7" name="Shape 23"/>
          <p:cNvSpPr/>
          <p:nvPr/>
        </p:nvSpPr>
        <p:spPr>
          <a:xfrm>
            <a:off x="731520" y="2427732"/>
            <a:ext cx="402336" cy="402336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2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" y="2528316"/>
            <a:ext cx="201168" cy="201168"/>
          </a:xfrm>
          <a:prstGeom prst="rect">
            <a:avLst/>
          </a:prstGeom>
        </p:spPr>
      </p:pic>
      <p:sp>
        <p:nvSpPr>
          <p:cNvPr id="29" name="Text 24"/>
          <p:cNvSpPr txBox="1"/>
          <p:nvPr/>
        </p:nvSpPr>
        <p:spPr>
          <a:xfrm>
            <a:off x="1298448" y="2374392"/>
            <a:ext cx="2157984" cy="509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Transformers</a:t>
            </a:r>
            <a:endParaRPr lang="en-US" sz="12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Attention and self-attention</a:t>
            </a:r>
            <a:endParaRPr lang="en-US" sz="1250" dirty="0"/>
          </a:p>
        </p:txBody>
      </p:sp>
      <p:sp>
        <p:nvSpPr>
          <p:cNvPr id="30" name="Shape 25"/>
          <p:cNvSpPr/>
          <p:nvPr/>
        </p:nvSpPr>
        <p:spPr>
          <a:xfrm>
            <a:off x="8607247" y="2301240"/>
            <a:ext cx="3017520" cy="655320"/>
          </a:xfrm>
          <a:prstGeom prst="roundRect">
            <a:avLst>
              <a:gd name="adj" fmla="val 11163"/>
            </a:avLst>
          </a:prstGeom>
          <a:solidFill>
            <a:srgbClr val="191640"/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8771839" y="2427732"/>
            <a:ext cx="402336" cy="402336"/>
          </a:xfrm>
          <a:prstGeom prst="ellipse">
            <a:avLst/>
          </a:prstGeom>
          <a:solidFill>
            <a:srgbClr val="34D399">
              <a:alpha val="16000"/>
            </a:srgbClr>
          </a:solidFill>
          <a:ln w="12700">
            <a:solidFill>
              <a:srgbClr val="34D399">
                <a:alpha val="45000"/>
              </a:srgbClr>
            </a:solidFill>
            <a:prstDash val="solid"/>
          </a:ln>
        </p:spPr>
      </p:sp>
      <p:pic>
        <p:nvPicPr>
          <p:cNvPr id="32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72423" y="2528316"/>
            <a:ext cx="201168" cy="201168"/>
          </a:xfrm>
          <a:prstGeom prst="rect">
            <a:avLst/>
          </a:prstGeom>
        </p:spPr>
      </p:pic>
      <p:sp>
        <p:nvSpPr>
          <p:cNvPr id="33" name="Text 27"/>
          <p:cNvSpPr txBox="1"/>
          <p:nvPr/>
        </p:nvSpPr>
        <p:spPr>
          <a:xfrm>
            <a:off x="9338767" y="2374392"/>
            <a:ext cx="2157984" cy="509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LLMs</a:t>
            </a:r>
            <a:endParaRPr lang="en-US" sz="12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Next-token prediction at scale</a:t>
            </a:r>
            <a:endParaRPr lang="en-US" sz="1250" dirty="0"/>
          </a:p>
        </p:txBody>
      </p:sp>
      <p:sp>
        <p:nvSpPr>
          <p:cNvPr id="34" name="Shape 28"/>
          <p:cNvSpPr/>
          <p:nvPr/>
        </p:nvSpPr>
        <p:spPr>
          <a:xfrm>
            <a:off x="566928" y="3121152"/>
            <a:ext cx="3017520" cy="655320"/>
          </a:xfrm>
          <a:prstGeom prst="roundRect">
            <a:avLst>
              <a:gd name="adj" fmla="val 11163"/>
            </a:avLst>
          </a:prstGeom>
          <a:solidFill>
            <a:srgbClr val="191640"/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35" name="Shape 29"/>
          <p:cNvSpPr/>
          <p:nvPr/>
        </p:nvSpPr>
        <p:spPr>
          <a:xfrm>
            <a:off x="731520" y="3247644"/>
            <a:ext cx="402336" cy="402336"/>
          </a:xfrm>
          <a:prstGeom prst="ellipse">
            <a:avLst/>
          </a:prstGeom>
          <a:solidFill>
            <a:srgbClr val="F472B6">
              <a:alpha val="16000"/>
            </a:srgbClr>
          </a:solidFill>
          <a:ln w="12700">
            <a:solidFill>
              <a:srgbClr val="F472B6">
                <a:alpha val="45000"/>
              </a:srgbClr>
            </a:solidFill>
            <a:prstDash val="solid"/>
          </a:ln>
        </p:spPr>
      </p:sp>
      <p:pic>
        <p:nvPicPr>
          <p:cNvPr id="3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2104" y="3348228"/>
            <a:ext cx="201168" cy="201168"/>
          </a:xfrm>
          <a:prstGeom prst="rect">
            <a:avLst/>
          </a:prstGeom>
        </p:spPr>
      </p:pic>
      <p:sp>
        <p:nvSpPr>
          <p:cNvPr id="37" name="Text 30"/>
          <p:cNvSpPr txBox="1"/>
          <p:nvPr/>
        </p:nvSpPr>
        <p:spPr>
          <a:xfrm>
            <a:off x="1298448" y="3194304"/>
            <a:ext cx="2157984" cy="509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Prompt Engineering</a:t>
            </a:r>
            <a:endParaRPr lang="en-US" sz="12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Role, task, context, format</a:t>
            </a:r>
            <a:endParaRPr lang="en-US" sz="1250" dirty="0"/>
          </a:p>
        </p:txBody>
      </p:sp>
      <p:sp>
        <p:nvSpPr>
          <p:cNvPr id="38" name="Shape 31"/>
          <p:cNvSpPr/>
          <p:nvPr/>
        </p:nvSpPr>
        <p:spPr>
          <a:xfrm>
            <a:off x="8607247" y="3121152"/>
            <a:ext cx="3017520" cy="655320"/>
          </a:xfrm>
          <a:prstGeom prst="roundRect">
            <a:avLst>
              <a:gd name="adj" fmla="val 11163"/>
            </a:avLst>
          </a:prstGeom>
          <a:solidFill>
            <a:srgbClr val="191640"/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39" name="Shape 32"/>
          <p:cNvSpPr/>
          <p:nvPr/>
        </p:nvSpPr>
        <p:spPr>
          <a:xfrm>
            <a:off x="8771839" y="3247644"/>
            <a:ext cx="402336" cy="402336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40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72423" y="3348228"/>
            <a:ext cx="201168" cy="201168"/>
          </a:xfrm>
          <a:prstGeom prst="rect">
            <a:avLst/>
          </a:prstGeom>
        </p:spPr>
      </p:pic>
      <p:sp>
        <p:nvSpPr>
          <p:cNvPr id="41" name="Text 33"/>
          <p:cNvSpPr txBox="1"/>
          <p:nvPr/>
        </p:nvSpPr>
        <p:spPr>
          <a:xfrm>
            <a:off x="9338767" y="3194304"/>
            <a:ext cx="2157984" cy="509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Embeddings</a:t>
            </a:r>
            <a:endParaRPr lang="en-US" sz="12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Meaning turned into numbers</a:t>
            </a:r>
            <a:endParaRPr lang="en-US" sz="1250" dirty="0"/>
          </a:p>
        </p:txBody>
      </p:sp>
      <p:sp>
        <p:nvSpPr>
          <p:cNvPr id="42" name="Shape 34"/>
          <p:cNvSpPr/>
          <p:nvPr/>
        </p:nvSpPr>
        <p:spPr>
          <a:xfrm>
            <a:off x="566928" y="3941064"/>
            <a:ext cx="3017520" cy="655320"/>
          </a:xfrm>
          <a:prstGeom prst="roundRect">
            <a:avLst>
              <a:gd name="adj" fmla="val 11163"/>
            </a:avLst>
          </a:prstGeom>
          <a:solidFill>
            <a:srgbClr val="191640"/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43" name="Shape 35"/>
          <p:cNvSpPr/>
          <p:nvPr/>
        </p:nvSpPr>
        <p:spPr>
          <a:xfrm>
            <a:off x="731520" y="4067556"/>
            <a:ext cx="402336" cy="402336"/>
          </a:xfrm>
          <a:prstGeom prst="ellipse">
            <a:avLst/>
          </a:prstGeom>
          <a:solidFill>
            <a:srgbClr val="22D3EE">
              <a:alpha val="16000"/>
            </a:srgbClr>
          </a:solidFill>
          <a:ln w="12700">
            <a:solidFill>
              <a:srgbClr val="22D3EE">
                <a:alpha val="45000"/>
              </a:srgbClr>
            </a:solidFill>
            <a:prstDash val="solid"/>
          </a:ln>
        </p:spPr>
      </p:sp>
      <p:pic>
        <p:nvPicPr>
          <p:cNvPr id="44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2104" y="4168140"/>
            <a:ext cx="201168" cy="201168"/>
          </a:xfrm>
          <a:prstGeom prst="rect">
            <a:avLst/>
          </a:prstGeom>
        </p:spPr>
      </p:pic>
      <p:sp>
        <p:nvSpPr>
          <p:cNvPr id="45" name="Text 36"/>
          <p:cNvSpPr txBox="1"/>
          <p:nvPr/>
        </p:nvSpPr>
        <p:spPr>
          <a:xfrm>
            <a:off x="1298448" y="4014216"/>
            <a:ext cx="2157984" cy="509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RAG</a:t>
            </a:r>
            <a:endParaRPr lang="en-US" sz="12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Answering from your documents</a:t>
            </a:r>
            <a:endParaRPr lang="en-US" sz="1250" dirty="0"/>
          </a:p>
        </p:txBody>
      </p:sp>
      <p:sp>
        <p:nvSpPr>
          <p:cNvPr id="46" name="Shape 37"/>
          <p:cNvSpPr/>
          <p:nvPr/>
        </p:nvSpPr>
        <p:spPr>
          <a:xfrm>
            <a:off x="8607247" y="3941064"/>
            <a:ext cx="3017520" cy="655320"/>
          </a:xfrm>
          <a:prstGeom prst="roundRect">
            <a:avLst>
              <a:gd name="adj" fmla="val 11163"/>
            </a:avLst>
          </a:prstGeom>
          <a:solidFill>
            <a:srgbClr val="191640"/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47" name="Shape 38"/>
          <p:cNvSpPr/>
          <p:nvPr/>
        </p:nvSpPr>
        <p:spPr>
          <a:xfrm>
            <a:off x="8771839" y="4067556"/>
            <a:ext cx="402336" cy="402336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48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872423" y="4168140"/>
            <a:ext cx="201168" cy="201168"/>
          </a:xfrm>
          <a:prstGeom prst="rect">
            <a:avLst/>
          </a:prstGeom>
        </p:spPr>
      </p:pic>
      <p:sp>
        <p:nvSpPr>
          <p:cNvPr id="49" name="Text 39"/>
          <p:cNvSpPr txBox="1"/>
          <p:nvPr/>
        </p:nvSpPr>
        <p:spPr>
          <a:xfrm>
            <a:off x="9338767" y="4014216"/>
            <a:ext cx="2157984" cy="509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AI Agents</a:t>
            </a:r>
            <a:endParaRPr lang="en-US" sz="12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Planning, tools, observation</a:t>
            </a:r>
            <a:endParaRPr lang="en-US" sz="1250" dirty="0"/>
          </a:p>
        </p:txBody>
      </p:sp>
      <p:sp>
        <p:nvSpPr>
          <p:cNvPr id="50" name="Shape 40"/>
          <p:cNvSpPr/>
          <p:nvPr/>
        </p:nvSpPr>
        <p:spPr>
          <a:xfrm>
            <a:off x="566928" y="4760976"/>
            <a:ext cx="3017520" cy="655320"/>
          </a:xfrm>
          <a:prstGeom prst="roundRect">
            <a:avLst>
              <a:gd name="adj" fmla="val 11163"/>
            </a:avLst>
          </a:prstGeom>
          <a:solidFill>
            <a:srgbClr val="191640"/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51" name="Shape 41"/>
          <p:cNvSpPr/>
          <p:nvPr/>
        </p:nvSpPr>
        <p:spPr>
          <a:xfrm>
            <a:off x="731520" y="4887468"/>
            <a:ext cx="402336" cy="402336"/>
          </a:xfrm>
          <a:prstGeom prst="ellipse">
            <a:avLst/>
          </a:prstGeom>
          <a:solidFill>
            <a:srgbClr val="34D399">
              <a:alpha val="16000"/>
            </a:srgbClr>
          </a:solidFill>
          <a:ln w="12700">
            <a:solidFill>
              <a:srgbClr val="34D399">
                <a:alpha val="45000"/>
              </a:srgbClr>
            </a:solidFill>
            <a:prstDash val="solid"/>
          </a:ln>
        </p:spPr>
      </p:sp>
      <p:pic>
        <p:nvPicPr>
          <p:cNvPr id="52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2104" y="4988052"/>
            <a:ext cx="201168" cy="201168"/>
          </a:xfrm>
          <a:prstGeom prst="rect">
            <a:avLst/>
          </a:prstGeom>
        </p:spPr>
      </p:pic>
      <p:sp>
        <p:nvSpPr>
          <p:cNvPr id="53" name="Text 42"/>
          <p:cNvSpPr txBox="1"/>
          <p:nvPr/>
        </p:nvSpPr>
        <p:spPr>
          <a:xfrm>
            <a:off x="1298448" y="4834128"/>
            <a:ext cx="2157984" cy="509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Multimodal</a:t>
            </a:r>
            <a:endParaRPr lang="en-US" sz="12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Text, image, audio, video</a:t>
            </a:r>
            <a:endParaRPr lang="en-US" sz="1250" dirty="0"/>
          </a:p>
        </p:txBody>
      </p:sp>
      <p:sp>
        <p:nvSpPr>
          <p:cNvPr id="54" name="Shape 43"/>
          <p:cNvSpPr/>
          <p:nvPr/>
        </p:nvSpPr>
        <p:spPr>
          <a:xfrm>
            <a:off x="8607247" y="4760976"/>
            <a:ext cx="3017520" cy="655320"/>
          </a:xfrm>
          <a:prstGeom prst="roundRect">
            <a:avLst>
              <a:gd name="adj" fmla="val 11163"/>
            </a:avLst>
          </a:prstGeom>
          <a:solidFill>
            <a:srgbClr val="191640"/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55" name="Shape 44"/>
          <p:cNvSpPr/>
          <p:nvPr/>
        </p:nvSpPr>
        <p:spPr>
          <a:xfrm>
            <a:off x="8771839" y="4887468"/>
            <a:ext cx="402336" cy="402336"/>
          </a:xfrm>
          <a:prstGeom prst="ellipse">
            <a:avLst/>
          </a:prstGeom>
          <a:solidFill>
            <a:srgbClr val="F472B6">
              <a:alpha val="16000"/>
            </a:srgbClr>
          </a:solidFill>
          <a:ln w="12700">
            <a:solidFill>
              <a:srgbClr val="F472B6">
                <a:alpha val="45000"/>
              </a:srgbClr>
            </a:solidFill>
            <a:prstDash val="solid"/>
          </a:ln>
        </p:spPr>
      </p:sp>
      <p:pic>
        <p:nvPicPr>
          <p:cNvPr id="56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872423" y="4988052"/>
            <a:ext cx="201168" cy="201168"/>
          </a:xfrm>
          <a:prstGeom prst="rect">
            <a:avLst/>
          </a:prstGeom>
        </p:spPr>
      </p:pic>
      <p:sp>
        <p:nvSpPr>
          <p:cNvPr id="57" name="Text 45"/>
          <p:cNvSpPr txBox="1"/>
          <p:nvPr/>
        </p:nvSpPr>
        <p:spPr>
          <a:xfrm>
            <a:off x="9338767" y="4834128"/>
            <a:ext cx="2157984" cy="509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Applications</a:t>
            </a:r>
            <a:endParaRPr lang="en-US" sz="12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Education, business, coding</a:t>
            </a:r>
            <a:endParaRPr lang="en-US" sz="1250" dirty="0"/>
          </a:p>
        </p:txBody>
      </p:sp>
      <p:sp>
        <p:nvSpPr>
          <p:cNvPr id="58" name="Shape 46"/>
          <p:cNvSpPr/>
          <p:nvPr/>
        </p:nvSpPr>
        <p:spPr>
          <a:xfrm>
            <a:off x="566928" y="5580888"/>
            <a:ext cx="3017520" cy="655320"/>
          </a:xfrm>
          <a:prstGeom prst="roundRect">
            <a:avLst>
              <a:gd name="adj" fmla="val 11163"/>
            </a:avLst>
          </a:prstGeom>
          <a:solidFill>
            <a:srgbClr val="191640"/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59" name="Shape 47"/>
          <p:cNvSpPr/>
          <p:nvPr/>
        </p:nvSpPr>
        <p:spPr>
          <a:xfrm>
            <a:off x="731520" y="5707380"/>
            <a:ext cx="402336" cy="402336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60" name="Image 1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32104" y="5807964"/>
            <a:ext cx="201168" cy="201168"/>
          </a:xfrm>
          <a:prstGeom prst="rect">
            <a:avLst/>
          </a:prstGeom>
        </p:spPr>
      </p:pic>
      <p:sp>
        <p:nvSpPr>
          <p:cNvPr id="61" name="Text 48"/>
          <p:cNvSpPr txBox="1"/>
          <p:nvPr/>
        </p:nvSpPr>
        <p:spPr>
          <a:xfrm>
            <a:off x="1298448" y="5654040"/>
            <a:ext cx="2157984" cy="509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Responsible AI</a:t>
            </a:r>
            <a:endParaRPr lang="en-US" sz="12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Bias, privacy, oversight</a:t>
            </a:r>
            <a:endParaRPr lang="en-US" sz="1250" dirty="0"/>
          </a:p>
        </p:txBody>
      </p:sp>
      <p:sp>
        <p:nvSpPr>
          <p:cNvPr id="62" name="Shape 49"/>
          <p:cNvSpPr/>
          <p:nvPr/>
        </p:nvSpPr>
        <p:spPr>
          <a:xfrm>
            <a:off x="8607247" y="5580888"/>
            <a:ext cx="3017520" cy="655320"/>
          </a:xfrm>
          <a:prstGeom prst="roundRect">
            <a:avLst>
              <a:gd name="adj" fmla="val 11163"/>
            </a:avLst>
          </a:prstGeom>
          <a:solidFill>
            <a:srgbClr val="191640"/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63" name="Shape 50"/>
          <p:cNvSpPr/>
          <p:nvPr/>
        </p:nvSpPr>
        <p:spPr>
          <a:xfrm>
            <a:off x="8771839" y="5707380"/>
            <a:ext cx="402336" cy="402336"/>
          </a:xfrm>
          <a:prstGeom prst="ellipse">
            <a:avLst/>
          </a:prstGeom>
          <a:solidFill>
            <a:srgbClr val="22D3EE">
              <a:alpha val="16000"/>
            </a:srgbClr>
          </a:solidFill>
          <a:ln w="12700">
            <a:solidFill>
              <a:srgbClr val="22D3EE">
                <a:alpha val="45000"/>
              </a:srgbClr>
            </a:solidFill>
            <a:prstDash val="solid"/>
          </a:ln>
        </p:spPr>
      </p:sp>
      <p:pic>
        <p:nvPicPr>
          <p:cNvPr id="64" name="Image 11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872423" y="5807964"/>
            <a:ext cx="201168" cy="201168"/>
          </a:xfrm>
          <a:prstGeom prst="rect">
            <a:avLst/>
          </a:prstGeom>
        </p:spPr>
      </p:pic>
      <p:sp>
        <p:nvSpPr>
          <p:cNvPr id="65" name="Text 51"/>
          <p:cNvSpPr txBox="1"/>
          <p:nvPr/>
        </p:nvSpPr>
        <p:spPr>
          <a:xfrm>
            <a:off x="9338767" y="5654040"/>
            <a:ext cx="2157984" cy="5090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Careers</a:t>
            </a:r>
            <a:endParaRPr lang="en-US" sz="12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Roles and learning roadmap</a:t>
            </a:r>
            <a:endParaRPr lang="en-US" sz="1250" dirty="0"/>
          </a:p>
        </p:txBody>
      </p:sp>
      <p:sp>
        <p:nvSpPr>
          <p:cNvPr id="66" name="Shape 52"/>
          <p:cNvSpPr/>
          <p:nvPr/>
        </p:nvSpPr>
        <p:spPr>
          <a:xfrm>
            <a:off x="4769968" y="3310128"/>
            <a:ext cx="2651760" cy="1097280"/>
          </a:xfrm>
          <a:prstGeom prst="roundRect">
            <a:avLst>
              <a:gd name="adj" fmla="val 8333"/>
            </a:avLst>
          </a:prstGeom>
          <a:solidFill>
            <a:srgbClr val="0B0A1E"/>
          </a:solidFill>
          <a:ln w="12700">
            <a:solidFill>
              <a:srgbClr val="0B0A1E"/>
            </a:solidFill>
            <a:prstDash val="solid"/>
          </a:ln>
        </p:spPr>
      </p:sp>
      <p:sp>
        <p:nvSpPr>
          <p:cNvPr id="67" name="Shape 53"/>
          <p:cNvSpPr/>
          <p:nvPr/>
        </p:nvSpPr>
        <p:spPr>
          <a:xfrm>
            <a:off x="4769968" y="3310128"/>
            <a:ext cx="2651760" cy="1097280"/>
          </a:xfrm>
          <a:prstGeom prst="roundRect">
            <a:avLst>
              <a:gd name="adj" fmla="val 8333"/>
            </a:avLst>
          </a:prstGeom>
          <a:solidFill>
            <a:srgbClr val="A78BFA">
              <a:alpha val="20000"/>
            </a:srgbClr>
          </a:solidFill>
          <a:ln w="25400">
            <a:solidFill>
              <a:srgbClr val="A78BFA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68" name="Text 54"/>
          <p:cNvSpPr txBox="1"/>
          <p:nvPr/>
        </p:nvSpPr>
        <p:spPr>
          <a:xfrm>
            <a:off x="4769968" y="3310128"/>
            <a:ext cx="265176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GENERATIVE AI</a:t>
            </a:r>
            <a:endParaRPr lang="en-US" sz="1700" dirty="0"/>
          </a:p>
        </p:txBody>
      </p:sp>
    </p:spTree>
  </p:cSld>
  <p:clrMapOvr>
    <a:masterClrMapping/>
  </p:clrMapOvr>
</p:sld>
</file>

<file path=ppt/slides/slide2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SLIDE 237A · TERMS 1–8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Top Generative AI Terms (1 of 4)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Final Section · Revision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281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2558720" cy="2240280"/>
          </a:xfrm>
          <a:prstGeom prst="roundRect">
            <a:avLst>
              <a:gd name="adj" fmla="val 3265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1737360"/>
            <a:ext cx="566928" cy="566928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4692" y="1879092"/>
            <a:ext cx="283464" cy="283464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609344" y="1737360"/>
            <a:ext cx="1241984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Artificial Intelligence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841248" y="2505456"/>
            <a:ext cx="2010080" cy="10332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Machines doing tasks that need human-like thinking.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3399968" y="1481328"/>
            <a:ext cx="2558720" cy="2240280"/>
          </a:xfrm>
          <a:prstGeom prst="roundRect">
            <a:avLst>
              <a:gd name="adj" fmla="val 3265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656000" y="1737360"/>
            <a:ext cx="566928" cy="566928"/>
          </a:xfrm>
          <a:prstGeom prst="ellipse">
            <a:avLst/>
          </a:prstGeom>
          <a:solidFill>
            <a:srgbClr val="22D3EE">
              <a:alpha val="16000"/>
            </a:srgbClr>
          </a:solidFill>
          <a:ln w="12700">
            <a:solidFill>
              <a:srgbClr val="22D3EE">
                <a:alpha val="45000"/>
              </a:srgbClr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7732" y="1879092"/>
            <a:ext cx="283464" cy="283464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4442384" y="1737360"/>
            <a:ext cx="1241984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Machine Learning</a:t>
            </a:r>
            <a:endParaRPr lang="en-US" sz="1600" dirty="0"/>
          </a:p>
        </p:txBody>
      </p:sp>
      <p:sp>
        <p:nvSpPr>
          <p:cNvPr id="15" name="Text 11"/>
          <p:cNvSpPr txBox="1"/>
          <p:nvPr/>
        </p:nvSpPr>
        <p:spPr>
          <a:xfrm>
            <a:off x="3674288" y="2505456"/>
            <a:ext cx="2010080" cy="10332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Learning patterns from data instead of written rules.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233008" y="1481328"/>
            <a:ext cx="2558720" cy="2240280"/>
          </a:xfrm>
          <a:prstGeom prst="roundRect">
            <a:avLst>
              <a:gd name="adj" fmla="val 3265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89040" y="1737360"/>
            <a:ext cx="566928" cy="566928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0772" y="1879092"/>
            <a:ext cx="283464" cy="283464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7275424" y="1737360"/>
            <a:ext cx="1241984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Deep Learning</a:t>
            </a:r>
            <a:endParaRPr lang="en-US" sz="1600" dirty="0"/>
          </a:p>
        </p:txBody>
      </p:sp>
      <p:sp>
        <p:nvSpPr>
          <p:cNvPr id="20" name="Text 15"/>
          <p:cNvSpPr txBox="1"/>
          <p:nvPr/>
        </p:nvSpPr>
        <p:spPr>
          <a:xfrm>
            <a:off x="6507328" y="2505456"/>
            <a:ext cx="2010080" cy="10332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Machine learning using many-layered neural networks.</a:t>
            </a:r>
            <a:endParaRPr lang="en-US" sz="1300" dirty="0"/>
          </a:p>
        </p:txBody>
      </p:sp>
      <p:sp>
        <p:nvSpPr>
          <p:cNvPr id="21" name="Shape 16"/>
          <p:cNvSpPr/>
          <p:nvPr/>
        </p:nvSpPr>
        <p:spPr>
          <a:xfrm>
            <a:off x="9066047" y="1481328"/>
            <a:ext cx="2558720" cy="2240280"/>
          </a:xfrm>
          <a:prstGeom prst="roundRect">
            <a:avLst>
              <a:gd name="adj" fmla="val 3265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9322079" y="1737360"/>
            <a:ext cx="566928" cy="566928"/>
          </a:xfrm>
          <a:prstGeom prst="ellipse">
            <a:avLst/>
          </a:prstGeom>
          <a:solidFill>
            <a:srgbClr val="34D399">
              <a:alpha val="16000"/>
            </a:srgbClr>
          </a:solidFill>
          <a:ln w="12700">
            <a:solidFill>
              <a:srgbClr val="34D399">
                <a:alpha val="45000"/>
              </a:srgbClr>
            </a:solidFill>
            <a:prstDash val="solid"/>
          </a:ln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63811" y="1879092"/>
            <a:ext cx="283464" cy="283464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10108463" y="1737360"/>
            <a:ext cx="1241984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Generative AI</a:t>
            </a:r>
            <a:endParaRPr lang="en-US" sz="1600" dirty="0"/>
          </a:p>
        </p:txBody>
      </p:sp>
      <p:sp>
        <p:nvSpPr>
          <p:cNvPr id="25" name="Text 19"/>
          <p:cNvSpPr txBox="1"/>
          <p:nvPr/>
        </p:nvSpPr>
        <p:spPr>
          <a:xfrm>
            <a:off x="9340367" y="2505456"/>
            <a:ext cx="2010080" cy="10332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 that creates new content rather than only classifying.</a:t>
            </a:r>
            <a:endParaRPr lang="en-US" sz="1300" dirty="0"/>
          </a:p>
        </p:txBody>
      </p:sp>
      <p:sp>
        <p:nvSpPr>
          <p:cNvPr id="26" name="Shape 20"/>
          <p:cNvSpPr/>
          <p:nvPr/>
        </p:nvSpPr>
        <p:spPr>
          <a:xfrm>
            <a:off x="566928" y="3995928"/>
            <a:ext cx="2558720" cy="2240280"/>
          </a:xfrm>
          <a:prstGeom prst="roundRect">
            <a:avLst>
              <a:gd name="adj" fmla="val 3265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822960" y="4251960"/>
            <a:ext cx="566928" cy="566928"/>
          </a:xfrm>
          <a:prstGeom prst="ellipse">
            <a:avLst/>
          </a:prstGeom>
          <a:solidFill>
            <a:srgbClr val="F472B6">
              <a:alpha val="16000"/>
            </a:srgbClr>
          </a:solidFill>
          <a:ln w="12700">
            <a:solidFill>
              <a:srgbClr val="F472B6">
                <a:alpha val="45000"/>
              </a:srgbClr>
            </a:solidFill>
            <a:prstDash val="solid"/>
          </a:ln>
        </p:spPr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4692" y="4393692"/>
            <a:ext cx="283464" cy="283464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1609344" y="4251960"/>
            <a:ext cx="1241984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Model</a:t>
            </a:r>
            <a:endParaRPr lang="en-US" sz="1600" dirty="0"/>
          </a:p>
        </p:txBody>
      </p:sp>
      <p:sp>
        <p:nvSpPr>
          <p:cNvPr id="30" name="Text 23"/>
          <p:cNvSpPr txBox="1"/>
          <p:nvPr/>
        </p:nvSpPr>
        <p:spPr>
          <a:xfrm>
            <a:off x="841248" y="5020056"/>
            <a:ext cx="2010080" cy="10332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saved result of training: learned numbers plus structure.</a:t>
            </a:r>
            <a:endParaRPr lang="en-US" sz="1300" dirty="0"/>
          </a:p>
        </p:txBody>
      </p:sp>
      <p:sp>
        <p:nvSpPr>
          <p:cNvPr id="31" name="Shape 24"/>
          <p:cNvSpPr/>
          <p:nvPr/>
        </p:nvSpPr>
        <p:spPr>
          <a:xfrm>
            <a:off x="3399968" y="3995928"/>
            <a:ext cx="2558720" cy="2240280"/>
          </a:xfrm>
          <a:prstGeom prst="roundRect">
            <a:avLst>
              <a:gd name="adj" fmla="val 3265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3656000" y="4251960"/>
            <a:ext cx="566928" cy="566928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33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97732" y="4393692"/>
            <a:ext cx="283464" cy="283464"/>
          </a:xfrm>
          <a:prstGeom prst="rect">
            <a:avLst/>
          </a:prstGeom>
        </p:spPr>
      </p:pic>
      <p:sp>
        <p:nvSpPr>
          <p:cNvPr id="34" name="Text 26"/>
          <p:cNvSpPr txBox="1"/>
          <p:nvPr/>
        </p:nvSpPr>
        <p:spPr>
          <a:xfrm>
            <a:off x="4442384" y="4251960"/>
            <a:ext cx="1241984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Parameters</a:t>
            </a:r>
            <a:endParaRPr lang="en-US" sz="1600" dirty="0"/>
          </a:p>
        </p:txBody>
      </p:sp>
      <p:sp>
        <p:nvSpPr>
          <p:cNvPr id="35" name="Text 27"/>
          <p:cNvSpPr txBox="1"/>
          <p:nvPr/>
        </p:nvSpPr>
        <p:spPr>
          <a:xfrm>
            <a:off x="3674288" y="5020056"/>
            <a:ext cx="2010080" cy="10332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learned numbers that hold what a model knows.</a:t>
            </a:r>
            <a:endParaRPr lang="en-US" sz="1300" dirty="0"/>
          </a:p>
        </p:txBody>
      </p:sp>
      <p:sp>
        <p:nvSpPr>
          <p:cNvPr id="36" name="Shape 28"/>
          <p:cNvSpPr/>
          <p:nvPr/>
        </p:nvSpPr>
        <p:spPr>
          <a:xfrm>
            <a:off x="6233008" y="3995928"/>
            <a:ext cx="2558720" cy="2240280"/>
          </a:xfrm>
          <a:prstGeom prst="roundRect">
            <a:avLst>
              <a:gd name="adj" fmla="val 3265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37" name="Shape 29"/>
          <p:cNvSpPr/>
          <p:nvPr/>
        </p:nvSpPr>
        <p:spPr>
          <a:xfrm>
            <a:off x="6489040" y="4251960"/>
            <a:ext cx="566928" cy="566928"/>
          </a:xfrm>
          <a:prstGeom prst="ellipse">
            <a:avLst/>
          </a:prstGeom>
          <a:solidFill>
            <a:srgbClr val="22D3EE">
              <a:alpha val="16000"/>
            </a:srgbClr>
          </a:solidFill>
          <a:ln w="12700">
            <a:solidFill>
              <a:srgbClr val="22D3EE">
                <a:alpha val="45000"/>
              </a:srgbClr>
            </a:solidFill>
            <a:prstDash val="solid"/>
          </a:ln>
        </p:spPr>
      </p:sp>
      <p:pic>
        <p:nvPicPr>
          <p:cNvPr id="38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30772" y="4393692"/>
            <a:ext cx="283464" cy="283464"/>
          </a:xfrm>
          <a:prstGeom prst="rect">
            <a:avLst/>
          </a:prstGeom>
        </p:spPr>
      </p:pic>
      <p:sp>
        <p:nvSpPr>
          <p:cNvPr id="39" name="Text 30"/>
          <p:cNvSpPr txBox="1"/>
          <p:nvPr/>
        </p:nvSpPr>
        <p:spPr>
          <a:xfrm>
            <a:off x="7275424" y="4251960"/>
            <a:ext cx="1241984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Training</a:t>
            </a:r>
            <a:endParaRPr lang="en-US" sz="1600" dirty="0"/>
          </a:p>
        </p:txBody>
      </p:sp>
      <p:sp>
        <p:nvSpPr>
          <p:cNvPr id="40" name="Text 31"/>
          <p:cNvSpPr txBox="1"/>
          <p:nvPr/>
        </p:nvSpPr>
        <p:spPr>
          <a:xfrm>
            <a:off x="6507328" y="5020056"/>
            <a:ext cx="2010080" cy="10332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process where a model adjusts itself to fit data.</a:t>
            </a:r>
            <a:endParaRPr lang="en-US" sz="1300" dirty="0"/>
          </a:p>
        </p:txBody>
      </p:sp>
      <p:sp>
        <p:nvSpPr>
          <p:cNvPr id="41" name="Shape 32"/>
          <p:cNvSpPr/>
          <p:nvPr/>
        </p:nvSpPr>
        <p:spPr>
          <a:xfrm>
            <a:off x="9066047" y="3995928"/>
            <a:ext cx="2558720" cy="2240280"/>
          </a:xfrm>
          <a:prstGeom prst="roundRect">
            <a:avLst>
              <a:gd name="adj" fmla="val 3265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42" name="Shape 33"/>
          <p:cNvSpPr/>
          <p:nvPr/>
        </p:nvSpPr>
        <p:spPr>
          <a:xfrm>
            <a:off x="9322079" y="4251960"/>
            <a:ext cx="566928" cy="566928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43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63811" y="4393692"/>
            <a:ext cx="283464" cy="283464"/>
          </a:xfrm>
          <a:prstGeom prst="rect">
            <a:avLst/>
          </a:prstGeom>
        </p:spPr>
      </p:pic>
      <p:sp>
        <p:nvSpPr>
          <p:cNvPr id="44" name="Text 34"/>
          <p:cNvSpPr txBox="1"/>
          <p:nvPr/>
        </p:nvSpPr>
        <p:spPr>
          <a:xfrm>
            <a:off x="10108463" y="4251960"/>
            <a:ext cx="1241984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Inference</a:t>
            </a:r>
            <a:endParaRPr lang="en-US" sz="1600" dirty="0"/>
          </a:p>
        </p:txBody>
      </p:sp>
      <p:sp>
        <p:nvSpPr>
          <p:cNvPr id="45" name="Text 35"/>
          <p:cNvSpPr txBox="1"/>
          <p:nvPr/>
        </p:nvSpPr>
        <p:spPr>
          <a:xfrm>
            <a:off x="9340367" y="5020056"/>
            <a:ext cx="2010080" cy="10332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Using a trained model to produce an answer.</a:t>
            </a:r>
            <a:endParaRPr lang="en-US" sz="1300" dirty="0"/>
          </a:p>
        </p:txBody>
      </p:sp>
    </p:spTree>
  </p:cSld>
  <p:clrMapOvr>
    <a:masterClrMapping/>
  </p:clrMapOvr>
</p:sld>
</file>

<file path=ppt/slides/slide2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SLIDE 237B · TERMS 9–16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Top Generative AI Terms (2 of 4)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Final Section · Revision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282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2558720" cy="2240280"/>
          </a:xfrm>
          <a:prstGeom prst="roundRect">
            <a:avLst>
              <a:gd name="adj" fmla="val 3265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1737360"/>
            <a:ext cx="566928" cy="566928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4692" y="1879092"/>
            <a:ext cx="283464" cy="283464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609344" y="1737360"/>
            <a:ext cx="1241984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Token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841248" y="2505456"/>
            <a:ext cx="2010080" cy="10332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small piece of text that a model reads and produces.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3399968" y="1481328"/>
            <a:ext cx="2558720" cy="2240280"/>
          </a:xfrm>
          <a:prstGeom prst="roundRect">
            <a:avLst>
              <a:gd name="adj" fmla="val 3265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656000" y="1737360"/>
            <a:ext cx="566928" cy="566928"/>
          </a:xfrm>
          <a:prstGeom prst="ellipse">
            <a:avLst/>
          </a:prstGeom>
          <a:solidFill>
            <a:srgbClr val="22D3EE">
              <a:alpha val="16000"/>
            </a:srgbClr>
          </a:solidFill>
          <a:ln w="12700">
            <a:solidFill>
              <a:srgbClr val="22D3EE">
                <a:alpha val="45000"/>
              </a:srgbClr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7732" y="1879092"/>
            <a:ext cx="283464" cy="283464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4442384" y="1737360"/>
            <a:ext cx="1241984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Context Window</a:t>
            </a:r>
            <a:endParaRPr lang="en-US" sz="1600" dirty="0"/>
          </a:p>
        </p:txBody>
      </p:sp>
      <p:sp>
        <p:nvSpPr>
          <p:cNvPr id="15" name="Text 11"/>
          <p:cNvSpPr txBox="1"/>
          <p:nvPr/>
        </p:nvSpPr>
        <p:spPr>
          <a:xfrm>
            <a:off x="3674288" y="2505456"/>
            <a:ext cx="2010080" cy="10332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How much text the model can consider at once.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233008" y="1481328"/>
            <a:ext cx="2558720" cy="2240280"/>
          </a:xfrm>
          <a:prstGeom prst="roundRect">
            <a:avLst>
              <a:gd name="adj" fmla="val 3265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89040" y="1737360"/>
            <a:ext cx="566928" cy="566928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0772" y="1879092"/>
            <a:ext cx="283464" cy="283464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7275424" y="1737360"/>
            <a:ext cx="1241984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Temperature</a:t>
            </a:r>
            <a:endParaRPr lang="en-US" sz="1600" dirty="0"/>
          </a:p>
        </p:txBody>
      </p:sp>
      <p:sp>
        <p:nvSpPr>
          <p:cNvPr id="20" name="Text 15"/>
          <p:cNvSpPr txBox="1"/>
          <p:nvPr/>
        </p:nvSpPr>
        <p:spPr>
          <a:xfrm>
            <a:off x="6507328" y="2505456"/>
            <a:ext cx="2010080" cy="10332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setting controlling how varied the output is.</a:t>
            </a:r>
            <a:endParaRPr lang="en-US" sz="1300" dirty="0"/>
          </a:p>
        </p:txBody>
      </p:sp>
      <p:sp>
        <p:nvSpPr>
          <p:cNvPr id="21" name="Shape 16"/>
          <p:cNvSpPr/>
          <p:nvPr/>
        </p:nvSpPr>
        <p:spPr>
          <a:xfrm>
            <a:off x="9066047" y="1481328"/>
            <a:ext cx="2558720" cy="2240280"/>
          </a:xfrm>
          <a:prstGeom prst="roundRect">
            <a:avLst>
              <a:gd name="adj" fmla="val 3265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9322079" y="1737360"/>
            <a:ext cx="566928" cy="566928"/>
          </a:xfrm>
          <a:prstGeom prst="ellipse">
            <a:avLst/>
          </a:prstGeom>
          <a:solidFill>
            <a:srgbClr val="34D399">
              <a:alpha val="16000"/>
            </a:srgbClr>
          </a:solidFill>
          <a:ln w="12700">
            <a:solidFill>
              <a:srgbClr val="34D399">
                <a:alpha val="45000"/>
              </a:srgbClr>
            </a:solidFill>
            <a:prstDash val="solid"/>
          </a:ln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63811" y="1879092"/>
            <a:ext cx="283464" cy="283464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10108463" y="1737360"/>
            <a:ext cx="1241984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LLM</a:t>
            </a:r>
            <a:endParaRPr lang="en-US" sz="1600" dirty="0"/>
          </a:p>
        </p:txBody>
      </p:sp>
      <p:sp>
        <p:nvSpPr>
          <p:cNvPr id="25" name="Text 19"/>
          <p:cNvSpPr txBox="1"/>
          <p:nvPr/>
        </p:nvSpPr>
        <p:spPr>
          <a:xfrm>
            <a:off x="9340367" y="2505456"/>
            <a:ext cx="2010080" cy="10332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large transformer trained to predict text.</a:t>
            </a:r>
            <a:endParaRPr lang="en-US" sz="1300" dirty="0"/>
          </a:p>
        </p:txBody>
      </p:sp>
      <p:sp>
        <p:nvSpPr>
          <p:cNvPr id="26" name="Shape 20"/>
          <p:cNvSpPr/>
          <p:nvPr/>
        </p:nvSpPr>
        <p:spPr>
          <a:xfrm>
            <a:off x="566928" y="3995928"/>
            <a:ext cx="2558720" cy="2240280"/>
          </a:xfrm>
          <a:prstGeom prst="roundRect">
            <a:avLst>
              <a:gd name="adj" fmla="val 3265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822960" y="4251960"/>
            <a:ext cx="566928" cy="566928"/>
          </a:xfrm>
          <a:prstGeom prst="ellipse">
            <a:avLst/>
          </a:prstGeom>
          <a:solidFill>
            <a:srgbClr val="F472B6">
              <a:alpha val="16000"/>
            </a:srgbClr>
          </a:solidFill>
          <a:ln w="12700">
            <a:solidFill>
              <a:srgbClr val="F472B6">
                <a:alpha val="45000"/>
              </a:srgbClr>
            </a:solidFill>
            <a:prstDash val="solid"/>
          </a:ln>
        </p:spPr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4692" y="4393692"/>
            <a:ext cx="283464" cy="283464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1609344" y="4251960"/>
            <a:ext cx="1241984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Transformer</a:t>
            </a:r>
            <a:endParaRPr lang="en-US" sz="1600" dirty="0"/>
          </a:p>
        </p:txBody>
      </p:sp>
      <p:sp>
        <p:nvSpPr>
          <p:cNvPr id="30" name="Text 23"/>
          <p:cNvSpPr txBox="1"/>
          <p:nvPr/>
        </p:nvSpPr>
        <p:spPr>
          <a:xfrm>
            <a:off x="841248" y="5020056"/>
            <a:ext cx="2010080" cy="10332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architecture behind modern Generative AI.</a:t>
            </a:r>
            <a:endParaRPr lang="en-US" sz="1300" dirty="0"/>
          </a:p>
        </p:txBody>
      </p:sp>
      <p:sp>
        <p:nvSpPr>
          <p:cNvPr id="31" name="Shape 24"/>
          <p:cNvSpPr/>
          <p:nvPr/>
        </p:nvSpPr>
        <p:spPr>
          <a:xfrm>
            <a:off x="3399968" y="3995928"/>
            <a:ext cx="2558720" cy="2240280"/>
          </a:xfrm>
          <a:prstGeom prst="roundRect">
            <a:avLst>
              <a:gd name="adj" fmla="val 3265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3656000" y="4251960"/>
            <a:ext cx="566928" cy="566928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33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97732" y="4393692"/>
            <a:ext cx="283464" cy="283464"/>
          </a:xfrm>
          <a:prstGeom prst="rect">
            <a:avLst/>
          </a:prstGeom>
        </p:spPr>
      </p:pic>
      <p:sp>
        <p:nvSpPr>
          <p:cNvPr id="34" name="Text 26"/>
          <p:cNvSpPr txBox="1"/>
          <p:nvPr/>
        </p:nvSpPr>
        <p:spPr>
          <a:xfrm>
            <a:off x="4442384" y="4251960"/>
            <a:ext cx="1241984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Attention</a:t>
            </a:r>
            <a:endParaRPr lang="en-US" sz="1600" dirty="0"/>
          </a:p>
        </p:txBody>
      </p:sp>
      <p:sp>
        <p:nvSpPr>
          <p:cNvPr id="35" name="Text 27"/>
          <p:cNvSpPr txBox="1"/>
          <p:nvPr/>
        </p:nvSpPr>
        <p:spPr>
          <a:xfrm>
            <a:off x="3674288" y="5020056"/>
            <a:ext cx="2010080" cy="10332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Deciding which other words matter for each word.</a:t>
            </a:r>
            <a:endParaRPr lang="en-US" sz="1300" dirty="0"/>
          </a:p>
        </p:txBody>
      </p:sp>
      <p:sp>
        <p:nvSpPr>
          <p:cNvPr id="36" name="Shape 28"/>
          <p:cNvSpPr/>
          <p:nvPr/>
        </p:nvSpPr>
        <p:spPr>
          <a:xfrm>
            <a:off x="6233008" y="3995928"/>
            <a:ext cx="2558720" cy="2240280"/>
          </a:xfrm>
          <a:prstGeom prst="roundRect">
            <a:avLst>
              <a:gd name="adj" fmla="val 3265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37" name="Shape 29"/>
          <p:cNvSpPr/>
          <p:nvPr/>
        </p:nvSpPr>
        <p:spPr>
          <a:xfrm>
            <a:off x="6489040" y="4251960"/>
            <a:ext cx="566928" cy="566928"/>
          </a:xfrm>
          <a:prstGeom prst="ellipse">
            <a:avLst/>
          </a:prstGeom>
          <a:solidFill>
            <a:srgbClr val="22D3EE">
              <a:alpha val="16000"/>
            </a:srgbClr>
          </a:solidFill>
          <a:ln w="12700">
            <a:solidFill>
              <a:srgbClr val="22D3EE">
                <a:alpha val="45000"/>
              </a:srgbClr>
            </a:solidFill>
            <a:prstDash val="solid"/>
          </a:ln>
        </p:spPr>
      </p:sp>
      <p:pic>
        <p:nvPicPr>
          <p:cNvPr id="38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30772" y="4393692"/>
            <a:ext cx="283464" cy="283464"/>
          </a:xfrm>
          <a:prstGeom prst="rect">
            <a:avLst/>
          </a:prstGeom>
        </p:spPr>
      </p:pic>
      <p:sp>
        <p:nvSpPr>
          <p:cNvPr id="39" name="Text 30"/>
          <p:cNvSpPr txBox="1"/>
          <p:nvPr/>
        </p:nvSpPr>
        <p:spPr>
          <a:xfrm>
            <a:off x="7275424" y="4251960"/>
            <a:ext cx="1241984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Self-Attention</a:t>
            </a:r>
            <a:endParaRPr lang="en-US" sz="1600" dirty="0"/>
          </a:p>
        </p:txBody>
      </p:sp>
      <p:sp>
        <p:nvSpPr>
          <p:cNvPr id="40" name="Text 31"/>
          <p:cNvSpPr txBox="1"/>
          <p:nvPr/>
        </p:nvSpPr>
        <p:spPr>
          <a:xfrm>
            <a:off x="6507328" y="5020056"/>
            <a:ext cx="2010080" cy="10332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Words in the same input attending to each other.</a:t>
            </a:r>
            <a:endParaRPr lang="en-US" sz="1300" dirty="0"/>
          </a:p>
        </p:txBody>
      </p:sp>
      <p:sp>
        <p:nvSpPr>
          <p:cNvPr id="41" name="Shape 32"/>
          <p:cNvSpPr/>
          <p:nvPr/>
        </p:nvSpPr>
        <p:spPr>
          <a:xfrm>
            <a:off x="9066047" y="3995928"/>
            <a:ext cx="2558720" cy="2240280"/>
          </a:xfrm>
          <a:prstGeom prst="roundRect">
            <a:avLst>
              <a:gd name="adj" fmla="val 3265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42" name="Shape 33"/>
          <p:cNvSpPr/>
          <p:nvPr/>
        </p:nvSpPr>
        <p:spPr>
          <a:xfrm>
            <a:off x="9322079" y="4251960"/>
            <a:ext cx="566928" cy="566928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43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63811" y="4393692"/>
            <a:ext cx="283464" cy="283464"/>
          </a:xfrm>
          <a:prstGeom prst="rect">
            <a:avLst/>
          </a:prstGeom>
        </p:spPr>
      </p:pic>
      <p:sp>
        <p:nvSpPr>
          <p:cNvPr id="44" name="Text 34"/>
          <p:cNvSpPr txBox="1"/>
          <p:nvPr/>
        </p:nvSpPr>
        <p:spPr>
          <a:xfrm>
            <a:off x="10108463" y="4251960"/>
            <a:ext cx="1241984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Positional Encoding</a:t>
            </a:r>
            <a:endParaRPr lang="en-US" sz="1600" dirty="0"/>
          </a:p>
        </p:txBody>
      </p:sp>
      <p:sp>
        <p:nvSpPr>
          <p:cNvPr id="45" name="Text 35"/>
          <p:cNvSpPr txBox="1"/>
          <p:nvPr/>
        </p:nvSpPr>
        <p:spPr>
          <a:xfrm>
            <a:off x="9340367" y="5020056"/>
            <a:ext cx="2010080" cy="10332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Information that tells the model the word order.</a:t>
            </a:r>
            <a:endParaRPr lang="en-US" sz="1300" dirty="0"/>
          </a:p>
        </p:txBody>
      </p:sp>
    </p:spTree>
  </p:cSld>
  <p:clrMapOvr>
    <a:masterClrMapping/>
  </p:clrMapOvr>
</p:sld>
</file>

<file path=ppt/slides/slide2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SLIDE 237C · TERMS 17–24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Top Generative AI Terms (3 of 4)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Final Section · Revision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283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2558720" cy="2240280"/>
          </a:xfrm>
          <a:prstGeom prst="roundRect">
            <a:avLst>
              <a:gd name="adj" fmla="val 3265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1737360"/>
            <a:ext cx="566928" cy="566928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4692" y="1879092"/>
            <a:ext cx="283464" cy="283464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609344" y="1737360"/>
            <a:ext cx="1241984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Pretraining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841248" y="2505456"/>
            <a:ext cx="2010080" cy="10332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first large stage of learning general language.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3399968" y="1481328"/>
            <a:ext cx="2558720" cy="2240280"/>
          </a:xfrm>
          <a:prstGeom prst="roundRect">
            <a:avLst>
              <a:gd name="adj" fmla="val 3265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656000" y="1737360"/>
            <a:ext cx="566928" cy="566928"/>
          </a:xfrm>
          <a:prstGeom prst="ellipse">
            <a:avLst/>
          </a:prstGeom>
          <a:solidFill>
            <a:srgbClr val="22D3EE">
              <a:alpha val="16000"/>
            </a:srgbClr>
          </a:solidFill>
          <a:ln w="12700">
            <a:solidFill>
              <a:srgbClr val="22D3EE">
                <a:alpha val="45000"/>
              </a:srgbClr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7732" y="1879092"/>
            <a:ext cx="283464" cy="283464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4442384" y="1737360"/>
            <a:ext cx="1241984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Fine-Tuning</a:t>
            </a:r>
            <a:endParaRPr lang="en-US" sz="1600" dirty="0"/>
          </a:p>
        </p:txBody>
      </p:sp>
      <p:sp>
        <p:nvSpPr>
          <p:cNvPr id="15" name="Text 11"/>
          <p:cNvSpPr txBox="1"/>
          <p:nvPr/>
        </p:nvSpPr>
        <p:spPr>
          <a:xfrm>
            <a:off x="3674288" y="2505456"/>
            <a:ext cx="2010080" cy="10332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Extra training on a smaller focused dataset.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233008" y="1481328"/>
            <a:ext cx="2558720" cy="2240280"/>
          </a:xfrm>
          <a:prstGeom prst="roundRect">
            <a:avLst>
              <a:gd name="adj" fmla="val 3265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89040" y="1737360"/>
            <a:ext cx="566928" cy="566928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0772" y="1879092"/>
            <a:ext cx="283464" cy="283464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7275424" y="1737360"/>
            <a:ext cx="1241984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Instruction Tuning</a:t>
            </a:r>
            <a:endParaRPr lang="en-US" sz="1600" dirty="0"/>
          </a:p>
        </p:txBody>
      </p:sp>
      <p:sp>
        <p:nvSpPr>
          <p:cNvPr id="20" name="Text 15"/>
          <p:cNvSpPr txBox="1"/>
          <p:nvPr/>
        </p:nvSpPr>
        <p:spPr>
          <a:xfrm>
            <a:off x="6507328" y="2505456"/>
            <a:ext cx="2010080" cy="10332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Teaching a model to follow instructions properly.</a:t>
            </a:r>
            <a:endParaRPr lang="en-US" sz="1300" dirty="0"/>
          </a:p>
        </p:txBody>
      </p:sp>
      <p:sp>
        <p:nvSpPr>
          <p:cNvPr id="21" name="Shape 16"/>
          <p:cNvSpPr/>
          <p:nvPr/>
        </p:nvSpPr>
        <p:spPr>
          <a:xfrm>
            <a:off x="9066047" y="1481328"/>
            <a:ext cx="2558720" cy="2240280"/>
          </a:xfrm>
          <a:prstGeom prst="roundRect">
            <a:avLst>
              <a:gd name="adj" fmla="val 3265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9322079" y="1737360"/>
            <a:ext cx="566928" cy="566928"/>
          </a:xfrm>
          <a:prstGeom prst="ellipse">
            <a:avLst/>
          </a:prstGeom>
          <a:solidFill>
            <a:srgbClr val="34D399">
              <a:alpha val="16000"/>
            </a:srgbClr>
          </a:solidFill>
          <a:ln w="12700">
            <a:solidFill>
              <a:srgbClr val="34D399">
                <a:alpha val="45000"/>
              </a:srgbClr>
            </a:solidFill>
            <a:prstDash val="solid"/>
          </a:ln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63811" y="1879092"/>
            <a:ext cx="283464" cy="283464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10108463" y="1737360"/>
            <a:ext cx="1241984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RLHF</a:t>
            </a:r>
            <a:endParaRPr lang="en-US" sz="1600" dirty="0"/>
          </a:p>
        </p:txBody>
      </p:sp>
      <p:sp>
        <p:nvSpPr>
          <p:cNvPr id="25" name="Text 19"/>
          <p:cNvSpPr txBox="1"/>
          <p:nvPr/>
        </p:nvSpPr>
        <p:spPr>
          <a:xfrm>
            <a:off x="9340367" y="2505456"/>
            <a:ext cx="2010080" cy="10332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Using human preference data to improve responses.</a:t>
            </a:r>
            <a:endParaRPr lang="en-US" sz="1300" dirty="0"/>
          </a:p>
        </p:txBody>
      </p:sp>
      <p:sp>
        <p:nvSpPr>
          <p:cNvPr id="26" name="Shape 20"/>
          <p:cNvSpPr/>
          <p:nvPr/>
        </p:nvSpPr>
        <p:spPr>
          <a:xfrm>
            <a:off x="566928" y="3995928"/>
            <a:ext cx="2558720" cy="2240280"/>
          </a:xfrm>
          <a:prstGeom prst="roundRect">
            <a:avLst>
              <a:gd name="adj" fmla="val 3265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822960" y="4251960"/>
            <a:ext cx="566928" cy="566928"/>
          </a:xfrm>
          <a:prstGeom prst="ellipse">
            <a:avLst/>
          </a:prstGeom>
          <a:solidFill>
            <a:srgbClr val="F472B6">
              <a:alpha val="16000"/>
            </a:srgbClr>
          </a:solidFill>
          <a:ln w="12700">
            <a:solidFill>
              <a:srgbClr val="F472B6">
                <a:alpha val="45000"/>
              </a:srgbClr>
            </a:solidFill>
            <a:prstDash val="solid"/>
          </a:ln>
        </p:spPr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4692" y="4393692"/>
            <a:ext cx="283464" cy="283464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1609344" y="4251960"/>
            <a:ext cx="1241984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Prompt</a:t>
            </a:r>
            <a:endParaRPr lang="en-US" sz="1600" dirty="0"/>
          </a:p>
        </p:txBody>
      </p:sp>
      <p:sp>
        <p:nvSpPr>
          <p:cNvPr id="30" name="Text 23"/>
          <p:cNvSpPr txBox="1"/>
          <p:nvPr/>
        </p:nvSpPr>
        <p:spPr>
          <a:xfrm>
            <a:off x="841248" y="5020056"/>
            <a:ext cx="2010080" cy="10332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instruction you give to a model.</a:t>
            </a:r>
            <a:endParaRPr lang="en-US" sz="1300" dirty="0"/>
          </a:p>
        </p:txBody>
      </p:sp>
      <p:sp>
        <p:nvSpPr>
          <p:cNvPr id="31" name="Shape 24"/>
          <p:cNvSpPr/>
          <p:nvPr/>
        </p:nvSpPr>
        <p:spPr>
          <a:xfrm>
            <a:off x="3399968" y="3995928"/>
            <a:ext cx="2558720" cy="2240280"/>
          </a:xfrm>
          <a:prstGeom prst="roundRect">
            <a:avLst>
              <a:gd name="adj" fmla="val 3265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3656000" y="4251960"/>
            <a:ext cx="566928" cy="566928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33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97732" y="4393692"/>
            <a:ext cx="283464" cy="283464"/>
          </a:xfrm>
          <a:prstGeom prst="rect">
            <a:avLst/>
          </a:prstGeom>
        </p:spPr>
      </p:pic>
      <p:sp>
        <p:nvSpPr>
          <p:cNvPr id="34" name="Text 26"/>
          <p:cNvSpPr txBox="1"/>
          <p:nvPr/>
        </p:nvSpPr>
        <p:spPr>
          <a:xfrm>
            <a:off x="4442384" y="4251960"/>
            <a:ext cx="1241984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Zero-Shot</a:t>
            </a:r>
            <a:endParaRPr lang="en-US" sz="1600" dirty="0"/>
          </a:p>
        </p:txBody>
      </p:sp>
      <p:sp>
        <p:nvSpPr>
          <p:cNvPr id="35" name="Text 27"/>
          <p:cNvSpPr txBox="1"/>
          <p:nvPr/>
        </p:nvSpPr>
        <p:spPr>
          <a:xfrm>
            <a:off x="3674288" y="5020056"/>
            <a:ext cx="2010080" cy="10332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Asking for a task with no examples given.</a:t>
            </a:r>
            <a:endParaRPr lang="en-US" sz="1300" dirty="0"/>
          </a:p>
        </p:txBody>
      </p:sp>
      <p:sp>
        <p:nvSpPr>
          <p:cNvPr id="36" name="Shape 28"/>
          <p:cNvSpPr/>
          <p:nvPr/>
        </p:nvSpPr>
        <p:spPr>
          <a:xfrm>
            <a:off x="6233008" y="3995928"/>
            <a:ext cx="2558720" cy="2240280"/>
          </a:xfrm>
          <a:prstGeom prst="roundRect">
            <a:avLst>
              <a:gd name="adj" fmla="val 3265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37" name="Shape 29"/>
          <p:cNvSpPr/>
          <p:nvPr/>
        </p:nvSpPr>
        <p:spPr>
          <a:xfrm>
            <a:off x="6489040" y="4251960"/>
            <a:ext cx="566928" cy="566928"/>
          </a:xfrm>
          <a:prstGeom prst="ellipse">
            <a:avLst/>
          </a:prstGeom>
          <a:solidFill>
            <a:srgbClr val="22D3EE">
              <a:alpha val="16000"/>
            </a:srgbClr>
          </a:solidFill>
          <a:ln w="12700">
            <a:solidFill>
              <a:srgbClr val="22D3EE">
                <a:alpha val="45000"/>
              </a:srgbClr>
            </a:solidFill>
            <a:prstDash val="solid"/>
          </a:ln>
        </p:spPr>
      </p:sp>
      <p:pic>
        <p:nvPicPr>
          <p:cNvPr id="38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30772" y="4393692"/>
            <a:ext cx="283464" cy="283464"/>
          </a:xfrm>
          <a:prstGeom prst="rect">
            <a:avLst/>
          </a:prstGeom>
        </p:spPr>
      </p:pic>
      <p:sp>
        <p:nvSpPr>
          <p:cNvPr id="39" name="Text 30"/>
          <p:cNvSpPr txBox="1"/>
          <p:nvPr/>
        </p:nvSpPr>
        <p:spPr>
          <a:xfrm>
            <a:off x="7275424" y="4251960"/>
            <a:ext cx="1241984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Few-Shot</a:t>
            </a:r>
            <a:endParaRPr lang="en-US" sz="1600" dirty="0"/>
          </a:p>
        </p:txBody>
      </p:sp>
      <p:sp>
        <p:nvSpPr>
          <p:cNvPr id="40" name="Text 31"/>
          <p:cNvSpPr txBox="1"/>
          <p:nvPr/>
        </p:nvSpPr>
        <p:spPr>
          <a:xfrm>
            <a:off x="6507328" y="5020056"/>
            <a:ext cx="2010080" cy="10332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Giving a few examples before the real request.</a:t>
            </a:r>
            <a:endParaRPr lang="en-US" sz="1300" dirty="0"/>
          </a:p>
        </p:txBody>
      </p:sp>
      <p:sp>
        <p:nvSpPr>
          <p:cNvPr id="41" name="Shape 32"/>
          <p:cNvSpPr/>
          <p:nvPr/>
        </p:nvSpPr>
        <p:spPr>
          <a:xfrm>
            <a:off x="9066047" y="3995928"/>
            <a:ext cx="2558720" cy="2240280"/>
          </a:xfrm>
          <a:prstGeom prst="roundRect">
            <a:avLst>
              <a:gd name="adj" fmla="val 3265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42" name="Shape 33"/>
          <p:cNvSpPr/>
          <p:nvPr/>
        </p:nvSpPr>
        <p:spPr>
          <a:xfrm>
            <a:off x="9322079" y="4251960"/>
            <a:ext cx="566928" cy="566928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43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63811" y="4393692"/>
            <a:ext cx="283464" cy="283464"/>
          </a:xfrm>
          <a:prstGeom prst="rect">
            <a:avLst/>
          </a:prstGeom>
        </p:spPr>
      </p:pic>
      <p:sp>
        <p:nvSpPr>
          <p:cNvPr id="44" name="Text 34"/>
          <p:cNvSpPr txBox="1"/>
          <p:nvPr/>
        </p:nvSpPr>
        <p:spPr>
          <a:xfrm>
            <a:off x="10108463" y="4251960"/>
            <a:ext cx="1241984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Embedding</a:t>
            </a:r>
            <a:endParaRPr lang="en-US" sz="1600" dirty="0"/>
          </a:p>
        </p:txBody>
      </p:sp>
      <p:sp>
        <p:nvSpPr>
          <p:cNvPr id="45" name="Text 35"/>
          <p:cNvSpPr txBox="1"/>
          <p:nvPr/>
        </p:nvSpPr>
        <p:spPr>
          <a:xfrm>
            <a:off x="9340367" y="5020056"/>
            <a:ext cx="2010080" cy="10332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Numbers representing the meaning of content.</a:t>
            </a:r>
            <a:endParaRPr lang="en-US" sz="1300" dirty="0"/>
          </a:p>
        </p:txBody>
      </p:sp>
    </p:spTree>
  </p:cSld>
  <p:clrMapOvr>
    <a:masterClrMapping/>
  </p:clrMapOvr>
</p:sld>
</file>

<file path=ppt/slides/slide2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SLIDE 237D · TERMS 25–30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Top Generative AI Terms (4 of 4)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Final Section · Revision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284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3503066" cy="2240280"/>
          </a:xfrm>
          <a:prstGeom prst="roundRect">
            <a:avLst>
              <a:gd name="adj" fmla="val 3265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1737360"/>
            <a:ext cx="566928" cy="566928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4692" y="1879092"/>
            <a:ext cx="283464" cy="283464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609344" y="1737360"/>
            <a:ext cx="218633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Vector Database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841248" y="2505456"/>
            <a:ext cx="2954426" cy="10332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Storage that finds the closest meanings quickly.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344314" y="1481328"/>
            <a:ext cx="3503066" cy="2240280"/>
          </a:xfrm>
          <a:prstGeom prst="roundRect">
            <a:avLst>
              <a:gd name="adj" fmla="val 3265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600346" y="1737360"/>
            <a:ext cx="566928" cy="566928"/>
          </a:xfrm>
          <a:prstGeom prst="ellipse">
            <a:avLst/>
          </a:prstGeom>
          <a:solidFill>
            <a:srgbClr val="22D3EE">
              <a:alpha val="16000"/>
            </a:srgbClr>
          </a:solidFill>
          <a:ln w="12700">
            <a:solidFill>
              <a:srgbClr val="22D3EE">
                <a:alpha val="45000"/>
              </a:srgbClr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2078" y="1879092"/>
            <a:ext cx="283464" cy="283464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5386730" y="1737360"/>
            <a:ext cx="218633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RAG</a:t>
            </a:r>
            <a:endParaRPr lang="en-US" sz="1600" dirty="0"/>
          </a:p>
        </p:txBody>
      </p:sp>
      <p:sp>
        <p:nvSpPr>
          <p:cNvPr id="15" name="Text 11"/>
          <p:cNvSpPr txBox="1"/>
          <p:nvPr/>
        </p:nvSpPr>
        <p:spPr>
          <a:xfrm>
            <a:off x="4618634" y="2505456"/>
            <a:ext cx="2954426" cy="10332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Retrieving documents and answering from them.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8121701" y="1481328"/>
            <a:ext cx="3503066" cy="2240280"/>
          </a:xfrm>
          <a:prstGeom prst="roundRect">
            <a:avLst>
              <a:gd name="adj" fmla="val 3265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377733" y="1737360"/>
            <a:ext cx="566928" cy="566928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9465" y="1879092"/>
            <a:ext cx="283464" cy="283464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9164117" y="1737360"/>
            <a:ext cx="218633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AI Agent</a:t>
            </a:r>
            <a:endParaRPr lang="en-US" sz="1600" dirty="0"/>
          </a:p>
        </p:txBody>
      </p:sp>
      <p:sp>
        <p:nvSpPr>
          <p:cNvPr id="20" name="Text 15"/>
          <p:cNvSpPr txBox="1"/>
          <p:nvPr/>
        </p:nvSpPr>
        <p:spPr>
          <a:xfrm>
            <a:off x="8396021" y="2505456"/>
            <a:ext cx="2954426" cy="10332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system that plans and uses tools to finish a task.</a:t>
            </a:r>
            <a:endParaRPr lang="en-US" sz="1300" dirty="0"/>
          </a:p>
        </p:txBody>
      </p:sp>
      <p:sp>
        <p:nvSpPr>
          <p:cNvPr id="21" name="Shape 16"/>
          <p:cNvSpPr/>
          <p:nvPr/>
        </p:nvSpPr>
        <p:spPr>
          <a:xfrm>
            <a:off x="566928" y="3995928"/>
            <a:ext cx="3503066" cy="2240280"/>
          </a:xfrm>
          <a:prstGeom prst="roundRect">
            <a:avLst>
              <a:gd name="adj" fmla="val 3265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822960" y="4251960"/>
            <a:ext cx="566928" cy="566928"/>
          </a:xfrm>
          <a:prstGeom prst="ellipse">
            <a:avLst/>
          </a:prstGeom>
          <a:solidFill>
            <a:srgbClr val="34D399">
              <a:alpha val="16000"/>
            </a:srgbClr>
          </a:solidFill>
          <a:ln w="12700">
            <a:solidFill>
              <a:srgbClr val="34D399">
                <a:alpha val="45000"/>
              </a:srgbClr>
            </a:solidFill>
            <a:prstDash val="solid"/>
          </a:ln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4692" y="4393692"/>
            <a:ext cx="283464" cy="283464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1609344" y="4251960"/>
            <a:ext cx="218633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Multimodal</a:t>
            </a:r>
            <a:endParaRPr lang="en-US" sz="1600" dirty="0"/>
          </a:p>
        </p:txBody>
      </p:sp>
      <p:sp>
        <p:nvSpPr>
          <p:cNvPr id="25" name="Text 19"/>
          <p:cNvSpPr txBox="1"/>
          <p:nvPr/>
        </p:nvSpPr>
        <p:spPr>
          <a:xfrm>
            <a:off x="841248" y="5020056"/>
            <a:ext cx="2954426" cy="10332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Handling text, image, audio and video together.</a:t>
            </a:r>
            <a:endParaRPr lang="en-US" sz="1300" dirty="0"/>
          </a:p>
        </p:txBody>
      </p:sp>
      <p:sp>
        <p:nvSpPr>
          <p:cNvPr id="26" name="Shape 20"/>
          <p:cNvSpPr/>
          <p:nvPr/>
        </p:nvSpPr>
        <p:spPr>
          <a:xfrm>
            <a:off x="4344314" y="3995928"/>
            <a:ext cx="3503066" cy="2240280"/>
          </a:xfrm>
          <a:prstGeom prst="roundRect">
            <a:avLst>
              <a:gd name="adj" fmla="val 3265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4600346" y="4251960"/>
            <a:ext cx="566928" cy="566928"/>
          </a:xfrm>
          <a:prstGeom prst="ellipse">
            <a:avLst/>
          </a:prstGeom>
          <a:solidFill>
            <a:srgbClr val="F472B6">
              <a:alpha val="16000"/>
            </a:srgbClr>
          </a:solidFill>
          <a:ln w="12700">
            <a:solidFill>
              <a:srgbClr val="F472B6">
                <a:alpha val="45000"/>
              </a:srgbClr>
            </a:solidFill>
            <a:prstDash val="solid"/>
          </a:ln>
        </p:spPr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42078" y="4393692"/>
            <a:ext cx="283464" cy="283464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5386730" y="4251960"/>
            <a:ext cx="218633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Hallucination</a:t>
            </a:r>
            <a:endParaRPr lang="en-US" sz="1600" dirty="0"/>
          </a:p>
        </p:txBody>
      </p:sp>
      <p:sp>
        <p:nvSpPr>
          <p:cNvPr id="30" name="Text 23"/>
          <p:cNvSpPr txBox="1"/>
          <p:nvPr/>
        </p:nvSpPr>
        <p:spPr>
          <a:xfrm>
            <a:off x="4618634" y="5020056"/>
            <a:ext cx="2954426" cy="10332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Confident output that is actually false or invented.</a:t>
            </a:r>
            <a:endParaRPr lang="en-US" sz="1300" dirty="0"/>
          </a:p>
        </p:txBody>
      </p:sp>
      <p:sp>
        <p:nvSpPr>
          <p:cNvPr id="31" name="Shape 24"/>
          <p:cNvSpPr/>
          <p:nvPr/>
        </p:nvSpPr>
        <p:spPr>
          <a:xfrm>
            <a:off x="8121701" y="3995928"/>
            <a:ext cx="3503066" cy="2240280"/>
          </a:xfrm>
          <a:prstGeom prst="roundRect">
            <a:avLst>
              <a:gd name="adj" fmla="val 3265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8377733" y="4251960"/>
            <a:ext cx="566928" cy="566928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33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19465" y="4393692"/>
            <a:ext cx="283464" cy="283464"/>
          </a:xfrm>
          <a:prstGeom prst="rect">
            <a:avLst/>
          </a:prstGeom>
        </p:spPr>
      </p:pic>
      <p:sp>
        <p:nvSpPr>
          <p:cNvPr id="34" name="Text 26"/>
          <p:cNvSpPr txBox="1"/>
          <p:nvPr/>
        </p:nvSpPr>
        <p:spPr>
          <a:xfrm>
            <a:off x="9164117" y="4251960"/>
            <a:ext cx="218633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Responsible AI</a:t>
            </a:r>
            <a:endParaRPr lang="en-US" sz="1600" dirty="0"/>
          </a:p>
        </p:txBody>
      </p:sp>
      <p:sp>
        <p:nvSpPr>
          <p:cNvPr id="35" name="Text 27"/>
          <p:cNvSpPr txBox="1"/>
          <p:nvPr/>
        </p:nvSpPr>
        <p:spPr>
          <a:xfrm>
            <a:off x="8396021" y="5020056"/>
            <a:ext cx="2954426" cy="10332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Fair, private, transparent and accountable AI use.</a:t>
            </a:r>
            <a:endParaRPr lang="en-US" sz="1300" dirty="0"/>
          </a:p>
        </p:txBody>
      </p:sp>
    </p:spTree>
  </p:cSld>
  <p:clrMapOvr>
    <a:masterClrMapping/>
  </p:clrMapOvr>
</p:sld>
</file>

<file path=ppt/slides/slide2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SLIDE 238A · TIPS 1–9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Top Prompt Engineering Tips (1 of 3)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Final Section · Revision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285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3503066" cy="1402080"/>
          </a:xfrm>
          <a:prstGeom prst="roundRect">
            <a:avLst>
              <a:gd name="adj" fmla="val 5217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1682496"/>
            <a:ext cx="457200" cy="457200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1796796"/>
            <a:ext cx="228600" cy="22860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499616" y="1682496"/>
            <a:ext cx="229605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1. Be specific</a:t>
            </a:r>
            <a:endParaRPr lang="en-US" sz="1450" dirty="0"/>
          </a:p>
        </p:txBody>
      </p:sp>
      <p:sp>
        <p:nvSpPr>
          <p:cNvPr id="10" name="Text 7"/>
          <p:cNvSpPr txBox="1"/>
          <p:nvPr/>
        </p:nvSpPr>
        <p:spPr>
          <a:xfrm>
            <a:off x="841248" y="2286000"/>
            <a:ext cx="2954426" cy="4145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Say exactly what you want, not roughly what you want.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344314" y="1481328"/>
            <a:ext cx="3503066" cy="1402080"/>
          </a:xfrm>
          <a:prstGeom prst="roundRect">
            <a:avLst>
              <a:gd name="adj" fmla="val 5217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600346" y="1682496"/>
            <a:ext cx="457200" cy="457200"/>
          </a:xfrm>
          <a:prstGeom prst="ellipse">
            <a:avLst/>
          </a:prstGeom>
          <a:solidFill>
            <a:srgbClr val="22D3EE">
              <a:alpha val="16000"/>
            </a:srgbClr>
          </a:solidFill>
          <a:ln w="12700">
            <a:solidFill>
              <a:srgbClr val="22D3EE">
                <a:alpha val="45000"/>
              </a:srgbClr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4646" y="1796796"/>
            <a:ext cx="228600" cy="22860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5277002" y="1682496"/>
            <a:ext cx="229605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2. Set a role</a:t>
            </a:r>
            <a:endParaRPr lang="en-US" sz="1450" dirty="0"/>
          </a:p>
        </p:txBody>
      </p:sp>
      <p:sp>
        <p:nvSpPr>
          <p:cNvPr id="15" name="Text 11"/>
          <p:cNvSpPr txBox="1"/>
          <p:nvPr/>
        </p:nvSpPr>
        <p:spPr>
          <a:xfrm>
            <a:off x="4618634" y="2286000"/>
            <a:ext cx="2954426" cy="4145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"You are a teacher for beginners" changes depth and tone.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8121701" y="1481328"/>
            <a:ext cx="3503066" cy="1402080"/>
          </a:xfrm>
          <a:prstGeom prst="roundRect">
            <a:avLst>
              <a:gd name="adj" fmla="val 5217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377733" y="1682496"/>
            <a:ext cx="457200" cy="457200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2033" y="1796796"/>
            <a:ext cx="228600" cy="22860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9054389" y="1682496"/>
            <a:ext cx="229605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3. Give context</a:t>
            </a:r>
            <a:endParaRPr lang="en-US" sz="1450" dirty="0"/>
          </a:p>
        </p:txBody>
      </p:sp>
      <p:sp>
        <p:nvSpPr>
          <p:cNvPr id="20" name="Text 15"/>
          <p:cNvSpPr txBox="1"/>
          <p:nvPr/>
        </p:nvSpPr>
        <p:spPr>
          <a:xfrm>
            <a:off x="8396021" y="2286000"/>
            <a:ext cx="2954426" cy="4145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Paste the material the answer should be based on.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566928" y="3157728"/>
            <a:ext cx="3503066" cy="1402080"/>
          </a:xfrm>
          <a:prstGeom prst="roundRect">
            <a:avLst>
              <a:gd name="adj" fmla="val 5217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822960" y="3358896"/>
            <a:ext cx="457200" cy="457200"/>
          </a:xfrm>
          <a:prstGeom prst="ellipse">
            <a:avLst/>
          </a:prstGeom>
          <a:solidFill>
            <a:srgbClr val="34D399">
              <a:alpha val="16000"/>
            </a:srgbClr>
          </a:solidFill>
          <a:ln w="12700">
            <a:solidFill>
              <a:srgbClr val="34D399">
                <a:alpha val="45000"/>
              </a:srgbClr>
            </a:solidFill>
            <a:prstDash val="solid"/>
          </a:ln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7260" y="3473196"/>
            <a:ext cx="228600" cy="228600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1499616" y="3358896"/>
            <a:ext cx="229605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4. Name the audience</a:t>
            </a:r>
            <a:endParaRPr lang="en-US" sz="1450" dirty="0"/>
          </a:p>
        </p:txBody>
      </p:sp>
      <p:sp>
        <p:nvSpPr>
          <p:cNvPr id="25" name="Text 19"/>
          <p:cNvSpPr txBox="1"/>
          <p:nvPr/>
        </p:nvSpPr>
        <p:spPr>
          <a:xfrm>
            <a:off x="841248" y="3962400"/>
            <a:ext cx="2954426" cy="4145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Beginner, manager, developer — it changes everything.</a:t>
            </a:r>
            <a:endParaRPr lang="en-US" sz="1200" dirty="0"/>
          </a:p>
        </p:txBody>
      </p:sp>
      <p:sp>
        <p:nvSpPr>
          <p:cNvPr id="26" name="Shape 20"/>
          <p:cNvSpPr/>
          <p:nvPr/>
        </p:nvSpPr>
        <p:spPr>
          <a:xfrm>
            <a:off x="4344314" y="3157728"/>
            <a:ext cx="3503066" cy="1402080"/>
          </a:xfrm>
          <a:prstGeom prst="roundRect">
            <a:avLst>
              <a:gd name="adj" fmla="val 5217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4600346" y="3358896"/>
            <a:ext cx="457200" cy="457200"/>
          </a:xfrm>
          <a:prstGeom prst="ellipse">
            <a:avLst/>
          </a:prstGeom>
          <a:solidFill>
            <a:srgbClr val="F472B6">
              <a:alpha val="16000"/>
            </a:srgbClr>
          </a:solidFill>
          <a:ln w="12700">
            <a:solidFill>
              <a:srgbClr val="F472B6">
                <a:alpha val="45000"/>
              </a:srgbClr>
            </a:solidFill>
            <a:prstDash val="solid"/>
          </a:ln>
        </p:spPr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14646" y="3473196"/>
            <a:ext cx="228600" cy="228600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5277002" y="3358896"/>
            <a:ext cx="229605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5. Ask for a format</a:t>
            </a:r>
            <a:endParaRPr lang="en-US" sz="1450" dirty="0"/>
          </a:p>
        </p:txBody>
      </p:sp>
      <p:sp>
        <p:nvSpPr>
          <p:cNvPr id="30" name="Text 23"/>
          <p:cNvSpPr txBox="1"/>
          <p:nvPr/>
        </p:nvSpPr>
        <p:spPr>
          <a:xfrm>
            <a:off x="4618634" y="3962400"/>
            <a:ext cx="2954426" cy="4145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Table, bullets, JSON, word count. Specify it.</a:t>
            </a:r>
            <a:endParaRPr lang="en-US" sz="1200" dirty="0"/>
          </a:p>
        </p:txBody>
      </p:sp>
      <p:sp>
        <p:nvSpPr>
          <p:cNvPr id="31" name="Shape 24"/>
          <p:cNvSpPr/>
          <p:nvPr/>
        </p:nvSpPr>
        <p:spPr>
          <a:xfrm>
            <a:off x="8121701" y="3157728"/>
            <a:ext cx="3503066" cy="1402080"/>
          </a:xfrm>
          <a:prstGeom prst="roundRect">
            <a:avLst>
              <a:gd name="adj" fmla="val 5217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8377733" y="3358896"/>
            <a:ext cx="457200" cy="457200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33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92033" y="3473196"/>
            <a:ext cx="228600" cy="228600"/>
          </a:xfrm>
          <a:prstGeom prst="rect">
            <a:avLst/>
          </a:prstGeom>
        </p:spPr>
      </p:pic>
      <p:sp>
        <p:nvSpPr>
          <p:cNvPr id="34" name="Text 26"/>
          <p:cNvSpPr txBox="1"/>
          <p:nvPr/>
        </p:nvSpPr>
        <p:spPr>
          <a:xfrm>
            <a:off x="9054389" y="3358896"/>
            <a:ext cx="229605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6. Set a length</a:t>
            </a:r>
            <a:endParaRPr lang="en-US" sz="1450" dirty="0"/>
          </a:p>
        </p:txBody>
      </p:sp>
      <p:sp>
        <p:nvSpPr>
          <p:cNvPr id="35" name="Text 27"/>
          <p:cNvSpPr txBox="1"/>
          <p:nvPr/>
        </p:nvSpPr>
        <p:spPr>
          <a:xfrm>
            <a:off x="8396021" y="3962400"/>
            <a:ext cx="2954426" cy="4145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"Under 150 words" prevents wandering answers.</a:t>
            </a:r>
            <a:endParaRPr lang="en-US" sz="1200" dirty="0"/>
          </a:p>
        </p:txBody>
      </p:sp>
      <p:sp>
        <p:nvSpPr>
          <p:cNvPr id="36" name="Shape 28"/>
          <p:cNvSpPr/>
          <p:nvPr/>
        </p:nvSpPr>
        <p:spPr>
          <a:xfrm>
            <a:off x="566928" y="4834128"/>
            <a:ext cx="3503066" cy="1402080"/>
          </a:xfrm>
          <a:prstGeom prst="roundRect">
            <a:avLst>
              <a:gd name="adj" fmla="val 5217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37" name="Shape 29"/>
          <p:cNvSpPr/>
          <p:nvPr/>
        </p:nvSpPr>
        <p:spPr>
          <a:xfrm>
            <a:off x="822960" y="5035296"/>
            <a:ext cx="457200" cy="457200"/>
          </a:xfrm>
          <a:prstGeom prst="ellipse">
            <a:avLst/>
          </a:prstGeom>
          <a:solidFill>
            <a:srgbClr val="22D3EE">
              <a:alpha val="16000"/>
            </a:srgbClr>
          </a:solidFill>
          <a:ln w="12700">
            <a:solidFill>
              <a:srgbClr val="22D3EE">
                <a:alpha val="45000"/>
              </a:srgbClr>
            </a:solidFill>
            <a:prstDash val="solid"/>
          </a:ln>
        </p:spPr>
      </p:sp>
      <p:pic>
        <p:nvPicPr>
          <p:cNvPr id="38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7260" y="5149596"/>
            <a:ext cx="228600" cy="228600"/>
          </a:xfrm>
          <a:prstGeom prst="rect">
            <a:avLst/>
          </a:prstGeom>
        </p:spPr>
      </p:pic>
      <p:sp>
        <p:nvSpPr>
          <p:cNvPr id="39" name="Text 30"/>
          <p:cNvSpPr txBox="1"/>
          <p:nvPr/>
        </p:nvSpPr>
        <p:spPr>
          <a:xfrm>
            <a:off x="1499616" y="5035296"/>
            <a:ext cx="229605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7. Use examples</a:t>
            </a:r>
            <a:endParaRPr lang="en-US" sz="1450" dirty="0"/>
          </a:p>
        </p:txBody>
      </p:sp>
      <p:sp>
        <p:nvSpPr>
          <p:cNvPr id="40" name="Text 31"/>
          <p:cNvSpPr txBox="1"/>
          <p:nvPr/>
        </p:nvSpPr>
        <p:spPr>
          <a:xfrm>
            <a:off x="841248" y="5638800"/>
            <a:ext cx="2954426" cy="4145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Two or three examples beat a paragraph of description.</a:t>
            </a:r>
            <a:endParaRPr lang="en-US" sz="1200" dirty="0"/>
          </a:p>
        </p:txBody>
      </p:sp>
      <p:sp>
        <p:nvSpPr>
          <p:cNvPr id="41" name="Shape 32"/>
          <p:cNvSpPr/>
          <p:nvPr/>
        </p:nvSpPr>
        <p:spPr>
          <a:xfrm>
            <a:off x="4344314" y="4834128"/>
            <a:ext cx="3503066" cy="1402080"/>
          </a:xfrm>
          <a:prstGeom prst="roundRect">
            <a:avLst>
              <a:gd name="adj" fmla="val 5217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42" name="Shape 33"/>
          <p:cNvSpPr/>
          <p:nvPr/>
        </p:nvSpPr>
        <p:spPr>
          <a:xfrm>
            <a:off x="4600346" y="5035296"/>
            <a:ext cx="457200" cy="457200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43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14646" y="5149596"/>
            <a:ext cx="228600" cy="228600"/>
          </a:xfrm>
          <a:prstGeom prst="rect">
            <a:avLst/>
          </a:prstGeom>
        </p:spPr>
      </p:pic>
      <p:sp>
        <p:nvSpPr>
          <p:cNvPr id="44" name="Text 34"/>
          <p:cNvSpPr txBox="1"/>
          <p:nvPr/>
        </p:nvSpPr>
        <p:spPr>
          <a:xfrm>
            <a:off x="5277002" y="5035296"/>
            <a:ext cx="229605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8. Ask for steps</a:t>
            </a:r>
            <a:endParaRPr lang="en-US" sz="1450" dirty="0"/>
          </a:p>
        </p:txBody>
      </p:sp>
      <p:sp>
        <p:nvSpPr>
          <p:cNvPr id="45" name="Text 35"/>
          <p:cNvSpPr txBox="1"/>
          <p:nvPr/>
        </p:nvSpPr>
        <p:spPr>
          <a:xfrm>
            <a:off x="4618634" y="5638800"/>
            <a:ext cx="2954426" cy="4145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"Work through it step by step" improves reasoning.</a:t>
            </a:r>
            <a:endParaRPr lang="en-US" sz="1200" dirty="0"/>
          </a:p>
        </p:txBody>
      </p:sp>
      <p:sp>
        <p:nvSpPr>
          <p:cNvPr id="46" name="Shape 36"/>
          <p:cNvSpPr/>
          <p:nvPr/>
        </p:nvSpPr>
        <p:spPr>
          <a:xfrm>
            <a:off x="8121701" y="4834128"/>
            <a:ext cx="3503066" cy="1402080"/>
          </a:xfrm>
          <a:prstGeom prst="roundRect">
            <a:avLst>
              <a:gd name="adj" fmla="val 5217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47" name="Shape 37"/>
          <p:cNvSpPr/>
          <p:nvPr/>
        </p:nvSpPr>
        <p:spPr>
          <a:xfrm>
            <a:off x="8377733" y="5035296"/>
            <a:ext cx="457200" cy="457200"/>
          </a:xfrm>
          <a:prstGeom prst="ellipse">
            <a:avLst/>
          </a:prstGeom>
          <a:solidFill>
            <a:srgbClr val="34D399">
              <a:alpha val="16000"/>
            </a:srgbClr>
          </a:solidFill>
          <a:ln w="12700">
            <a:solidFill>
              <a:srgbClr val="34D399">
                <a:alpha val="45000"/>
              </a:srgbClr>
            </a:solidFill>
            <a:prstDash val="solid"/>
          </a:ln>
        </p:spPr>
      </p:sp>
      <p:pic>
        <p:nvPicPr>
          <p:cNvPr id="48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92033" y="5149596"/>
            <a:ext cx="228600" cy="228600"/>
          </a:xfrm>
          <a:prstGeom prst="rect">
            <a:avLst/>
          </a:prstGeom>
        </p:spPr>
      </p:pic>
      <p:sp>
        <p:nvSpPr>
          <p:cNvPr id="49" name="Text 38"/>
          <p:cNvSpPr txBox="1"/>
          <p:nvPr/>
        </p:nvSpPr>
        <p:spPr>
          <a:xfrm>
            <a:off x="9054389" y="5035296"/>
            <a:ext cx="229605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9. State constraints</a:t>
            </a:r>
            <a:endParaRPr lang="en-US" sz="1450" dirty="0"/>
          </a:p>
        </p:txBody>
      </p:sp>
      <p:sp>
        <p:nvSpPr>
          <p:cNvPr id="50" name="Text 39"/>
          <p:cNvSpPr txBox="1"/>
          <p:nvPr/>
        </p:nvSpPr>
        <p:spPr>
          <a:xfrm>
            <a:off x="8396021" y="5638800"/>
            <a:ext cx="2954426" cy="4145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Say what to avoid as clearly as what to include.</a:t>
            </a:r>
            <a:endParaRPr lang="en-US" sz="1200" dirty="0"/>
          </a:p>
        </p:txBody>
      </p:sp>
    </p:spTree>
  </p:cSld>
  <p:clrMapOvr>
    <a:masterClrMapping/>
  </p:clrMapOvr>
</p:sld>
</file>

<file path=ppt/slides/slide2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SLIDE 238B · TIPS 10–18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Top Prompt Engineering Tips (2 of 3)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Final Section · Revision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286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3503066" cy="1402080"/>
          </a:xfrm>
          <a:prstGeom prst="roundRect">
            <a:avLst>
              <a:gd name="adj" fmla="val 5217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1682496"/>
            <a:ext cx="457200" cy="457200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1796796"/>
            <a:ext cx="228600" cy="22860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499616" y="1682496"/>
            <a:ext cx="229605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10. One task at a time</a:t>
            </a:r>
            <a:endParaRPr lang="en-US" sz="1450" dirty="0"/>
          </a:p>
        </p:txBody>
      </p:sp>
      <p:sp>
        <p:nvSpPr>
          <p:cNvPr id="10" name="Text 7"/>
          <p:cNvSpPr txBox="1"/>
          <p:nvPr/>
        </p:nvSpPr>
        <p:spPr>
          <a:xfrm>
            <a:off x="841248" y="2286000"/>
            <a:ext cx="2954426" cy="4145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Split big requests instead of bundling ten things.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344314" y="1481328"/>
            <a:ext cx="3503066" cy="1402080"/>
          </a:xfrm>
          <a:prstGeom prst="roundRect">
            <a:avLst>
              <a:gd name="adj" fmla="val 5217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600346" y="1682496"/>
            <a:ext cx="457200" cy="457200"/>
          </a:xfrm>
          <a:prstGeom prst="ellipse">
            <a:avLst/>
          </a:prstGeom>
          <a:solidFill>
            <a:srgbClr val="22D3EE">
              <a:alpha val="16000"/>
            </a:srgbClr>
          </a:solidFill>
          <a:ln w="12700">
            <a:solidFill>
              <a:srgbClr val="22D3EE">
                <a:alpha val="45000"/>
              </a:srgbClr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4646" y="1796796"/>
            <a:ext cx="228600" cy="22860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5277002" y="1682496"/>
            <a:ext cx="229605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11. Refine, do not restart</a:t>
            </a:r>
            <a:endParaRPr lang="en-US" sz="1450" dirty="0"/>
          </a:p>
        </p:txBody>
      </p:sp>
      <p:sp>
        <p:nvSpPr>
          <p:cNvPr id="15" name="Text 11"/>
          <p:cNvSpPr txBox="1"/>
          <p:nvPr/>
        </p:nvSpPr>
        <p:spPr>
          <a:xfrm>
            <a:off x="4618634" y="2286000"/>
            <a:ext cx="2954426" cy="4145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Say exactly what to change in the next version.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8121701" y="1481328"/>
            <a:ext cx="3503066" cy="1402080"/>
          </a:xfrm>
          <a:prstGeom prst="roundRect">
            <a:avLst>
              <a:gd name="adj" fmla="val 5217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377733" y="1682496"/>
            <a:ext cx="457200" cy="457200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2033" y="1796796"/>
            <a:ext cx="228600" cy="22860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9054389" y="1682496"/>
            <a:ext cx="229605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12. Ask for options</a:t>
            </a:r>
            <a:endParaRPr lang="en-US" sz="1450" dirty="0"/>
          </a:p>
        </p:txBody>
      </p:sp>
      <p:sp>
        <p:nvSpPr>
          <p:cNvPr id="20" name="Text 15"/>
          <p:cNvSpPr txBox="1"/>
          <p:nvPr/>
        </p:nvSpPr>
        <p:spPr>
          <a:xfrm>
            <a:off x="8396021" y="2286000"/>
            <a:ext cx="2954426" cy="4145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"Give three different approaches" then pick the best.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566928" y="3157728"/>
            <a:ext cx="3503066" cy="1402080"/>
          </a:xfrm>
          <a:prstGeom prst="roundRect">
            <a:avLst>
              <a:gd name="adj" fmla="val 5217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822960" y="3358896"/>
            <a:ext cx="457200" cy="457200"/>
          </a:xfrm>
          <a:prstGeom prst="ellipse">
            <a:avLst/>
          </a:prstGeom>
          <a:solidFill>
            <a:srgbClr val="34D399">
              <a:alpha val="16000"/>
            </a:srgbClr>
          </a:solidFill>
          <a:ln w="12700">
            <a:solidFill>
              <a:srgbClr val="34D399">
                <a:alpha val="45000"/>
              </a:srgbClr>
            </a:solidFill>
            <a:prstDash val="solid"/>
          </a:ln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7260" y="3473196"/>
            <a:ext cx="228600" cy="228600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1499616" y="3358896"/>
            <a:ext cx="229605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13. Invite uncertainty</a:t>
            </a:r>
            <a:endParaRPr lang="en-US" sz="1450" dirty="0"/>
          </a:p>
        </p:txBody>
      </p:sp>
      <p:sp>
        <p:nvSpPr>
          <p:cNvPr id="25" name="Text 19"/>
          <p:cNvSpPr txBox="1"/>
          <p:nvPr/>
        </p:nvSpPr>
        <p:spPr>
          <a:xfrm>
            <a:off x="841248" y="3962400"/>
            <a:ext cx="2954426" cy="4145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"Say if you are unsure" reduces invented answers.</a:t>
            </a:r>
            <a:endParaRPr lang="en-US" sz="1200" dirty="0"/>
          </a:p>
        </p:txBody>
      </p:sp>
      <p:sp>
        <p:nvSpPr>
          <p:cNvPr id="26" name="Shape 20"/>
          <p:cNvSpPr/>
          <p:nvPr/>
        </p:nvSpPr>
        <p:spPr>
          <a:xfrm>
            <a:off x="4344314" y="3157728"/>
            <a:ext cx="3503066" cy="1402080"/>
          </a:xfrm>
          <a:prstGeom prst="roundRect">
            <a:avLst>
              <a:gd name="adj" fmla="val 5217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4600346" y="3358896"/>
            <a:ext cx="457200" cy="457200"/>
          </a:xfrm>
          <a:prstGeom prst="ellipse">
            <a:avLst/>
          </a:prstGeom>
          <a:solidFill>
            <a:srgbClr val="F472B6">
              <a:alpha val="16000"/>
            </a:srgbClr>
          </a:solidFill>
          <a:ln w="12700">
            <a:solidFill>
              <a:srgbClr val="F472B6">
                <a:alpha val="45000"/>
              </a:srgbClr>
            </a:solidFill>
            <a:prstDash val="solid"/>
          </a:ln>
        </p:spPr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14646" y="3473196"/>
            <a:ext cx="228600" cy="228600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5277002" y="3358896"/>
            <a:ext cx="229605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14. Ask for sources</a:t>
            </a:r>
            <a:endParaRPr lang="en-US" sz="1450" dirty="0"/>
          </a:p>
        </p:txBody>
      </p:sp>
      <p:sp>
        <p:nvSpPr>
          <p:cNvPr id="30" name="Text 23"/>
          <p:cNvSpPr txBox="1"/>
          <p:nvPr/>
        </p:nvSpPr>
        <p:spPr>
          <a:xfrm>
            <a:off x="4618634" y="3962400"/>
            <a:ext cx="2954426" cy="4145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Request quotes or section references you can check.</a:t>
            </a:r>
            <a:endParaRPr lang="en-US" sz="1200" dirty="0"/>
          </a:p>
        </p:txBody>
      </p:sp>
      <p:sp>
        <p:nvSpPr>
          <p:cNvPr id="31" name="Shape 24"/>
          <p:cNvSpPr/>
          <p:nvPr/>
        </p:nvSpPr>
        <p:spPr>
          <a:xfrm>
            <a:off x="8121701" y="3157728"/>
            <a:ext cx="3503066" cy="1402080"/>
          </a:xfrm>
          <a:prstGeom prst="roundRect">
            <a:avLst>
              <a:gd name="adj" fmla="val 5217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8377733" y="3358896"/>
            <a:ext cx="457200" cy="457200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33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92033" y="3473196"/>
            <a:ext cx="228600" cy="228600"/>
          </a:xfrm>
          <a:prstGeom prst="rect">
            <a:avLst/>
          </a:prstGeom>
        </p:spPr>
      </p:pic>
      <p:sp>
        <p:nvSpPr>
          <p:cNvPr id="34" name="Text 26"/>
          <p:cNvSpPr txBox="1"/>
          <p:nvPr/>
        </p:nvSpPr>
        <p:spPr>
          <a:xfrm>
            <a:off x="9054389" y="3358896"/>
            <a:ext cx="229605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15. Save your templates</a:t>
            </a:r>
            <a:endParaRPr lang="en-US" sz="1450" dirty="0"/>
          </a:p>
        </p:txBody>
      </p:sp>
      <p:sp>
        <p:nvSpPr>
          <p:cNvPr id="35" name="Text 27"/>
          <p:cNvSpPr txBox="1"/>
          <p:nvPr/>
        </p:nvSpPr>
        <p:spPr>
          <a:xfrm>
            <a:off x="8396021" y="3962400"/>
            <a:ext cx="2954426" cy="4145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Keep the prompts that worked. Reuse them.</a:t>
            </a:r>
            <a:endParaRPr lang="en-US" sz="1200" dirty="0"/>
          </a:p>
        </p:txBody>
      </p:sp>
      <p:sp>
        <p:nvSpPr>
          <p:cNvPr id="36" name="Shape 28"/>
          <p:cNvSpPr/>
          <p:nvPr/>
        </p:nvSpPr>
        <p:spPr>
          <a:xfrm>
            <a:off x="566928" y="4834128"/>
            <a:ext cx="3503066" cy="1402080"/>
          </a:xfrm>
          <a:prstGeom prst="roundRect">
            <a:avLst>
              <a:gd name="adj" fmla="val 5217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37" name="Shape 29"/>
          <p:cNvSpPr/>
          <p:nvPr/>
        </p:nvSpPr>
        <p:spPr>
          <a:xfrm>
            <a:off x="822960" y="5035296"/>
            <a:ext cx="457200" cy="457200"/>
          </a:xfrm>
          <a:prstGeom prst="ellipse">
            <a:avLst/>
          </a:prstGeom>
          <a:solidFill>
            <a:srgbClr val="22D3EE">
              <a:alpha val="16000"/>
            </a:srgbClr>
          </a:solidFill>
          <a:ln w="12700">
            <a:solidFill>
              <a:srgbClr val="22D3EE">
                <a:alpha val="45000"/>
              </a:srgbClr>
            </a:solidFill>
            <a:prstDash val="solid"/>
          </a:ln>
        </p:spPr>
      </p:sp>
      <p:pic>
        <p:nvPicPr>
          <p:cNvPr id="38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7260" y="5149596"/>
            <a:ext cx="228600" cy="228600"/>
          </a:xfrm>
          <a:prstGeom prst="rect">
            <a:avLst/>
          </a:prstGeom>
        </p:spPr>
      </p:pic>
      <p:sp>
        <p:nvSpPr>
          <p:cNvPr id="39" name="Text 30"/>
          <p:cNvSpPr txBox="1"/>
          <p:nvPr/>
        </p:nvSpPr>
        <p:spPr>
          <a:xfrm>
            <a:off x="1499616" y="5035296"/>
            <a:ext cx="229605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16. Give your outline</a:t>
            </a:r>
            <a:endParaRPr lang="en-US" sz="1450" dirty="0"/>
          </a:p>
        </p:txBody>
      </p:sp>
      <p:sp>
        <p:nvSpPr>
          <p:cNvPr id="40" name="Text 31"/>
          <p:cNvSpPr txBox="1"/>
          <p:nvPr/>
        </p:nvSpPr>
        <p:spPr>
          <a:xfrm>
            <a:off x="841248" y="5638800"/>
            <a:ext cx="2954426" cy="4145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Supply the structure; let AI expand it.</a:t>
            </a:r>
            <a:endParaRPr lang="en-US" sz="1200" dirty="0"/>
          </a:p>
        </p:txBody>
      </p:sp>
      <p:sp>
        <p:nvSpPr>
          <p:cNvPr id="41" name="Shape 32"/>
          <p:cNvSpPr/>
          <p:nvPr/>
        </p:nvSpPr>
        <p:spPr>
          <a:xfrm>
            <a:off x="4344314" y="4834128"/>
            <a:ext cx="3503066" cy="1402080"/>
          </a:xfrm>
          <a:prstGeom prst="roundRect">
            <a:avLst>
              <a:gd name="adj" fmla="val 5217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42" name="Shape 33"/>
          <p:cNvSpPr/>
          <p:nvPr/>
        </p:nvSpPr>
        <p:spPr>
          <a:xfrm>
            <a:off x="4600346" y="5035296"/>
            <a:ext cx="457200" cy="457200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43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14646" y="5149596"/>
            <a:ext cx="228600" cy="228600"/>
          </a:xfrm>
          <a:prstGeom prst="rect">
            <a:avLst/>
          </a:prstGeom>
        </p:spPr>
      </p:pic>
      <p:sp>
        <p:nvSpPr>
          <p:cNvPr id="44" name="Text 34"/>
          <p:cNvSpPr txBox="1"/>
          <p:nvPr/>
        </p:nvSpPr>
        <p:spPr>
          <a:xfrm>
            <a:off x="5277002" y="5035296"/>
            <a:ext cx="229605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17. Control the tone</a:t>
            </a:r>
            <a:endParaRPr lang="en-US" sz="1450" dirty="0"/>
          </a:p>
        </p:txBody>
      </p:sp>
      <p:sp>
        <p:nvSpPr>
          <p:cNvPr id="45" name="Text 35"/>
          <p:cNvSpPr txBox="1"/>
          <p:nvPr/>
        </p:nvSpPr>
        <p:spPr>
          <a:xfrm>
            <a:off x="4618634" y="5638800"/>
            <a:ext cx="2954426" cy="4145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Formal, friendly, technical — say which one.</a:t>
            </a:r>
            <a:endParaRPr lang="en-US" sz="1200" dirty="0"/>
          </a:p>
        </p:txBody>
      </p:sp>
      <p:sp>
        <p:nvSpPr>
          <p:cNvPr id="46" name="Shape 36"/>
          <p:cNvSpPr/>
          <p:nvPr/>
        </p:nvSpPr>
        <p:spPr>
          <a:xfrm>
            <a:off x="8121701" y="4834128"/>
            <a:ext cx="3503066" cy="1402080"/>
          </a:xfrm>
          <a:prstGeom prst="roundRect">
            <a:avLst>
              <a:gd name="adj" fmla="val 5217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47" name="Shape 37"/>
          <p:cNvSpPr/>
          <p:nvPr/>
        </p:nvSpPr>
        <p:spPr>
          <a:xfrm>
            <a:off x="8377733" y="5035296"/>
            <a:ext cx="457200" cy="457200"/>
          </a:xfrm>
          <a:prstGeom prst="ellipse">
            <a:avLst/>
          </a:prstGeom>
          <a:solidFill>
            <a:srgbClr val="34D399">
              <a:alpha val="16000"/>
            </a:srgbClr>
          </a:solidFill>
          <a:ln w="12700">
            <a:solidFill>
              <a:srgbClr val="34D399">
                <a:alpha val="45000"/>
              </a:srgbClr>
            </a:solidFill>
            <a:prstDash val="solid"/>
          </a:ln>
        </p:spPr>
      </p:sp>
      <p:pic>
        <p:nvPicPr>
          <p:cNvPr id="48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92033" y="5149596"/>
            <a:ext cx="228600" cy="228600"/>
          </a:xfrm>
          <a:prstGeom prst="rect">
            <a:avLst/>
          </a:prstGeom>
        </p:spPr>
      </p:pic>
      <p:sp>
        <p:nvSpPr>
          <p:cNvPr id="49" name="Text 38"/>
          <p:cNvSpPr txBox="1"/>
          <p:nvPr/>
        </p:nvSpPr>
        <p:spPr>
          <a:xfrm>
            <a:off x="9054389" y="5035296"/>
            <a:ext cx="229605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18. Test with edge cases</a:t>
            </a:r>
            <a:endParaRPr lang="en-US" sz="1450" dirty="0"/>
          </a:p>
        </p:txBody>
      </p:sp>
      <p:sp>
        <p:nvSpPr>
          <p:cNvPr id="50" name="Text 39"/>
          <p:cNvSpPr txBox="1"/>
          <p:nvPr/>
        </p:nvSpPr>
        <p:spPr>
          <a:xfrm>
            <a:off x="8396021" y="5638800"/>
            <a:ext cx="2954426" cy="4145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prompt that works once may fail on unusual input.</a:t>
            </a:r>
            <a:endParaRPr lang="en-US" sz="1200" dirty="0"/>
          </a:p>
        </p:txBody>
      </p:sp>
    </p:spTree>
  </p:cSld>
  <p:clrMapOvr>
    <a:masterClrMapping/>
  </p:clrMapOvr>
</p:sld>
</file>

<file path=ppt/slides/slide2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SLIDE 238C · TIPS 19–25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Top Prompt Engineering Tips (3 of 3)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Final Section · Revision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287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2558720" cy="2240280"/>
          </a:xfrm>
          <a:prstGeom prst="roundRect">
            <a:avLst>
              <a:gd name="adj" fmla="val 3265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1737360"/>
            <a:ext cx="566928" cy="566928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4692" y="1879092"/>
            <a:ext cx="283464" cy="283464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609344" y="1737360"/>
            <a:ext cx="1241984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19. Verify what matters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841248" y="2505456"/>
            <a:ext cx="2010080" cy="10332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Facts, numbers, code and citations always.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3399968" y="1481328"/>
            <a:ext cx="2558720" cy="2240280"/>
          </a:xfrm>
          <a:prstGeom prst="roundRect">
            <a:avLst>
              <a:gd name="adj" fmla="val 3265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656000" y="1737360"/>
            <a:ext cx="566928" cy="566928"/>
          </a:xfrm>
          <a:prstGeom prst="ellipse">
            <a:avLst/>
          </a:prstGeom>
          <a:solidFill>
            <a:srgbClr val="22D3EE">
              <a:alpha val="16000"/>
            </a:srgbClr>
          </a:solidFill>
          <a:ln w="12700">
            <a:solidFill>
              <a:srgbClr val="22D3EE">
                <a:alpha val="45000"/>
              </a:srgbClr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7732" y="1879092"/>
            <a:ext cx="283464" cy="283464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4442384" y="1737360"/>
            <a:ext cx="1241984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20. Never paste secrets</a:t>
            </a:r>
            <a:endParaRPr lang="en-US" sz="1600" dirty="0"/>
          </a:p>
        </p:txBody>
      </p:sp>
      <p:sp>
        <p:nvSpPr>
          <p:cNvPr id="15" name="Text 11"/>
          <p:cNvSpPr txBox="1"/>
          <p:nvPr/>
        </p:nvSpPr>
        <p:spPr>
          <a:xfrm>
            <a:off x="3674288" y="2505456"/>
            <a:ext cx="2010080" cy="10332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 passwords, keys or customer data.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233008" y="1481328"/>
            <a:ext cx="2558720" cy="2240280"/>
          </a:xfrm>
          <a:prstGeom prst="roundRect">
            <a:avLst>
              <a:gd name="adj" fmla="val 3265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89040" y="1737360"/>
            <a:ext cx="566928" cy="566928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0772" y="1879092"/>
            <a:ext cx="283464" cy="283464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7275424" y="1737360"/>
            <a:ext cx="1241984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21. Restate in long chats</a:t>
            </a:r>
            <a:endParaRPr lang="en-US" sz="1600" dirty="0"/>
          </a:p>
        </p:txBody>
      </p:sp>
      <p:sp>
        <p:nvSpPr>
          <p:cNvPr id="20" name="Text 15"/>
          <p:cNvSpPr txBox="1"/>
          <p:nvPr/>
        </p:nvSpPr>
        <p:spPr>
          <a:xfrm>
            <a:off x="6507328" y="2505456"/>
            <a:ext cx="2010080" cy="10332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Repeat key facts when a conversation gets long.</a:t>
            </a:r>
            <a:endParaRPr lang="en-US" sz="1300" dirty="0"/>
          </a:p>
        </p:txBody>
      </p:sp>
      <p:sp>
        <p:nvSpPr>
          <p:cNvPr id="21" name="Shape 16"/>
          <p:cNvSpPr/>
          <p:nvPr/>
        </p:nvSpPr>
        <p:spPr>
          <a:xfrm>
            <a:off x="9066047" y="1481328"/>
            <a:ext cx="2558720" cy="2240280"/>
          </a:xfrm>
          <a:prstGeom prst="roundRect">
            <a:avLst>
              <a:gd name="adj" fmla="val 3265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9322079" y="1737360"/>
            <a:ext cx="566928" cy="566928"/>
          </a:xfrm>
          <a:prstGeom prst="ellipse">
            <a:avLst/>
          </a:prstGeom>
          <a:solidFill>
            <a:srgbClr val="34D399">
              <a:alpha val="16000"/>
            </a:srgbClr>
          </a:solidFill>
          <a:ln w="12700">
            <a:solidFill>
              <a:srgbClr val="34D399">
                <a:alpha val="45000"/>
              </a:srgbClr>
            </a:solidFill>
            <a:prstDash val="solid"/>
          </a:ln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63811" y="1879092"/>
            <a:ext cx="283464" cy="283464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10108463" y="1737360"/>
            <a:ext cx="1241984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22. Ask it to teach you</a:t>
            </a:r>
            <a:endParaRPr lang="en-US" sz="1600" dirty="0"/>
          </a:p>
        </p:txBody>
      </p:sp>
      <p:sp>
        <p:nvSpPr>
          <p:cNvPr id="25" name="Text 19"/>
          <p:cNvSpPr txBox="1"/>
          <p:nvPr/>
        </p:nvSpPr>
        <p:spPr>
          <a:xfrm>
            <a:off x="9340367" y="2505456"/>
            <a:ext cx="2010080" cy="10332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"Explain why, not just what" builds understanding.</a:t>
            </a:r>
            <a:endParaRPr lang="en-US" sz="1300" dirty="0"/>
          </a:p>
        </p:txBody>
      </p:sp>
      <p:sp>
        <p:nvSpPr>
          <p:cNvPr id="26" name="Shape 20"/>
          <p:cNvSpPr/>
          <p:nvPr/>
        </p:nvSpPr>
        <p:spPr>
          <a:xfrm>
            <a:off x="566928" y="3995928"/>
            <a:ext cx="2558720" cy="2240280"/>
          </a:xfrm>
          <a:prstGeom prst="roundRect">
            <a:avLst>
              <a:gd name="adj" fmla="val 3265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822960" y="4251960"/>
            <a:ext cx="566928" cy="566928"/>
          </a:xfrm>
          <a:prstGeom prst="ellipse">
            <a:avLst/>
          </a:prstGeom>
          <a:solidFill>
            <a:srgbClr val="F472B6">
              <a:alpha val="16000"/>
            </a:srgbClr>
          </a:solidFill>
          <a:ln w="12700">
            <a:solidFill>
              <a:srgbClr val="F472B6">
                <a:alpha val="45000"/>
              </a:srgbClr>
            </a:solidFill>
            <a:prstDash val="solid"/>
          </a:ln>
        </p:spPr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4692" y="4393692"/>
            <a:ext cx="283464" cy="283464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1609344" y="4251960"/>
            <a:ext cx="1241984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23. Ask for a checklist</a:t>
            </a:r>
            <a:endParaRPr lang="en-US" sz="1600" dirty="0"/>
          </a:p>
        </p:txBody>
      </p:sp>
      <p:sp>
        <p:nvSpPr>
          <p:cNvPr id="30" name="Text 23"/>
          <p:cNvSpPr txBox="1"/>
          <p:nvPr/>
        </p:nvSpPr>
        <p:spPr>
          <a:xfrm>
            <a:off x="841248" y="5020056"/>
            <a:ext cx="2010080" cy="10332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Turn advice into something you can actually follow.</a:t>
            </a:r>
            <a:endParaRPr lang="en-US" sz="1300" dirty="0"/>
          </a:p>
        </p:txBody>
      </p:sp>
      <p:sp>
        <p:nvSpPr>
          <p:cNvPr id="31" name="Shape 24"/>
          <p:cNvSpPr/>
          <p:nvPr/>
        </p:nvSpPr>
        <p:spPr>
          <a:xfrm>
            <a:off x="3399968" y="3995928"/>
            <a:ext cx="2558720" cy="2240280"/>
          </a:xfrm>
          <a:prstGeom prst="roundRect">
            <a:avLst>
              <a:gd name="adj" fmla="val 3265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3656000" y="4251960"/>
            <a:ext cx="566928" cy="566928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33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97732" y="4393692"/>
            <a:ext cx="283464" cy="283464"/>
          </a:xfrm>
          <a:prstGeom prst="rect">
            <a:avLst/>
          </a:prstGeom>
        </p:spPr>
      </p:pic>
      <p:sp>
        <p:nvSpPr>
          <p:cNvPr id="34" name="Text 26"/>
          <p:cNvSpPr txBox="1"/>
          <p:nvPr/>
        </p:nvSpPr>
        <p:spPr>
          <a:xfrm>
            <a:off x="4442384" y="4251960"/>
            <a:ext cx="1241984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24. Request balance</a:t>
            </a:r>
            <a:endParaRPr lang="en-US" sz="1600" dirty="0"/>
          </a:p>
        </p:txBody>
      </p:sp>
      <p:sp>
        <p:nvSpPr>
          <p:cNvPr id="35" name="Text 27"/>
          <p:cNvSpPr txBox="1"/>
          <p:nvPr/>
        </p:nvSpPr>
        <p:spPr>
          <a:xfrm>
            <a:off x="3674288" y="5020056"/>
            <a:ext cx="2010080" cy="10332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 contested topics ask for multiple perspectives.</a:t>
            </a:r>
            <a:endParaRPr lang="en-US" sz="1300" dirty="0"/>
          </a:p>
        </p:txBody>
      </p:sp>
      <p:sp>
        <p:nvSpPr>
          <p:cNvPr id="36" name="Shape 28"/>
          <p:cNvSpPr/>
          <p:nvPr/>
        </p:nvSpPr>
        <p:spPr>
          <a:xfrm>
            <a:off x="6233008" y="3995928"/>
            <a:ext cx="2558720" cy="2240280"/>
          </a:xfrm>
          <a:prstGeom prst="roundRect">
            <a:avLst>
              <a:gd name="adj" fmla="val 3265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37" name="Shape 29"/>
          <p:cNvSpPr/>
          <p:nvPr/>
        </p:nvSpPr>
        <p:spPr>
          <a:xfrm>
            <a:off x="6489040" y="4251960"/>
            <a:ext cx="566928" cy="566928"/>
          </a:xfrm>
          <a:prstGeom prst="ellipse">
            <a:avLst/>
          </a:prstGeom>
          <a:solidFill>
            <a:srgbClr val="22D3EE">
              <a:alpha val="16000"/>
            </a:srgbClr>
          </a:solidFill>
          <a:ln w="12700">
            <a:solidFill>
              <a:srgbClr val="22D3EE">
                <a:alpha val="45000"/>
              </a:srgbClr>
            </a:solidFill>
            <a:prstDash val="solid"/>
          </a:ln>
        </p:spPr>
      </p:sp>
      <p:pic>
        <p:nvPicPr>
          <p:cNvPr id="38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30772" y="4393692"/>
            <a:ext cx="283464" cy="283464"/>
          </a:xfrm>
          <a:prstGeom prst="rect">
            <a:avLst/>
          </a:prstGeom>
        </p:spPr>
      </p:pic>
      <p:sp>
        <p:nvSpPr>
          <p:cNvPr id="39" name="Text 30"/>
          <p:cNvSpPr txBox="1"/>
          <p:nvPr/>
        </p:nvSpPr>
        <p:spPr>
          <a:xfrm>
            <a:off x="7275424" y="4251960"/>
            <a:ext cx="1241984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25. Edit before using</a:t>
            </a:r>
            <a:endParaRPr lang="en-US" sz="1600" dirty="0"/>
          </a:p>
        </p:txBody>
      </p:sp>
      <p:sp>
        <p:nvSpPr>
          <p:cNvPr id="40" name="Text 31"/>
          <p:cNvSpPr txBox="1"/>
          <p:nvPr/>
        </p:nvSpPr>
        <p:spPr>
          <a:xfrm>
            <a:off x="6507328" y="5020056"/>
            <a:ext cx="2010080" cy="10332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Unedited AI output is generic. Your edit adds the value.</a:t>
            </a:r>
            <a:endParaRPr lang="en-US" sz="1300" dirty="0"/>
          </a:p>
        </p:txBody>
      </p:sp>
    </p:spTree>
  </p:cSld>
  <p:clrMapOvr>
    <a:masterClrMapping/>
  </p:clrMapOvr>
</p:sld>
</file>

<file path=ppt/slides/slide2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SLIDE 239A · USE CASES 1–9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Top Gen AI Use Cases (1 of 3)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Final Section · Revision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288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3503066" cy="1402080"/>
          </a:xfrm>
          <a:prstGeom prst="roundRect">
            <a:avLst>
              <a:gd name="adj" fmla="val 5217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1682496"/>
            <a:ext cx="457200" cy="457200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1796796"/>
            <a:ext cx="228600" cy="22860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499616" y="1682496"/>
            <a:ext cx="229605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1. Explain a topic</a:t>
            </a:r>
            <a:endParaRPr lang="en-US" sz="1450" dirty="0"/>
          </a:p>
        </p:txBody>
      </p:sp>
      <p:sp>
        <p:nvSpPr>
          <p:cNvPr id="10" name="Text 7"/>
          <p:cNvSpPr txBox="1"/>
          <p:nvPr/>
        </p:nvSpPr>
        <p:spPr>
          <a:xfrm>
            <a:off x="841248" y="2286000"/>
            <a:ext cx="2954426" cy="4145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Re-explained at your exact level until it makes sense.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344314" y="1481328"/>
            <a:ext cx="3503066" cy="1402080"/>
          </a:xfrm>
          <a:prstGeom prst="roundRect">
            <a:avLst>
              <a:gd name="adj" fmla="val 5217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600346" y="1682496"/>
            <a:ext cx="457200" cy="457200"/>
          </a:xfrm>
          <a:prstGeom prst="ellipse">
            <a:avLst/>
          </a:prstGeom>
          <a:solidFill>
            <a:srgbClr val="22D3EE">
              <a:alpha val="16000"/>
            </a:srgbClr>
          </a:solidFill>
          <a:ln w="12700">
            <a:solidFill>
              <a:srgbClr val="22D3EE">
                <a:alpha val="45000"/>
              </a:srgbClr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4646" y="1796796"/>
            <a:ext cx="228600" cy="22860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5277002" y="1682496"/>
            <a:ext cx="229605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2. Practice questions</a:t>
            </a:r>
            <a:endParaRPr lang="en-US" sz="1450" dirty="0"/>
          </a:p>
        </p:txBody>
      </p:sp>
      <p:sp>
        <p:nvSpPr>
          <p:cNvPr id="15" name="Text 11"/>
          <p:cNvSpPr txBox="1"/>
          <p:nvPr/>
        </p:nvSpPr>
        <p:spPr>
          <a:xfrm>
            <a:off x="4618634" y="2286000"/>
            <a:ext cx="2954426" cy="4145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Generate exercises and self-test on any chapter.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8121701" y="1481328"/>
            <a:ext cx="3503066" cy="1402080"/>
          </a:xfrm>
          <a:prstGeom prst="roundRect">
            <a:avLst>
              <a:gd name="adj" fmla="val 5217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377733" y="1682496"/>
            <a:ext cx="457200" cy="457200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2033" y="1796796"/>
            <a:ext cx="228600" cy="22860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9054389" y="1682496"/>
            <a:ext cx="229605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3. Summarise documents</a:t>
            </a:r>
            <a:endParaRPr lang="en-US" sz="1450" dirty="0"/>
          </a:p>
        </p:txBody>
      </p:sp>
      <p:sp>
        <p:nvSpPr>
          <p:cNvPr id="20" name="Text 15"/>
          <p:cNvSpPr txBox="1"/>
          <p:nvPr/>
        </p:nvSpPr>
        <p:spPr>
          <a:xfrm>
            <a:off x="8396021" y="2286000"/>
            <a:ext cx="2954426" cy="4145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Long reports turned into key points in seconds.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566928" y="3157728"/>
            <a:ext cx="3503066" cy="1402080"/>
          </a:xfrm>
          <a:prstGeom prst="roundRect">
            <a:avLst>
              <a:gd name="adj" fmla="val 5217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822960" y="3358896"/>
            <a:ext cx="457200" cy="457200"/>
          </a:xfrm>
          <a:prstGeom prst="ellipse">
            <a:avLst/>
          </a:prstGeom>
          <a:solidFill>
            <a:srgbClr val="34D399">
              <a:alpha val="16000"/>
            </a:srgbClr>
          </a:solidFill>
          <a:ln w="12700">
            <a:solidFill>
              <a:srgbClr val="34D399">
                <a:alpha val="45000"/>
              </a:srgbClr>
            </a:solidFill>
            <a:prstDash val="solid"/>
          </a:ln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7260" y="3473196"/>
            <a:ext cx="228600" cy="228600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1499616" y="3358896"/>
            <a:ext cx="229605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4. Translate</a:t>
            </a:r>
            <a:endParaRPr lang="en-US" sz="1450" dirty="0"/>
          </a:p>
        </p:txBody>
      </p:sp>
      <p:sp>
        <p:nvSpPr>
          <p:cNvPr id="25" name="Text 19"/>
          <p:cNvSpPr txBox="1"/>
          <p:nvPr/>
        </p:nvSpPr>
        <p:spPr>
          <a:xfrm>
            <a:off x="841248" y="3962400"/>
            <a:ext cx="2954426" cy="4145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Draft translations with tone you can control.</a:t>
            </a:r>
            <a:endParaRPr lang="en-US" sz="1200" dirty="0"/>
          </a:p>
        </p:txBody>
      </p:sp>
      <p:sp>
        <p:nvSpPr>
          <p:cNvPr id="26" name="Shape 20"/>
          <p:cNvSpPr/>
          <p:nvPr/>
        </p:nvSpPr>
        <p:spPr>
          <a:xfrm>
            <a:off x="4344314" y="3157728"/>
            <a:ext cx="3503066" cy="1402080"/>
          </a:xfrm>
          <a:prstGeom prst="roundRect">
            <a:avLst>
              <a:gd name="adj" fmla="val 5217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4600346" y="3358896"/>
            <a:ext cx="457200" cy="457200"/>
          </a:xfrm>
          <a:prstGeom prst="ellipse">
            <a:avLst/>
          </a:prstGeom>
          <a:solidFill>
            <a:srgbClr val="F472B6">
              <a:alpha val="16000"/>
            </a:srgbClr>
          </a:solidFill>
          <a:ln w="12700">
            <a:solidFill>
              <a:srgbClr val="F472B6">
                <a:alpha val="45000"/>
              </a:srgbClr>
            </a:solidFill>
            <a:prstDash val="solid"/>
          </a:ln>
        </p:spPr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14646" y="3473196"/>
            <a:ext cx="228600" cy="228600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5277002" y="3358896"/>
            <a:ext cx="229605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5. Draft emails</a:t>
            </a:r>
            <a:endParaRPr lang="en-US" sz="1450" dirty="0"/>
          </a:p>
        </p:txBody>
      </p:sp>
      <p:sp>
        <p:nvSpPr>
          <p:cNvPr id="30" name="Text 23"/>
          <p:cNvSpPr txBox="1"/>
          <p:nvPr/>
        </p:nvSpPr>
        <p:spPr>
          <a:xfrm>
            <a:off x="4618634" y="3962400"/>
            <a:ext cx="2954426" cy="4145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Polite, clear first drafts you then edit.</a:t>
            </a:r>
            <a:endParaRPr lang="en-US" sz="1200" dirty="0"/>
          </a:p>
        </p:txBody>
      </p:sp>
      <p:sp>
        <p:nvSpPr>
          <p:cNvPr id="31" name="Shape 24"/>
          <p:cNvSpPr/>
          <p:nvPr/>
        </p:nvSpPr>
        <p:spPr>
          <a:xfrm>
            <a:off x="8121701" y="3157728"/>
            <a:ext cx="3503066" cy="1402080"/>
          </a:xfrm>
          <a:prstGeom prst="roundRect">
            <a:avLst>
              <a:gd name="adj" fmla="val 5217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8377733" y="3358896"/>
            <a:ext cx="457200" cy="457200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33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92033" y="3473196"/>
            <a:ext cx="228600" cy="228600"/>
          </a:xfrm>
          <a:prstGeom prst="rect">
            <a:avLst/>
          </a:prstGeom>
        </p:spPr>
      </p:pic>
      <p:sp>
        <p:nvSpPr>
          <p:cNvPr id="34" name="Text 26"/>
          <p:cNvSpPr txBox="1"/>
          <p:nvPr/>
        </p:nvSpPr>
        <p:spPr>
          <a:xfrm>
            <a:off x="9054389" y="3358896"/>
            <a:ext cx="229605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6. Analyse feedback</a:t>
            </a:r>
            <a:endParaRPr lang="en-US" sz="1450" dirty="0"/>
          </a:p>
        </p:txBody>
      </p:sp>
      <p:sp>
        <p:nvSpPr>
          <p:cNvPr id="35" name="Text 27"/>
          <p:cNvSpPr txBox="1"/>
          <p:nvPr/>
        </p:nvSpPr>
        <p:spPr>
          <a:xfrm>
            <a:off x="8396021" y="3962400"/>
            <a:ext cx="2954426" cy="4145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Group hundreds of comments into clear themes.</a:t>
            </a:r>
            <a:endParaRPr lang="en-US" sz="1200" dirty="0"/>
          </a:p>
        </p:txBody>
      </p:sp>
      <p:sp>
        <p:nvSpPr>
          <p:cNvPr id="36" name="Shape 28"/>
          <p:cNvSpPr/>
          <p:nvPr/>
        </p:nvSpPr>
        <p:spPr>
          <a:xfrm>
            <a:off x="566928" y="4834128"/>
            <a:ext cx="3503066" cy="1402080"/>
          </a:xfrm>
          <a:prstGeom prst="roundRect">
            <a:avLst>
              <a:gd name="adj" fmla="val 5217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37" name="Shape 29"/>
          <p:cNvSpPr/>
          <p:nvPr/>
        </p:nvSpPr>
        <p:spPr>
          <a:xfrm>
            <a:off x="822960" y="5035296"/>
            <a:ext cx="457200" cy="457200"/>
          </a:xfrm>
          <a:prstGeom prst="ellipse">
            <a:avLst/>
          </a:prstGeom>
          <a:solidFill>
            <a:srgbClr val="22D3EE">
              <a:alpha val="16000"/>
            </a:srgbClr>
          </a:solidFill>
          <a:ln w="12700">
            <a:solidFill>
              <a:srgbClr val="22D3EE">
                <a:alpha val="45000"/>
              </a:srgbClr>
            </a:solidFill>
            <a:prstDash val="solid"/>
          </a:ln>
        </p:spPr>
      </p:sp>
      <p:pic>
        <p:nvPicPr>
          <p:cNvPr id="38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7260" y="5149596"/>
            <a:ext cx="228600" cy="228600"/>
          </a:xfrm>
          <a:prstGeom prst="rect">
            <a:avLst/>
          </a:prstGeom>
        </p:spPr>
      </p:pic>
      <p:sp>
        <p:nvSpPr>
          <p:cNvPr id="39" name="Text 30"/>
          <p:cNvSpPr txBox="1"/>
          <p:nvPr/>
        </p:nvSpPr>
        <p:spPr>
          <a:xfrm>
            <a:off x="1499616" y="5035296"/>
            <a:ext cx="229605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7. Write code</a:t>
            </a:r>
            <a:endParaRPr lang="en-US" sz="1450" dirty="0"/>
          </a:p>
        </p:txBody>
      </p:sp>
      <p:sp>
        <p:nvSpPr>
          <p:cNvPr id="40" name="Text 31"/>
          <p:cNvSpPr txBox="1"/>
          <p:nvPr/>
        </p:nvSpPr>
        <p:spPr>
          <a:xfrm>
            <a:off x="841248" y="5638800"/>
            <a:ext cx="2954426" cy="4145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Small functions, scripts and boilerplate.</a:t>
            </a:r>
            <a:endParaRPr lang="en-US" sz="1200" dirty="0"/>
          </a:p>
        </p:txBody>
      </p:sp>
      <p:sp>
        <p:nvSpPr>
          <p:cNvPr id="41" name="Shape 32"/>
          <p:cNvSpPr/>
          <p:nvPr/>
        </p:nvSpPr>
        <p:spPr>
          <a:xfrm>
            <a:off x="4344314" y="4834128"/>
            <a:ext cx="3503066" cy="1402080"/>
          </a:xfrm>
          <a:prstGeom prst="roundRect">
            <a:avLst>
              <a:gd name="adj" fmla="val 5217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42" name="Shape 33"/>
          <p:cNvSpPr/>
          <p:nvPr/>
        </p:nvSpPr>
        <p:spPr>
          <a:xfrm>
            <a:off x="4600346" y="5035296"/>
            <a:ext cx="457200" cy="457200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43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14646" y="5149596"/>
            <a:ext cx="228600" cy="228600"/>
          </a:xfrm>
          <a:prstGeom prst="rect">
            <a:avLst/>
          </a:prstGeom>
        </p:spPr>
      </p:pic>
      <p:sp>
        <p:nvSpPr>
          <p:cNvPr id="44" name="Text 34"/>
          <p:cNvSpPr txBox="1"/>
          <p:nvPr/>
        </p:nvSpPr>
        <p:spPr>
          <a:xfrm>
            <a:off x="5277002" y="5035296"/>
            <a:ext cx="229605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8. Explain errors</a:t>
            </a:r>
            <a:endParaRPr lang="en-US" sz="1450" dirty="0"/>
          </a:p>
        </p:txBody>
      </p:sp>
      <p:sp>
        <p:nvSpPr>
          <p:cNvPr id="45" name="Text 35"/>
          <p:cNvSpPr txBox="1"/>
          <p:nvPr/>
        </p:nvSpPr>
        <p:spPr>
          <a:xfrm>
            <a:off x="4618634" y="5638800"/>
            <a:ext cx="2954426" cy="4145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Understand a traceback and possible causes.</a:t>
            </a:r>
            <a:endParaRPr lang="en-US" sz="1200" dirty="0"/>
          </a:p>
        </p:txBody>
      </p:sp>
      <p:sp>
        <p:nvSpPr>
          <p:cNvPr id="46" name="Shape 36"/>
          <p:cNvSpPr/>
          <p:nvPr/>
        </p:nvSpPr>
        <p:spPr>
          <a:xfrm>
            <a:off x="8121701" y="4834128"/>
            <a:ext cx="3503066" cy="1402080"/>
          </a:xfrm>
          <a:prstGeom prst="roundRect">
            <a:avLst>
              <a:gd name="adj" fmla="val 5217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47" name="Shape 37"/>
          <p:cNvSpPr/>
          <p:nvPr/>
        </p:nvSpPr>
        <p:spPr>
          <a:xfrm>
            <a:off x="8377733" y="5035296"/>
            <a:ext cx="457200" cy="457200"/>
          </a:xfrm>
          <a:prstGeom prst="ellipse">
            <a:avLst/>
          </a:prstGeom>
          <a:solidFill>
            <a:srgbClr val="34D399">
              <a:alpha val="16000"/>
            </a:srgbClr>
          </a:solidFill>
          <a:ln w="12700">
            <a:solidFill>
              <a:srgbClr val="34D399">
                <a:alpha val="45000"/>
              </a:srgbClr>
            </a:solidFill>
            <a:prstDash val="solid"/>
          </a:ln>
        </p:spPr>
      </p:sp>
      <p:pic>
        <p:nvPicPr>
          <p:cNvPr id="48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92033" y="5149596"/>
            <a:ext cx="228600" cy="228600"/>
          </a:xfrm>
          <a:prstGeom prst="rect">
            <a:avLst/>
          </a:prstGeom>
        </p:spPr>
      </p:pic>
      <p:sp>
        <p:nvSpPr>
          <p:cNvPr id="49" name="Text 38"/>
          <p:cNvSpPr txBox="1"/>
          <p:nvPr/>
        </p:nvSpPr>
        <p:spPr>
          <a:xfrm>
            <a:off x="9054389" y="5035296"/>
            <a:ext cx="229605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9. Understand old code</a:t>
            </a:r>
            <a:endParaRPr lang="en-US" sz="1450" dirty="0"/>
          </a:p>
        </p:txBody>
      </p:sp>
      <p:sp>
        <p:nvSpPr>
          <p:cNvPr id="50" name="Text 39"/>
          <p:cNvSpPr txBox="1"/>
          <p:nvPr/>
        </p:nvSpPr>
        <p:spPr>
          <a:xfrm>
            <a:off x="8396021" y="5638800"/>
            <a:ext cx="2954426" cy="4145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Line-by-line explanation of unfamiliar code.</a:t>
            </a:r>
            <a:endParaRPr lang="en-US" sz="1200" dirty="0"/>
          </a:p>
        </p:txBody>
      </p:sp>
    </p:spTree>
  </p:cSld>
  <p:clrMapOvr>
    <a:masterClrMapping/>
  </p:clrMapOvr>
</p:sld>
</file>

<file path=ppt/slides/slide2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SLIDE 239B · USE CASES 10–18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Top Gen AI Use Cases (2 of 3)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Final Section · Revision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289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3503066" cy="1402080"/>
          </a:xfrm>
          <a:prstGeom prst="roundRect">
            <a:avLst>
              <a:gd name="adj" fmla="val 5217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1682496"/>
            <a:ext cx="457200" cy="457200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1796796"/>
            <a:ext cx="228600" cy="22860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499616" y="1682496"/>
            <a:ext cx="229605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10. Marketing drafts</a:t>
            </a:r>
            <a:endParaRPr lang="en-US" sz="1450" dirty="0"/>
          </a:p>
        </p:txBody>
      </p:sp>
      <p:sp>
        <p:nvSpPr>
          <p:cNvPr id="10" name="Text 7"/>
          <p:cNvSpPr txBox="1"/>
          <p:nvPr/>
        </p:nvSpPr>
        <p:spPr>
          <a:xfrm>
            <a:off x="841248" y="2286000"/>
            <a:ext cx="2954426" cy="4145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Social posts, headlines and campaign ideas.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344314" y="1481328"/>
            <a:ext cx="3503066" cy="1402080"/>
          </a:xfrm>
          <a:prstGeom prst="roundRect">
            <a:avLst>
              <a:gd name="adj" fmla="val 5217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600346" y="1682496"/>
            <a:ext cx="457200" cy="457200"/>
          </a:xfrm>
          <a:prstGeom prst="ellipse">
            <a:avLst/>
          </a:prstGeom>
          <a:solidFill>
            <a:srgbClr val="22D3EE">
              <a:alpha val="16000"/>
            </a:srgbClr>
          </a:solidFill>
          <a:ln w="12700">
            <a:solidFill>
              <a:srgbClr val="22D3EE">
                <a:alpha val="45000"/>
              </a:srgbClr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4646" y="1796796"/>
            <a:ext cx="228600" cy="22860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5277002" y="1682496"/>
            <a:ext cx="229605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11. Support replies</a:t>
            </a:r>
            <a:endParaRPr lang="en-US" sz="1450" dirty="0"/>
          </a:p>
        </p:txBody>
      </p:sp>
      <p:sp>
        <p:nvSpPr>
          <p:cNvPr id="15" name="Text 11"/>
          <p:cNvSpPr txBox="1"/>
          <p:nvPr/>
        </p:nvSpPr>
        <p:spPr>
          <a:xfrm>
            <a:off x="4618634" y="2286000"/>
            <a:ext cx="2954426" cy="4145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Drafted from documentation, approved by an agent.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8121701" y="1481328"/>
            <a:ext cx="3503066" cy="1402080"/>
          </a:xfrm>
          <a:prstGeom prst="roundRect">
            <a:avLst>
              <a:gd name="adj" fmla="val 5217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377733" y="1682496"/>
            <a:ext cx="457200" cy="457200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2033" y="1796796"/>
            <a:ext cx="228600" cy="22860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9054389" y="1682496"/>
            <a:ext cx="229605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12. Structure messy data</a:t>
            </a:r>
            <a:endParaRPr lang="en-US" sz="1450" dirty="0"/>
          </a:p>
        </p:txBody>
      </p:sp>
      <p:sp>
        <p:nvSpPr>
          <p:cNvPr id="20" name="Text 15"/>
          <p:cNvSpPr txBox="1"/>
          <p:nvPr/>
        </p:nvSpPr>
        <p:spPr>
          <a:xfrm>
            <a:off x="8396021" y="2286000"/>
            <a:ext cx="2954426" cy="4145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Notes turned into clean tables and lists.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566928" y="3157728"/>
            <a:ext cx="3503066" cy="1402080"/>
          </a:xfrm>
          <a:prstGeom prst="roundRect">
            <a:avLst>
              <a:gd name="adj" fmla="val 5217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822960" y="3358896"/>
            <a:ext cx="457200" cy="457200"/>
          </a:xfrm>
          <a:prstGeom prst="ellipse">
            <a:avLst/>
          </a:prstGeom>
          <a:solidFill>
            <a:srgbClr val="34D399">
              <a:alpha val="16000"/>
            </a:srgbClr>
          </a:solidFill>
          <a:ln w="12700">
            <a:solidFill>
              <a:srgbClr val="34D399">
                <a:alpha val="45000"/>
              </a:srgbClr>
            </a:solidFill>
            <a:prstDash val="solid"/>
          </a:ln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7260" y="3473196"/>
            <a:ext cx="228600" cy="228600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1499616" y="3358896"/>
            <a:ext cx="229605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13. Spreadsheet help</a:t>
            </a:r>
            <a:endParaRPr lang="en-US" sz="1450" dirty="0"/>
          </a:p>
        </p:txBody>
      </p:sp>
      <p:sp>
        <p:nvSpPr>
          <p:cNvPr id="25" name="Text 19"/>
          <p:cNvSpPr txBox="1"/>
          <p:nvPr/>
        </p:nvSpPr>
        <p:spPr>
          <a:xfrm>
            <a:off x="841248" y="3962400"/>
            <a:ext cx="2954426" cy="4145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Write and explain formulas.</a:t>
            </a:r>
            <a:endParaRPr lang="en-US" sz="1200" dirty="0"/>
          </a:p>
        </p:txBody>
      </p:sp>
      <p:sp>
        <p:nvSpPr>
          <p:cNvPr id="26" name="Shape 20"/>
          <p:cNvSpPr/>
          <p:nvPr/>
        </p:nvSpPr>
        <p:spPr>
          <a:xfrm>
            <a:off x="4344314" y="3157728"/>
            <a:ext cx="3503066" cy="1402080"/>
          </a:xfrm>
          <a:prstGeom prst="roundRect">
            <a:avLst>
              <a:gd name="adj" fmla="val 5217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4600346" y="3358896"/>
            <a:ext cx="457200" cy="457200"/>
          </a:xfrm>
          <a:prstGeom prst="ellipse">
            <a:avLst/>
          </a:prstGeom>
          <a:solidFill>
            <a:srgbClr val="F472B6">
              <a:alpha val="16000"/>
            </a:srgbClr>
          </a:solidFill>
          <a:ln w="12700">
            <a:solidFill>
              <a:srgbClr val="F472B6">
                <a:alpha val="45000"/>
              </a:srgbClr>
            </a:solidFill>
            <a:prstDash val="solid"/>
          </a:ln>
        </p:spPr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14646" y="3473196"/>
            <a:ext cx="228600" cy="228600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5277002" y="3358896"/>
            <a:ext cx="229605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14. Meeting notes</a:t>
            </a:r>
            <a:endParaRPr lang="en-US" sz="1450" dirty="0"/>
          </a:p>
        </p:txBody>
      </p:sp>
      <p:sp>
        <p:nvSpPr>
          <p:cNvPr id="30" name="Text 23"/>
          <p:cNvSpPr txBox="1"/>
          <p:nvPr/>
        </p:nvSpPr>
        <p:spPr>
          <a:xfrm>
            <a:off x="4618634" y="3962400"/>
            <a:ext cx="2954426" cy="4145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Transcript into decisions, actions and owners.</a:t>
            </a:r>
            <a:endParaRPr lang="en-US" sz="1200" dirty="0"/>
          </a:p>
        </p:txBody>
      </p:sp>
      <p:sp>
        <p:nvSpPr>
          <p:cNvPr id="31" name="Shape 24"/>
          <p:cNvSpPr/>
          <p:nvPr/>
        </p:nvSpPr>
        <p:spPr>
          <a:xfrm>
            <a:off x="8121701" y="3157728"/>
            <a:ext cx="3503066" cy="1402080"/>
          </a:xfrm>
          <a:prstGeom prst="roundRect">
            <a:avLst>
              <a:gd name="adj" fmla="val 5217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8377733" y="3358896"/>
            <a:ext cx="457200" cy="457200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33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92033" y="3473196"/>
            <a:ext cx="228600" cy="228600"/>
          </a:xfrm>
          <a:prstGeom prst="rect">
            <a:avLst/>
          </a:prstGeom>
        </p:spPr>
      </p:pic>
      <p:sp>
        <p:nvSpPr>
          <p:cNvPr id="34" name="Text 26"/>
          <p:cNvSpPr txBox="1"/>
          <p:nvPr/>
        </p:nvSpPr>
        <p:spPr>
          <a:xfrm>
            <a:off x="9054389" y="3358896"/>
            <a:ext cx="229605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15. Generate images</a:t>
            </a:r>
            <a:endParaRPr lang="en-US" sz="1450" dirty="0"/>
          </a:p>
        </p:txBody>
      </p:sp>
      <p:sp>
        <p:nvSpPr>
          <p:cNvPr id="35" name="Text 27"/>
          <p:cNvSpPr txBox="1"/>
          <p:nvPr/>
        </p:nvSpPr>
        <p:spPr>
          <a:xfrm>
            <a:off x="8396021" y="3962400"/>
            <a:ext cx="2954426" cy="4145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Illustrations and concepts for presentations.</a:t>
            </a:r>
            <a:endParaRPr lang="en-US" sz="1200" dirty="0"/>
          </a:p>
        </p:txBody>
      </p:sp>
      <p:sp>
        <p:nvSpPr>
          <p:cNvPr id="36" name="Shape 28"/>
          <p:cNvSpPr/>
          <p:nvPr/>
        </p:nvSpPr>
        <p:spPr>
          <a:xfrm>
            <a:off x="566928" y="4834128"/>
            <a:ext cx="3503066" cy="1402080"/>
          </a:xfrm>
          <a:prstGeom prst="roundRect">
            <a:avLst>
              <a:gd name="adj" fmla="val 5217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37" name="Shape 29"/>
          <p:cNvSpPr/>
          <p:nvPr/>
        </p:nvSpPr>
        <p:spPr>
          <a:xfrm>
            <a:off x="822960" y="5035296"/>
            <a:ext cx="457200" cy="457200"/>
          </a:xfrm>
          <a:prstGeom prst="ellipse">
            <a:avLst/>
          </a:prstGeom>
          <a:solidFill>
            <a:srgbClr val="22D3EE">
              <a:alpha val="16000"/>
            </a:srgbClr>
          </a:solidFill>
          <a:ln w="12700">
            <a:solidFill>
              <a:srgbClr val="22D3EE">
                <a:alpha val="45000"/>
              </a:srgbClr>
            </a:solidFill>
            <a:prstDash val="solid"/>
          </a:ln>
        </p:spPr>
      </p:sp>
      <p:pic>
        <p:nvPicPr>
          <p:cNvPr id="38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7260" y="5149596"/>
            <a:ext cx="228600" cy="228600"/>
          </a:xfrm>
          <a:prstGeom prst="rect">
            <a:avLst/>
          </a:prstGeom>
        </p:spPr>
      </p:pic>
      <p:sp>
        <p:nvSpPr>
          <p:cNvPr id="39" name="Text 30"/>
          <p:cNvSpPr txBox="1"/>
          <p:nvPr/>
        </p:nvSpPr>
        <p:spPr>
          <a:xfrm>
            <a:off x="1499616" y="5035296"/>
            <a:ext cx="229605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16. Narration</a:t>
            </a:r>
            <a:endParaRPr lang="en-US" sz="1450" dirty="0"/>
          </a:p>
        </p:txBody>
      </p:sp>
      <p:sp>
        <p:nvSpPr>
          <p:cNvPr id="40" name="Text 31"/>
          <p:cNvSpPr txBox="1"/>
          <p:nvPr/>
        </p:nvSpPr>
        <p:spPr>
          <a:xfrm>
            <a:off x="841248" y="5638800"/>
            <a:ext cx="2954426" cy="4145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Text-to-speech for videos and accessibility.</a:t>
            </a:r>
            <a:endParaRPr lang="en-US" sz="1200" dirty="0"/>
          </a:p>
        </p:txBody>
      </p:sp>
      <p:sp>
        <p:nvSpPr>
          <p:cNvPr id="41" name="Shape 32"/>
          <p:cNvSpPr/>
          <p:nvPr/>
        </p:nvSpPr>
        <p:spPr>
          <a:xfrm>
            <a:off x="4344314" y="4834128"/>
            <a:ext cx="3503066" cy="1402080"/>
          </a:xfrm>
          <a:prstGeom prst="roundRect">
            <a:avLst>
              <a:gd name="adj" fmla="val 5217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42" name="Shape 33"/>
          <p:cNvSpPr/>
          <p:nvPr/>
        </p:nvSpPr>
        <p:spPr>
          <a:xfrm>
            <a:off x="4600346" y="5035296"/>
            <a:ext cx="457200" cy="457200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43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14646" y="5149596"/>
            <a:ext cx="228600" cy="228600"/>
          </a:xfrm>
          <a:prstGeom prst="rect">
            <a:avLst/>
          </a:prstGeom>
        </p:spPr>
      </p:pic>
      <p:sp>
        <p:nvSpPr>
          <p:cNvPr id="44" name="Text 34"/>
          <p:cNvSpPr txBox="1"/>
          <p:nvPr/>
        </p:nvSpPr>
        <p:spPr>
          <a:xfrm>
            <a:off x="5277002" y="5035296"/>
            <a:ext cx="229605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17. Video captions</a:t>
            </a:r>
            <a:endParaRPr lang="en-US" sz="1450" dirty="0"/>
          </a:p>
        </p:txBody>
      </p:sp>
      <p:sp>
        <p:nvSpPr>
          <p:cNvPr id="45" name="Text 35"/>
          <p:cNvSpPr txBox="1"/>
          <p:nvPr/>
        </p:nvSpPr>
        <p:spPr>
          <a:xfrm>
            <a:off x="4618634" y="5638800"/>
            <a:ext cx="2954426" cy="4145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Automatic subtitles and translations.</a:t>
            </a:r>
            <a:endParaRPr lang="en-US" sz="1200" dirty="0"/>
          </a:p>
        </p:txBody>
      </p:sp>
      <p:sp>
        <p:nvSpPr>
          <p:cNvPr id="46" name="Shape 36"/>
          <p:cNvSpPr/>
          <p:nvPr/>
        </p:nvSpPr>
        <p:spPr>
          <a:xfrm>
            <a:off x="8121701" y="4834128"/>
            <a:ext cx="3503066" cy="1402080"/>
          </a:xfrm>
          <a:prstGeom prst="roundRect">
            <a:avLst>
              <a:gd name="adj" fmla="val 5217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47" name="Shape 37"/>
          <p:cNvSpPr/>
          <p:nvPr/>
        </p:nvSpPr>
        <p:spPr>
          <a:xfrm>
            <a:off x="8377733" y="5035296"/>
            <a:ext cx="457200" cy="457200"/>
          </a:xfrm>
          <a:prstGeom prst="ellipse">
            <a:avLst/>
          </a:prstGeom>
          <a:solidFill>
            <a:srgbClr val="34D399">
              <a:alpha val="16000"/>
            </a:srgbClr>
          </a:solidFill>
          <a:ln w="12700">
            <a:solidFill>
              <a:srgbClr val="34D399">
                <a:alpha val="45000"/>
              </a:srgbClr>
            </a:solidFill>
            <a:prstDash val="solid"/>
          </a:ln>
        </p:spPr>
      </p:sp>
      <p:pic>
        <p:nvPicPr>
          <p:cNvPr id="48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92033" y="5149596"/>
            <a:ext cx="228600" cy="228600"/>
          </a:xfrm>
          <a:prstGeom prst="rect">
            <a:avLst/>
          </a:prstGeom>
        </p:spPr>
      </p:pic>
      <p:sp>
        <p:nvSpPr>
          <p:cNvPr id="49" name="Text 38"/>
          <p:cNvSpPr txBox="1"/>
          <p:nvPr/>
        </p:nvSpPr>
        <p:spPr>
          <a:xfrm>
            <a:off x="9054389" y="5035296"/>
            <a:ext cx="229605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18. Research organising</a:t>
            </a:r>
            <a:endParaRPr lang="en-US" sz="1450" dirty="0"/>
          </a:p>
        </p:txBody>
      </p:sp>
      <p:sp>
        <p:nvSpPr>
          <p:cNvPr id="50" name="Text 39"/>
          <p:cNvSpPr txBox="1"/>
          <p:nvPr/>
        </p:nvSpPr>
        <p:spPr>
          <a:xfrm>
            <a:off x="8396021" y="5638800"/>
            <a:ext cx="2954426" cy="4145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Summarise approved papers into comparison tables.</a:t>
            </a:r>
            <a:endParaRPr lang="en-US" sz="1200" dirty="0"/>
          </a:p>
        </p:txBody>
      </p:sp>
    </p:spTree>
  </p:cSld>
  <p:clrMapOvr>
    <a:masterClrMapping/>
  </p:clrMapOvr>
</p:sld>
</file>

<file path=ppt/slides/slide2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SLIDE 239C · USE CASES 19–25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Top Gen AI Use Cases (3 of 3)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Final Section · Revision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290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2558720" cy="2240280"/>
          </a:xfrm>
          <a:prstGeom prst="roundRect">
            <a:avLst>
              <a:gd name="adj" fmla="val 3265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1737360"/>
            <a:ext cx="566928" cy="566928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4692" y="1879092"/>
            <a:ext cx="283464" cy="283464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609344" y="1737360"/>
            <a:ext cx="1241984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19. Query your own docs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841248" y="2505456"/>
            <a:ext cx="2010080" cy="10332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RAG assistant over notes, policies or manuals.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3399968" y="1481328"/>
            <a:ext cx="2558720" cy="2240280"/>
          </a:xfrm>
          <a:prstGeom prst="roundRect">
            <a:avLst>
              <a:gd name="adj" fmla="val 3265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656000" y="1737360"/>
            <a:ext cx="566928" cy="566928"/>
          </a:xfrm>
          <a:prstGeom prst="ellipse">
            <a:avLst/>
          </a:prstGeom>
          <a:solidFill>
            <a:srgbClr val="22D3EE">
              <a:alpha val="16000"/>
            </a:srgbClr>
          </a:solidFill>
          <a:ln w="12700">
            <a:solidFill>
              <a:srgbClr val="22D3EE">
                <a:alpha val="45000"/>
              </a:srgbClr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7732" y="1879092"/>
            <a:ext cx="283464" cy="283464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4442384" y="1737360"/>
            <a:ext cx="1241984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20. Lesson planning</a:t>
            </a:r>
            <a:endParaRPr lang="en-US" sz="1600" dirty="0"/>
          </a:p>
        </p:txBody>
      </p:sp>
      <p:sp>
        <p:nvSpPr>
          <p:cNvPr id="15" name="Text 11"/>
          <p:cNvSpPr txBox="1"/>
          <p:nvPr/>
        </p:nvSpPr>
        <p:spPr>
          <a:xfrm>
            <a:off x="3674288" y="2505456"/>
            <a:ext cx="2010080" cy="10332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Outlines, rubrics and differentiated material.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233008" y="1481328"/>
            <a:ext cx="2558720" cy="2240280"/>
          </a:xfrm>
          <a:prstGeom prst="roundRect">
            <a:avLst>
              <a:gd name="adj" fmla="val 3265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89040" y="1737360"/>
            <a:ext cx="566928" cy="566928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0772" y="1879092"/>
            <a:ext cx="283464" cy="283464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7275424" y="1737360"/>
            <a:ext cx="1241984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21. Job applications</a:t>
            </a:r>
            <a:endParaRPr lang="en-US" sz="1600" dirty="0"/>
          </a:p>
        </p:txBody>
      </p:sp>
      <p:sp>
        <p:nvSpPr>
          <p:cNvPr id="20" name="Text 15"/>
          <p:cNvSpPr txBox="1"/>
          <p:nvPr/>
        </p:nvSpPr>
        <p:spPr>
          <a:xfrm>
            <a:off x="6507328" y="2505456"/>
            <a:ext cx="2010080" cy="10332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Tailor a CV and prepare interview answers.</a:t>
            </a:r>
            <a:endParaRPr lang="en-US" sz="1300" dirty="0"/>
          </a:p>
        </p:txBody>
      </p:sp>
      <p:sp>
        <p:nvSpPr>
          <p:cNvPr id="21" name="Shape 16"/>
          <p:cNvSpPr/>
          <p:nvPr/>
        </p:nvSpPr>
        <p:spPr>
          <a:xfrm>
            <a:off x="9066047" y="1481328"/>
            <a:ext cx="2558720" cy="2240280"/>
          </a:xfrm>
          <a:prstGeom prst="roundRect">
            <a:avLst>
              <a:gd name="adj" fmla="val 3265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9322079" y="1737360"/>
            <a:ext cx="566928" cy="566928"/>
          </a:xfrm>
          <a:prstGeom prst="ellipse">
            <a:avLst/>
          </a:prstGeom>
          <a:solidFill>
            <a:srgbClr val="34D399">
              <a:alpha val="16000"/>
            </a:srgbClr>
          </a:solidFill>
          <a:ln w="12700">
            <a:solidFill>
              <a:srgbClr val="34D399">
                <a:alpha val="45000"/>
              </a:srgbClr>
            </a:solidFill>
            <a:prstDash val="solid"/>
          </a:ln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63811" y="1879092"/>
            <a:ext cx="283464" cy="283464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10108463" y="1737360"/>
            <a:ext cx="1241984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22. Generate tests</a:t>
            </a:r>
            <a:endParaRPr lang="en-US" sz="1600" dirty="0"/>
          </a:p>
        </p:txBody>
      </p:sp>
      <p:sp>
        <p:nvSpPr>
          <p:cNvPr id="25" name="Text 19"/>
          <p:cNvSpPr txBox="1"/>
          <p:nvPr/>
        </p:nvSpPr>
        <p:spPr>
          <a:xfrm>
            <a:off x="9340367" y="2505456"/>
            <a:ext cx="2010080" cy="10332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Unit tests including edge cases.</a:t>
            </a:r>
            <a:endParaRPr lang="en-US" sz="1300" dirty="0"/>
          </a:p>
        </p:txBody>
      </p:sp>
      <p:sp>
        <p:nvSpPr>
          <p:cNvPr id="26" name="Shape 20"/>
          <p:cNvSpPr/>
          <p:nvPr/>
        </p:nvSpPr>
        <p:spPr>
          <a:xfrm>
            <a:off x="566928" y="3995928"/>
            <a:ext cx="2558720" cy="2240280"/>
          </a:xfrm>
          <a:prstGeom prst="roundRect">
            <a:avLst>
              <a:gd name="adj" fmla="val 3265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822960" y="4251960"/>
            <a:ext cx="566928" cy="566928"/>
          </a:xfrm>
          <a:prstGeom prst="ellipse">
            <a:avLst/>
          </a:prstGeom>
          <a:solidFill>
            <a:srgbClr val="F472B6">
              <a:alpha val="16000"/>
            </a:srgbClr>
          </a:solidFill>
          <a:ln w="12700">
            <a:solidFill>
              <a:srgbClr val="F472B6">
                <a:alpha val="45000"/>
              </a:srgbClr>
            </a:solidFill>
            <a:prstDash val="solid"/>
          </a:ln>
        </p:spPr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4692" y="4393692"/>
            <a:ext cx="283464" cy="283464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1609344" y="4251960"/>
            <a:ext cx="1241984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23. Proofreading</a:t>
            </a:r>
            <a:endParaRPr lang="en-US" sz="1600" dirty="0"/>
          </a:p>
        </p:txBody>
      </p:sp>
      <p:sp>
        <p:nvSpPr>
          <p:cNvPr id="30" name="Text 23"/>
          <p:cNvSpPr txBox="1"/>
          <p:nvPr/>
        </p:nvSpPr>
        <p:spPr>
          <a:xfrm>
            <a:off x="841248" y="5020056"/>
            <a:ext cx="2010080" cy="10332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Grammar and clarity feedback on your own writing.</a:t>
            </a:r>
            <a:endParaRPr lang="en-US" sz="1300" dirty="0"/>
          </a:p>
        </p:txBody>
      </p:sp>
      <p:sp>
        <p:nvSpPr>
          <p:cNvPr id="31" name="Shape 24"/>
          <p:cNvSpPr/>
          <p:nvPr/>
        </p:nvSpPr>
        <p:spPr>
          <a:xfrm>
            <a:off x="3399968" y="3995928"/>
            <a:ext cx="2558720" cy="2240280"/>
          </a:xfrm>
          <a:prstGeom prst="roundRect">
            <a:avLst>
              <a:gd name="adj" fmla="val 3265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3656000" y="4251960"/>
            <a:ext cx="566928" cy="566928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33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97732" y="4393692"/>
            <a:ext cx="283464" cy="283464"/>
          </a:xfrm>
          <a:prstGeom prst="rect">
            <a:avLst/>
          </a:prstGeom>
        </p:spPr>
      </p:pic>
      <p:sp>
        <p:nvSpPr>
          <p:cNvPr id="34" name="Text 26"/>
          <p:cNvSpPr txBox="1"/>
          <p:nvPr/>
        </p:nvSpPr>
        <p:spPr>
          <a:xfrm>
            <a:off x="4442384" y="4251960"/>
            <a:ext cx="1241984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24. Workflow automation</a:t>
            </a:r>
            <a:endParaRPr lang="en-US" sz="1600" dirty="0"/>
          </a:p>
        </p:txBody>
      </p:sp>
      <p:sp>
        <p:nvSpPr>
          <p:cNvPr id="35" name="Text 27"/>
          <p:cNvSpPr txBox="1"/>
          <p:nvPr/>
        </p:nvSpPr>
        <p:spPr>
          <a:xfrm>
            <a:off x="3674288" y="5020056"/>
            <a:ext cx="2010080" cy="10332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Classify and route incoming requests.</a:t>
            </a:r>
            <a:endParaRPr lang="en-US" sz="1300" dirty="0"/>
          </a:p>
        </p:txBody>
      </p:sp>
      <p:sp>
        <p:nvSpPr>
          <p:cNvPr id="36" name="Shape 28"/>
          <p:cNvSpPr/>
          <p:nvPr/>
        </p:nvSpPr>
        <p:spPr>
          <a:xfrm>
            <a:off x="6233008" y="3995928"/>
            <a:ext cx="2558720" cy="2240280"/>
          </a:xfrm>
          <a:prstGeom prst="roundRect">
            <a:avLst>
              <a:gd name="adj" fmla="val 3265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37" name="Shape 29"/>
          <p:cNvSpPr/>
          <p:nvPr/>
        </p:nvSpPr>
        <p:spPr>
          <a:xfrm>
            <a:off x="6489040" y="4251960"/>
            <a:ext cx="566928" cy="566928"/>
          </a:xfrm>
          <a:prstGeom prst="ellipse">
            <a:avLst/>
          </a:prstGeom>
          <a:solidFill>
            <a:srgbClr val="22D3EE">
              <a:alpha val="16000"/>
            </a:srgbClr>
          </a:solidFill>
          <a:ln w="12700">
            <a:solidFill>
              <a:srgbClr val="22D3EE">
                <a:alpha val="45000"/>
              </a:srgbClr>
            </a:solidFill>
            <a:prstDash val="solid"/>
          </a:ln>
        </p:spPr>
      </p:sp>
      <p:pic>
        <p:nvPicPr>
          <p:cNvPr id="38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30772" y="4393692"/>
            <a:ext cx="283464" cy="283464"/>
          </a:xfrm>
          <a:prstGeom prst="rect">
            <a:avLst/>
          </a:prstGeom>
        </p:spPr>
      </p:pic>
      <p:sp>
        <p:nvSpPr>
          <p:cNvPr id="39" name="Text 30"/>
          <p:cNvSpPr txBox="1"/>
          <p:nvPr/>
        </p:nvSpPr>
        <p:spPr>
          <a:xfrm>
            <a:off x="7275424" y="4251960"/>
            <a:ext cx="1241984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25. Brainstorming</a:t>
            </a:r>
            <a:endParaRPr lang="en-US" sz="1600" dirty="0"/>
          </a:p>
        </p:txBody>
      </p:sp>
      <p:sp>
        <p:nvSpPr>
          <p:cNvPr id="40" name="Text 31"/>
          <p:cNvSpPr txBox="1"/>
          <p:nvPr/>
        </p:nvSpPr>
        <p:spPr>
          <a:xfrm>
            <a:off x="6507328" y="5020056"/>
            <a:ext cx="2010080" cy="10332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Generate many options quickly, then choose.</a:t>
            </a:r>
            <a:endParaRPr lang="en-US" sz="1300" dirty="0"/>
          </a:p>
        </p:txBody>
      </p:sp>
    </p:spTree>
  </p:cSld>
  <p:clrMapOvr>
    <a:masterClrMapping/>
  </p:clrMapOvr>
</p:sld>
</file>

<file path=ppt/slides/slide2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SLIDE 240A · MISTAKES 1–9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Top Gen AI Mistakes to Avoid (1 of 3)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Final Section · Revision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291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3503066" cy="1402080"/>
          </a:xfrm>
          <a:prstGeom prst="roundRect">
            <a:avLst>
              <a:gd name="adj" fmla="val 5217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1682496"/>
            <a:ext cx="457200" cy="457200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1796796"/>
            <a:ext cx="228600" cy="22860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499616" y="1682496"/>
            <a:ext cx="229605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1. Vague prompts</a:t>
            </a:r>
            <a:endParaRPr lang="en-US" sz="1450" dirty="0"/>
          </a:p>
        </p:txBody>
      </p:sp>
      <p:sp>
        <p:nvSpPr>
          <p:cNvPr id="10" name="Text 7"/>
          <p:cNvSpPr txBox="1"/>
          <p:nvPr/>
        </p:nvSpPr>
        <p:spPr>
          <a:xfrm>
            <a:off x="841248" y="2286000"/>
            <a:ext cx="2954426" cy="4145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"Write something about X" gives a vague answer.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344314" y="1481328"/>
            <a:ext cx="3503066" cy="1402080"/>
          </a:xfrm>
          <a:prstGeom prst="roundRect">
            <a:avLst>
              <a:gd name="adj" fmla="val 5217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600346" y="1682496"/>
            <a:ext cx="457200" cy="457200"/>
          </a:xfrm>
          <a:prstGeom prst="ellipse">
            <a:avLst/>
          </a:prstGeom>
          <a:solidFill>
            <a:srgbClr val="22D3EE">
              <a:alpha val="16000"/>
            </a:srgbClr>
          </a:solidFill>
          <a:ln w="12700">
            <a:solidFill>
              <a:srgbClr val="22D3EE">
                <a:alpha val="45000"/>
              </a:srgbClr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4646" y="1796796"/>
            <a:ext cx="228600" cy="22860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5277002" y="1682496"/>
            <a:ext cx="229605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2. Trusting facts blindly</a:t>
            </a:r>
            <a:endParaRPr lang="en-US" sz="1450" dirty="0"/>
          </a:p>
        </p:txBody>
      </p:sp>
      <p:sp>
        <p:nvSpPr>
          <p:cNvPr id="15" name="Text 11"/>
          <p:cNvSpPr txBox="1"/>
          <p:nvPr/>
        </p:nvSpPr>
        <p:spPr>
          <a:xfrm>
            <a:off x="4618634" y="2286000"/>
            <a:ext cx="2954426" cy="4145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Confident tone is not evidence of accuracy.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8121701" y="1481328"/>
            <a:ext cx="3503066" cy="1402080"/>
          </a:xfrm>
          <a:prstGeom prst="roundRect">
            <a:avLst>
              <a:gd name="adj" fmla="val 5217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377733" y="1682496"/>
            <a:ext cx="457200" cy="457200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2033" y="1796796"/>
            <a:ext cx="228600" cy="22860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9054389" y="1682496"/>
            <a:ext cx="229605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3. Citing unchecked sources</a:t>
            </a:r>
            <a:endParaRPr lang="en-US" sz="1450" dirty="0"/>
          </a:p>
        </p:txBody>
      </p:sp>
      <p:sp>
        <p:nvSpPr>
          <p:cNvPr id="20" name="Text 15"/>
          <p:cNvSpPr txBox="1"/>
          <p:nvPr/>
        </p:nvSpPr>
        <p:spPr>
          <a:xfrm>
            <a:off x="8396021" y="2286000"/>
            <a:ext cx="2954426" cy="4145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References can be entirely invented.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566928" y="3157728"/>
            <a:ext cx="3503066" cy="1402080"/>
          </a:xfrm>
          <a:prstGeom prst="roundRect">
            <a:avLst>
              <a:gd name="adj" fmla="val 5217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822960" y="3358896"/>
            <a:ext cx="457200" cy="457200"/>
          </a:xfrm>
          <a:prstGeom prst="ellipse">
            <a:avLst/>
          </a:prstGeom>
          <a:solidFill>
            <a:srgbClr val="34D399">
              <a:alpha val="16000"/>
            </a:srgbClr>
          </a:solidFill>
          <a:ln w="12700">
            <a:solidFill>
              <a:srgbClr val="34D399">
                <a:alpha val="45000"/>
              </a:srgbClr>
            </a:solidFill>
            <a:prstDash val="solid"/>
          </a:ln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7260" y="3473196"/>
            <a:ext cx="228600" cy="228600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1499616" y="3358896"/>
            <a:ext cx="229605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4. Pasting private data</a:t>
            </a:r>
            <a:endParaRPr lang="en-US" sz="1450" dirty="0"/>
          </a:p>
        </p:txBody>
      </p:sp>
      <p:sp>
        <p:nvSpPr>
          <p:cNvPr id="25" name="Text 19"/>
          <p:cNvSpPr txBox="1"/>
          <p:nvPr/>
        </p:nvSpPr>
        <p:spPr>
          <a:xfrm>
            <a:off x="841248" y="3962400"/>
            <a:ext cx="2954426" cy="4145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Customer and personal data must stay out.</a:t>
            </a:r>
            <a:endParaRPr lang="en-US" sz="1200" dirty="0"/>
          </a:p>
        </p:txBody>
      </p:sp>
      <p:sp>
        <p:nvSpPr>
          <p:cNvPr id="26" name="Shape 20"/>
          <p:cNvSpPr/>
          <p:nvPr/>
        </p:nvSpPr>
        <p:spPr>
          <a:xfrm>
            <a:off x="4344314" y="3157728"/>
            <a:ext cx="3503066" cy="1402080"/>
          </a:xfrm>
          <a:prstGeom prst="roundRect">
            <a:avLst>
              <a:gd name="adj" fmla="val 5217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4600346" y="3358896"/>
            <a:ext cx="457200" cy="457200"/>
          </a:xfrm>
          <a:prstGeom prst="ellipse">
            <a:avLst/>
          </a:prstGeom>
          <a:solidFill>
            <a:srgbClr val="F472B6">
              <a:alpha val="16000"/>
            </a:srgbClr>
          </a:solidFill>
          <a:ln w="12700">
            <a:solidFill>
              <a:srgbClr val="F472B6">
                <a:alpha val="45000"/>
              </a:srgbClr>
            </a:solidFill>
            <a:prstDash val="solid"/>
          </a:ln>
        </p:spPr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14646" y="3473196"/>
            <a:ext cx="228600" cy="228600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5277002" y="3358896"/>
            <a:ext cx="229605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5. Relying on its arithmetic</a:t>
            </a:r>
            <a:endParaRPr lang="en-US" sz="1450" dirty="0"/>
          </a:p>
        </p:txBody>
      </p:sp>
      <p:sp>
        <p:nvSpPr>
          <p:cNvPr id="30" name="Text 23"/>
          <p:cNvSpPr txBox="1"/>
          <p:nvPr/>
        </p:nvSpPr>
        <p:spPr>
          <a:xfrm>
            <a:off x="4618634" y="3962400"/>
            <a:ext cx="2954426" cy="4145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 a spreadsheet or code for real numbers.</a:t>
            </a:r>
            <a:endParaRPr lang="en-US" sz="1200" dirty="0"/>
          </a:p>
        </p:txBody>
      </p:sp>
      <p:sp>
        <p:nvSpPr>
          <p:cNvPr id="31" name="Shape 24"/>
          <p:cNvSpPr/>
          <p:nvPr/>
        </p:nvSpPr>
        <p:spPr>
          <a:xfrm>
            <a:off x="8121701" y="3157728"/>
            <a:ext cx="3503066" cy="1402080"/>
          </a:xfrm>
          <a:prstGeom prst="roundRect">
            <a:avLst>
              <a:gd name="adj" fmla="val 5217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8377733" y="3358896"/>
            <a:ext cx="457200" cy="457200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33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92033" y="3473196"/>
            <a:ext cx="228600" cy="228600"/>
          </a:xfrm>
          <a:prstGeom prst="rect">
            <a:avLst/>
          </a:prstGeom>
        </p:spPr>
      </p:pic>
      <p:sp>
        <p:nvSpPr>
          <p:cNvPr id="34" name="Text 26"/>
          <p:cNvSpPr txBox="1"/>
          <p:nvPr/>
        </p:nvSpPr>
        <p:spPr>
          <a:xfrm>
            <a:off x="9054389" y="3358896"/>
            <a:ext cx="229605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6. Asking ten things at once</a:t>
            </a:r>
            <a:endParaRPr lang="en-US" sz="1450" dirty="0"/>
          </a:p>
        </p:txBody>
      </p:sp>
      <p:sp>
        <p:nvSpPr>
          <p:cNvPr id="35" name="Text 27"/>
          <p:cNvSpPr txBox="1"/>
          <p:nvPr/>
        </p:nvSpPr>
        <p:spPr>
          <a:xfrm>
            <a:off x="8396021" y="3962400"/>
            <a:ext cx="2954426" cy="4145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Every answer becomes shallow.</a:t>
            </a:r>
            <a:endParaRPr lang="en-US" sz="1200" dirty="0"/>
          </a:p>
        </p:txBody>
      </p:sp>
      <p:sp>
        <p:nvSpPr>
          <p:cNvPr id="36" name="Shape 28"/>
          <p:cNvSpPr/>
          <p:nvPr/>
        </p:nvSpPr>
        <p:spPr>
          <a:xfrm>
            <a:off x="566928" y="4834128"/>
            <a:ext cx="3503066" cy="1402080"/>
          </a:xfrm>
          <a:prstGeom prst="roundRect">
            <a:avLst>
              <a:gd name="adj" fmla="val 5217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37" name="Shape 29"/>
          <p:cNvSpPr/>
          <p:nvPr/>
        </p:nvSpPr>
        <p:spPr>
          <a:xfrm>
            <a:off x="822960" y="5035296"/>
            <a:ext cx="457200" cy="457200"/>
          </a:xfrm>
          <a:prstGeom prst="ellipse">
            <a:avLst/>
          </a:prstGeom>
          <a:solidFill>
            <a:srgbClr val="22D3EE">
              <a:alpha val="16000"/>
            </a:srgbClr>
          </a:solidFill>
          <a:ln w="12700">
            <a:solidFill>
              <a:srgbClr val="22D3EE">
                <a:alpha val="45000"/>
              </a:srgbClr>
            </a:solidFill>
            <a:prstDash val="solid"/>
          </a:ln>
        </p:spPr>
      </p:sp>
      <p:pic>
        <p:nvPicPr>
          <p:cNvPr id="38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7260" y="5149596"/>
            <a:ext cx="228600" cy="228600"/>
          </a:xfrm>
          <a:prstGeom prst="rect">
            <a:avLst/>
          </a:prstGeom>
        </p:spPr>
      </p:pic>
      <p:sp>
        <p:nvSpPr>
          <p:cNvPr id="39" name="Text 30"/>
          <p:cNvSpPr txBox="1"/>
          <p:nvPr/>
        </p:nvSpPr>
        <p:spPr>
          <a:xfrm>
            <a:off x="1499616" y="5035296"/>
            <a:ext cx="229605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7. Giving no context</a:t>
            </a:r>
            <a:endParaRPr lang="en-US" sz="1450" dirty="0"/>
          </a:p>
        </p:txBody>
      </p:sp>
      <p:sp>
        <p:nvSpPr>
          <p:cNvPr id="40" name="Text 31"/>
          <p:cNvSpPr txBox="1"/>
          <p:nvPr/>
        </p:nvSpPr>
        <p:spPr>
          <a:xfrm>
            <a:off x="841248" y="5638800"/>
            <a:ext cx="2954426" cy="4145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model cannot know your situation unless told.</a:t>
            </a:r>
            <a:endParaRPr lang="en-US" sz="1200" dirty="0"/>
          </a:p>
        </p:txBody>
      </p:sp>
      <p:sp>
        <p:nvSpPr>
          <p:cNvPr id="41" name="Shape 32"/>
          <p:cNvSpPr/>
          <p:nvPr/>
        </p:nvSpPr>
        <p:spPr>
          <a:xfrm>
            <a:off x="4344314" y="4834128"/>
            <a:ext cx="3503066" cy="1402080"/>
          </a:xfrm>
          <a:prstGeom prst="roundRect">
            <a:avLst>
              <a:gd name="adj" fmla="val 5217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42" name="Shape 33"/>
          <p:cNvSpPr/>
          <p:nvPr/>
        </p:nvSpPr>
        <p:spPr>
          <a:xfrm>
            <a:off x="4600346" y="5035296"/>
            <a:ext cx="457200" cy="457200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43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14646" y="5149596"/>
            <a:ext cx="228600" cy="228600"/>
          </a:xfrm>
          <a:prstGeom prst="rect">
            <a:avLst/>
          </a:prstGeom>
        </p:spPr>
      </p:pic>
      <p:sp>
        <p:nvSpPr>
          <p:cNvPr id="44" name="Text 34"/>
          <p:cNvSpPr txBox="1"/>
          <p:nvPr/>
        </p:nvSpPr>
        <p:spPr>
          <a:xfrm>
            <a:off x="5277002" y="5035296"/>
            <a:ext cx="229605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8. Accepting draft one</a:t>
            </a:r>
            <a:endParaRPr lang="en-US" sz="1450" dirty="0"/>
          </a:p>
        </p:txBody>
      </p:sp>
      <p:sp>
        <p:nvSpPr>
          <p:cNvPr id="45" name="Text 35"/>
          <p:cNvSpPr txBox="1"/>
          <p:nvPr/>
        </p:nvSpPr>
        <p:spPr>
          <a:xfrm>
            <a:off x="4618634" y="5638800"/>
            <a:ext cx="2954426" cy="4145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first answer is a starting point, not a result.</a:t>
            </a:r>
            <a:endParaRPr lang="en-US" sz="1200" dirty="0"/>
          </a:p>
        </p:txBody>
      </p:sp>
      <p:sp>
        <p:nvSpPr>
          <p:cNvPr id="46" name="Shape 36"/>
          <p:cNvSpPr/>
          <p:nvPr/>
        </p:nvSpPr>
        <p:spPr>
          <a:xfrm>
            <a:off x="8121701" y="4834128"/>
            <a:ext cx="3503066" cy="1402080"/>
          </a:xfrm>
          <a:prstGeom prst="roundRect">
            <a:avLst>
              <a:gd name="adj" fmla="val 5217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47" name="Shape 37"/>
          <p:cNvSpPr/>
          <p:nvPr/>
        </p:nvSpPr>
        <p:spPr>
          <a:xfrm>
            <a:off x="8377733" y="5035296"/>
            <a:ext cx="457200" cy="457200"/>
          </a:xfrm>
          <a:prstGeom prst="ellipse">
            <a:avLst/>
          </a:prstGeom>
          <a:solidFill>
            <a:srgbClr val="34D399">
              <a:alpha val="16000"/>
            </a:srgbClr>
          </a:solidFill>
          <a:ln w="12700">
            <a:solidFill>
              <a:srgbClr val="34D399">
                <a:alpha val="45000"/>
              </a:srgbClr>
            </a:solidFill>
            <a:prstDash val="solid"/>
          </a:ln>
        </p:spPr>
      </p:sp>
      <p:pic>
        <p:nvPicPr>
          <p:cNvPr id="48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92033" y="5149596"/>
            <a:ext cx="228600" cy="228600"/>
          </a:xfrm>
          <a:prstGeom prst="rect">
            <a:avLst/>
          </a:prstGeom>
        </p:spPr>
      </p:pic>
      <p:sp>
        <p:nvSpPr>
          <p:cNvPr id="49" name="Text 38"/>
          <p:cNvSpPr txBox="1"/>
          <p:nvPr/>
        </p:nvSpPr>
        <p:spPr>
          <a:xfrm>
            <a:off x="9054389" y="5035296"/>
            <a:ext cx="229605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9. Assuming current knowledge</a:t>
            </a:r>
            <a:endParaRPr lang="en-US" sz="1450" dirty="0"/>
          </a:p>
        </p:txBody>
      </p:sp>
      <p:sp>
        <p:nvSpPr>
          <p:cNvPr id="50" name="Text 39"/>
          <p:cNvSpPr txBox="1"/>
          <p:nvPr/>
        </p:nvSpPr>
        <p:spPr>
          <a:xfrm>
            <a:off x="8396021" y="5638800"/>
            <a:ext cx="2954426" cy="4145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Training data has a cut-off date.</a:t>
            </a:r>
            <a:endParaRPr lang="en-US" sz="1200" dirty="0"/>
          </a:p>
        </p:txBody>
      </p:sp>
    </p:spTree>
  </p:cSld>
  <p:clrMapOvr>
    <a:masterClrMapping/>
  </p:clrMapOvr>
</p:sld>
</file>

<file path=ppt/slides/slide2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SLIDE 240B · MISTAKES 10–18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Top Gen AI Mistakes to Avoid (2 of 3)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Final Section · Revision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292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3503066" cy="1402080"/>
          </a:xfrm>
          <a:prstGeom prst="roundRect">
            <a:avLst>
              <a:gd name="adj" fmla="val 5217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1682496"/>
            <a:ext cx="457200" cy="457200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1796796"/>
            <a:ext cx="228600" cy="22860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499616" y="1682496"/>
            <a:ext cx="229605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10. Using code you do not understand</a:t>
            </a:r>
            <a:endParaRPr lang="en-US" sz="1450" dirty="0"/>
          </a:p>
        </p:txBody>
      </p:sp>
      <p:sp>
        <p:nvSpPr>
          <p:cNvPr id="10" name="Text 7"/>
          <p:cNvSpPr txBox="1"/>
          <p:nvPr/>
        </p:nvSpPr>
        <p:spPr>
          <a:xfrm>
            <a:off x="841248" y="2286000"/>
            <a:ext cx="2954426" cy="4145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If you cannot explain it, do not ship it.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344314" y="1481328"/>
            <a:ext cx="3503066" cy="1402080"/>
          </a:xfrm>
          <a:prstGeom prst="roundRect">
            <a:avLst>
              <a:gd name="adj" fmla="val 5217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600346" y="1682496"/>
            <a:ext cx="457200" cy="457200"/>
          </a:xfrm>
          <a:prstGeom prst="ellipse">
            <a:avLst/>
          </a:prstGeom>
          <a:solidFill>
            <a:srgbClr val="22D3EE">
              <a:alpha val="16000"/>
            </a:srgbClr>
          </a:solidFill>
          <a:ln w="12700">
            <a:solidFill>
              <a:srgbClr val="22D3EE">
                <a:alpha val="45000"/>
              </a:srgbClr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4646" y="1796796"/>
            <a:ext cx="228600" cy="22860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5277002" y="1682496"/>
            <a:ext cx="229605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11. Skipping security review</a:t>
            </a:r>
            <a:endParaRPr lang="en-US" sz="1450" dirty="0"/>
          </a:p>
        </p:txBody>
      </p:sp>
      <p:sp>
        <p:nvSpPr>
          <p:cNvPr id="15" name="Text 11"/>
          <p:cNvSpPr txBox="1"/>
          <p:nvPr/>
        </p:nvSpPr>
        <p:spPr>
          <a:xfrm>
            <a:off x="4618634" y="2286000"/>
            <a:ext cx="2954426" cy="4145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Generated code can contain real weaknesses.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8121701" y="1481328"/>
            <a:ext cx="3503066" cy="1402080"/>
          </a:xfrm>
          <a:prstGeom prst="roundRect">
            <a:avLst>
              <a:gd name="adj" fmla="val 5217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377733" y="1682496"/>
            <a:ext cx="457200" cy="457200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2033" y="1796796"/>
            <a:ext cx="228600" cy="22860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9054389" y="1682496"/>
            <a:ext cx="229605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12. Publishing unedited output</a:t>
            </a:r>
            <a:endParaRPr lang="en-US" sz="1450" dirty="0"/>
          </a:p>
        </p:txBody>
      </p:sp>
      <p:sp>
        <p:nvSpPr>
          <p:cNvPr id="20" name="Text 15"/>
          <p:cNvSpPr txBox="1"/>
          <p:nvPr/>
        </p:nvSpPr>
        <p:spPr>
          <a:xfrm>
            <a:off x="8396021" y="2286000"/>
            <a:ext cx="2954426" cy="4145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It reads as generic and often contains errors.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566928" y="3157728"/>
            <a:ext cx="3503066" cy="1402080"/>
          </a:xfrm>
          <a:prstGeom prst="roundRect">
            <a:avLst>
              <a:gd name="adj" fmla="val 5217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822960" y="3358896"/>
            <a:ext cx="457200" cy="457200"/>
          </a:xfrm>
          <a:prstGeom prst="ellipse">
            <a:avLst/>
          </a:prstGeom>
          <a:solidFill>
            <a:srgbClr val="34D399">
              <a:alpha val="16000"/>
            </a:srgbClr>
          </a:solidFill>
          <a:ln w="12700">
            <a:solidFill>
              <a:srgbClr val="34D399">
                <a:alpha val="45000"/>
              </a:srgbClr>
            </a:solidFill>
            <a:prstDash val="solid"/>
          </a:ln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7260" y="3473196"/>
            <a:ext cx="228600" cy="228600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1499616" y="3358896"/>
            <a:ext cx="229605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13. Ignoring licence terms</a:t>
            </a:r>
            <a:endParaRPr lang="en-US" sz="1450" dirty="0"/>
          </a:p>
        </p:txBody>
      </p:sp>
      <p:sp>
        <p:nvSpPr>
          <p:cNvPr id="25" name="Text 19"/>
          <p:cNvSpPr txBox="1"/>
          <p:nvPr/>
        </p:nvSpPr>
        <p:spPr>
          <a:xfrm>
            <a:off x="841248" y="3962400"/>
            <a:ext cx="2954426" cy="4145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Commercial use rules differ between tools.</a:t>
            </a:r>
            <a:endParaRPr lang="en-US" sz="1200" dirty="0"/>
          </a:p>
        </p:txBody>
      </p:sp>
      <p:sp>
        <p:nvSpPr>
          <p:cNvPr id="26" name="Shape 20"/>
          <p:cNvSpPr/>
          <p:nvPr/>
        </p:nvSpPr>
        <p:spPr>
          <a:xfrm>
            <a:off x="4344314" y="3157728"/>
            <a:ext cx="3503066" cy="1402080"/>
          </a:xfrm>
          <a:prstGeom prst="roundRect">
            <a:avLst>
              <a:gd name="adj" fmla="val 5217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4600346" y="3358896"/>
            <a:ext cx="457200" cy="457200"/>
          </a:xfrm>
          <a:prstGeom prst="ellipse">
            <a:avLst/>
          </a:prstGeom>
          <a:solidFill>
            <a:srgbClr val="F472B6">
              <a:alpha val="16000"/>
            </a:srgbClr>
          </a:solidFill>
          <a:ln w="12700">
            <a:solidFill>
              <a:srgbClr val="F472B6">
                <a:alpha val="45000"/>
              </a:srgbClr>
            </a:solidFill>
            <a:prstDash val="solid"/>
          </a:ln>
        </p:spPr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14646" y="3473196"/>
            <a:ext cx="228600" cy="228600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5277002" y="3358896"/>
            <a:ext cx="229605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14. Impersonating people</a:t>
            </a:r>
            <a:endParaRPr lang="en-US" sz="1450" dirty="0"/>
          </a:p>
        </p:txBody>
      </p:sp>
      <p:sp>
        <p:nvSpPr>
          <p:cNvPr id="30" name="Text 23"/>
          <p:cNvSpPr txBox="1"/>
          <p:nvPr/>
        </p:nvSpPr>
        <p:spPr>
          <a:xfrm>
            <a:off x="4618634" y="3962400"/>
            <a:ext cx="2954426" cy="4145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Generating a real person voice or likeness without consent.</a:t>
            </a:r>
            <a:endParaRPr lang="en-US" sz="1200" dirty="0"/>
          </a:p>
        </p:txBody>
      </p:sp>
      <p:sp>
        <p:nvSpPr>
          <p:cNvPr id="31" name="Shape 24"/>
          <p:cNvSpPr/>
          <p:nvPr/>
        </p:nvSpPr>
        <p:spPr>
          <a:xfrm>
            <a:off x="8121701" y="3157728"/>
            <a:ext cx="3503066" cy="1402080"/>
          </a:xfrm>
          <a:prstGeom prst="roundRect">
            <a:avLst>
              <a:gd name="adj" fmla="val 5217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8377733" y="3358896"/>
            <a:ext cx="457200" cy="457200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33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92033" y="3473196"/>
            <a:ext cx="228600" cy="228600"/>
          </a:xfrm>
          <a:prstGeom prst="rect">
            <a:avLst/>
          </a:prstGeom>
        </p:spPr>
      </p:pic>
      <p:sp>
        <p:nvSpPr>
          <p:cNvPr id="34" name="Text 26"/>
          <p:cNvSpPr txBox="1"/>
          <p:nvPr/>
        </p:nvSpPr>
        <p:spPr>
          <a:xfrm>
            <a:off x="9054389" y="3358896"/>
            <a:ext cx="229605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15. Breaking academic rules</a:t>
            </a:r>
            <a:endParaRPr lang="en-US" sz="1450" dirty="0"/>
          </a:p>
        </p:txBody>
      </p:sp>
      <p:sp>
        <p:nvSpPr>
          <p:cNvPr id="35" name="Text 27"/>
          <p:cNvSpPr txBox="1"/>
          <p:nvPr/>
        </p:nvSpPr>
        <p:spPr>
          <a:xfrm>
            <a:off x="8396021" y="3962400"/>
            <a:ext cx="2954426" cy="4145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Submitting AI work as your own where it is not allowed.</a:t>
            </a:r>
            <a:endParaRPr lang="en-US" sz="1200" dirty="0"/>
          </a:p>
        </p:txBody>
      </p:sp>
      <p:sp>
        <p:nvSpPr>
          <p:cNvPr id="36" name="Shape 28"/>
          <p:cNvSpPr/>
          <p:nvPr/>
        </p:nvSpPr>
        <p:spPr>
          <a:xfrm>
            <a:off x="566928" y="4834128"/>
            <a:ext cx="3503066" cy="1402080"/>
          </a:xfrm>
          <a:prstGeom prst="roundRect">
            <a:avLst>
              <a:gd name="adj" fmla="val 5217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37" name="Shape 29"/>
          <p:cNvSpPr/>
          <p:nvPr/>
        </p:nvSpPr>
        <p:spPr>
          <a:xfrm>
            <a:off x="822960" y="5035296"/>
            <a:ext cx="457200" cy="457200"/>
          </a:xfrm>
          <a:prstGeom prst="ellipse">
            <a:avLst/>
          </a:prstGeom>
          <a:solidFill>
            <a:srgbClr val="22D3EE">
              <a:alpha val="16000"/>
            </a:srgbClr>
          </a:solidFill>
          <a:ln w="12700">
            <a:solidFill>
              <a:srgbClr val="22D3EE">
                <a:alpha val="45000"/>
              </a:srgbClr>
            </a:solidFill>
            <a:prstDash val="solid"/>
          </a:ln>
        </p:spPr>
      </p:sp>
      <p:pic>
        <p:nvPicPr>
          <p:cNvPr id="38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7260" y="5149596"/>
            <a:ext cx="228600" cy="228600"/>
          </a:xfrm>
          <a:prstGeom prst="rect">
            <a:avLst/>
          </a:prstGeom>
        </p:spPr>
      </p:pic>
      <p:sp>
        <p:nvSpPr>
          <p:cNvPr id="39" name="Text 30"/>
          <p:cNvSpPr txBox="1"/>
          <p:nvPr/>
        </p:nvSpPr>
        <p:spPr>
          <a:xfrm>
            <a:off x="1499616" y="5035296"/>
            <a:ext cx="229605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16. High-stakes decisions alone</a:t>
            </a:r>
            <a:endParaRPr lang="en-US" sz="1450" dirty="0"/>
          </a:p>
        </p:txBody>
      </p:sp>
      <p:sp>
        <p:nvSpPr>
          <p:cNvPr id="40" name="Text 31"/>
          <p:cNvSpPr txBox="1"/>
          <p:nvPr/>
        </p:nvSpPr>
        <p:spPr>
          <a:xfrm>
            <a:off x="841248" y="5638800"/>
            <a:ext cx="2954426" cy="4145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Medical, legal and financial need qualified review.</a:t>
            </a:r>
            <a:endParaRPr lang="en-US" sz="1200" dirty="0"/>
          </a:p>
        </p:txBody>
      </p:sp>
      <p:sp>
        <p:nvSpPr>
          <p:cNvPr id="41" name="Shape 32"/>
          <p:cNvSpPr/>
          <p:nvPr/>
        </p:nvSpPr>
        <p:spPr>
          <a:xfrm>
            <a:off x="4344314" y="4834128"/>
            <a:ext cx="3503066" cy="1402080"/>
          </a:xfrm>
          <a:prstGeom prst="roundRect">
            <a:avLst>
              <a:gd name="adj" fmla="val 5217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42" name="Shape 33"/>
          <p:cNvSpPr/>
          <p:nvPr/>
        </p:nvSpPr>
        <p:spPr>
          <a:xfrm>
            <a:off x="4600346" y="5035296"/>
            <a:ext cx="457200" cy="457200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43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14646" y="5149596"/>
            <a:ext cx="228600" cy="228600"/>
          </a:xfrm>
          <a:prstGeom prst="rect">
            <a:avLst/>
          </a:prstGeom>
        </p:spPr>
      </p:pic>
      <p:sp>
        <p:nvSpPr>
          <p:cNvPr id="44" name="Text 34"/>
          <p:cNvSpPr txBox="1"/>
          <p:nvPr/>
        </p:nvSpPr>
        <p:spPr>
          <a:xfrm>
            <a:off x="5277002" y="5035296"/>
            <a:ext cx="229605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17. Stopping thinking</a:t>
            </a:r>
            <a:endParaRPr lang="en-US" sz="1450" dirty="0"/>
          </a:p>
        </p:txBody>
      </p:sp>
      <p:sp>
        <p:nvSpPr>
          <p:cNvPr id="45" name="Text 35"/>
          <p:cNvSpPr txBox="1"/>
          <p:nvPr/>
        </p:nvSpPr>
        <p:spPr>
          <a:xfrm>
            <a:off x="4618634" y="5638800"/>
            <a:ext cx="2954426" cy="4145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Using AI instead of understanding weakens your skill.</a:t>
            </a:r>
            <a:endParaRPr lang="en-US" sz="1200" dirty="0"/>
          </a:p>
        </p:txBody>
      </p:sp>
      <p:sp>
        <p:nvSpPr>
          <p:cNvPr id="46" name="Shape 36"/>
          <p:cNvSpPr/>
          <p:nvPr/>
        </p:nvSpPr>
        <p:spPr>
          <a:xfrm>
            <a:off x="8121701" y="4834128"/>
            <a:ext cx="3503066" cy="1402080"/>
          </a:xfrm>
          <a:prstGeom prst="roundRect">
            <a:avLst>
              <a:gd name="adj" fmla="val 5217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47" name="Shape 37"/>
          <p:cNvSpPr/>
          <p:nvPr/>
        </p:nvSpPr>
        <p:spPr>
          <a:xfrm>
            <a:off x="8377733" y="5035296"/>
            <a:ext cx="457200" cy="457200"/>
          </a:xfrm>
          <a:prstGeom prst="ellipse">
            <a:avLst/>
          </a:prstGeom>
          <a:solidFill>
            <a:srgbClr val="34D399">
              <a:alpha val="16000"/>
            </a:srgbClr>
          </a:solidFill>
          <a:ln w="12700">
            <a:solidFill>
              <a:srgbClr val="34D399">
                <a:alpha val="45000"/>
              </a:srgbClr>
            </a:solidFill>
            <a:prstDash val="solid"/>
          </a:ln>
        </p:spPr>
      </p:sp>
      <p:pic>
        <p:nvPicPr>
          <p:cNvPr id="48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92033" y="5149596"/>
            <a:ext cx="228600" cy="228600"/>
          </a:xfrm>
          <a:prstGeom prst="rect">
            <a:avLst/>
          </a:prstGeom>
        </p:spPr>
      </p:pic>
      <p:sp>
        <p:nvSpPr>
          <p:cNvPr id="49" name="Text 38"/>
          <p:cNvSpPr txBox="1"/>
          <p:nvPr/>
        </p:nvSpPr>
        <p:spPr>
          <a:xfrm>
            <a:off x="9054389" y="5035296"/>
            <a:ext cx="229605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18. Ignoring context limits</a:t>
            </a:r>
            <a:endParaRPr lang="en-US" sz="1450" dirty="0"/>
          </a:p>
        </p:txBody>
      </p:sp>
      <p:sp>
        <p:nvSpPr>
          <p:cNvPr id="50" name="Text 39"/>
          <p:cNvSpPr txBox="1"/>
          <p:nvPr/>
        </p:nvSpPr>
        <p:spPr>
          <a:xfrm>
            <a:off x="8396021" y="5638800"/>
            <a:ext cx="2954426" cy="4145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Very long chats quietly lose earlier details.</a:t>
            </a:r>
            <a:endParaRPr lang="en-US" sz="1200" dirty="0"/>
          </a:p>
        </p:txBody>
      </p:sp>
    </p:spTree>
  </p:cSld>
  <p:clrMapOvr>
    <a:masterClrMapping/>
  </p:clrMapOvr>
</p:sld>
</file>

<file path=ppt/slides/slide2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SLIDE 240C · MISTAKES 19–25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Top Gen AI Mistakes to Avoid (3 of 3)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Final Section · Revision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293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2558720" cy="2240280"/>
          </a:xfrm>
          <a:prstGeom prst="roundRect">
            <a:avLst>
              <a:gd name="adj" fmla="val 3265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1737360"/>
            <a:ext cx="566928" cy="566928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4692" y="1879092"/>
            <a:ext cx="283464" cy="283464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609344" y="1737360"/>
            <a:ext cx="1241984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19. Chasing the "best" model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841248" y="2505456"/>
            <a:ext cx="2010080" cy="10332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Fit for your task matters more than a ranking.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3399968" y="1481328"/>
            <a:ext cx="2558720" cy="2240280"/>
          </a:xfrm>
          <a:prstGeom prst="roundRect">
            <a:avLst>
              <a:gd name="adj" fmla="val 3265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656000" y="1737360"/>
            <a:ext cx="566928" cy="566928"/>
          </a:xfrm>
          <a:prstGeom prst="ellipse">
            <a:avLst/>
          </a:prstGeom>
          <a:solidFill>
            <a:srgbClr val="22D3EE">
              <a:alpha val="16000"/>
            </a:srgbClr>
          </a:solidFill>
          <a:ln w="12700">
            <a:solidFill>
              <a:srgbClr val="22D3EE">
                <a:alpha val="45000"/>
              </a:srgbClr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7732" y="1879092"/>
            <a:ext cx="283464" cy="283464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4442384" y="1737360"/>
            <a:ext cx="1241984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20. Giving agents too much access</a:t>
            </a:r>
            <a:endParaRPr lang="en-US" sz="1600" dirty="0"/>
          </a:p>
        </p:txBody>
      </p:sp>
      <p:sp>
        <p:nvSpPr>
          <p:cNvPr id="15" name="Text 11"/>
          <p:cNvSpPr txBox="1"/>
          <p:nvPr/>
        </p:nvSpPr>
        <p:spPr>
          <a:xfrm>
            <a:off x="3674288" y="2505456"/>
            <a:ext cx="2010080" cy="10332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Least privilege applies to AI too.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233008" y="1481328"/>
            <a:ext cx="2558720" cy="2240280"/>
          </a:xfrm>
          <a:prstGeom prst="roundRect">
            <a:avLst>
              <a:gd name="adj" fmla="val 3265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89040" y="1737360"/>
            <a:ext cx="566928" cy="566928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0772" y="1879092"/>
            <a:ext cx="283464" cy="283464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7275424" y="1737360"/>
            <a:ext cx="1241984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21. Not logging AI use</a:t>
            </a:r>
            <a:endParaRPr lang="en-US" sz="1600" dirty="0"/>
          </a:p>
        </p:txBody>
      </p:sp>
      <p:sp>
        <p:nvSpPr>
          <p:cNvPr id="20" name="Text 15"/>
          <p:cNvSpPr txBox="1"/>
          <p:nvPr/>
        </p:nvSpPr>
        <p:spPr>
          <a:xfrm>
            <a:off x="6507328" y="2505456"/>
            <a:ext cx="2010080" cy="10332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You cannot review what you did not record.</a:t>
            </a:r>
            <a:endParaRPr lang="en-US" sz="1300" dirty="0"/>
          </a:p>
        </p:txBody>
      </p:sp>
      <p:sp>
        <p:nvSpPr>
          <p:cNvPr id="21" name="Shape 16"/>
          <p:cNvSpPr/>
          <p:nvPr/>
        </p:nvSpPr>
        <p:spPr>
          <a:xfrm>
            <a:off x="9066047" y="1481328"/>
            <a:ext cx="2558720" cy="2240280"/>
          </a:xfrm>
          <a:prstGeom prst="roundRect">
            <a:avLst>
              <a:gd name="adj" fmla="val 3265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9322079" y="1737360"/>
            <a:ext cx="566928" cy="566928"/>
          </a:xfrm>
          <a:prstGeom prst="ellipse">
            <a:avLst/>
          </a:prstGeom>
          <a:solidFill>
            <a:srgbClr val="34D399">
              <a:alpha val="16000"/>
            </a:srgbClr>
          </a:solidFill>
          <a:ln w="12700">
            <a:solidFill>
              <a:srgbClr val="34D399">
                <a:alpha val="45000"/>
              </a:srgbClr>
            </a:solidFill>
            <a:prstDash val="solid"/>
          </a:ln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63811" y="1879092"/>
            <a:ext cx="283464" cy="283464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10108463" y="1737360"/>
            <a:ext cx="1241984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22. No evaluation</a:t>
            </a:r>
            <a:endParaRPr lang="en-US" sz="1600" dirty="0"/>
          </a:p>
        </p:txBody>
      </p:sp>
      <p:sp>
        <p:nvSpPr>
          <p:cNvPr id="25" name="Text 19"/>
          <p:cNvSpPr txBox="1"/>
          <p:nvPr/>
        </p:nvSpPr>
        <p:spPr>
          <a:xfrm>
            <a:off x="9340367" y="2505456"/>
            <a:ext cx="2010080" cy="10332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Changing a prompt without testing breaks things silently.</a:t>
            </a:r>
            <a:endParaRPr lang="en-US" sz="1300" dirty="0"/>
          </a:p>
        </p:txBody>
      </p:sp>
      <p:sp>
        <p:nvSpPr>
          <p:cNvPr id="26" name="Shape 20"/>
          <p:cNvSpPr/>
          <p:nvPr/>
        </p:nvSpPr>
        <p:spPr>
          <a:xfrm>
            <a:off x="566928" y="3995928"/>
            <a:ext cx="2558720" cy="2240280"/>
          </a:xfrm>
          <a:prstGeom prst="roundRect">
            <a:avLst>
              <a:gd name="adj" fmla="val 3265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822960" y="4251960"/>
            <a:ext cx="566928" cy="566928"/>
          </a:xfrm>
          <a:prstGeom prst="ellipse">
            <a:avLst/>
          </a:prstGeom>
          <a:solidFill>
            <a:srgbClr val="F472B6">
              <a:alpha val="16000"/>
            </a:srgbClr>
          </a:solidFill>
          <a:ln w="12700">
            <a:solidFill>
              <a:srgbClr val="F472B6">
                <a:alpha val="45000"/>
              </a:srgbClr>
            </a:solidFill>
            <a:prstDash val="solid"/>
          </a:ln>
        </p:spPr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4692" y="4393692"/>
            <a:ext cx="283464" cy="283464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1609344" y="4251960"/>
            <a:ext cx="1241984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23. Hiding AI involvement</a:t>
            </a:r>
            <a:endParaRPr lang="en-US" sz="1600" dirty="0"/>
          </a:p>
        </p:txBody>
      </p:sp>
      <p:sp>
        <p:nvSpPr>
          <p:cNvPr id="30" name="Text 23"/>
          <p:cNvSpPr txBox="1"/>
          <p:nvPr/>
        </p:nvSpPr>
        <p:spPr>
          <a:xfrm>
            <a:off x="841248" y="5020056"/>
            <a:ext cx="2010080" cy="10332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Disclose where rules or honesty require it.</a:t>
            </a:r>
            <a:endParaRPr lang="en-US" sz="1300" dirty="0"/>
          </a:p>
        </p:txBody>
      </p:sp>
      <p:sp>
        <p:nvSpPr>
          <p:cNvPr id="31" name="Shape 24"/>
          <p:cNvSpPr/>
          <p:nvPr/>
        </p:nvSpPr>
        <p:spPr>
          <a:xfrm>
            <a:off x="3399968" y="3995928"/>
            <a:ext cx="2558720" cy="2240280"/>
          </a:xfrm>
          <a:prstGeom prst="roundRect">
            <a:avLst>
              <a:gd name="adj" fmla="val 3265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3656000" y="4251960"/>
            <a:ext cx="566928" cy="566928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33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97732" y="4393692"/>
            <a:ext cx="283464" cy="283464"/>
          </a:xfrm>
          <a:prstGeom prst="rect">
            <a:avLst/>
          </a:prstGeom>
        </p:spPr>
      </p:pic>
      <p:sp>
        <p:nvSpPr>
          <p:cNvPr id="34" name="Text 26"/>
          <p:cNvSpPr txBox="1"/>
          <p:nvPr/>
        </p:nvSpPr>
        <p:spPr>
          <a:xfrm>
            <a:off x="4442384" y="4251960"/>
            <a:ext cx="1241984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24. Poor source documents</a:t>
            </a:r>
            <a:endParaRPr lang="en-US" sz="1600" dirty="0"/>
          </a:p>
        </p:txBody>
      </p:sp>
      <p:sp>
        <p:nvSpPr>
          <p:cNvPr id="35" name="Text 27"/>
          <p:cNvSpPr txBox="1"/>
          <p:nvPr/>
        </p:nvSpPr>
        <p:spPr>
          <a:xfrm>
            <a:off x="3674288" y="5020056"/>
            <a:ext cx="2010080" cy="10332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RAG over messy documents gives messy answers.</a:t>
            </a:r>
            <a:endParaRPr lang="en-US" sz="1300" dirty="0"/>
          </a:p>
        </p:txBody>
      </p:sp>
      <p:sp>
        <p:nvSpPr>
          <p:cNvPr id="36" name="Shape 28"/>
          <p:cNvSpPr/>
          <p:nvPr/>
        </p:nvSpPr>
        <p:spPr>
          <a:xfrm>
            <a:off x="6233008" y="3995928"/>
            <a:ext cx="2558720" cy="2240280"/>
          </a:xfrm>
          <a:prstGeom prst="roundRect">
            <a:avLst>
              <a:gd name="adj" fmla="val 3265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37" name="Shape 29"/>
          <p:cNvSpPr/>
          <p:nvPr/>
        </p:nvSpPr>
        <p:spPr>
          <a:xfrm>
            <a:off x="6489040" y="4251960"/>
            <a:ext cx="566928" cy="566928"/>
          </a:xfrm>
          <a:prstGeom prst="ellipse">
            <a:avLst/>
          </a:prstGeom>
          <a:solidFill>
            <a:srgbClr val="22D3EE">
              <a:alpha val="16000"/>
            </a:srgbClr>
          </a:solidFill>
          <a:ln w="12700">
            <a:solidFill>
              <a:srgbClr val="22D3EE">
                <a:alpha val="45000"/>
              </a:srgbClr>
            </a:solidFill>
            <a:prstDash val="solid"/>
          </a:ln>
        </p:spPr>
      </p:sp>
      <p:pic>
        <p:nvPicPr>
          <p:cNvPr id="38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30772" y="4393692"/>
            <a:ext cx="283464" cy="283464"/>
          </a:xfrm>
          <a:prstGeom prst="rect">
            <a:avLst/>
          </a:prstGeom>
        </p:spPr>
      </p:pic>
      <p:sp>
        <p:nvSpPr>
          <p:cNvPr id="39" name="Text 30"/>
          <p:cNvSpPr txBox="1"/>
          <p:nvPr/>
        </p:nvSpPr>
        <p:spPr>
          <a:xfrm>
            <a:off x="7275424" y="4251960"/>
            <a:ext cx="1241984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25. Removing the human</a:t>
            </a:r>
            <a:endParaRPr lang="en-US" sz="1600" dirty="0"/>
          </a:p>
        </p:txBody>
      </p:sp>
      <p:sp>
        <p:nvSpPr>
          <p:cNvPr id="40" name="Text 31"/>
          <p:cNvSpPr txBox="1"/>
          <p:nvPr/>
        </p:nvSpPr>
        <p:spPr>
          <a:xfrm>
            <a:off x="6507328" y="5020056"/>
            <a:ext cx="2010080" cy="10332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Someone must stay accountable for the outcome.</a:t>
            </a:r>
            <a:endParaRPr lang="en-US" sz="1300" dirty="0"/>
          </a:p>
        </p:txBody>
      </p:sp>
    </p:spTree>
  </p:cSld>
  <p:clrMapOvr>
    <a:masterClrMapping/>
  </p:clrMapOvr>
</p:sld>
</file>

<file path=ppt/slides/slide2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SLIDE 241 · DO'S AND DON'TS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Generative AI Do's and Don'ts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Final Section · Revision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294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5364328" cy="3840480"/>
          </a:xfrm>
          <a:prstGeom prst="roundRect">
            <a:avLst>
              <a:gd name="adj" fmla="val 1905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41248" y="1737360"/>
            <a:ext cx="530352" cy="530352"/>
          </a:xfrm>
          <a:prstGeom prst="ellipse">
            <a:avLst/>
          </a:prstGeom>
          <a:solidFill>
            <a:srgbClr val="F472B6">
              <a:alpha val="16000"/>
            </a:srgbClr>
          </a:solidFill>
          <a:ln w="12700">
            <a:solidFill>
              <a:srgbClr val="F472B6">
                <a:alpha val="45000"/>
              </a:srgbClr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3836" y="1869948"/>
            <a:ext cx="265176" cy="265176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591056" y="1737360"/>
            <a:ext cx="4047592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472B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DON'T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877824" y="2505456"/>
            <a:ext cx="4742536" cy="261518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▪"/>
            </a:pPr>
            <a:r>
              <a:rPr lang="en-US" sz="135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Do not paste confidential or personal data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▪"/>
            </a:pPr>
            <a:r>
              <a:rPr lang="en-US" sz="135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Do not publish output without checking facts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▪"/>
            </a:pPr>
            <a:r>
              <a:rPr lang="en-US" sz="135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Do not cite a reference you have not opened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▪"/>
            </a:pPr>
            <a:r>
              <a:rPr lang="en-US" sz="135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Do not use AI alone for high-stakes decisions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▪"/>
            </a:pPr>
            <a:r>
              <a:rPr lang="en-US" sz="135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Do not use code you cannot explain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▪"/>
            </a:pPr>
            <a:r>
              <a:rPr lang="en-US" sz="135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Do not impersonate a real person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6260440" y="1481328"/>
            <a:ext cx="5364328" cy="3840480"/>
          </a:xfrm>
          <a:prstGeom prst="roundRect">
            <a:avLst>
              <a:gd name="adj" fmla="val 1905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534760" y="1737360"/>
            <a:ext cx="530352" cy="530352"/>
          </a:xfrm>
          <a:prstGeom prst="ellipse">
            <a:avLst/>
          </a:prstGeom>
          <a:solidFill>
            <a:srgbClr val="34D399">
              <a:alpha val="16000"/>
            </a:srgbClr>
          </a:solidFill>
          <a:ln w="12700">
            <a:solidFill>
              <a:srgbClr val="34D399">
                <a:alpha val="45000"/>
              </a:srgbClr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7348" y="1869948"/>
            <a:ext cx="265176" cy="265176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7284568" y="1737360"/>
            <a:ext cx="4047592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4D39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DO</a:t>
            </a:r>
            <a:endParaRPr lang="en-US" sz="1800" dirty="0"/>
          </a:p>
        </p:txBody>
      </p:sp>
      <p:sp>
        <p:nvSpPr>
          <p:cNvPr id="15" name="Text 11"/>
          <p:cNvSpPr txBox="1"/>
          <p:nvPr/>
        </p:nvSpPr>
        <p:spPr>
          <a:xfrm>
            <a:off x="6571336" y="2505456"/>
            <a:ext cx="4742536" cy="261518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▪"/>
            </a:pPr>
            <a:r>
              <a:rPr lang="en-US" sz="135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Do give role, context, constraints and format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▪"/>
            </a:pPr>
            <a:r>
              <a:rPr lang="en-US" sz="135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Do verify facts, numbers and citations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▪"/>
            </a:pPr>
            <a:r>
              <a:rPr lang="en-US" sz="135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Do use approved tools for sensitive work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▪"/>
            </a:pPr>
            <a:r>
              <a:rPr lang="en-US" sz="135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Do keep a human reviewing what matters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▪"/>
            </a:pPr>
            <a:r>
              <a:rPr lang="en-US" sz="135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Do build small projects to learn properly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500"/>
              </a:spcAft>
              <a:buSzPct val="100000"/>
              <a:buChar char="▪"/>
            </a:pPr>
            <a:r>
              <a:rPr lang="en-US" sz="135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Do disclose AI use where required</a:t>
            </a:r>
            <a:endParaRPr lang="en-US" sz="1350" dirty="0"/>
          </a:p>
        </p:txBody>
      </p:sp>
      <p:sp>
        <p:nvSpPr>
          <p:cNvPr id="16" name="Shape 12"/>
          <p:cNvSpPr/>
          <p:nvPr/>
        </p:nvSpPr>
        <p:spPr>
          <a:xfrm>
            <a:off x="566928" y="5458968"/>
            <a:ext cx="11057839" cy="777240"/>
          </a:xfrm>
          <a:prstGeom prst="roundRect">
            <a:avLst>
              <a:gd name="adj" fmla="val 9412"/>
            </a:avLst>
          </a:prstGeom>
          <a:solidFill>
            <a:srgbClr val="191640">
              <a:alpha val="96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7" name="Text 13"/>
          <p:cNvSpPr txBox="1"/>
          <p:nvPr/>
        </p:nvSpPr>
        <p:spPr>
          <a:xfrm>
            <a:off x="841248" y="5550408"/>
            <a:ext cx="10509199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22D3E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Key point:  </a:t>
            </a:r>
            <a:r>
              <a:rPr lang="en-US" sz="13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Three things to remember for life: protect data, verify what matters, keep a human accountable.</a:t>
            </a:r>
            <a:endParaRPr lang="en-US" sz="1300" dirty="0"/>
          </a:p>
        </p:txBody>
      </p:sp>
    </p:spTree>
  </p:cSld>
  <p:clrMapOvr>
    <a:masterClrMapping/>
  </p:clrMapOvr>
</p:sld>
</file>

<file path=ppt/slides/slide2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SLIDE 242 · PLAN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Your AI Learning Roadmap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Final Section · Revision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295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2387270" cy="1600200"/>
          </a:xfrm>
          <a:prstGeom prst="roundRect">
            <a:avLst>
              <a:gd name="adj" fmla="val 4571"/>
            </a:avLst>
          </a:prstGeom>
          <a:solidFill>
            <a:srgbClr val="191640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586827" y="1307592"/>
            <a:ext cx="347472" cy="347472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586827" y="1307592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0A1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94944" y="1755648"/>
            <a:ext cx="213123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A78BF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Step 1 · Use it daily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94944" y="2212848"/>
            <a:ext cx="2131238" cy="731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Practise prompting on real tasks for two weeks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045638" y="2162556"/>
            <a:ext cx="320040" cy="237744"/>
          </a:xfrm>
          <a:prstGeom prst="rightArrow">
            <a:avLst/>
          </a:prstGeom>
          <a:solidFill>
            <a:srgbClr val="22D3EE">
              <a:alpha val="70000"/>
            </a:srgbClr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57118" y="1481328"/>
            <a:ext cx="2387270" cy="1600200"/>
          </a:xfrm>
          <a:prstGeom prst="roundRect">
            <a:avLst>
              <a:gd name="adj" fmla="val 4571"/>
            </a:avLst>
          </a:prstGeom>
          <a:solidFill>
            <a:srgbClr val="191640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477017" y="1307592"/>
            <a:ext cx="347472" cy="34747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477017" y="1307592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0A1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3585134" y="1755648"/>
            <a:ext cx="213123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2D3E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Step 2 · Learn the basics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3585134" y="2212848"/>
            <a:ext cx="2131238" cy="731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AI, ML, deep learning and how LLMs work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935828" y="2162556"/>
            <a:ext cx="320040" cy="237744"/>
          </a:xfrm>
          <a:prstGeom prst="rightArrow">
            <a:avLst/>
          </a:prstGeom>
          <a:solidFill>
            <a:srgbClr val="22D3EE">
              <a:alpha val="70000"/>
            </a:srgbClr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347308" y="1481328"/>
            <a:ext cx="2387270" cy="1600200"/>
          </a:xfrm>
          <a:prstGeom prst="roundRect">
            <a:avLst>
              <a:gd name="adj" fmla="val 4571"/>
            </a:avLst>
          </a:prstGeom>
          <a:solidFill>
            <a:srgbClr val="191640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367207" y="1307592"/>
            <a:ext cx="347472" cy="347472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367207" y="1307592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0A1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6475324" y="1755648"/>
            <a:ext cx="213123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BBF2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Step 3 · Python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475324" y="2212848"/>
            <a:ext cx="2131238" cy="731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Enough to call an API and handle the reply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8826017" y="2162556"/>
            <a:ext cx="320040" cy="237744"/>
          </a:xfrm>
          <a:prstGeom prst="rightArrow">
            <a:avLst/>
          </a:prstGeom>
          <a:solidFill>
            <a:srgbClr val="22D3EE">
              <a:alpha val="70000"/>
            </a:srgbClr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237497" y="1481328"/>
            <a:ext cx="2387270" cy="1600200"/>
          </a:xfrm>
          <a:prstGeom prst="roundRect">
            <a:avLst>
              <a:gd name="adj" fmla="val 4571"/>
            </a:avLst>
          </a:prstGeom>
          <a:solidFill>
            <a:srgbClr val="191640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10257396" y="1307592"/>
            <a:ext cx="347472" cy="347472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10257396" y="1307592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0A1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4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9365513" y="1755648"/>
            <a:ext cx="213123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4D39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Step 4 · Build an app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9365513" y="2212848"/>
            <a:ext cx="2131238" cy="731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One small tool that uses a model API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2012023" y="3538728"/>
            <a:ext cx="2387270" cy="1600200"/>
          </a:xfrm>
          <a:prstGeom prst="roundRect">
            <a:avLst>
              <a:gd name="adj" fmla="val 4571"/>
            </a:avLst>
          </a:prstGeom>
          <a:solidFill>
            <a:srgbClr val="191640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031922" y="3364992"/>
            <a:ext cx="347472" cy="347472"/>
          </a:xfrm>
          <a:prstGeom prst="ellipse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3031922" y="3364992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0A1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5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2140039" y="3813048"/>
            <a:ext cx="213123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472B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Step 5 · Build RAG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2140039" y="4270248"/>
            <a:ext cx="2131238" cy="731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Index your own notes and query them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4490733" y="4219956"/>
            <a:ext cx="320040" cy="237744"/>
          </a:xfrm>
          <a:prstGeom prst="rightArrow">
            <a:avLst/>
          </a:prstGeom>
          <a:solidFill>
            <a:srgbClr val="22D3EE">
              <a:alpha val="70000"/>
            </a:srgbClr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902213" y="3538728"/>
            <a:ext cx="2387270" cy="1600200"/>
          </a:xfrm>
          <a:prstGeom prst="roundRect">
            <a:avLst>
              <a:gd name="adj" fmla="val 4571"/>
            </a:avLst>
          </a:prstGeom>
          <a:solidFill>
            <a:srgbClr val="191640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5922112" y="3364992"/>
            <a:ext cx="347472" cy="347472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5922112" y="3364992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0A1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6</a:t>
            </a:r>
            <a:endParaRPr lang="en-US" sz="1200" dirty="0"/>
          </a:p>
        </p:txBody>
      </p:sp>
      <p:sp>
        <p:nvSpPr>
          <p:cNvPr id="38" name="Text 36"/>
          <p:cNvSpPr txBox="1"/>
          <p:nvPr/>
        </p:nvSpPr>
        <p:spPr>
          <a:xfrm>
            <a:off x="5030229" y="3813048"/>
            <a:ext cx="213123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A78BF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Step 6 · Try agents</a:t>
            </a:r>
            <a:endParaRPr lang="en-US" sz="1400" dirty="0"/>
          </a:p>
        </p:txBody>
      </p:sp>
      <p:sp>
        <p:nvSpPr>
          <p:cNvPr id="39" name="Text 37"/>
          <p:cNvSpPr txBox="1"/>
          <p:nvPr/>
        </p:nvSpPr>
        <p:spPr>
          <a:xfrm>
            <a:off x="5030229" y="4270248"/>
            <a:ext cx="2131238" cy="731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Add tools, then add safety limits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7380923" y="4219956"/>
            <a:ext cx="320040" cy="237744"/>
          </a:xfrm>
          <a:prstGeom prst="rightArrow">
            <a:avLst/>
          </a:prstGeom>
          <a:solidFill>
            <a:srgbClr val="22D3EE">
              <a:alpha val="70000"/>
            </a:srgbClr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792403" y="3538728"/>
            <a:ext cx="2387270" cy="1600200"/>
          </a:xfrm>
          <a:prstGeom prst="roundRect">
            <a:avLst>
              <a:gd name="adj" fmla="val 4571"/>
            </a:avLst>
          </a:prstGeom>
          <a:solidFill>
            <a:srgbClr val="191640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8812301" y="3364992"/>
            <a:ext cx="347472" cy="34747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8812301" y="3364992"/>
            <a:ext cx="34747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0A1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7</a:t>
            </a:r>
            <a:endParaRPr lang="en-US" sz="1200" dirty="0"/>
          </a:p>
        </p:txBody>
      </p:sp>
      <p:sp>
        <p:nvSpPr>
          <p:cNvPr id="44" name="Text 42"/>
          <p:cNvSpPr txBox="1"/>
          <p:nvPr/>
        </p:nvSpPr>
        <p:spPr>
          <a:xfrm>
            <a:off x="7920419" y="3813048"/>
            <a:ext cx="213123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2D3EE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Step 7 · Specialise</a:t>
            </a:r>
            <a:endParaRPr lang="en-US" sz="1400" dirty="0"/>
          </a:p>
        </p:txBody>
      </p:sp>
      <p:sp>
        <p:nvSpPr>
          <p:cNvPr id="45" name="Text 43"/>
          <p:cNvSpPr txBox="1"/>
          <p:nvPr/>
        </p:nvSpPr>
        <p:spPr>
          <a:xfrm>
            <a:off x="7920419" y="4270248"/>
            <a:ext cx="2131238" cy="731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Pick a domain and go deep</a:t>
            </a:r>
            <a:endParaRPr lang="en-US" sz="1150" dirty="0"/>
          </a:p>
        </p:txBody>
      </p:sp>
      <p:sp>
        <p:nvSpPr>
          <p:cNvPr id="46" name="Shape 44"/>
          <p:cNvSpPr/>
          <p:nvPr/>
        </p:nvSpPr>
        <p:spPr>
          <a:xfrm>
            <a:off x="566928" y="5276088"/>
            <a:ext cx="11057839" cy="960120"/>
          </a:xfrm>
          <a:prstGeom prst="roundRect">
            <a:avLst>
              <a:gd name="adj" fmla="val 7619"/>
            </a:avLst>
          </a:prstGeom>
          <a:solidFill>
            <a:srgbClr val="191640">
              <a:alpha val="96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47" name="Text 45"/>
          <p:cNvSpPr txBox="1"/>
          <p:nvPr/>
        </p:nvSpPr>
        <p:spPr>
          <a:xfrm>
            <a:off x="841248" y="5385816"/>
            <a:ext cx="10509199" cy="7406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A78BF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Remember:  </a:t>
            </a:r>
            <a:r>
              <a:rPr lang="en-US" sz="13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One focused hour a day for six months will take you further than any single course, including this one.</a:t>
            </a:r>
            <a:endParaRPr lang="en-US" sz="1300" dirty="0"/>
          </a:p>
        </p:txBody>
      </p:sp>
    </p:spTree>
  </p:cSld>
  <p:clrMapOvr>
    <a:masterClrMapping/>
  </p:clrMapOvr>
</p:sld>
</file>

<file path=ppt/slides/slide2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SLIDE 243 · SUMMARY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Final Summary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Final Section · Revision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296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11057839" cy="877824"/>
          </a:xfrm>
          <a:prstGeom prst="roundRect">
            <a:avLst>
              <a:gd name="adj" fmla="val 8333"/>
            </a:avLst>
          </a:prstGeom>
          <a:solidFill>
            <a:srgbClr val="191640">
              <a:alpha val="96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6928" y="1627632"/>
            <a:ext cx="64008" cy="585216"/>
          </a:xfrm>
          <a:prstGeom prst="roundRect">
            <a:avLst>
              <a:gd name="adj" fmla="val 42857"/>
            </a:avLst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59536" y="1572768"/>
            <a:ext cx="10472623" cy="6949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DDD9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Generative AI creates new content by predicting patterns learned from enormous amounts of data.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66928" y="2615184"/>
            <a:ext cx="255872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22960" y="2816352"/>
            <a:ext cx="457200" cy="457200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2930652"/>
            <a:ext cx="228600" cy="22860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499616" y="2816352"/>
            <a:ext cx="135171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The hierarchy</a:t>
            </a:r>
            <a:endParaRPr lang="en-US" sz="1450" dirty="0"/>
          </a:p>
        </p:txBody>
      </p:sp>
      <p:sp>
        <p:nvSpPr>
          <p:cNvPr id="13" name="Text 10"/>
          <p:cNvSpPr txBox="1"/>
          <p:nvPr/>
        </p:nvSpPr>
        <p:spPr>
          <a:xfrm>
            <a:off x="841248" y="3419856"/>
            <a:ext cx="201008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 contains machine learning, which contains deep learning, which contains Generative AI.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3399968" y="2615184"/>
            <a:ext cx="255872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3656000" y="2816352"/>
            <a:ext cx="457200" cy="457200"/>
          </a:xfrm>
          <a:prstGeom prst="ellipse">
            <a:avLst/>
          </a:prstGeom>
          <a:solidFill>
            <a:srgbClr val="22D3EE">
              <a:alpha val="16000"/>
            </a:srgbClr>
          </a:solidFill>
          <a:ln w="12700">
            <a:solidFill>
              <a:srgbClr val="22D3EE">
                <a:alpha val="45000"/>
              </a:srgbClr>
            </a:solidFill>
            <a:prstDash val="solid"/>
          </a:ln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0300" y="2930652"/>
            <a:ext cx="228600" cy="22860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4332656" y="2816352"/>
            <a:ext cx="135171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The engine</a:t>
            </a:r>
            <a:endParaRPr lang="en-US" sz="1450" dirty="0"/>
          </a:p>
        </p:txBody>
      </p:sp>
      <p:sp>
        <p:nvSpPr>
          <p:cNvPr id="18" name="Text 14"/>
          <p:cNvSpPr txBox="1"/>
          <p:nvPr/>
        </p:nvSpPr>
        <p:spPr>
          <a:xfrm>
            <a:off x="3674288" y="3419856"/>
            <a:ext cx="201008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Transformers use attention to understand relationships between all parts of the input.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6233008" y="2615184"/>
            <a:ext cx="255872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6489040" y="2816352"/>
            <a:ext cx="457200" cy="457200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3340" y="2930652"/>
            <a:ext cx="228600" cy="22860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7165696" y="2816352"/>
            <a:ext cx="135171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How LLMs work</a:t>
            </a:r>
            <a:endParaRPr lang="en-US" sz="1450" dirty="0"/>
          </a:p>
        </p:txBody>
      </p:sp>
      <p:sp>
        <p:nvSpPr>
          <p:cNvPr id="23" name="Text 18"/>
          <p:cNvSpPr txBox="1"/>
          <p:nvPr/>
        </p:nvSpPr>
        <p:spPr>
          <a:xfrm>
            <a:off x="6507328" y="3419856"/>
            <a:ext cx="201008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They predict the next token, repeatedly, based on everything written so far.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9066047" y="2615184"/>
            <a:ext cx="255872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9322079" y="2816352"/>
            <a:ext cx="457200" cy="457200"/>
          </a:xfrm>
          <a:prstGeom prst="ellipse">
            <a:avLst/>
          </a:prstGeom>
          <a:solidFill>
            <a:srgbClr val="34D399">
              <a:alpha val="16000"/>
            </a:srgbClr>
          </a:solidFill>
          <a:ln w="12700">
            <a:solidFill>
              <a:srgbClr val="34D399">
                <a:alpha val="45000"/>
              </a:srgbClr>
            </a:solidFill>
            <a:prstDash val="solid"/>
          </a:ln>
        </p:spPr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36379" y="2930652"/>
            <a:ext cx="228600" cy="228600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9998735" y="2816352"/>
            <a:ext cx="135171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Prompting is the skill</a:t>
            </a:r>
            <a:endParaRPr lang="en-US" sz="1450" dirty="0"/>
          </a:p>
        </p:txBody>
      </p:sp>
      <p:sp>
        <p:nvSpPr>
          <p:cNvPr id="28" name="Text 22"/>
          <p:cNvSpPr txBox="1"/>
          <p:nvPr/>
        </p:nvSpPr>
        <p:spPr>
          <a:xfrm>
            <a:off x="9340367" y="3419856"/>
            <a:ext cx="201008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Role, task, context, constraints and format turn a weak answer into a useful one.</a:t>
            </a:r>
            <a:endParaRPr lang="en-US" sz="1200" dirty="0"/>
          </a:p>
        </p:txBody>
      </p:sp>
      <p:sp>
        <p:nvSpPr>
          <p:cNvPr id="29" name="Shape 23"/>
          <p:cNvSpPr/>
          <p:nvPr/>
        </p:nvSpPr>
        <p:spPr>
          <a:xfrm>
            <a:off x="566928" y="4530149"/>
            <a:ext cx="255872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822960" y="4731317"/>
            <a:ext cx="457200" cy="457200"/>
          </a:xfrm>
          <a:prstGeom prst="ellipse">
            <a:avLst/>
          </a:prstGeom>
          <a:solidFill>
            <a:srgbClr val="F472B6">
              <a:alpha val="16000"/>
            </a:srgbClr>
          </a:solidFill>
          <a:ln w="12700">
            <a:solidFill>
              <a:srgbClr val="F472B6">
                <a:alpha val="45000"/>
              </a:srgbClr>
            </a:solidFill>
            <a:prstDash val="solid"/>
          </a:ln>
        </p:spPr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7260" y="4845617"/>
            <a:ext cx="228600" cy="228600"/>
          </a:xfrm>
          <a:prstGeom prst="rect">
            <a:avLst/>
          </a:prstGeom>
        </p:spPr>
      </p:pic>
      <p:sp>
        <p:nvSpPr>
          <p:cNvPr id="32" name="Text 25"/>
          <p:cNvSpPr txBox="1"/>
          <p:nvPr/>
        </p:nvSpPr>
        <p:spPr>
          <a:xfrm>
            <a:off x="1499616" y="4731317"/>
            <a:ext cx="135171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RAG grounds it</a:t>
            </a:r>
            <a:endParaRPr lang="en-US" sz="1450" dirty="0"/>
          </a:p>
        </p:txBody>
      </p:sp>
      <p:sp>
        <p:nvSpPr>
          <p:cNvPr id="33" name="Text 26"/>
          <p:cNvSpPr txBox="1"/>
          <p:nvPr/>
        </p:nvSpPr>
        <p:spPr>
          <a:xfrm>
            <a:off x="841248" y="5334821"/>
            <a:ext cx="201008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Giving the model your own documents makes answers current, private and checkable.</a:t>
            </a:r>
            <a:endParaRPr lang="en-US" sz="1200" dirty="0"/>
          </a:p>
        </p:txBody>
      </p:sp>
      <p:sp>
        <p:nvSpPr>
          <p:cNvPr id="34" name="Shape 27"/>
          <p:cNvSpPr/>
          <p:nvPr/>
        </p:nvSpPr>
        <p:spPr>
          <a:xfrm>
            <a:off x="3399968" y="4530149"/>
            <a:ext cx="255872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35" name="Shape 28"/>
          <p:cNvSpPr/>
          <p:nvPr/>
        </p:nvSpPr>
        <p:spPr>
          <a:xfrm>
            <a:off x="3656000" y="4731317"/>
            <a:ext cx="457200" cy="457200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36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70300" y="4845617"/>
            <a:ext cx="228600" cy="228600"/>
          </a:xfrm>
          <a:prstGeom prst="rect">
            <a:avLst/>
          </a:prstGeom>
        </p:spPr>
      </p:pic>
      <p:sp>
        <p:nvSpPr>
          <p:cNvPr id="37" name="Text 29"/>
          <p:cNvSpPr txBox="1"/>
          <p:nvPr/>
        </p:nvSpPr>
        <p:spPr>
          <a:xfrm>
            <a:off x="4332656" y="4731317"/>
            <a:ext cx="135171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Agents act</a:t>
            </a:r>
            <a:endParaRPr lang="en-US" sz="1450" dirty="0"/>
          </a:p>
        </p:txBody>
      </p:sp>
      <p:sp>
        <p:nvSpPr>
          <p:cNvPr id="38" name="Text 30"/>
          <p:cNvSpPr txBox="1"/>
          <p:nvPr/>
        </p:nvSpPr>
        <p:spPr>
          <a:xfrm>
            <a:off x="3674288" y="5334821"/>
            <a:ext cx="201008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With tools and planning, AI moves from writing about work to completing work.</a:t>
            </a:r>
            <a:endParaRPr lang="en-US" sz="1200" dirty="0"/>
          </a:p>
        </p:txBody>
      </p:sp>
      <p:sp>
        <p:nvSpPr>
          <p:cNvPr id="39" name="Shape 31"/>
          <p:cNvSpPr/>
          <p:nvPr/>
        </p:nvSpPr>
        <p:spPr>
          <a:xfrm>
            <a:off x="6233008" y="4530149"/>
            <a:ext cx="255872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40" name="Shape 32"/>
          <p:cNvSpPr/>
          <p:nvPr/>
        </p:nvSpPr>
        <p:spPr>
          <a:xfrm>
            <a:off x="6489040" y="4731317"/>
            <a:ext cx="457200" cy="457200"/>
          </a:xfrm>
          <a:prstGeom prst="ellipse">
            <a:avLst/>
          </a:prstGeom>
          <a:solidFill>
            <a:srgbClr val="22D3EE">
              <a:alpha val="16000"/>
            </a:srgbClr>
          </a:solidFill>
          <a:ln w="12700">
            <a:solidFill>
              <a:srgbClr val="22D3EE">
                <a:alpha val="45000"/>
              </a:srgbClr>
            </a:solidFill>
            <a:prstDash val="solid"/>
          </a:ln>
        </p:spPr>
      </p:sp>
      <p:pic>
        <p:nvPicPr>
          <p:cNvPr id="41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03340" y="4845617"/>
            <a:ext cx="228600" cy="228600"/>
          </a:xfrm>
          <a:prstGeom prst="rect">
            <a:avLst/>
          </a:prstGeom>
        </p:spPr>
      </p:pic>
      <p:sp>
        <p:nvSpPr>
          <p:cNvPr id="42" name="Text 33"/>
          <p:cNvSpPr txBox="1"/>
          <p:nvPr/>
        </p:nvSpPr>
        <p:spPr>
          <a:xfrm>
            <a:off x="7165696" y="4731317"/>
            <a:ext cx="135171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It can be wrong</a:t>
            </a:r>
            <a:endParaRPr lang="en-US" sz="1450" dirty="0"/>
          </a:p>
        </p:txBody>
      </p:sp>
      <p:sp>
        <p:nvSpPr>
          <p:cNvPr id="43" name="Text 34"/>
          <p:cNvSpPr txBox="1"/>
          <p:nvPr/>
        </p:nvSpPr>
        <p:spPr>
          <a:xfrm>
            <a:off x="6507328" y="5334821"/>
            <a:ext cx="201008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Hallucination is built into how it works. Verify anything that matters.</a:t>
            </a:r>
            <a:endParaRPr lang="en-US" sz="1200" dirty="0"/>
          </a:p>
        </p:txBody>
      </p:sp>
      <p:sp>
        <p:nvSpPr>
          <p:cNvPr id="44" name="Shape 35"/>
          <p:cNvSpPr/>
          <p:nvPr/>
        </p:nvSpPr>
        <p:spPr>
          <a:xfrm>
            <a:off x="9066047" y="4530149"/>
            <a:ext cx="2558720" cy="1706059"/>
          </a:xfrm>
          <a:prstGeom prst="roundRect">
            <a:avLst>
              <a:gd name="adj" fmla="val 4288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45" name="Shape 36"/>
          <p:cNvSpPr/>
          <p:nvPr/>
        </p:nvSpPr>
        <p:spPr>
          <a:xfrm>
            <a:off x="9322079" y="4731317"/>
            <a:ext cx="457200" cy="457200"/>
          </a:xfrm>
          <a:prstGeom prst="ellipse">
            <a:avLst/>
          </a:prstGeom>
          <a:solidFill>
            <a:srgbClr val="FBBF24">
              <a:alpha val="16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pic>
        <p:nvPicPr>
          <p:cNvPr id="46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36379" y="4845617"/>
            <a:ext cx="228600" cy="228600"/>
          </a:xfrm>
          <a:prstGeom prst="rect">
            <a:avLst/>
          </a:prstGeom>
        </p:spPr>
      </p:pic>
      <p:sp>
        <p:nvSpPr>
          <p:cNvPr id="47" name="Text 37"/>
          <p:cNvSpPr txBox="1"/>
          <p:nvPr/>
        </p:nvSpPr>
        <p:spPr>
          <a:xfrm>
            <a:off x="9998735" y="4731317"/>
            <a:ext cx="135171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Humans stay responsible</a:t>
            </a:r>
            <a:endParaRPr lang="en-US" sz="1450" dirty="0"/>
          </a:p>
        </p:txBody>
      </p:sp>
      <p:sp>
        <p:nvSpPr>
          <p:cNvPr id="48" name="Text 38"/>
          <p:cNvSpPr txBox="1"/>
          <p:nvPr/>
        </p:nvSpPr>
        <p:spPr>
          <a:xfrm>
            <a:off x="9340367" y="5334821"/>
            <a:ext cx="2010080" cy="7185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 drafts and assists. People decide and remain accountable.</a:t>
            </a:r>
            <a:endParaRPr lang="en-US" sz="1200" dirty="0"/>
          </a:p>
        </p:txBody>
      </p:sp>
    </p:spTree>
  </p:cSld>
  <p:clrMapOvr>
    <a:masterClrMapping/>
  </p:clrMapOvr>
</p:sld>
</file>

<file path=ppt/slides/slide3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BBF2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SLIDE 244A · FINAL CHECK 1–5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Final Knowledge Check (Part 1)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Final Section · Revision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297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11057839" cy="848563"/>
          </a:xfrm>
          <a:prstGeom prst="roundRect">
            <a:avLst>
              <a:gd name="adj" fmla="val 8621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68096" y="1627632"/>
            <a:ext cx="310896" cy="310896"/>
          </a:xfrm>
          <a:prstGeom prst="ellipse">
            <a:avLst/>
          </a:prstGeom>
          <a:solidFill>
            <a:srgbClr val="FBBF24">
              <a:alpha val="22000"/>
            </a:srgbClr>
          </a:solidFill>
          <a:ln w="12700">
            <a:solidFill>
              <a:srgbClr val="FBBF24">
                <a:alpha val="5000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68096" y="1627632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BBF2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Q1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188720" y="1600200"/>
            <a:ext cx="8726119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Generative AI is different because it: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10207447" y="1618488"/>
            <a:ext cx="1371600" cy="347472"/>
          </a:xfrm>
          <a:prstGeom prst="roundRect">
            <a:avLst>
              <a:gd name="adj" fmla="val 15789"/>
            </a:avLst>
          </a:prstGeom>
          <a:solidFill>
            <a:srgbClr val="A78BFA">
              <a:alpha val="20000"/>
            </a:srgbClr>
          </a:solidFill>
          <a:ln w="12700">
            <a:solidFill>
              <a:srgbClr val="A78BFA">
                <a:alpha val="60000"/>
              </a:srgbClr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207447" y="1618488"/>
            <a:ext cx="13716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Answer: C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1115568" y="2011680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A. </a:t>
            </a:r>
            <a:r>
              <a:rPr lang="en-US" sz="11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Only sorts data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3674288" y="2011680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B. </a:t>
            </a:r>
            <a:r>
              <a:rPr lang="en-US" sz="11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Only stores files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6233008" y="2011680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C. </a:t>
            </a: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Creates new content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8791727" y="2011680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D. </a:t>
            </a:r>
            <a:r>
              <a:rPr lang="en-US" sz="11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Only counts numbers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66928" y="2457907"/>
            <a:ext cx="11057839" cy="848563"/>
          </a:xfrm>
          <a:prstGeom prst="roundRect">
            <a:avLst>
              <a:gd name="adj" fmla="val 8621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68096" y="2604211"/>
            <a:ext cx="310896" cy="310896"/>
          </a:xfrm>
          <a:prstGeom prst="ellipse">
            <a:avLst/>
          </a:prstGeom>
          <a:solidFill>
            <a:srgbClr val="FBBF24">
              <a:alpha val="22000"/>
            </a:srgbClr>
          </a:solidFill>
          <a:ln w="12700">
            <a:solidFill>
              <a:srgbClr val="FBBF24">
                <a:alpha val="50000"/>
              </a:srgbClr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68096" y="2604211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BBF2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Q2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1188720" y="2576779"/>
            <a:ext cx="8726119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Which order is correct, widest first?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10207447" y="2595067"/>
            <a:ext cx="1371600" cy="347472"/>
          </a:xfrm>
          <a:prstGeom prst="roundRect">
            <a:avLst>
              <a:gd name="adj" fmla="val 15789"/>
            </a:avLst>
          </a:prstGeom>
          <a:solidFill>
            <a:srgbClr val="A78BFA">
              <a:alpha val="20000"/>
            </a:srgbClr>
          </a:solidFill>
          <a:ln w="12700">
            <a:solidFill>
              <a:srgbClr val="A78BFA">
                <a:alpha val="60000"/>
              </a:srgbClr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0207447" y="2595067"/>
            <a:ext cx="13716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Answer: D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1115568" y="2988259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A. </a:t>
            </a:r>
            <a:r>
              <a:rPr lang="en-US" sz="11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Gen AI, DL, ML, AI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3674288" y="2988259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B. </a:t>
            </a:r>
            <a:r>
              <a:rPr lang="en-US" sz="11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ML, DL, AI, Gen AI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6233008" y="2988259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C. </a:t>
            </a:r>
            <a:r>
              <a:rPr lang="en-US" sz="11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DL, AI, ML, Gen AI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8791727" y="2988259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D. </a:t>
            </a: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AI, ML, Deep Learning, Gen AI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66928" y="3434486"/>
            <a:ext cx="11057839" cy="848563"/>
          </a:xfrm>
          <a:prstGeom prst="roundRect">
            <a:avLst>
              <a:gd name="adj" fmla="val 8621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768096" y="3580790"/>
            <a:ext cx="310896" cy="310896"/>
          </a:xfrm>
          <a:prstGeom prst="ellipse">
            <a:avLst/>
          </a:prstGeom>
          <a:solidFill>
            <a:srgbClr val="FBBF24">
              <a:alpha val="22000"/>
            </a:srgbClr>
          </a:solidFill>
          <a:ln w="12700">
            <a:solidFill>
              <a:srgbClr val="FBBF24">
                <a:alpha val="50000"/>
              </a:srgbClr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68096" y="3580790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BBF2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Q3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1188720" y="3553358"/>
            <a:ext cx="8726119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An LLM produces text by: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10207447" y="3571646"/>
            <a:ext cx="1371600" cy="347472"/>
          </a:xfrm>
          <a:prstGeom prst="roundRect">
            <a:avLst>
              <a:gd name="adj" fmla="val 15789"/>
            </a:avLst>
          </a:prstGeom>
          <a:solidFill>
            <a:srgbClr val="A78BFA">
              <a:alpha val="20000"/>
            </a:srgbClr>
          </a:solidFill>
          <a:ln w="12700">
            <a:solidFill>
              <a:srgbClr val="A78BFA">
                <a:alpha val="60000"/>
              </a:srgbClr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10207447" y="3571646"/>
            <a:ext cx="13716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Answer: A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1115568" y="3964838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A. </a:t>
            </a: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Predicting the next token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3674288" y="3964838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B. </a:t>
            </a:r>
            <a:r>
              <a:rPr lang="en-US" sz="11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Copying stored answers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6233008" y="3964838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C. </a:t>
            </a:r>
            <a:r>
              <a:rPr lang="en-US" sz="11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Searching your disk</a:t>
            </a:r>
            <a:endParaRPr lang="en-US" sz="1050" dirty="0"/>
          </a:p>
        </p:txBody>
      </p:sp>
      <p:sp>
        <p:nvSpPr>
          <p:cNvPr id="35" name="Text 33"/>
          <p:cNvSpPr txBox="1"/>
          <p:nvPr/>
        </p:nvSpPr>
        <p:spPr>
          <a:xfrm>
            <a:off x="8791727" y="3964838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D. </a:t>
            </a:r>
            <a:r>
              <a:rPr lang="en-US" sz="11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Asking a human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66928" y="4411066"/>
            <a:ext cx="11057839" cy="848563"/>
          </a:xfrm>
          <a:prstGeom prst="roundRect">
            <a:avLst>
              <a:gd name="adj" fmla="val 8621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768096" y="4557370"/>
            <a:ext cx="310896" cy="310896"/>
          </a:xfrm>
          <a:prstGeom prst="ellipse">
            <a:avLst/>
          </a:prstGeom>
          <a:solidFill>
            <a:srgbClr val="FBBF24">
              <a:alpha val="22000"/>
            </a:srgbClr>
          </a:solidFill>
          <a:ln w="12700">
            <a:solidFill>
              <a:srgbClr val="FBBF24">
                <a:alpha val="50000"/>
              </a:srgbClr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768096" y="4557370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BBF2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Q4</a:t>
            </a:r>
            <a:endParaRPr lang="en-US" sz="900" dirty="0"/>
          </a:p>
        </p:txBody>
      </p:sp>
      <p:sp>
        <p:nvSpPr>
          <p:cNvPr id="39" name="Text 37"/>
          <p:cNvSpPr txBox="1"/>
          <p:nvPr/>
        </p:nvSpPr>
        <p:spPr>
          <a:xfrm>
            <a:off x="1188720" y="4529938"/>
            <a:ext cx="8726119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Attention in a transformer helps to:</a:t>
            </a:r>
            <a:endParaRPr lang="en-US" sz="1250" dirty="0"/>
          </a:p>
        </p:txBody>
      </p:sp>
      <p:sp>
        <p:nvSpPr>
          <p:cNvPr id="40" name="Shape 38"/>
          <p:cNvSpPr/>
          <p:nvPr/>
        </p:nvSpPr>
        <p:spPr>
          <a:xfrm>
            <a:off x="10207447" y="4548226"/>
            <a:ext cx="1371600" cy="347472"/>
          </a:xfrm>
          <a:prstGeom prst="roundRect">
            <a:avLst>
              <a:gd name="adj" fmla="val 15789"/>
            </a:avLst>
          </a:prstGeom>
          <a:solidFill>
            <a:srgbClr val="A78BFA">
              <a:alpha val="20000"/>
            </a:srgbClr>
          </a:solidFill>
          <a:ln w="12700">
            <a:solidFill>
              <a:srgbClr val="A78BFA">
                <a:alpha val="60000"/>
              </a:srgbClr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10207447" y="4548226"/>
            <a:ext cx="13716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Answer: B</a:t>
            </a:r>
            <a:endParaRPr lang="en-US" sz="1050" dirty="0"/>
          </a:p>
        </p:txBody>
      </p:sp>
      <p:sp>
        <p:nvSpPr>
          <p:cNvPr id="42" name="Text 40"/>
          <p:cNvSpPr txBox="1"/>
          <p:nvPr/>
        </p:nvSpPr>
        <p:spPr>
          <a:xfrm>
            <a:off x="1115568" y="4941418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A. </a:t>
            </a:r>
            <a:r>
              <a:rPr lang="en-US" sz="11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Save disk space</a:t>
            </a:r>
            <a:endParaRPr lang="en-US" sz="1050" dirty="0"/>
          </a:p>
        </p:txBody>
      </p:sp>
      <p:sp>
        <p:nvSpPr>
          <p:cNvPr id="43" name="Text 41"/>
          <p:cNvSpPr txBox="1"/>
          <p:nvPr/>
        </p:nvSpPr>
        <p:spPr>
          <a:xfrm>
            <a:off x="3674288" y="4941418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B. </a:t>
            </a: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Link related words together</a:t>
            </a:r>
            <a:endParaRPr lang="en-US" sz="1050" dirty="0"/>
          </a:p>
        </p:txBody>
      </p:sp>
      <p:sp>
        <p:nvSpPr>
          <p:cNvPr id="44" name="Text 42"/>
          <p:cNvSpPr txBox="1"/>
          <p:nvPr/>
        </p:nvSpPr>
        <p:spPr>
          <a:xfrm>
            <a:off x="6233008" y="4941418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C. </a:t>
            </a:r>
            <a:r>
              <a:rPr lang="en-US" sz="11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Print faster</a:t>
            </a:r>
            <a:endParaRPr lang="en-US" sz="1050" dirty="0"/>
          </a:p>
        </p:txBody>
      </p:sp>
      <p:sp>
        <p:nvSpPr>
          <p:cNvPr id="45" name="Text 43"/>
          <p:cNvSpPr txBox="1"/>
          <p:nvPr/>
        </p:nvSpPr>
        <p:spPr>
          <a:xfrm>
            <a:off x="8791727" y="4941418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D. </a:t>
            </a:r>
            <a:r>
              <a:rPr lang="en-US" sz="11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Compress images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566928" y="5387645"/>
            <a:ext cx="11057839" cy="848563"/>
          </a:xfrm>
          <a:prstGeom prst="roundRect">
            <a:avLst>
              <a:gd name="adj" fmla="val 8621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768096" y="5533949"/>
            <a:ext cx="310896" cy="310896"/>
          </a:xfrm>
          <a:prstGeom prst="ellipse">
            <a:avLst/>
          </a:prstGeom>
          <a:solidFill>
            <a:srgbClr val="FBBF24">
              <a:alpha val="22000"/>
            </a:srgbClr>
          </a:solidFill>
          <a:ln w="12700">
            <a:solidFill>
              <a:srgbClr val="FBBF24">
                <a:alpha val="50000"/>
              </a:srgbClr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768096" y="5533949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BBF2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Q5</a:t>
            </a:r>
            <a:endParaRPr lang="en-US" sz="900" dirty="0"/>
          </a:p>
        </p:txBody>
      </p:sp>
      <p:sp>
        <p:nvSpPr>
          <p:cNvPr id="49" name="Text 47"/>
          <p:cNvSpPr txBox="1"/>
          <p:nvPr/>
        </p:nvSpPr>
        <p:spPr>
          <a:xfrm>
            <a:off x="1188720" y="5506517"/>
            <a:ext cx="8726119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 token is:</a:t>
            </a:r>
            <a:endParaRPr lang="en-US" sz="1250" dirty="0"/>
          </a:p>
        </p:txBody>
      </p:sp>
      <p:sp>
        <p:nvSpPr>
          <p:cNvPr id="50" name="Shape 48"/>
          <p:cNvSpPr/>
          <p:nvPr/>
        </p:nvSpPr>
        <p:spPr>
          <a:xfrm>
            <a:off x="10207447" y="5524805"/>
            <a:ext cx="1371600" cy="347472"/>
          </a:xfrm>
          <a:prstGeom prst="roundRect">
            <a:avLst>
              <a:gd name="adj" fmla="val 15789"/>
            </a:avLst>
          </a:prstGeom>
          <a:solidFill>
            <a:srgbClr val="A78BFA">
              <a:alpha val="20000"/>
            </a:srgbClr>
          </a:solidFill>
          <a:ln w="12700">
            <a:solidFill>
              <a:srgbClr val="A78BFA">
                <a:alpha val="60000"/>
              </a:srgbClr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10207447" y="5524805"/>
            <a:ext cx="13716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Answer: C</a:t>
            </a:r>
            <a:endParaRPr lang="en-US" sz="1050" dirty="0"/>
          </a:p>
        </p:txBody>
      </p:sp>
      <p:sp>
        <p:nvSpPr>
          <p:cNvPr id="52" name="Text 50"/>
          <p:cNvSpPr txBox="1"/>
          <p:nvPr/>
        </p:nvSpPr>
        <p:spPr>
          <a:xfrm>
            <a:off x="1115568" y="5917997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A. </a:t>
            </a:r>
            <a:r>
              <a:rPr lang="en-US" sz="11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user account</a:t>
            </a:r>
            <a:endParaRPr lang="en-US" sz="1050" dirty="0"/>
          </a:p>
        </p:txBody>
      </p:sp>
      <p:sp>
        <p:nvSpPr>
          <p:cNvPr id="53" name="Text 51"/>
          <p:cNvSpPr txBox="1"/>
          <p:nvPr/>
        </p:nvSpPr>
        <p:spPr>
          <a:xfrm>
            <a:off x="3674288" y="5917997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B. </a:t>
            </a:r>
            <a:r>
              <a:rPr lang="en-US" sz="11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network port</a:t>
            </a:r>
            <a:endParaRPr lang="en-US" sz="1050" dirty="0"/>
          </a:p>
        </p:txBody>
      </p:sp>
      <p:sp>
        <p:nvSpPr>
          <p:cNvPr id="54" name="Text 52"/>
          <p:cNvSpPr txBox="1"/>
          <p:nvPr/>
        </p:nvSpPr>
        <p:spPr>
          <a:xfrm>
            <a:off x="6233008" y="5917997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C. </a:t>
            </a: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small piece of text</a:t>
            </a:r>
            <a:endParaRPr lang="en-US" sz="1050" dirty="0"/>
          </a:p>
        </p:txBody>
      </p:sp>
      <p:sp>
        <p:nvSpPr>
          <p:cNvPr id="55" name="Text 53"/>
          <p:cNvSpPr txBox="1"/>
          <p:nvPr/>
        </p:nvSpPr>
        <p:spPr>
          <a:xfrm>
            <a:off x="8791727" y="5917997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D. </a:t>
            </a:r>
            <a:r>
              <a:rPr lang="en-US" sz="11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screen pixel</a:t>
            </a:r>
            <a:endParaRPr lang="en-US" sz="1050" dirty="0"/>
          </a:p>
        </p:txBody>
      </p:sp>
    </p:spTree>
  </p:cSld>
  <p:clrMapOvr>
    <a:masterClrMapping/>
  </p:clrMapOvr>
</p:sld>
</file>

<file path=ppt/slides/slide3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BBF2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SLIDE 244B · FINAL CHECK 6–10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Final Knowledge Check (Part 2)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355080"/>
            <a:ext cx="9960559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Final Section · Revision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10710367" y="6355080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298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11057839" cy="848563"/>
          </a:xfrm>
          <a:prstGeom prst="roundRect">
            <a:avLst>
              <a:gd name="adj" fmla="val 8621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68096" y="1627632"/>
            <a:ext cx="310896" cy="310896"/>
          </a:xfrm>
          <a:prstGeom prst="ellipse">
            <a:avLst/>
          </a:prstGeom>
          <a:solidFill>
            <a:srgbClr val="FBBF24">
              <a:alpha val="22000"/>
            </a:srgbClr>
          </a:solidFill>
          <a:ln w="12700">
            <a:solidFill>
              <a:srgbClr val="FBBF24">
                <a:alpha val="5000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68096" y="1627632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BBF2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Q1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188720" y="1600200"/>
            <a:ext cx="8726119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An embedding represents: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10207447" y="1618488"/>
            <a:ext cx="1371600" cy="347472"/>
          </a:xfrm>
          <a:prstGeom prst="roundRect">
            <a:avLst>
              <a:gd name="adj" fmla="val 15789"/>
            </a:avLst>
          </a:prstGeom>
          <a:solidFill>
            <a:srgbClr val="A78BFA">
              <a:alpha val="20000"/>
            </a:srgbClr>
          </a:solidFill>
          <a:ln w="12700">
            <a:solidFill>
              <a:srgbClr val="A78BFA">
                <a:alpha val="60000"/>
              </a:srgbClr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207447" y="1618488"/>
            <a:ext cx="13716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Answer: D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1115568" y="2011680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A. </a:t>
            </a:r>
            <a:r>
              <a:rPr lang="en-US" sz="11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saved password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3674288" y="2011680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B. </a:t>
            </a:r>
            <a:r>
              <a:rPr lang="en-US" sz="11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video frame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6233008" y="2011680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C. </a:t>
            </a:r>
            <a:r>
              <a:rPr lang="en-US" sz="11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file path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8791727" y="2011680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D. </a:t>
            </a: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meaning of content as numbers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66928" y="2457907"/>
            <a:ext cx="11057839" cy="848563"/>
          </a:xfrm>
          <a:prstGeom prst="roundRect">
            <a:avLst>
              <a:gd name="adj" fmla="val 8621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68096" y="2604211"/>
            <a:ext cx="310896" cy="310896"/>
          </a:xfrm>
          <a:prstGeom prst="ellipse">
            <a:avLst/>
          </a:prstGeom>
          <a:solidFill>
            <a:srgbClr val="FBBF24">
              <a:alpha val="22000"/>
            </a:srgbClr>
          </a:solidFill>
          <a:ln w="12700">
            <a:solidFill>
              <a:srgbClr val="FBBF24">
                <a:alpha val="50000"/>
              </a:srgbClr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68096" y="2604211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BBF2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Q2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1188720" y="2576779"/>
            <a:ext cx="8726119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RAG improves answers by: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10207447" y="2595067"/>
            <a:ext cx="1371600" cy="347472"/>
          </a:xfrm>
          <a:prstGeom prst="roundRect">
            <a:avLst>
              <a:gd name="adj" fmla="val 15789"/>
            </a:avLst>
          </a:prstGeom>
          <a:solidFill>
            <a:srgbClr val="A78BFA">
              <a:alpha val="20000"/>
            </a:srgbClr>
          </a:solidFill>
          <a:ln w="12700">
            <a:solidFill>
              <a:srgbClr val="A78BFA">
                <a:alpha val="60000"/>
              </a:srgbClr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0207447" y="2595067"/>
            <a:ext cx="13716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Answer: A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1115568" y="2988259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A. </a:t>
            </a: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Retrieving your documents first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3674288" y="2988259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B. </a:t>
            </a:r>
            <a:r>
              <a:rPr lang="en-US" sz="11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Training the model again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6233008" y="2988259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C. </a:t>
            </a:r>
            <a:r>
              <a:rPr lang="en-US" sz="11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Deleting the context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8791727" y="2988259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D. </a:t>
            </a:r>
            <a:r>
              <a:rPr lang="en-US" sz="11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Raising temperature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66928" y="3434486"/>
            <a:ext cx="11057839" cy="848563"/>
          </a:xfrm>
          <a:prstGeom prst="roundRect">
            <a:avLst>
              <a:gd name="adj" fmla="val 8621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768096" y="3580790"/>
            <a:ext cx="310896" cy="310896"/>
          </a:xfrm>
          <a:prstGeom prst="ellipse">
            <a:avLst/>
          </a:prstGeom>
          <a:solidFill>
            <a:srgbClr val="FBBF24">
              <a:alpha val="22000"/>
            </a:srgbClr>
          </a:solidFill>
          <a:ln w="12700">
            <a:solidFill>
              <a:srgbClr val="FBBF24">
                <a:alpha val="50000"/>
              </a:srgbClr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68096" y="3580790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BBF2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Q3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1188720" y="3553358"/>
            <a:ext cx="8726119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An AI agent differs from a chatbot because it: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10207447" y="3571646"/>
            <a:ext cx="1371600" cy="347472"/>
          </a:xfrm>
          <a:prstGeom prst="roundRect">
            <a:avLst>
              <a:gd name="adj" fmla="val 15789"/>
            </a:avLst>
          </a:prstGeom>
          <a:solidFill>
            <a:srgbClr val="A78BFA">
              <a:alpha val="20000"/>
            </a:srgbClr>
          </a:solidFill>
          <a:ln w="12700">
            <a:solidFill>
              <a:srgbClr val="A78BFA">
                <a:alpha val="60000"/>
              </a:srgbClr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10207447" y="3571646"/>
            <a:ext cx="13716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Answer: B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1115568" y="3964838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A. </a:t>
            </a:r>
            <a:r>
              <a:rPr lang="en-US" sz="11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Types faster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3674288" y="3964838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B. </a:t>
            </a: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Uses tools to complete tasks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6233008" y="3964838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C. </a:t>
            </a:r>
            <a:r>
              <a:rPr lang="en-US" sz="11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Uses no model</a:t>
            </a:r>
            <a:endParaRPr lang="en-US" sz="1050" dirty="0"/>
          </a:p>
        </p:txBody>
      </p:sp>
      <p:sp>
        <p:nvSpPr>
          <p:cNvPr id="35" name="Text 33"/>
          <p:cNvSpPr txBox="1"/>
          <p:nvPr/>
        </p:nvSpPr>
        <p:spPr>
          <a:xfrm>
            <a:off x="8791727" y="3964838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D. </a:t>
            </a:r>
            <a:r>
              <a:rPr lang="en-US" sz="11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Needs no goal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66928" y="4411066"/>
            <a:ext cx="11057839" cy="848563"/>
          </a:xfrm>
          <a:prstGeom prst="roundRect">
            <a:avLst>
              <a:gd name="adj" fmla="val 8621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768096" y="4557370"/>
            <a:ext cx="310896" cy="310896"/>
          </a:xfrm>
          <a:prstGeom prst="ellipse">
            <a:avLst/>
          </a:prstGeom>
          <a:solidFill>
            <a:srgbClr val="FBBF24">
              <a:alpha val="22000"/>
            </a:srgbClr>
          </a:solidFill>
          <a:ln w="12700">
            <a:solidFill>
              <a:srgbClr val="FBBF24">
                <a:alpha val="50000"/>
              </a:srgbClr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768096" y="4557370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BBF2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Q4</a:t>
            </a:r>
            <a:endParaRPr lang="en-US" sz="900" dirty="0"/>
          </a:p>
        </p:txBody>
      </p:sp>
      <p:sp>
        <p:nvSpPr>
          <p:cNvPr id="39" name="Text 37"/>
          <p:cNvSpPr txBox="1"/>
          <p:nvPr/>
        </p:nvSpPr>
        <p:spPr>
          <a:xfrm>
            <a:off x="1188720" y="4529938"/>
            <a:ext cx="8726119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 hallucination is:</a:t>
            </a:r>
            <a:endParaRPr lang="en-US" sz="1250" dirty="0"/>
          </a:p>
        </p:txBody>
      </p:sp>
      <p:sp>
        <p:nvSpPr>
          <p:cNvPr id="40" name="Shape 38"/>
          <p:cNvSpPr/>
          <p:nvPr/>
        </p:nvSpPr>
        <p:spPr>
          <a:xfrm>
            <a:off x="10207447" y="4548226"/>
            <a:ext cx="1371600" cy="347472"/>
          </a:xfrm>
          <a:prstGeom prst="roundRect">
            <a:avLst>
              <a:gd name="adj" fmla="val 15789"/>
            </a:avLst>
          </a:prstGeom>
          <a:solidFill>
            <a:srgbClr val="A78BFA">
              <a:alpha val="20000"/>
            </a:srgbClr>
          </a:solidFill>
          <a:ln w="12700">
            <a:solidFill>
              <a:srgbClr val="A78BFA">
                <a:alpha val="60000"/>
              </a:srgbClr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10207447" y="4548226"/>
            <a:ext cx="13716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Answer: C</a:t>
            </a:r>
            <a:endParaRPr lang="en-US" sz="1050" dirty="0"/>
          </a:p>
        </p:txBody>
      </p:sp>
      <p:sp>
        <p:nvSpPr>
          <p:cNvPr id="42" name="Text 40"/>
          <p:cNvSpPr txBox="1"/>
          <p:nvPr/>
        </p:nvSpPr>
        <p:spPr>
          <a:xfrm>
            <a:off x="1115568" y="4941418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A. </a:t>
            </a:r>
            <a:r>
              <a:rPr lang="en-US" sz="11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slow response</a:t>
            </a:r>
            <a:endParaRPr lang="en-US" sz="1050" dirty="0"/>
          </a:p>
        </p:txBody>
      </p:sp>
      <p:sp>
        <p:nvSpPr>
          <p:cNvPr id="43" name="Text 41"/>
          <p:cNvSpPr txBox="1"/>
          <p:nvPr/>
        </p:nvSpPr>
        <p:spPr>
          <a:xfrm>
            <a:off x="3674288" y="4941418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B. </a:t>
            </a:r>
            <a:r>
              <a:rPr lang="en-US" sz="11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missing file</a:t>
            </a:r>
            <a:endParaRPr lang="en-US" sz="1050" dirty="0"/>
          </a:p>
        </p:txBody>
      </p:sp>
      <p:sp>
        <p:nvSpPr>
          <p:cNvPr id="44" name="Text 42"/>
          <p:cNvSpPr txBox="1"/>
          <p:nvPr/>
        </p:nvSpPr>
        <p:spPr>
          <a:xfrm>
            <a:off x="6233008" y="4941418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C. </a:t>
            </a: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Confident but false output</a:t>
            </a:r>
            <a:endParaRPr lang="en-US" sz="1050" dirty="0"/>
          </a:p>
        </p:txBody>
      </p:sp>
      <p:sp>
        <p:nvSpPr>
          <p:cNvPr id="45" name="Text 43"/>
          <p:cNvSpPr txBox="1"/>
          <p:nvPr/>
        </p:nvSpPr>
        <p:spPr>
          <a:xfrm>
            <a:off x="8791727" y="4941418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D. </a:t>
            </a:r>
            <a:r>
              <a:rPr lang="en-US" sz="11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screen glitch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566928" y="5387645"/>
            <a:ext cx="11057839" cy="848563"/>
          </a:xfrm>
          <a:prstGeom prst="roundRect">
            <a:avLst>
              <a:gd name="adj" fmla="val 8621"/>
            </a:avLst>
          </a:prstGeom>
          <a:solidFill>
            <a:srgbClr val="13112E">
              <a:alpha val="92000"/>
            </a:srgbClr>
          </a:solidFill>
          <a:ln w="12700">
            <a:solidFill>
              <a:srgbClr val="322C63"/>
            </a:solidFill>
            <a:prstDash val="solid"/>
          </a:ln>
          <a:effectLst>
            <a:outerShdw blurRad="1778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768096" y="5533949"/>
            <a:ext cx="310896" cy="310896"/>
          </a:xfrm>
          <a:prstGeom prst="ellipse">
            <a:avLst/>
          </a:prstGeom>
          <a:solidFill>
            <a:srgbClr val="FBBF24">
              <a:alpha val="22000"/>
            </a:srgbClr>
          </a:solidFill>
          <a:ln w="12700">
            <a:solidFill>
              <a:srgbClr val="FBBF24">
                <a:alpha val="50000"/>
              </a:srgbClr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768096" y="5533949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BBF2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Q5</a:t>
            </a:r>
            <a:endParaRPr lang="en-US" sz="900" dirty="0"/>
          </a:p>
        </p:txBody>
      </p:sp>
      <p:sp>
        <p:nvSpPr>
          <p:cNvPr id="49" name="Text 47"/>
          <p:cNvSpPr txBox="1"/>
          <p:nvPr/>
        </p:nvSpPr>
        <p:spPr>
          <a:xfrm>
            <a:off x="1188720" y="5506517"/>
            <a:ext cx="8726119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Responsible AI use always includes:</a:t>
            </a:r>
            <a:endParaRPr lang="en-US" sz="1250" dirty="0"/>
          </a:p>
        </p:txBody>
      </p:sp>
      <p:sp>
        <p:nvSpPr>
          <p:cNvPr id="50" name="Shape 48"/>
          <p:cNvSpPr/>
          <p:nvPr/>
        </p:nvSpPr>
        <p:spPr>
          <a:xfrm>
            <a:off x="10207447" y="5524805"/>
            <a:ext cx="1371600" cy="347472"/>
          </a:xfrm>
          <a:prstGeom prst="roundRect">
            <a:avLst>
              <a:gd name="adj" fmla="val 15789"/>
            </a:avLst>
          </a:prstGeom>
          <a:solidFill>
            <a:srgbClr val="A78BFA">
              <a:alpha val="20000"/>
            </a:srgbClr>
          </a:solidFill>
          <a:ln w="12700">
            <a:solidFill>
              <a:srgbClr val="A78BFA">
                <a:alpha val="60000"/>
              </a:srgbClr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10207447" y="5524805"/>
            <a:ext cx="13716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Answer: D</a:t>
            </a:r>
            <a:endParaRPr lang="en-US" sz="1050" dirty="0"/>
          </a:p>
        </p:txBody>
      </p:sp>
      <p:sp>
        <p:nvSpPr>
          <p:cNvPr id="52" name="Text 50"/>
          <p:cNvSpPr txBox="1"/>
          <p:nvPr/>
        </p:nvSpPr>
        <p:spPr>
          <a:xfrm>
            <a:off x="1115568" y="5917997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A. </a:t>
            </a:r>
            <a:r>
              <a:rPr lang="en-US" sz="11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Unlimited access</a:t>
            </a:r>
            <a:endParaRPr lang="en-US" sz="1050" dirty="0"/>
          </a:p>
        </p:txBody>
      </p:sp>
      <p:sp>
        <p:nvSpPr>
          <p:cNvPr id="53" name="Text 51"/>
          <p:cNvSpPr txBox="1"/>
          <p:nvPr/>
        </p:nvSpPr>
        <p:spPr>
          <a:xfrm>
            <a:off x="3674288" y="5917997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B. </a:t>
            </a:r>
            <a:r>
              <a:rPr lang="en-US" sz="11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 verification</a:t>
            </a:r>
            <a:endParaRPr lang="en-US" sz="1050" dirty="0"/>
          </a:p>
        </p:txBody>
      </p:sp>
      <p:sp>
        <p:nvSpPr>
          <p:cNvPr id="54" name="Text 52"/>
          <p:cNvSpPr txBox="1"/>
          <p:nvPr/>
        </p:nvSpPr>
        <p:spPr>
          <a:xfrm>
            <a:off x="6233008" y="5917997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8A87B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C. </a:t>
            </a:r>
            <a:r>
              <a:rPr lang="en-US" sz="110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Hiding AI use</a:t>
            </a:r>
            <a:endParaRPr lang="en-US" sz="1050" dirty="0"/>
          </a:p>
        </p:txBody>
      </p:sp>
      <p:sp>
        <p:nvSpPr>
          <p:cNvPr id="55" name="Text 53"/>
          <p:cNvSpPr txBox="1"/>
          <p:nvPr/>
        </p:nvSpPr>
        <p:spPr>
          <a:xfrm>
            <a:off x="8791727" y="5917997"/>
            <a:ext cx="2394128" cy="2816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D. </a:t>
            </a: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Human accountability</a:t>
            </a:r>
            <a:endParaRPr lang="en-US" sz="1050" dirty="0"/>
          </a:p>
        </p:txBody>
      </p:sp>
    </p:spTree>
  </p:cSld>
  <p:clrMapOvr>
    <a:masterClrMapping/>
  </p:clrMapOvr>
</p:sld>
</file>

<file path=ppt/slides/slide3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38648" y="1417320"/>
            <a:ext cx="914400" cy="914400"/>
          </a:xfrm>
          <a:prstGeom prst="ellipse">
            <a:avLst/>
          </a:prstGeom>
          <a:solidFill>
            <a:srgbClr val="A78BFA">
              <a:alpha val="16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67248" y="1645920"/>
            <a:ext cx="457200" cy="4572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0" y="2651760"/>
            <a:ext cx="12191695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THANK YOU</a:t>
            </a:r>
            <a:endParaRPr lang="en-US" sz="5400" dirty="0"/>
          </a:p>
        </p:txBody>
      </p:sp>
      <p:sp>
        <p:nvSpPr>
          <p:cNvPr id="5" name="Text 2"/>
          <p:cNvSpPr txBox="1"/>
          <p:nvPr/>
        </p:nvSpPr>
        <p:spPr>
          <a:xfrm>
            <a:off x="0" y="3703320"/>
            <a:ext cx="12191695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22D3E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Questions?</a:t>
            </a:r>
            <a:endParaRPr lang="en-US" sz="2200" dirty="0"/>
          </a:p>
        </p:txBody>
      </p:sp>
      <p:sp>
        <p:nvSpPr>
          <p:cNvPr id="6" name="Text 3"/>
          <p:cNvSpPr txBox="1"/>
          <p:nvPr/>
        </p:nvSpPr>
        <p:spPr>
          <a:xfrm>
            <a:off x="2377440" y="4297680"/>
            <a:ext cx="7436815" cy="731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50" dirty="0">
                <a:solidFill>
                  <a:srgbClr val="BFC2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You now understand how Generative AI works, how to use it well, and how to keep learning as it changes.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2191360" y="5212080"/>
            <a:ext cx="2468880" cy="502920"/>
          </a:xfrm>
          <a:prstGeom prst="roundRect">
            <a:avLst>
              <a:gd name="adj" fmla="val 18182"/>
            </a:avLst>
          </a:prstGeom>
          <a:solidFill>
            <a:srgbClr val="191640">
              <a:alpha val="90000"/>
            </a:srgbClr>
          </a:solidFill>
          <a:ln w="12700">
            <a:solidFill>
              <a:srgbClr val="322C63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2191360" y="5212080"/>
            <a:ext cx="24688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A78BFA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PRACTISE DAILY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861408" y="5212080"/>
            <a:ext cx="2468880" cy="502920"/>
          </a:xfrm>
          <a:prstGeom prst="roundRect">
            <a:avLst>
              <a:gd name="adj" fmla="val 18182"/>
            </a:avLst>
          </a:prstGeom>
          <a:solidFill>
            <a:srgbClr val="191640">
              <a:alpha val="90000"/>
            </a:srgbClr>
          </a:solidFill>
          <a:ln w="12700">
            <a:solidFill>
              <a:srgbClr val="322C63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861408" y="5212080"/>
            <a:ext cx="24688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2D3EE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VERIFY ALWAYS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531456" y="5212080"/>
            <a:ext cx="2468880" cy="502920"/>
          </a:xfrm>
          <a:prstGeom prst="roundRect">
            <a:avLst>
              <a:gd name="adj" fmla="val 18182"/>
            </a:avLst>
          </a:prstGeom>
          <a:solidFill>
            <a:srgbClr val="191640">
              <a:alpha val="90000"/>
            </a:srgbClr>
          </a:solidFill>
          <a:ln w="12700">
            <a:solidFill>
              <a:srgbClr val="322C63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531456" y="5212080"/>
            <a:ext cx="24688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BBF24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BUILD SOMETHING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172223</Words>
  <Application>WPS Presentation</Application>
  <PresentationFormat>On-screen Show (16:9)</PresentationFormat>
  <Paragraphs>10261</Paragraphs>
  <Slides>302</Slides>
  <Notes>299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302</vt:i4>
      </vt:variant>
    </vt:vector>
  </HeadingPairs>
  <TitlesOfParts>
    <vt:vector size="316" baseType="lpstr">
      <vt:lpstr>Arial</vt:lpstr>
      <vt:lpstr>SimSun</vt:lpstr>
      <vt:lpstr>Wingdings</vt:lpstr>
      <vt:lpstr>Courier New</vt:lpstr>
      <vt:lpstr>Courier New</vt:lpstr>
      <vt:lpstr>Courier New</vt:lpstr>
      <vt:lpstr>Arial</vt:lpstr>
      <vt:lpstr>Arial</vt:lpstr>
      <vt:lpstr>Calibri</vt:lpstr>
      <vt:lpstr>Calibri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Cybersecurity — Complete Beginner to Intermediate Guide</dc:title>
  <dc:creator>Cybersecurity Course</dc:creator>
  <dc:subject>PptxGenJS Presentation</dc:subject>
  <cp:lastModifiedBy>BHARATH</cp:lastModifiedBy>
  <cp:revision>3</cp:revision>
  <dcterms:created xsi:type="dcterms:W3CDTF">2026-09-18T10:12:00Z</dcterms:created>
  <dcterms:modified xsi:type="dcterms:W3CDTF">2026-09-21T05:39:49Z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1033-12.1.0.28485</vt:lpwstr>
  </property>
  <property fmtid="{D5CDD505-2E9C-101B-9397-08002B2CF9AE}" pid="3" name="ICV">
    <vt:lpwstr>F2E56BC5E29549DCA1786BF77EF48A21_12</vt:lpwstr>
  </property>
</Properties>
</file>
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</p:sldIdLst>
  <p:notesMasterIdLst>
    <p:notesMasterId r:id="rId16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notesMaster" Target="notesMasters/notesMaster1.xml"/><Relationship Id="rId168" Type="http://schemas.openxmlformats.org/officeDocument/2006/relationships/presProps" Target="presProps.xml"/><Relationship Id="rId169" Type="http://schemas.openxmlformats.org/officeDocument/2006/relationships/viewProps" Target="viewProps.xml"/><Relationship Id="rId170" Type="http://schemas.openxmlformats.org/officeDocument/2006/relationships/theme" Target="theme/theme1.xml"/><Relationship Id="rId17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5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120640" cy="5120640"/>
          </a:xfrm>
          <a:prstGeom prst="ellipse">
            <a:avLst/>
          </a:prstGeom>
          <a:solidFill>
            <a:srgbClr val="4B31C7">
              <a:alpha val="38000"/>
            </a:srgbClr>
          </a:solidFill>
          <a:ln w="12700">
            <a:solidFill>
              <a:srgbClr val="4B31C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291840"/>
            <a:ext cx="3108960" cy="3108960"/>
          </a:xfrm>
          <a:prstGeom prst="ellipse">
            <a:avLst/>
          </a:prstGeom>
          <a:solidFill>
            <a:srgbClr val="0FA58F">
              <a:alpha val="24000"/>
            </a:srgbClr>
          </a:solidFill>
          <a:ln w="12700">
            <a:solidFill>
              <a:srgbClr val="0FA58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9AA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TO INTERMEDIATE  •  6-DAY CLASSROOM WORKSHOP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E7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Zero to Confident User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204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simple-English learning journey for college students,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freshers and non-technical beginners.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526280"/>
            <a:ext cx="2834640" cy="438912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343E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5262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AI Basics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11880" y="4526280"/>
            <a:ext cx="2834640" cy="438912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343E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45262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Prompting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0" y="4526280"/>
            <a:ext cx="2834640" cy="438912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343E7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75120" y="452628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Text &amp; Image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5093208"/>
            <a:ext cx="2834640" cy="438912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343E7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09320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Code &amp;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11880" y="5093208"/>
            <a:ext cx="2834640" cy="438912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343E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11880" y="509320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· APIs &amp; Apps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0" y="5093208"/>
            <a:ext cx="2834640" cy="438912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343E7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75120" y="509320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Responsible AI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4360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beginner quiz questions  •  20 per day  •  answer keys included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ROADMAP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6-Day Learning Journey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day builds on the previous one. Nothing is skipped.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ends with 20 beginner-level quiz questions and an answer key — 120 questions in total.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249424"/>
            <a:ext cx="1529029" cy="2743200"/>
          </a:xfrm>
          <a:prstGeom prst="roundRect">
            <a:avLst>
              <a:gd name="adj" fmla="val 3588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75411" y="2505456"/>
            <a:ext cx="475488" cy="47548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75411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072384"/>
            <a:ext cx="1309573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950208"/>
            <a:ext cx="11998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ML, Deep Learning and what Generative AI really is.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150821" y="3502152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61717" y="2249424"/>
            <a:ext cx="1529029" cy="2743200"/>
          </a:xfrm>
          <a:prstGeom prst="roundRect">
            <a:avLst>
              <a:gd name="adj" fmla="val 3588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88488" y="2505456"/>
            <a:ext cx="475488" cy="47548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88488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571445" y="3072384"/>
            <a:ext cx="1309573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626309" y="3950208"/>
            <a:ext cx="11998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ask AI properly so you get useful answers.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063898" y="3502152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74794" y="2249424"/>
            <a:ext cx="1529029" cy="2743200"/>
          </a:xfrm>
          <a:prstGeom prst="roundRect">
            <a:avLst>
              <a:gd name="adj" fmla="val 3588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01565" y="2505456"/>
            <a:ext cx="475488" cy="47548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01565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484522" y="3072384"/>
            <a:ext cx="1309573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 Image &amp; Slides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39386" y="3950208"/>
            <a:ext cx="11998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Writing, summarising, image generation and presentations.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76976" y="3502152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87872" y="2249424"/>
            <a:ext cx="1529029" cy="2743200"/>
          </a:xfrm>
          <a:prstGeom prst="roundRect">
            <a:avLst>
              <a:gd name="adj" fmla="val 3588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14642" y="2505456"/>
            <a:ext cx="475488" cy="47548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14642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397600" y="3072384"/>
            <a:ext cx="1309573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&amp; Data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452464" y="3950208"/>
            <a:ext cx="11998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explain, debug code and analyse data with AI.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890053" y="3502152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00949" y="2249424"/>
            <a:ext cx="1529029" cy="2743200"/>
          </a:xfrm>
          <a:prstGeom prst="roundRect">
            <a:avLst>
              <a:gd name="adj" fmla="val 3588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727719" y="2505456"/>
            <a:ext cx="475488" cy="47548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727719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310677" y="3072384"/>
            <a:ext cx="1309573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&amp; Applications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365541" y="3950208"/>
            <a:ext cx="11998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apps are built: frontend, backend, API and model.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803130" y="3502152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114026" y="2249424"/>
            <a:ext cx="1529029" cy="2743200"/>
          </a:xfrm>
          <a:prstGeom prst="roundRect">
            <a:avLst>
              <a:gd name="adj" fmla="val 3588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0640797" y="2505456"/>
            <a:ext cx="475488" cy="47548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640797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223754" y="3072384"/>
            <a:ext cx="1309573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10278618" y="3950208"/>
            <a:ext cx="119984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ethics, verification and full revision.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DECK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Boxes You Will See on Slides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coloured boxes repeat throughout the workshop. Each one has a job.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TIP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students to note down only the Remember boxes. That becomes their personal 6-day summary.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point of that slide. If you forget everything else, keep this.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6026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63770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6377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57546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Tip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63770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suggestion for the trainer: a question to ask, a demo to run or a point to stress.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03413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41157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41157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834933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341157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hands-on activity you can do immediately on a phone or laptop.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6384" y="3977640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786384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error beginners usually make, so you can avoid it from day one.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26026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63770" y="3977640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6377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57546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4563770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company or a professional actually uses this idea at work.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103413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41157" y="3977640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41157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834933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Cards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8341157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words are introduced as: Simple Definition → Easy Analogy → Real-World Example → Practical Example.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5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3840480"/>
            <a:ext cx="4206240" cy="4206240"/>
          </a:xfrm>
          <a:prstGeom prst="ellipse">
            <a:avLst/>
          </a:prstGeom>
          <a:solidFill>
            <a:srgbClr val="4B31C7">
              <a:alpha val="30000"/>
            </a:srgbClr>
          </a:solidFill>
          <a:ln w="12700">
            <a:solidFill>
              <a:srgbClr val="4B31C7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&amp; Generative AI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 from absolute zero. No maths, no coding — only clear ideas,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examples and simple language.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0" y="1005840"/>
            <a:ext cx="4754880" cy="4663440"/>
          </a:xfrm>
          <a:prstGeom prst="roundRect">
            <a:avLst>
              <a:gd name="adj" fmla="val 1176"/>
            </a:avLst>
          </a:prstGeom>
          <a:solidFill>
            <a:srgbClr val="1B2247"/>
          </a:solidFill>
          <a:ln w="12700">
            <a:solidFill>
              <a:srgbClr val="2E37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87184" y="12984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E7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COVER TODAY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187184" y="1664208"/>
            <a:ext cx="4114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Artificial Intelligence really 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your daily life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vs Automation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and its 3 types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made simple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→ ML → DL → Generative AI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AI 'generative'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 vs Generative AI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and applications of Gen AI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and honest limitations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486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with 20 beginner quiz questions + answer key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Today Will Work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simple promises for Day 1.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TIP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class: 'How many of you used an AI tool this week?' Most hands will go up — that is your starting point.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886968"/>
          </a:xfrm>
          <a:prstGeom prst="roundRect">
            <a:avLst>
              <a:gd name="adj" fmla="val 618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815084"/>
            <a:ext cx="512064" cy="512064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8150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1773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English only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737360"/>
            <a:ext cx="6430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technical word is explained with a simple definition, an analogy and a real example before we use it again.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660904"/>
            <a:ext cx="11094415" cy="886968"/>
          </a:xfrm>
          <a:prstGeom prst="roundRect">
            <a:avLst>
              <a:gd name="adj" fmla="val 618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848356"/>
            <a:ext cx="512064" cy="512064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28483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2807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first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770632"/>
            <a:ext cx="6430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see AI examples from education, banking, healthcare, shopping, marketing and customer support.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694176"/>
            <a:ext cx="11094415" cy="886968"/>
          </a:xfrm>
          <a:prstGeom prst="roundRect">
            <a:avLst>
              <a:gd name="adj" fmla="val 618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3881628"/>
            <a:ext cx="512064" cy="512064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38816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try, you learn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803904"/>
            <a:ext cx="6430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'Try This' activities let you practise on your phone or laptop with any free AI chat tool.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727448"/>
            <a:ext cx="11094415" cy="886968"/>
          </a:xfrm>
          <a:prstGeom prst="roundRect">
            <a:avLst>
              <a:gd name="adj" fmla="val 618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4914900"/>
            <a:ext cx="512064" cy="512064"/>
          </a:xfrm>
          <a:prstGeom prst="ellipse">
            <a:avLst/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49149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873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at the end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4837176"/>
            <a:ext cx="6430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easy questions with an answer key to confirm that today's ideas are clear before we move on.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Artificial Intelligence?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not 'think' like a human. It finds patterns in data extremely well — that is all, and that is already very powerful.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(AI) is a computer system that can do tasks which normally need human thinking — like understanding language, recognising pictures or making decisions.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AI as a very fast student. It studies thousands of examples, spots the patterns, and then answers new questions on its own.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predicting that your 30-minute route will now take 45 minutes because of traffic ahead.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gallery automatically making an album called 'Beach' after recognising sand and sea in your photos.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 Your Everyday Life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use AI many times a day without noticing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F0DE"/>
          </a:solidFill>
          <a:ln w="12700">
            <a:solidFill>
              <a:srgbClr val="FBF0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(2 minutes): list 3 apps on your phone that you believe use AI, and say what job the AI does there.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unlock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checks your face against a stored pattern in under a second.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6026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63770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6377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57546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&amp; Netflix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63770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are predicted from what you and similar viewers watched before.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03413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41157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41157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834933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341157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 prediction and route choice based on millions of trips.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6384" y="3977640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fraud alerts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786384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payments are flagged automatically before money is lost.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26026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63770" y="3977640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6377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57546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assistants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4563770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is converted to text, understood, and answered aloud.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103413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41157" y="3977640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41157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834933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Gmail spam filter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8341157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are sorted into inbox, promotions or spam by learned patterns.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of AI Across Industries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technology, very different jobs.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2595296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865376"/>
            <a:ext cx="1635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377440"/>
            <a:ext cx="211980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Doubt-solving chatbots, auto-generated practice questions, instant essay feedback.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1680" y="1627632"/>
            <a:ext cx="2595296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19424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1942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113200" y="1865376"/>
            <a:ext cx="1635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619424" y="2377440"/>
            <a:ext cx="211980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scoring, fraud detection, 24x7 customer chat support.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4720" y="1627632"/>
            <a:ext cx="2595296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52464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5246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946240" y="1865376"/>
            <a:ext cx="1635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52464" y="2377440"/>
            <a:ext cx="211980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X-rays, appointment reminders, early risk alerts for patients.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47759" y="1627632"/>
            <a:ext cx="2595296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85503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85503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779279" y="1865376"/>
            <a:ext cx="1635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285503" y="2377440"/>
            <a:ext cx="211980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recommendations, search ranking, delivery time prediction.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110228"/>
            <a:ext cx="2595296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86384" y="4347972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6384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280160" y="4347972"/>
            <a:ext cx="1635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86384" y="4860036"/>
            <a:ext cx="211980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targeting, campaign copy writing, customer sentiment analysis.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381680" y="4110228"/>
            <a:ext cx="2595296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19424" y="4347972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619424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4113200" y="4347972"/>
            <a:ext cx="1635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3619424" y="4860036"/>
            <a:ext cx="211980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suggestions, bug detection, automatic test generation.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14720" y="4110228"/>
            <a:ext cx="2595296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52464" y="4347972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52464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946240" y="4347972"/>
            <a:ext cx="1635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452464" y="4860036"/>
            <a:ext cx="211980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classification, instant first replies, call summaries.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047759" y="4110228"/>
            <a:ext cx="2595296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285503" y="4347972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85503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9779279" y="4347972"/>
            <a:ext cx="1635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Agriculture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285503" y="4860036"/>
            <a:ext cx="2119808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disease detection from leaf photos, weather-based advice for farmers.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vs Automation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common confusion — and an easy one to clear up.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is automation, but not all automation is AI. Rules written by a human = automation. Rules learned from data = AI.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5181448" cy="3986784"/>
          </a:xfrm>
          <a:prstGeom prst="roundRect">
            <a:avLst>
              <a:gd name="adj" fmla="val 137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627632"/>
            <a:ext cx="5181448" cy="658368"/>
          </a:xfrm>
          <a:prstGeom prst="roundRect">
            <a:avLst>
              <a:gd name="adj" fmla="val 8333"/>
            </a:avLst>
          </a:prstGeom>
          <a:solidFill>
            <a:srgbClr val="5F6890"/>
          </a:solidFill>
          <a:ln w="12700">
            <a:solidFill>
              <a:srgbClr val="5F68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627632"/>
            <a:ext cx="466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— follows rules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496312"/>
            <a:ext cx="463280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write the exact rules in advance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always gives the same output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handle a new, unseen situation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washing machine timer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'If amount &gt; 10,000 then ask for OTP'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learning happens over time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61608" y="1627632"/>
            <a:ext cx="5181448" cy="3986784"/>
          </a:xfrm>
          <a:prstGeom prst="roundRect">
            <a:avLst>
              <a:gd name="adj" fmla="val 137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61608" y="1627632"/>
            <a:ext cx="5181448" cy="658368"/>
          </a:xfrm>
          <a:prstGeom prst="roundRect">
            <a:avLst>
              <a:gd name="adj" fmla="val 8333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17640" y="1627632"/>
            <a:ext cx="466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— learns patterns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735928" y="2496312"/>
            <a:ext cx="463280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learns rules from examples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handle inputs it has never seen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as it gets more data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spam filter catching new spam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fraud detection on unusual spending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can vary and is based on probability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21528" y="3346704"/>
            <a:ext cx="548640" cy="548640"/>
          </a:xfrm>
          <a:prstGeom prst="ellipse">
            <a:avLst/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21528" y="3346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Machine Learning?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TIP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 the board: Traditional program = Data + Rules → Answers.  Machine Learning = Data + Answers → Rules.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(ML) is the part of AI where a computer learns rules from examples instead of being given the rules by a programmer.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teaching a child what a mango is. You never explain the rules — you just show many mangoes, and the child starts recognising them.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email provider learned what spam looks like from billions of emails marked as spam by users.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a model 10,000 house records (size, area, price). It learns the price pattern and can then price a new house.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vs Machine Learning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ML system is AI. Not every AI system uses ML.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35024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  <a:gridCol w="44165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Artificial Intelligence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3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01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big goal: machines that behave intelligently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way to reach that goal: learning from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01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broad field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branch inside 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01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data?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always (rule-based AI exists)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— data is compulsory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01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task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Decide, plan, understand, respond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 or classify from patterns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01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self-driving car as a whole 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part that recognises a stop sign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01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idea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main 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Types of Machine Learning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ways of learning, just like different ways of studying.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619756"/>
            <a:ext cx="3442106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31949" y="2875788"/>
            <a:ext cx="475488" cy="47548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31949" y="28757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442716"/>
            <a:ext cx="322265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4320540"/>
            <a:ext cx="31129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labelled examples where the correct answer is already given.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63898" y="3872484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4794" y="2619756"/>
            <a:ext cx="3442106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858104" y="2875788"/>
            <a:ext cx="475488" cy="47548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58104" y="28757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84522" y="3442716"/>
            <a:ext cx="322265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Learning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39386" y="4320540"/>
            <a:ext cx="31129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data with no answers and finds hidden groups or patterns on its own.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90053" y="3872484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00949" y="2619756"/>
            <a:ext cx="3442106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84258" y="2875788"/>
            <a:ext cx="475488" cy="47548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84258" y="28757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310677" y="3442716"/>
            <a:ext cx="322265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 Learning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365541" y="4320540"/>
            <a:ext cx="31129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by trying actions and receiving rewards or penalties.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5275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a teacher  •  Learning by exploring  •  Learning by practice and feedback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9EDF9"/>
          </a:solidFill>
          <a:ln w="12700">
            <a:solidFill>
              <a:srgbClr val="E9ED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B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Healthcare: thousands of X-rays labelled 'normal' or 'pneumonia' train a model that flags risky scans for a doctor to review.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trained on data where every example already carries the correct answer, called a label. It learns to map input to answer.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with an answer key. You see the question and the correct answer together until the pattern becomes clear.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trains a model on old loan records marked 'repaid' or 'defaulted' to predict risk for new applicants.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photos labelled 'cat' or 'dog' → the model then labels a new photo correctly on its own.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Unsupervised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= answers given. Unsupervised = no answers, find the structure yourself.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receives data with no labels and no correct answers. Its job is to discover natural groups, patterns or oddities by itself.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Emptying a box of mixed sweets on a table and sorting them into groups by colour and shape, without anyone naming the groups.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e-commerce company groups customers into 'budget buyers', 'festival shoppers' and 'premium buyers' from purchase history.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model 1,000 news articles with no tags — it clusters them into sports, politics and business automatically.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TIP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 how they learned to ride a cycle — falling, correcting, repeating. That is reinforcement learning.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by doing. It takes an action, receives a reward for a good result or a penalty for a bad one, and slowly improves its strategy.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puppy. Good behaviour gets a biscuit, bad behaviour gets none — over time the puppy learns what works.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apps improving driver routes, and warehouse robots learning the fastest safe path.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game AI plays chess millions of times; winning moves get rewarded until its play becomes very strong.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Deep Learning?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is what makes today's Generative AI possible. More layers + more data = more capability.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is a type of Machine Learning that uses artificial neural networks with many layers, so it can learn very complicated patterns from huge amounts of data.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of people passing work down a line. The first person notices edges, the next shapes, the next faces — each layer adds understanding.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unlock, voice typing in your local language, and automatic subtitles on videos.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learning model reads handwriting on exam sheets and converts it into typed text.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AI, ML, Deep Learning and Gen AI Fit Together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sits inside the one before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D9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'AI and Generative AI are the same'. Generative AI is only one small circle inside the very large AI field.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6035040" cy="3986784"/>
          </a:xfrm>
          <a:prstGeom prst="roundRect">
            <a:avLst>
              <a:gd name="adj" fmla="val 1147"/>
            </a:avLst>
          </a:prstGeom>
          <a:solidFill>
            <a:srgbClr val="1015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17373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32688" y="2139696"/>
            <a:ext cx="5266944" cy="2962656"/>
          </a:xfrm>
          <a:prstGeom prst="roundRect">
            <a:avLst>
              <a:gd name="adj" fmla="val 1543"/>
            </a:avLst>
          </a:prstGeom>
          <a:solidFill>
            <a:srgbClr val="4B31C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33856" y="2249424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316736" y="2651760"/>
            <a:ext cx="4498848" cy="1938528"/>
          </a:xfrm>
          <a:prstGeom prst="roundRect">
            <a:avLst>
              <a:gd name="adj" fmla="val 2358"/>
            </a:avLst>
          </a:prstGeom>
          <a:solidFill>
            <a:srgbClr val="6C4CF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517904" y="2761488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700784" y="3163824"/>
            <a:ext cx="3730752" cy="914400"/>
          </a:xfrm>
          <a:prstGeom prst="roundRect">
            <a:avLst>
              <a:gd name="adj" fmla="val 5000"/>
            </a:avLst>
          </a:prstGeom>
          <a:solidFill>
            <a:srgbClr val="0FA5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901952" y="3273552"/>
            <a:ext cx="3182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040880" y="1627632"/>
            <a:ext cx="4602175" cy="859536"/>
          </a:xfrm>
          <a:prstGeom prst="roundRect">
            <a:avLst>
              <a:gd name="adj" fmla="val 638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78624" y="1929384"/>
            <a:ext cx="256032" cy="256032"/>
          </a:xfrm>
          <a:prstGeom prst="ellipse">
            <a:avLst/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80960" y="1755648"/>
            <a:ext cx="3733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066544"/>
            <a:ext cx="3733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widest field — any machine doing tasks that need intelligence.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40880" y="2670048"/>
            <a:ext cx="4602175" cy="859536"/>
          </a:xfrm>
          <a:prstGeom prst="roundRect">
            <a:avLst>
              <a:gd name="adj" fmla="val 638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78624" y="2971800"/>
            <a:ext cx="256032" cy="256032"/>
          </a:xfrm>
          <a:prstGeom prst="ellipse">
            <a:avLst/>
          </a:prstGeom>
          <a:solidFill>
            <a:srgbClr val="4B31C7"/>
          </a:solidFill>
          <a:ln w="12700">
            <a:solidFill>
              <a:srgbClr val="4B31C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80960" y="2798064"/>
            <a:ext cx="3733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680960" y="3108960"/>
            <a:ext cx="3733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learn rules from data instead of being programmed with them.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40880" y="3712464"/>
            <a:ext cx="4602175" cy="859536"/>
          </a:xfrm>
          <a:prstGeom prst="roundRect">
            <a:avLst>
              <a:gd name="adj" fmla="val 638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78624" y="4014216"/>
            <a:ext cx="256032" cy="256032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0" y="3840480"/>
            <a:ext cx="3733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7680960" y="4151376"/>
            <a:ext cx="3733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neural networks that learn very complex patterns from big data.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040880" y="4754880"/>
            <a:ext cx="4602175" cy="859536"/>
          </a:xfrm>
          <a:prstGeom prst="roundRect">
            <a:avLst>
              <a:gd name="adj" fmla="val 638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78624" y="5056632"/>
            <a:ext cx="256032" cy="256032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80960" y="4882896"/>
            <a:ext cx="3733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680960" y="5193792"/>
            <a:ext cx="3733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that create new content: text, images, audio, video, code.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Generative AI?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9EDF9"/>
          </a:solidFill>
          <a:ln w="12700">
            <a:solidFill>
              <a:srgbClr val="E9ED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B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teams generate 20 ad captions in one minute, then a human picks and edits the best two.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is AI that creates brand new content — text, images, audio, video or code — instead of only classifying or predicting existing things.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traditional AI is a judge that says 'this is a cat'. A generative AI is an artist that draws you a new cat that never existed.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writing an email, an image tool creating a poster, a coding assistant writing a working function.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'Write a 4-line thank-you message for my internship mentor.' The AI produces original text on the spot.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AI vs Generative 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decides. The other creates.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5181448" cy="4727448"/>
          </a:xfrm>
          <a:prstGeom prst="roundRect">
            <a:avLst>
              <a:gd name="adj" fmla="val 1161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27632"/>
            <a:ext cx="5181448" cy="658368"/>
          </a:xfrm>
          <a:prstGeom prst="roundRect">
            <a:avLst>
              <a:gd name="adj" fmla="val 8333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1627632"/>
            <a:ext cx="466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AI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96312"/>
            <a:ext cx="4632808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job: predict, classify or decide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usually a label, number or score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'This email is spam'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'Loan risk = high'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for one narrow task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is the same every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61608" y="1627632"/>
            <a:ext cx="5181448" cy="4727448"/>
          </a:xfrm>
          <a:prstGeom prst="roundRect">
            <a:avLst>
              <a:gd name="adj" fmla="val 1161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61608" y="1627632"/>
            <a:ext cx="5181448" cy="658368"/>
          </a:xfrm>
          <a:prstGeom prst="roundRect">
            <a:avLst>
              <a:gd name="adj" fmla="val 8333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17640" y="1627632"/>
            <a:ext cx="466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735928" y="2496312"/>
            <a:ext cx="4632808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job: create new original content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text, image, audio, video or code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'Write a polite reply to this email'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'Design a poster for our college fest'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handles many different tasks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can differ each time you ask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21528" y="3717036"/>
            <a:ext cx="548640" cy="548640"/>
          </a:xfrm>
          <a:prstGeom prst="ellipse">
            <a:avLst/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21528" y="37170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Generative 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the kind of content they produce.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them work the same way: you describe what you want in words, and the model generates it.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generation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emails, essays, summaries, answers and translations. Powered by Large Language Models.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6026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63770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6377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57546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generation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63770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pictures, posters, logos and illustrations from a text description.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03413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41157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41157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834933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generation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341157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Writes, explains, fixes and documents programs in many languages.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6384" y="3977640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&amp; voice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786384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speech, music, dubbing and voice-overs from text.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26026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63770" y="3977640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6377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57546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generation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4563770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short clips, animations and avatar presenters from prompts.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103413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41157" y="3977640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41157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834933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documents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8341157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tables, reports, slide outlines and structured summaries from raw information.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of Generative 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beginners can start using it immediately.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F0DE"/>
          </a:solidFill>
          <a:ln w="12700">
            <a:solidFill>
              <a:srgbClr val="FBF0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any AI chat tool and ask: 'Explain photosynthesis to a 10-year-old in 5 simple lines.' Notice how fast and how simple the answer is.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2595296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865376"/>
            <a:ext cx="1635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377440"/>
            <a:ext cx="2119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a difficult chapter, create practice questions, get step-by-step explanations.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81680" y="1627632"/>
            <a:ext cx="2595296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19424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1942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113200" y="1865376"/>
            <a:ext cx="1635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619424" y="2377440"/>
            <a:ext cx="2119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customer emails, summarise long policy documents, explain charges simply.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4720" y="1627632"/>
            <a:ext cx="2595296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52464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5246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46240" y="1865376"/>
            <a:ext cx="1635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52464" y="2377440"/>
            <a:ext cx="2119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patient notes, translate instructions, write awareness content.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47759" y="1627632"/>
            <a:ext cx="2595296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85503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85503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779279" y="1865376"/>
            <a:ext cx="1635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285503" y="2377440"/>
            <a:ext cx="2119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product descriptions, reply to reviews, write catalogue titles.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3739896"/>
            <a:ext cx="2595296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6384" y="3977640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8638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280160" y="3977640"/>
            <a:ext cx="1635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86384" y="4489704"/>
            <a:ext cx="2119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copy, social posts, campaign ideas, subject lines and captions.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381680" y="3739896"/>
            <a:ext cx="2595296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19424" y="3977640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61942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113200" y="3977640"/>
            <a:ext cx="1635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3619424" y="4489704"/>
            <a:ext cx="2119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boilerplate code, explain errors, create test cases and documentation.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14720" y="3739896"/>
            <a:ext cx="2595296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52464" y="3977640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5246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946240" y="3977640"/>
            <a:ext cx="1635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452464" y="4489704"/>
            <a:ext cx="2119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first replies, summarise long chats, convert calls into action points.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047759" y="3739896"/>
            <a:ext cx="2595296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285503" y="3977640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285503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779279" y="3977640"/>
            <a:ext cx="1635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work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9285503" y="4489704"/>
            <a:ext cx="2119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notes, resumes, cover letters, presentations and reports.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and Limitations of Generative 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view — both sides matter.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D9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Copy-pasting AI output without reading it. Always treat AI output as a first draft, never as a final answer.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5181448" cy="3986784"/>
          </a:xfrm>
          <a:prstGeom prst="roundRect">
            <a:avLst>
              <a:gd name="adj" fmla="val 137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627632"/>
            <a:ext cx="5181448" cy="658368"/>
          </a:xfrm>
          <a:prstGeom prst="roundRect">
            <a:avLst>
              <a:gd name="adj" fmla="val 8333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627632"/>
            <a:ext cx="466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496312"/>
            <a:ext cx="463280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 large amount of time on routine writing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 starting draft when you are stuck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24x7 and very low cost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hard topics in simple language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non-experts try design, code and analysis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many languages, including Indian languages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61608" y="1627632"/>
            <a:ext cx="5181448" cy="3986784"/>
          </a:xfrm>
          <a:prstGeom prst="roundRect">
            <a:avLst>
              <a:gd name="adj" fmla="val 137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61608" y="1627632"/>
            <a:ext cx="5181448" cy="658368"/>
          </a:xfrm>
          <a:prstGeom prst="roundRect">
            <a:avLst>
              <a:gd name="adj" fmla="val 8333"/>
            </a:avLst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17640" y="1627632"/>
            <a:ext cx="466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735928" y="2496312"/>
            <a:ext cx="463280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state wrong facts confidently (hallucination)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may be outdated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repeat bias present in training data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at precise maths and exact calculations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confidential or personal data with it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still needs human checking and editing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21528" y="3346704"/>
            <a:ext cx="548640" cy="548640"/>
          </a:xfrm>
          <a:prstGeom prst="ellipse">
            <a:avLst/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21528" y="3346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Recap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ideas to carry into Day 2.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TIP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quiz, ask each student to say one AI example in their own words. Repetition in their own language locks the concept in.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711757"/>
            <a:ext cx="512064" cy="512064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711757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1773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737360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performing tasks that normally need human intelligence.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454250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538374"/>
            <a:ext cx="512064" cy="512064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253837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260055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563978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rules from data instead of receiving rules from a programmer.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280867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3364992"/>
            <a:ext cx="512064" cy="512064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3364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427171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learning types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390595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(with answers), Unsupervised (no answers), Reinforcement (reward and penalty).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107485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4191610"/>
            <a:ext cx="512064" cy="512064"/>
          </a:xfrm>
          <a:prstGeom prst="ellipse">
            <a:avLst/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419161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253789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4217213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Many-layered neural networks that learn complex patterns — the engine behind Gen AI.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934102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" y="5018227"/>
            <a:ext cx="512064" cy="512064"/>
          </a:xfrm>
          <a:prstGeom prst="ellipse">
            <a:avLst/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" y="5018227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508760" y="508040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4846320" y="5043830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creates new content from your instructions. Powerful, fast, but must always be verified.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Quiz — 20 Basic Questions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all 20 first, then check the answer key on the final slide of this day.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multiple-choice questions, four options each, only one correct answer.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26026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63770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6377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57546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563770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yourself about 10 minutes. No notes, no searching — this is a self-check, not an exam.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03413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41157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41157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834933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341157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mark per correct answer. 14 or more means you are ready for the next day.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6384" y="4347972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score low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86384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worry. Go back to the slides for the questions you missed and re-read the Remember boxes.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326026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63770" y="4347972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63770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057546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563770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Trainers: read each question aloud and let students answer by show of hands before revealing the key.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03413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41157" y="4347972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41157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834933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8341157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slide of this day lists all 20 correct answers with the full option text.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Quiz — Questions 1 to 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88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170432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AI stand for?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Automatic Input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20008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Artificial Intelligence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Applied Internet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55735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Advanced Interface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54326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6405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24576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means machines can do tasks that normally need…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Electricity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20008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Human intelligence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87872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Internet only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55735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Printing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9661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339389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321101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an everyday example of AI?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 ceiling fan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20008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 calculator key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Netflix recommendations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855735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 paper notebook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04995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14723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396435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means the computer…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Learns rules from data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0008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Is repaired by a machine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87872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Runs without power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55735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Only stores files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80330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49005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547177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supervised learning, the training data contains…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No data at all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720008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Correct answers (labels)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87872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Only images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55735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Only rewards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Quiz — Questions 6 to 10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88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170432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works with data that has…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Labels for everything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20008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No labels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Only numbers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55735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Only text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54326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6405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24576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customers into similar segments is an example of…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Supervised learning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20008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Unsupervised learning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87872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Automation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55735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Encryption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9661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339389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321101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is based on…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Rewards and penalties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20008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Labels only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Copying files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855735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Fixed rules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04995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14723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396435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puppy with biscuits is closest to…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Deep learning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0008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Reinforcement learning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87872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Automation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55735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Clustering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80330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49005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547177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uses…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Spreadsheets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720008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Multi-layer neural networks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87872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Paper forms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55735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Only one rule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Quiz — Questions 11 to 15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88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170432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statement is correct?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ML is a part of AI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20008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AI is a part of ML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They are unrelated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55735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AI is a part of Excel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54326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6405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24576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follows…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Learned patterns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20008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Rules written by humans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87872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Random guesses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55735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Nothing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9661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339389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321101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mainly…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Deletes data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20008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Creates new content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Only sorts files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855735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Prints documents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04995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14723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396435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NOT produced by Generative AI?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Text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0008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Images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87872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Physical furniture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55735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Code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80330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49005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547177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 usually gives output such as…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 new poem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720008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 label or prediction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87872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 painting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55735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 video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Quiz — Questions 16 to 20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88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170432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'Write a thank-you email' is a task for…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Generative AI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20008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 spam filter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 calculator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55735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Automation only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54326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6405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24576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a limitation of Generative AI?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It works 24x7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20008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It can state wrong facts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87872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It is fast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55735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It supports many languages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9661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339389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321101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AI confidently gives false information, it is called…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Buffering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20008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Hallucination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Encryption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855735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Clustering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04995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14723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396435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field is Deep Learning a part of?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Machine Learning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0008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Web design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87872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Hardware repair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55735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Accounting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80330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49005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547177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 after getting any AI answer is to…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Use it directly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720008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Verify and edit it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87872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Delete it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55735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Share private data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AI &amp; GENERATIVE AI FUNDAMENTALS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Quiz — Answer Key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option and answer text for all 20 questions.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31872" y="1719072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31872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048256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63392" y="1627632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46272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46624" y="1719072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46624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46272" y="2048256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intelligence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8144" y="1627632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1024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61375" y="1719072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61375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61024" y="2048256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recommendations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92895" y="1627632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75775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076127" y="1719072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076127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175775" y="2048256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rules from data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2606040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31872" y="2697480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31872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3026664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answers (labels)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363392" y="2606040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46272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46624" y="2697480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46624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546272" y="3026664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178144" y="2606040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61024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61375" y="2697480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61375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361024" y="3026664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992895" y="2606040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175775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1076127" y="2697480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1076127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9175775" y="3026664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and penalties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48640" y="3584448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31520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631872" y="3675888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631872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731520" y="4005072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363392" y="3584448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546272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46624" y="3675888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46624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3546272" y="4005072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neural networks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178144" y="3584448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361024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261375" y="3675888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261375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6361024" y="4005072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is a part of AI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8992895" y="3584448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175775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1076127" y="3675888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1076127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9175775" y="4005072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written by humans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548640" y="4562856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31520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Q13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631872" y="4654296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2631872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731520" y="4983480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content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3363392" y="4562856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3546272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Q14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446624" y="4654296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446624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3546272" y="4983480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furniture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6178144" y="4562856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361024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Q15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8261375" y="4654296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8261375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6361024" y="4983480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 or prediction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8992895" y="4562856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9175775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Q16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11076127" y="4654296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11076127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86" name="Text 84"/>
          <p:cNvSpPr txBox="1"/>
          <p:nvPr/>
        </p:nvSpPr>
        <p:spPr>
          <a:xfrm>
            <a:off x="9175775" y="4983480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548640" y="5541264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731520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Q17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2631872" y="5632704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2631872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91" name="Text 89"/>
          <p:cNvSpPr txBox="1"/>
          <p:nvPr/>
        </p:nvSpPr>
        <p:spPr>
          <a:xfrm>
            <a:off x="731520" y="5961888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state wrong facts</a:t>
            </a:r>
            <a:endParaRPr lang="en-US" sz="1150" dirty="0"/>
          </a:p>
        </p:txBody>
      </p:sp>
      <p:sp>
        <p:nvSpPr>
          <p:cNvPr id="92" name="Shape 90"/>
          <p:cNvSpPr/>
          <p:nvPr/>
        </p:nvSpPr>
        <p:spPr>
          <a:xfrm>
            <a:off x="3363392" y="5541264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3546272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Q18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5446624" y="5632704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5446624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96" name="Text 94"/>
          <p:cNvSpPr txBox="1"/>
          <p:nvPr/>
        </p:nvSpPr>
        <p:spPr>
          <a:xfrm>
            <a:off x="3546272" y="5961888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150" dirty="0"/>
          </a:p>
        </p:txBody>
      </p:sp>
      <p:sp>
        <p:nvSpPr>
          <p:cNvPr id="97" name="Shape 95"/>
          <p:cNvSpPr/>
          <p:nvPr/>
        </p:nvSpPr>
        <p:spPr>
          <a:xfrm>
            <a:off x="6178144" y="5541264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6361024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Q19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8261375" y="5632704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8261375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101" name="Text 99"/>
          <p:cNvSpPr txBox="1"/>
          <p:nvPr/>
        </p:nvSpPr>
        <p:spPr>
          <a:xfrm>
            <a:off x="6361024" y="5961888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102" name="Shape 100"/>
          <p:cNvSpPr/>
          <p:nvPr/>
        </p:nvSpPr>
        <p:spPr>
          <a:xfrm>
            <a:off x="8992895" y="5541264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9175775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Q20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11076127" y="5632704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11076127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106" name="Text 104"/>
          <p:cNvSpPr txBox="1"/>
          <p:nvPr/>
        </p:nvSpPr>
        <p:spPr>
          <a:xfrm>
            <a:off x="9175775" y="5961888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and edit it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15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3840480"/>
            <a:ext cx="4206240" cy="4206240"/>
          </a:xfrm>
          <a:prstGeom prst="ellipse">
            <a:avLst/>
          </a:prstGeom>
          <a:solidFill>
            <a:srgbClr val="4B31C7">
              <a:alpha val="30000"/>
            </a:srgbClr>
          </a:solidFill>
          <a:ln w="12700">
            <a:solidFill>
              <a:srgbClr val="4B31C7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useful skill of this workshop: how to ask AI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you get exactly what you need, the first time.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0" y="1005840"/>
            <a:ext cx="4754880" cy="4663440"/>
          </a:xfrm>
          <a:prstGeom prst="roundRect">
            <a:avLst>
              <a:gd name="adj" fmla="val 1176"/>
            </a:avLst>
          </a:prstGeom>
          <a:solidFill>
            <a:srgbClr val="1B2247"/>
          </a:solidFill>
          <a:ln w="12700">
            <a:solidFill>
              <a:srgbClr val="2E37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87184" y="12984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E7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COVER TODAY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187184" y="1664208"/>
            <a:ext cx="4114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prompt actually 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prompt quality decides output quality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parts of a strong prompt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Task, Context, Constraints, Format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prompt → strong prompt makeovers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prompting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 and context prompting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structured output (tables, JSON)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refinement loop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486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with 20 beginner quiz questions + answer key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Prompt?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cannot read your mind. Everything it knows about your need comes from the words in your prompt.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is the instruction or question you give to an AI model. It is simply what you type into the box.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is like an order you give at a restaurant. 'Food' gets you anything. 'One plain dosa, less oil, extra chutney' gets you what you actually wanted.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'Summarise this email in 3 bullet points' into an AI chat tool is a prompt.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'Explain recursion to a first-year student in 5 simple lines with one example.'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Prompt Engineering?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TIP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both prompts live on screen. Seeing the difference convinces students faster than any explanation.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is the skill of writing and improving prompts so the AI gives accurate, useful and well-formatted answers.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like learning to search well on Google. Two people use the same tool, but the one who searches better finds the answer faster.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now hire people who can design reliable prompts for support, marketing and reporting workflows.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'Write about AI' → poor. 'Write a 120-word LinkedIn post about how AI helps small shops, friendly tone, end with a question' → excellent.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Prompt Engineering Matters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same day — completely different results.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prompt in, weak answer out. The quality of your output depends mostly on the quality of your input.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accuracy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instructions reduce guessing, so the model gives fewer wrong or off-topic answers.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6026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63770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6377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57546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Huge time saving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63770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prompt gives a usable draft at once. A vague prompt costs you 5 rounds of correction.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03413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41157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41157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834933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format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341157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ask for a table, bullet points, an email or JSON — and receive exactly that.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6384" y="3977640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tone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786384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for a client, friendly for social media, simple for a school student. You decide.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26026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63770" y="3977640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6377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57546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4563770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saved, tested prompt gives similar quality every time — important for team work.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103413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41157" y="3977640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41157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834933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career skill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8341157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well is now expected in marketing, support, analytics, HR and software roles.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Strong Prompt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building blocks. Use as many as the task needs.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 the order: Role → Task → Context → Constraints → Format. It works for almost every request.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1627632"/>
            <a:ext cx="3931920" cy="636422"/>
          </a:xfrm>
          <a:prstGeom prst="roundRect">
            <a:avLst>
              <a:gd name="adj" fmla="val 11494"/>
            </a:avLst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05840" y="1627632"/>
            <a:ext cx="35661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ROLE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627632"/>
            <a:ext cx="6065215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the AI act as? 'Act as an experienced HR manager.'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06624" y="2291486"/>
            <a:ext cx="164592" cy="146304"/>
          </a:xfrm>
          <a:prstGeom prst="down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465222"/>
            <a:ext cx="3931920" cy="636422"/>
          </a:xfrm>
          <a:prstGeom prst="roundRect">
            <a:avLst>
              <a:gd name="adj" fmla="val 11494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05840" y="2465222"/>
            <a:ext cx="35661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TASK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2465222"/>
            <a:ext cx="6065215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exactly must it do? 'Write an announcement email.'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06624" y="3129077"/>
            <a:ext cx="164592" cy="146304"/>
          </a:xfrm>
          <a:prstGeom prst="down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302813"/>
            <a:ext cx="3931920" cy="636422"/>
          </a:xfrm>
          <a:prstGeom prst="roundRect">
            <a:avLst>
              <a:gd name="adj" fmla="val 11494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005840" y="3302813"/>
            <a:ext cx="35661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CONTEXT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3302813"/>
            <a:ext cx="6065215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it needs. 'For 40 employees, about a Saturday training session.'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706624" y="3966667"/>
            <a:ext cx="164592" cy="146304"/>
          </a:xfrm>
          <a:prstGeom prst="down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140403"/>
            <a:ext cx="3931920" cy="636422"/>
          </a:xfrm>
          <a:prstGeom prst="roundRect">
            <a:avLst>
              <a:gd name="adj" fmla="val 11494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1005840" y="4140403"/>
            <a:ext cx="35661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CONSTRAINTS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4140403"/>
            <a:ext cx="6065215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and rules. 'Under 150 words, professional but friendly, no jargon.'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06624" y="4804258"/>
            <a:ext cx="164592" cy="146304"/>
          </a:xfrm>
          <a:prstGeom prst="down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977994"/>
            <a:ext cx="3931920" cy="636422"/>
          </a:xfrm>
          <a:prstGeom prst="roundRect">
            <a:avLst>
              <a:gd name="adj" fmla="val 11494"/>
            </a:avLst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1005840" y="4977994"/>
            <a:ext cx="35661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OUTPUT FORMAT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4977994"/>
            <a:ext cx="6065215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of the answer. 'Give a subject line, then the email body.'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Role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Telling the AI who to be changes the vocabulary, depth and tone of the answer.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F0DE"/>
          </a:solidFill>
          <a:ln w="12700">
            <a:solidFill>
              <a:srgbClr val="FBF0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same question three times as: a teacher, a strict examiner, and a friendly senior. Compare the three answers.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1336487"/>
          </a:xfrm>
          <a:prstGeom prst="roundRect">
            <a:avLst>
              <a:gd name="adj" fmla="val 4105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82880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 ROLE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2194560"/>
            <a:ext cx="10582351" cy="376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 me feedback on my resume.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2506919"/>
            <a:ext cx="10582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9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generic advice that could apply to anybody.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38439"/>
            <a:ext cx="11094415" cy="2375977"/>
          </a:xfrm>
          <a:prstGeom prst="roundRect">
            <a:avLst>
              <a:gd name="adj" fmla="val 2309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439607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439607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ROLE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805367"/>
            <a:ext cx="10582351" cy="141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as a technical recruiter with 10 years of experience hiring fresh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 graduates in India. Review my resume below and give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feedback the way you would to a candidate you want to help.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5157216"/>
            <a:ext cx="10582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A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specific, industry-aware feedback using a recruiter's real standards.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Task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clear action verb. The task is the heart of the prompt.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D9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for three different things in one sentence. Split them into separate prompts and you will get better quality for each.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1336487"/>
          </a:xfrm>
          <a:prstGeom prst="roundRect">
            <a:avLst>
              <a:gd name="adj" fmla="val 4105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82880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TASK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2194560"/>
            <a:ext cx="10582351" cy="376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Something about our new product.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2506919"/>
            <a:ext cx="10582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9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has to guess: a description? an ad? an email? a review?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38439"/>
            <a:ext cx="11094415" cy="2375977"/>
          </a:xfrm>
          <a:prstGeom prst="roundRect">
            <a:avLst>
              <a:gd name="adj" fmla="val 2309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439607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439607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TASK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805367"/>
            <a:ext cx="10582351" cy="141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 100-word product description for our new stainless steel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water bottle, to be used on an e-commerce listing page.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5157216"/>
            <a:ext cx="10582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A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verb (write), one deliverable (description), one place it will be used.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 — Context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 the background the AI cannot see unless you supply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human colleague would need a detail to do the job, the AI needs it too. Give it in the prompt.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1336487"/>
          </a:xfrm>
          <a:prstGeom prst="roundRect">
            <a:avLst>
              <a:gd name="adj" fmla="val 4105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82880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CONTEXT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2194560"/>
            <a:ext cx="10582351" cy="376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 leave request email.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2506919"/>
            <a:ext cx="10582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9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invents dates, reasons and names — most of which you must correct.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38439"/>
            <a:ext cx="11094415" cy="2375977"/>
          </a:xfrm>
          <a:prstGeom prst="roundRect">
            <a:avLst>
              <a:gd name="adj" fmla="val 2309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439607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439607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CONTEXT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805367"/>
            <a:ext cx="10582351" cy="141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am a final-year student doing a 3-month internship. I need 2 days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leave on 14 and 15 March for my sister's wedding. My manager's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is Priya. I have already completed this week's tasks.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the leave request email.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5157216"/>
            <a:ext cx="10582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A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 detail supplied = almost no editing needed afterwards.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 — Constraints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control length, tone, language, style and what to avoid.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TIP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four most useful constraints: word limit, audience level, tone, and 'do not include…'.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1336487"/>
          </a:xfrm>
          <a:prstGeom prst="roundRect">
            <a:avLst>
              <a:gd name="adj" fmla="val 4105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82880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CONSTRAINTS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2194560"/>
            <a:ext cx="10582351" cy="376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cloud computing.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2506919"/>
            <a:ext cx="10582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9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receive 900 words of technical text you cannot use.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38439"/>
            <a:ext cx="11094415" cy="2375977"/>
          </a:xfrm>
          <a:prstGeom prst="roundRect">
            <a:avLst>
              <a:gd name="adj" fmla="val 2309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439607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439607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CONSTRAINTS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805367"/>
            <a:ext cx="10582351" cy="141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cloud computing in under 120 words, in very simple English,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 first-year college student. Use one everyday analogy.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not use technical terms such as virtualisation or hypervisor.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5157216"/>
            <a:ext cx="10582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A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Length, audience, style and forbidden words are all fixed in advance.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 — Output Format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AI the shape you want, and you will not have to reformat anything.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F0DE"/>
          </a:solidFill>
          <a:ln w="12700">
            <a:solidFill>
              <a:srgbClr val="FBF0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same answer as (a) bullet points, (b) a table, (c) a 5-line summary for a WhatsApp message.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1336487"/>
          </a:xfrm>
          <a:prstGeom prst="roundRect">
            <a:avLst>
              <a:gd name="adj" fmla="val 4105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828800"/>
            <a:ext cx="2281428" cy="274320"/>
          </a:xfrm>
          <a:prstGeom prst="roundRect">
            <a:avLst>
              <a:gd name="adj" fmla="val 50000"/>
            </a:avLst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828800"/>
            <a:ext cx="228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FORMAT SPECIFIED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2194560"/>
            <a:ext cx="10582351" cy="376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online classes and offline classes.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2506919"/>
            <a:ext cx="10582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9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paragraphs that are hard to scan or reuse in a document.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38439"/>
            <a:ext cx="11094415" cy="2375977"/>
          </a:xfrm>
          <a:prstGeom prst="roundRect">
            <a:avLst>
              <a:gd name="adj" fmla="val 2309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439607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439607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SPECIFIED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805367"/>
            <a:ext cx="10582351" cy="141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 online classes and offline classes in a table with three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columns: Point, Online, Offline. Give exactly 6 rows.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the table, add one short conclusion line.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5157216"/>
            <a:ext cx="10582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A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ready-to-paste output in the exact structure you asked for.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All Five Parts Together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complete, professional prompt built from the five blocks.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11094415" cy="1603126"/>
          </a:xfrm>
          <a:prstGeom prst="roundRect">
            <a:avLst>
              <a:gd name="adj" fmla="val 3422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82880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194560"/>
            <a:ext cx="10582351" cy="643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an email about training.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773558"/>
            <a:ext cx="10582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9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Vague. You will spend more time fixing it than writing it yourself.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05078"/>
            <a:ext cx="11094415" cy="2850002"/>
          </a:xfrm>
          <a:prstGeom prst="roundRect">
            <a:avLst>
              <a:gd name="adj" fmla="val 1925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706246"/>
            <a:ext cx="5449824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706246"/>
            <a:ext cx="5449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— ROLE + TASK + CONTEXT + CONSTRAINTS + FORMAT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072006"/>
            <a:ext cx="10582351" cy="188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as a professional HR manager. Write a polite email informing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employees about an upcoming Generative AI training session on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Saturday, 10 a.m. to 4 p.m., in the 3rd floor training hall; lunch is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provided and attendance is compulsory. Keep it under 150 words in a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professional and friendly tone. Give a subject line first, then the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body, then a one-line sign-off.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5897880"/>
            <a:ext cx="10582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A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finished, send-ready email on the very first attempt.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→ Strong: Quick Makeovers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examples students can copy today.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D9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up after one bad answer. The fix is almost never a new tool — it is a better prompt.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886968"/>
          </a:xfrm>
          <a:prstGeom prst="roundRect">
            <a:avLst>
              <a:gd name="adj" fmla="val 618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815084"/>
            <a:ext cx="512064" cy="512064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8150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1773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help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737360"/>
            <a:ext cx="6430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Weak: 'Explain DBMS.'  →  Strong: 'Explain DBMS to a 2nd-year student in 8 simple lines with one real-life example and 3 exam-style questions at the end.'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660904"/>
            <a:ext cx="11094415" cy="886968"/>
          </a:xfrm>
          <a:prstGeom prst="roundRect">
            <a:avLst>
              <a:gd name="adj" fmla="val 618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848356"/>
            <a:ext cx="512064" cy="512064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28483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2807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search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770632"/>
            <a:ext cx="6430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Weak: 'Write a cover letter.'  →  Strong: 'Write a 150-word cover letter for a Junior Data Analyst role. I know Excel, SQL and Power BI, and I did a 3-month internship. Confident but humble tone.'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694176"/>
            <a:ext cx="11094415" cy="886968"/>
          </a:xfrm>
          <a:prstGeom prst="roundRect">
            <a:avLst>
              <a:gd name="adj" fmla="val 618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3881628"/>
            <a:ext cx="512064" cy="512064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38816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803904"/>
            <a:ext cx="6430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Weak: 'Write a post on AI.'  →  Strong: 'Write a 60-word LinkedIn post for students about starting with AI. Simple English, 3 short lines, one question at the end, 3 hashtags.'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727448"/>
            <a:ext cx="11094415" cy="886968"/>
          </a:xfrm>
          <a:prstGeom prst="roundRect">
            <a:avLst>
              <a:gd name="adj" fmla="val 618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4914900"/>
            <a:ext cx="512064" cy="512064"/>
          </a:xfrm>
          <a:prstGeom prst="ellipse">
            <a:avLst/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49149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873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4837176"/>
            <a:ext cx="6430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Weak: 'Summarise this.'  →  Strong: 'Summarise the text below into 5 bullet points a beginner can understand, then list any 2 points that are unclear or missing.'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Prompting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is the fastest and most common style. Use it first — add examples only if the result is not right.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means you ask the AI to do a task without giving it any example of the answer. You rely fully on what the model already knows.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a well-read senior a question directly, without showing them a sample answer first.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'Translate this paragraph into Tamil' — no examples needed, the model already knows how to translate.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'Classify this customer review as Positive, Negative or Neutral: The delivery was late but the product is good.'</a:t>
            </a:r>
            <a:endParaRPr lang="en-US" sz="13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Prompting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2–3 examples first, so the AI copies your exact pattern.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TIP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is the best tool when the FORMAT or STYLE matters more than the facts.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1336487"/>
          </a:xfrm>
          <a:prstGeom prst="roundRect">
            <a:avLst>
              <a:gd name="adj" fmla="val 4105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828800"/>
            <a:ext cx="3529584" cy="274320"/>
          </a:xfrm>
          <a:prstGeom prst="roundRect">
            <a:avLst>
              <a:gd name="adj" fmla="val 50000"/>
            </a:avLst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82880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(STYLE NOT CONTROLLED)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2194560"/>
            <a:ext cx="10582351" cy="376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product taglines for a water bottle.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2506919"/>
            <a:ext cx="10582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9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style, length and mood are whatever the model chooses.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38439"/>
            <a:ext cx="11094415" cy="2375977"/>
          </a:xfrm>
          <a:prstGeom prst="roundRect">
            <a:avLst>
              <a:gd name="adj" fmla="val 2309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439607"/>
            <a:ext cx="4201668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439607"/>
            <a:ext cx="4201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 (STYLE CONTROLLED BY EXAMPLES)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805367"/>
            <a:ext cx="10582351" cy="141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taglines in exactly this style: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Product: Notebook  →  Tagline: Ideas start here.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Product: Backpack  →  Tagline: Carry your day.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Product: Water bottle  →  Tagline: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5157216"/>
            <a:ext cx="10582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A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examples teach the pattern: short, 3 words, calm tone. The AI follows it.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Prompting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F0DE"/>
          </a:solidFill>
          <a:ln w="12700">
            <a:solidFill>
              <a:srgbClr val="FBF0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'Act as an interviewer for a fresher Python role. Ask me 5 questions one at a time and rate my answers.'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 means telling the AI which expert or persona to act as before giving it the task.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 asked to a doctor, a lawyer and a teacher gets three very different answers. You are choosing whom to ask.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'Act as a bank customer support executive' produces polite, policy-safe replies suitable for real customers.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'Act as a strict examiner. Evaluate my answer below out of 10 and list exactly what lost marks.'</a:t>
            </a:r>
            <a:endParaRPr lang="en-US" sz="13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Prompting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'Use only the information I gave you' is a powerful line — it strongly reduces made-up content.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prompting means supplying the background information, data or text the AI needs before it answers.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Handing a new employee the file before asking for their opinion, instead of expecting them to guess the situation.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Pasting a customer complaint into the prompt and asking for a reply that addresses the exact issues raised.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'Here are our 5 product features [paste]. Using only these features, write a 100-word description. Do not invent anything.'</a:t>
            </a:r>
            <a:endParaRPr lang="en-US" sz="13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tables, lists, JSON or a fixed template when the answer feeds into other work.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9EDF9"/>
          </a:solidFill>
          <a:ln w="12700">
            <a:solidFill>
              <a:srgbClr val="E9ED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B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teams convert hundreds of free-text complaints into a clean table this way, then sort by urgency.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932688"/>
          </a:xfrm>
          <a:prstGeom prst="roundRect">
            <a:avLst>
              <a:gd name="adj" fmla="val 588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755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93392"/>
            <a:ext cx="105823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the feedback below, extract the details and reply ONLY as JSON with the keys: name, rating (1-5), issue, urgency (low/medium/high). No extra text.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7406640" cy="2871216"/>
          </a:xfrm>
          <a:prstGeom prst="roundRect">
            <a:avLst>
              <a:gd name="adj" fmla="val 1911"/>
            </a:avLst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2889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E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OUTPUT (JSON)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163824"/>
            <a:ext cx="68945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"Ravi Kumar",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"rating": 2,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"issue": "Package arrived 4 days late and box was damaged",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"urgency": "high"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2743200"/>
            <a:ext cx="3413455" cy="2871216"/>
          </a:xfrm>
          <a:prstGeom prst="roundRect">
            <a:avLst>
              <a:gd name="adj" fmla="val 1911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85632" y="2944368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that make it work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3310128"/>
            <a:ext cx="2864815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exact keys you want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'reply ONLY as JSON'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allowed values in brackets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table when a human will read it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JSON when software will read it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Prompt Refinement Loop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writes the perfect prompt first. Everybody improves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TIP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refinement line: 'Good, but make it shorter, simpler and add one example.' Small corrections work better than rewriting.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249424"/>
            <a:ext cx="2485568" cy="2743200"/>
          </a:xfrm>
          <a:prstGeom prst="roundRect">
            <a:avLst>
              <a:gd name="adj" fmla="val 220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553680" y="2505456"/>
            <a:ext cx="475488" cy="47548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53680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072384"/>
            <a:ext cx="2266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950208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simple, clear first attempt. Do not overthink it.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107360" y="3502152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18256" y="2249424"/>
            <a:ext cx="2485568" cy="2743200"/>
          </a:xfrm>
          <a:prstGeom prst="roundRect">
            <a:avLst>
              <a:gd name="adj" fmla="val 220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23296" y="2505456"/>
            <a:ext cx="475488" cy="47548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23296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527984" y="3072384"/>
            <a:ext cx="2266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582848" y="3950208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answer. What exactly is wrong: length, tone, facts or format?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76976" y="3502152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87872" y="2249424"/>
            <a:ext cx="2485568" cy="2743200"/>
          </a:xfrm>
          <a:prstGeom prst="roundRect">
            <a:avLst>
              <a:gd name="adj" fmla="val 220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92912" y="2505456"/>
            <a:ext cx="475488" cy="47548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92912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97600" y="3072384"/>
            <a:ext cx="2266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52464" y="3950208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missing part — a role, more context, a limit or a format.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846591" y="3502152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57487" y="2249424"/>
            <a:ext cx="2485568" cy="2743200"/>
          </a:xfrm>
          <a:prstGeom prst="roundRect">
            <a:avLst>
              <a:gd name="adj" fmla="val 220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62527" y="2505456"/>
            <a:ext cx="475488" cy="47548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62527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267215" y="3072384"/>
            <a:ext cx="2266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322079" y="3950208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works well, save that prompt for reuse next time.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157216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three rounds will beat one long complicated prompt almost every time.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 Do's and Don'ts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this slide. It is your daily reference.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5364328" cy="4727448"/>
          </a:xfrm>
          <a:prstGeom prst="roundRect">
            <a:avLst>
              <a:gd name="adj" fmla="val 1161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1865376"/>
            <a:ext cx="435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450592"/>
            <a:ext cx="481568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exactly what you want and why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role when expertise matters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source text as context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word limit and a tone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specific format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step by step instead of restarting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facts, numbers and names yourself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8728" y="1627632"/>
            <a:ext cx="5364328" cy="4727448"/>
          </a:xfrm>
          <a:prstGeom prst="roundRect">
            <a:avLst>
              <a:gd name="adj" fmla="val 1161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34760" y="1865376"/>
            <a:ext cx="384048" cy="384048"/>
          </a:xfrm>
          <a:prstGeom prst="ellipse">
            <a:avLst/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476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046824" y="1865376"/>
            <a:ext cx="435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THIS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53048" y="2450592"/>
            <a:ext cx="481568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or two vague words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five unrelated things in one prompt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the AI remembers your earlier chat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passwords, Aadhaar, bank or client data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first answer without reading it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statistics or citations without checking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 the model before improving the prompt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Recap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things that will double the quality of your AI results.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785823"/>
            <a:ext cx="512064" cy="512064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1785823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773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737360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you give the AI — the only thing it knows about your need.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602382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760574"/>
            <a:ext cx="512064" cy="512064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276057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74868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parts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712110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Task, Context, Constraints, Output Format.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577133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735324"/>
            <a:ext cx="512064" cy="512064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7353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72343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686861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directly, no examples. Fast and good enough for most tasks.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551883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4710074"/>
            <a:ext cx="512064" cy="512064"/>
          </a:xfrm>
          <a:prstGeom prst="ellipse">
            <a:avLst/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" y="471007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469818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Few-shot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4661611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2–3 examples when the style or format must match exactly.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526634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5684825"/>
            <a:ext cx="512064" cy="512064"/>
          </a:xfrm>
          <a:prstGeom prst="ellipse">
            <a:avLst/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5684825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508760" y="567293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5636362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→ check → refine → save. Reuse the prompts that worked.</a:t>
            </a:r>
            <a:endParaRPr lang="en-US" sz="12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Quiz — 20 Basic Questions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all 20 first, then check the answer key on the final slide of this day.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multiple-choice questions, four options each, only one correct answer.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26026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63770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6377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57546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563770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yourself about 10 minutes. No notes, no searching — this is a self-check, not an exam.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03413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41157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41157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834933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341157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mark per correct answer. 14 or more means you are ready for the next day.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6384" y="4347972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score low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86384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worry. Go back to the slides for the questions you missed and re-read the Remember boxes.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326026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63770" y="4347972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63770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057546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563770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Trainers: read each question aloud and let students answer by show of hands before revealing the key.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03413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41157" y="4347972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41157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834933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8341157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slide of this day lists all 20 correct answers with the full option text.</a:t>
            </a:r>
            <a:endParaRPr lang="en-US" sz="12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Quiz — Questions 1 to 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88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170432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is…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The AI's answer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20008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The instruction you give the AI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 type of computer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55735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An internet cable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54326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6405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24576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is the skill of…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Repairing servers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20008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Writing better prompts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87872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Installing software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55735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Designing chips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9661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339389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321101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prompt is strongest?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Write something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20008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Write an email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Write a 100-word polite leave email to my manager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855735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Email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04995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14723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396435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'Act as a professional HR manager' is an example of…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Task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0008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Role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87872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Format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55735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Constraint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80330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49005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547177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part of a prompt tells the AI…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Who to be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720008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What to do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87872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How long to write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55735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Which font to use</a:t>
            </a:r>
            <a:endParaRPr lang="en-US" sz="11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Quiz — Questions 6 to 10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88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170432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in a prompt means…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Background information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20008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The word limit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output shape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55735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The AI's name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54326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6405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24576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'Keep it under 150 words' is a…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Role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20008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Constraint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87872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Context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55735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Example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9661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339389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321101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'Give the answer as a table' specifies the…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Output format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20008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Role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Context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855735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Tone only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04995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14723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396435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prompting means…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Giving many examples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0008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Giving no examples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87872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Giving no prompt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55735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Using zero words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80330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49005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547177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 means you provide…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 few examples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720008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 few minutes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87872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Few words only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55735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No instruction</a:t>
            </a:r>
            <a:endParaRPr lang="en-US" sz="11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Quiz — Questions 11 to 15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88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170432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 is most useful when you want to control…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Internet speed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20008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The style or format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AI's price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55735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The screen size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54326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6405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24576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 changes mainly the…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Colour of text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20008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Tone and depth of the answer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87872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File size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55735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Battery usage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9661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339389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321101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a weak prompt?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Summarise this in 5 bullets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20008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Write something nice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Explain DBMS in 8 simple lines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855735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Translate this into Tamil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04995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14723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396435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refinement means…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Deleting the chat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0008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Improving the prompt step by step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87872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Buying a new tool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55735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Restarting the laptop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80330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49005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547177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answer is too long, the best fix is to…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Ask again identically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720008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Add a word limit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87872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Change the browser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55735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Use a longer prompt only</a:t>
            </a:r>
            <a:endParaRPr lang="en-US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Quiz — Questions 16 to 20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88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170432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should NEVER be pasted into a prompt?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 public article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20008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Bank or password details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 sample paragraph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55735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Your question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54326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6405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24576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'Use only the information I gave you' helps to…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Increase speed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20008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Reduce made-up content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87872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Change language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55735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Add images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9661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339389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321101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for JSON output is useful when…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 human reads it aloud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20008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Software will use the data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You want a poem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855735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You need a photo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04995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14723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396435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parts of a strong prompt are…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Role, Task, Context, Constraints, Format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0008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Red, Green, Blue, Black, White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87872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Input, Output, Cable, Screen, Mouse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55735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Who, When, Where, Why, Who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80330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49005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547177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first answer is not good, you should first…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Blame the model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720008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Improve your prompt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87872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Close the app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55735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Buy a subscription</a:t>
            </a:r>
            <a:endParaRPr lang="en-US" sz="11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· PROMPT ENGINEERING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 Quiz — Answer Key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option and answer text for all 20 questions.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31872" y="1719072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31872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048256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you give the AI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63392" y="1627632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46272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46624" y="1719072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46624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46272" y="2048256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better prompts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8144" y="1627632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1024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61375" y="1719072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61375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61024" y="2048256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100-word polite leave email to my manager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92895" y="1627632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75775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076127" y="1719072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076127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175775" y="2048256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2606040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31872" y="2697480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31872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3026664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363392" y="2606040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46272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46624" y="2697480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46624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546272" y="3026664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information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178144" y="2606040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61024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61375" y="2697480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61375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361024" y="3026664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992895" y="2606040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175775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1076127" y="2697480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1076127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9175775" y="3026664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48640" y="3584448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31520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631872" y="3675888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631872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731520" y="4005072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no examples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363392" y="3584448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546272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46624" y="3675888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46624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3546272" y="4005072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examples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178144" y="3584448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361024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261375" y="3675888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261375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6361024" y="4005072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style or format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8992895" y="3584448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175775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1076127" y="3675888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1076127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9175775" y="4005072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and depth of the answer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548640" y="4562856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31520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Q13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631872" y="4654296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2631872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731520" y="4983480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something nice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3363392" y="4562856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3546272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Q14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446624" y="4654296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446624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3546272" y="4983480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the prompt step by step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6178144" y="4562856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361024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Q15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8261375" y="4654296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8261375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6361024" y="4983480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word limit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8992895" y="4562856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9175775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Q16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11076127" y="4654296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11076127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86" name="Text 84"/>
          <p:cNvSpPr txBox="1"/>
          <p:nvPr/>
        </p:nvSpPr>
        <p:spPr>
          <a:xfrm>
            <a:off x="9175775" y="4983480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or password details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548640" y="5541264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731520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Q17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2631872" y="5632704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2631872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91" name="Text 89"/>
          <p:cNvSpPr txBox="1"/>
          <p:nvPr/>
        </p:nvSpPr>
        <p:spPr>
          <a:xfrm>
            <a:off x="731520" y="5961888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made-up content</a:t>
            </a:r>
            <a:endParaRPr lang="en-US" sz="1150" dirty="0"/>
          </a:p>
        </p:txBody>
      </p:sp>
      <p:sp>
        <p:nvSpPr>
          <p:cNvPr id="92" name="Shape 90"/>
          <p:cNvSpPr/>
          <p:nvPr/>
        </p:nvSpPr>
        <p:spPr>
          <a:xfrm>
            <a:off x="3363392" y="5541264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3546272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Q18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5446624" y="5632704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5446624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96" name="Text 94"/>
          <p:cNvSpPr txBox="1"/>
          <p:nvPr/>
        </p:nvSpPr>
        <p:spPr>
          <a:xfrm>
            <a:off x="3546272" y="5961888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will use the data</a:t>
            </a:r>
            <a:endParaRPr lang="en-US" sz="1150" dirty="0"/>
          </a:p>
        </p:txBody>
      </p:sp>
      <p:sp>
        <p:nvSpPr>
          <p:cNvPr id="97" name="Shape 95"/>
          <p:cNvSpPr/>
          <p:nvPr/>
        </p:nvSpPr>
        <p:spPr>
          <a:xfrm>
            <a:off x="6178144" y="5541264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6361024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Q19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8261375" y="5632704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8261375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101" name="Text 99"/>
          <p:cNvSpPr txBox="1"/>
          <p:nvPr/>
        </p:nvSpPr>
        <p:spPr>
          <a:xfrm>
            <a:off x="6361024" y="5961888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Task, Context, Constraints, Format</a:t>
            </a:r>
            <a:endParaRPr lang="en-US" sz="1150" dirty="0"/>
          </a:p>
        </p:txBody>
      </p:sp>
      <p:sp>
        <p:nvSpPr>
          <p:cNvPr id="102" name="Shape 100"/>
          <p:cNvSpPr/>
          <p:nvPr/>
        </p:nvSpPr>
        <p:spPr>
          <a:xfrm>
            <a:off x="8992895" y="5541264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9175775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Q20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11076127" y="5632704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11076127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106" name="Text 104"/>
          <p:cNvSpPr txBox="1"/>
          <p:nvPr/>
        </p:nvSpPr>
        <p:spPr>
          <a:xfrm>
            <a:off x="9175775" y="5961888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your prompt</a:t>
            </a:r>
            <a:endParaRPr lang="en-US" sz="11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015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3840480"/>
            <a:ext cx="4206240" cy="4206240"/>
          </a:xfrm>
          <a:prstGeom prst="ellipse">
            <a:avLst/>
          </a:prstGeom>
          <a:solidFill>
            <a:srgbClr val="4B31C7">
              <a:alpha val="30000"/>
            </a:srgbClr>
          </a:solidFill>
          <a:ln w="12700">
            <a:solidFill>
              <a:srgbClr val="4B31C7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 Image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AI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use AI for real daily work: writing, summarising,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translating, creating images and building presentations.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0" y="1005840"/>
            <a:ext cx="4754880" cy="4663440"/>
          </a:xfrm>
          <a:prstGeom prst="roundRect">
            <a:avLst>
              <a:gd name="adj" fmla="val 1176"/>
            </a:avLst>
          </a:prstGeom>
          <a:solidFill>
            <a:srgbClr val="1B2247"/>
          </a:solidFill>
          <a:ln w="12700">
            <a:solidFill>
              <a:srgbClr val="2E37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87184" y="12984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E7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COVER TODAY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187184" y="1664208"/>
            <a:ext cx="4114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text generation and writing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Summarising long content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 and rewriting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ideas quickly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education and business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text-to-image works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parts of an image prompt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Subject, environment, lighting, style, composition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ready-to-use image prompts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presentations with AI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486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with 20 beginner quiz questions + answer key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Text Generation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(Large Language Model) is the engine behind text generation: a model trained on huge amounts of text to understand and produce language.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 is an AI writing new text — a sentence, a paragraph or a whole document — based on your instruction.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advanced autocomplete. It keeps predicting the most suitable next word using the whole conversation as context.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drafts, product descriptions, college assignments outlines and email replies.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'Write 3 opening lines for a college farewell speech, warm and simple.'</a:t>
            </a:r>
            <a:endParaRPr lang="en-US" sz="13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Things AI Writing Does Well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these — they save the most time.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F0DE"/>
          </a:solidFill>
          <a:ln w="12700">
            <a:solidFill>
              <a:srgbClr val="FBF0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badly-worded sentence, then ask: 'Rewrite this professionally, keep it under 25 words.'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2595296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865376"/>
            <a:ext cx="1635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377440"/>
            <a:ext cx="2119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requests, follow-ups, apologies, announcements, replies to complaints.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81680" y="1627632"/>
            <a:ext cx="2595296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19424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1942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113200" y="1865376"/>
            <a:ext cx="1635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619424" y="2377440"/>
            <a:ext cx="2119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points from your raw experience, cover letters tailored to a job description.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4720" y="1627632"/>
            <a:ext cx="2595296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52464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5246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946240" y="1865376"/>
            <a:ext cx="1635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52464" y="2377440"/>
            <a:ext cx="2119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first, then section-by-section drafting from your notes.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47759" y="1627632"/>
            <a:ext cx="2595296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285503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85503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9779279" y="1865376"/>
            <a:ext cx="1635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posts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285503" y="2377440"/>
            <a:ext cx="2119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LinkedIn, Instagram captions, hashtags and short announcements.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3739896"/>
            <a:ext cx="2595296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6384" y="3977640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8638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280160" y="3977640"/>
            <a:ext cx="1635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notes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86384" y="4489704"/>
            <a:ext cx="2119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summaries, definitions, comparison tables and practice questions.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381680" y="3739896"/>
            <a:ext cx="2595296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19424" y="3977640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61942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113200" y="3977640"/>
            <a:ext cx="1635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Blogs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3619424" y="4489704"/>
            <a:ext cx="2119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Titles, outlines, introductions and conclusions you then edit.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14720" y="3739896"/>
            <a:ext cx="2595296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52464" y="3977640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45246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946240" y="3977640"/>
            <a:ext cx="1635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452464" y="4489704"/>
            <a:ext cx="2119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scripts, presentation speaker notes and short announcements.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047759" y="3739896"/>
            <a:ext cx="2595296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285503" y="3977640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285503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779279" y="3977640"/>
            <a:ext cx="1635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Editing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9285503" y="4489704"/>
            <a:ext cx="2119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grammar, shortening, simplifying or changing the tone of your own writing.</a:t>
            </a:r>
            <a:endParaRPr lang="en-US" sz="11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Summarization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long content into something you can actually use.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9EDF9"/>
          </a:solidFill>
          <a:ln w="12700">
            <a:solidFill>
              <a:srgbClr val="E9ED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B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paste a 20-page policy PDF and ask for '10 bullet points a new employee must know' before a meeting.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1336487"/>
          </a:xfrm>
          <a:prstGeom prst="roundRect">
            <a:avLst>
              <a:gd name="adj" fmla="val 4105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82880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2194560"/>
            <a:ext cx="10582351" cy="376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Summarise this.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2506919"/>
            <a:ext cx="10582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9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control the length, depth or who it is written for.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38439"/>
            <a:ext cx="11094415" cy="2375977"/>
          </a:xfrm>
          <a:prstGeom prst="roundRect">
            <a:avLst>
              <a:gd name="adj" fmla="val 2309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439607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439607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805367"/>
            <a:ext cx="10582351" cy="141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Summarise the article below into exactly 5 key points in simple English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 beginner. After the points, add one line called 'Why it matters'.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not add any information that is not in the article.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[paste the article here]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5157216"/>
            <a:ext cx="10582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A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count, fixed audience, fixed structure, and no invented content.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Translation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word-for-word: translate with the right tone and audience.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D9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a translation of legal, medical or safety text without a human native speaker checking it.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886968"/>
          </a:xfrm>
          <a:prstGeom prst="roundRect">
            <a:avLst>
              <a:gd name="adj" fmla="val 618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815084"/>
            <a:ext cx="512064" cy="512064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8150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1773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translation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737360"/>
            <a:ext cx="6430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'Translate this paragraph into Hindi.' Fast, good for general meaning.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660904"/>
            <a:ext cx="11094415" cy="886968"/>
          </a:xfrm>
          <a:prstGeom prst="roundRect">
            <a:avLst>
              <a:gd name="adj" fmla="val 618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848356"/>
            <a:ext cx="512064" cy="512064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28483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2807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Tone-aware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770632"/>
            <a:ext cx="6430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'Translate into Tamil using polite, formal language suitable for a customer email.'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694176"/>
            <a:ext cx="11094415" cy="886968"/>
          </a:xfrm>
          <a:prstGeom prst="roundRect">
            <a:avLst>
              <a:gd name="adj" fmla="val 618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3881628"/>
            <a:ext cx="512064" cy="512064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38816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Simplify + translate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803904"/>
            <a:ext cx="6430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'Translate into Telugu and keep the language simple enough for a school student.'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727448"/>
            <a:ext cx="11094415" cy="886968"/>
          </a:xfrm>
          <a:prstGeom prst="roundRect">
            <a:avLst>
              <a:gd name="adj" fmla="val 618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4914900"/>
            <a:ext cx="512064" cy="512064"/>
          </a:xfrm>
          <a:prstGeom prst="ellipse">
            <a:avLst/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49149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873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quality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4837176"/>
            <a:ext cx="6430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'Translate back into English so I can verify the meaning did not change.'</a:t>
            </a:r>
            <a:endParaRPr lang="en-US" sz="12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Rewriting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idea, different shape — the fastest quality win for beginners.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F0DE"/>
          </a:solidFill>
          <a:ln w="12700">
            <a:solidFill>
              <a:srgbClr val="FBF0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3 versions: formal, friendly, and very short. Pick the one that fits your situation.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1336487"/>
          </a:xfrm>
          <a:prstGeom prst="roundRect">
            <a:avLst>
              <a:gd name="adj" fmla="val 4105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828800"/>
            <a:ext cx="2185416" cy="274320"/>
          </a:xfrm>
          <a:prstGeom prst="roundRect">
            <a:avLst>
              <a:gd name="adj" fmla="val 50000"/>
            </a:avLst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8288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ORIGINAL TEXT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2194560"/>
            <a:ext cx="10582351" cy="376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cant come office tomorrow because am not well and will do work later ok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2506919"/>
            <a:ext cx="10582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9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meaning is clear, but it is not usable in a professional setting.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38439"/>
            <a:ext cx="11094415" cy="2375977"/>
          </a:xfrm>
          <a:prstGeom prst="roundRect">
            <a:avLst>
              <a:gd name="adj" fmla="val 2309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439607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439607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+ RESULT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805367"/>
            <a:ext cx="10582351" cy="141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"Rewrite this professionally for an email to my manager, under 40 words."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"I am unwell and will not be able to come to the office tomorrow.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will complete my pending tasks and share an update by Friday.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Apologies for the inconvenience."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5157216"/>
            <a:ext cx="10582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A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is ideal when you know what to say but not how to say it.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Brainstorming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break a blank page — it is excellent at producing options.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at its best as an idea partner, not as a final decision maker. You still choose.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quantity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'Give me 15 title ideas.' Quantity first, then you pick the best 2.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6026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63770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6377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57546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angles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63770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'Suggest 5 different angles to approach this topic, one line each.'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03413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41157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41157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834933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opposites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341157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'Now give 5 ideas that argue the opposite view.' It exposes weak thinking.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6384" y="3977640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questions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786384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'What 10 questions should I answer before I start this?'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26026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63770" y="3977640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6377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57546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to combine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4563770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'Combine ideas 3 and 7 into one stronger idea.'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103413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41157" y="3977640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41157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834933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to rank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8341157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'Rank these ideas by effort needed and impact, in a table.'</a:t>
            </a:r>
            <a:endParaRPr lang="en-US" sz="12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Education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prompts every student should keep saved.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D9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AI text as your own work. Use AI to understand and to draft — then write and verify it yourself.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886968"/>
          </a:xfrm>
          <a:prstGeom prst="roundRect">
            <a:avLst>
              <a:gd name="adj" fmla="val 618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815084"/>
            <a:ext cx="512064" cy="512064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8150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1773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737360"/>
            <a:ext cx="6430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'Explain [topic] to me like I am 12 years old, in 6 lines, with one everyday example.'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660904"/>
            <a:ext cx="11094415" cy="886968"/>
          </a:xfrm>
          <a:prstGeom prst="roundRect">
            <a:avLst>
              <a:gd name="adj" fmla="val 618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848356"/>
            <a:ext cx="512064" cy="512064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28483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2807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Practise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770632"/>
            <a:ext cx="6430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'Create 10 MCQs on [chapter] with answers at the end, beginner level.'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694176"/>
            <a:ext cx="11094415" cy="886968"/>
          </a:xfrm>
          <a:prstGeom prst="roundRect">
            <a:avLst>
              <a:gd name="adj" fmla="val 618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3881628"/>
            <a:ext cx="512064" cy="512064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38816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803904"/>
            <a:ext cx="6430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'Make a comparison table of [A] vs [B] with 6 rows for quick revision.'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727448"/>
            <a:ext cx="11094415" cy="886968"/>
          </a:xfrm>
          <a:prstGeom prst="roundRect">
            <a:avLst>
              <a:gd name="adj" fmla="val 618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4914900"/>
            <a:ext cx="512064" cy="512064"/>
          </a:xfrm>
          <a:prstGeom prst="ellipse">
            <a:avLst/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49149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873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Self-check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4837176"/>
            <a:ext cx="6430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'Here is my answer. Act as an examiner, score it out of 10 and list what is missing.'</a:t>
            </a:r>
            <a:endParaRPr lang="en-US" sz="12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Business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teams get the fastest return.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9EDF9"/>
          </a:solidFill>
          <a:ln w="12700">
            <a:solidFill>
              <a:srgbClr val="E9ED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B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e-commerce seller generates 200 product descriptions in an afternoon, then edits the top 20 by hand.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711757"/>
            <a:ext cx="512064" cy="512064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711757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1773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737360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first replies, summarise long chat threads, convert calls into action points.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454250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538374"/>
            <a:ext cx="512064" cy="512064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253837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260055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563978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copy, subject lines, 10 caption variants, campaign ideas and audience messaging.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280867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3364992"/>
            <a:ext cx="512064" cy="512064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3364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427171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390595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minutes, SOP drafts, checklists and status update emails.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107485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4191610"/>
            <a:ext cx="512064" cy="512064"/>
          </a:xfrm>
          <a:prstGeom prst="ellipse">
            <a:avLst/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419161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253789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4217213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outreach, proposal outlines and simple objection-handling scripts.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934102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" y="5018227"/>
            <a:ext cx="512064" cy="512064"/>
          </a:xfrm>
          <a:prstGeom prst="ellipse">
            <a:avLst/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" y="5018227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508760" y="508040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4846320" y="5043830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descriptions, interview question sets, onboarding documents and policy summaries.</a:t>
            </a:r>
            <a:endParaRPr lang="en-US" sz="12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AI Image Generation?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Google image search. Nothing is copied from a website — the picture is created from your words.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 generation creates a brand-new picture from a text description. The image did not exist anywhere before — it is generated, not searched.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a scene to a very fast artist who paints exactly what you say. Vague words give a vague painting.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Posters for college events, thumbnails, product mock-ups, social media graphics and illustrations.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'A cup of filter coffee on a wooden table near a window, warm morning light, photo style.'</a:t>
            </a:r>
            <a:endParaRPr lang="en-US" sz="13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Text-to-Image Works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four-step view — no maths needed.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619756"/>
            <a:ext cx="2485568" cy="2743200"/>
          </a:xfrm>
          <a:prstGeom prst="roundRect">
            <a:avLst>
              <a:gd name="adj" fmla="val 220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53680" y="2875788"/>
            <a:ext cx="475488" cy="47548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53680" y="28757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442716"/>
            <a:ext cx="2266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describe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432054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a prompt describing what the picture should contain.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107360" y="3872484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8256" y="2619756"/>
            <a:ext cx="2485568" cy="2743200"/>
          </a:xfrm>
          <a:prstGeom prst="roundRect">
            <a:avLst>
              <a:gd name="adj" fmla="val 220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23296" y="2875788"/>
            <a:ext cx="475488" cy="47548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23296" y="28757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27984" y="3442716"/>
            <a:ext cx="2266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understands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82848" y="432054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converts your words into a meaning it can work with.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76976" y="3872484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87872" y="2619756"/>
            <a:ext cx="2485568" cy="2743200"/>
          </a:xfrm>
          <a:prstGeom prst="roundRect">
            <a:avLst>
              <a:gd name="adj" fmla="val 220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92912" y="2875788"/>
            <a:ext cx="475488" cy="47548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92912" y="28757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97600" y="3442716"/>
            <a:ext cx="2266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is built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52464" y="432054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starts from visual noise and refines it step by step towards your description.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846591" y="3872484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57487" y="2619756"/>
            <a:ext cx="2485568" cy="2743200"/>
          </a:xfrm>
          <a:prstGeom prst="roundRect">
            <a:avLst>
              <a:gd name="adj" fmla="val 220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162527" y="2875788"/>
            <a:ext cx="475488" cy="47548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162527" y="28757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267215" y="3442716"/>
            <a:ext cx="2266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refine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322079" y="432054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adjust the words and generate again until the image matches your idea.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5275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detail in the prompt = far more control over the result.</a:t>
            </a:r>
            <a:endParaRPr lang="en-US" sz="12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 Parts of an Image Prompt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order and your images improve immediately.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→ Environment → Lighting → Style → Composition. Missing parts are decided by the model, not by you.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1627632"/>
            <a:ext cx="3931920" cy="636422"/>
          </a:xfrm>
          <a:prstGeom prst="roundRect">
            <a:avLst>
              <a:gd name="adj" fmla="val 11494"/>
            </a:avLst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05840" y="1627632"/>
            <a:ext cx="35661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SUBJECT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627632"/>
            <a:ext cx="6065215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thing in the picture. 'A young woman holding a coffee cup.'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06624" y="2291486"/>
            <a:ext cx="164592" cy="146304"/>
          </a:xfrm>
          <a:prstGeom prst="down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465222"/>
            <a:ext cx="3931920" cy="636422"/>
          </a:xfrm>
          <a:prstGeom prst="roundRect">
            <a:avLst>
              <a:gd name="adj" fmla="val 11494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05840" y="2465222"/>
            <a:ext cx="35661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ENVIRONMENT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2465222"/>
            <a:ext cx="6065215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is. 'In a busy café near a large window, rainy street outside.'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06624" y="3129077"/>
            <a:ext cx="164592" cy="146304"/>
          </a:xfrm>
          <a:prstGeom prst="down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302813"/>
            <a:ext cx="3931920" cy="636422"/>
          </a:xfrm>
          <a:prstGeom prst="roundRect">
            <a:avLst>
              <a:gd name="adj" fmla="val 11494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005840" y="3302813"/>
            <a:ext cx="35661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LIGHTING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3302813"/>
            <a:ext cx="6065215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mood of the light. 'Soft warm morning light from the side.'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706624" y="3966667"/>
            <a:ext cx="164592" cy="146304"/>
          </a:xfrm>
          <a:prstGeom prst="down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4140403"/>
            <a:ext cx="3931920" cy="636422"/>
          </a:xfrm>
          <a:prstGeom prst="roundRect">
            <a:avLst>
              <a:gd name="adj" fmla="val 11494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1005840" y="4140403"/>
            <a:ext cx="35661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STYLE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4140403"/>
            <a:ext cx="6065215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 look. 'Realistic photo', 'flat vector illustration', '3D render', 'watercolour'.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06624" y="4804258"/>
            <a:ext cx="164592" cy="146304"/>
          </a:xfrm>
          <a:prstGeom prst="down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977994"/>
            <a:ext cx="3931920" cy="636422"/>
          </a:xfrm>
          <a:prstGeom prst="roundRect">
            <a:avLst>
              <a:gd name="adj" fmla="val 11494"/>
            </a:avLst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1005840" y="4977994"/>
            <a:ext cx="356616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COMPOSITION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4977994"/>
            <a:ext cx="6065215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 view. 'Close-up portrait', 'wide shot', 'top view', 'centred, plain background'.</a:t>
            </a:r>
            <a:endParaRPr lang="en-US" sz="12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and Environment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parts that decide what is actually in the picture.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5181448" cy="4727448"/>
          </a:xfrm>
          <a:prstGeom prst="roundRect">
            <a:avLst>
              <a:gd name="adj" fmla="val 1161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627632"/>
            <a:ext cx="5181448" cy="658368"/>
          </a:xfrm>
          <a:prstGeom prst="roundRect">
            <a:avLst>
              <a:gd name="adj" fmla="val 8333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1627632"/>
            <a:ext cx="466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— what it is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496312"/>
            <a:ext cx="4632808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clearly: 'a red electric scooter'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2–3 descriptive details only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quantity: 'three books stacked'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action: 'a student writing in a notebook'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long lists of unrelated objects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Weak: 'a nice picture'  •  Strong: 'a steel water bottle on a desk'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61608" y="1627632"/>
            <a:ext cx="5181448" cy="4727448"/>
          </a:xfrm>
          <a:prstGeom prst="roundRect">
            <a:avLst>
              <a:gd name="adj" fmla="val 1161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61608" y="1627632"/>
            <a:ext cx="5181448" cy="658368"/>
          </a:xfrm>
          <a:prstGeom prst="roundRect">
            <a:avLst>
              <a:gd name="adj" fmla="val 8333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17640" y="1627632"/>
            <a:ext cx="466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— where it is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735928" y="2496312"/>
            <a:ext cx="4632808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Place: 'in a modern office', 'on a beach at sunset'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Surface: 'on a wooden table', 'on white marble'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'plain grey background', 'blurred city street'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or season: 'light rain', 'foggy morning'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background simple for product images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Strong: 'on a wooden table near a window, plants behind'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21528" y="3717036"/>
            <a:ext cx="548640" cy="548640"/>
          </a:xfrm>
          <a:prstGeom prst="ellipse">
            <a:avLst/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21528" y="37170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 and Style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decide the mood and the look more than anything else.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D9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 living artist and asking for their exact style. Describe the look you want instead — it avoids copyright problems.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5181448" cy="3986784"/>
          </a:xfrm>
          <a:prstGeom prst="roundRect">
            <a:avLst>
              <a:gd name="adj" fmla="val 137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627632"/>
            <a:ext cx="5181448" cy="658368"/>
          </a:xfrm>
          <a:prstGeom prst="roundRect">
            <a:avLst>
              <a:gd name="adj" fmla="val 8333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627632"/>
            <a:ext cx="466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 — the mood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496312"/>
            <a:ext cx="463280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'Soft natural daylight' — clean and friendly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'Golden hour sunlight' — warm and premium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'Studio lighting, white background' — product shots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'Dramatic side lighting' — strong and serious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'Neon lights at night' — modern and techy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'Bright and even' — safest choice for beginners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61608" y="1627632"/>
            <a:ext cx="5181448" cy="3986784"/>
          </a:xfrm>
          <a:prstGeom prst="roundRect">
            <a:avLst>
              <a:gd name="adj" fmla="val 137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61608" y="1627632"/>
            <a:ext cx="5181448" cy="658368"/>
          </a:xfrm>
          <a:prstGeom prst="roundRect">
            <a:avLst>
              <a:gd name="adj" fmla="val 8333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17640" y="1627632"/>
            <a:ext cx="466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 — the look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735928" y="2496312"/>
            <a:ext cx="463280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'Realistic photograph' — looks like a camera photo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'Flat vector illustration' — clean, good for slides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'3D render' — modern app and product look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'Watercolour painting' — soft and artistic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'Line art, black and white' — simple diagrams and icons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'Minimal, lots of white space' — professional feel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21528" y="3346704"/>
            <a:ext cx="548640" cy="548640"/>
          </a:xfrm>
          <a:prstGeom prst="ellipse">
            <a:avLst/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21528" y="3346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 — the Camera 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subject is placed in the frame.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F0DE"/>
          </a:solidFill>
          <a:ln w="12700">
            <a:solidFill>
              <a:srgbClr val="FBF0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same subject twice: once as 'close-up' and once as 'wide shot'. The difference is dramatic.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Close-up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the frame with the subject. Best for faces, food and product details.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6026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63770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6377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57546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shot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63770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subject inside a full scene. Best for places and events.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03413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41157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41157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834933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view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341157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straight down. Popular for desks, food and flat-lay product photos.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6384" y="3977640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Centred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786384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in the middle with a plain background. Best for posters and thumbnails.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26026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63770" y="3977640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6377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57546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thirds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4563770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slightly off-centre. Looks more natural and professional.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103413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41157" y="3977640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41157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834933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space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8341157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'Leave empty space on the left for text.' Essential for posters and banners.</a:t>
            </a:r>
            <a:endParaRPr lang="en-US" sz="12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Example Image Prompts — Part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TIP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 to change only ONE part of a prompt at a time. That is how they learn what each part controls.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11094415" cy="932688"/>
          </a:xfrm>
          <a:prstGeom prst="roundRect">
            <a:avLst>
              <a:gd name="adj" fmla="val 588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14630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1700784"/>
            <a:ext cx="105823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 to follow: [subject], [environment], [lighting], [style], [composition]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450592"/>
            <a:ext cx="11094415" cy="3163824"/>
          </a:xfrm>
          <a:prstGeom prst="roundRect">
            <a:avLst>
              <a:gd name="adj" fmla="val 1734"/>
            </a:avLst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04672" y="25968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E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READY-TO-USE PROMPTS 1 – 5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2871216"/>
            <a:ext cx="10582351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30"/>
              </a:lnSpc>
              <a:buNone/>
            </a:pPr>
            <a:r>
              <a:rPr lang="en-US" sz="1144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 steel water bottle on a wooden desk, plain white background,</a:t>
            </a: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44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soft studio lighting, realistic product photo, centred.</a:t>
            </a: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44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A young Indian college student studying with a laptop in a library,</a:t>
            </a: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44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warm afternoon light through a window, realistic photo, wide shot.</a:t>
            </a: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44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A flat vector illustration of a robot helping a person write an email,</a:t>
            </a: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44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simple purple and white colours, plain background, centred.</a:t>
            </a: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44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A cup of filter coffee beside a notebook on a marble table,</a:t>
            </a: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44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bright natural daylight, top view, minimal style with copy space.</a:t>
            </a: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44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A modern small shop front decorated for a festival in the evening,</a:t>
            </a: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44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warm string lights, realistic photo, wide shot.</a:t>
            </a:r>
            <a:endParaRPr lang="en-US" sz="1144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Example Image Prompts — Part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D9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one vague line and expecting a perfect image. Detail is not optional — it is the whole skill.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11094415" cy="932688"/>
          </a:xfrm>
          <a:prstGeom prst="roundRect">
            <a:avLst>
              <a:gd name="adj" fmla="val 588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14630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1700784"/>
            <a:ext cx="105823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'leave empty space for text' whenever you plan to add a heading later.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450592"/>
            <a:ext cx="11094415" cy="3163824"/>
          </a:xfrm>
          <a:prstGeom prst="roundRect">
            <a:avLst>
              <a:gd name="adj" fmla="val 1734"/>
            </a:avLst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04672" y="25968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E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READY-TO-USE PROMPTS 6 – 10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2871216"/>
            <a:ext cx="10582351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30"/>
              </a:lnSpc>
              <a:buNone/>
            </a:pPr>
            <a:r>
              <a:rPr lang="en-US" sz="1144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6. A minimal poster background about technology, dark blue with soft</a:t>
            </a: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44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glowing lines, empty space in the centre for text, flat style.</a:t>
            </a: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44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7. A 3D render of a smartphone floating above a clean desk, soft studio</a:t>
            </a: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44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lighting, light grey background, centred product view.</a:t>
            </a: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44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8. A watercolour painting of a village in the hills at sunrise,</a:t>
            </a: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44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soft warm light, wide landscape composition.</a:t>
            </a: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44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9. Black and white line art of a simple house with a solar panel,</a:t>
            </a: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44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white background, centred, suitable for an icon.</a:t>
            </a: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44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 A friendly cartoon teacher pointing at a board with charts,</a:t>
            </a:r>
            <a:endParaRPr lang="en-US" sz="1144" dirty="0"/>
          </a:p>
          <a:p>
            <a:pPr indent="0" marL="0">
              <a:lnSpc>
                <a:spcPts val="1430"/>
              </a:lnSpc>
              <a:buNone/>
            </a:pPr>
            <a:r>
              <a:rPr lang="en-US" sz="1144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bright even lighting, flat illustration, copy space on the right.</a:t>
            </a:r>
            <a:endParaRPr lang="en-US" sz="1144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Presentation Creation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carry about 70% of the work. You supply judgement and accuracy.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are for the audience's eyes, notes are for your mouth. Never put your full script on the slide.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Outline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full slide-by-slide structure before writing any content.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6026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63770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6377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57546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content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63770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each outline point into a title plus 3–4 short bullets.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03413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41157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41157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834933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notes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341157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what you will actually say under each slide.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6384" y="3977640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Simplify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786384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 long paragraphs into scannable phrases.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26026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63770" y="3977640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6377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57546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ideas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4563770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which slides need a diagram, chart, table or image.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103413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41157" y="3977640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41157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834933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8341157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to find repetition, missing points and weak slide titles.</a:t>
            </a:r>
            <a:endParaRPr lang="en-US" sz="12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Slide Outline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start here. The outline decides whether the deck works.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11094415" cy="1603126"/>
          </a:xfrm>
          <a:prstGeom prst="roundRect">
            <a:avLst>
              <a:gd name="adj" fmla="val 3422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82880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194560"/>
            <a:ext cx="10582351" cy="643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a presentation on cyber security.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2773558"/>
            <a:ext cx="10582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9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audience, no length, no depth — the result will be generic.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05078"/>
            <a:ext cx="11094415" cy="2850002"/>
          </a:xfrm>
          <a:prstGeom prst="roundRect">
            <a:avLst>
              <a:gd name="adj" fmla="val 1925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3706246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370624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072006"/>
            <a:ext cx="10582351" cy="188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 12-slide presentation outline on cyber security basics for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first-year college students with no technical background.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slide give: slide number, slide title, and 3 bullet points.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every bullet under 12 words. End with one revision slide.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5897880"/>
            <a:ext cx="10582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A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complete, correctly-sized structure you can immediately review.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Content, Notes and Improvement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prompts that finish the deck.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TIP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the outline prompt live, then improve slide 1 with the class suggesting the corrections.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886968"/>
          </a:xfrm>
          <a:prstGeom prst="roundRect">
            <a:avLst>
              <a:gd name="adj" fmla="val 618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815084"/>
            <a:ext cx="512064" cy="512064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8150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1773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content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737360"/>
            <a:ext cx="6430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'Expand slide 4 into a title and 4 bullets. Maximum 10 words per bullet, simple English, no paragraphs.'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660904"/>
            <a:ext cx="11094415" cy="886968"/>
          </a:xfrm>
          <a:prstGeom prst="roundRect">
            <a:avLst>
              <a:gd name="adj" fmla="val 618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848356"/>
            <a:ext cx="512064" cy="512064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28483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2807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Speaker notes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770632"/>
            <a:ext cx="6430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'Write 60-word speaker notes for slide 4 in a conversational tone, as if explaining to beginners.'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694176"/>
            <a:ext cx="11094415" cy="886968"/>
          </a:xfrm>
          <a:prstGeom prst="roundRect">
            <a:avLst>
              <a:gd name="adj" fmla="val 618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3881628"/>
            <a:ext cx="512064" cy="512064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38816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suggestions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803904"/>
            <a:ext cx="6430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'For each slide, suggest one visual: diagram, table, chart, icon set or photo. One line each.'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727448"/>
            <a:ext cx="11094415" cy="886968"/>
          </a:xfrm>
          <a:prstGeom prst="roundRect">
            <a:avLst>
              <a:gd name="adj" fmla="val 618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4914900"/>
            <a:ext cx="512064" cy="512064"/>
          </a:xfrm>
          <a:prstGeom prst="ellipse">
            <a:avLst/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49149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873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4837176"/>
            <a:ext cx="6430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'Review this deck outline. Point out repeated ideas, missing topics and any slide with too much text.'</a:t>
            </a:r>
            <a:endParaRPr lang="en-US" sz="12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Recap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now do without any coding.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785823"/>
            <a:ext cx="512064" cy="512064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1785823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773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&amp; rewrite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737360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emails, posts and reports, then reshape tone and length on demand.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602382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760574"/>
            <a:ext cx="512064" cy="512064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276057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74868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Summarise &amp; translate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712110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long documents and move between languages with the right tone.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577133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735324"/>
            <a:ext cx="512064" cy="512064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7353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72343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686861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15 options fast, then choose and combine the best ones yourself.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551883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4710074"/>
            <a:ext cx="512064" cy="512064"/>
          </a:xfrm>
          <a:prstGeom prst="ellipse">
            <a:avLst/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" y="471007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469818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images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4661611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Subject, environment, lighting, style, composition — all five, every time.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526634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5684825"/>
            <a:ext cx="512064" cy="512064"/>
          </a:xfrm>
          <a:prstGeom prst="ellipse">
            <a:avLst/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5684825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508760" y="567293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presentations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5636362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first, then content, then speaker notes, then a review pass.</a:t>
            </a:r>
            <a:endParaRPr lang="en-US" sz="12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Quiz — 20 Basic Questions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all 20 first, then check the answer key on the final slide of this day.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multiple-choice questions, four options each, only one correct answer.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26026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63770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6377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57546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563770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yourself about 10 minutes. No notes, no searching — this is a self-check, not an exam.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03413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41157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41157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834933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341157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mark per correct answer. 14 or more means you are ready for the next day.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6384" y="4347972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score low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86384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worry. Go back to the slides for the questions you missed and re-read the Remember boxes.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326026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63770" y="4347972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63770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057546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563770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Trainers: read each question aloud and let students answer by show of hands before revealing the key.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03413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41157" y="4347972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41157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834933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8341157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slide of this day lists all 20 correct answers with the full option text.</a:t>
            </a:r>
            <a:endParaRPr lang="en-US" sz="12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Quiz — Questions 1 to 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88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170432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text generation means the AI…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Deletes text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20008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Creates new text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Prints text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55735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Scans text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54326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6405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24576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stands for…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Large Language Model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20008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Long Line Machine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87872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Local Link Manager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55735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Light Learning Mode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9661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339389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321101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 means…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Making content longer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20008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Shortening content to key points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Translating content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855735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Deleting content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04995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14723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396435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summarization prompt is best?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Summarise this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0008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Make it short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87872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Summarise into 5 simple bullet points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55735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Shorten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80330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49005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547177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translation converts text from…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One language to another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720008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Text to image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87872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Code to data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55735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Audio to video</a:t>
            </a:r>
            <a:endParaRPr lang="en-US" sz="11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Quiz — Questions 6 to 10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88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170432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with AI is used to…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Change tone or length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20008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Create images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Write SQL only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55735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Delete files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54326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6405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24576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with AI works best when you ask for…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One idea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20008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Many options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87872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No ideas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55735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Only images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9661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339389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321101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student prompt is…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Explain it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20008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Explain in 6 simple lines with an example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Tell me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855735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Do my work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04995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14723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396435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image generation creates images from…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 text description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0008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 phone call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87872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 printed page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55735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An Excel file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80330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49005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547177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Text-to-image means…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Image becomes text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720008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Text becomes an image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87872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Text becomes audio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55735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Image becomes code</a:t>
            </a:r>
            <a:endParaRPr lang="en-US" sz="11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Quiz — Questions 11 to 15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88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170432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NOT one of the 5 image prompt parts?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Subject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20008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Lighting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Password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55735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Composition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54326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6405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24576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SUBJECT of an image prompt is…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The main thing in the picture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20008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The light source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87872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file size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55735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The colour of text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9661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339389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321101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'On a wooden table near a window' describes the…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Environment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20008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Style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Subject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855735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Format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04995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14723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396435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'Soft golden sunlight' describes the…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Composition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0008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Lighting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87872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Subject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55735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Resolution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80330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49005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547177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'Flat vector illustration' describes the…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Style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720008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Lighting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87872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Subject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55735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Environment</a:t>
            </a:r>
            <a:endParaRPr lang="en-US" sz="11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Quiz — Questions 16 to 20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88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170432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'Close-up' and 'wide shot' describe the…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Composition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20008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Lighting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Style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55735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Subject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54326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6405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24576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add a heading on a poster later, ask for…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More colours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20008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Empty space for text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87872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 bigger file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55735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More objects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9661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339389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321101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making a presentation with AI, start with the…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Final design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20008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Outline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Speaker notes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855735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Animations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04995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14723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396435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notes are meant for…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The audience to read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0008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The presenter to speak from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87872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printer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55735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The projector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80330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49005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547177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 with AI-written content is to…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Use it without reading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720008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Review and edit it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87872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Never use it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55735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Publish immediately</a:t>
            </a:r>
            <a:endParaRPr lang="en-US" sz="11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· TEXT, IMAGE &amp; PRESENTATION AI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Quiz — Answer Key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option and answer text for all 20 questions.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31872" y="1719072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31872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048256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text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63392" y="1627632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46272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46624" y="1719072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46624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46272" y="2048256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8144" y="1627632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1024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61375" y="1719072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61375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61024" y="2048256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Shortening content to key points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92895" y="1627632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75775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076127" y="1719072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076127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175775" y="2048256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into 5 simple bullet points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2606040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31872" y="2697480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31872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3026664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language to another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363392" y="2606040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46272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46624" y="2697480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46624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546272" y="3026664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tone or length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178144" y="2606040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61024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61375" y="2697480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61375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361024" y="3026664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options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992895" y="2606040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175775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1076127" y="2697480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1076127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9175775" y="3026664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 6 simple lines with an example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48640" y="3584448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31520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631872" y="3675888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631872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731520" y="4005072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description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363392" y="3584448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546272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46624" y="3675888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46624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3546272" y="4005072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becomes an image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178144" y="3584448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361024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261375" y="3675888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261375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6361024" y="4005072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8992895" y="3584448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175775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1076127" y="3675888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1076127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9175775" y="4005072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thing in the picture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548640" y="4562856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31520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Q13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631872" y="4654296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2631872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731520" y="4983480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3363392" y="4562856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3546272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Q14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446624" y="4654296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446624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3546272" y="4983480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6178144" y="4562856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361024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Q15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8261375" y="4654296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8261375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6361024" y="4983480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8992895" y="4562856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9175775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Q16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11076127" y="4654296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11076127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86" name="Text 84"/>
          <p:cNvSpPr txBox="1"/>
          <p:nvPr/>
        </p:nvSpPr>
        <p:spPr>
          <a:xfrm>
            <a:off x="9175775" y="4983480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548640" y="5541264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731520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Q17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2631872" y="5632704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2631872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91" name="Text 89"/>
          <p:cNvSpPr txBox="1"/>
          <p:nvPr/>
        </p:nvSpPr>
        <p:spPr>
          <a:xfrm>
            <a:off x="731520" y="5961888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space for text</a:t>
            </a:r>
            <a:endParaRPr lang="en-US" sz="1150" dirty="0"/>
          </a:p>
        </p:txBody>
      </p:sp>
      <p:sp>
        <p:nvSpPr>
          <p:cNvPr id="92" name="Shape 90"/>
          <p:cNvSpPr/>
          <p:nvPr/>
        </p:nvSpPr>
        <p:spPr>
          <a:xfrm>
            <a:off x="3363392" y="5541264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3546272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Q18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5446624" y="5632704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5446624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96" name="Text 94"/>
          <p:cNvSpPr txBox="1"/>
          <p:nvPr/>
        </p:nvSpPr>
        <p:spPr>
          <a:xfrm>
            <a:off x="3546272" y="5961888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1150" dirty="0"/>
          </a:p>
        </p:txBody>
      </p:sp>
      <p:sp>
        <p:nvSpPr>
          <p:cNvPr id="97" name="Shape 95"/>
          <p:cNvSpPr/>
          <p:nvPr/>
        </p:nvSpPr>
        <p:spPr>
          <a:xfrm>
            <a:off x="6178144" y="5541264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6361024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Q19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8261375" y="5632704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8261375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101" name="Text 99"/>
          <p:cNvSpPr txBox="1"/>
          <p:nvPr/>
        </p:nvSpPr>
        <p:spPr>
          <a:xfrm>
            <a:off x="6361024" y="5961888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presenter to speak from</a:t>
            </a:r>
            <a:endParaRPr lang="en-US" sz="1150" dirty="0"/>
          </a:p>
        </p:txBody>
      </p:sp>
      <p:sp>
        <p:nvSpPr>
          <p:cNvPr id="102" name="Shape 100"/>
          <p:cNvSpPr/>
          <p:nvPr/>
        </p:nvSpPr>
        <p:spPr>
          <a:xfrm>
            <a:off x="8992895" y="5541264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9175775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Q20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11076127" y="5632704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11076127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106" name="Text 104"/>
          <p:cNvSpPr txBox="1"/>
          <p:nvPr/>
        </p:nvSpPr>
        <p:spPr>
          <a:xfrm>
            <a:off x="9175775" y="5961888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edit it</a:t>
            </a:r>
            <a:endParaRPr lang="en-US" sz="11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015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3840480"/>
            <a:ext cx="4206240" cy="4206240"/>
          </a:xfrm>
          <a:prstGeom prst="ellipse">
            <a:avLst/>
          </a:prstGeom>
          <a:solidFill>
            <a:srgbClr val="4B31C7">
              <a:alpha val="30000"/>
            </a:srgbClr>
          </a:solidFill>
          <a:ln w="12700">
            <a:solidFill>
              <a:srgbClr val="4B31C7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for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&amp; Data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programming background needed. You will learn how AI writes,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explains, fixes and tests code — and how it helps with data.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0" y="1005840"/>
            <a:ext cx="4754880" cy="4663440"/>
          </a:xfrm>
          <a:prstGeom prst="roundRect">
            <a:avLst>
              <a:gd name="adj" fmla="val 1176"/>
            </a:avLst>
          </a:prstGeom>
          <a:solidFill>
            <a:srgbClr val="1B2247"/>
          </a:solidFill>
          <a:ln w="12700">
            <a:solidFill>
              <a:srgbClr val="2E37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87184" y="12984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E7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COVER TODAY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187184" y="1664208"/>
            <a:ext cx="4114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a coding assistant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explain and debug code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Refactoring, comments and documentation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test cases with AI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and JavaScript basics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SQL with AI help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analysis means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and summarising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charts from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AI-generated code responsibly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486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with 20 beginner quiz questions + answer key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to AI-Assisted Coding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not replace understanding. You must still read the code and know what it does before you use it.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coding means using an AI model to write, explain, fix, improve and test programs from instructions given in plain English.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senior developer sitting beside you. You describe what you want; they type it and explain every line you ask about.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now generate boilerplate code, forms, queries and tests in seconds, and spend their time on logic and design.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'Write a Python function that takes a list of numbers and returns the average. Add comments.'</a:t>
            </a:r>
            <a:endParaRPr lang="en-US" sz="13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Jobs an AI Coding Assistant Does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saves a different kind of time.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11094415" cy="549946"/>
          </a:xfrm>
          <a:prstGeom prst="roundRect">
            <a:avLst>
              <a:gd name="adj" fmla="val 997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646573"/>
            <a:ext cx="512064" cy="512064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1646573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773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737360"/>
            <a:ext cx="6430975" cy="330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new code from a plain-English description of what you need.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323882"/>
            <a:ext cx="11094415" cy="549946"/>
          </a:xfrm>
          <a:prstGeom prst="roundRect">
            <a:avLst>
              <a:gd name="adj" fmla="val 997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342823"/>
            <a:ext cx="512064" cy="512064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2342823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47018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433610"/>
            <a:ext cx="6430975" cy="330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existing code and explains it line by line in simple language.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020133"/>
            <a:ext cx="11094415" cy="549946"/>
          </a:xfrm>
          <a:prstGeom prst="roundRect">
            <a:avLst>
              <a:gd name="adj" fmla="val 997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039074"/>
            <a:ext cx="512064" cy="512064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03907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16643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129861"/>
            <a:ext cx="6430975" cy="330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reason for an error message and suggests the corrected code.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716383"/>
            <a:ext cx="11094415" cy="549946"/>
          </a:xfrm>
          <a:prstGeom prst="roundRect">
            <a:avLst>
              <a:gd name="adj" fmla="val 997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3735324"/>
            <a:ext cx="512064" cy="512064"/>
          </a:xfrm>
          <a:prstGeom prst="ellipse">
            <a:avLst/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" y="37353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386268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826111"/>
            <a:ext cx="6430975" cy="330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working code to be cleaner, shorter and easier to maintain.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4412633"/>
            <a:ext cx="11094415" cy="549946"/>
          </a:xfrm>
          <a:prstGeom prst="roundRect">
            <a:avLst>
              <a:gd name="adj" fmla="val 997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4431574"/>
            <a:ext cx="512064" cy="512064"/>
          </a:xfrm>
          <a:prstGeom prst="ellipse">
            <a:avLst/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443157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508760" y="455893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4522361"/>
            <a:ext cx="6430975" cy="330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comments, function descriptions and README-style documentation.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108883"/>
            <a:ext cx="11094415" cy="549946"/>
          </a:xfrm>
          <a:prstGeom prst="roundRect">
            <a:avLst>
              <a:gd name="adj" fmla="val 997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" y="5127825"/>
            <a:ext cx="512064" cy="512064"/>
          </a:xfrm>
          <a:prstGeom prst="ellipse">
            <a:avLst/>
          </a:prstGeom>
          <a:solidFill>
            <a:srgbClr val="4B31C7"/>
          </a:solidFill>
          <a:ln w="12700">
            <a:solidFill>
              <a:srgbClr val="4B31C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672" y="5127825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508760" y="525518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4846320" y="5218611"/>
            <a:ext cx="6430975" cy="330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test cases, including the tricky edge cases beginners forget.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48640" y="5805134"/>
            <a:ext cx="11094415" cy="549946"/>
          </a:xfrm>
          <a:prstGeom prst="roundRect">
            <a:avLst>
              <a:gd name="adj" fmla="val 997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" y="5824075"/>
            <a:ext cx="512064" cy="512064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4672" y="5824075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508760" y="595143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</a:t>
            </a:r>
            <a:endParaRPr lang="en-US" sz="1450" dirty="0"/>
          </a:p>
        </p:txBody>
      </p:sp>
      <p:sp>
        <p:nvSpPr>
          <p:cNvPr id="41" name="Text 39"/>
          <p:cNvSpPr txBox="1"/>
          <p:nvPr/>
        </p:nvSpPr>
        <p:spPr>
          <a:xfrm>
            <a:off x="4846320" y="5914862"/>
            <a:ext cx="6430975" cy="330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code from one language to another, e.g. Python to JavaScript.</a:t>
            </a:r>
            <a:endParaRPr lang="en-US" sz="12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Code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requirement exactly as you would to a person.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F0DE"/>
          </a:solidFill>
          <a:ln w="12700">
            <a:solidFill>
              <a:srgbClr val="FBF0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prompt to 'without using the % operator' and see how differently the AI solves it.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932688"/>
          </a:xfrm>
          <a:prstGeom prst="roundRect">
            <a:avLst>
              <a:gd name="adj" fmla="val 588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755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93392"/>
            <a:ext cx="105823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 Python function that checks whether a number is even or odd. Add a comment on each line and show one example of how to call 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7406640" cy="2871216"/>
          </a:xfrm>
          <a:prstGeom prst="roundRect">
            <a:avLst>
              <a:gd name="adj" fmla="val 1911"/>
            </a:avLst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2889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E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163824"/>
            <a:ext cx="68945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check_even_odd(number):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% gives the remainder after division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number % 2 == 0: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"Even"      # remainder 0 means even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"Odd"       # any other remainder means odd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Example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print(check_even_odd(7))   # Output: Odd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2743200"/>
            <a:ext cx="3413455" cy="2871216"/>
          </a:xfrm>
          <a:prstGeom prst="roundRect">
            <a:avLst>
              <a:gd name="adj" fmla="val 1911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85632" y="2944368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code prompt has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3310128"/>
            <a:ext cx="2864815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language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input and output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comments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one example call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level: 'beginner-friendly'</a:t>
            </a:r>
            <a:endParaRPr lang="en-US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Explaining Code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way for a beginner to learn from real code.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TIP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 to paste any code from their syllabus and request the 'never programmed' explanation. Confidence rises instantly.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1336487"/>
          </a:xfrm>
          <a:prstGeom prst="roundRect">
            <a:avLst>
              <a:gd name="adj" fmla="val 4105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82880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2194560"/>
            <a:ext cx="10582351" cy="376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does this code do?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2506919"/>
            <a:ext cx="10582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9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often get a technical answer that is harder than the code itself.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38439"/>
            <a:ext cx="11094415" cy="2375977"/>
          </a:xfrm>
          <a:prstGeom prst="roundRect">
            <a:avLst>
              <a:gd name="adj" fmla="val 2309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439607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439607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805367"/>
            <a:ext cx="10582351" cy="141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 the code below line by line to someone who has never programmed.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the explanation, answer these three questions: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What is the input?  2) What is the output?  3) What could go wrong?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[paste the code here]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5157216"/>
            <a:ext cx="10582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A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understanding, not just a description.</a:t>
            </a:r>
            <a:endParaRPr lang="en-US" sz="12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 Code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give the AI three things: the code, the error message and the expected behaviour.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an error happened is worth more than the corrected line. Always ask for the reason.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932688"/>
          </a:xfrm>
          <a:prstGeom prst="roundRect">
            <a:avLst>
              <a:gd name="adj" fmla="val 588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755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93392"/>
            <a:ext cx="105823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Python code gives 'TypeError: can only concatenate str (not "int") to str'. Explain why in simple words and give the corrected code.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7406640" cy="2871216"/>
          </a:xfrm>
          <a:prstGeom prst="roundRect">
            <a:avLst>
              <a:gd name="adj" fmla="val 1911"/>
            </a:avLst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2889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E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163824"/>
            <a:ext cx="68945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Problem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20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print("My age is " + age)      # error: text + number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Why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cannot join text and a number directly.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Corrected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print("My age is " + str(age))  # convert number to text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print(f"My age is {age}")       # cleaner modern way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2743200"/>
            <a:ext cx="3413455" cy="2871216"/>
          </a:xfrm>
          <a:prstGeom prst="roundRect">
            <a:avLst>
              <a:gd name="adj" fmla="val 1911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85632" y="2944368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prompt checklist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3310128"/>
            <a:ext cx="2864815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full error message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exact code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you expected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WHY, not only the fix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fix before using it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Refactoring Code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result, better code. Ask AI to clean up what already works.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TIP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to use: 'Refactor this code for readability. Do not change what it does. List every change you made.'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5181448" cy="3986784"/>
          </a:xfrm>
          <a:prstGeom prst="roundRect">
            <a:avLst>
              <a:gd name="adj" fmla="val 137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627632"/>
            <a:ext cx="5181448" cy="658368"/>
          </a:xfrm>
          <a:prstGeom prst="roundRect">
            <a:avLst>
              <a:gd name="adj" fmla="val 8333"/>
            </a:avLst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627632"/>
            <a:ext cx="466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refactoring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496312"/>
            <a:ext cx="463280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function doing five different things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names like a, b, x1, temp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copied in three places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comments anywhere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for anyone else to read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fix without breaking something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61608" y="1627632"/>
            <a:ext cx="5181448" cy="3986784"/>
          </a:xfrm>
          <a:prstGeom prst="roundRect">
            <a:avLst>
              <a:gd name="adj" fmla="val 137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61608" y="1627632"/>
            <a:ext cx="5181448" cy="658368"/>
          </a:xfrm>
          <a:prstGeom prst="roundRect">
            <a:avLst>
              <a:gd name="adj" fmla="val 8333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17640" y="1627632"/>
            <a:ext cx="466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refactoring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735928" y="2496312"/>
            <a:ext cx="463280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functions, each with one job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names: total_marks, student_name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code moved into one reusable function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comments where logic is non-obvious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by a teammate in minutes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change one part without breaking others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21528" y="3346704"/>
            <a:ext cx="548640" cy="548640"/>
          </a:xfrm>
          <a:prstGeom prst="ellipse">
            <a:avLst/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21528" y="3346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 and Documentation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everybody skips — and AI does in seconds.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9EDF9"/>
          </a:solidFill>
          <a:ln w="12700">
            <a:solidFill>
              <a:srgbClr val="E9ED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B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ask AI to document legacy code nobody remembers writing — turning an unreadable file into a usable one.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932688"/>
          </a:xfrm>
          <a:prstGeom prst="roundRect">
            <a:avLst>
              <a:gd name="adj" fmla="val 588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755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93392"/>
            <a:ext cx="105823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a docstring and short inline comments to this function, then write 4 lines of README documentation explaining how to use 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7406640" cy="2871216"/>
          </a:xfrm>
          <a:prstGeom prst="roundRect">
            <a:avLst>
              <a:gd name="adj" fmla="val 1911"/>
            </a:avLst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2889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E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DOCUMENTATION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163824"/>
            <a:ext cx="68945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calculate_total(prices, tax_rate):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"""Return the total price including tax.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prices    : list of item prices (numbers)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tax_rate  : tax as a decimal, e.g. 0.18 for 18%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returns   : total amount including tax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subtotal = sum(prices)          # add all item prices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subtotal * (1 + tax_rate)  # apply tax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2743200"/>
            <a:ext cx="3413455" cy="2871216"/>
          </a:xfrm>
          <a:prstGeom prst="roundRect">
            <a:avLst>
              <a:gd name="adj" fmla="val 1911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85632" y="2944368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levels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3310128"/>
            <a:ext cx="2864815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explain WHY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 explain HOW to use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explains WHAT it is for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all three separately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Test Cases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very good at remembering the cases you forget.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input and wrong data type are the two cases beginners forget most often. Ask AI for them by name.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932688"/>
          </a:xfrm>
          <a:prstGeom prst="roundRect">
            <a:avLst>
              <a:gd name="adj" fmla="val 588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755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93392"/>
            <a:ext cx="105823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test cases for a function that calculates the average of a list of numbers. Include normal cases and edge cases. Show them as a simple table.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7406640" cy="2871216"/>
          </a:xfrm>
          <a:prstGeom prst="roundRect">
            <a:avLst>
              <a:gd name="adj" fmla="val 1911"/>
            </a:avLst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2889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E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163824"/>
            <a:ext cx="68945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             Input                Expected output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----------------------------------------------------------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            [10, 20, 30]         20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value      [5]                  5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Decimals          [1.5, 2.5]           2.0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Negative numbers  [-10, 10]            0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 list        []                   error / 0 (decide!)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inside list  [10, "a"]            error message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2743200"/>
            <a:ext cx="3413455" cy="2871216"/>
          </a:xfrm>
          <a:prstGeom prst="roundRect">
            <a:avLst>
              <a:gd name="adj" fmla="val 1911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85632" y="2944368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test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3310128"/>
            <a:ext cx="2864815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input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possible input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input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data type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values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Safe Way to Use AI Code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these five steps every single time.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D9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Copy-paste-run without reading. If you cannot explain the code, you are not ready to use it.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249424"/>
            <a:ext cx="1911645" cy="274320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266718" y="2505456"/>
            <a:ext cx="475488" cy="47548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66718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072384"/>
            <a:ext cx="169218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950208"/>
            <a:ext cx="15824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clearly what the code must do, in one or two lines.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33437" y="3502152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44333" y="2249424"/>
            <a:ext cx="1911645" cy="274320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62411" y="2505456"/>
            <a:ext cx="475488" cy="47548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62411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954061" y="3072384"/>
            <a:ext cx="169218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008925" y="3950208"/>
            <a:ext cx="15824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language, input, output, constraints and ask for comments.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29129" y="3502152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40025" y="2249424"/>
            <a:ext cx="1911645" cy="274320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58104" y="2505456"/>
            <a:ext cx="475488" cy="47548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58104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249753" y="3072384"/>
            <a:ext cx="169218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code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304617" y="3950208"/>
            <a:ext cx="15824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it. If any line is unclear, ask the AI to explain that line.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124822" y="3502152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35718" y="2249424"/>
            <a:ext cx="1911645" cy="274320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53796" y="2505456"/>
            <a:ext cx="475488" cy="47548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53796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545446" y="3072384"/>
            <a:ext cx="169218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600310" y="3950208"/>
            <a:ext cx="15824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with normal, empty and wrong inputs before trusting it.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420515" y="3502152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31411" y="2249424"/>
            <a:ext cx="1911645" cy="274320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449489" y="2505456"/>
            <a:ext cx="475488" cy="47548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49489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841139" y="3072384"/>
            <a:ext cx="169218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896003" y="3950208"/>
            <a:ext cx="15824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refactoring, better names, error handling and documentation.</a:t>
            </a:r>
            <a:endParaRPr lang="en-US" sz="11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HTML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gives a web page its structure — the skeleton.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F0DE"/>
          </a:solidFill>
          <a:ln w="12700">
            <a:solidFill>
              <a:srgbClr val="FBF0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'Add a dropdown for course selection and make all fields required.' Then reload and test the form.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932688"/>
          </a:xfrm>
          <a:prstGeom prst="roundRect">
            <a:avLst>
              <a:gd name="adj" fmla="val 588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755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93392"/>
            <a:ext cx="105823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a simple HTML registration form with name, email and phone number fields, and a submit button. Add labels and make it beginner-friendly.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7406640" cy="2871216"/>
          </a:xfrm>
          <a:prstGeom prst="roundRect">
            <a:avLst>
              <a:gd name="adj" fmla="val 1911"/>
            </a:avLst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2889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E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163824"/>
            <a:ext cx="68945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150" dirty="0"/>
          </a:p>
          <a:p>
            <a:pPr indent="0" marL="0">
              <a:lnSpc>
                <a:spcPts val="1476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for="name"&gt;Name&lt;/label&gt;</a:t>
            </a:r>
            <a:endParaRPr lang="en-US" sz="1150" dirty="0"/>
          </a:p>
          <a:p>
            <a:pPr indent="0" marL="0">
              <a:lnSpc>
                <a:spcPts val="1476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id="name" placeholder="Enter your name"&gt;</a:t>
            </a:r>
            <a:endParaRPr lang="en-US" sz="1150" dirty="0"/>
          </a:p>
          <a:p>
            <a:pPr indent="0" marL="0">
              <a:lnSpc>
                <a:spcPts val="1476"/>
              </a:lnSpc>
              <a:buNone/>
            </a:pPr>
            <a:endParaRPr lang="en-US" sz="1150" dirty="0"/>
          </a:p>
          <a:p>
            <a:pPr indent="0" marL="0">
              <a:lnSpc>
                <a:spcPts val="1476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for="email"&gt;Email&lt;/label&gt;</a:t>
            </a:r>
            <a:endParaRPr lang="en-US" sz="1150" dirty="0"/>
          </a:p>
          <a:p>
            <a:pPr indent="0" marL="0">
              <a:lnSpc>
                <a:spcPts val="1476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type="email" id="email" placeholder="you@example.com"&gt;</a:t>
            </a:r>
            <a:endParaRPr lang="en-US" sz="1150" dirty="0"/>
          </a:p>
          <a:p>
            <a:pPr indent="0" marL="0">
              <a:lnSpc>
                <a:spcPts val="1476"/>
              </a:lnSpc>
              <a:buNone/>
            </a:pPr>
            <a:endParaRPr lang="en-US" sz="1150" dirty="0"/>
          </a:p>
          <a:p>
            <a:pPr indent="0" marL="0">
              <a:lnSpc>
                <a:spcPts val="1476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&lt;label for="phone"&gt;Phone&lt;/label&gt;</a:t>
            </a:r>
            <a:endParaRPr lang="en-US" sz="1150" dirty="0"/>
          </a:p>
          <a:p>
            <a:pPr indent="0" marL="0">
              <a:lnSpc>
                <a:spcPts val="1476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type="tel" id="phone" placeholder="10-digit number"&gt;</a:t>
            </a:r>
            <a:endParaRPr lang="en-US" sz="1150" dirty="0"/>
          </a:p>
          <a:p>
            <a:pPr indent="0" marL="0">
              <a:lnSpc>
                <a:spcPts val="1476"/>
              </a:lnSpc>
              <a:buNone/>
            </a:pPr>
            <a:endParaRPr lang="en-US" sz="1150" dirty="0"/>
          </a:p>
          <a:p>
            <a:pPr indent="0" marL="0">
              <a:lnSpc>
                <a:spcPts val="1476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type="submit"&gt;Register&lt;/button&gt;</a:t>
            </a:r>
            <a:endParaRPr lang="en-US" sz="1150" dirty="0"/>
          </a:p>
          <a:p>
            <a:pPr indent="0" marL="0">
              <a:lnSpc>
                <a:spcPts val="1476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2743200"/>
            <a:ext cx="3413455" cy="2871216"/>
          </a:xfrm>
          <a:prstGeom prst="roundRect">
            <a:avLst>
              <a:gd name="adj" fmla="val 1911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85632" y="2944368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notice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3310128"/>
            <a:ext cx="2864815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needs a label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type="email" checks the format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is only a hint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to add 'required' next</a:t>
            </a:r>
            <a:endParaRPr lang="en-US" sz="1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CSS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controls how the page looks — colours, spacing and layout.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11094415" cy="932688"/>
          </a:xfrm>
          <a:prstGeom prst="roundRect">
            <a:avLst>
              <a:gd name="adj" fmla="val 588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755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993392"/>
            <a:ext cx="105823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simple CSS to style that registration form: centred card, rounded corners, soft shadow, comfortable spacing, and a purple submit button.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7406640" cy="3611880"/>
          </a:xfrm>
          <a:prstGeom prst="roundRect">
            <a:avLst>
              <a:gd name="adj" fmla="val 1519"/>
            </a:avLst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4672" y="2889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E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163824"/>
            <a:ext cx="689457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{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max-width: 380px;          /* keeps the form narrow */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margin: 40px auto;         /* centres it on the page */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24px;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border-radius: 10px;       /* rounded corners */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 0 4px 16px rgba(0,0,0,.08);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Arial, sans-serif;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 { width: 100%; padding: 10px; margin: 6px 0 14px; }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{ background: #6C4CF1; color: #fff; padding: 10px 18px;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border: none; border-radius: 6px; cursor: pointer; }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2743200"/>
            <a:ext cx="3413455" cy="3611880"/>
          </a:xfrm>
          <a:prstGeom prst="roundRect">
            <a:avLst>
              <a:gd name="adj" fmla="val 160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85632" y="2944368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 tips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85632" y="3310128"/>
            <a:ext cx="286481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feel: 'clean', 'modern'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exact colours if you have them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mobile-friendly CSS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to explain any property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JavaScript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makes a page do things when the user interacts with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builds it, CSS dresses it, JavaScript makes it react. Every website you use combines all three.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932688"/>
          </a:xfrm>
          <a:prstGeom prst="roundRect">
            <a:avLst>
              <a:gd name="adj" fmla="val 588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755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93392"/>
            <a:ext cx="105823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beginner-friendly JavaScript that shows an alert saying 'Thank you!' when the register button is clicked, but only if the name field is not empty.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7406640" cy="2871216"/>
          </a:xfrm>
          <a:prstGeom prst="roundRect">
            <a:avLst>
              <a:gd name="adj" fmla="val 1911"/>
            </a:avLst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2889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E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163824"/>
            <a:ext cx="68945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button = document.querySelector("button");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 = document.querySelector("#name");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button.addEventListener("click", function (event) {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event.preventDefault();          // stop the page reloading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(name.value.trim() === "") {  // empty check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alert("Please enter your name");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alert("Thank you, " + name.value + "!");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2743200"/>
            <a:ext cx="3413455" cy="2871216"/>
          </a:xfrm>
          <a:prstGeom prst="roundRect">
            <a:avLst>
              <a:gd name="adj" fmla="val 1911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85632" y="2944368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languages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3310128"/>
            <a:ext cx="2864815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= structure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= appearance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= behaviour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to explain 'event' and 'trim'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Python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the easiest first language and the most common one for AI and data work.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F0DE"/>
          </a:solidFill>
          <a:ln w="12700">
            <a:solidFill>
              <a:srgbClr val="FBF0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 to add error handling so the program does not crash when the user types a word instead of a number.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932688"/>
          </a:xfrm>
          <a:prstGeom prst="roundRect">
            <a:avLst>
              <a:gd name="adj" fmla="val 588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755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93392"/>
            <a:ext cx="105823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 beginner-friendly Python program that asks the user for 5 marks, stores them in a list, and prints the total, average and highest mark.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7406640" cy="2871216"/>
          </a:xfrm>
          <a:prstGeom prst="roundRect">
            <a:avLst>
              <a:gd name="adj" fmla="val 1911"/>
            </a:avLst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2889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E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163824"/>
            <a:ext cx="68945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[]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range(5):                      # repeat 5 times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 = float(input(f"Enter mark {i+1}: "))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marks.append(value)                 # add to the list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print("Total  :", sum(marks))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print("Average:", sum(marks) / len(marks))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print("Highest:", max(marks))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2743200"/>
            <a:ext cx="3413455" cy="2871216"/>
          </a:xfrm>
          <a:prstGeom prst="roundRect">
            <a:avLst>
              <a:gd name="adj" fmla="val 1911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85632" y="2944368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Concepts used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3310128"/>
            <a:ext cx="2864815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stores many values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 repeats work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len, max are built in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AI: 'what if the user types text?'</a:t>
            </a:r>
            <a:endParaRPr lang="en-US" sz="1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SQL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how we ask questions to a database. AI is excellent at writing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D9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an AI-written UPDATE or DELETE query on real data without testing it on a copy first.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932688"/>
          </a:xfrm>
          <a:prstGeom prst="roundRect">
            <a:avLst>
              <a:gd name="adj" fmla="val 588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755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93392"/>
            <a:ext cx="105823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have a table called students with columns: id, name, course, marks. Write an SQL query to show the top 5 students in the 'BCA' course, highest marks first.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7406640" cy="2871216"/>
          </a:xfrm>
          <a:prstGeom prst="roundRect">
            <a:avLst>
              <a:gd name="adj" fmla="val 1911"/>
            </a:avLst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2889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E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163824"/>
            <a:ext cx="68945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course, marks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course = 'BCA'        -- filter the rows we want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marks DESC         -- highest marks first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5;                    -- only the top 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2743200"/>
            <a:ext cx="3413455" cy="2871216"/>
          </a:xfrm>
          <a:prstGeom prst="roundRect">
            <a:avLst>
              <a:gd name="adj" fmla="val 1911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85632" y="2944368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good SQL prompt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3310128"/>
            <a:ext cx="2864815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give the table name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list the column names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you want to see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to explain each clause</a:t>
            </a:r>
            <a:endParaRPr lang="en-US" sz="1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Data Analysis?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is not about big numbers. It is about turning data into a decision someone can act on.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is the process of cleaning, organising and examining data to find useful information that helps someone make a decision.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reading a class marksheet. The numbers alone mean little; the useful part is 'which subject needs more attention'.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shop checking which products sell most on weekends, and stocking them before Friday.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500 rows of sales data, find the top 3 products, the weakest month and the average order value.</a:t>
            </a:r>
            <a:endParaRPr lang="en-US" sz="13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Data Cleaning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is always messy. Cleaning is 70% of the work — and AI is good at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D9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rows with missing values without checking how many. You may throw away half your data by accident.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886968"/>
          </a:xfrm>
          <a:prstGeom prst="roundRect">
            <a:avLst>
              <a:gd name="adj" fmla="val 618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815084"/>
            <a:ext cx="512064" cy="512064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8150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1773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737360"/>
            <a:ext cx="6430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'This column has empty cells. Suggest 3 ways to handle them and explain when each one is appropriate.'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660904"/>
            <a:ext cx="11094415" cy="886968"/>
          </a:xfrm>
          <a:prstGeom prst="roundRect">
            <a:avLst>
              <a:gd name="adj" fmla="val 618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848356"/>
            <a:ext cx="512064" cy="512064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28483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2807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770632"/>
            <a:ext cx="6430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'Write Python code to remove duplicate rows based on the email column, keeping the first entry.'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694176"/>
            <a:ext cx="11094415" cy="886968"/>
          </a:xfrm>
          <a:prstGeom prst="roundRect">
            <a:avLst>
              <a:gd name="adj" fmla="val 618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3881628"/>
            <a:ext cx="512064" cy="512064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38816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formats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803904"/>
            <a:ext cx="6430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'Convert all dates in this column to DD-MM-YYYY and list any values that could not be converted.'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727448"/>
            <a:ext cx="11094415" cy="886968"/>
          </a:xfrm>
          <a:prstGeom prst="roundRect">
            <a:avLst>
              <a:gd name="adj" fmla="val 618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4914900"/>
            <a:ext cx="512064" cy="512064"/>
          </a:xfrm>
          <a:prstGeom prst="ellipse">
            <a:avLst/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49149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873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text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4837176"/>
            <a:ext cx="643097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'Standardise the city column: chennai, CHENNAI and Chennai should all become Chennai.'</a:t>
            </a:r>
            <a:endParaRPr lang="en-US" sz="12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Data Summarization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of your data in plain English.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AI's numbers. Ask it to show the calculation, or recheck the totals yourself.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1336487"/>
          </a:xfrm>
          <a:prstGeom prst="roundRect">
            <a:avLst>
              <a:gd name="adj" fmla="val 4105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82880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2194560"/>
            <a:ext cx="10582351" cy="376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Analyse this data.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2506919"/>
            <a:ext cx="10582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943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does not know what decision you are trying to make.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38439"/>
            <a:ext cx="11094415" cy="2375977"/>
          </a:xfrm>
          <a:prstGeom prst="roundRect">
            <a:avLst>
              <a:gd name="adj" fmla="val 2309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439607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3439607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805367"/>
            <a:ext cx="10582351" cy="141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Here is 6 months of sales data (paste or attach).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 me: 1) total sales per month, 2) the three best-selling products,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3) the weakest month with a likely reason, 4) two actions I should take.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points 1 and 2 as tables. Use simple English throughout.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5157216"/>
            <a:ext cx="1058235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A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questions produce specific, decision-ready answers.</a:t>
            </a:r>
            <a:endParaRPr lang="en-US" sz="12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Charts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right chart, not just 'a chart'.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F0DE"/>
          </a:solidFill>
          <a:ln w="12700">
            <a:solidFill>
              <a:srgbClr val="FBF0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'Write Python code using matplotlib to draw a bar chart of these monthly sales, with labels and a title.'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categories: sales by product, marks by subject, students per course.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6026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63770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6377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57546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63770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change over time: monthly revenue, daily visitors, weekly attendance.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03413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41157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41157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834933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 chart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341157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parts of a whole. Use only with 5 or fewer slices, or it becomes unreadable.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6384" y="3977640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 plot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786384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relationship between two numbers: study hours vs marks.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26026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63770" y="3977640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6377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57546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4563770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exact values matter more than the shape of the trend.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103413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41157" y="3977640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41157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834933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 to choose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8341157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 want to show X. Which chart type is best and why?' — a great beginner prompt.</a:t>
            </a:r>
            <a:endParaRPr lang="en-US" sz="12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SQL for Analysis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business question directly into a query.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11094415" cy="932688"/>
          </a:xfrm>
          <a:prstGeom prst="roundRect">
            <a:avLst>
              <a:gd name="adj" fmla="val 588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755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993392"/>
            <a:ext cx="105823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'orders' has: order_id, customer, product, amount, order_date. Show total sales per month for 2025, highest first. Explain each line.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7406640" cy="3611880"/>
          </a:xfrm>
          <a:prstGeom prst="roundRect">
            <a:avLst>
              <a:gd name="adj" fmla="val 1519"/>
            </a:avLst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4672" y="2889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E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163824"/>
            <a:ext cx="689457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MONTH(order_date) AS month,     -- take the month number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SUM(amount)        AS total     -- add all order amounts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YEAR(order_date) = 2025     -- only last year's orders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MONTH(order_date)        -- one row per month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 DESC;              -- biggest month at the top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2743200"/>
            <a:ext cx="3413455" cy="3611880"/>
          </a:xfrm>
          <a:prstGeom prst="roundRect">
            <a:avLst>
              <a:gd name="adj" fmla="val 160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85632" y="2944368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a query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85632" y="3310128"/>
            <a:ext cx="286481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— what to show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— which rows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— how to group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— how to sort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to explain any keyword</a:t>
            </a:r>
            <a:endParaRPr lang="en-US" sz="12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Use of AI-Generated Code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that keep you and your employer safe.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code you submit. The AI takes no responsibility — the person who ships it does.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5364328" cy="3986784"/>
          </a:xfrm>
          <a:prstGeom prst="roundRect">
            <a:avLst>
              <a:gd name="adj" fmla="val 137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1865376"/>
            <a:ext cx="435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450592"/>
            <a:ext cx="4815688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understand every line before using it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normal, empty and wrong inputs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licences for anything you ship publicly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 to explain anything unclear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secrets and keys out of the code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database and delete operations twice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78728" y="1627632"/>
            <a:ext cx="5364328" cy="3986784"/>
          </a:xfrm>
          <a:prstGeom prst="roundRect">
            <a:avLst>
              <a:gd name="adj" fmla="val 137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34760" y="1865376"/>
            <a:ext cx="384048" cy="384048"/>
          </a:xfrm>
          <a:prstGeom prst="ellipse">
            <a:avLst/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476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046824" y="1865376"/>
            <a:ext cx="435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THIS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53048" y="2450592"/>
            <a:ext cx="4815688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company or client source code into public tools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passwords, API keys or customer data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 the code is secure because it runs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code you cannot explain in an interview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AI-written maths or calculations blindly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testing because 'the AI wrote it'</a:t>
            </a:r>
            <a:endParaRPr lang="en-US" sz="13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Recap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coding to AI-assisted coding in one day.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785823"/>
            <a:ext cx="512064" cy="512064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1785823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773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jobs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737360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explain, debug, refactor, document, test and convert code.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602382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760574"/>
            <a:ext cx="512064" cy="512064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276057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74868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5-step loop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712110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→ Prompt → Generated code → Testing → Improvement.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577133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735324"/>
            <a:ext cx="512064" cy="512064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7353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72343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basics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686861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structures, CSS styles, JavaScript reacts. Python and SQL for logic and data.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551883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4710074"/>
            <a:ext cx="512064" cy="512064"/>
          </a:xfrm>
          <a:prstGeom prst="ellipse">
            <a:avLst/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" y="471007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469818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work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4661611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first, then summarise, then visualise. Verify every number.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526634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5684825"/>
            <a:ext cx="512064" cy="512064"/>
          </a:xfrm>
          <a:prstGeom prst="ellipse">
            <a:avLst/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5684825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508760" y="567293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5636362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ship code you cannot explain, and never paste secrets into a prompt.</a:t>
            </a:r>
            <a:endParaRPr lang="en-US" sz="12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Quiz — 20 Basic Questions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all 20 first, then check the answer key on the final slide of this day.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multiple-choice questions, four options each, only one correct answer.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26026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63770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6377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57546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563770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yourself about 10 minutes. No notes, no searching — this is a self-check, not an exam.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03413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41157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41157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834933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341157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mark per correct answer. 14 or more means you are ready for the next day.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6384" y="4347972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score low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86384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worry. Go back to the slides for the questions you missed and re-read the Remember boxes.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326026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63770" y="4347972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63770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057546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563770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Trainers: read each question aloud and let students answer by show of hands before revealing the key.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03413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41157" y="4347972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41157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834933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8341157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slide of this day lists all 20 correct answers with the full option text.</a:t>
            </a:r>
            <a:endParaRPr lang="en-US" sz="125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Quiz — Questions 1 to 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88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170432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coding means…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AI writes and helps with code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20008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AI repairs hardware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AI prints code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55735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AI sells software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54326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6405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24576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NOT a job of an AI coding assistant?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Explaining code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20008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Debugging code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87872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Physically building a server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55735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Writing tests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9661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339389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321101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means…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Finding and fixing errors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20008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Deleting the file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Adding colours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855735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Renaming variables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04995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14723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396435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asking AI to debug, you should always include…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Your name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0008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The error message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87872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file size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55735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Your password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80330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49005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547177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means…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Changing what code does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720008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Improving code without changing what it does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87872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Deleting code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55735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Translating to Hindi</a:t>
            </a:r>
            <a:endParaRPr lang="en-US" sz="115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Quiz — Questions 6 to 10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88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170432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is used for a web page's…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Structure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20008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Colours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Database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55735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Server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54326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6405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24576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is used for…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Styling and layout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20008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Storing data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87872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Sending email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55735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Testing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9661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339389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321101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mainly adds…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Behaviour and interactivity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20008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Table borders only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Database backups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855735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Printing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04995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14723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396435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language is most used for AI and data work?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Python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0008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HTML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87872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CSS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55735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Photoshop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80330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49005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547177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used to…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Style web pages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720008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Work with databases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87872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Edit images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55735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Write emails</a:t>
            </a:r>
            <a:endParaRPr lang="en-US" sz="115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Quiz — Questions 11 to 15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88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170432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SQL, ORDER BY is used to…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Sort results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20008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Delete rows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Add columns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55735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Create users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54326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6405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24576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means…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Examining data to find useful information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20008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Deleting data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87872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Printing data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55735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Encrypting data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9661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339389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321101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includes handling…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Missing values and duplicates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20008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Monitor brightness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Keyboard layout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855735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Wi-Fi speed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04995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14723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396435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compare sales across products, the best chart is a…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Bar chart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0008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Pie chart with 20 slices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87872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Scatter plot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55735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No chart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80330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49005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547177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show change over time, use a…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Line chart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720008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Pie chart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87872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Word cloud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55735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Table only</a:t>
            </a:r>
            <a:endParaRPr lang="en-US" sz="115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Quiz — Questions 16 to 20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88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170432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using AI-generated code you must…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Read and test it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20008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Publish it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Email it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55735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Ignore it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54326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6405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24576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should you NEVER paste into a public AI tool?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 sample list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20008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API keys and passwords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87872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 practice question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55735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 public article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9661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339389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321101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should include…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Only normal inputs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20008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Edge cases such as empty input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No inputs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855735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Only large inputs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04995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14723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396435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in code are meant to…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Explain the code to humans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0008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Speed up the program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87872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Encrypt the code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55735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Add colours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80330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49005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547177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order to use AI for coding is…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Requirement → Prompt → Code → Test → Improve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720008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Code → Delete → Restart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87872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Test → Requirement → Ship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55735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Ship → Read → Maybe test</a:t>
            </a:r>
            <a:endParaRPr lang="en-US" sz="115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· GENERATIVE AI FOR CODING &amp; DATA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 Quiz — Answer Key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option and answer text for all 20 questions.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31872" y="1719072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31872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048256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and helps with code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63392" y="1627632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46272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46624" y="1719072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46624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46272" y="2048256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building a server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8144" y="1627632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1024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61375" y="1719072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61375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61024" y="2048256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and fixing errors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92895" y="1627632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75775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076127" y="1719072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076127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175775" y="2048256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message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2606040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31872" y="2697480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31872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3026664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code without changing what it does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363392" y="2606040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46272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46624" y="2697480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46624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546272" y="3026664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178144" y="2606040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61024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61375" y="2697480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61375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361024" y="3026664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and layout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992895" y="2606040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175775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1076127" y="2697480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1076127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9175775" y="3026664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and interactivity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48640" y="3584448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31520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631872" y="3675888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631872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731520" y="4005072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363392" y="3584448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546272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46624" y="3675888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46624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3546272" y="4005072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databases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178144" y="3584448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361024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261375" y="3675888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261375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6361024" y="4005072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results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8992895" y="3584448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175775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1076127" y="3675888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1076127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9175775" y="4005072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Examining data to find useful information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548640" y="4562856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31520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Q13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631872" y="4654296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2631872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731520" y="4983480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and duplicates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3363392" y="4562856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3546272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Q14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446624" y="4654296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446624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3546272" y="4983480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6178144" y="4562856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361024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Q15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8261375" y="4654296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8261375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6361024" y="4983480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8992895" y="4562856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9175775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Q16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11076127" y="4654296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11076127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86" name="Text 84"/>
          <p:cNvSpPr txBox="1"/>
          <p:nvPr/>
        </p:nvSpPr>
        <p:spPr>
          <a:xfrm>
            <a:off x="9175775" y="4983480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test it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548640" y="5541264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731520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Q17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2631872" y="5632704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2631872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91" name="Text 89"/>
          <p:cNvSpPr txBox="1"/>
          <p:nvPr/>
        </p:nvSpPr>
        <p:spPr>
          <a:xfrm>
            <a:off x="731520" y="5961888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and passwords</a:t>
            </a:r>
            <a:endParaRPr lang="en-US" sz="1150" dirty="0"/>
          </a:p>
        </p:txBody>
      </p:sp>
      <p:sp>
        <p:nvSpPr>
          <p:cNvPr id="92" name="Shape 90"/>
          <p:cNvSpPr/>
          <p:nvPr/>
        </p:nvSpPr>
        <p:spPr>
          <a:xfrm>
            <a:off x="3363392" y="5541264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3546272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Q18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5446624" y="5632704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5446624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96" name="Text 94"/>
          <p:cNvSpPr txBox="1"/>
          <p:nvPr/>
        </p:nvSpPr>
        <p:spPr>
          <a:xfrm>
            <a:off x="3546272" y="5961888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such as empty input</a:t>
            </a:r>
            <a:endParaRPr lang="en-US" sz="1150" dirty="0"/>
          </a:p>
        </p:txBody>
      </p:sp>
      <p:sp>
        <p:nvSpPr>
          <p:cNvPr id="97" name="Shape 95"/>
          <p:cNvSpPr/>
          <p:nvPr/>
        </p:nvSpPr>
        <p:spPr>
          <a:xfrm>
            <a:off x="6178144" y="5541264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6361024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Q19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8261375" y="5632704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8261375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101" name="Text 99"/>
          <p:cNvSpPr txBox="1"/>
          <p:nvPr/>
        </p:nvSpPr>
        <p:spPr>
          <a:xfrm>
            <a:off x="6361024" y="5961888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code to humans</a:t>
            </a:r>
            <a:endParaRPr lang="en-US" sz="1150" dirty="0"/>
          </a:p>
        </p:txBody>
      </p:sp>
      <p:sp>
        <p:nvSpPr>
          <p:cNvPr id="102" name="Shape 100"/>
          <p:cNvSpPr/>
          <p:nvPr/>
        </p:nvSpPr>
        <p:spPr>
          <a:xfrm>
            <a:off x="8992895" y="5541264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9175775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Q20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11076127" y="5632704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11076127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106" name="Text 104"/>
          <p:cNvSpPr txBox="1"/>
          <p:nvPr/>
        </p:nvSpPr>
        <p:spPr>
          <a:xfrm>
            <a:off x="9175775" y="5961888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→ Prompt → Code → Test → Improve</a:t>
            </a:r>
            <a:endParaRPr lang="en-US" sz="115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015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3840480"/>
            <a:ext cx="4206240" cy="4206240"/>
          </a:xfrm>
          <a:prstGeom prst="ellipse">
            <a:avLst/>
          </a:prstGeom>
          <a:solidFill>
            <a:srgbClr val="4B31C7">
              <a:alpha val="30000"/>
            </a:srgbClr>
          </a:solidFill>
          <a:ln w="12700">
            <a:solidFill>
              <a:srgbClr val="4B31C7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AI APIs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Development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real AI products are built. You will understand every box in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diagram — without writing a full application.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0" y="1005840"/>
            <a:ext cx="4754880" cy="4663440"/>
          </a:xfrm>
          <a:prstGeom prst="roundRect">
            <a:avLst>
              <a:gd name="adj" fmla="val 1176"/>
            </a:avLst>
          </a:prstGeom>
          <a:solidFill>
            <a:srgbClr val="1B2247"/>
          </a:solidFill>
          <a:ln w="12700">
            <a:solidFill>
              <a:srgbClr val="2E37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87184" y="12984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E7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COVER TODAY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187184" y="1664208"/>
            <a:ext cx="4114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API is, in plain English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Requests, responses and JSON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and authentication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variables and security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Gen AI API adds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Frontend, backend and model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chatbot architecture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and response journey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errors properly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limits, tokens and cost control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486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with 20 beginner quiz questions + answer key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</a:t>
            </a:r>
            <a:endParaRPr lang="en-US" sz="9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API?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(the app) → request → API → response → you. The API hides everything complicated behind a simple door.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(Application Programming Interface) is an agreed way for one software system to ask another software system for something and get an answer back.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waiter in a restaurant. You never enter the kitchen; you tell the waiter your order and they bring back the food.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shopping app shows live delivery tracking, it is calling the courier company's API.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weather app calls a weather API with 'Chennai' and receives the temperature as data it can display.</a:t>
            </a:r>
            <a:endParaRPr lang="en-US" sz="135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Restaurant Analogy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conversation follows exactly this pattern.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TIP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class: 'Why can't you walk into the kitchen?' The answers — safety, order, rules — are exactly why APIs exist.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249424"/>
            <a:ext cx="1911645" cy="274320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266718" y="2505456"/>
            <a:ext cx="475488" cy="47548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66718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072384"/>
            <a:ext cx="169218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— the app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950208"/>
            <a:ext cx="15824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what you want, but not how the kitchen works.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33437" y="3502152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44333" y="2249424"/>
            <a:ext cx="1911645" cy="274320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62411" y="2505456"/>
            <a:ext cx="475488" cy="47548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62411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954061" y="3072384"/>
            <a:ext cx="169218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menu — the docs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008925" y="3950208"/>
            <a:ext cx="15824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lists exactly what you may ask for and in what form.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29129" y="3502152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40025" y="2249424"/>
            <a:ext cx="1911645" cy="274320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58104" y="2505456"/>
            <a:ext cx="475488" cy="47548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58104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249753" y="3072384"/>
            <a:ext cx="169218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waiter — the API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304617" y="3950208"/>
            <a:ext cx="15824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your request in and the result back out.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124822" y="3502152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35718" y="2249424"/>
            <a:ext cx="1911645" cy="274320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53796" y="2505456"/>
            <a:ext cx="475488" cy="47548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153796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545446" y="3072384"/>
            <a:ext cx="169218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kitchen — the service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600310" y="3950208"/>
            <a:ext cx="15824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actual work, privately, in its own way.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420515" y="3502152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31411" y="2249424"/>
            <a:ext cx="1911645" cy="274320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449489" y="2505456"/>
            <a:ext cx="475488" cy="47548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49489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841139" y="3072384"/>
            <a:ext cx="169218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dish — the response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9896003" y="3950208"/>
            <a:ext cx="15824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back in a predictable format you can use.</a:t>
            </a:r>
            <a:endParaRPr lang="en-US" sz="115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APIs Are Used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practical reasons, each visible in apps you already use.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rebuild maps, payments or AI models — connect to services that already exist.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26026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63770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6377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57546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563770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that would take months of work can be added in days.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03413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41157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41157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834933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341157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provider's data and logic stay protected; you only get the agreed responses.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6384" y="4347972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86384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caller receives the same structure, so apps do not break unexpectedly.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326026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63770" y="4347972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63770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057546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563770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handles heavy load and updates; your app just keeps calling.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03413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41157" y="4347972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41157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834933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freedom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8341157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programming language can call the same API over the internet.</a:t>
            </a:r>
            <a:endParaRPr lang="en-US" sz="125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 Request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application sends out.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 travels inside the request body. Everything you learned on Day 2 applies here too.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932688"/>
          </a:xfrm>
          <a:prstGeom prst="roundRect">
            <a:avLst>
              <a:gd name="adj" fmla="val 588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755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93392"/>
            <a:ext cx="105823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request has four parts: the address (endpoint), the method, the headers (who you are) and the body (what you want).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7406640" cy="2871216"/>
          </a:xfrm>
          <a:prstGeom prst="roundRect">
            <a:avLst>
              <a:gd name="adj" fmla="val 1911"/>
            </a:avLst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2889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E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SIMPLIFIED AI API REQUEST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163824"/>
            <a:ext cx="68945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https://api.example-ai.com/v1/chat        &lt;-- endpoint + method</a:t>
            </a:r>
            <a:endParaRPr lang="en-US" sz="1150" dirty="0"/>
          </a:p>
          <a:p>
            <a:pPr indent="0" marL="0">
              <a:lnSpc>
                <a:spcPts val="1476"/>
              </a:lnSpc>
              <a:buNone/>
            </a:pPr>
            <a:endParaRPr lang="en-US" sz="1150" dirty="0"/>
          </a:p>
          <a:p>
            <a:pPr indent="0" marL="0">
              <a:lnSpc>
                <a:spcPts val="1476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Headers:</a:t>
            </a:r>
            <a:endParaRPr lang="en-US" sz="1150" dirty="0"/>
          </a:p>
          <a:p>
            <a:pPr indent="0" marL="0">
              <a:lnSpc>
                <a:spcPts val="1476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Content-Type: application/json                &lt;-- format of the body</a:t>
            </a:r>
            <a:endParaRPr lang="en-US" sz="1150" dirty="0"/>
          </a:p>
          <a:p>
            <a:pPr indent="0" marL="0">
              <a:lnSpc>
                <a:spcPts val="1476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Authorization: Bearer YOUR_API_KEY            &lt;-- proves who you are</a:t>
            </a:r>
            <a:endParaRPr lang="en-US" sz="1150" dirty="0"/>
          </a:p>
          <a:p>
            <a:pPr indent="0" marL="0">
              <a:lnSpc>
                <a:spcPts val="1476"/>
              </a:lnSpc>
              <a:buNone/>
            </a:pPr>
            <a:endParaRPr lang="en-US" sz="1150" dirty="0"/>
          </a:p>
          <a:p>
            <a:pPr indent="0" marL="0">
              <a:lnSpc>
                <a:spcPts val="1476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Body:</a:t>
            </a:r>
            <a:endParaRPr lang="en-US" sz="1150" dirty="0"/>
          </a:p>
          <a:p>
            <a:pPr indent="0" marL="0">
              <a:lnSpc>
                <a:spcPts val="1476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ts val="1476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"model":  "text-model-1",</a:t>
            </a:r>
            <a:endParaRPr lang="en-US" sz="1150" dirty="0"/>
          </a:p>
          <a:p>
            <a:pPr indent="0" marL="0">
              <a:lnSpc>
                <a:spcPts val="1476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"prompt": "Write a 2-line thank-you note",</a:t>
            </a:r>
            <a:endParaRPr lang="en-US" sz="1150" dirty="0"/>
          </a:p>
          <a:p>
            <a:pPr indent="0" marL="0">
              <a:lnSpc>
                <a:spcPts val="1476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"max_tokens": 100</a:t>
            </a:r>
            <a:endParaRPr lang="en-US" sz="1150" dirty="0"/>
          </a:p>
          <a:p>
            <a:pPr indent="0" marL="0">
              <a:lnSpc>
                <a:spcPts val="1476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0" y="2743200"/>
            <a:ext cx="3413455" cy="2871216"/>
          </a:xfrm>
          <a:prstGeom prst="roundRect">
            <a:avLst>
              <a:gd name="adj" fmla="val 1911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85632" y="2944368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parts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85632" y="3310128"/>
            <a:ext cx="2864815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= the address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= GET reads, POST sends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= identity and format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= the actual instruction</a:t>
            </a:r>
            <a:endParaRPr lang="en-US" sz="12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API Response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back, and how to read it.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11094415" cy="932688"/>
          </a:xfrm>
          <a:prstGeom prst="roundRect">
            <a:avLst>
              <a:gd name="adj" fmla="val 588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755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993392"/>
            <a:ext cx="105823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response contains a status code (did it work?) and the data itself. Always check the status before using the data.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7406640" cy="3611880"/>
          </a:xfrm>
          <a:prstGeom prst="roundRect">
            <a:avLst>
              <a:gd name="adj" fmla="val 1519"/>
            </a:avLst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4672" y="2889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E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SIMPLIFIED AI API RESPONSE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163824"/>
            <a:ext cx="689457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200 OK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"resp_8241",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"output": "Thank you for your support. It truly means a lot to us.",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"usage": { "input_tokens": 14, "output_tokens": 22 }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        = success          401 Unauthorized = bad API key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Bad Request = your mistake   429 Too Many Requests = slow down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Server Error = their problem, retry after a short wait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2743200"/>
            <a:ext cx="3413455" cy="3611880"/>
          </a:xfrm>
          <a:prstGeom prst="roundRect">
            <a:avLst>
              <a:gd name="adj" fmla="val 160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85632" y="2944368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codes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85632" y="3310128"/>
            <a:ext cx="286481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2xx means success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4xx means your side is wrong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5xx means their side failed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tells you the cost</a:t>
            </a:r>
            <a:endParaRPr lang="en-US" sz="12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JSON?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always in double quotes. Values can be text, number, true/false, a list, or another JSON object.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(JavaScript Object Notation) is a simple text format for sending structured data between systems, written as key and value pairs.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 filled in neatly: every box has a label and a value, so anyone reading it knows exactly what each item means.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API on the internet — payments, weather, maps, AI — sends and receives JSON.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"name": "Anita", "course": "BCA", "marks": 88, "passed": true }</a:t>
            </a:r>
            <a:endParaRPr lang="en-US" sz="135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Authentication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= who are you. Authorisation = what are you allowed to do. Different words, different jobs.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is how the API confirms who is calling it, so that only approved users can use the service.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college ID card at the gate. The guard does not know you personally — the card proves you are allowed in.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paid AI service checks your identity on every single call, to attach usage and billing to the right account.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header 'Authorization: Bearer YOUR_API_KEY' is the most common way this is done.</a:t>
            </a:r>
            <a:endParaRPr lang="en-US" sz="135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secret string that identifies your account. Treat it like a password.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D9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Pushing code with an API key to GitHub. Bots scan public repositories within minutes and run up your bill.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secret string issued to you by the API provider, such as sk-live-9f2a…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6026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63770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6377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57546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63770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your account, tracks your usage and applies your limits and billing.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03413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41157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41157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834933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goes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341157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request header, sent from your backend — never from the browser.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6384" y="3977640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do this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786384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put a key in frontend code, a screenshot, a GitHub repo or a WhatsApp message.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26026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63770" y="3977640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6377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57546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 leaks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4563770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it immediately in the provider dashboard and generate a new one.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103413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41157" y="3977640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41157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834933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practice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8341157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keys for testing and production, and rotate them from time to time.</a:t>
            </a:r>
            <a:endParaRPr lang="en-US" sz="125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Variables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way to keep secrets out of your code.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11094415" cy="932688"/>
          </a:xfrm>
          <a:prstGeom prst="roundRect">
            <a:avLst>
              <a:gd name="adj" fmla="val 5882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7556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993392"/>
            <a:ext cx="10582351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01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 the secret outside the code in a .env file, then read it in the program by name. Add .env to .gitignore so it is never uploaded.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7406640" cy="3611880"/>
          </a:xfrm>
          <a:prstGeom prst="roundRect">
            <a:avLst>
              <a:gd name="adj" fmla="val 1519"/>
            </a:avLst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4672" y="2889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7E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SAFE PATTERN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163824"/>
            <a:ext cx="689457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  (never uploaded to GitHub)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AI_API_KEY=sk-live-9f2a83bc71d0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.gitignore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app.py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 = os.environ["AI_API_KEY"]   # read from the environment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WRONG — never do this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8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 = "sk-live-9f2a83bc71d0"      # secret visible in the code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2743200"/>
            <a:ext cx="3413455" cy="3611880"/>
          </a:xfrm>
          <a:prstGeom prst="roundRect">
            <a:avLst>
              <a:gd name="adj" fmla="val 160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85632" y="2944368"/>
            <a:ext cx="2864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works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485632" y="3310128"/>
            <a:ext cx="286481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goes to GitHub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never do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environment gets its own values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use their own keys</a:t>
            </a:r>
            <a:endParaRPr lang="en-US" sz="12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Security Basics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habits that prevent almost every beginner accident.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9EDF9"/>
          </a:solidFill>
          <a:ln w="12700">
            <a:solidFill>
              <a:srgbClr val="E9ED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B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student's hobby app went viral, the key was in the frontend, and strangers used it for two days before it was noticed.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5364328" cy="3986784"/>
          </a:xfrm>
          <a:prstGeom prst="roundRect">
            <a:avLst>
              <a:gd name="adj" fmla="val 137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1865376"/>
            <a:ext cx="435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450592"/>
            <a:ext cx="4815688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keys in environment variables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AI API only from your backend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HTTPS for every request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how often one user can call your app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errors, never log the key itself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and rotate keys that may have leaked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78728" y="1627632"/>
            <a:ext cx="5364328" cy="3986784"/>
          </a:xfrm>
          <a:prstGeom prst="roundRect">
            <a:avLst>
              <a:gd name="adj" fmla="val 137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34760" y="1865376"/>
            <a:ext cx="384048" cy="384048"/>
          </a:xfrm>
          <a:prstGeom prst="ellipse">
            <a:avLst/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476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046824" y="1865376"/>
            <a:ext cx="435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THIS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53048" y="2450592"/>
            <a:ext cx="4815688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keys in frontend JavaScript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.env files to a repository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keys over chat or email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customer personal data you do not need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repeated 401 or 429 errors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one production key for every experiment</a:t>
            </a:r>
            <a:endParaRPr lang="en-US" sz="13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Gen AI API?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to own or train the model. You rent its intelligence, one request at a time.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Generative AI API lets your application send a prompt to a large AI model over the internet and receive generated content back as data.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an expert writer who works remotely. You send the brief, they send back the finished text — you never manage their office.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 tool sends the customer's message to a Gen AI API and receives a suggested reply for the agent to approve.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 sends: 'Summarise this review in one line.' The API returns the summary as text your app can display.</a:t>
            </a:r>
            <a:endParaRPr lang="en-US" sz="135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Complete Application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product you use is built on exactly this chain.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never talks to the model directly. The backend always sits in between — that is what keeps the key safe.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2960" y="1627632"/>
            <a:ext cx="3931920" cy="397111"/>
          </a:xfrm>
          <a:prstGeom prst="roundRect">
            <a:avLst>
              <a:gd name="adj" fmla="val 18421"/>
            </a:avLst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05840" y="1627632"/>
            <a:ext cx="3566160" cy="397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627632"/>
            <a:ext cx="6065215" cy="397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 question, uploads a file or clicks a button.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06624" y="2052175"/>
            <a:ext cx="164592" cy="146304"/>
          </a:xfrm>
          <a:prstGeom prst="down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225911"/>
            <a:ext cx="3931920" cy="397111"/>
          </a:xfrm>
          <a:prstGeom prst="roundRect">
            <a:avLst>
              <a:gd name="adj" fmla="val 18421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05840" y="2225911"/>
            <a:ext cx="3566160" cy="397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2225911"/>
            <a:ext cx="6065215" cy="397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the user sees. Collects the input and displays the answer.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706624" y="2650454"/>
            <a:ext cx="164592" cy="146304"/>
          </a:xfrm>
          <a:prstGeom prst="down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2824190"/>
            <a:ext cx="3931920" cy="397111"/>
          </a:xfrm>
          <a:prstGeom prst="roundRect">
            <a:avLst>
              <a:gd name="adj" fmla="val 18421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005840" y="2824190"/>
            <a:ext cx="3566160" cy="397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2824190"/>
            <a:ext cx="6065215" cy="397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server. Holds the secret key, adds rules and instructions, calls the API.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706624" y="3248733"/>
            <a:ext cx="164592" cy="146304"/>
          </a:xfrm>
          <a:prstGeom prst="down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422469"/>
            <a:ext cx="3931920" cy="397111"/>
          </a:xfrm>
          <a:prstGeom prst="roundRect">
            <a:avLst>
              <a:gd name="adj" fmla="val 18421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1005840" y="3422469"/>
            <a:ext cx="3566160" cy="397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AI API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3422469"/>
            <a:ext cx="6065215" cy="397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provider's door. Checks the key, applies limits, passes the prompt to the model.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2706624" y="3847011"/>
            <a:ext cx="164592" cy="146304"/>
          </a:xfrm>
          <a:prstGeom prst="down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4020747"/>
            <a:ext cx="3931920" cy="397111"/>
          </a:xfrm>
          <a:prstGeom prst="roundRect">
            <a:avLst>
              <a:gd name="adj" fmla="val 18421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1005840" y="4020747"/>
            <a:ext cx="3566160" cy="397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4020747"/>
            <a:ext cx="6065215" cy="397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model that understands the prompt and generates the content.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2706624" y="4445290"/>
            <a:ext cx="164592" cy="146304"/>
          </a:xfrm>
          <a:prstGeom prst="down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4619026"/>
            <a:ext cx="3931920" cy="397111"/>
          </a:xfrm>
          <a:prstGeom prst="roundRect">
            <a:avLst>
              <a:gd name="adj" fmla="val 18421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1005840" y="4619026"/>
            <a:ext cx="3566160" cy="397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4619026"/>
            <a:ext cx="6065215" cy="397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generated text travels back through the API to your backend.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2706624" y="5043569"/>
            <a:ext cx="164592" cy="146304"/>
          </a:xfrm>
          <a:prstGeom prst="down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5217305"/>
            <a:ext cx="3931920" cy="397111"/>
          </a:xfrm>
          <a:prstGeom prst="roundRect">
            <a:avLst>
              <a:gd name="adj" fmla="val 18421"/>
            </a:avLst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1005840" y="5217305"/>
            <a:ext cx="3566160" cy="397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303520" y="5217305"/>
            <a:ext cx="6065215" cy="397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displays the final, cleaned-up answer on the screen.</a:t>
            </a:r>
            <a:endParaRPr lang="en-US" sz="125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D9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the AI API directly from the frontend. Anyone can open the browser tools and read your key.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is the part of the application the user actually sees and interacts with — the screens, buttons, text boxes and results.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dining area of a restaurant: tables, menu and lighting. Everything the customer experiences directly.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window of any AI assistant: the message box, the send button and the reply on screen.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HTML, CSS and JavaScript (often with React). It sends the user's text to the backend and shows what comes back.</a:t>
            </a:r>
            <a:endParaRPr lang="en-US" sz="135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backend jobs: keep the key secret, control what is sent, and clean up what comes back.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is the server-side part of your application. It holds secrets, applies your business rules and talks to other services.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kitchen. Customers never enter it, but every dish is prepared there under controlled conditions.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adds a system instruction such as 'You are a polite support assistant for a bank' before every user message.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Python, Node.js, Java or similar. It stores the API key, calls the Gen AI API and returns a clean answer to the frontend.</a:t>
            </a:r>
            <a:endParaRPr lang="en-US" sz="135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is a small piece of text (roughly ¾ of a word). You are usually charged per token, in and out.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 is the trained system that actually understands your prompt and generates the text, image or code you asked for.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chef. The waiter carries the order, but the chef is the one with the skill that produces the dish.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power writing, summarising, translation, coding help and conversation.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model gives better quality but costs more and replies more slowly. A smaller model is cheaper and faster — pick per task.</a:t>
            </a:r>
            <a:endParaRPr lang="en-US" sz="135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Architecture in Practice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real support chatbot adds on top of the basic chain.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has no memory between calls. Any 'memory' you see is the application resending the conversation each time.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instruction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instruction the backend adds every time: who the bot is and what it must not do.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6026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63770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6377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57546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history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63770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messages are re-sent with each request, because the model has no memory of its own.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03413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41157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41157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834933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knowledge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341157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policy or product text is looked up and added to the prompt as context.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6384" y="3977640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filter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786384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both input and output before anything is shown to the customer.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26026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63770" y="3977640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6377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57546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path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4563770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confidence is low or the model fails, hand the conversation to a human agent.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103413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41157" y="3977640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41157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834933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8341157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questions and ratings (never keys or personal data) to improve the bot over time.</a:t>
            </a:r>
            <a:endParaRPr lang="en-US" sz="125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Request and Response Journey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one question all the way through the system.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2619756"/>
            <a:ext cx="1911645" cy="274320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66718" y="2875788"/>
            <a:ext cx="475488" cy="47548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66718" y="28757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3442716"/>
            <a:ext cx="169218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Input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4320540"/>
            <a:ext cx="15824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types 'Where is my order?' and presses send.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533437" y="3872484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44333" y="2619756"/>
            <a:ext cx="1911645" cy="274320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62411" y="2875788"/>
            <a:ext cx="475488" cy="47548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62411" y="28757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954061" y="3442716"/>
            <a:ext cx="169218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Prepare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008925" y="4320540"/>
            <a:ext cx="15824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adds the system instruction, the chat history and the order details.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829129" y="3872484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40025" y="2619756"/>
            <a:ext cx="1911645" cy="274320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58104" y="2875788"/>
            <a:ext cx="475488" cy="47548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58104" y="28757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49753" y="3442716"/>
            <a:ext cx="169218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Call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304617" y="4320540"/>
            <a:ext cx="15824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sends the request with the API key to the Gen AI API.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24822" y="3872484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35718" y="2619756"/>
            <a:ext cx="1911645" cy="274320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53796" y="2875788"/>
            <a:ext cx="475488" cy="47548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153796" y="28757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545446" y="3442716"/>
            <a:ext cx="169218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Generate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600310" y="4320540"/>
            <a:ext cx="15824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reads everything and produces a suitable reply.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420515" y="3872484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31411" y="2619756"/>
            <a:ext cx="1911645" cy="2743200"/>
          </a:xfrm>
          <a:prstGeom prst="roundRect">
            <a:avLst>
              <a:gd name="adj" fmla="val 2870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449489" y="2875788"/>
            <a:ext cx="475488" cy="47548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449489" y="28757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841139" y="3442716"/>
            <a:ext cx="1692189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Display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9896003" y="4320540"/>
            <a:ext cx="158246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checks the reply and the frontend shows it to the user.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527548"/>
            <a:ext cx="11094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time: usually one to three seconds. Show a typing indicator so the wait feels normal.</a:t>
            </a:r>
            <a:endParaRPr lang="en-US" sz="125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will fail. A good app plans for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TIP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golden rule: show users a helpful message, and keep the technical detail in the logs.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711757"/>
            <a:ext cx="512064" cy="512064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711757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1773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Unauthorized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737360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key is missing, wrong or revoked. Check the environment variable — do not print the key.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454250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538374"/>
            <a:ext cx="512064" cy="512064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253837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260055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Request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563978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in your request is malformed or a required field is missing. Read the error message carefully.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280867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3364992"/>
            <a:ext cx="512064" cy="512064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3364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429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427171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Many Requests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390595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crossed a rate limit. Wait and retry, increasing the wait each time (exponential backoff).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107485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4191610"/>
            <a:ext cx="512064" cy="512064"/>
          </a:xfrm>
          <a:prstGeom prst="ellipse">
            <a:avLst/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419161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253789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Error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4217213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had a problem. Retry a few times, then show a friendly message.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934102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" y="5018227"/>
            <a:ext cx="512064" cy="512064"/>
          </a:xfrm>
          <a:prstGeom prst="ellipse">
            <a:avLst/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" y="5018227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508760" y="508040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4846320" y="5043830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reply in time. Cancel, retry once, and never leave the user staring at a frozen screen.</a:t>
            </a:r>
            <a:endParaRPr lang="en-US" sz="125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Limits and Usage Controls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stay inside your limits and your budget.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= tokens in + tokens out. Shorter prompts and shorter answers directly reduce your bill.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 on how many requests or tokens you may use per minute. It protects the service for everyone.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6026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63770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6377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57546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limit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63770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maximum size for input plus output in one request. Long chat histories hit this first.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03413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41157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41157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834933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with backoff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341157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429, wait 1s, then 2s, then 4s. Retrying instantly only makes things worse.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6384" y="3977640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786384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answers to repeated questions and reuse them instead of calling the API again.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26026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63770" y="3977640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6377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57546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Trim the history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4563770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only the last few messages plus a short summary of the rest.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103413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41157" y="3977640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41157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834933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 budget alert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8341157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 monthly spend limit and alerts in the provider dashboard from day one.</a:t>
            </a:r>
            <a:endParaRPr lang="en-US" sz="125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Recap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read any AI application architecture diagram.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785823"/>
            <a:ext cx="512064" cy="512064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1785823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773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737360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agreed way for one system to request something from another and get a response.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602382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760574"/>
            <a:ext cx="512064" cy="512064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276057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74868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&amp; response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712110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Endpoint, method, headers, body go out; status code and JSON data come back.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577133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735324"/>
            <a:ext cx="512064" cy="512064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7353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72343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&amp; secrets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686861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identify you, environment variables hide them, and the backend alone uses them.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551883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4710074"/>
            <a:ext cx="512064" cy="512064"/>
          </a:xfrm>
          <a:prstGeom prst="ellipse">
            <a:avLst/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" y="471007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469818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4661611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Frontend → Backend → Gen AI API → Model → Response → User.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526634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5684825"/>
            <a:ext cx="512064" cy="512064"/>
          </a:xfrm>
          <a:prstGeom prst="ellipse">
            <a:avLst/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5684825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508760" y="567293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5636362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401, 400, 429, 500 and timeouts; respect rate limits and control token cost.</a:t>
            </a:r>
            <a:endParaRPr lang="en-US" sz="125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Quiz — 20 Basic Questions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all 20 first, then check the answer key on the final slide of this day.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multiple-choice questions, four options each, only one correct answer.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26026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63770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6377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57546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563770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yourself about 10 minutes. No notes, no searching — this is a self-check, not an exam.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03413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41157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41157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834933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341157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mark per correct answer. 14 or more means you are ready for the next day.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6384" y="4347972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score low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86384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worry. Go back to the slides for the questions you missed and re-read the Remember boxes.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326026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63770" y="4347972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63770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057546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563770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Trainers: read each question aloud and let students answer by show of hands before revealing the key.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03413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41157" y="4347972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41157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834933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8341157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slide of this day lists all 20 correct answers with the full option text.</a:t>
            </a:r>
            <a:endParaRPr lang="en-US" sz="125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Quiz — Questions 1 to 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88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170432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stands for…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Application Programming Interface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20008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Automatic Program Input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Applied Public Internet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55735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Advanced Page Index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54326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6405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24576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restaurant analogy, the API is the…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Waiter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20008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Customer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87872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Table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55735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Bill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9661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339389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321101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request is sent by…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The application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20008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The printer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monitor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855735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The mouse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04995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14723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396435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NOT part of an API request?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Endpoint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0008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Headers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87872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Body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55735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Monitor size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80330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49005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547177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is…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 data format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720008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 programming language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87872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 database only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55735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 browser</a:t>
            </a:r>
            <a:endParaRPr lang="en-US" sz="115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Quiz — Questions 6 to 10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88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170432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JSON, data is written as…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Key and value pairs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20008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Only numbers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Only images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55735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Random text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54326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6405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24576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key is used to…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Identify and authenticate you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20008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Speed up Wi-Fi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87872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Style the page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55735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Store images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9661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339389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321101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key should be treated like a…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Password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20008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Public notice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Username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855735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Font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04995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14723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396435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safest place to store an API key is…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In frontend code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0008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In an environment variable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87872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In a screenshot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55735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In a public repo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80330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49005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547177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answers the question…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Who are you?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720008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What colour is it?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87872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How fast is it?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55735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Where is the file?</a:t>
            </a:r>
            <a:endParaRPr lang="en-US" sz="115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Quiz — Questions 11 to 15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88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170432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is the part the user…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Sees and interacts with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20008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Never sees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Cannot install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55735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Prints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54326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6405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24576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is responsible for…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Holding secrets and calling the API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20008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Painting buttons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87872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Showing animations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55735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Nothing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9661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339389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321101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architecture, who talks to the Gen AI API?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The backend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20008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The user directly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printer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855735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The browser only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04995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14723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396435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order is…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User → Frontend → Backend → API → Model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0008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Model → User → Frontend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87872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API → User → Model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55735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Backend → User → Frontend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80330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49005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547177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 AI API lets your app…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Send prompts and get generated content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720008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Fix your keyboard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87872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Design hardware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55735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Replace the internet</a:t>
            </a:r>
            <a:endParaRPr lang="en-US" sz="115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Quiz — Questions 16 to 20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88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170432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200 means…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Success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20008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Bad key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Too many requests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55735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Server error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54326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6405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24576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429 means…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Too many requests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20008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Success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87872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Not found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55735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Bad key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9661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339389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321101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 401 usually means…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Invalid or missing API key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20008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Success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Slow internet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855735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File too big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04995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14723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396435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chatbot remembers earlier messages because…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The app resends the history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0008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The model stores them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87872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browser saves them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55735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It does not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80330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49005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547177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an AI API call mainly depends on…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Number of tokens used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720008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Screen size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87872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Keyboard type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55735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Internet provider</a:t>
            </a:r>
            <a:endParaRPr lang="en-US" sz="115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· GEN AI APIS &amp; APPLICATION DEVELOPMENT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 Quiz — Answer Key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option and answer text for all 20 questions.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31872" y="1719072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31872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048256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Programming Interface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63392" y="1627632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46272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46624" y="1719072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46624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46272" y="2048256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8144" y="1627632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1024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61375" y="1719072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61375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61024" y="2048256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92895" y="1627632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75775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076127" y="1719072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076127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175775" y="2048256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size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2606040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31872" y="2697480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31872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3026664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format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363392" y="2606040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46272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46624" y="2697480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46624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546272" y="3026664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and value pairs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178144" y="2606040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61024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61375" y="2697480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61375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361024" y="3026664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authenticate you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992895" y="2606040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175775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1076127" y="2697480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1076127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9175775" y="3026664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48640" y="3584448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31520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631872" y="3675888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631872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731520" y="4005072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environment variable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363392" y="3584448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546272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46624" y="3675888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46624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3546272" y="4005072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you?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178144" y="3584448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361024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261375" y="3675888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261375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6361024" y="4005072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and interacts with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8992895" y="3584448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175775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1076127" y="3675888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1076127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9175775" y="4005072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secrets and calling the API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548640" y="4562856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31520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Q13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631872" y="4654296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2631872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731520" y="4983480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3363392" y="4562856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3546272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Q14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446624" y="4654296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446624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3546272" y="4983480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Frontend → Backend → API → Model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6178144" y="4562856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361024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Q15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8261375" y="4654296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8261375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6361024" y="4983480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prompts and get generated content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8992895" y="4562856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9175775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Q16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11076127" y="4654296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11076127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86" name="Text 84"/>
          <p:cNvSpPr txBox="1"/>
          <p:nvPr/>
        </p:nvSpPr>
        <p:spPr>
          <a:xfrm>
            <a:off x="9175775" y="4983480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548640" y="5541264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731520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Q17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2631872" y="5632704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2631872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91" name="Text 89"/>
          <p:cNvSpPr txBox="1"/>
          <p:nvPr/>
        </p:nvSpPr>
        <p:spPr>
          <a:xfrm>
            <a:off x="731520" y="5961888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requests</a:t>
            </a:r>
            <a:endParaRPr lang="en-US" sz="1150" dirty="0"/>
          </a:p>
        </p:txBody>
      </p:sp>
      <p:sp>
        <p:nvSpPr>
          <p:cNvPr id="92" name="Shape 90"/>
          <p:cNvSpPr/>
          <p:nvPr/>
        </p:nvSpPr>
        <p:spPr>
          <a:xfrm>
            <a:off x="3363392" y="5541264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3546272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Q18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5446624" y="5632704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5446624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96" name="Text 94"/>
          <p:cNvSpPr txBox="1"/>
          <p:nvPr/>
        </p:nvSpPr>
        <p:spPr>
          <a:xfrm>
            <a:off x="3546272" y="5961888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or missing API key</a:t>
            </a:r>
            <a:endParaRPr lang="en-US" sz="1150" dirty="0"/>
          </a:p>
        </p:txBody>
      </p:sp>
      <p:sp>
        <p:nvSpPr>
          <p:cNvPr id="97" name="Shape 95"/>
          <p:cNvSpPr/>
          <p:nvPr/>
        </p:nvSpPr>
        <p:spPr>
          <a:xfrm>
            <a:off x="6178144" y="5541264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6361024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Q19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8261375" y="5632704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8261375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101" name="Text 99"/>
          <p:cNvSpPr txBox="1"/>
          <p:nvPr/>
        </p:nvSpPr>
        <p:spPr>
          <a:xfrm>
            <a:off x="6361024" y="5961888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resends the history</a:t>
            </a:r>
            <a:endParaRPr lang="en-US" sz="1150" dirty="0"/>
          </a:p>
        </p:txBody>
      </p:sp>
      <p:sp>
        <p:nvSpPr>
          <p:cNvPr id="102" name="Shape 100"/>
          <p:cNvSpPr/>
          <p:nvPr/>
        </p:nvSpPr>
        <p:spPr>
          <a:xfrm>
            <a:off x="8992895" y="5541264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9175775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Q20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11076127" y="5632704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11076127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106" name="Text 104"/>
          <p:cNvSpPr txBox="1"/>
          <p:nvPr/>
        </p:nvSpPr>
        <p:spPr>
          <a:xfrm>
            <a:off x="9175775" y="5961888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tokens used</a:t>
            </a:r>
            <a:endParaRPr lang="en-US" sz="115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1015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3840480"/>
            <a:ext cx="4206240" cy="4206240"/>
          </a:xfrm>
          <a:prstGeom prst="ellipse">
            <a:avLst/>
          </a:prstGeom>
          <a:solidFill>
            <a:srgbClr val="4B31C7">
              <a:alpha val="30000"/>
            </a:srgbClr>
          </a:solidFill>
          <a:ln w="12700">
            <a:solidFill>
              <a:srgbClr val="4B31C7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7772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&amp; Advanced Basics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 that turns a fast AI user into a trustworthy one: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ethics, verification — and a full six-day revision.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0" y="1005840"/>
            <a:ext cx="4754880" cy="4663440"/>
          </a:xfrm>
          <a:prstGeom prst="roundRect">
            <a:avLst>
              <a:gd name="adj" fmla="val 1176"/>
            </a:avLst>
          </a:prstGeom>
          <a:solidFill>
            <a:srgbClr val="1B2247"/>
          </a:solidFill>
          <a:ln w="12700">
            <a:solidFill>
              <a:srgbClr val="2E37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87184" y="12984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8E7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COVER TODAY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187184" y="1664208"/>
            <a:ext cx="4114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Responsible AI means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 and how to spot them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in AI systems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and personal data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information at work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and intellectual property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verification and AI limitations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and ethics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evaluate any AI output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DCE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6-day revision and takeaways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4864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with 20 beginner quiz questions + answer key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</a:t>
            </a:r>
            <a:endParaRPr lang="en-US" sz="9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Responsible AI?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is not a legal formality. It is what keeps your work trustworthy — and keeps you out of trouble.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means using and building AI in a way that is accurate, fair, private, transparent and safe for the people it affects.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driving licence. Owning a car is not enough — you must also know the rules that keep you and everyone else safe.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must be able to explain why an AI-supported decision rejected a loan application.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sending AI-written content to a customer: check the facts, remove personal data, and read it as the customer would.</a:t>
            </a:r>
            <a:endParaRPr lang="en-US" sz="135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Responsible AI Matters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real consequences of using AI carelessly.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decisions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 but false answer, used without checking, can cause real financial or academic loss.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26026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63770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6377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57546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Unfair outcomes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563770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output can quietly disadvantage a group of people in hiring, lending or admissions.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03413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41157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41157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834933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breaches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341157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Pasting customer data into a public tool may break company policy and data protection law.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6384" y="4347972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risk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86384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and confidentiality problems fall on the person and the company who published the content.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326026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63770" y="4347972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63770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057546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of trust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563770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publicly wrong AI-generated claim can damage a reputation built over years.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03413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41157" y="4347972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41157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834933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credibility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8341157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job, 'the AI wrote it' is never an accepted explanation for a mistake.</a:t>
            </a:r>
            <a:endParaRPr lang="en-US" sz="125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Hallucinations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predicts likely-sounding words. Likely-sounding is not the same as true.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hallucination is when an AI produces information that sounds correct and confident but is actually false or invented.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confident student in a viva who does not know the answer but keeps speaking fluently rather than admitting it.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have invented court cases, research papers, book chapters and product features that never existed.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'5 references on a niche topic' and you may receive real-looking titles, authors and years that do not exist.</a:t>
            </a:r>
            <a:endParaRPr lang="en-US" sz="135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of Hallucinations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beginners get caught most often.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D9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an answer because it is well written. Fluency is the easiest thing for AI to produce — truth is not.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711757"/>
            <a:ext cx="512064" cy="512064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711757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1773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Fake sources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737360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book titles, paper names, authors and URLs that look completely genuine.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454250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538374"/>
            <a:ext cx="512064" cy="512064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253837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260055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numbers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563978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Statistics, dates, prices and percentages presented confidently with no real source behind them.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280867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3364992"/>
            <a:ext cx="512064" cy="512064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3364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427171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Outdated facts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390595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leaders, old prices, old rules — stated in the present tense as if current.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107485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4191610"/>
            <a:ext cx="512064" cy="512064"/>
          </a:xfrm>
          <a:prstGeom prst="ellipse">
            <a:avLst/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419161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253789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Invented features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4217213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Describing settings, menu options or functions that a product does not actually have.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934102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" y="5018227"/>
            <a:ext cx="512064" cy="512064"/>
          </a:xfrm>
          <a:prstGeom prst="ellipse">
            <a:avLst/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" y="5018227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508760" y="508040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Made-up code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4846320" y="5043830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library functions that do not exist, which only fails when you run the code.</a:t>
            </a:r>
            <a:endParaRPr lang="en-US" sz="125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in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F0DE"/>
          </a:solidFill>
          <a:ln w="12700">
            <a:solidFill>
              <a:srgbClr val="FBF0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C98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THIS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that experiment live. Then ask: 'Rewrite both descriptions with no gender assumptions.' Discuss the difference.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DEFINITION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is when AI output unfairly favours or disadvantages certain people, because such patterns existed in the data it learned from.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14720" y="1335024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70752" y="1572768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0752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ANALOGY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70752" y="1956816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only ever read one newspaper. They are not lying, but their view of the world is one-sided.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hiring tool trained mostly on past male hires learned to rank similar profiles higher, disadvantaging women.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4720" y="3593592"/>
            <a:ext cx="5428336" cy="2020824"/>
          </a:xfrm>
          <a:prstGeom prst="roundRect">
            <a:avLst>
              <a:gd name="adj" fmla="val 271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0752" y="3831336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0752" y="3831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EXAMPLE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470752" y="4215384"/>
            <a:ext cx="49162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to 'describe a nurse' and 'describe an engineer' and observe which assumptions appear without you asking.</a:t>
            </a:r>
            <a:endParaRPr lang="en-US" sz="135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and 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you paste something, you cannot unsend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test: would you be comfortable if this text appeared in a public forum? If not, do not paste it.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it is stored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anything typed into a public AI tool as potentially retained and reviewed.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6026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63770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6377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57546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Anonymise first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63770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real names, numbers and addresses with placeholders before asking for help.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03413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41157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41157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834933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the minimum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341157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only what is needed for the task — nothing extra 'just in case'.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6384" y="3977640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policy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786384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employers allow only approved tools. Check before you paste anything at work.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26026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63770" y="3977640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6377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57546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Others' data too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4563770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friend's or customer's information is not yours to share with an AI service.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103413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41157" y="3977640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41157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834933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count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8341157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uploaded image of a document exposes exactly the same data as pasted text.</a:t>
            </a:r>
            <a:endParaRPr lang="en-US" sz="125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Data and Confidential Information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categories. Both must stay out of your prompts.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9EDF9"/>
          </a:solidFill>
          <a:ln w="12700">
            <a:solidFill>
              <a:srgbClr val="E9ED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1B2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at a large company pasted internal code into a public AI tool; the company banned such tools within days.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5181448" cy="3986784"/>
          </a:xfrm>
          <a:prstGeom prst="roundRect">
            <a:avLst>
              <a:gd name="adj" fmla="val 137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627632"/>
            <a:ext cx="5181448" cy="658368"/>
          </a:xfrm>
          <a:prstGeom prst="roundRect">
            <a:avLst>
              <a:gd name="adj" fmla="val 8333"/>
            </a:avLst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627632"/>
            <a:ext cx="466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data (about people)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496312"/>
            <a:ext cx="463280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with address or phone number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Aadhaar, PAN, passport or licence numbers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account, card or UPI details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 and health history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date of birth with other identifiers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Photographs of identifiable individuals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61608" y="1627632"/>
            <a:ext cx="5181448" cy="3986784"/>
          </a:xfrm>
          <a:prstGeom prst="roundRect">
            <a:avLst>
              <a:gd name="adj" fmla="val 137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61608" y="1627632"/>
            <a:ext cx="5181448" cy="658368"/>
          </a:xfrm>
          <a:prstGeom prst="roundRect">
            <a:avLst>
              <a:gd name="adj" fmla="val 8333"/>
            </a:avLst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17640" y="1627632"/>
            <a:ext cx="4669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information (about work)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735928" y="2496312"/>
            <a:ext cx="4632808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source code and system designs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Unreleased product plans and pricing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contracts, proposals and agreements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financial reports and forecasts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Passwords, API keys and access tokens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marked internal or confidential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21528" y="3346704"/>
            <a:ext cx="548640" cy="548640"/>
          </a:xfrm>
          <a:prstGeom prst="ellipse">
            <a:avLst/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21528" y="3346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and Intellectual Property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practical rules for students and professionals.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FBE7EA"/>
          </a:solidFill>
          <a:ln w="12700">
            <a:solidFill>
              <a:srgbClr val="FBE7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D9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'the AI made it, so it is mine and it is original'. Neither half of that sentence is safely true.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paste whole works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an entire book, paid course or article into an AI tool can itself breach copyright.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6026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63770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6377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57546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output is not automatic ownership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63770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on who owns AI-generated content differ by country and are still evolving.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03413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41157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41157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834933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for similarity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341157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text can closely resemble existing material. Review before publishing.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6384" y="3977640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artist imitation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786384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ask for a living artist's exact style. Describe the look you want instead.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26026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63770" y="3977640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6377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57546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 brands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4563770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Logos, characters and trademarks are protected, however the image was produced.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103413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41157" y="3977640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41157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834933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 honestly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8341157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college and at work, disclose AI assistance when the rules require it.</a:t>
            </a:r>
            <a:endParaRPr lang="en-US" sz="125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Verification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is to be the checkpoint between AI output and the real world.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gives you speed. You supply the judgement. That combination is what employers actually want.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711757"/>
            <a:ext cx="512064" cy="512064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711757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1773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and numbers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737360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statistic, date, name and price against a trustworthy source before using it.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454250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538374"/>
            <a:ext cx="512064" cy="512064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253837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260055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563978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every link or reference. If it does not exist, remove the claim entirely.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280867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3364992"/>
            <a:ext cx="512064" cy="512064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3364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427171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390595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reasoning. Does each step actually follow from the previous one?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107485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4191610"/>
            <a:ext cx="512064" cy="512064"/>
          </a:xfrm>
          <a:prstGeom prst="ellipse">
            <a:avLst/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419161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253789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Tone and audience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4217213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be comfortable if this went to your manager, your client or your professor?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934102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" y="5018227"/>
            <a:ext cx="512064" cy="512064"/>
          </a:xfrm>
          <a:prstGeom prst="ellipse">
            <a:avLst/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" y="5018227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508760" y="508040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fields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4846320" y="5043830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Medical, legal and financial output always needs a qualified human before it is acted upon.</a:t>
            </a:r>
            <a:endParaRPr lang="en-US" sz="125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Limitations You Must Know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the weak points is what makes you a skilled user.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TIP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class for a 7-digit multiplication and check it. The visible mistake teaches more than any warning slide.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 understanding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predicts likely language patterns; it does not know facts the way a person does.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6026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63770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6377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057546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cut-off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563770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ends at some point. Recent events may be missing or wrong.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03413" y="1627632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41157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41157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834933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exact maths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341157" y="2377440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calculations are often wrong. Use a calculator or a spreadsheet.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6384" y="3977640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memory by default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786384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remember previous chats unless the application resends them.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326026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63770" y="3977640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6377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057546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limits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4563770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long documents may be cut off, so the end is quietly ignored.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103413" y="3739896"/>
            <a:ext cx="3539642" cy="1874520"/>
          </a:xfrm>
          <a:prstGeom prst="roundRect">
            <a:avLst>
              <a:gd name="adj" fmla="val 2927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341157" y="3977640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41157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834933" y="39776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Inconsistency</a:t>
            </a:r>
            <a:endParaRPr lang="en-US" sz="1450" dirty="0"/>
          </a:p>
        </p:txBody>
      </p:sp>
      <p:sp>
        <p:nvSpPr>
          <p:cNvPr id="39" name="Text 37"/>
          <p:cNvSpPr txBox="1"/>
          <p:nvPr/>
        </p:nvSpPr>
        <p:spPr>
          <a:xfrm>
            <a:off x="8341157" y="4489704"/>
            <a:ext cx="306415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prompt can give different answers at different times.</a:t>
            </a:r>
            <a:endParaRPr lang="en-US" sz="125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Safety in Daily Use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safety, not theory.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for emergencies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Medical, legal or safety emergencies need qualified humans — immediately, not an AI chat.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26026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63770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6377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57546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 manipulation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563770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write very convincing scam messages. Verify unusual requests through another channel.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03413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41157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41157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834933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automate blindly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341157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human approval step before anything is sent to a customer or published.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6384" y="4347972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vulnerable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86384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extra care with content aimed at children, patients or elderly users.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326026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63770" y="4347972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63770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057546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before sharing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563770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forward AI-generated claims, images or news without verifying them first.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03413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41157" y="4347972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41157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834933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problems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8341157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tool produces harmful or unsafe output, report it rather than ignoring it.</a:t>
            </a:r>
            <a:endParaRPr lang="en-US" sz="125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Ethics — Five Principles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values behind every responsible AI policy in the world.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turns into one question you can ask yourself: 'Would I be comfortable explaining how this was made?'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711757"/>
            <a:ext cx="512064" cy="512064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1711757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1773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737360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should not systematically disadvantage any group of people.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2454250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538374"/>
            <a:ext cx="512064" cy="512064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4672" y="253837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260055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563978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should know when they are interacting with AI and roughly how it decides.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280867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3364992"/>
            <a:ext cx="512064" cy="512064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" y="33649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3427171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846320" y="3390595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or an organisation remains responsible for every AI-supported decision.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107485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4672" y="4191610"/>
            <a:ext cx="512064" cy="512064"/>
          </a:xfrm>
          <a:prstGeom prst="ellipse">
            <a:avLst/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419161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253789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4846320" y="4217213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must be collected and used with consent and with care.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934102"/>
            <a:ext cx="11094415" cy="680314"/>
          </a:xfrm>
          <a:prstGeom prst="roundRect">
            <a:avLst>
              <a:gd name="adj" fmla="val 8065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" y="5018227"/>
            <a:ext cx="512064" cy="512064"/>
          </a:xfrm>
          <a:prstGeom prst="ellipse">
            <a:avLst/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4672" y="5018227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508760" y="508040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oversight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4846320" y="5043830"/>
            <a:ext cx="643097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decisions must be reviewable, correctable and overridable by a person.</a:t>
            </a:r>
            <a:endParaRPr lang="en-US" sz="125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Fact-Checking AI Responses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that take two minutes and prevent most mistakes.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B31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 TIP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AI: 'Which parts of your answer are you least confident about?' It often points straight at the weak claims.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249424"/>
            <a:ext cx="2485568" cy="2743200"/>
          </a:xfrm>
          <a:prstGeom prst="roundRect">
            <a:avLst>
              <a:gd name="adj" fmla="val 220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553680" y="2505456"/>
            <a:ext cx="475488" cy="47548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53680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3072384"/>
            <a:ext cx="2266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claims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950208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 every fact, number, date, name and source in the answer.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107360" y="3502152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18256" y="2249424"/>
            <a:ext cx="2485568" cy="2743200"/>
          </a:xfrm>
          <a:prstGeom prst="roundRect">
            <a:avLst>
              <a:gd name="adj" fmla="val 220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23296" y="2505456"/>
            <a:ext cx="475488" cy="47548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23296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527984" y="3072384"/>
            <a:ext cx="2266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source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582848" y="3950208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each one on an official site, textbook or well-known publication.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76976" y="3502152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87872" y="2249424"/>
            <a:ext cx="2485568" cy="2743200"/>
          </a:xfrm>
          <a:prstGeom prst="roundRect">
            <a:avLst>
              <a:gd name="adj" fmla="val 220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292912" y="2505456"/>
            <a:ext cx="475488" cy="47548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92912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397600" y="3072384"/>
            <a:ext cx="2266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52464" y="3950208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sources agreeing is far stronger than one.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846591" y="3502152"/>
            <a:ext cx="237744" cy="237744"/>
          </a:xfrm>
          <a:prstGeom prst="rightArrow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57487" y="2249424"/>
            <a:ext cx="2485568" cy="2743200"/>
          </a:xfrm>
          <a:prstGeom prst="roundRect">
            <a:avLst>
              <a:gd name="adj" fmla="val 2207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162527" y="2505456"/>
            <a:ext cx="475488" cy="47548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62527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267215" y="3072384"/>
            <a:ext cx="2266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and note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322079" y="3950208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what is wrong, delete what cannot be verified, keep a note of your sources.</a:t>
            </a:r>
            <a:endParaRPr lang="en-US" sz="115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Evaluate Any AI Output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answer on five points before you use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Completeness, Relevance, Clarity, Safety. Five checks, one minute, far fewer embarrassments.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900" dirty="0"/>
          </a:p>
        </p:txBody>
      </p:sp>
      <p:graphicFrame>
        <p:nvGraphicFramePr>
          <p:cNvPr id="1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27632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572000"/>
                <a:gridCol w="38679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yourself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it fails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53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01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the facts, numbers and names verifiable?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or delete the claim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01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anything important missing?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a follow-up prompt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01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answer what I actually asked?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Rewrite the prompt more clearly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01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my reader understand it easily?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for simpler language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01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bias, private data or copied content?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0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it out before using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Best Practices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habits of people who get real value from AI.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5364328" cy="4727448"/>
          </a:xfrm>
          <a:prstGeom prst="roundRect">
            <a:avLst>
              <a:gd name="adj" fmla="val 1161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1865376"/>
            <a:ext cx="435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THIS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450592"/>
            <a:ext cx="481568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specific: role, task, context, constraints, format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AI your rough draft to improve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options, then choose yourself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every fact you will act on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prompts that worked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the explanations AI gives you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human approval step before publishing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8728" y="1627632"/>
            <a:ext cx="5364328" cy="4727448"/>
          </a:xfrm>
          <a:prstGeom prst="roundRect">
            <a:avLst>
              <a:gd name="adj" fmla="val 1161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34760" y="1865376"/>
            <a:ext cx="384048" cy="384048"/>
          </a:xfrm>
          <a:prstGeom prst="ellipse">
            <a:avLst/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476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046824" y="1865376"/>
            <a:ext cx="435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43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THIS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553048" y="2450592"/>
            <a:ext cx="4815688" cy="367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vague one-word questions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personal or confidential data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AI text as your own thinking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numbers, sources or code untested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for medical, legal or emergency decisions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learning the subject yourself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 the tool for your final output</a:t>
            </a:r>
            <a:endParaRPr lang="en-US" sz="13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Generative AI Mistakes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mistakes to never repeat after this workshop.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353964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prompts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377440"/>
            <a:ext cx="3064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words, then disappointment with the answer. Fix the prompt first.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26026" y="1627632"/>
            <a:ext cx="3539642" cy="1417320"/>
          </a:xfrm>
          <a:prstGeom prst="roundRect">
            <a:avLst>
              <a:gd name="adj" fmla="val 3871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63770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6377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57546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Accepting draft one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563770" y="2377440"/>
            <a:ext cx="3064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answer is a starting point, not a finished product.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03413" y="1627632"/>
            <a:ext cx="353964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41157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41157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834933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verification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341157" y="2377440"/>
            <a:ext cx="3064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facts, numbers or sources that were never checked.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282696"/>
            <a:ext cx="3539642" cy="1417320"/>
          </a:xfrm>
          <a:prstGeom prst="roundRect">
            <a:avLst>
              <a:gd name="adj" fmla="val 3871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6384" y="3520440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35204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Pasting secrets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86384" y="4032504"/>
            <a:ext cx="3064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personal, client or company confidential information in a prompt.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326026" y="3282696"/>
            <a:ext cx="353964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63770" y="3520440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6377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057546" y="35204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tool for maths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563770" y="4032504"/>
            <a:ext cx="3064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language model for exact calculations instead of a spreadsheet.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03413" y="3282696"/>
            <a:ext cx="3539642" cy="1417320"/>
          </a:xfrm>
          <a:prstGeom prst="roundRect">
            <a:avLst>
              <a:gd name="adj" fmla="val 3871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41157" y="3520440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41157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834933" y="3520440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Ignoring format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8341157" y="4032504"/>
            <a:ext cx="3064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asking for a table, list or word limit, then reformatting everything by hand.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48640" y="4937760"/>
            <a:ext cx="353964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86384" y="5175504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86384" y="5175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280160" y="5175504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giant prompt</a:t>
            </a:r>
            <a:endParaRPr lang="en-US" sz="1450" dirty="0"/>
          </a:p>
        </p:txBody>
      </p:sp>
      <p:sp>
        <p:nvSpPr>
          <p:cNvPr id="41" name="Text 39"/>
          <p:cNvSpPr txBox="1"/>
          <p:nvPr/>
        </p:nvSpPr>
        <p:spPr>
          <a:xfrm>
            <a:off x="786384" y="5687568"/>
            <a:ext cx="3064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unrelated requests at once instead of a short, focused sequence.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326026" y="4937760"/>
            <a:ext cx="3539642" cy="1417320"/>
          </a:xfrm>
          <a:prstGeom prst="roundRect">
            <a:avLst>
              <a:gd name="adj" fmla="val 3871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63770" y="5175504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63770" y="5175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057546" y="5175504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Over-dependence</a:t>
            </a:r>
            <a:endParaRPr lang="en-US" sz="1450" dirty="0"/>
          </a:p>
        </p:txBody>
      </p:sp>
      <p:sp>
        <p:nvSpPr>
          <p:cNvPr id="46" name="Text 44"/>
          <p:cNvSpPr txBox="1"/>
          <p:nvPr/>
        </p:nvSpPr>
        <p:spPr>
          <a:xfrm>
            <a:off x="4563770" y="5687568"/>
            <a:ext cx="3064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AI so much that you stop building your own skill and judgement.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8103413" y="4937760"/>
            <a:ext cx="353964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341157" y="5175504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341157" y="5175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8834933" y="5175504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saved prompts</a:t>
            </a:r>
            <a:endParaRPr lang="en-US" sz="1450" dirty="0"/>
          </a:p>
        </p:txBody>
      </p:sp>
      <p:sp>
        <p:nvSpPr>
          <p:cNvPr id="51" name="Text 49"/>
          <p:cNvSpPr txBox="1"/>
          <p:nvPr/>
        </p:nvSpPr>
        <p:spPr>
          <a:xfrm>
            <a:off x="8341157" y="5687568"/>
            <a:ext cx="30641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Re-inventing the same good prompt every week instead of keeping a library.</a:t>
            </a:r>
            <a:endParaRPr lang="en-US" sz="125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— Days 1 and 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and prompting.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785823"/>
            <a:ext cx="512064" cy="512064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1785823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773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AI, ML, DL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737360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the field; ML learns rules from data; Deep Learning uses many-layered neural networks. AI ⊃ ML ⊃ DL ⊃ Generative AI.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602382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760574"/>
            <a:ext cx="512064" cy="512064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276057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74868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types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712110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(labelled answers), Unsupervised (find hidden groups), Reinforcement (rewards and penalties).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577133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735324"/>
            <a:ext cx="512064" cy="512064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7353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72343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686861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content rather than only predicting or classifying. Powerful, fast, and always in need of checking.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551883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4710074"/>
            <a:ext cx="512064" cy="512064"/>
          </a:xfrm>
          <a:prstGeom prst="ellipse">
            <a:avLst/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" y="471007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469818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parts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4661611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Task, Context, Constraints, Output Format — the structure behind every strong prompt.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526634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5684825"/>
            <a:ext cx="512064" cy="512064"/>
          </a:xfrm>
          <a:prstGeom prst="ellipse">
            <a:avLst/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5684825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508760" y="567293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 styles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5636362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for speed, few-shot when style matters, role prompting for expertise, then refine and save.</a:t>
            </a:r>
            <a:endParaRPr lang="en-US" sz="125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— Days 3 and 4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creation, coding and data.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785823"/>
            <a:ext cx="512064" cy="512064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1785823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773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AI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737360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Write, summarise, translate, rewrite and brainstorm. Always state audience, length and format.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602382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760574"/>
            <a:ext cx="512064" cy="512064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276057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74868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AI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712110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→ Environment → Lighting → Style → Composition. Detail is the entire skill.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577133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735324"/>
            <a:ext cx="512064" cy="512064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7353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72343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686861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first, then slide content, then speaker notes, then a review pass for repetition.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551883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4710074"/>
            <a:ext cx="512064" cy="512064"/>
          </a:xfrm>
          <a:prstGeom prst="ellipse">
            <a:avLst/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" y="471007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469818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with AI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4661611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explain, debug, refactor, document, test, convert — and never ship code you cannot explain.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526634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5684825"/>
            <a:ext cx="512064" cy="512064"/>
          </a:xfrm>
          <a:prstGeom prst="ellipse">
            <a:avLst/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5684825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508760" y="567293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with AI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5636362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summarise and chart. Choose the chart type deliberately and verify every number.</a:t>
            </a:r>
            <a:endParaRPr lang="en-US" sz="125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— Days 5 and 6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and responsibility.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785823"/>
            <a:ext cx="512064" cy="512064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1785823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7739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737360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request (endpoint, method, headers, body) goes out; a status code and JSON response come back.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602382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760574"/>
            <a:ext cx="512064" cy="512064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" y="276057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74868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&amp; security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712110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identify you; store them in environment variables; call the AI only from the backend.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577133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735324"/>
            <a:ext cx="512064" cy="512064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7353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72343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686861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Frontend → Backend → Gen AI API → Model → Response → User. Handle 401, 429, 500 and timeouts.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551883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4710074"/>
            <a:ext cx="512064" cy="512064"/>
          </a:xfrm>
          <a:prstGeom prst="ellipse">
            <a:avLst/>
          </a:prstGeom>
          <a:solidFill>
            <a:srgbClr val="1B2247"/>
          </a:solidFill>
          <a:ln w="12700">
            <a:solidFill>
              <a:srgbClr val="1B224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672" y="471007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508760" y="4698187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Responsible AI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4661611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Hallucinations, bias, privacy, copyright — verify before you publish, always.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526634"/>
            <a:ext cx="11094415" cy="828446"/>
          </a:xfrm>
          <a:prstGeom prst="roundRect">
            <a:avLst>
              <a:gd name="adj" fmla="val 6623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5684825"/>
            <a:ext cx="512064" cy="512064"/>
          </a:xfrm>
          <a:prstGeom prst="ellipse">
            <a:avLst/>
          </a:prstGeom>
          <a:solidFill>
            <a:srgbClr val="D94357"/>
          </a:solidFill>
          <a:ln w="12700">
            <a:solidFill>
              <a:srgbClr val="D9435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4672" y="5684825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508760" y="567293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5636362"/>
            <a:ext cx="6430975" cy="608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Completeness, Relevance, Clarity, Safety — five checks on every output.</a:t>
            </a:r>
            <a:endParaRPr lang="en-US" sz="125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only three things from six days, remember these.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57607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E4F5F1"/>
          </a:solidFill>
          <a:ln w="12700">
            <a:solidFill>
              <a:srgbClr val="E4F5F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58704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0FA5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6089904"/>
            <a:ext cx="106372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who benefit most from AI are not the ones who use it most — they are the ones who check it best.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627632"/>
            <a:ext cx="11094415" cy="1737360"/>
          </a:xfrm>
          <a:prstGeom prst="roundRect">
            <a:avLst>
              <a:gd name="adj" fmla="val 4211"/>
            </a:avLst>
          </a:prstGeom>
          <a:solidFill>
            <a:srgbClr val="101534"/>
          </a:solidFill>
          <a:ln w="12700">
            <a:solidFill>
              <a:srgbClr val="101534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05840" y="1810512"/>
            <a:ext cx="10180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 powerful assistant, not an authority.</a:t>
            </a:r>
            <a:endParaRPr lang="en-US" sz="20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bring the question, the judgement and the responsibility.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3539642" cy="1956816"/>
          </a:xfrm>
          <a:prstGeom prst="roundRect">
            <a:avLst>
              <a:gd name="adj" fmla="val 280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86384" y="3895344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895344"/>
            <a:ext cx="25795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well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" y="4425696"/>
            <a:ext cx="306415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prompt with role, task, context, constraints and format beats any tool or trick.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26026" y="3657600"/>
            <a:ext cx="3539642" cy="1956816"/>
          </a:xfrm>
          <a:prstGeom prst="roundRect">
            <a:avLst>
              <a:gd name="adj" fmla="val 280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63770" y="3895344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63770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057546" y="3895344"/>
            <a:ext cx="25795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always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63770" y="4425696"/>
            <a:ext cx="306415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facts, numbers, sources and code before anything leaves your hands.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03413" y="3657600"/>
            <a:ext cx="3539642" cy="1956816"/>
          </a:xfrm>
          <a:prstGeom prst="roundRect">
            <a:avLst>
              <a:gd name="adj" fmla="val 280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41157" y="3895344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41157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834933" y="3895344"/>
            <a:ext cx="25795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Practise daily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341157" y="4425696"/>
            <a:ext cx="306415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task a day for a month will make you better than most people around you.</a:t>
            </a:r>
            <a:endParaRPr lang="en-US" sz="125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Quiz — 20 Basic Questions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all 20 first, then check the answer key on the final slide of this day.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1865376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multiple-choice questions, four options each, only one correct answer.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26026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63770" y="1865376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6377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57546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563770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yourself about 10 minutes. No notes, no searching — this is a self-check, not an exam.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03413" y="1627632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41157" y="1865376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41157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834933" y="1865376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8341157" y="2377440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mark per correct answer. 14 or more means you are ready for the next day.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6384" y="4347972"/>
            <a:ext cx="384048" cy="384048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score low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86384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worry. Go back to the slides for the questions you missed and re-read the Remember boxes.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326026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63770" y="4347972"/>
            <a:ext cx="384048" cy="384048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63770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057546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4563770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Trainers: read each question aloud and let students answer by show of hands before revealing the key.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103413" y="4110228"/>
            <a:ext cx="3539642" cy="2244852"/>
          </a:xfrm>
          <a:prstGeom prst="roundRect">
            <a:avLst>
              <a:gd name="adj" fmla="val 2444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  <a:effectLst>
            <a:outerShdw sx="100000" sy="100000" kx="0" ky="0" algn="bl" rotWithShape="0" blurRad="127000" dist="25400" dir="5400000">
              <a:srgbClr val="1B2247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41157" y="4347972"/>
            <a:ext cx="384048" cy="384048"/>
          </a:xfrm>
          <a:prstGeom prst="ellipse">
            <a:avLst/>
          </a:prstGeom>
          <a:solidFill>
            <a:srgbClr val="C9821F"/>
          </a:solidFill>
          <a:ln w="12700">
            <a:solidFill>
              <a:srgbClr val="C9821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41157" y="4347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834933" y="4347972"/>
            <a:ext cx="257952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key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8341157" y="4860036"/>
            <a:ext cx="3064154" cy="128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slide of this day lists all 20 correct answers with the full option text.</a:t>
            </a:r>
            <a:endParaRPr lang="en-US" sz="125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Quiz — Questions 1 to 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88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170432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means using AI in a way that is…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Fast only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20008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Fair, private and safe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Free only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55735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Hidden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54326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6405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24576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hallucination is…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 confident but false answer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20008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 slow reply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87872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 picture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55735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 software update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9661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339389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321101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a common hallucination?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Invented references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20008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 correct summary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 saved file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855735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 blank reply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04995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14723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396435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in AI usually comes from…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The training data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0008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The keyboard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87872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monitor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55735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The mouse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80330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49005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547177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personal data?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Aadhaar number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720008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 public article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87872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 maths formula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55735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 sample sentence</a:t>
            </a:r>
            <a:endParaRPr lang="en-US" sz="115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Quiz — Questions 6 to 10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88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170432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confidential company information?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Unreleased product plans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20008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 published blog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 textbook page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55735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Public news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54326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6405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24576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never paste into a public AI tool…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Passwords and API keys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20008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 practice question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87872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 public article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55735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Your own draft essay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9661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339389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321101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Regarding copyright, you should avoid…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Pasting entire copyrighted works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20008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Writing your own notes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Asking for an explanation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855735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Making an outline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04995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14723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396435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verification means…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Checking AI output before using it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0008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Asking AI twice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87872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Printing the answer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55735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Deleting the answer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80330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49005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547177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weakest at…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Exact multi-step maths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720008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Writing drafts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87872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Summarising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55735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Translating</a:t>
            </a:r>
            <a:endParaRPr lang="en-US" sz="115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Quiz — Questions 11 to 15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88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170432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'Knowledge cut-off' means the model…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May not know recent events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20008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Cannot write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Has no language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55735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Is switched off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54326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6405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24576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an AI model remembers…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Nothing between separate chats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20008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Everything forever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87872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Only images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55735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Your passwords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9661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339389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321101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medical emergency you should…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Contact a qualified professional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20008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Ask an AI chatbot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Wait for a reply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855735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Post online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04995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14723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396435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Fact-checking should include…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Opening and verifying sources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0008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Trusting fluent writing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87872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Ignoring numbers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55735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Copying quickly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80330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49005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547177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is NOT one of the five evaluation checks?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Accuracy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720008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Completeness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87872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Font size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55735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Safety</a:t>
            </a:r>
            <a:endParaRPr lang="en-US" sz="115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12064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Quiz — Questions 16 to 20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078992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11887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52144" y="1170432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 principle 'transparency' means…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152144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People know AI was involved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720008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The screen is bright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287872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code is fast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8855735" y="1554480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The file is small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154326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226405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" y="2245766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for an AI-supported decision lies with…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The human or organisation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720008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The keyboard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287872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Nobody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855735" y="2629814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The internet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229661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3232" y="3339389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" y="3321101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Gen AI mistake is…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Accepting the first draft without checking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720008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Using a word limit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287872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Giving context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855735" y="3705149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Asking for a table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4304995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14723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" y="4396435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description of AI is…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 powerful assistant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720008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A perfect authority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87872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 search engine only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855735" y="4780483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A calculator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380330"/>
            <a:ext cx="11094415" cy="947318"/>
          </a:xfrm>
          <a:prstGeom prst="roundRect">
            <a:avLst>
              <a:gd name="adj" fmla="val 4826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549005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1152144" y="5471770"/>
            <a:ext cx="102714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workshop, the best daily habit is…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Practise, then verify the output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720008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Copy without reading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287872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Avoid AI completely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855735" y="5855818"/>
            <a:ext cx="2458136" cy="38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Share private data</a:t>
            </a:r>
            <a:endParaRPr lang="en-US" sz="115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6C4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· RESPONSIBLE AI, REVISION &amp; ADVANCED CONCEPTS · QUIZ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Quiz — Answer Key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option and answer text for all 20 questions.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31872" y="1719072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31872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048256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Fair, private and safe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63392" y="1627632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46272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46624" y="1719072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46624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546272" y="2048256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 but false answer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8144" y="1627632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1024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61375" y="1719072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61375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61024" y="2048256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references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92895" y="1627632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75775" y="17373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1076127" y="1719072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076127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175775" y="2048256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data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2606040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31872" y="2697480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631872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" y="3026664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number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363392" y="2606040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46272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46624" y="2697480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46624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546272" y="3026664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Unreleased product plans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178144" y="2606040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61024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261375" y="2697480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61375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361024" y="3026664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and API keys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992895" y="2606040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175775" y="27157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1076127" y="2697480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1076127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9175775" y="3026664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Pasting entire copyrighted works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48640" y="3584448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31520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631872" y="3675888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631872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731520" y="4005072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AI output before using it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3363392" y="3584448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546272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446624" y="3675888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46624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3546272" y="4005072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multi-step maths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6178144" y="3584448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361024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Q11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261375" y="3675888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261375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6361024" y="4005072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not know recent events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8992895" y="3584448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175775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Q12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1076127" y="3675888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1076127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9175775" y="4005072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between separate chats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548640" y="4562856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731520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Q13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631872" y="4654296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2631872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731520" y="4983480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a qualified professional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3363392" y="4562856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3546272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Q14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446624" y="4654296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446624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3546272" y="4983480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and verifying sources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6178144" y="4562856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361024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Q15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8261375" y="4654296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8261375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6361024" y="4983480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size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8992895" y="4562856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9175775" y="46725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Q16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11076127" y="4654296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11076127" y="4654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86" name="Text 84"/>
          <p:cNvSpPr txBox="1"/>
          <p:nvPr/>
        </p:nvSpPr>
        <p:spPr>
          <a:xfrm>
            <a:off x="9175775" y="4983480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know AI was involved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548640" y="5541264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731520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Q17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2631872" y="5632704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2631872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91" name="Text 89"/>
          <p:cNvSpPr txBox="1"/>
          <p:nvPr/>
        </p:nvSpPr>
        <p:spPr>
          <a:xfrm>
            <a:off x="731520" y="5961888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or organisation</a:t>
            </a:r>
            <a:endParaRPr lang="en-US" sz="1150" dirty="0"/>
          </a:p>
        </p:txBody>
      </p:sp>
      <p:sp>
        <p:nvSpPr>
          <p:cNvPr id="92" name="Shape 90"/>
          <p:cNvSpPr/>
          <p:nvPr/>
        </p:nvSpPr>
        <p:spPr>
          <a:xfrm>
            <a:off x="3363392" y="5541264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3546272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Q18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5446624" y="5632704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5446624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96" name="Text 94"/>
          <p:cNvSpPr txBox="1"/>
          <p:nvPr/>
        </p:nvSpPr>
        <p:spPr>
          <a:xfrm>
            <a:off x="3546272" y="5961888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the first draft without checking</a:t>
            </a:r>
            <a:endParaRPr lang="en-US" sz="1150" dirty="0"/>
          </a:p>
        </p:txBody>
      </p:sp>
      <p:sp>
        <p:nvSpPr>
          <p:cNvPr id="97" name="Shape 95"/>
          <p:cNvSpPr/>
          <p:nvPr/>
        </p:nvSpPr>
        <p:spPr>
          <a:xfrm>
            <a:off x="6178144" y="5541264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6361024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Q19</a:t>
            </a:r>
            <a:endParaRPr lang="en-US" sz="1100" dirty="0"/>
          </a:p>
        </p:txBody>
      </p:sp>
      <p:sp>
        <p:nvSpPr>
          <p:cNvPr id="99" name="Shape 97"/>
          <p:cNvSpPr/>
          <p:nvPr/>
        </p:nvSpPr>
        <p:spPr>
          <a:xfrm>
            <a:off x="8261375" y="5632704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8261375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101" name="Text 99"/>
          <p:cNvSpPr txBox="1"/>
          <p:nvPr/>
        </p:nvSpPr>
        <p:spPr>
          <a:xfrm>
            <a:off x="6361024" y="5961888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powerful assistant</a:t>
            </a:r>
            <a:endParaRPr lang="en-US" sz="1150" dirty="0"/>
          </a:p>
        </p:txBody>
      </p:sp>
      <p:sp>
        <p:nvSpPr>
          <p:cNvPr id="102" name="Shape 100"/>
          <p:cNvSpPr/>
          <p:nvPr/>
        </p:nvSpPr>
        <p:spPr>
          <a:xfrm>
            <a:off x="8992895" y="5541264"/>
            <a:ext cx="2650160" cy="813816"/>
          </a:xfrm>
          <a:prstGeom prst="roundRect">
            <a:avLst>
              <a:gd name="adj" fmla="val 6742"/>
            </a:avLst>
          </a:prstGeom>
          <a:solidFill>
            <a:srgbClr val="F4F6FC"/>
          </a:solidFill>
          <a:ln w="12700">
            <a:solidFill>
              <a:srgbClr val="DCE1F2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9175775" y="56509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68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Q20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11076127" y="5632704"/>
            <a:ext cx="365760" cy="365760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11076127" y="5632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106" name="Text 104"/>
          <p:cNvSpPr txBox="1"/>
          <p:nvPr/>
        </p:nvSpPr>
        <p:spPr>
          <a:xfrm>
            <a:off x="9175775" y="5961888"/>
            <a:ext cx="228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01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Practise, then verify the output</a:t>
            </a:r>
            <a:endParaRPr lang="en-US" sz="115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1015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4754880" cy="4754880"/>
          </a:xfrm>
          <a:prstGeom prst="ellipse">
            <a:avLst/>
          </a:prstGeom>
          <a:solidFill>
            <a:srgbClr val="4B31C7">
              <a:alpha val="30000"/>
            </a:srgbClr>
          </a:solidFill>
          <a:ln w="12700">
            <a:solidFill>
              <a:srgbClr val="4B31C7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058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9AA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WORKSHOP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Now a Confident AI User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CC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days, one skill set: understanding AI, asking it well, using it safely and building with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2567864" cy="2286000"/>
          </a:xfrm>
          <a:prstGeom prst="roundRect">
            <a:avLst>
              <a:gd name="adj" fmla="val 3200"/>
            </a:avLst>
          </a:prstGeom>
          <a:solidFill>
            <a:srgbClr val="1B2247"/>
          </a:solidFill>
          <a:ln w="12700">
            <a:solidFill>
              <a:srgbClr val="2E37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3291840"/>
            <a:ext cx="402336" cy="402336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6384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803904"/>
            <a:ext cx="2092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Practise daily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4206240"/>
            <a:ext cx="2092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for one real task every day — an email, a summary, a doubt, a piece of code.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90824" y="3063240"/>
            <a:ext cx="2567864" cy="2286000"/>
          </a:xfrm>
          <a:prstGeom prst="roundRect">
            <a:avLst>
              <a:gd name="adj" fmla="val 3200"/>
            </a:avLst>
          </a:prstGeom>
          <a:solidFill>
            <a:srgbClr val="1B2247"/>
          </a:solidFill>
          <a:ln w="12700">
            <a:solidFill>
              <a:srgbClr val="2E37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28568" y="3291840"/>
            <a:ext cx="402336" cy="402336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28568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628568" y="3803904"/>
            <a:ext cx="2092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a prompt file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628568" y="4206240"/>
            <a:ext cx="2092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prompts that worked well. A personal prompt library is your biggest asset.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33008" y="3063240"/>
            <a:ext cx="2567864" cy="2286000"/>
          </a:xfrm>
          <a:prstGeom prst="roundRect">
            <a:avLst>
              <a:gd name="adj" fmla="val 3200"/>
            </a:avLst>
          </a:prstGeom>
          <a:solidFill>
            <a:srgbClr val="1B2247"/>
          </a:solidFill>
          <a:ln w="12700">
            <a:solidFill>
              <a:srgbClr val="2E37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0752" y="3291840"/>
            <a:ext cx="402336" cy="402336"/>
          </a:xfrm>
          <a:prstGeom prst="ellipse">
            <a:avLst/>
          </a:prstGeom>
          <a:solidFill>
            <a:srgbClr val="6C4CF1"/>
          </a:solidFill>
          <a:ln w="12700">
            <a:solidFill>
              <a:srgbClr val="6C4CF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70752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70752" y="3803904"/>
            <a:ext cx="2092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verify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470752" y="4206240"/>
            <a:ext cx="2092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 anything important. AI gives you speed; you supply the judgement.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75191" y="3063240"/>
            <a:ext cx="2567864" cy="2286000"/>
          </a:xfrm>
          <a:prstGeom prst="roundRect">
            <a:avLst>
              <a:gd name="adj" fmla="val 3200"/>
            </a:avLst>
          </a:prstGeom>
          <a:solidFill>
            <a:srgbClr val="1B2247"/>
          </a:solidFill>
          <a:ln w="12700">
            <a:solidFill>
              <a:srgbClr val="2E37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12935" y="3291840"/>
            <a:ext cx="402336" cy="402336"/>
          </a:xfrm>
          <a:prstGeom prst="ellipse">
            <a:avLst/>
          </a:prstGeom>
          <a:solidFill>
            <a:srgbClr val="0FA58F"/>
          </a:solidFill>
          <a:ln w="12700">
            <a:solidFill>
              <a:srgbClr val="0FA58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12935" y="3291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312935" y="3803904"/>
            <a:ext cx="2092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learning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9312935" y="4206240"/>
            <a:ext cx="20923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APIs, RAG, AI agents and fine-tuning — you now have the base for all of them.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669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E7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six focused days. Now go and build something useful.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6-Day Generative AI Workshop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545775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165</Slides>
  <Notes>165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165</vt:i4>
      </vt:variant>
    </vt:vector>
  </HeadingPairs>
  <TitlesOfParts>
    <vt:vector size="16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6-Day Generative AI Workshop</dc:title>
  <dc:subject>PptxGenJS Presentation</dc:subject>
  <dc:creator>Generative AI Workshop</dc:creator>
  <cp:lastModifiedBy>Generative AI Workshop</cp:lastModifiedBy>
  <cp:revision>1</cp:revision>
  <dcterms:created xsi:type="dcterms:W3CDTF">2026-09-18T05:42:16Z</dcterms:created>
  <dcterms:modified xsi:type="dcterms:W3CDTF">2026-09-18T05:42:16Z</dcterms:modified>
</cp:coreProperties>
</file>
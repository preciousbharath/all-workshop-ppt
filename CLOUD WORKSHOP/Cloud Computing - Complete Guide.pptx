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1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Market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bubble3D val="0"/>
            <c:spPr>
              <a:solidFill>
                <a:srgbClr val="F2A65A"/>
              </a:solidFill>
              <a:effectLst/>
            </c:spPr>
          </c:dPt>
          <c:dPt>
            <c:idx val="3"/>
            <c:bubble3D val="0"/>
            <c:spPr>
              <a:solidFill>
                <a:srgbClr val="D7E3E8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AWS</c:v>
                </c:pt>
                <c:pt idx="1">
                  <c:v>Microsoft Azure</c:v>
                </c:pt>
                <c:pt idx="2">
                  <c:v>Google Cloud</c:v>
                </c:pt>
                <c:pt idx="3">
                  <c:v>Others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30</c:v>
                </c:pt>
                <c:pt idx="1">
                  <c:v>24</c:v>
                </c:pt>
                <c:pt idx="2">
                  <c:v>13</c:v>
                </c:pt>
                <c:pt idx="3">
                  <c:v>33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2232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1.png"/><Relationship Id="rId3" Type="http://schemas.openxmlformats.org/officeDocument/2006/relationships/image" Target="../media/image-3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image" Target="../media/image-32-7.png"/><Relationship Id="rId8" Type="http://schemas.openxmlformats.org/officeDocument/2006/relationships/image" Target="../media/image-3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image" Target="../media/image-3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image" Target="../media/image-34-5.png"/><Relationship Id="rId6" Type="http://schemas.openxmlformats.org/officeDocument/2006/relationships/image" Target="../media/image-34-6.png"/><Relationship Id="rId7" Type="http://schemas.openxmlformats.org/officeDocument/2006/relationships/image" Target="../media/image-34-7.png"/><Relationship Id="rId8" Type="http://schemas.openxmlformats.org/officeDocument/2006/relationships/image" Target="../media/image-3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5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556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-1828800"/>
            <a:ext cx="6400800" cy="6400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2926080"/>
            <a:ext cx="3840480" cy="38404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645920" y="4206240"/>
            <a:ext cx="3657600" cy="36576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68580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home/claude/cloud_ppt/icons/cloud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92354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TECHNICAL BRIEFING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" y="310896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Computing</a:t>
            </a:r>
            <a:endParaRPr lang="en-US" sz="5600" dirty="0"/>
          </a:p>
        </p:txBody>
      </p:sp>
      <p:sp>
        <p:nvSpPr>
          <p:cNvPr id="10" name="Text 7"/>
          <p:cNvSpPr/>
          <p:nvPr/>
        </p:nvSpPr>
        <p:spPr>
          <a:xfrm>
            <a:off x="640080" y="434340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is, why it emerged, how it works, and how it is reshaping technology, business, and everyday life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0080" y="525780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5394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Fundamentals  •  Service &amp; Deployment Models  •  Leading Providers  •  Real-World Applications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Cover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85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7E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88720" y="156362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cloud_ppt/icons/clou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9479" y="1694383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508760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Computing: Definition &amp; Core Idea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2450592"/>
            <a:ext cx="685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7E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188720" y="250545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/home/claude/cloud_ppt/icons/history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479" y="2636215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74520" y="2450592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Origins — Who Introduced the Cloud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548640" y="3392424"/>
            <a:ext cx="685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7E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3" name="Shape 9"/>
          <p:cNvSpPr/>
          <p:nvPr/>
        </p:nvSpPr>
        <p:spPr>
          <a:xfrm>
            <a:off x="1188720" y="344728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2" descr="/home/claude/cloud_ppt/icons/warehou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479" y="3578047"/>
            <a:ext cx="241402" cy="24140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874520" y="3392424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Before the Cloud: On-Premise Pain Points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548640" y="4334256"/>
            <a:ext cx="685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7E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7" name="Shape 12"/>
          <p:cNvSpPr/>
          <p:nvPr/>
        </p:nvSpPr>
        <p:spPr>
          <a:xfrm>
            <a:off x="1188720" y="4389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3" descr="/home/claude/cloud_ppt/icons/networ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479" y="4519879"/>
            <a:ext cx="241402" cy="24140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874520" y="4334256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vs Traditional Computing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548640" y="5276088"/>
            <a:ext cx="685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7E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1" name="Shape 15"/>
          <p:cNvSpPr/>
          <p:nvPr/>
        </p:nvSpPr>
        <p:spPr>
          <a:xfrm>
            <a:off x="1188720" y="533095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4" descr="/home/claude/cloud_ppt/icons/checkCircl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9479" y="5461711"/>
            <a:ext cx="241402" cy="24140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874520" y="5276088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Characteristics of Cloud Computing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6263640" y="1508760"/>
            <a:ext cx="685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7E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25" name="Shape 18"/>
          <p:cNvSpPr/>
          <p:nvPr/>
        </p:nvSpPr>
        <p:spPr>
          <a:xfrm>
            <a:off x="6903720" y="156362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5" descr="/home/claude/cloud_ppt/icons/cogs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4479" y="1694383"/>
            <a:ext cx="241402" cy="24140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589520" y="1508760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Cloud Computing Works (Architecture &amp; Workflow)</a:t>
            </a:r>
            <a:endParaRPr lang="en-US" sz="1350" dirty="0"/>
          </a:p>
        </p:txBody>
      </p:sp>
      <p:sp>
        <p:nvSpPr>
          <p:cNvPr id="28" name="Text 20"/>
          <p:cNvSpPr/>
          <p:nvPr/>
        </p:nvSpPr>
        <p:spPr>
          <a:xfrm>
            <a:off x="6263640" y="2450592"/>
            <a:ext cx="685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7E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400" dirty="0"/>
          </a:p>
        </p:txBody>
      </p:sp>
      <p:sp>
        <p:nvSpPr>
          <p:cNvPr id="29" name="Shape 21"/>
          <p:cNvSpPr/>
          <p:nvPr/>
        </p:nvSpPr>
        <p:spPr>
          <a:xfrm>
            <a:off x="6903720" y="250545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6" descr="/home/claude/cloud_ppt/icons/layer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34479" y="2636215"/>
            <a:ext cx="241402" cy="24140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589520" y="2450592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Models — IaaS, PaaS, SaaS</a:t>
            </a:r>
            <a:endParaRPr lang="en-US" sz="1350" dirty="0"/>
          </a:p>
        </p:txBody>
      </p:sp>
      <p:sp>
        <p:nvSpPr>
          <p:cNvPr id="32" name="Text 23"/>
          <p:cNvSpPr/>
          <p:nvPr/>
        </p:nvSpPr>
        <p:spPr>
          <a:xfrm>
            <a:off x="6263640" y="3392424"/>
            <a:ext cx="685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7E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400" dirty="0"/>
          </a:p>
        </p:txBody>
      </p:sp>
      <p:sp>
        <p:nvSpPr>
          <p:cNvPr id="33" name="Shape 24"/>
          <p:cNvSpPr/>
          <p:nvPr/>
        </p:nvSpPr>
        <p:spPr>
          <a:xfrm>
            <a:off x="6903720" y="344728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4" name="Image 7" descr="/home/claude/cloud_ppt/icons/globe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34479" y="3578047"/>
            <a:ext cx="241402" cy="241402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589520" y="3392424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Models — Public, Private, Hybrid, Community</a:t>
            </a:r>
            <a:endParaRPr lang="en-US" sz="1350" dirty="0"/>
          </a:p>
        </p:txBody>
      </p:sp>
      <p:sp>
        <p:nvSpPr>
          <p:cNvPr id="36" name="Text 26"/>
          <p:cNvSpPr/>
          <p:nvPr/>
        </p:nvSpPr>
        <p:spPr>
          <a:xfrm>
            <a:off x="6263640" y="4334256"/>
            <a:ext cx="685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7E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400" dirty="0"/>
          </a:p>
        </p:txBody>
      </p:sp>
      <p:sp>
        <p:nvSpPr>
          <p:cNvPr id="37" name="Shape 27"/>
          <p:cNvSpPr/>
          <p:nvPr/>
        </p:nvSpPr>
        <p:spPr>
          <a:xfrm>
            <a:off x="6903720" y="4389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8" name="Image 8" descr="/home/claude/cloud_ppt/icons/chart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34479" y="4519879"/>
            <a:ext cx="241402" cy="241402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7589520" y="4334256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Cloud Providers &amp; Market Landscape</a:t>
            </a:r>
            <a:endParaRPr lang="en-US" sz="1350" dirty="0"/>
          </a:p>
        </p:txBody>
      </p:sp>
      <p:sp>
        <p:nvSpPr>
          <p:cNvPr id="40" name="Text 29"/>
          <p:cNvSpPr/>
          <p:nvPr/>
        </p:nvSpPr>
        <p:spPr>
          <a:xfrm>
            <a:off x="6263640" y="5276088"/>
            <a:ext cx="685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7E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400" dirty="0"/>
          </a:p>
        </p:txBody>
      </p:sp>
      <p:sp>
        <p:nvSpPr>
          <p:cNvPr id="41" name="Shape 30"/>
          <p:cNvSpPr/>
          <p:nvPr/>
        </p:nvSpPr>
        <p:spPr>
          <a:xfrm>
            <a:off x="6903720" y="533095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2" name="Image 9" descr="/home/claude/cloud_ppt/icons/rocket_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34479" y="5461711"/>
            <a:ext cx="241402" cy="241402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7589520" y="5276088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Advantages, Challenges &amp; Real-World Applications</a:t>
            </a:r>
            <a:endParaRPr lang="en-US" sz="1350" dirty="0"/>
          </a:p>
        </p:txBody>
      </p:sp>
      <p:sp>
        <p:nvSpPr>
          <p:cNvPr id="44" name="Text 32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065A82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031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Cloud Computing?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40080" y="45720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fundamental concept behind the technology that runs the modern internet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Defining Cloud Computing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400800" cy="2011680"/>
          </a:xfrm>
          <a:prstGeom prst="rect">
            <a:avLst>
              <a:gd name="adj" fmla="val 3636"/>
            </a:avLst>
          </a:prstGeom>
          <a:solidFill>
            <a:srgbClr val="E8F1F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57607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on-demand delivery of computing resources — servers, storage, databases, networking, software, and analytics — over the internet (“the cloud”), with pay-as-you-go pricing instead of owning physical hardware.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simple terms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160520"/>
            <a:ext cx="6400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use computing power like electricity — plug in, consume what you need, pay for what you use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live in remote data centers, managed by a provider, accessed anywhere via the internet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buy, install, or maintain physical servers yourself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0" y="1554480"/>
            <a:ext cx="4297680" cy="4572000"/>
          </a:xfrm>
          <a:prstGeom prst="roundRect">
            <a:avLst>
              <a:gd name="adj" fmla="val 2128"/>
            </a:avLst>
          </a:prstGeom>
          <a:solidFill>
            <a:srgbClr val="0B3556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LOOKS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680960" y="21945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0" descr="/home/claude/cloud_ppt/icons/laptop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3606" y="2337206"/>
            <a:ext cx="263347" cy="263347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778240" y="21945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/home/claude/cloud_ppt/icons/mobil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0886" y="2337206"/>
            <a:ext cx="263347" cy="263347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9875520" y="21945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/home/claude/cloud_ppt/icons/desktop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8166" y="2337206"/>
            <a:ext cx="263347" cy="26334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589520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Devices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9464040" y="3154680"/>
            <a:ext cx="0" cy="50292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7589520" y="3749040"/>
            <a:ext cx="3749040" cy="640080"/>
          </a:xfrm>
          <a:prstGeom prst="roundRect">
            <a:avLst>
              <a:gd name="adj" fmla="val 8571"/>
            </a:avLst>
          </a:prstGeom>
          <a:solidFill>
            <a:srgbClr val="1C7293"/>
          </a:solidFill>
          <a:ln/>
        </p:spPr>
      </p:sp>
      <p:sp>
        <p:nvSpPr>
          <p:cNvPr id="19" name="Text 14"/>
          <p:cNvSpPr/>
          <p:nvPr/>
        </p:nvSpPr>
        <p:spPr>
          <a:xfrm>
            <a:off x="7589520" y="37490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Internet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464040" y="4434840"/>
            <a:ext cx="0" cy="50292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7589520" y="4983480"/>
            <a:ext cx="3749040" cy="960120"/>
          </a:xfrm>
          <a:prstGeom prst="roundRect">
            <a:avLst>
              <a:gd name="adj" fmla="val 5714"/>
            </a:avLst>
          </a:prstGeom>
          <a:solidFill>
            <a:srgbClr val="F2A65A"/>
          </a:solidFill>
          <a:ln/>
        </p:spPr>
      </p:sp>
      <p:sp>
        <p:nvSpPr>
          <p:cNvPr id="22" name="Shape 17"/>
          <p:cNvSpPr/>
          <p:nvPr/>
        </p:nvSpPr>
        <p:spPr>
          <a:xfrm>
            <a:off x="7772400" y="512064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3" descr="/home/claude/cloud_ppt/icons/cloud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0708" y="5298948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641080" y="50749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 Centers
</a:t>
            </a:r>
            <a:pPr indent="0" marL="0">
              <a:buNone/>
            </a:pPr>
            <a:r>
              <a:rPr lang="en-US" sz="1050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• Storage • Databases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— What Is Cloud Computing?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Introduced Cloud Computing?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 inventor — cloud computing evolved over decades. But a few milestones mark its birth as a named, commercial concept: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960120" y="2148840"/>
            <a:ext cx="0" cy="4114800"/>
          </a:xfrm>
          <a:prstGeom prst="line">
            <a:avLst/>
          </a:prstGeom>
          <a:noFill/>
          <a:ln w="25400">
            <a:solidFill>
              <a:srgbClr val="D7E3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84832"/>
            <a:ext cx="274320" cy="27432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2011680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B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1960s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993392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McCarthy  —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scientist John McCarthy proposed that computing could one day be organized as a public utility, like electricity — the conceptual root of cloud computing.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2926080"/>
            <a:ext cx="274320" cy="27432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2852928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B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1999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8346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 —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launched enterprise applications delivered entirely via a website, pioneering the idea of “software as a service” (SaaS) for businesses.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767328"/>
            <a:ext cx="274320" cy="27432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0" y="3694176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B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3675888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Web Services  —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began offering web-based services, initially for internal use, laying groundwork for renting infrastructure over the internet.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4608576"/>
            <a:ext cx="274320" cy="27432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0" y="4535424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B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2006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4517136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&amp; S3  —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launched Elastic Compute Cloud (EC2) and Simple Storage Service (S3) — widely regarded as the birth of modern, mainstream cloud computing.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5449824"/>
            <a:ext cx="274320" cy="27432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0" y="5376672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B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2006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80160" y="5358384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Term “Cloud”  —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CEO Eric Schmidt is widely credited with popularizing the term “cloud computing” at an industry conference that same year.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— What Is Cloud Computing?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35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Mainframes to the Cloud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084832" cy="3291840"/>
          </a:xfrm>
          <a:prstGeom prst="roundRect">
            <a:avLst>
              <a:gd name="adj" fmla="val 3509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1271016" y="24688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cloud_ppt/icons/serv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7437" y="263530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29184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1950s–60s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85800" y="361188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Mainframe Era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13232" y="4160520"/>
            <a:ext cx="175564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mainframes with time-sharing — many terminals, one giant shared computer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633472" y="3840480"/>
            <a:ext cx="164592" cy="0"/>
          </a:xfrm>
          <a:prstGeom prst="line">
            <a:avLst/>
          </a:prstGeom>
          <a:noFill/>
          <a:ln w="25400">
            <a:solidFill>
              <a:srgbClr val="F2A65A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798064" y="2194560"/>
            <a:ext cx="2084832" cy="3291840"/>
          </a:xfrm>
          <a:prstGeom prst="roundRect">
            <a:avLst>
              <a:gd name="adj" fmla="val 3509"/>
            </a:avLst>
          </a:prstGeom>
          <a:solidFill>
            <a:srgbClr val="065A82"/>
          </a:solidFill>
          <a:ln/>
        </p:spPr>
      </p:sp>
      <p:sp>
        <p:nvSpPr>
          <p:cNvPr id="12" name="Shape 9"/>
          <p:cNvSpPr/>
          <p:nvPr/>
        </p:nvSpPr>
        <p:spPr>
          <a:xfrm>
            <a:off x="3520440" y="24688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/home/claude/cloud_ppt/icons/deskto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861" y="263530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35224" y="329184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1980s–90s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2935224" y="361188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Client-Server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2962656" y="4160520"/>
            <a:ext cx="175564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computers and local servers; organizations run their own dedicated hardware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882896" y="3840480"/>
            <a:ext cx="164592" cy="0"/>
          </a:xfrm>
          <a:prstGeom prst="line">
            <a:avLst/>
          </a:prstGeom>
          <a:noFill/>
          <a:ln w="25400">
            <a:solidFill>
              <a:srgbClr val="F2A65A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5047488" y="2194560"/>
            <a:ext cx="2084832" cy="3291840"/>
          </a:xfrm>
          <a:prstGeom prst="roundRect">
            <a:avLst>
              <a:gd name="adj" fmla="val 3509"/>
            </a:avLst>
          </a:prstGeom>
          <a:solidFill>
            <a:srgbClr val="065A82"/>
          </a:solidFill>
          <a:ln/>
        </p:spPr>
      </p:sp>
      <p:sp>
        <p:nvSpPr>
          <p:cNvPr id="19" name="Shape 15"/>
          <p:cNvSpPr/>
          <p:nvPr/>
        </p:nvSpPr>
        <p:spPr>
          <a:xfrm>
            <a:off x="5769864" y="24688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2" descr="/home/claude/cloud_ppt/icons/networ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6285" y="2635301"/>
            <a:ext cx="307238" cy="30723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84648" y="329184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1990s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5184648" y="361188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 &amp; ASPs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5212080" y="4160520"/>
            <a:ext cx="175564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Service Providers begin hosting software remotely over the web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7132320" y="3840480"/>
            <a:ext cx="164592" cy="0"/>
          </a:xfrm>
          <a:prstGeom prst="line">
            <a:avLst/>
          </a:prstGeom>
          <a:noFill/>
          <a:ln w="25400">
            <a:solidFill>
              <a:srgbClr val="F2A65A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7296912" y="2194560"/>
            <a:ext cx="2084832" cy="3291840"/>
          </a:xfrm>
          <a:prstGeom prst="roundRect">
            <a:avLst>
              <a:gd name="adj" fmla="val 3509"/>
            </a:avLst>
          </a:prstGeom>
          <a:solidFill>
            <a:srgbClr val="065A82"/>
          </a:solidFill>
          <a:ln/>
        </p:spPr>
      </p:sp>
      <p:sp>
        <p:nvSpPr>
          <p:cNvPr id="26" name="Shape 21"/>
          <p:cNvSpPr/>
          <p:nvPr/>
        </p:nvSpPr>
        <p:spPr>
          <a:xfrm>
            <a:off x="8019288" y="24688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7" name="Image 3" descr="/home/claude/cloud_ppt/icons/laye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5709" y="2635301"/>
            <a:ext cx="307238" cy="30723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434072" y="329184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2000s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7434072" y="361188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Virtualization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7461504" y="4160520"/>
            <a:ext cx="175564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is split into virtual machines, making resources flexible and shareable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9381744" y="3840480"/>
            <a:ext cx="164592" cy="0"/>
          </a:xfrm>
          <a:prstGeom prst="line">
            <a:avLst/>
          </a:prstGeom>
          <a:noFill/>
          <a:ln w="25400">
            <a:solidFill>
              <a:srgbClr val="F2A65A"/>
            </a:solidFill>
            <a:prstDash val="solid"/>
            <a:tailEnd type="triangle"/>
          </a:ln>
        </p:spPr>
      </p:sp>
      <p:sp>
        <p:nvSpPr>
          <p:cNvPr id="32" name="Shape 26"/>
          <p:cNvSpPr/>
          <p:nvPr/>
        </p:nvSpPr>
        <p:spPr>
          <a:xfrm>
            <a:off x="9546336" y="2194560"/>
            <a:ext cx="2084832" cy="3291840"/>
          </a:xfrm>
          <a:prstGeom prst="roundRect">
            <a:avLst>
              <a:gd name="adj" fmla="val 3509"/>
            </a:avLst>
          </a:prstGeom>
          <a:solidFill>
            <a:srgbClr val="F2A65A"/>
          </a:solidFill>
          <a:ln/>
        </p:spPr>
      </p:sp>
      <p:sp>
        <p:nvSpPr>
          <p:cNvPr id="33" name="Shape 27"/>
          <p:cNvSpPr/>
          <p:nvPr/>
        </p:nvSpPr>
        <p:spPr>
          <a:xfrm>
            <a:off x="10268712" y="24688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4" name="Image 4" descr="/home/claude/cloud_ppt/icons/cloud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5133" y="2635301"/>
            <a:ext cx="307238" cy="30723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683496" y="329184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2006–Present</a:t>
            </a:r>
            <a:endParaRPr lang="en-US" sz="1150" dirty="0"/>
          </a:p>
        </p:txBody>
      </p:sp>
      <p:sp>
        <p:nvSpPr>
          <p:cNvPr id="36" name="Text 29"/>
          <p:cNvSpPr/>
          <p:nvPr/>
        </p:nvSpPr>
        <p:spPr>
          <a:xfrm>
            <a:off x="9683496" y="361188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Cloud</a:t>
            </a:r>
            <a:endParaRPr lang="en-US" sz="1500" dirty="0"/>
          </a:p>
        </p:txBody>
      </p:sp>
      <p:sp>
        <p:nvSpPr>
          <p:cNvPr id="37" name="Text 30"/>
          <p:cNvSpPr/>
          <p:nvPr/>
        </p:nvSpPr>
        <p:spPr>
          <a:xfrm>
            <a:off x="9710928" y="4160520"/>
            <a:ext cx="175564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AWS, Azure &amp; Google Cloud deliver elastic, on-demand, pay-as-you-go computing</a:t>
            </a:r>
            <a:endParaRPr lang="en-US" sz="1050" dirty="0"/>
          </a:p>
        </p:txBody>
      </p:sp>
      <p:sp>
        <p:nvSpPr>
          <p:cNvPr id="38" name="Text 31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065A82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031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Cloud Computing?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40080" y="45720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and technical pressures that made moving to the cloud inevitable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BEFORE THE CLOUD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On-Premise Pain Points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cloud computing, every organization had to buy, host, and personally maintain all of its own IT infrastructure — an approach that created serious problems: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611880" cy="1600200"/>
          </a:xfrm>
          <a:prstGeom prst="roundRect">
            <a:avLst>
              <a:gd name="adj" fmla="val 4000"/>
            </a:avLst>
          </a:prstGeom>
          <a:solidFill>
            <a:srgbClr val="F4F8FA"/>
          </a:solidFill>
          <a:ln w="12700">
            <a:solidFill>
              <a:srgbClr val="D7E3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258568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7" name="Image 0" descr="/home/claude/cloud_ppt/icons/doll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77440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2402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Upfront Cost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49808" y="2770632"/>
            <a:ext cx="32095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servers, storage, cooling, and networking gear required massive capital investment before any value was delivered.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4343400" y="2057400"/>
            <a:ext cx="3611880" cy="1600200"/>
          </a:xfrm>
          <a:prstGeom prst="roundRect">
            <a:avLst>
              <a:gd name="adj" fmla="val 4000"/>
            </a:avLst>
          </a:prstGeom>
          <a:solidFill>
            <a:srgbClr val="F4F8FA"/>
          </a:solidFill>
          <a:ln w="12700">
            <a:solidFill>
              <a:srgbClr val="D7E3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44568" y="2258568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2" name="Image 1" descr="/home/claude/cloud_ppt/icons/c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377440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20640" y="22402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Provisioning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44568" y="2770632"/>
            <a:ext cx="32095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Ordering, shipping, and installing new hardware could take weeks or months, delaying projects.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8138160" y="2057400"/>
            <a:ext cx="3611880" cy="1600200"/>
          </a:xfrm>
          <a:prstGeom prst="roundRect">
            <a:avLst>
              <a:gd name="adj" fmla="val 4000"/>
            </a:avLst>
          </a:prstGeom>
          <a:solidFill>
            <a:srgbClr val="F4F8FA"/>
          </a:solidFill>
          <a:ln w="12700">
            <a:solidFill>
              <a:srgbClr val="D7E3E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39328" y="2258568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7" name="Image 2" descr="/home/claude/cloud_ppt/icons/expan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377440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15400" y="22402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Scalability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339328" y="2770632"/>
            <a:ext cx="32095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was fixed by the hardware bought. Sudden traffic spikes caused crashes; over-buying wasted money.</a:t>
            </a:r>
            <a:endParaRPr lang="en-US" sz="1080" dirty="0"/>
          </a:p>
        </p:txBody>
      </p:sp>
      <p:sp>
        <p:nvSpPr>
          <p:cNvPr id="20" name="Shape 15"/>
          <p:cNvSpPr/>
          <p:nvPr/>
        </p:nvSpPr>
        <p:spPr>
          <a:xfrm>
            <a:off x="548640" y="3840480"/>
            <a:ext cx="3611880" cy="1600200"/>
          </a:xfrm>
          <a:prstGeom prst="roundRect">
            <a:avLst>
              <a:gd name="adj" fmla="val 4000"/>
            </a:avLst>
          </a:prstGeom>
          <a:solidFill>
            <a:srgbClr val="F4F8FA"/>
          </a:solidFill>
          <a:ln w="12700">
            <a:solidFill>
              <a:srgbClr val="D7E3E8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49808" y="4041648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2" name="Image 3" descr="/home/claude/cloud_ppt/icons/wrench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160520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25880" y="40233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Maintenance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49808" y="4553712"/>
            <a:ext cx="32095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IT teams spent enormous effort on patching, repairs, upgrades, and hardware failures.</a:t>
            </a:r>
            <a:endParaRPr lang="en-US" sz="1080" dirty="0"/>
          </a:p>
        </p:txBody>
      </p:sp>
      <p:sp>
        <p:nvSpPr>
          <p:cNvPr id="25" name="Shape 19"/>
          <p:cNvSpPr/>
          <p:nvPr/>
        </p:nvSpPr>
        <p:spPr>
          <a:xfrm>
            <a:off x="4343400" y="3840480"/>
            <a:ext cx="3611880" cy="1600200"/>
          </a:xfrm>
          <a:prstGeom prst="roundRect">
            <a:avLst>
              <a:gd name="adj" fmla="val 4000"/>
            </a:avLst>
          </a:prstGeom>
          <a:solidFill>
            <a:srgbClr val="F4F8FA"/>
          </a:solidFill>
          <a:ln w="12700">
            <a:solidFill>
              <a:srgbClr val="D7E3E8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544568" y="4041648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7" name="Image 4" descr="/home/claude/cloud_ppt/icons/shiel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4160520"/>
            <a:ext cx="219456" cy="21945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20640" y="40233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Backup Burden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544568" y="4553712"/>
            <a:ext cx="32095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organization had to independently build disaster recovery, backup, and security systems.</a:t>
            </a:r>
            <a:endParaRPr lang="en-US" sz="1080" dirty="0"/>
          </a:p>
        </p:txBody>
      </p:sp>
      <p:sp>
        <p:nvSpPr>
          <p:cNvPr id="30" name="Shape 23"/>
          <p:cNvSpPr/>
          <p:nvPr/>
        </p:nvSpPr>
        <p:spPr>
          <a:xfrm>
            <a:off x="8138160" y="3840480"/>
            <a:ext cx="3611880" cy="1600200"/>
          </a:xfrm>
          <a:prstGeom prst="roundRect">
            <a:avLst>
              <a:gd name="adj" fmla="val 4000"/>
            </a:avLst>
          </a:prstGeom>
          <a:solidFill>
            <a:srgbClr val="F4F8FA"/>
          </a:solidFill>
          <a:ln w="12700">
            <a:solidFill>
              <a:srgbClr val="D7E3E8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339328" y="4041648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32" name="Image 5" descr="/home/claude/cloud_ppt/icons/warehous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4160520"/>
            <a:ext cx="219456" cy="21945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915400" y="40233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&amp; Energy Costs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8339328" y="4553712"/>
            <a:ext cx="32095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server rooms needed real estate, power, and cooling — ongoing operational overhead.</a:t>
            </a:r>
            <a:endParaRPr lang="en-US" sz="1080" dirty="0"/>
          </a:p>
        </p:txBody>
      </p:sp>
      <p:sp>
        <p:nvSpPr>
          <p:cNvPr id="35" name="Text 2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— Why Cloud Computing?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TURNING POINT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Organizations Moved to the Cloud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1600200"/>
          </a:xfrm>
          <a:prstGeom prst="roundRect">
            <a:avLst>
              <a:gd name="adj" fmla="val 4000"/>
            </a:avLst>
          </a:prstGeom>
          <a:solidFill>
            <a:srgbClr val="F4F8FA"/>
          </a:solidFill>
          <a:ln w="12700">
            <a:solidFill>
              <a:srgbClr val="D7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01368"/>
            <a:ext cx="457200" cy="457200"/>
          </a:xfrm>
          <a:prstGeom prst="ellipse">
            <a:avLst/>
          </a:prstGeom>
          <a:solidFill>
            <a:srgbClr val="1E8A63"/>
          </a:solidFill>
          <a:ln/>
        </p:spPr>
      </p:sp>
      <p:pic>
        <p:nvPicPr>
          <p:cNvPr id="6" name="Image 0" descr="/home/claude/cloud_ppt/icons/bol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20240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7830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to Market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9808" y="2313432"/>
            <a:ext cx="32095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up new servers and services in minutes instead of months, accelerating innovation.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43400" y="1600200"/>
            <a:ext cx="3611880" cy="1600200"/>
          </a:xfrm>
          <a:prstGeom prst="roundRect">
            <a:avLst>
              <a:gd name="adj" fmla="val 4000"/>
            </a:avLst>
          </a:prstGeom>
          <a:solidFill>
            <a:srgbClr val="F4F8FA"/>
          </a:solidFill>
          <a:ln w="12700">
            <a:solidFill>
              <a:srgbClr val="D7E3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44568" y="1801368"/>
            <a:ext cx="457200" cy="457200"/>
          </a:xfrm>
          <a:prstGeom prst="ellipse">
            <a:avLst/>
          </a:prstGeom>
          <a:solidFill>
            <a:srgbClr val="1E8A63"/>
          </a:solidFill>
          <a:ln/>
        </p:spPr>
      </p:sp>
      <p:pic>
        <p:nvPicPr>
          <p:cNvPr id="11" name="Image 1" descr="/home/claude/cloud_ppt/icons/dolla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920240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20640" y="17830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Efficiency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44568" y="2313432"/>
            <a:ext cx="32095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large capital expenses (CapEx) into predictable, flexible operating expenses (OpEx).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138160" y="1600200"/>
            <a:ext cx="3611880" cy="1600200"/>
          </a:xfrm>
          <a:prstGeom prst="roundRect">
            <a:avLst>
              <a:gd name="adj" fmla="val 4000"/>
            </a:avLst>
          </a:prstGeom>
          <a:solidFill>
            <a:srgbClr val="F4F8FA"/>
          </a:solidFill>
          <a:ln w="12700">
            <a:solidFill>
              <a:srgbClr val="D7E3E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39328" y="1801368"/>
            <a:ext cx="457200" cy="457200"/>
          </a:xfrm>
          <a:prstGeom prst="ellipse">
            <a:avLst/>
          </a:prstGeom>
          <a:solidFill>
            <a:srgbClr val="1E8A63"/>
          </a:solidFill>
          <a:ln/>
        </p:spPr>
      </p:sp>
      <p:pic>
        <p:nvPicPr>
          <p:cNvPr id="16" name="Image 2" descr="/home/claude/cloud_ppt/icons/expan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92024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15400" y="17830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Scalability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339328" y="2313432"/>
            <a:ext cx="32095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scale resources up during demand spikes and down during quiet periods.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548640" y="3383280"/>
            <a:ext cx="3611880" cy="1600200"/>
          </a:xfrm>
          <a:prstGeom prst="roundRect">
            <a:avLst>
              <a:gd name="adj" fmla="val 4000"/>
            </a:avLst>
          </a:prstGeom>
          <a:solidFill>
            <a:srgbClr val="F4F8FA"/>
          </a:solidFill>
          <a:ln w="12700">
            <a:solidFill>
              <a:srgbClr val="D7E3E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584448"/>
            <a:ext cx="457200" cy="457200"/>
          </a:xfrm>
          <a:prstGeom prst="ellipse">
            <a:avLst/>
          </a:prstGeom>
          <a:solidFill>
            <a:srgbClr val="1E8A63"/>
          </a:solidFill>
          <a:ln/>
        </p:spPr>
      </p:sp>
      <p:pic>
        <p:nvPicPr>
          <p:cNvPr id="21" name="Image 3" descr="/home/claude/cloud_ppt/icons/glob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703320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35661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Reach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49808" y="4096512"/>
            <a:ext cx="32095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applications closer to users worldwide using globally distributed data centers.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4343400" y="3383280"/>
            <a:ext cx="3611880" cy="1600200"/>
          </a:xfrm>
          <a:prstGeom prst="roundRect">
            <a:avLst>
              <a:gd name="adj" fmla="val 4000"/>
            </a:avLst>
          </a:prstGeom>
          <a:solidFill>
            <a:srgbClr val="F4F8FA"/>
          </a:solidFill>
          <a:ln w="12700">
            <a:solidFill>
              <a:srgbClr val="D7E3E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44568" y="3584448"/>
            <a:ext cx="457200" cy="457200"/>
          </a:xfrm>
          <a:prstGeom prst="ellipse">
            <a:avLst/>
          </a:prstGeom>
          <a:solidFill>
            <a:srgbClr val="1E8A63"/>
          </a:solidFill>
          <a:ln/>
        </p:spPr>
      </p:sp>
      <p:pic>
        <p:nvPicPr>
          <p:cNvPr id="26" name="Image 4" descr="/home/claude/cloud_ppt/icons/shiel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3703320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20640" y="35661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Resilience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44568" y="4096512"/>
            <a:ext cx="32095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built-in redundancy, automated backups, and enterprise-grade security.</a:t>
            </a:r>
            <a:endParaRPr lang="en-US" sz="1080" dirty="0"/>
          </a:p>
        </p:txBody>
      </p:sp>
      <p:sp>
        <p:nvSpPr>
          <p:cNvPr id="29" name="Shape 22"/>
          <p:cNvSpPr/>
          <p:nvPr/>
        </p:nvSpPr>
        <p:spPr>
          <a:xfrm>
            <a:off x="8138160" y="3383280"/>
            <a:ext cx="3611880" cy="1600200"/>
          </a:xfrm>
          <a:prstGeom prst="roundRect">
            <a:avLst>
              <a:gd name="adj" fmla="val 4000"/>
            </a:avLst>
          </a:prstGeom>
          <a:solidFill>
            <a:srgbClr val="F4F8FA"/>
          </a:solidFill>
          <a:ln w="12700">
            <a:solidFill>
              <a:srgbClr val="D7E3E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39328" y="3584448"/>
            <a:ext cx="457200" cy="457200"/>
          </a:xfrm>
          <a:prstGeom prst="ellipse">
            <a:avLst/>
          </a:prstGeom>
          <a:solidFill>
            <a:srgbClr val="1E8A63"/>
          </a:solidFill>
          <a:ln/>
        </p:spPr>
      </p:sp>
      <p:pic>
        <p:nvPicPr>
          <p:cNvPr id="31" name="Image 5" descr="/home/claude/cloud_ppt/icons/sync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3703320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15400" y="35661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Core Business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339328" y="4096512"/>
            <a:ext cx="32095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Offload infrastructure management so teams can focus on products, not plumbing.</a:t>
            </a:r>
            <a:endParaRPr lang="en-US" sz="1080" dirty="0"/>
          </a:p>
        </p:txBody>
      </p:sp>
      <p:sp>
        <p:nvSpPr>
          <p:cNvPr id="34" name="Text 2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— Why Cloud Computing?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On-Premise vs Cloud Computing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640080"/>
          </a:xfrm>
          <a:prstGeom prst="roundRect">
            <a:avLst>
              <a:gd name="adj" fmla="val 8571"/>
            </a:avLst>
          </a:prstGeom>
          <a:solidFill>
            <a:srgbClr val="5C6B73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691640"/>
            <a:ext cx="457200" cy="457200"/>
          </a:xfrm>
          <a:prstGeom prst="ellipse">
            <a:avLst/>
          </a:prstGeom>
          <a:solidFill>
            <a:srgbClr val="12232E"/>
          </a:solidFill>
          <a:ln/>
        </p:spPr>
      </p:sp>
      <p:pic>
        <p:nvPicPr>
          <p:cNvPr id="6" name="Image 0" descr="/home/claude/cloud_ppt/icons/warehou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8105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002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On-Premise Computing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309360" y="1600200"/>
            <a:ext cx="5212080" cy="640080"/>
          </a:xfrm>
          <a:prstGeom prst="roundRect">
            <a:avLst>
              <a:gd name="adj" fmla="val 8571"/>
            </a:avLst>
          </a:prstGeom>
          <a:solidFill>
            <a:srgbClr val="1C7293"/>
          </a:solidFill>
          <a:ln/>
        </p:spPr>
      </p:sp>
      <p:sp>
        <p:nvSpPr>
          <p:cNvPr id="9" name="Shape 6"/>
          <p:cNvSpPr/>
          <p:nvPr/>
        </p:nvSpPr>
        <p:spPr>
          <a:xfrm>
            <a:off x="6446520" y="16916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/home/claude/cloud_ppt/icons/cloud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181051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40880" y="16002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Computing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48640" y="2377440"/>
            <a:ext cx="10972800" cy="566928"/>
          </a:xfrm>
          <a:prstGeom prst="rect">
            <a:avLst/>
          </a:prstGeom>
          <a:solidFill>
            <a:srgbClr val="F4F8FA"/>
          </a:solidFill>
          <a:ln/>
        </p:spPr>
      </p:sp>
      <p:sp>
        <p:nvSpPr>
          <p:cNvPr id="13" name="Text 9"/>
          <p:cNvSpPr/>
          <p:nvPr/>
        </p:nvSpPr>
        <p:spPr>
          <a:xfrm>
            <a:off x="685800" y="2377440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physical hardware, installed on-site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6446520" y="2377440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Rented virtual resources, hosted by provider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685800" y="2944368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upfront capital expenditure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6446520" y="2944368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pay-as-you-go operating expense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48640" y="3511296"/>
            <a:ext cx="10972800" cy="566928"/>
          </a:xfrm>
          <a:prstGeom prst="rect">
            <a:avLst/>
          </a:prstGeom>
          <a:solidFill>
            <a:srgbClr val="F4F8FA"/>
          </a:solidFill>
          <a:ln/>
        </p:spPr>
      </p:sp>
      <p:sp>
        <p:nvSpPr>
          <p:cNvPr id="18" name="Text 14"/>
          <p:cNvSpPr/>
          <p:nvPr/>
        </p:nvSpPr>
        <p:spPr>
          <a:xfrm>
            <a:off x="685800" y="3511296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scaling — buy more hardware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6446520" y="3511296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Elastic, on-demand automatic scaling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685800" y="4078224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team handles all maintenance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6446520" y="4078224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manages infrastructure &amp; updates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548640" y="4645152"/>
            <a:ext cx="10972800" cy="566928"/>
          </a:xfrm>
          <a:prstGeom prst="rect">
            <a:avLst/>
          </a:prstGeom>
          <a:solidFill>
            <a:srgbClr val="F4F8FA"/>
          </a:solidFill>
          <a:ln/>
        </p:spPr>
      </p:sp>
      <p:sp>
        <p:nvSpPr>
          <p:cNvPr id="23" name="Text 19"/>
          <p:cNvSpPr/>
          <p:nvPr/>
        </p:nvSpPr>
        <p:spPr>
          <a:xfrm>
            <a:off x="685800" y="4645152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mostly limited to local network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6446520" y="4645152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from anywhere via internet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685800" y="5212080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control, but slow to change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6446520" y="5212080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deployment, shared responsibility model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— Why Cloud Computing?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DEFINITION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Essential Characteristics of Cloud Computing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121408" cy="3840480"/>
          </a:xfrm>
          <a:prstGeom prst="roundRect">
            <a:avLst>
              <a:gd name="adj" fmla="val 3448"/>
            </a:avLst>
          </a:prstGeom>
          <a:solidFill>
            <a:srgbClr val="0B355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288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>
                    <a:alpha val="6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243584" y="25146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home/claude/cloud_ppt/icons/sync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3779" y="270479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3474720"/>
            <a:ext cx="179222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On-Demand Self-Service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13232" y="4160520"/>
            <a:ext cx="179222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provision computing resources automatically without human interaction with the provider.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816352" y="1691640"/>
            <a:ext cx="2121408" cy="3840480"/>
          </a:xfrm>
          <a:prstGeom prst="roundRect">
            <a:avLst>
              <a:gd name="adj" fmla="val 3448"/>
            </a:avLst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2953512" y="18288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>
                    <a:alpha val="6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3511296" y="25146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/home/claude/cloud_ppt/icons/networ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1491" y="2704795"/>
            <a:ext cx="351130" cy="35113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80944" y="3474720"/>
            <a:ext cx="179222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Broad Network Access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2980944" y="4160520"/>
            <a:ext cx="179222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are available over the network through standard mechanisms — laptops, phones, tablets.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084064" y="1691640"/>
            <a:ext cx="2121408" cy="3840480"/>
          </a:xfrm>
          <a:prstGeom prst="roundRect">
            <a:avLst>
              <a:gd name="adj" fmla="val 3448"/>
            </a:avLst>
          </a:prstGeom>
          <a:solidFill>
            <a:srgbClr val="0B3556"/>
          </a:solidFill>
          <a:ln/>
        </p:spPr>
      </p:sp>
      <p:sp>
        <p:nvSpPr>
          <p:cNvPr id="17" name="Text 13"/>
          <p:cNvSpPr/>
          <p:nvPr/>
        </p:nvSpPr>
        <p:spPr>
          <a:xfrm>
            <a:off x="5221224" y="18288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>
                    <a:alpha val="6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Shape 14"/>
          <p:cNvSpPr/>
          <p:nvPr/>
        </p:nvSpPr>
        <p:spPr>
          <a:xfrm>
            <a:off x="5779008" y="25146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2" descr="/home/claude/cloud_ppt/icons/layer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9203" y="2704795"/>
            <a:ext cx="351130" cy="35113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48656" y="3474720"/>
            <a:ext cx="179222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Pooling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5248656" y="4160520"/>
            <a:ext cx="179222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resources are pooled to serve multiple customers using a multi-tenant model, dynamically assigned.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351776" y="1691640"/>
            <a:ext cx="2121408" cy="3840480"/>
          </a:xfrm>
          <a:prstGeom prst="roundRect">
            <a:avLst>
              <a:gd name="adj" fmla="val 3448"/>
            </a:avLst>
          </a:prstGeom>
          <a:solidFill>
            <a:srgbClr val="1C7293"/>
          </a:solidFill>
          <a:ln/>
        </p:spPr>
      </p:sp>
      <p:sp>
        <p:nvSpPr>
          <p:cNvPr id="23" name="Text 18"/>
          <p:cNvSpPr/>
          <p:nvPr/>
        </p:nvSpPr>
        <p:spPr>
          <a:xfrm>
            <a:off x="7488936" y="18288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>
                    <a:alpha val="6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4" name="Shape 19"/>
          <p:cNvSpPr/>
          <p:nvPr/>
        </p:nvSpPr>
        <p:spPr>
          <a:xfrm>
            <a:off x="8046720" y="25146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3" descr="/home/claude/cloud_ppt/icons/expand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6915" y="2704795"/>
            <a:ext cx="351130" cy="35113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516368" y="3474720"/>
            <a:ext cx="179222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Rapid Elasticity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7516368" y="4160520"/>
            <a:ext cx="179222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can scale outward and inward quickly, sometimes automatically, to match demand.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9619488" y="1691640"/>
            <a:ext cx="2121408" cy="3840480"/>
          </a:xfrm>
          <a:prstGeom prst="roundRect">
            <a:avLst>
              <a:gd name="adj" fmla="val 3448"/>
            </a:avLst>
          </a:prstGeom>
          <a:solidFill>
            <a:srgbClr val="0B3556"/>
          </a:solidFill>
          <a:ln/>
        </p:spPr>
      </p:sp>
      <p:sp>
        <p:nvSpPr>
          <p:cNvPr id="29" name="Text 23"/>
          <p:cNvSpPr/>
          <p:nvPr/>
        </p:nvSpPr>
        <p:spPr>
          <a:xfrm>
            <a:off x="9756648" y="18288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>
                    <a:alpha val="6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30" name="Shape 24"/>
          <p:cNvSpPr/>
          <p:nvPr/>
        </p:nvSpPr>
        <p:spPr>
          <a:xfrm>
            <a:off x="10314432" y="25146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4" descr="/home/claude/cloud_ppt/icons/chart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4627" y="2704795"/>
            <a:ext cx="351130" cy="35113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784080" y="3474720"/>
            <a:ext cx="179222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Service</a:t>
            </a:r>
            <a:endParaRPr lang="en-US" sz="1350" dirty="0"/>
          </a:p>
        </p:txBody>
      </p:sp>
      <p:sp>
        <p:nvSpPr>
          <p:cNvPr id="33" name="Text 26"/>
          <p:cNvSpPr/>
          <p:nvPr/>
        </p:nvSpPr>
        <p:spPr>
          <a:xfrm>
            <a:off x="9784080" y="4160520"/>
            <a:ext cx="179222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usage is monitored, controlled, and reported — enabling transparent, pay-per-use billing.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548640" y="5715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established by the U.S. National Institute of Standards and Technology (NIST)</a:t>
            </a:r>
            <a:endParaRPr lang="en-US" sz="1050" dirty="0"/>
          </a:p>
        </p:txBody>
      </p:sp>
      <p:sp>
        <p:nvSpPr>
          <p:cNvPr id="35" name="Text 2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— Why Cloud Computing?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065A82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031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Cloud Computing Works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40080" y="45720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Peeking under the hood at the architecture and workflow that make the cloud possible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Computing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291840" cy="4114800"/>
          </a:xfrm>
          <a:prstGeom prst="roundRect">
            <a:avLst>
              <a:gd name="adj" fmla="val 2222"/>
            </a:avLst>
          </a:prstGeom>
          <a:solidFill>
            <a:srgbClr val="E8F1F5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END (CLIENT)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874520" y="22402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/home/claude/cloud_ppt/icons/deskto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0941" y="240670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0175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Browsers, mobile apps, and desktop clients used to access cloud services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22960" y="3794760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3794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22960" y="4416552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441655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22960" y="5038344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503834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Software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114800" y="3291840"/>
            <a:ext cx="1417320" cy="1005840"/>
          </a:xfrm>
          <a:prstGeom prst="roundRect">
            <a:avLst>
              <a:gd name="adj" fmla="val 5455"/>
            </a:avLst>
          </a:prstGeom>
          <a:solidFill>
            <a:srgbClr val="F2A65A"/>
          </a:solidFill>
          <a:ln/>
        </p:spPr>
      </p:sp>
      <p:sp>
        <p:nvSpPr>
          <p:cNvPr id="16" name="Text 13"/>
          <p:cNvSpPr/>
          <p:nvPr/>
        </p:nvSpPr>
        <p:spPr>
          <a:xfrm>
            <a:off x="4114800" y="342900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434840" y="36576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1" descr="/home/claude/cloud_ppt/icons/glob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5599" y="3788359"/>
            <a:ext cx="241402" cy="241402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3840480" y="3794760"/>
            <a:ext cx="274320" cy="0"/>
          </a:xfrm>
          <a:prstGeom prst="line">
            <a:avLst/>
          </a:prstGeom>
          <a:noFill/>
          <a:ln w="25400">
            <a:solidFill>
              <a:srgbClr val="5C6B73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5532120" y="3794760"/>
            <a:ext cx="274320" cy="0"/>
          </a:xfrm>
          <a:prstGeom prst="line">
            <a:avLst/>
          </a:prstGeom>
          <a:noFill/>
          <a:ln w="25400">
            <a:solidFill>
              <a:srgbClr val="5C6B73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5943600" y="1691640"/>
            <a:ext cx="5669280" cy="4114800"/>
          </a:xfrm>
          <a:prstGeom prst="roundRect">
            <a:avLst>
              <a:gd name="adj" fmla="val 1778"/>
            </a:avLst>
          </a:prstGeom>
          <a:solidFill>
            <a:srgbClr val="0B3556"/>
          </a:solidFill>
          <a:ln/>
        </p:spPr>
      </p:sp>
      <p:sp>
        <p:nvSpPr>
          <p:cNvPr id="22" name="Text 18"/>
          <p:cNvSpPr/>
          <p:nvPr/>
        </p:nvSpPr>
        <p:spPr>
          <a:xfrm>
            <a:off x="5943600" y="182880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END (CLOUD PROVIDER)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6263640" y="2331720"/>
            <a:ext cx="2468880" cy="1371600"/>
          </a:xfrm>
          <a:prstGeom prst="roundRect">
            <a:avLst>
              <a:gd name="adj" fmla="val 4667"/>
            </a:avLst>
          </a:prstGeom>
          <a:solidFill>
            <a:srgbClr val="065A82"/>
          </a:solidFill>
          <a:ln/>
        </p:spPr>
      </p:sp>
      <p:sp>
        <p:nvSpPr>
          <p:cNvPr id="24" name="Shape 20"/>
          <p:cNvSpPr/>
          <p:nvPr/>
        </p:nvSpPr>
        <p:spPr>
          <a:xfrm>
            <a:off x="6446520" y="25146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2" descr="/home/claude/cloud_ppt/icons/server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279" y="2645359"/>
            <a:ext cx="241402" cy="24140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086600" y="249631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7086600" y="28346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software logic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8915400" y="2331720"/>
            <a:ext cx="2468880" cy="1371600"/>
          </a:xfrm>
          <a:prstGeom prst="roundRect">
            <a:avLst>
              <a:gd name="adj" fmla="val 4667"/>
            </a:avLst>
          </a:prstGeom>
          <a:solidFill>
            <a:srgbClr val="065A82"/>
          </a:solidFill>
          <a:ln/>
        </p:spPr>
      </p:sp>
      <p:sp>
        <p:nvSpPr>
          <p:cNvPr id="29" name="Shape 24"/>
          <p:cNvSpPr/>
          <p:nvPr/>
        </p:nvSpPr>
        <p:spPr>
          <a:xfrm>
            <a:off x="9098280" y="25146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3" descr="/home/claude/cloud_ppt/icons/databas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9039" y="2645359"/>
            <a:ext cx="241402" cy="24140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738360" y="249631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Data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9738360" y="28346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&amp; file storage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6263640" y="3931920"/>
            <a:ext cx="2468880" cy="1371600"/>
          </a:xfrm>
          <a:prstGeom prst="roundRect">
            <a:avLst>
              <a:gd name="adj" fmla="val 4667"/>
            </a:avLst>
          </a:prstGeom>
          <a:solidFill>
            <a:srgbClr val="065A82"/>
          </a:solidFill>
          <a:ln/>
        </p:spPr>
      </p:sp>
      <p:sp>
        <p:nvSpPr>
          <p:cNvPr id="34" name="Shape 28"/>
          <p:cNvSpPr/>
          <p:nvPr/>
        </p:nvSpPr>
        <p:spPr>
          <a:xfrm>
            <a:off x="6446520" y="41148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5" name="Image 4" descr="/home/claude/cloud_ppt/icons/cogs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7279" y="4245559"/>
            <a:ext cx="241402" cy="241402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086600" y="409651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&amp; Middleware</a:t>
            </a:r>
            <a:endParaRPr lang="en-US" sz="1150" dirty="0"/>
          </a:p>
        </p:txBody>
      </p:sp>
      <p:sp>
        <p:nvSpPr>
          <p:cNvPr id="37" name="Text 30"/>
          <p:cNvSpPr/>
          <p:nvPr/>
        </p:nvSpPr>
        <p:spPr>
          <a:xfrm>
            <a:off x="7086600" y="44348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services</a:t>
            </a:r>
            <a:endParaRPr lang="en-US" sz="950" dirty="0"/>
          </a:p>
        </p:txBody>
      </p:sp>
      <p:sp>
        <p:nvSpPr>
          <p:cNvPr id="38" name="Shape 31"/>
          <p:cNvSpPr/>
          <p:nvPr/>
        </p:nvSpPr>
        <p:spPr>
          <a:xfrm>
            <a:off x="8915400" y="3931920"/>
            <a:ext cx="2468880" cy="1371600"/>
          </a:xfrm>
          <a:prstGeom prst="roundRect">
            <a:avLst>
              <a:gd name="adj" fmla="val 4667"/>
            </a:avLst>
          </a:prstGeom>
          <a:solidFill>
            <a:srgbClr val="065A82"/>
          </a:solidFill>
          <a:ln/>
        </p:spPr>
      </p:sp>
      <p:sp>
        <p:nvSpPr>
          <p:cNvPr id="39" name="Shape 32"/>
          <p:cNvSpPr/>
          <p:nvPr/>
        </p:nvSpPr>
        <p:spPr>
          <a:xfrm>
            <a:off x="9098280" y="41148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0" name="Image 5" descr="/home/claude/cloud_ppt/icons/shield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9039" y="4245559"/>
            <a:ext cx="241402" cy="241402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9738360" y="409651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Layer</a:t>
            </a:r>
            <a:endParaRPr lang="en-US" sz="1150" dirty="0"/>
          </a:p>
        </p:txBody>
      </p:sp>
      <p:sp>
        <p:nvSpPr>
          <p:cNvPr id="42" name="Text 34"/>
          <p:cNvSpPr/>
          <p:nvPr/>
        </p:nvSpPr>
        <p:spPr>
          <a:xfrm>
            <a:off x="9738360" y="44348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firewalls, encryption</a:t>
            </a:r>
            <a:endParaRPr lang="en-US" sz="950" dirty="0"/>
          </a:p>
        </p:txBody>
      </p:sp>
      <p:sp>
        <p:nvSpPr>
          <p:cNvPr id="43" name="Text 35"/>
          <p:cNvSpPr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managed by the provider: virtualization layer, hypervisors, physical servers, and a management/orchestration layer that automates provisioning.</a:t>
            </a:r>
            <a:endParaRPr lang="en-US" sz="1050" dirty="0"/>
          </a:p>
        </p:txBody>
      </p:sp>
      <p:sp>
        <p:nvSpPr>
          <p:cNvPr id="44" name="Text 3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— How Cloud Computing Works</a:t>
            </a:r>
            <a:endParaRPr lang="en-US" sz="1000" dirty="0"/>
          </a:p>
        </p:txBody>
      </p:sp>
      <p:sp>
        <p:nvSpPr>
          <p:cNvPr id="45" name="Text 37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BY STEP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Cloud Request Actually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4F8FA"/>
          </a:solidFill>
          <a:ln w="12700">
            <a:solidFill>
              <a:srgbClr val="D7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572768"/>
            <a:ext cx="457200" cy="457200"/>
          </a:xfrm>
          <a:prstGeom prst="ellipse">
            <a:avLst/>
          </a:prstGeom>
          <a:solidFill>
            <a:srgbClr val="F2A65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572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93852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/home/claude/cloud_ppt/icons/lapto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79" y="2069287"/>
            <a:ext cx="241402" cy="2414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883664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Request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49808" y="2514600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opens an app or website and requests data or an action (e.g., opens an email, uploads a photo).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4178808" y="2446020"/>
            <a:ext cx="146304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4343400" y="173736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4F8FA"/>
          </a:solidFill>
          <a:ln w="12700">
            <a:solidFill>
              <a:srgbClr val="D7E3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78808" y="1572768"/>
            <a:ext cx="457200" cy="457200"/>
          </a:xfrm>
          <a:prstGeom prst="ellipse">
            <a:avLst/>
          </a:prstGeom>
          <a:solidFill>
            <a:srgbClr val="F2A65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78808" y="1572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26280" y="193852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1" descr="/home/claude/cloud_ppt/icons/glob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039" y="2069287"/>
            <a:ext cx="241402" cy="24140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166360" y="1883664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Over Internet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4544568" y="2514600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 travels over the internet to the cloud provider's nearest data center.</a:t>
            </a:r>
            <a:endParaRPr lang="en-US" sz="980" dirty="0"/>
          </a:p>
        </p:txBody>
      </p:sp>
      <p:sp>
        <p:nvSpPr>
          <p:cNvPr id="19" name="Shape 15"/>
          <p:cNvSpPr/>
          <p:nvPr/>
        </p:nvSpPr>
        <p:spPr>
          <a:xfrm>
            <a:off x="7973568" y="2446020"/>
            <a:ext cx="146304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8138160" y="173736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4F8FA"/>
          </a:solidFill>
          <a:ln w="12700">
            <a:solidFill>
              <a:srgbClr val="D7E3E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973568" y="1572768"/>
            <a:ext cx="457200" cy="457200"/>
          </a:xfrm>
          <a:prstGeom prst="ellipse">
            <a:avLst/>
          </a:prstGeom>
          <a:solidFill>
            <a:srgbClr val="F2A65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973568" y="1572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8321040" y="193852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2" descr="/home/claude/cloud_ppt/icons/cog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1799" y="2069287"/>
            <a:ext cx="241402" cy="24140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961120" y="1883664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8339328" y="2514600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load balancer routes the request to an available virtual server for fast, reliable processing.</a:t>
            </a:r>
            <a:endParaRPr lang="en-US" sz="980" dirty="0"/>
          </a:p>
        </p:txBody>
      </p:sp>
      <p:sp>
        <p:nvSpPr>
          <p:cNvPr id="27" name="Shape 22"/>
          <p:cNvSpPr/>
          <p:nvPr/>
        </p:nvSpPr>
        <p:spPr>
          <a:xfrm>
            <a:off x="548640" y="347472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4F8FA"/>
          </a:solidFill>
          <a:ln w="12700">
            <a:solidFill>
              <a:srgbClr val="D7E3E8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384048" y="3310128"/>
            <a:ext cx="457200" cy="457200"/>
          </a:xfrm>
          <a:prstGeom prst="ellipse">
            <a:avLst/>
          </a:prstGeom>
          <a:solidFill>
            <a:srgbClr val="F2A65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384048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731520" y="367588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3" descr="/home/claude/cloud_ppt/icons/databas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279" y="3806647"/>
            <a:ext cx="241402" cy="24140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371600" y="3621024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&amp; Storage</a:t>
            </a:r>
            <a:endParaRPr lang="en-US" sz="1250" dirty="0"/>
          </a:p>
        </p:txBody>
      </p:sp>
      <p:sp>
        <p:nvSpPr>
          <p:cNvPr id="33" name="Text 27"/>
          <p:cNvSpPr/>
          <p:nvPr/>
        </p:nvSpPr>
        <p:spPr>
          <a:xfrm>
            <a:off x="749808" y="4251960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server processes logic and reads/writes data from cloud storage or databases.</a:t>
            </a:r>
            <a:endParaRPr lang="en-US" sz="980" dirty="0"/>
          </a:p>
        </p:txBody>
      </p:sp>
      <p:sp>
        <p:nvSpPr>
          <p:cNvPr id="34" name="Shape 28"/>
          <p:cNvSpPr/>
          <p:nvPr/>
        </p:nvSpPr>
        <p:spPr>
          <a:xfrm>
            <a:off x="4178808" y="4183380"/>
            <a:ext cx="146304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5" name="Shape 29"/>
          <p:cNvSpPr/>
          <p:nvPr/>
        </p:nvSpPr>
        <p:spPr>
          <a:xfrm>
            <a:off x="4343400" y="347472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4F8FA"/>
          </a:solidFill>
          <a:ln w="12700">
            <a:solidFill>
              <a:srgbClr val="D7E3E8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4178808" y="3310128"/>
            <a:ext cx="457200" cy="457200"/>
          </a:xfrm>
          <a:prstGeom prst="ellipse">
            <a:avLst/>
          </a:prstGeom>
          <a:solidFill>
            <a:srgbClr val="F2A65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4178808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Shape 32"/>
          <p:cNvSpPr/>
          <p:nvPr/>
        </p:nvSpPr>
        <p:spPr>
          <a:xfrm>
            <a:off x="4526280" y="367588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9" name="Image 4" descr="/home/claude/cloud_ppt/icons/shiel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7039" y="3806647"/>
            <a:ext cx="241402" cy="241402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5166360" y="3621024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Secured</a:t>
            </a:r>
            <a:endParaRPr lang="en-US" sz="1250" dirty="0"/>
          </a:p>
        </p:txBody>
      </p:sp>
      <p:sp>
        <p:nvSpPr>
          <p:cNvPr id="41" name="Text 34"/>
          <p:cNvSpPr/>
          <p:nvPr/>
        </p:nvSpPr>
        <p:spPr>
          <a:xfrm>
            <a:off x="4544568" y="4251960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encrypted and validated before being sent back through the network.</a:t>
            </a:r>
            <a:endParaRPr lang="en-US" sz="980" dirty="0"/>
          </a:p>
        </p:txBody>
      </p:sp>
      <p:sp>
        <p:nvSpPr>
          <p:cNvPr id="42" name="Shape 35"/>
          <p:cNvSpPr/>
          <p:nvPr/>
        </p:nvSpPr>
        <p:spPr>
          <a:xfrm>
            <a:off x="7973568" y="4183380"/>
            <a:ext cx="146304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3" name="Shape 36"/>
          <p:cNvSpPr/>
          <p:nvPr/>
        </p:nvSpPr>
        <p:spPr>
          <a:xfrm>
            <a:off x="8138160" y="347472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4F8FA"/>
          </a:solidFill>
          <a:ln w="12700">
            <a:solidFill>
              <a:srgbClr val="D7E3E8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7973568" y="3310128"/>
            <a:ext cx="457200" cy="457200"/>
          </a:xfrm>
          <a:prstGeom prst="ellipse">
            <a:avLst/>
          </a:prstGeom>
          <a:solidFill>
            <a:srgbClr val="F2A65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7973568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46" name="Shape 39"/>
          <p:cNvSpPr/>
          <p:nvPr/>
        </p:nvSpPr>
        <p:spPr>
          <a:xfrm>
            <a:off x="8321040" y="367588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7" name="Image 5" descr="/home/claude/cloud_ppt/icons/checkCircl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1799" y="3806647"/>
            <a:ext cx="241402" cy="241402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8961120" y="3621024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Delivered</a:t>
            </a:r>
            <a:endParaRPr lang="en-US" sz="1250" dirty="0"/>
          </a:p>
        </p:txBody>
      </p:sp>
      <p:sp>
        <p:nvSpPr>
          <p:cNvPr id="49" name="Text 41"/>
          <p:cNvSpPr/>
          <p:nvPr/>
        </p:nvSpPr>
        <p:spPr>
          <a:xfrm>
            <a:off x="8339328" y="4251960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response reaches the user's device almost instantly — often in milliseconds.</a:t>
            </a:r>
            <a:endParaRPr lang="en-US" sz="980" dirty="0"/>
          </a:p>
        </p:txBody>
      </p:sp>
      <p:sp>
        <p:nvSpPr>
          <p:cNvPr id="50" name="Text 4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— How Cloud Computing Works</a:t>
            </a:r>
            <a:endParaRPr lang="en-US" sz="1000" dirty="0"/>
          </a:p>
        </p:txBody>
      </p:sp>
      <p:sp>
        <p:nvSpPr>
          <p:cNvPr id="51" name="Text 43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065A82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031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FOUR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Service Models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40080" y="45720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foundational “as-a-service” layers — IaaS, PaaS, and SaaS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CLOUD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Manages What: IaaS vs PaaS vs SaaS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874520"/>
            <a:ext cx="1737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2217420"/>
            <a:ext cx="1737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2560320"/>
            <a:ext cx="1737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2903220"/>
            <a:ext cx="1737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3246120"/>
            <a:ext cx="1737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O/S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3589020"/>
            <a:ext cx="1737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3931920"/>
            <a:ext cx="1737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4274820"/>
            <a:ext cx="1737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4617720"/>
            <a:ext cx="1737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331720" y="1435608"/>
            <a:ext cx="2240280" cy="384048"/>
          </a:xfrm>
          <a:prstGeom prst="rect">
            <a:avLst/>
          </a:prstGeom>
          <a:solidFill>
            <a:srgbClr val="5C6B73"/>
          </a:solidFill>
          <a:ln/>
        </p:spPr>
      </p:sp>
      <p:sp>
        <p:nvSpPr>
          <p:cNvPr id="14" name="Text 12"/>
          <p:cNvSpPr/>
          <p:nvPr/>
        </p:nvSpPr>
        <p:spPr>
          <a:xfrm>
            <a:off x="2331720" y="1435608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63440" y="1435608"/>
            <a:ext cx="2240280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435608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995160" y="1435608"/>
            <a:ext cx="2240280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0" y="1435608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326880" y="1435608"/>
            <a:ext cx="2240280" cy="384048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20" name="Text 18"/>
          <p:cNvSpPr/>
          <p:nvPr/>
        </p:nvSpPr>
        <p:spPr>
          <a:xfrm>
            <a:off x="9326880" y="1435608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331720" y="1874520"/>
            <a:ext cx="2240280" cy="306324"/>
          </a:xfrm>
          <a:prstGeom prst="rect">
            <a:avLst/>
          </a:prstGeom>
          <a:solidFill>
            <a:srgbClr val="D7E3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874520"/>
            <a:ext cx="2240280" cy="306324"/>
          </a:xfrm>
          <a:prstGeom prst="rect">
            <a:avLst/>
          </a:prstGeom>
          <a:solidFill>
            <a:srgbClr val="D7E3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95160" y="1874520"/>
            <a:ext cx="2240280" cy="306324"/>
          </a:xfrm>
          <a:prstGeom prst="rect">
            <a:avLst/>
          </a:prstGeom>
          <a:solidFill>
            <a:srgbClr val="D7E3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26880" y="1874520"/>
            <a:ext cx="2240280" cy="306324"/>
          </a:xfrm>
          <a:prstGeom prst="rect">
            <a:avLst/>
          </a:prstGeom>
          <a:solidFill>
            <a:srgbClr val="F2A6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31720" y="2217420"/>
            <a:ext cx="2240280" cy="306324"/>
          </a:xfrm>
          <a:prstGeom prst="rect">
            <a:avLst/>
          </a:prstGeom>
          <a:solidFill>
            <a:srgbClr val="D7E3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2217420"/>
            <a:ext cx="2240280" cy="306324"/>
          </a:xfrm>
          <a:prstGeom prst="rect">
            <a:avLst/>
          </a:prstGeom>
          <a:solidFill>
            <a:srgbClr val="D7E3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95160" y="2217420"/>
            <a:ext cx="2240280" cy="306324"/>
          </a:xfrm>
          <a:prstGeom prst="rect">
            <a:avLst/>
          </a:prstGeom>
          <a:solidFill>
            <a:srgbClr val="D7E3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326880" y="2217420"/>
            <a:ext cx="2240280" cy="306324"/>
          </a:xfrm>
          <a:prstGeom prst="rect">
            <a:avLst/>
          </a:prstGeom>
          <a:solidFill>
            <a:srgbClr val="F2A6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31720" y="2560320"/>
            <a:ext cx="2240280" cy="306324"/>
          </a:xfrm>
          <a:prstGeom prst="rect">
            <a:avLst/>
          </a:prstGeom>
          <a:solidFill>
            <a:srgbClr val="D7E3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2560320"/>
            <a:ext cx="2240280" cy="306324"/>
          </a:xfrm>
          <a:prstGeom prst="rect">
            <a:avLst/>
          </a:prstGeom>
          <a:solidFill>
            <a:srgbClr val="D7E3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95160" y="2560320"/>
            <a:ext cx="2240280" cy="306324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326880" y="2560320"/>
            <a:ext cx="2240280" cy="306324"/>
          </a:xfrm>
          <a:prstGeom prst="rect">
            <a:avLst/>
          </a:prstGeom>
          <a:solidFill>
            <a:srgbClr val="F2A6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31720" y="2903220"/>
            <a:ext cx="2240280" cy="306324"/>
          </a:xfrm>
          <a:prstGeom prst="rect">
            <a:avLst/>
          </a:prstGeom>
          <a:solidFill>
            <a:srgbClr val="D7E3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2903220"/>
            <a:ext cx="2240280" cy="306324"/>
          </a:xfrm>
          <a:prstGeom prst="rect">
            <a:avLst/>
          </a:prstGeom>
          <a:solidFill>
            <a:srgbClr val="D7E3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95160" y="2903220"/>
            <a:ext cx="2240280" cy="306324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326880" y="2903220"/>
            <a:ext cx="2240280" cy="306324"/>
          </a:xfrm>
          <a:prstGeom prst="rect">
            <a:avLst/>
          </a:prstGeom>
          <a:solidFill>
            <a:srgbClr val="F2A6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331720" y="3246120"/>
            <a:ext cx="2240280" cy="306324"/>
          </a:xfrm>
          <a:prstGeom prst="rect">
            <a:avLst/>
          </a:prstGeom>
          <a:solidFill>
            <a:srgbClr val="D7E3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3246120"/>
            <a:ext cx="2240280" cy="306324"/>
          </a:xfrm>
          <a:prstGeom prst="rect">
            <a:avLst/>
          </a:prstGeom>
          <a:solidFill>
            <a:srgbClr val="D7E3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95160" y="3246120"/>
            <a:ext cx="2240280" cy="306324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326880" y="3246120"/>
            <a:ext cx="2240280" cy="306324"/>
          </a:xfrm>
          <a:prstGeom prst="rect">
            <a:avLst/>
          </a:prstGeom>
          <a:solidFill>
            <a:srgbClr val="F2A6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331720" y="3589020"/>
            <a:ext cx="2240280" cy="306324"/>
          </a:xfrm>
          <a:prstGeom prst="rect">
            <a:avLst/>
          </a:prstGeom>
          <a:solidFill>
            <a:srgbClr val="D7E3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3589020"/>
            <a:ext cx="2240280" cy="306324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995160" y="3589020"/>
            <a:ext cx="2240280" cy="306324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326880" y="3589020"/>
            <a:ext cx="2240280" cy="306324"/>
          </a:xfrm>
          <a:prstGeom prst="rect">
            <a:avLst/>
          </a:prstGeom>
          <a:solidFill>
            <a:srgbClr val="F2A6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331720" y="3931920"/>
            <a:ext cx="2240280" cy="306324"/>
          </a:xfrm>
          <a:prstGeom prst="rect">
            <a:avLst/>
          </a:prstGeom>
          <a:solidFill>
            <a:srgbClr val="D7E3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63440" y="3931920"/>
            <a:ext cx="2240280" cy="306324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995160" y="3931920"/>
            <a:ext cx="2240280" cy="306324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326880" y="3931920"/>
            <a:ext cx="2240280" cy="306324"/>
          </a:xfrm>
          <a:prstGeom prst="rect">
            <a:avLst/>
          </a:prstGeom>
          <a:solidFill>
            <a:srgbClr val="F2A6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331720" y="4274820"/>
            <a:ext cx="2240280" cy="306324"/>
          </a:xfrm>
          <a:prstGeom prst="rect">
            <a:avLst/>
          </a:prstGeom>
          <a:solidFill>
            <a:srgbClr val="D7E3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63440" y="4274820"/>
            <a:ext cx="2240280" cy="306324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995160" y="4274820"/>
            <a:ext cx="2240280" cy="306324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326880" y="4274820"/>
            <a:ext cx="2240280" cy="306324"/>
          </a:xfrm>
          <a:prstGeom prst="rect">
            <a:avLst/>
          </a:prstGeom>
          <a:solidFill>
            <a:srgbClr val="F2A6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331720" y="4617720"/>
            <a:ext cx="2240280" cy="306324"/>
          </a:xfrm>
          <a:prstGeom prst="rect">
            <a:avLst/>
          </a:prstGeom>
          <a:solidFill>
            <a:srgbClr val="D7E3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663440" y="4617720"/>
            <a:ext cx="2240280" cy="306324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995160" y="4617720"/>
            <a:ext cx="2240280" cy="306324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326880" y="4617720"/>
            <a:ext cx="2240280" cy="306324"/>
          </a:xfrm>
          <a:prstGeom prst="rect">
            <a:avLst/>
          </a:prstGeom>
          <a:solidFill>
            <a:srgbClr val="F2A6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02920" y="5074920"/>
            <a:ext cx="274320" cy="274320"/>
          </a:xfrm>
          <a:prstGeom prst="rect">
            <a:avLst/>
          </a:prstGeom>
          <a:solidFill>
            <a:srgbClr val="D7E3E8"/>
          </a:solidFill>
          <a:ln/>
        </p:spPr>
      </p:sp>
      <p:sp>
        <p:nvSpPr>
          <p:cNvPr id="58" name="Text 56"/>
          <p:cNvSpPr/>
          <p:nvPr/>
        </p:nvSpPr>
        <p:spPr>
          <a:xfrm>
            <a:off x="841248" y="505663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by You (Customer)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3749040" y="5074920"/>
            <a:ext cx="274320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0" name="Text 58"/>
          <p:cNvSpPr/>
          <p:nvPr/>
        </p:nvSpPr>
        <p:spPr>
          <a:xfrm>
            <a:off x="4087368" y="505663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by Provider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502920" y="55778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 move from on-premise → IaaS → PaaS → SaaS, the provider takes over more of the technology stack, letting you focus more on your core work.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— Cloud Service Models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MODEL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IaaS — Infrastructure as a Service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583680" cy="822960"/>
          </a:xfrm>
          <a:prstGeom prst="roundRect">
            <a:avLst>
              <a:gd name="adj" fmla="val 7778"/>
            </a:avLst>
          </a:prstGeom>
          <a:solidFill>
            <a:srgbClr val="E8F1F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virtualized computing resources — servers, storage, and networking — over the internet, giving maximum control over infrastructure.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65836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virtual machines, storage &amp; networks on demand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over operating systems and applications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only for the resources actually consumed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lift-and-shift migrations &amp; custom workloads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Examples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5074920"/>
            <a:ext cx="2103120" cy="502920"/>
          </a:xfrm>
          <a:prstGeom prst="roundRect">
            <a:avLst>
              <a:gd name="adj" fmla="val 50909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50749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EC2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88920" y="5074920"/>
            <a:ext cx="2103120" cy="502920"/>
          </a:xfrm>
          <a:prstGeom prst="roundRect">
            <a:avLst>
              <a:gd name="adj" fmla="val 50909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2788920" y="50749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 VMs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0" y="5074920"/>
            <a:ext cx="2103120" cy="502920"/>
          </a:xfrm>
          <a:prstGeom prst="roundRect">
            <a:avLst>
              <a:gd name="adj" fmla="val 50909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50749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Compute Engine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498080" y="1600200"/>
            <a:ext cx="4114800" cy="4206240"/>
          </a:xfrm>
          <a:prstGeom prst="roundRect">
            <a:avLst>
              <a:gd name="adj" fmla="val 1778"/>
            </a:avLst>
          </a:prstGeom>
          <a:solidFill>
            <a:srgbClr val="0B3556"/>
          </a:solidFill>
          <a:ln/>
        </p:spPr>
      </p:sp>
      <p:sp>
        <p:nvSpPr>
          <p:cNvPr id="16" name="Shape 14"/>
          <p:cNvSpPr/>
          <p:nvPr/>
        </p:nvSpPr>
        <p:spPr>
          <a:xfrm>
            <a:off x="7726680" y="1764792"/>
            <a:ext cx="3657600" cy="402336"/>
          </a:xfrm>
          <a:prstGeom prst="rect">
            <a:avLst/>
          </a:prstGeom>
          <a:solidFill>
            <a:srgbClr val="21295C"/>
          </a:solidFill>
          <a:ln w="12700">
            <a:solidFill>
              <a:srgbClr val="0B35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26680" y="1764792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726680" y="2253996"/>
            <a:ext cx="3657600" cy="402336"/>
          </a:xfrm>
          <a:prstGeom prst="rect">
            <a:avLst/>
          </a:prstGeom>
          <a:solidFill>
            <a:srgbClr val="21295C"/>
          </a:solidFill>
          <a:ln w="12700">
            <a:solidFill>
              <a:srgbClr val="0B35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26680" y="2253996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26680" y="2743200"/>
            <a:ext cx="3657600" cy="402336"/>
          </a:xfrm>
          <a:prstGeom prst="rect">
            <a:avLst/>
          </a:prstGeom>
          <a:solidFill>
            <a:srgbClr val="21295C"/>
          </a:solidFill>
          <a:ln w="12700">
            <a:solidFill>
              <a:srgbClr val="0B35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26680" y="2743200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726680" y="3232404"/>
            <a:ext cx="3657600" cy="402336"/>
          </a:xfrm>
          <a:prstGeom prst="rect">
            <a:avLst/>
          </a:prstGeom>
          <a:solidFill>
            <a:srgbClr val="21295C"/>
          </a:solidFill>
          <a:ln w="12700">
            <a:solidFill>
              <a:srgbClr val="0B355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3232404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726680" y="3721608"/>
            <a:ext cx="3657600" cy="402336"/>
          </a:xfrm>
          <a:prstGeom prst="rect">
            <a:avLst/>
          </a:prstGeom>
          <a:solidFill>
            <a:srgbClr val="21295C"/>
          </a:solidFill>
          <a:ln w="12700">
            <a:solidFill>
              <a:srgbClr val="0B355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26680" y="372160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726680" y="4210812"/>
            <a:ext cx="3657600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B355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26680" y="4210812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726680" y="4700016"/>
            <a:ext cx="3657600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B355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26680" y="4700016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726680" y="5189220"/>
            <a:ext cx="3657600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B355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26680" y="5189220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Networking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498080" y="58704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= Managed by Provider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— Cloud Service Models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MODEL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PaaS — Platform as a Service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583680" cy="822960"/>
          </a:xfrm>
          <a:prstGeom prst="roundRect">
            <a:avLst>
              <a:gd name="adj" fmla="val 7778"/>
            </a:avLst>
          </a:prstGeom>
          <a:solidFill>
            <a:srgbClr val="E8F1F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ready-made platform — including OS, runtime, and middleware — so developers can build, test, and deploy applications without managing servers.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65836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Pre-configured environment for coding and deployment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tools for testing, version control &amp; databases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focus purely on writing application code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Speeds up the software development lifecycle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Examples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5074920"/>
            <a:ext cx="2103120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50749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App Engine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88920" y="5074920"/>
            <a:ext cx="2103120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2788920" y="50749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 App Service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0" y="5074920"/>
            <a:ext cx="2103120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50749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Heroku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498080" y="1600200"/>
            <a:ext cx="4114800" cy="4206240"/>
          </a:xfrm>
          <a:prstGeom prst="roundRect">
            <a:avLst>
              <a:gd name="adj" fmla="val 1778"/>
            </a:avLst>
          </a:prstGeom>
          <a:solidFill>
            <a:srgbClr val="0B3556"/>
          </a:solidFill>
          <a:ln/>
        </p:spPr>
      </p:sp>
      <p:sp>
        <p:nvSpPr>
          <p:cNvPr id="16" name="Shape 14"/>
          <p:cNvSpPr/>
          <p:nvPr/>
        </p:nvSpPr>
        <p:spPr>
          <a:xfrm>
            <a:off x="7726680" y="1764792"/>
            <a:ext cx="3657600" cy="402336"/>
          </a:xfrm>
          <a:prstGeom prst="rect">
            <a:avLst/>
          </a:prstGeom>
          <a:solidFill>
            <a:srgbClr val="21295C"/>
          </a:solidFill>
          <a:ln w="12700">
            <a:solidFill>
              <a:srgbClr val="0B35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26680" y="1764792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726680" y="2253996"/>
            <a:ext cx="3657600" cy="402336"/>
          </a:xfrm>
          <a:prstGeom prst="rect">
            <a:avLst/>
          </a:prstGeom>
          <a:solidFill>
            <a:srgbClr val="21295C"/>
          </a:solidFill>
          <a:ln w="12700">
            <a:solidFill>
              <a:srgbClr val="0B35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26680" y="2253996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26680" y="2743200"/>
            <a:ext cx="3657600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B35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26680" y="2743200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726680" y="3232404"/>
            <a:ext cx="3657600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B355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3232404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726680" y="3721608"/>
            <a:ext cx="3657600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B355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26680" y="372160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726680" y="4210812"/>
            <a:ext cx="3657600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B355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26680" y="4210812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726680" y="4700016"/>
            <a:ext cx="3657600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B355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26680" y="4700016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726680" y="5189220"/>
            <a:ext cx="3657600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B355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26680" y="5189220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Networking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498080" y="58704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= Managed by Provider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— Cloud Service Models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MODEL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SaaS — Software as a Service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583680" cy="822960"/>
          </a:xfrm>
          <a:prstGeom prst="roundRect">
            <a:avLst>
              <a:gd name="adj" fmla="val 7778"/>
            </a:avLst>
          </a:prstGeom>
          <a:solidFill>
            <a:srgbClr val="E8F1F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fully-functional, ready-to-use software applications over the internet — no installation, hosting, or maintenance required by the user.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65836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Accessed directly through a web browser, anywhere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manages everything — updates, security, servers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subscription-based pricing (monthly/annual)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path from purchase to productive use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Examples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5074920"/>
            <a:ext cx="2103120" cy="502920"/>
          </a:xfrm>
          <a:prstGeom prst="roundRect">
            <a:avLst>
              <a:gd name="adj" fmla="val 50909"/>
            </a:avLst>
          </a:prstGeom>
          <a:solidFill>
            <a:srgbClr val="F2A65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50749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Workspace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88920" y="5074920"/>
            <a:ext cx="2103120" cy="502920"/>
          </a:xfrm>
          <a:prstGeom prst="roundRect">
            <a:avLst>
              <a:gd name="adj" fmla="val 50909"/>
            </a:avLst>
          </a:prstGeom>
          <a:solidFill>
            <a:srgbClr val="F2A65A"/>
          </a:solidFill>
          <a:ln/>
        </p:spPr>
      </p:sp>
      <p:sp>
        <p:nvSpPr>
          <p:cNvPr id="12" name="Text 10"/>
          <p:cNvSpPr/>
          <p:nvPr/>
        </p:nvSpPr>
        <p:spPr>
          <a:xfrm>
            <a:off x="2788920" y="50749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0" y="5074920"/>
            <a:ext cx="2103120" cy="502920"/>
          </a:xfrm>
          <a:prstGeom prst="roundRect">
            <a:avLst>
              <a:gd name="adj" fmla="val 50909"/>
            </a:avLst>
          </a:prstGeom>
          <a:solidFill>
            <a:srgbClr val="F2A65A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50749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498080" y="1600200"/>
            <a:ext cx="4114800" cy="4206240"/>
          </a:xfrm>
          <a:prstGeom prst="roundRect">
            <a:avLst>
              <a:gd name="adj" fmla="val 1778"/>
            </a:avLst>
          </a:prstGeom>
          <a:solidFill>
            <a:srgbClr val="0B3556"/>
          </a:solidFill>
          <a:ln/>
        </p:spPr>
      </p:sp>
      <p:sp>
        <p:nvSpPr>
          <p:cNvPr id="16" name="Shape 14"/>
          <p:cNvSpPr/>
          <p:nvPr/>
        </p:nvSpPr>
        <p:spPr>
          <a:xfrm>
            <a:off x="7726680" y="1764792"/>
            <a:ext cx="3657600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B35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26680" y="1764792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726680" y="2253996"/>
            <a:ext cx="3657600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B35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26680" y="2253996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26680" y="2743200"/>
            <a:ext cx="3657600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B35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26680" y="2743200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726680" y="3232404"/>
            <a:ext cx="3657600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B355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3232404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726680" y="3721608"/>
            <a:ext cx="3657600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B355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26680" y="372160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726680" y="4210812"/>
            <a:ext cx="3657600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B355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26680" y="4210812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726680" y="4700016"/>
            <a:ext cx="3657600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B355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26680" y="4700016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726680" y="5189220"/>
            <a:ext cx="3657600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B355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26680" y="5189220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Networking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498080" y="58704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= Managed by Provider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— Cloud Service Models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35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HELPFUL ANALOGY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Models Explained Through Transportation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888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cloud_ppt/icons/warehous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215524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28800"/>
            <a:ext cx="1737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On-Premise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383280" y="182880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Owning a Car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89320" y="1828800"/>
            <a:ext cx="5394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own, maintain, fuel, insure, and repair the vehicle entirely yourself.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292608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21295C"/>
          </a:solidFill>
          <a:ln/>
        </p:spPr>
      </p:sp>
      <p:sp>
        <p:nvSpPr>
          <p:cNvPr id="11" name="Shape 8"/>
          <p:cNvSpPr/>
          <p:nvPr/>
        </p:nvSpPr>
        <p:spPr>
          <a:xfrm>
            <a:off x="777240" y="30861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home/claude/cloud_ppt/icons/server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61" y="32525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2926080"/>
            <a:ext cx="1737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IaaS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383280" y="292608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Leasing a Car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989320" y="2926080"/>
            <a:ext cx="5394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rent the vehicle and drive it yourself; the leasing company handles ownership logistics.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402336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065A82"/>
          </a:solidFill>
          <a:ln/>
        </p:spPr>
      </p:sp>
      <p:sp>
        <p:nvSpPr>
          <p:cNvPr id="17" name="Shape 13"/>
          <p:cNvSpPr/>
          <p:nvPr/>
        </p:nvSpPr>
        <p:spPr>
          <a:xfrm>
            <a:off x="777240" y="41833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/home/claude/cloud_ppt/icons/cogs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43498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00200" y="4023360"/>
            <a:ext cx="1737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PaaS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3383280" y="402336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a Taxi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989320" y="4023360"/>
            <a:ext cx="5394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just tell the driver where to go — they handle the vehicle, route, and driving.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48640" y="512064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21295C"/>
          </a:solidFill>
          <a:ln/>
        </p:spPr>
      </p:sp>
      <p:sp>
        <p:nvSpPr>
          <p:cNvPr id="23" name="Shape 18"/>
          <p:cNvSpPr/>
          <p:nvPr/>
        </p:nvSpPr>
        <p:spPr>
          <a:xfrm>
            <a:off x="777240" y="52806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3" descr="/home/claude/cloud_ppt/icons/cloud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1" y="5447081"/>
            <a:ext cx="307238" cy="30723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00200" y="5120640"/>
            <a:ext cx="1737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SaaS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3383280" y="512064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Riding a Bus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989320" y="5120640"/>
            <a:ext cx="5394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simply hop on and ride to your destination — everything is fully managed for you.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065A82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031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FIVE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Deployment Models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40080" y="45720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cloud infrastructure physically lives and who is allowed to use it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APPROACHES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Public, Private, Hybrid &amp; Community Cloud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4206240"/>
          </a:xfrm>
          <a:prstGeom prst="roundRect">
            <a:avLst>
              <a:gd name="adj" fmla="val 2759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1463040" y="201168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cloud_ppt/icons/glob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7010" y="222565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017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Cloud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49808" y="3566160"/>
            <a:ext cx="2249424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and operated by third-party providers; resources shared across many customers over the public internet.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83280" y="1691640"/>
            <a:ext cx="2651760" cy="4206240"/>
          </a:xfrm>
          <a:prstGeom prst="roundRect">
            <a:avLst>
              <a:gd name="adj" fmla="val 2759"/>
            </a:avLst>
          </a:prstGeom>
          <a:solidFill>
            <a:srgbClr val="21295C"/>
          </a:solidFill>
          <a:ln/>
        </p:spPr>
      </p:sp>
      <p:sp>
        <p:nvSpPr>
          <p:cNvPr id="10" name="Shape 7"/>
          <p:cNvSpPr/>
          <p:nvPr/>
        </p:nvSpPr>
        <p:spPr>
          <a:xfrm>
            <a:off x="4297680" y="201168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home/claude/cloud_ppt/icons/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1650" y="222565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3017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Cloud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3584448" y="3566160"/>
            <a:ext cx="2249424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exclusively to a single organization, hosted on-premise or by a provider for greater control.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17920" y="1691640"/>
            <a:ext cx="2651760" cy="4206240"/>
          </a:xfrm>
          <a:prstGeom prst="roundRect">
            <a:avLst>
              <a:gd name="adj" fmla="val 2759"/>
            </a:avLst>
          </a:prstGeom>
          <a:solidFill>
            <a:srgbClr val="1C7293"/>
          </a:solidFill>
          <a:ln/>
        </p:spPr>
      </p:sp>
      <p:sp>
        <p:nvSpPr>
          <p:cNvPr id="15" name="Shape 11"/>
          <p:cNvSpPr/>
          <p:nvPr/>
        </p:nvSpPr>
        <p:spPr>
          <a:xfrm>
            <a:off x="7132320" y="201168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/home/claude/cloud_ppt/icons/sync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6290" y="222565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3017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Cloud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6419088" y="3566160"/>
            <a:ext cx="2249424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public and private clouds, allowing data and applications to move between them as needed.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052560" y="1691640"/>
            <a:ext cx="2651760" cy="4206240"/>
          </a:xfrm>
          <a:prstGeom prst="roundRect">
            <a:avLst>
              <a:gd name="adj" fmla="val 2759"/>
            </a:avLst>
          </a:prstGeom>
          <a:solidFill>
            <a:srgbClr val="F2A65A"/>
          </a:solidFill>
          <a:ln/>
        </p:spPr>
      </p:sp>
      <p:sp>
        <p:nvSpPr>
          <p:cNvPr id="20" name="Shape 15"/>
          <p:cNvSpPr/>
          <p:nvPr/>
        </p:nvSpPr>
        <p:spPr>
          <a:xfrm>
            <a:off x="9966960" y="201168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/home/claude/cloud_ppt/icons/users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0930" y="2225650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89720" y="3017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Cloud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9253728" y="3566160"/>
            <a:ext cx="2249424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infrastructure for a specific group of organizations with common concerns (e.g., compliance, industry).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— Cloud Deployment Models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MODEL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Cloud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280160" cy="12801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/home/claude/cloud_ppt/icons/glob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5482" y="790042"/>
            <a:ext cx="614477" cy="61447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54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owned and operated by a third-party cloud provider and made available to the general public over the internet.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331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69748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hardware to purchase or maintain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scalable &amp; cost-effective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and easy setup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126480" y="2331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126480" y="269748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control over infrastructure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environment with other tenants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location may be less transparent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4343400"/>
            <a:ext cx="11064240" cy="1554480"/>
          </a:xfrm>
          <a:prstGeom prst="roundRect">
            <a:avLst>
              <a:gd name="adj" fmla="val 4118"/>
            </a:avLst>
          </a:prstGeom>
          <a:solidFill>
            <a:srgbClr val="F4F8FA"/>
          </a:solidFill>
          <a:ln w="12700">
            <a:solidFill>
              <a:srgbClr val="D7E3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4526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suited for: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22960" y="4846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Startups, web applications, development/testing environments, and workloads with variable or unpredictable demand.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2960" y="5440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Amazon Web Services • Microsoft Azure • Google Cloud Platform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— Cloud Deployment Models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MODEL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Cloud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280160" cy="128016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5" name="Image 0" descr="/home/claude/cloud_ppt/icons/lo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5482" y="790042"/>
            <a:ext cx="614477" cy="61447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54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 provisioned for exclusive use by a single organization, whether managed internally or by a third party.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331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69748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control, security &amp; customization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for strict compliance needs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Predictable, dedicated performance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126480" y="2331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126480" y="269748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cost than public cloud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in-house expertise to manage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elasticity compared to public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4343400"/>
            <a:ext cx="11064240" cy="1554480"/>
          </a:xfrm>
          <a:prstGeom prst="roundRect">
            <a:avLst>
              <a:gd name="adj" fmla="val 4118"/>
            </a:avLst>
          </a:prstGeom>
          <a:solidFill>
            <a:srgbClr val="F4F8FA"/>
          </a:solidFill>
          <a:ln w="12700">
            <a:solidFill>
              <a:srgbClr val="D7E3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4526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suited for: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22960" y="4846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Banks, government agencies, healthcare providers, and any organization with strict regulatory or data-sovereignty requirements.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2960" y="5440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VMware Private Cloud • OpenStack • Dedicated data centers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— Cloud Deployment Models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MODELS 03 &amp; 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Cloud &amp; Community Cloud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343400"/>
          </a:xfrm>
          <a:prstGeom prst="roundRect">
            <a:avLst>
              <a:gd name="adj" fmla="val 1684"/>
            </a:avLst>
          </a:prstGeom>
          <a:solidFill>
            <a:srgbClr val="E8F1F5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2880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cloud_ppt/icons/sync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494" y="19833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2880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Cloud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251460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mix of public and private clouds connected together, allowing data and applications to move between them for flexibility.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333756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sensitive data private, burst workloads to public cloud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control with scalability and cost savings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complex to configure and manage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22960" y="51663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Enterprises with sensitive data plus variable workloads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80760" y="1600200"/>
            <a:ext cx="5349240" cy="4343400"/>
          </a:xfrm>
          <a:prstGeom prst="roundRect">
            <a:avLst>
              <a:gd name="adj" fmla="val 1684"/>
            </a:avLst>
          </a:prstGeom>
          <a:solidFill>
            <a:srgbClr val="E8F1F5"/>
          </a:solidFill>
          <a:ln/>
        </p:spPr>
      </p:sp>
      <p:sp>
        <p:nvSpPr>
          <p:cNvPr id="12" name="Shape 9"/>
          <p:cNvSpPr/>
          <p:nvPr/>
        </p:nvSpPr>
        <p:spPr>
          <a:xfrm>
            <a:off x="6355080" y="1828800"/>
            <a:ext cx="594360" cy="59436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3" name="Image 1" descr="/home/claude/cloud_ppt/icons/us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9614" y="1983334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86600" y="182880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Cloud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6355080" y="251460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shared by several organizations with common goals, such as compliance requirements or a shared mission.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355080" y="333756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are shared among a smaller group of organizations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to common regulatory or industry needs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broadly available than public cloud offerings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6355080" y="51663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Government bodies, universities, healthcare consortiums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— Cloud Deployment Models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Model Comparison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37744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26080" y="1645920"/>
            <a:ext cx="2194560" cy="548640"/>
          </a:xfrm>
          <a:prstGeom prst="rect">
            <a:avLst/>
          </a:prstGeom>
          <a:solidFill>
            <a:srgbClr val="0B3556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0" y="16459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120640" y="1645920"/>
            <a:ext cx="2194560" cy="548640"/>
          </a:xfrm>
          <a:prstGeom prst="rect">
            <a:avLst/>
          </a:prstGeom>
          <a:solidFill>
            <a:srgbClr val="0B3556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0" y="16459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0" y="1645920"/>
            <a:ext cx="2194560" cy="548640"/>
          </a:xfrm>
          <a:prstGeom prst="rect">
            <a:avLst/>
          </a:prstGeom>
          <a:solidFill>
            <a:srgbClr val="0B355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0" y="16459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509760" y="1645920"/>
            <a:ext cx="2194560" cy="548640"/>
          </a:xfrm>
          <a:prstGeom prst="rect">
            <a:avLst/>
          </a:prstGeom>
          <a:solidFill>
            <a:srgbClr val="0B3556"/>
          </a:solidFill>
          <a:ln/>
        </p:spPr>
      </p:sp>
      <p:sp>
        <p:nvSpPr>
          <p:cNvPr id="13" name="Text 11"/>
          <p:cNvSpPr/>
          <p:nvPr/>
        </p:nvSpPr>
        <p:spPr>
          <a:xfrm>
            <a:off x="9509760" y="16459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194560"/>
            <a:ext cx="11155680" cy="566928"/>
          </a:xfrm>
          <a:prstGeom prst="rect">
            <a:avLst/>
          </a:prstGeom>
          <a:solidFill>
            <a:srgbClr val="F4F8F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19456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926080" y="219456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120640" y="219456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15200" y="219456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509760" y="219456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276148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926080" y="2761488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120640" y="2761488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15200" y="2761488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509760" y="2761488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3328416"/>
            <a:ext cx="11155680" cy="566928"/>
          </a:xfrm>
          <a:prstGeom prst="rect">
            <a:avLst/>
          </a:prstGeom>
          <a:solidFill>
            <a:srgbClr val="F4F8FA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328416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926080" y="3328416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120640" y="3328416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315200" y="3328416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509760" y="3328416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48640" y="3895344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2926080" y="3895344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120640" y="3895344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315200" y="3895344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9509760" y="3895344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48640" y="4462272"/>
            <a:ext cx="11155680" cy="566928"/>
          </a:xfrm>
          <a:prstGeom prst="rect">
            <a:avLst/>
          </a:prstGeom>
          <a:solidFill>
            <a:srgbClr val="F4F8FA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4462272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Complexity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2926080" y="4462272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120640" y="4462272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315200" y="4462272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9509760" y="4462272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— Cloud Deployment Models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065A82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031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SIX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Cloud Providers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40080" y="45720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hyperscalers powering the modern cloud economy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LANDSCAPE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Cloud Infrastructure Market Share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51206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9893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 worldwide cloud infrastructure spending, per Synergy Research Group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172200" y="1691640"/>
            <a:ext cx="5440680" cy="1234440"/>
          </a:xfrm>
          <a:prstGeom prst="roundRect">
            <a:avLst>
              <a:gd name="adj" fmla="val 4444"/>
            </a:avLst>
          </a:prstGeom>
          <a:solidFill>
            <a:srgbClr val="F4F8FA"/>
          </a:solidFill>
          <a:ln w="12700">
            <a:solidFill>
              <a:srgbClr val="D7E3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172200" y="1691640"/>
            <a:ext cx="109728" cy="1234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5"/>
          <p:cNvSpPr/>
          <p:nvPr/>
        </p:nvSpPr>
        <p:spPr>
          <a:xfrm>
            <a:off x="6446520" y="180136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 </a:t>
            </a:r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~30%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46520" y="21945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leader since inception; ~$150B+ annualized revenue run rate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72200" y="3108960"/>
            <a:ext cx="5440680" cy="1234440"/>
          </a:xfrm>
          <a:prstGeom prst="roundRect">
            <a:avLst>
              <a:gd name="adj" fmla="val 4444"/>
            </a:avLst>
          </a:prstGeom>
          <a:solidFill>
            <a:srgbClr val="F4F8FA"/>
          </a:solidFill>
          <a:ln w="12700">
            <a:solidFill>
              <a:srgbClr val="D7E3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172200" y="3108960"/>
            <a:ext cx="109728" cy="1234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6446520" y="32186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Azure  </a:t>
            </a:r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~24%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446520" y="36118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enterprise growth, deeply tied to Microsoft 365 &amp; AI investments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72200" y="4526280"/>
            <a:ext cx="5440680" cy="1234440"/>
          </a:xfrm>
          <a:prstGeom prst="roundRect">
            <a:avLst>
              <a:gd name="adj" fmla="val 4444"/>
            </a:avLst>
          </a:prstGeom>
          <a:solidFill>
            <a:srgbClr val="F4F8FA"/>
          </a:solidFill>
          <a:ln w="12700">
            <a:solidFill>
              <a:srgbClr val="D7E3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72200" y="4526280"/>
            <a:ext cx="109728" cy="123444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16" name="Text 13"/>
          <p:cNvSpPr/>
          <p:nvPr/>
        </p:nvSpPr>
        <p:spPr>
          <a:xfrm>
            <a:off x="6446520" y="463600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Cloud  </a:t>
            </a:r>
            <a:pPr indent="0" marL="0">
              <a:buNone/>
            </a:pPr>
            <a:r>
              <a:rPr lang="en-US" sz="135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~13%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446520" y="50292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Fastest-growing hyperscaler, up 63% year-over-year in early 2026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— Top Cloud Providers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35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737360" y="594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PROFILE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737360" y="89611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Web Services (AWS)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in 2006, AWS pioneered modern cloud computing and remains the world's largest provider, offering 200+ fully-featured services from data centers around the globe.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3566160" cy="1417320"/>
          </a:xfrm>
          <a:prstGeom prst="roundRect">
            <a:avLst>
              <a:gd name="adj" fmla="val 4516"/>
            </a:avLst>
          </a:prstGeom>
          <a:solidFill>
            <a:srgbClr val="065A82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271576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/home/claude/cloud_ppt/icons/server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79" y="2846527"/>
            <a:ext cx="241402" cy="24140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2660904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49808" y="3291840"/>
            <a:ext cx="31638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virtual server instances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2514600"/>
            <a:ext cx="3566160" cy="1417320"/>
          </a:xfrm>
          <a:prstGeom prst="roundRect">
            <a:avLst>
              <a:gd name="adj" fmla="val 4516"/>
            </a:avLst>
          </a:prstGeom>
          <a:solidFill>
            <a:srgbClr val="065A82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0560" y="271576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/home/claude/cloud_ppt/icons/databas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1319" y="2846527"/>
            <a:ext cx="241402" cy="24140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20640" y="2660904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S3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498848" y="3291840"/>
            <a:ext cx="31638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for any amount of data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8046720" y="2514600"/>
            <a:ext cx="3566160" cy="1417320"/>
          </a:xfrm>
          <a:prstGeom prst="roundRect">
            <a:avLst>
              <a:gd name="adj" fmla="val 4516"/>
            </a:avLst>
          </a:prstGeom>
          <a:solidFill>
            <a:srgbClr val="065A82"/>
          </a:solidFill>
          <a:ln/>
        </p:spPr>
      </p:sp>
      <p:sp>
        <p:nvSpPr>
          <p:cNvPr id="18" name="Shape 14"/>
          <p:cNvSpPr/>
          <p:nvPr/>
        </p:nvSpPr>
        <p:spPr>
          <a:xfrm>
            <a:off x="8229600" y="271576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2" descr="/home/claude/cloud_ppt/icons/cogs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0359" y="2846527"/>
            <a:ext cx="241402" cy="24140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869680" y="2660904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Lambda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247888" y="3291840"/>
            <a:ext cx="31638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compute, run code on demand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48640" y="4114800"/>
            <a:ext cx="3566160" cy="1417320"/>
          </a:xfrm>
          <a:prstGeom prst="roundRect">
            <a:avLst>
              <a:gd name="adj" fmla="val 4516"/>
            </a:avLst>
          </a:prstGeom>
          <a:solidFill>
            <a:srgbClr val="065A82"/>
          </a:solidFill>
          <a:ln/>
        </p:spPr>
      </p:sp>
      <p:sp>
        <p:nvSpPr>
          <p:cNvPr id="23" name="Shape 18"/>
          <p:cNvSpPr/>
          <p:nvPr/>
        </p:nvSpPr>
        <p:spPr>
          <a:xfrm>
            <a:off x="731520" y="431596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3" descr="/home/claude/cloud_ppt/icons/networ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279" y="4446727"/>
            <a:ext cx="241402" cy="24140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71600" y="4261104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RDS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749808" y="4892040"/>
            <a:ext cx="31638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relational databases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4297680" y="4114800"/>
            <a:ext cx="3566160" cy="1417320"/>
          </a:xfrm>
          <a:prstGeom prst="roundRect">
            <a:avLst>
              <a:gd name="adj" fmla="val 4516"/>
            </a:avLst>
          </a:prstGeom>
          <a:solidFill>
            <a:srgbClr val="065A82"/>
          </a:solidFill>
          <a:ln/>
        </p:spPr>
      </p:sp>
      <p:sp>
        <p:nvSpPr>
          <p:cNvPr id="28" name="Shape 22"/>
          <p:cNvSpPr/>
          <p:nvPr/>
        </p:nvSpPr>
        <p:spPr>
          <a:xfrm>
            <a:off x="4480560" y="431596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4" descr="/home/claude/cloud_ppt/icons/shield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1319" y="4446727"/>
            <a:ext cx="241402" cy="24140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120640" y="4261104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IAM</a:t>
            </a:r>
            <a:endParaRPr lang="en-US" sz="1500" dirty="0"/>
          </a:p>
        </p:txBody>
      </p:sp>
      <p:sp>
        <p:nvSpPr>
          <p:cNvPr id="31" name="Text 24"/>
          <p:cNvSpPr/>
          <p:nvPr/>
        </p:nvSpPr>
        <p:spPr>
          <a:xfrm>
            <a:off x="4498848" y="4892040"/>
            <a:ext cx="31638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access security management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8046720" y="4114800"/>
            <a:ext cx="3566160" cy="1417320"/>
          </a:xfrm>
          <a:prstGeom prst="roundRect">
            <a:avLst>
              <a:gd name="adj" fmla="val 4516"/>
            </a:avLst>
          </a:prstGeom>
          <a:solidFill>
            <a:srgbClr val="065A82"/>
          </a:solidFill>
          <a:ln/>
        </p:spPr>
      </p:sp>
      <p:sp>
        <p:nvSpPr>
          <p:cNvPr id="33" name="Shape 26"/>
          <p:cNvSpPr/>
          <p:nvPr/>
        </p:nvSpPr>
        <p:spPr>
          <a:xfrm>
            <a:off x="8229600" y="431596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4" name="Image 5" descr="/home/claude/cloud_ppt/icons/globe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0359" y="4446727"/>
            <a:ext cx="241402" cy="241402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8869680" y="4261104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CloudFront</a:t>
            </a:r>
            <a:endParaRPr lang="en-US" sz="1500" dirty="0"/>
          </a:p>
        </p:txBody>
      </p:sp>
      <p:sp>
        <p:nvSpPr>
          <p:cNvPr id="36" name="Text 28"/>
          <p:cNvSpPr/>
          <p:nvPr/>
        </p:nvSpPr>
        <p:spPr>
          <a:xfrm>
            <a:off x="8247888" y="4892040"/>
            <a:ext cx="31638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content delivery network</a:t>
            </a:r>
            <a:endParaRPr lang="en-US" sz="1000" dirty="0"/>
          </a:p>
        </p:txBody>
      </p:sp>
      <p:sp>
        <p:nvSpPr>
          <p:cNvPr id="37" name="Text 2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35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737360" y="594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PROFILE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737360" y="89611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Azure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Deeply integrated with Microsoft 365, Windows Server, and Active Directory, Azure is the top choice for enterprises already invested in the Microsoft ecosystem.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3566160" cy="1417320"/>
          </a:xfrm>
          <a:prstGeom prst="roundRect">
            <a:avLst>
              <a:gd name="adj" fmla="val 4516"/>
            </a:avLst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271576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/home/claude/cloud_ppt/icons/server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79" y="2846527"/>
            <a:ext cx="241402" cy="24140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2660904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Machines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49808" y="3291840"/>
            <a:ext cx="31638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scalable computing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2514600"/>
            <a:ext cx="3566160" cy="1417320"/>
          </a:xfrm>
          <a:prstGeom prst="roundRect">
            <a:avLst>
              <a:gd name="adj" fmla="val 4516"/>
            </a:avLst>
          </a:prstGeom>
          <a:solidFill>
            <a:srgbClr val="1C7293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0560" y="271576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/home/claude/cloud_ppt/icons/database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1319" y="2846527"/>
            <a:ext cx="241402" cy="24140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20640" y="2660904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Blob Storage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498848" y="3291840"/>
            <a:ext cx="31638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Massively scalable object storage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8046720" y="2514600"/>
            <a:ext cx="3566160" cy="1417320"/>
          </a:xfrm>
          <a:prstGeom prst="roundRect">
            <a:avLst>
              <a:gd name="adj" fmla="val 4516"/>
            </a:avLst>
          </a:prstGeom>
          <a:solidFill>
            <a:srgbClr val="1C7293"/>
          </a:solidFill>
          <a:ln/>
        </p:spPr>
      </p:sp>
      <p:sp>
        <p:nvSpPr>
          <p:cNvPr id="18" name="Shape 14"/>
          <p:cNvSpPr/>
          <p:nvPr/>
        </p:nvSpPr>
        <p:spPr>
          <a:xfrm>
            <a:off x="8229600" y="271576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2" descr="/home/claude/cloud_ppt/icons/cogs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0359" y="2846527"/>
            <a:ext cx="241402" cy="24140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869680" y="2660904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Functions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247888" y="3291840"/>
            <a:ext cx="31638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serverless compute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48640" y="4114800"/>
            <a:ext cx="3566160" cy="1417320"/>
          </a:xfrm>
          <a:prstGeom prst="roundRect">
            <a:avLst>
              <a:gd name="adj" fmla="val 4516"/>
            </a:avLst>
          </a:prstGeom>
          <a:solidFill>
            <a:srgbClr val="1C7293"/>
          </a:solidFill>
          <a:ln/>
        </p:spPr>
      </p:sp>
      <p:sp>
        <p:nvSpPr>
          <p:cNvPr id="23" name="Shape 18"/>
          <p:cNvSpPr/>
          <p:nvPr/>
        </p:nvSpPr>
        <p:spPr>
          <a:xfrm>
            <a:off x="731520" y="431596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3" descr="/home/claude/cloud_ppt/icons/network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279" y="4446727"/>
            <a:ext cx="241402" cy="24140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71600" y="4261104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Database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749808" y="4892040"/>
            <a:ext cx="31638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managed relational database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4297680" y="4114800"/>
            <a:ext cx="3566160" cy="1417320"/>
          </a:xfrm>
          <a:prstGeom prst="roundRect">
            <a:avLst>
              <a:gd name="adj" fmla="val 4516"/>
            </a:avLst>
          </a:prstGeom>
          <a:solidFill>
            <a:srgbClr val="1C7293"/>
          </a:solidFill>
          <a:ln/>
        </p:spPr>
      </p:sp>
      <p:sp>
        <p:nvSpPr>
          <p:cNvPr id="28" name="Shape 22"/>
          <p:cNvSpPr/>
          <p:nvPr/>
        </p:nvSpPr>
        <p:spPr>
          <a:xfrm>
            <a:off x="4480560" y="431596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4" descr="/home/claude/cloud_ppt/icons/shield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1319" y="4446727"/>
            <a:ext cx="241402" cy="24140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120640" y="4261104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Directory</a:t>
            </a:r>
            <a:endParaRPr lang="en-US" sz="1500" dirty="0"/>
          </a:p>
        </p:txBody>
      </p:sp>
      <p:sp>
        <p:nvSpPr>
          <p:cNvPr id="31" name="Text 24"/>
          <p:cNvSpPr/>
          <p:nvPr/>
        </p:nvSpPr>
        <p:spPr>
          <a:xfrm>
            <a:off x="4498848" y="4892040"/>
            <a:ext cx="31638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access management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8046720" y="4114800"/>
            <a:ext cx="3566160" cy="1417320"/>
          </a:xfrm>
          <a:prstGeom prst="roundRect">
            <a:avLst>
              <a:gd name="adj" fmla="val 4516"/>
            </a:avLst>
          </a:prstGeom>
          <a:solidFill>
            <a:srgbClr val="1C7293"/>
          </a:solidFill>
          <a:ln/>
        </p:spPr>
      </p:sp>
      <p:sp>
        <p:nvSpPr>
          <p:cNvPr id="33" name="Shape 26"/>
          <p:cNvSpPr/>
          <p:nvPr/>
        </p:nvSpPr>
        <p:spPr>
          <a:xfrm>
            <a:off x="8229600" y="431596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4" name="Image 5" descr="/home/claude/cloud_ppt/icons/robot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0359" y="4446727"/>
            <a:ext cx="241402" cy="241402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8869680" y="4261104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AI / OpenAI</a:t>
            </a:r>
            <a:endParaRPr lang="en-US" sz="1500" dirty="0"/>
          </a:p>
        </p:txBody>
      </p:sp>
      <p:sp>
        <p:nvSpPr>
          <p:cNvPr id="36" name="Text 28"/>
          <p:cNvSpPr/>
          <p:nvPr/>
        </p:nvSpPr>
        <p:spPr>
          <a:xfrm>
            <a:off x="8247888" y="4892040"/>
            <a:ext cx="31638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&amp; Copilot services</a:t>
            </a:r>
            <a:endParaRPr lang="en-US" sz="1000" dirty="0"/>
          </a:p>
        </p:txBody>
      </p:sp>
      <p:sp>
        <p:nvSpPr>
          <p:cNvPr id="37" name="Text 2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PROFILE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Cloud &amp; Other Major Providers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E8F1F5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10512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1051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GCP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Cloud Platform (GCP)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214884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for strength in data analytics, machine learning, and Kubernetes (which Google created). The fastest-growing major hyperscaler, fueled by AI infrastructure demand.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3566160" cy="2286000"/>
          </a:xfrm>
          <a:prstGeom prst="roundRect">
            <a:avLst>
              <a:gd name="adj" fmla="val 2800"/>
            </a:avLst>
          </a:prstGeom>
          <a:solidFill>
            <a:srgbClr val="F4F8FA"/>
          </a:solidFill>
          <a:ln w="12700">
            <a:solidFill>
              <a:srgbClr val="D7E3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65960" y="3703320"/>
            <a:ext cx="731520" cy="731520"/>
          </a:xfrm>
          <a:prstGeom prst="ellipse">
            <a:avLst/>
          </a:prstGeom>
          <a:solidFill>
            <a:srgbClr val="5C6B73"/>
          </a:solidFill>
          <a:ln/>
        </p:spPr>
      </p:sp>
      <p:pic>
        <p:nvPicPr>
          <p:cNvPr id="11" name="Image 0" descr="/home/claude/cloud_ppt/icons/clou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6155" y="3893515"/>
            <a:ext cx="351130" cy="35113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31520" y="46177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Oracle Cloud (OCI)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2960" y="5074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in enterprise databases and large-scale ERP migrations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297680" y="3429000"/>
            <a:ext cx="3566160" cy="2286000"/>
          </a:xfrm>
          <a:prstGeom prst="roundRect">
            <a:avLst>
              <a:gd name="adj" fmla="val 2800"/>
            </a:avLst>
          </a:prstGeom>
          <a:solidFill>
            <a:srgbClr val="F4F8FA"/>
          </a:solidFill>
          <a:ln w="12700">
            <a:solidFill>
              <a:srgbClr val="D7E3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15000" y="3703320"/>
            <a:ext cx="731520" cy="731520"/>
          </a:xfrm>
          <a:prstGeom prst="ellipse">
            <a:avLst/>
          </a:prstGeom>
          <a:solidFill>
            <a:srgbClr val="5C6B73"/>
          </a:solidFill>
          <a:ln/>
        </p:spPr>
      </p:sp>
      <p:pic>
        <p:nvPicPr>
          <p:cNvPr id="16" name="Image 1" descr="/home/claude/cloud_ppt/icons/clou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195" y="3893515"/>
            <a:ext cx="351130" cy="35113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480560" y="46177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Cloud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572000" y="5074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on hybrid cloud, AI (Watson), and enterprise legacy systems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8046720" y="3429000"/>
            <a:ext cx="3566160" cy="2286000"/>
          </a:xfrm>
          <a:prstGeom prst="roundRect">
            <a:avLst>
              <a:gd name="adj" fmla="val 2800"/>
            </a:avLst>
          </a:prstGeom>
          <a:solidFill>
            <a:srgbClr val="F4F8FA"/>
          </a:solidFill>
          <a:ln w="12700">
            <a:solidFill>
              <a:srgbClr val="D7E3E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464040" y="3703320"/>
            <a:ext cx="731520" cy="731520"/>
          </a:xfrm>
          <a:prstGeom prst="ellipse">
            <a:avLst/>
          </a:prstGeom>
          <a:solidFill>
            <a:srgbClr val="5C6B73"/>
          </a:solidFill>
          <a:ln/>
        </p:spPr>
      </p:sp>
      <p:pic>
        <p:nvPicPr>
          <p:cNvPr id="21" name="Image 2" descr="/home/claude/cloud_ppt/icons/clou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4235" y="3893515"/>
            <a:ext cx="351130" cy="35113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229600" y="46177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Alibaba Cloud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8321040" y="5074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provider across China and broader Asia-Pacific markets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— Top Cloud Providers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UPSIDE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of Cloud Computing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4F8FA"/>
          </a:solidFill>
          <a:ln w="12700">
            <a:solidFill>
              <a:srgbClr val="D7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1874520"/>
            <a:ext cx="640080" cy="640080"/>
          </a:xfrm>
          <a:prstGeom prst="ellipse">
            <a:avLst/>
          </a:prstGeom>
          <a:solidFill>
            <a:srgbClr val="1E8A63"/>
          </a:solidFill>
          <a:ln/>
        </p:spPr>
      </p:sp>
      <p:pic>
        <p:nvPicPr>
          <p:cNvPr id="6" name="Image 0" descr="/home/claude/cloud_ppt/icons/doll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0901" y="204094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606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Savings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13232" y="2971800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capital expenditure on hardware; pay only for what you use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83280" y="164592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4F8FA"/>
          </a:solidFill>
          <a:ln w="12700">
            <a:solidFill>
              <a:srgbClr val="D7E3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89120" y="1874520"/>
            <a:ext cx="640080" cy="640080"/>
          </a:xfrm>
          <a:prstGeom prst="ellipse">
            <a:avLst/>
          </a:prstGeom>
          <a:solidFill>
            <a:srgbClr val="1E8A63"/>
          </a:solidFill>
          <a:ln/>
        </p:spPr>
      </p:sp>
      <p:pic>
        <p:nvPicPr>
          <p:cNvPr id="11" name="Image 1" descr="/home/claude/cloud_ppt/icons/expan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5541" y="204094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2606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547872" y="2971800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scale resources up or down to match real-time demand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217920" y="164592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4F8FA"/>
          </a:solidFill>
          <a:ln w="12700">
            <a:solidFill>
              <a:srgbClr val="D7E3E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223760" y="1874520"/>
            <a:ext cx="640080" cy="640080"/>
          </a:xfrm>
          <a:prstGeom prst="ellipse">
            <a:avLst/>
          </a:prstGeom>
          <a:solidFill>
            <a:srgbClr val="1E8A63"/>
          </a:solidFill>
          <a:ln/>
        </p:spPr>
      </p:sp>
      <p:pic>
        <p:nvPicPr>
          <p:cNvPr id="16" name="Image 2" descr="/home/claude/cloud_ppt/icons/bol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0181" y="204094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2606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&amp; Agility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382512" y="2971800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new resources and applications in minutes, not months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9052560" y="164592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4F8FA"/>
          </a:solidFill>
          <a:ln w="12700">
            <a:solidFill>
              <a:srgbClr val="D7E3E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0058400" y="1874520"/>
            <a:ext cx="640080" cy="640080"/>
          </a:xfrm>
          <a:prstGeom prst="ellipse">
            <a:avLst/>
          </a:prstGeom>
          <a:solidFill>
            <a:srgbClr val="1E8A63"/>
          </a:solidFill>
          <a:ln/>
        </p:spPr>
      </p:sp>
      <p:pic>
        <p:nvPicPr>
          <p:cNvPr id="21" name="Image 3" descr="/home/claude/cloud_ppt/icons/glob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4821" y="204094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89720" y="2606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9217152" y="2971800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data and applications from anywhere with an internet connection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48640" y="402336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4F8FA"/>
          </a:solidFill>
          <a:ln w="12700">
            <a:solidFill>
              <a:srgbClr val="D7E3E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554480" y="4251960"/>
            <a:ext cx="640080" cy="640080"/>
          </a:xfrm>
          <a:prstGeom prst="ellipse">
            <a:avLst/>
          </a:prstGeom>
          <a:solidFill>
            <a:srgbClr val="1E8A63"/>
          </a:solidFill>
          <a:ln/>
        </p:spPr>
      </p:sp>
      <p:pic>
        <p:nvPicPr>
          <p:cNvPr id="26" name="Image 4" descr="/home/claude/cloud_ppt/icons/shiel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0901" y="4418381"/>
            <a:ext cx="307238" cy="30723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85800" y="4983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713232" y="5349240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redundancy and automated backups minimize downtime &amp; data loss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3383280" y="402336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4F8FA"/>
          </a:solidFill>
          <a:ln w="12700">
            <a:solidFill>
              <a:srgbClr val="D7E3E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4389120" y="4251960"/>
            <a:ext cx="640080" cy="640080"/>
          </a:xfrm>
          <a:prstGeom prst="ellipse">
            <a:avLst/>
          </a:prstGeom>
          <a:solidFill>
            <a:srgbClr val="1E8A63"/>
          </a:solidFill>
          <a:ln/>
        </p:spPr>
      </p:sp>
      <p:pic>
        <p:nvPicPr>
          <p:cNvPr id="31" name="Image 5" descr="/home/claude/cloud_ppt/icons/sync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5541" y="4418381"/>
            <a:ext cx="307238" cy="30723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20440" y="4983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Updates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3547872" y="5349240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handle software patches and hardware upgrades seamlessly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6217920" y="402336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4F8FA"/>
          </a:solidFill>
          <a:ln w="12700">
            <a:solidFill>
              <a:srgbClr val="D7E3E8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7223760" y="4251960"/>
            <a:ext cx="640080" cy="640080"/>
          </a:xfrm>
          <a:prstGeom prst="ellipse">
            <a:avLst/>
          </a:prstGeom>
          <a:solidFill>
            <a:srgbClr val="1E8A63"/>
          </a:solidFill>
          <a:ln/>
        </p:spPr>
      </p:sp>
      <p:pic>
        <p:nvPicPr>
          <p:cNvPr id="36" name="Image 6" descr="/home/claude/cloud_ppt/icons/users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0181" y="4418381"/>
            <a:ext cx="307238" cy="30723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355080" y="4983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6382512" y="5349240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can work on shared documents and systems in real time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9052560" y="402336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4F8FA"/>
          </a:solidFill>
          <a:ln w="12700">
            <a:solidFill>
              <a:srgbClr val="D7E3E8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10058400" y="4251960"/>
            <a:ext cx="640080" cy="640080"/>
          </a:xfrm>
          <a:prstGeom prst="ellipse">
            <a:avLst/>
          </a:prstGeom>
          <a:solidFill>
            <a:srgbClr val="1E8A63"/>
          </a:solidFill>
          <a:ln/>
        </p:spPr>
      </p:sp>
      <p:pic>
        <p:nvPicPr>
          <p:cNvPr id="41" name="Image 7" descr="/home/claude/cloud_ppt/icons/leaf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24821" y="4418381"/>
            <a:ext cx="307238" cy="30723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189720" y="4983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</a:t>
            </a:r>
            <a:endParaRPr lang="en-US" sz="1200" dirty="0"/>
          </a:p>
        </p:txBody>
      </p:sp>
      <p:sp>
        <p:nvSpPr>
          <p:cNvPr id="43" name="Text 33"/>
          <p:cNvSpPr/>
          <p:nvPr/>
        </p:nvSpPr>
        <p:spPr>
          <a:xfrm>
            <a:off x="9217152" y="5349240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Shared, optimized data centers reduce overall energy consumption</a:t>
            </a:r>
            <a:endParaRPr lang="en-US" sz="950" dirty="0"/>
          </a:p>
        </p:txBody>
      </p:sp>
      <p:sp>
        <p:nvSpPr>
          <p:cNvPr id="44" name="Text 3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 — Advantages &amp; Applications</a:t>
            </a:r>
            <a:endParaRPr lang="en-US" sz="1000" dirty="0"/>
          </a:p>
        </p:txBody>
      </p:sp>
      <p:sp>
        <p:nvSpPr>
          <p:cNvPr id="45" name="Text 35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of Cloud Computing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8FA"/>
          </a:solidFill>
          <a:ln w="12700">
            <a:solidFill>
              <a:srgbClr val="D7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9280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6" name="Image 0" descr="/home/claude/cloud_ppt/icons/networ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567" y="2023567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8745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Dependency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514600"/>
            <a:ext cx="320954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 stable internet connection; outages disrupt access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43400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8FA"/>
          </a:solidFill>
          <a:ln w="12700">
            <a:solidFill>
              <a:srgbClr val="D7E3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44568" y="189280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1" name="Image 1" descr="/home/claude/cloud_ppt/icons/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327" y="2023567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66360" y="18745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 &amp; Privacy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44568" y="2514600"/>
            <a:ext cx="320954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sensitive data off-site raises security and compliance concerns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8FA"/>
          </a:solidFill>
          <a:ln w="12700">
            <a:solidFill>
              <a:srgbClr val="D7E3E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39328" y="189280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6" name="Image 2" descr="/home/claude/cloud_ppt/icons/dolla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0087" y="2023567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61120" y="18745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Management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339328" y="2514600"/>
            <a:ext cx="320954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Usage-based billing can lead to unexpected costs without careful monitoring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8862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8FA"/>
          </a:solidFill>
          <a:ln w="12700">
            <a:solidFill>
              <a:srgbClr val="D7E3E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408736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1" name="Image 3" descr="/home/claude/cloud_ppt/icons/puzzl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567" y="4218127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40690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49808" y="4709160"/>
            <a:ext cx="320954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providers can be complex due to proprietary tools &amp; formats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43400" y="38862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8FA"/>
          </a:solidFill>
          <a:ln w="12700">
            <a:solidFill>
              <a:srgbClr val="D7E3E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44568" y="408736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6" name="Image 4" descr="/home/claude/cloud_ppt/icons/exclamation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5327" y="4218127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66360" y="40690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Control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544568" y="4709160"/>
            <a:ext cx="320954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visibility and control over the underlying physical infrastructure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38160" y="38862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8FA"/>
          </a:solidFill>
          <a:ln w="12700">
            <a:solidFill>
              <a:srgbClr val="D7E3E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39328" y="408736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31" name="Image 5" descr="/home/claude/cloud_ppt/icons/shield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0087" y="4218127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61120" y="40690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Complexity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339328" y="4709160"/>
            <a:ext cx="320954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industry-specific regulations across regions can be challenging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 — Advantages &amp; Applications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35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 of Cloud Computing Across Industries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1554480" y="19659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cloud_ppt/icons/shoppingCar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0901" y="213238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697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13232" y="3108960"/>
            <a:ext cx="23225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online stores, inventory systems &amp; recommendation engines</a:t>
            </a:r>
            <a:endParaRPr lang="en-US" sz="930" dirty="0"/>
          </a:p>
        </p:txBody>
      </p:sp>
      <p:sp>
        <p:nvSpPr>
          <p:cNvPr id="9" name="Shape 6"/>
          <p:cNvSpPr/>
          <p:nvPr/>
        </p:nvSpPr>
        <p:spPr>
          <a:xfrm>
            <a:off x="3383280" y="173736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065A82"/>
          </a:solidFill>
          <a:ln/>
        </p:spPr>
      </p:sp>
      <p:sp>
        <p:nvSpPr>
          <p:cNvPr id="10" name="Shape 7"/>
          <p:cNvSpPr/>
          <p:nvPr/>
        </p:nvSpPr>
        <p:spPr>
          <a:xfrm>
            <a:off x="4389120" y="19659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home/claude/cloud_ppt/icons/hospital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5541" y="213238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2697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3547872" y="3108960"/>
            <a:ext cx="23225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electronic health records, telemedicine &amp; medical imaging</a:t>
            </a:r>
            <a:endParaRPr lang="en-US" sz="930" dirty="0"/>
          </a:p>
        </p:txBody>
      </p:sp>
      <p:sp>
        <p:nvSpPr>
          <p:cNvPr id="14" name="Shape 10"/>
          <p:cNvSpPr/>
          <p:nvPr/>
        </p:nvSpPr>
        <p:spPr>
          <a:xfrm>
            <a:off x="6217920" y="173736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065A82"/>
          </a:solidFill>
          <a:ln/>
        </p:spPr>
      </p:sp>
      <p:sp>
        <p:nvSpPr>
          <p:cNvPr id="15" name="Shape 11"/>
          <p:cNvSpPr/>
          <p:nvPr/>
        </p:nvSpPr>
        <p:spPr>
          <a:xfrm>
            <a:off x="7223760" y="19659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/home/claude/cloud_ppt/icons/ban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0181" y="213238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2697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&amp; Finance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6382512" y="3108960"/>
            <a:ext cx="23225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fraud detection, mobile banking &amp; real-time transactions</a:t>
            </a:r>
            <a:endParaRPr lang="en-US" sz="930" dirty="0"/>
          </a:p>
        </p:txBody>
      </p:sp>
      <p:sp>
        <p:nvSpPr>
          <p:cNvPr id="19" name="Shape 14"/>
          <p:cNvSpPr/>
          <p:nvPr/>
        </p:nvSpPr>
        <p:spPr>
          <a:xfrm>
            <a:off x="9052560" y="173736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065A82"/>
          </a:solidFill>
          <a:ln/>
        </p:spPr>
      </p:sp>
      <p:sp>
        <p:nvSpPr>
          <p:cNvPr id="20" name="Shape 15"/>
          <p:cNvSpPr/>
          <p:nvPr/>
        </p:nvSpPr>
        <p:spPr>
          <a:xfrm>
            <a:off x="10058400" y="19659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/home/claude/cloud_ppt/icons/graduationCap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4821" y="213238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89720" y="2697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9217152" y="3108960"/>
            <a:ext cx="23225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e-learning platforms, virtual classrooms &amp; research tools</a:t>
            </a:r>
            <a:endParaRPr lang="en-US" sz="930" dirty="0"/>
          </a:p>
        </p:txBody>
      </p:sp>
      <p:sp>
        <p:nvSpPr>
          <p:cNvPr id="24" name="Shape 18"/>
          <p:cNvSpPr/>
          <p:nvPr/>
        </p:nvSpPr>
        <p:spPr>
          <a:xfrm>
            <a:off x="548640" y="406908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065A82"/>
          </a:solidFill>
          <a:ln/>
        </p:spPr>
      </p:sp>
      <p:sp>
        <p:nvSpPr>
          <p:cNvPr id="25" name="Shape 19"/>
          <p:cNvSpPr/>
          <p:nvPr/>
        </p:nvSpPr>
        <p:spPr>
          <a:xfrm>
            <a:off x="1554480" y="42976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/home/claude/cloud_ppt/icons/film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0901" y="4464101"/>
            <a:ext cx="307238" cy="30723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85800" y="50292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&amp; Entertainment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713232" y="5440680"/>
            <a:ext cx="23225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video/audio content to millions of simultaneous users</a:t>
            </a:r>
            <a:endParaRPr lang="en-US" sz="930" dirty="0"/>
          </a:p>
        </p:txBody>
      </p:sp>
      <p:sp>
        <p:nvSpPr>
          <p:cNvPr id="29" name="Shape 22"/>
          <p:cNvSpPr/>
          <p:nvPr/>
        </p:nvSpPr>
        <p:spPr>
          <a:xfrm>
            <a:off x="3383280" y="406908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065A82"/>
          </a:solidFill>
          <a:ln/>
        </p:spPr>
      </p:sp>
      <p:sp>
        <p:nvSpPr>
          <p:cNvPr id="30" name="Shape 23"/>
          <p:cNvSpPr/>
          <p:nvPr/>
        </p:nvSpPr>
        <p:spPr>
          <a:xfrm>
            <a:off x="4389120" y="42976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/home/claude/cloud_ppt/icons/gamepad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5541" y="4464101"/>
            <a:ext cx="307238" cy="30723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20440" y="50292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3547872" y="5440680"/>
            <a:ext cx="23225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cloud gaming, multiplayer servers &amp; real-time matchmaking</a:t>
            </a:r>
            <a:endParaRPr lang="en-US" sz="930" dirty="0"/>
          </a:p>
        </p:txBody>
      </p:sp>
      <p:sp>
        <p:nvSpPr>
          <p:cNvPr id="34" name="Shape 26"/>
          <p:cNvSpPr/>
          <p:nvPr/>
        </p:nvSpPr>
        <p:spPr>
          <a:xfrm>
            <a:off x="6217920" y="406908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065A82"/>
          </a:solidFill>
          <a:ln/>
        </p:spPr>
      </p:sp>
      <p:sp>
        <p:nvSpPr>
          <p:cNvPr id="35" name="Shape 27"/>
          <p:cNvSpPr/>
          <p:nvPr/>
        </p:nvSpPr>
        <p:spPr>
          <a:xfrm>
            <a:off x="7223760" y="42976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6" descr="/home/claude/cloud_ppt/icons/industry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0181" y="4464101"/>
            <a:ext cx="307238" cy="30723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355080" y="50292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150" dirty="0"/>
          </a:p>
        </p:txBody>
      </p:sp>
      <p:sp>
        <p:nvSpPr>
          <p:cNvPr id="38" name="Text 29"/>
          <p:cNvSpPr/>
          <p:nvPr/>
        </p:nvSpPr>
        <p:spPr>
          <a:xfrm>
            <a:off x="6382512" y="5440680"/>
            <a:ext cx="23225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IoT sensors for predictive maintenance &amp; supply chains</a:t>
            </a:r>
            <a:endParaRPr lang="en-US" sz="930" dirty="0"/>
          </a:p>
        </p:txBody>
      </p:sp>
      <p:sp>
        <p:nvSpPr>
          <p:cNvPr id="39" name="Shape 30"/>
          <p:cNvSpPr/>
          <p:nvPr/>
        </p:nvSpPr>
        <p:spPr>
          <a:xfrm>
            <a:off x="9052560" y="406908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065A82"/>
          </a:solidFill>
          <a:ln/>
        </p:spPr>
      </p:sp>
      <p:sp>
        <p:nvSpPr>
          <p:cNvPr id="40" name="Shape 31"/>
          <p:cNvSpPr/>
          <p:nvPr/>
        </p:nvSpPr>
        <p:spPr>
          <a:xfrm>
            <a:off x="10058400" y="42976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1" name="Image 7" descr="/home/claude/cloud_ppt/icons/robot_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24821" y="4464101"/>
            <a:ext cx="307238" cy="30723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189720" y="50292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150" dirty="0"/>
          </a:p>
        </p:txBody>
      </p:sp>
      <p:sp>
        <p:nvSpPr>
          <p:cNvPr id="43" name="Text 33"/>
          <p:cNvSpPr/>
          <p:nvPr/>
        </p:nvSpPr>
        <p:spPr>
          <a:xfrm>
            <a:off x="9217152" y="5440680"/>
            <a:ext cx="23225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massive compute power for training AI/ML models</a:t>
            </a:r>
            <a:endParaRPr lang="en-US" sz="930" dirty="0"/>
          </a:p>
        </p:txBody>
      </p:sp>
      <p:sp>
        <p:nvSpPr>
          <p:cNvPr id="44" name="Text 34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065A8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9436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/home/claude/cloud_ppt/icons/cloud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050" y="80833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00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196596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Computing, Summarized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48640" y="2880360"/>
            <a:ext cx="107899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14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delivers on-demand IT resources over the internet, replacing costly, rigid on-premise infrastructure</a:t>
            </a:r>
            <a:endParaRPr lang="en-US" sz="1450" dirty="0"/>
          </a:p>
          <a:p>
            <a:pPr marL="177800" indent="-177800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14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rests on 3 service models (IaaS, PaaS, SaaS) and 4 deployment models (Public, Private, Hybrid, Community)</a:t>
            </a:r>
            <a:endParaRPr lang="en-US" sz="1450" dirty="0"/>
          </a:p>
          <a:p>
            <a:pPr marL="177800" indent="-177800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14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AWS, Azure, and Google Cloud lead a fast-growing global market worth hundreds of billions of dollars</a:t>
            </a:r>
            <a:endParaRPr lang="en-US" sz="1450" dirty="0"/>
          </a:p>
          <a:p>
            <a:pPr marL="177800" indent="-177800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14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powers nearly every modern industry — from healthcare and finance to AI, gaming, and e-commerce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48640" y="553212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56692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4864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7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2026-08-07T07:10:56Z</dcterms:created>
  <dcterms:modified xsi:type="dcterms:W3CDTF">2026-08-07T07:10:56Z</dcterms:modified>
</cp:coreProperties>
</file>
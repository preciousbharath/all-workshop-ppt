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315" r:id="rId11"/>
    <p:sldId id="316" r:id="rId12"/>
    <p:sldId id="317" r:id="rId13"/>
    <p:sldId id="318" r:id="rId14"/>
    <p:sldId id="319" r:id="rId15"/>
    <p:sldId id="320" r:id="rId16"/>
    <p:sldId id="321" r:id="rId17"/>
    <p:sldId id="322" r:id="rId18"/>
    <p:sldId id="323" r:id="rId19"/>
    <p:sldId id="324" r:id="rId20"/>
    <p:sldId id="325"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05" r:id="rId64"/>
    <p:sldId id="306" r:id="rId65"/>
    <p:sldId id="307" r:id="rId66"/>
    <p:sldId id="308" r:id="rId67"/>
    <p:sldId id="309" r:id="rId68"/>
    <p:sldId id="310" r:id="rId69"/>
    <p:sldId id="311" r:id="rId70"/>
    <p:sldId id="312" r:id="rId71"/>
    <p:sldId id="313" r:id="rId72"/>
    <p:sldId id="314" r:id="rId73"/>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7.png"/><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7.png"/><Relationship Id="rId4" Type="http://schemas.openxmlformats.org/officeDocument/2006/relationships/image" Target="../media/image11.png"/><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12.png"/><Relationship Id="rId3" Type="http://schemas.openxmlformats.org/officeDocument/2006/relationships/image" Target="../media/image33.png"/><Relationship Id="rId2" Type="http://schemas.openxmlformats.org/officeDocument/2006/relationships/image" Target="../media/image27.png"/><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26.png"/><Relationship Id="rId3" Type="http://schemas.openxmlformats.org/officeDocument/2006/relationships/image" Target="../media/image34.png"/><Relationship Id="rId2" Type="http://schemas.openxmlformats.org/officeDocument/2006/relationships/image" Target="../media/image8.png"/><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25.png"/><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image" Target="../media/image26.pn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31.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xml"/><Relationship Id="rId4" Type="http://schemas.openxmlformats.org/officeDocument/2006/relationships/image" Target="../media/image25.png"/><Relationship Id="rId3" Type="http://schemas.openxmlformats.org/officeDocument/2006/relationships/image" Target="../media/image5.png"/><Relationship Id="rId2" Type="http://schemas.openxmlformats.org/officeDocument/2006/relationships/image" Target="../media/image27.png"/><Relationship Id="rId1" Type="http://schemas.openxmlformats.org/officeDocument/2006/relationships/image" Target="../media/image12.png"/></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26.png"/><Relationship Id="rId2" Type="http://schemas.openxmlformats.org/officeDocument/2006/relationships/image" Target="../media/image10.png"/><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6.png"/><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11.png"/><Relationship Id="rId3" Type="http://schemas.openxmlformats.org/officeDocument/2006/relationships/image" Target="../media/image8.png"/><Relationship Id="rId2" Type="http://schemas.openxmlformats.org/officeDocument/2006/relationships/image" Target="../media/image26.png"/><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1.xml"/><Relationship Id="rId4" Type="http://schemas.openxmlformats.org/officeDocument/2006/relationships/image" Target="../media/image30.png"/><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image" Target="../media/image9.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image" Target="../media/image5.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38.pn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image" Target="../media/image32.png"/><Relationship Id="rId1" Type="http://schemas.openxmlformats.org/officeDocument/2006/relationships/image" Target="../media/image3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image" Target="../media/image37.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33.png"/></Relationships>
</file>

<file path=ppt/slides/_rels/slide52.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1.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43.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44.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45.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1.xml"/><Relationship Id="rId2" Type="http://schemas.openxmlformats.org/officeDocument/2006/relationships/image" Target="../media/image48.png"/><Relationship Id="rId1" Type="http://schemas.openxmlformats.org/officeDocument/2006/relationships/image" Target="../media/image47.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49.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50.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image" Target="../media/image51.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xml"/><Relationship Id="rId2" Type="http://schemas.openxmlformats.org/officeDocument/2006/relationships/image" Target="../media/image53.png"/><Relationship Id="rId1" Type="http://schemas.openxmlformats.org/officeDocument/2006/relationships/image" Target="../media/image52.png"/></Relationships>
</file>

<file path=ppt/slides/_rels/slide62.xml.rels><?xml version="1.0" encoding="UTF-8" standalone="yes"?>
<Relationships xmlns="http://schemas.openxmlformats.org/package/2006/relationships"><Relationship Id="rId6" Type="http://schemas.openxmlformats.org/officeDocument/2006/relationships/notesSlide" Target="../notesSlides/notesSlide51.xml"/><Relationship Id="rId5" Type="http://schemas.openxmlformats.org/officeDocument/2006/relationships/slideLayout" Target="../slideLayouts/slideLayout1.xml"/><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7" Type="http://schemas.openxmlformats.org/officeDocument/2006/relationships/notesSlide" Target="../notesSlides/notesSlide53.xml"/><Relationship Id="rId6"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image" Target="../media/image63.png"/></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1.xml"/><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image" Target="../media/image68.png"/></Relationships>
</file>

<file path=ppt/slides/_rels/slide68.xml.rels><?xml version="1.0" encoding="UTF-8" standalone="yes"?>
<Relationships xmlns="http://schemas.openxmlformats.org/package/2006/relationships"><Relationship Id="rId6" Type="http://schemas.openxmlformats.org/officeDocument/2006/relationships/notesSlide" Target="../notesSlides/notesSlide57.xml"/><Relationship Id="rId5" Type="http://schemas.openxmlformats.org/officeDocument/2006/relationships/slideLayout" Target="../slideLayouts/slideLayout1.xml"/><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69.xml.rels><?xml version="1.0" encoding="UTF-8" standalone="yes"?>
<Relationships xmlns="http://schemas.openxmlformats.org/package/2006/relationships"><Relationship Id="rId7" Type="http://schemas.openxmlformats.org/officeDocument/2006/relationships/notesSlide" Target="../notesSlides/notesSlide58.xml"/><Relationship Id="rId6" Type="http://schemas.openxmlformats.org/officeDocument/2006/relationships/slideLayout" Target="../slideLayouts/slideLayout1.xml"/><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8869680" y="-2103120"/>
            <a:ext cx="5943600" cy="5943600"/>
          </a:xfrm>
          <a:prstGeom prst="ellipse">
            <a:avLst/>
          </a:prstGeom>
          <a:solidFill>
            <a:srgbClr val="37475A"/>
          </a:solidFill>
        </p:spPr>
      </p:sp>
      <p:sp>
        <p:nvSpPr>
          <p:cNvPr id="3" name="Shape 1"/>
          <p:cNvSpPr/>
          <p:nvPr/>
        </p:nvSpPr>
        <p:spPr>
          <a:xfrm>
            <a:off x="-2011680" y="4389120"/>
            <a:ext cx="4114800" cy="4114800"/>
          </a:xfrm>
          <a:prstGeom prst="ellipse">
            <a:avLst/>
          </a:prstGeom>
          <a:solidFill>
            <a:srgbClr val="37475A"/>
          </a:solidFill>
        </p:spPr>
      </p:sp>
      <p:sp>
        <p:nvSpPr>
          <p:cNvPr id="4" name="Shape 2"/>
          <p:cNvSpPr/>
          <p:nvPr/>
        </p:nvSpPr>
        <p:spPr>
          <a:xfrm>
            <a:off x="822960" y="685800"/>
            <a:ext cx="914400" cy="914400"/>
          </a:xfrm>
          <a:prstGeom prst="ellipse">
            <a:avLst/>
          </a:prstGeom>
          <a:solidFill>
            <a:srgbClr val="FF9900"/>
          </a:solidFill>
        </p:spPr>
      </p:sp>
      <p:pic>
        <p:nvPicPr>
          <p:cNvPr id="5" name="Image 0" descr="/home/claude/icons/cloud_navy.png"/>
          <p:cNvPicPr>
            <a:picLocks noChangeAspect="1"/>
          </p:cNvPicPr>
          <p:nvPr/>
        </p:nvPicPr>
        <p:blipFill>
          <a:blip r:embed="rId1"/>
          <a:stretch>
            <a:fillRect/>
          </a:stretch>
        </p:blipFill>
        <p:spPr>
          <a:xfrm>
            <a:off x="1042416" y="905256"/>
            <a:ext cx="475488" cy="475488"/>
          </a:xfrm>
          <a:prstGeom prst="rect">
            <a:avLst/>
          </a:prstGeom>
        </p:spPr>
      </p:pic>
      <p:sp>
        <p:nvSpPr>
          <p:cNvPr id="6" name="Text 3"/>
          <p:cNvSpPr/>
          <p:nvPr/>
        </p:nvSpPr>
        <p:spPr>
          <a:xfrm>
            <a:off x="822960" y="2331720"/>
            <a:ext cx="8229600" cy="365760"/>
          </a:xfrm>
          <a:prstGeom prst="rect">
            <a:avLst/>
          </a:prstGeom>
          <a:noFill/>
        </p:spPr>
        <p:txBody>
          <a:bodyPr wrap="square" lIns="0" tIns="0" rIns="0" bIns="0" rtlCol="0" anchor="ctr"/>
          <a:lstStyle/>
          <a:p>
            <a:pPr marL="0" indent="0">
              <a:buNone/>
            </a:pPr>
            <a:r>
              <a:rPr lang="en-US" sz="1500" b="1" kern="0" spc="300" dirty="0">
                <a:solidFill>
                  <a:srgbClr val="FF9900"/>
                </a:solidFill>
                <a:latin typeface="Calibri" panose="020F0502020204030204" pitchFamily="34" charset="0"/>
                <a:ea typeface="Calibri" panose="020F0502020204030204" pitchFamily="34" charset="-122"/>
                <a:cs typeface="Calibri" panose="020F0502020204030204" pitchFamily="34" charset="-120"/>
              </a:rPr>
              <a:t>B.TECH TECHNICAL WORKSHOP</a:t>
            </a:r>
            <a:endParaRPr lang="en-US" sz="1500" dirty="0"/>
          </a:p>
        </p:txBody>
      </p:sp>
      <p:sp>
        <p:nvSpPr>
          <p:cNvPr id="7" name="Text 4"/>
          <p:cNvSpPr/>
          <p:nvPr/>
        </p:nvSpPr>
        <p:spPr>
          <a:xfrm>
            <a:off x="777240" y="2697480"/>
            <a:ext cx="10515600" cy="1371600"/>
          </a:xfrm>
          <a:prstGeom prst="rect">
            <a:avLst/>
          </a:prstGeom>
          <a:noFill/>
        </p:spPr>
        <p:txBody>
          <a:bodyPr wrap="square" lIns="0" tIns="0" rIns="0" bIns="0" rtlCol="0" anchor="ctr"/>
          <a:lstStyle/>
          <a:p>
            <a:pPr marL="0" indent="0">
              <a:buNone/>
            </a:pPr>
            <a:r>
              <a:rPr lang="en-US" sz="5400" b="1" dirty="0">
                <a:solidFill>
                  <a:srgbClr val="FFFFFF"/>
                </a:solidFill>
                <a:latin typeface="Cambria" panose="02040503050406030204" pitchFamily="34" charset="0"/>
                <a:ea typeface="Cambria" panose="02040503050406030204" pitchFamily="34" charset="-122"/>
                <a:cs typeface="Cambria" panose="02040503050406030204" pitchFamily="34" charset="-120"/>
              </a:rPr>
              <a:t>Cloud Computing</a:t>
            </a:r>
            <a:endParaRPr lang="en-US" sz="5400" dirty="0"/>
          </a:p>
        </p:txBody>
      </p:sp>
      <p:sp>
        <p:nvSpPr>
          <p:cNvPr id="8" name="Text 5"/>
          <p:cNvSpPr/>
          <p:nvPr/>
        </p:nvSpPr>
        <p:spPr>
          <a:xfrm>
            <a:off x="822960" y="3977640"/>
            <a:ext cx="9601200" cy="548640"/>
          </a:xfrm>
          <a:prstGeom prst="rect">
            <a:avLst/>
          </a:prstGeom>
          <a:noFill/>
        </p:spPr>
        <p:txBody>
          <a:bodyPr wrap="square" lIns="0" tIns="0" rIns="0" bIns="0" rtlCol="0" anchor="ctr"/>
          <a:lstStyle/>
          <a:p>
            <a:pPr marL="0" indent="0">
              <a:buNone/>
            </a:pPr>
            <a:r>
              <a:rPr lang="en-US" sz="2000" i="1" dirty="0">
                <a:solidFill>
                  <a:srgbClr val="CADCFC"/>
                </a:solidFill>
                <a:latin typeface="Calibri" panose="020F0502020204030204" pitchFamily="34" charset="0"/>
                <a:ea typeface="Calibri" panose="020F0502020204030204" pitchFamily="34" charset="-122"/>
                <a:cs typeface="Calibri" panose="020F0502020204030204" pitchFamily="34" charset="-120"/>
              </a:rPr>
              <a:t>From Fundamentals to Amazon Web Services</a:t>
            </a:r>
            <a:endParaRPr lang="en-US" sz="2000" dirty="0"/>
          </a:p>
        </p:txBody>
      </p:sp>
      <p:sp>
        <p:nvSpPr>
          <p:cNvPr id="9" name="Shape 6"/>
          <p:cNvSpPr/>
          <p:nvPr/>
        </p:nvSpPr>
        <p:spPr>
          <a:xfrm>
            <a:off x="822960" y="4709160"/>
            <a:ext cx="2011680" cy="0"/>
          </a:xfrm>
          <a:prstGeom prst="line">
            <a:avLst/>
          </a:prstGeom>
          <a:noFill/>
          <a:ln w="31750">
            <a:solidFill>
              <a:srgbClr val="FF9900"/>
            </a:solidFill>
            <a:prstDash val="solid"/>
          </a:ln>
        </p:spPr>
      </p:sp>
      <p:sp>
        <p:nvSpPr>
          <p:cNvPr id="10" name="Text 7"/>
          <p:cNvSpPr/>
          <p:nvPr/>
        </p:nvSpPr>
        <p:spPr>
          <a:xfrm>
            <a:off x="822960" y="4892040"/>
            <a:ext cx="9144000" cy="365760"/>
          </a:xfrm>
          <a:prstGeom prst="rect">
            <a:avLst/>
          </a:prstGeom>
          <a:noFill/>
        </p:spPr>
        <p:txBody>
          <a:bodyPr wrap="square" lIns="0" tIns="0" rIns="0" bIns="0" rtlCol="0" anchor="ctr"/>
          <a:lstStyle/>
          <a:p>
            <a:pPr marL="0" indent="0">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Department of Computer Science &amp; Engineering  •  Workshop Edition 2026</a:t>
            </a:r>
            <a:endParaRPr lang="en-US" sz="1300" dirty="0"/>
          </a:p>
        </p:txBody>
      </p:sp>
      <p:sp>
        <p:nvSpPr>
          <p:cNvPr id="11" name="Text 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2" name="Text 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WORKSHOP ROADMAP</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Today's Agenda</a:t>
            </a:r>
            <a:endParaRPr lang="en-US" sz="3000" dirty="0"/>
          </a:p>
        </p:txBody>
      </p:sp>
      <p:sp>
        <p:nvSpPr>
          <p:cNvPr id="4" name="Shape 2"/>
          <p:cNvSpPr/>
          <p:nvPr/>
        </p:nvSpPr>
        <p:spPr>
          <a:xfrm>
            <a:off x="548640" y="1691640"/>
            <a:ext cx="11064240" cy="749808"/>
          </a:xfrm>
          <a:prstGeom prst="roundRect">
            <a:avLst>
              <a:gd name="adj" fmla="val 12195"/>
            </a:avLst>
          </a:prstGeom>
          <a:solidFill>
            <a:srgbClr val="F5F7FA"/>
          </a:solidFill>
          <a:ln w="12700">
            <a:solidFill>
              <a:srgbClr val="E3E7ED"/>
            </a:solidFill>
            <a:prstDash val="solid"/>
          </a:ln>
        </p:spPr>
      </p:sp>
      <p:sp>
        <p:nvSpPr>
          <p:cNvPr id="5" name="Text 3"/>
          <p:cNvSpPr/>
          <p:nvPr/>
        </p:nvSpPr>
        <p:spPr>
          <a:xfrm>
            <a:off x="777240" y="1691640"/>
            <a:ext cx="822960" cy="749808"/>
          </a:xfrm>
          <a:prstGeom prst="rect">
            <a:avLst/>
          </a:prstGeom>
          <a:noFill/>
        </p:spPr>
        <p:txBody>
          <a:bodyPr wrap="square" lIns="0" tIns="0" rIns="0" bIns="0" rtlCol="0" anchor="ctr"/>
          <a:lstStyle/>
          <a:p>
            <a:pPr marL="0" indent="0">
              <a:buNone/>
            </a:pPr>
            <a:r>
              <a:rPr lang="en-US" sz="2600" b="1" dirty="0">
                <a:solidFill>
                  <a:srgbClr val="FF9900"/>
                </a:solidFill>
                <a:latin typeface="Cambria" panose="02040503050406030204" pitchFamily="34" charset="0"/>
                <a:ea typeface="Cambria" panose="02040503050406030204" pitchFamily="34" charset="-122"/>
                <a:cs typeface="Cambria" panose="02040503050406030204" pitchFamily="34" charset="-120"/>
              </a:rPr>
              <a:t>01</a:t>
            </a:r>
            <a:endParaRPr lang="en-US" sz="2600" dirty="0"/>
          </a:p>
        </p:txBody>
      </p:sp>
      <p:sp>
        <p:nvSpPr>
          <p:cNvPr id="6" name="Text 4"/>
          <p:cNvSpPr/>
          <p:nvPr/>
        </p:nvSpPr>
        <p:spPr>
          <a:xfrm>
            <a:off x="1737360" y="1764792"/>
            <a:ext cx="3657600" cy="365760"/>
          </a:xfrm>
          <a:prstGeom prst="rect">
            <a:avLst/>
          </a:prstGeom>
          <a:noFill/>
        </p:spPr>
        <p:txBody>
          <a:bodyPr wrap="square" lIns="0" tIns="0" rIns="0" bIns="0" rtlCol="0" anchor="ctr"/>
          <a:lstStyle/>
          <a:p>
            <a:pPr marL="0" indent="0">
              <a:buNone/>
            </a:pPr>
            <a:r>
              <a:rPr lang="en-US" sz="1500" b="1" dirty="0">
                <a:solidFill>
                  <a:srgbClr val="232F3E"/>
                </a:solidFill>
                <a:latin typeface="Calibri" panose="020F0502020204030204" pitchFamily="34" charset="0"/>
                <a:ea typeface="Calibri" panose="020F0502020204030204" pitchFamily="34" charset="-122"/>
                <a:cs typeface="Calibri" panose="020F0502020204030204" pitchFamily="34" charset="-120"/>
              </a:rPr>
              <a:t>Cloud Fundamentals</a:t>
            </a:r>
            <a:endParaRPr lang="en-US" sz="1500" dirty="0"/>
          </a:p>
        </p:txBody>
      </p:sp>
      <p:sp>
        <p:nvSpPr>
          <p:cNvPr id="7" name="Text 5"/>
          <p:cNvSpPr/>
          <p:nvPr/>
        </p:nvSpPr>
        <p:spPr>
          <a:xfrm>
            <a:off x="5486400" y="1691640"/>
            <a:ext cx="5943600" cy="749808"/>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Definitions, history, and why the cloud matters</a:t>
            </a:r>
            <a:endParaRPr lang="en-US" sz="1300" dirty="0"/>
          </a:p>
        </p:txBody>
      </p:sp>
      <p:sp>
        <p:nvSpPr>
          <p:cNvPr id="8" name="Shape 6"/>
          <p:cNvSpPr/>
          <p:nvPr/>
        </p:nvSpPr>
        <p:spPr>
          <a:xfrm>
            <a:off x="548640" y="2587752"/>
            <a:ext cx="11064240" cy="749808"/>
          </a:xfrm>
          <a:prstGeom prst="roundRect">
            <a:avLst>
              <a:gd name="adj" fmla="val 12195"/>
            </a:avLst>
          </a:prstGeom>
          <a:solidFill>
            <a:srgbClr val="FFFFFF"/>
          </a:solidFill>
          <a:ln w="12700">
            <a:solidFill>
              <a:srgbClr val="E3E7ED"/>
            </a:solidFill>
            <a:prstDash val="solid"/>
          </a:ln>
        </p:spPr>
      </p:sp>
      <p:sp>
        <p:nvSpPr>
          <p:cNvPr id="9" name="Text 7"/>
          <p:cNvSpPr/>
          <p:nvPr/>
        </p:nvSpPr>
        <p:spPr>
          <a:xfrm>
            <a:off x="777240" y="2587752"/>
            <a:ext cx="822960" cy="749808"/>
          </a:xfrm>
          <a:prstGeom prst="rect">
            <a:avLst/>
          </a:prstGeom>
          <a:noFill/>
        </p:spPr>
        <p:txBody>
          <a:bodyPr wrap="square" lIns="0" tIns="0" rIns="0" bIns="0" rtlCol="0" anchor="ctr"/>
          <a:lstStyle/>
          <a:p>
            <a:pPr marL="0" indent="0">
              <a:buNone/>
            </a:pPr>
            <a:r>
              <a:rPr lang="en-US" sz="2600" b="1" dirty="0">
                <a:solidFill>
                  <a:srgbClr val="FF9900"/>
                </a:solidFill>
                <a:latin typeface="Cambria" panose="02040503050406030204" pitchFamily="34" charset="0"/>
                <a:ea typeface="Cambria" panose="02040503050406030204" pitchFamily="34" charset="-122"/>
                <a:cs typeface="Cambria" panose="02040503050406030204" pitchFamily="34" charset="-120"/>
              </a:rPr>
              <a:t>02</a:t>
            </a:r>
            <a:endParaRPr lang="en-US" sz="2600" dirty="0"/>
          </a:p>
        </p:txBody>
      </p:sp>
      <p:sp>
        <p:nvSpPr>
          <p:cNvPr id="10" name="Text 8"/>
          <p:cNvSpPr/>
          <p:nvPr/>
        </p:nvSpPr>
        <p:spPr>
          <a:xfrm>
            <a:off x="1737360" y="2660904"/>
            <a:ext cx="3657600" cy="365760"/>
          </a:xfrm>
          <a:prstGeom prst="rect">
            <a:avLst/>
          </a:prstGeom>
          <a:noFill/>
        </p:spPr>
        <p:txBody>
          <a:bodyPr wrap="square" lIns="0" tIns="0" rIns="0" bIns="0" rtlCol="0" anchor="ctr"/>
          <a:lstStyle/>
          <a:p>
            <a:pPr marL="0" indent="0">
              <a:buNone/>
            </a:pPr>
            <a:r>
              <a:rPr lang="en-US" sz="1500" b="1" dirty="0">
                <a:solidFill>
                  <a:srgbClr val="232F3E"/>
                </a:solidFill>
                <a:latin typeface="Calibri" panose="020F0502020204030204" pitchFamily="34" charset="0"/>
                <a:ea typeface="Calibri" panose="020F0502020204030204" pitchFamily="34" charset="-122"/>
                <a:cs typeface="Calibri" panose="020F0502020204030204" pitchFamily="34" charset="-120"/>
              </a:rPr>
              <a:t>Core Concepts</a:t>
            </a:r>
            <a:endParaRPr lang="en-US" sz="1500" dirty="0"/>
          </a:p>
        </p:txBody>
      </p:sp>
      <p:sp>
        <p:nvSpPr>
          <p:cNvPr id="11" name="Text 9"/>
          <p:cNvSpPr/>
          <p:nvPr/>
        </p:nvSpPr>
        <p:spPr>
          <a:xfrm>
            <a:off x="5486400" y="2587752"/>
            <a:ext cx="5943600" cy="749808"/>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Service models, deployment models, architecture</a:t>
            </a:r>
            <a:endParaRPr lang="en-US" sz="1300" dirty="0"/>
          </a:p>
        </p:txBody>
      </p:sp>
      <p:sp>
        <p:nvSpPr>
          <p:cNvPr id="12" name="Shape 10"/>
          <p:cNvSpPr/>
          <p:nvPr/>
        </p:nvSpPr>
        <p:spPr>
          <a:xfrm>
            <a:off x="548640" y="3483864"/>
            <a:ext cx="11064240" cy="749808"/>
          </a:xfrm>
          <a:prstGeom prst="roundRect">
            <a:avLst>
              <a:gd name="adj" fmla="val 12195"/>
            </a:avLst>
          </a:prstGeom>
          <a:solidFill>
            <a:srgbClr val="F5F7FA"/>
          </a:solidFill>
          <a:ln w="12700">
            <a:solidFill>
              <a:srgbClr val="E3E7ED"/>
            </a:solidFill>
            <a:prstDash val="solid"/>
          </a:ln>
        </p:spPr>
      </p:sp>
      <p:sp>
        <p:nvSpPr>
          <p:cNvPr id="13" name="Text 11"/>
          <p:cNvSpPr/>
          <p:nvPr/>
        </p:nvSpPr>
        <p:spPr>
          <a:xfrm>
            <a:off x="777240" y="3483864"/>
            <a:ext cx="822960" cy="749808"/>
          </a:xfrm>
          <a:prstGeom prst="rect">
            <a:avLst/>
          </a:prstGeom>
          <a:noFill/>
        </p:spPr>
        <p:txBody>
          <a:bodyPr wrap="square" lIns="0" tIns="0" rIns="0" bIns="0" rtlCol="0" anchor="ctr"/>
          <a:lstStyle/>
          <a:p>
            <a:pPr marL="0" indent="0">
              <a:buNone/>
            </a:pPr>
            <a:r>
              <a:rPr lang="en-US" sz="2600" b="1" dirty="0">
                <a:solidFill>
                  <a:srgbClr val="FF9900"/>
                </a:solidFill>
                <a:latin typeface="Cambria" panose="02040503050406030204" pitchFamily="34" charset="0"/>
                <a:ea typeface="Cambria" panose="02040503050406030204" pitchFamily="34" charset="-122"/>
                <a:cs typeface="Cambria" panose="02040503050406030204" pitchFamily="34" charset="-120"/>
              </a:rPr>
              <a:t>03</a:t>
            </a:r>
            <a:endParaRPr lang="en-US" sz="2600" dirty="0"/>
          </a:p>
        </p:txBody>
      </p:sp>
      <p:sp>
        <p:nvSpPr>
          <p:cNvPr id="14" name="Text 12"/>
          <p:cNvSpPr/>
          <p:nvPr/>
        </p:nvSpPr>
        <p:spPr>
          <a:xfrm>
            <a:off x="1737360" y="3557016"/>
            <a:ext cx="3657600" cy="365760"/>
          </a:xfrm>
          <a:prstGeom prst="rect">
            <a:avLst/>
          </a:prstGeom>
          <a:noFill/>
        </p:spPr>
        <p:txBody>
          <a:bodyPr wrap="square" lIns="0" tIns="0" rIns="0" bIns="0" rtlCol="0" anchor="ctr"/>
          <a:lstStyle/>
          <a:p>
            <a:pPr marL="0" indent="0">
              <a:buNone/>
            </a:pPr>
            <a:r>
              <a:rPr lang="en-US" sz="1500" b="1" dirty="0">
                <a:solidFill>
                  <a:srgbClr val="232F3E"/>
                </a:solidFill>
                <a:latin typeface="Calibri" panose="020F0502020204030204" pitchFamily="34" charset="0"/>
                <a:ea typeface="Calibri" panose="020F0502020204030204" pitchFamily="34" charset="-122"/>
                <a:cs typeface="Calibri" panose="020F0502020204030204" pitchFamily="34" charset="-120"/>
              </a:rPr>
              <a:t>AWS Deep Dive</a:t>
            </a:r>
            <a:endParaRPr lang="en-US" sz="1500" dirty="0"/>
          </a:p>
        </p:txBody>
      </p:sp>
      <p:sp>
        <p:nvSpPr>
          <p:cNvPr id="15" name="Text 13"/>
          <p:cNvSpPr/>
          <p:nvPr/>
        </p:nvSpPr>
        <p:spPr>
          <a:xfrm>
            <a:off x="5486400" y="3483864"/>
            <a:ext cx="5943600" cy="749808"/>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Global infrastructure, console, and core services</a:t>
            </a:r>
            <a:endParaRPr lang="en-US" sz="1300" dirty="0"/>
          </a:p>
        </p:txBody>
      </p:sp>
      <p:sp>
        <p:nvSpPr>
          <p:cNvPr id="16" name="Shape 14"/>
          <p:cNvSpPr/>
          <p:nvPr/>
        </p:nvSpPr>
        <p:spPr>
          <a:xfrm>
            <a:off x="548640" y="4379976"/>
            <a:ext cx="11064240" cy="749808"/>
          </a:xfrm>
          <a:prstGeom prst="roundRect">
            <a:avLst>
              <a:gd name="adj" fmla="val 12195"/>
            </a:avLst>
          </a:prstGeom>
          <a:solidFill>
            <a:srgbClr val="FFFFFF"/>
          </a:solidFill>
          <a:ln w="12700">
            <a:solidFill>
              <a:srgbClr val="E3E7ED"/>
            </a:solidFill>
            <a:prstDash val="solid"/>
          </a:ln>
        </p:spPr>
      </p:sp>
      <p:sp>
        <p:nvSpPr>
          <p:cNvPr id="17" name="Text 15"/>
          <p:cNvSpPr/>
          <p:nvPr/>
        </p:nvSpPr>
        <p:spPr>
          <a:xfrm>
            <a:off x="777240" y="4379976"/>
            <a:ext cx="822960" cy="749808"/>
          </a:xfrm>
          <a:prstGeom prst="rect">
            <a:avLst/>
          </a:prstGeom>
          <a:noFill/>
        </p:spPr>
        <p:txBody>
          <a:bodyPr wrap="square" lIns="0" tIns="0" rIns="0" bIns="0" rtlCol="0" anchor="ctr"/>
          <a:lstStyle/>
          <a:p>
            <a:pPr marL="0" indent="0">
              <a:buNone/>
            </a:pPr>
            <a:r>
              <a:rPr lang="en-US" sz="2600" b="1" dirty="0">
                <a:solidFill>
                  <a:srgbClr val="FF9900"/>
                </a:solidFill>
                <a:latin typeface="Cambria" panose="02040503050406030204" pitchFamily="34" charset="0"/>
                <a:ea typeface="Cambria" panose="02040503050406030204" pitchFamily="34" charset="-122"/>
                <a:cs typeface="Cambria" panose="02040503050406030204" pitchFamily="34" charset="-120"/>
              </a:rPr>
              <a:t>04</a:t>
            </a:r>
            <a:endParaRPr lang="en-US" sz="2600" dirty="0"/>
          </a:p>
        </p:txBody>
      </p:sp>
      <p:sp>
        <p:nvSpPr>
          <p:cNvPr id="18" name="Text 16"/>
          <p:cNvSpPr/>
          <p:nvPr/>
        </p:nvSpPr>
        <p:spPr>
          <a:xfrm>
            <a:off x="1737360" y="4453128"/>
            <a:ext cx="3657600" cy="365760"/>
          </a:xfrm>
          <a:prstGeom prst="rect">
            <a:avLst/>
          </a:prstGeom>
          <a:noFill/>
        </p:spPr>
        <p:txBody>
          <a:bodyPr wrap="square" lIns="0" tIns="0" rIns="0" bIns="0" rtlCol="0" anchor="ctr"/>
          <a:lstStyle/>
          <a:p>
            <a:pPr marL="0" indent="0">
              <a:buNone/>
            </a:pPr>
            <a:r>
              <a:rPr lang="en-US" sz="1500" b="1" dirty="0">
                <a:solidFill>
                  <a:srgbClr val="232F3E"/>
                </a:solidFill>
                <a:latin typeface="Calibri" panose="020F0502020204030204" pitchFamily="34" charset="0"/>
                <a:ea typeface="Calibri" panose="020F0502020204030204" pitchFamily="34" charset="-122"/>
                <a:cs typeface="Calibri" panose="020F0502020204030204" pitchFamily="34" charset="-120"/>
              </a:rPr>
              <a:t>Hands-on Services</a:t>
            </a:r>
            <a:endParaRPr lang="en-US" sz="1500" dirty="0"/>
          </a:p>
        </p:txBody>
      </p:sp>
      <p:sp>
        <p:nvSpPr>
          <p:cNvPr id="19" name="Text 17"/>
          <p:cNvSpPr/>
          <p:nvPr/>
        </p:nvSpPr>
        <p:spPr>
          <a:xfrm>
            <a:off x="5486400" y="4379976"/>
            <a:ext cx="5943600" cy="749808"/>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EC2, S3, SNS, and Elastic Beanstalk in detail</a:t>
            </a:r>
            <a:endParaRPr lang="en-US" sz="1300" dirty="0"/>
          </a:p>
        </p:txBody>
      </p:sp>
      <p:sp>
        <p:nvSpPr>
          <p:cNvPr id="20" name="Shape 18"/>
          <p:cNvSpPr/>
          <p:nvPr/>
        </p:nvSpPr>
        <p:spPr>
          <a:xfrm>
            <a:off x="548640" y="5276088"/>
            <a:ext cx="11064240" cy="749808"/>
          </a:xfrm>
          <a:prstGeom prst="roundRect">
            <a:avLst>
              <a:gd name="adj" fmla="val 12195"/>
            </a:avLst>
          </a:prstGeom>
          <a:solidFill>
            <a:srgbClr val="F5F7FA"/>
          </a:solidFill>
          <a:ln w="12700">
            <a:solidFill>
              <a:srgbClr val="E3E7ED"/>
            </a:solidFill>
            <a:prstDash val="solid"/>
          </a:ln>
        </p:spPr>
      </p:sp>
      <p:sp>
        <p:nvSpPr>
          <p:cNvPr id="21" name="Text 19"/>
          <p:cNvSpPr/>
          <p:nvPr/>
        </p:nvSpPr>
        <p:spPr>
          <a:xfrm>
            <a:off x="777240" y="5276088"/>
            <a:ext cx="822960" cy="749808"/>
          </a:xfrm>
          <a:prstGeom prst="rect">
            <a:avLst/>
          </a:prstGeom>
          <a:noFill/>
        </p:spPr>
        <p:txBody>
          <a:bodyPr wrap="square" lIns="0" tIns="0" rIns="0" bIns="0" rtlCol="0" anchor="ctr"/>
          <a:lstStyle/>
          <a:p>
            <a:pPr marL="0" indent="0">
              <a:buNone/>
            </a:pPr>
            <a:r>
              <a:rPr lang="en-US" sz="2600" b="1" dirty="0">
                <a:solidFill>
                  <a:srgbClr val="FF9900"/>
                </a:solidFill>
                <a:latin typeface="Cambria" panose="02040503050406030204" pitchFamily="34" charset="0"/>
                <a:ea typeface="Cambria" panose="02040503050406030204" pitchFamily="34" charset="-122"/>
                <a:cs typeface="Cambria" panose="02040503050406030204" pitchFamily="34" charset="-120"/>
              </a:rPr>
              <a:t>05</a:t>
            </a:r>
            <a:endParaRPr lang="en-US" sz="2600" dirty="0"/>
          </a:p>
        </p:txBody>
      </p:sp>
      <p:sp>
        <p:nvSpPr>
          <p:cNvPr id="22" name="Text 20"/>
          <p:cNvSpPr/>
          <p:nvPr/>
        </p:nvSpPr>
        <p:spPr>
          <a:xfrm>
            <a:off x="1737360" y="5349240"/>
            <a:ext cx="3657600" cy="365760"/>
          </a:xfrm>
          <a:prstGeom prst="rect">
            <a:avLst/>
          </a:prstGeom>
          <a:noFill/>
        </p:spPr>
        <p:txBody>
          <a:bodyPr wrap="square" lIns="0" tIns="0" rIns="0" bIns="0" rtlCol="0" anchor="ctr"/>
          <a:lstStyle/>
          <a:p>
            <a:pPr marL="0" indent="0">
              <a:buNone/>
            </a:pPr>
            <a:r>
              <a:rPr lang="en-US" sz="1500" b="1" dirty="0">
                <a:solidFill>
                  <a:srgbClr val="232F3E"/>
                </a:solidFill>
                <a:latin typeface="Calibri" panose="020F0502020204030204" pitchFamily="34" charset="0"/>
                <a:ea typeface="Calibri" panose="020F0502020204030204" pitchFamily="34" charset="-122"/>
                <a:cs typeface="Calibri" panose="020F0502020204030204" pitchFamily="34" charset="-120"/>
              </a:rPr>
              <a:t>Wrap-up &amp; Careers</a:t>
            </a:r>
            <a:endParaRPr lang="en-US" sz="1500" dirty="0"/>
          </a:p>
        </p:txBody>
      </p:sp>
      <p:sp>
        <p:nvSpPr>
          <p:cNvPr id="23" name="Text 21"/>
          <p:cNvSpPr/>
          <p:nvPr/>
        </p:nvSpPr>
        <p:spPr>
          <a:xfrm>
            <a:off x="5486400" y="5276088"/>
            <a:ext cx="5943600" cy="749808"/>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Case studies, certifications, and Q&amp;A</a:t>
            </a:r>
            <a:endParaRPr lang="en-US" sz="1300" dirty="0"/>
          </a:p>
        </p:txBody>
      </p:sp>
      <p:sp>
        <p:nvSpPr>
          <p:cNvPr id="24" name="Text 2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5" name="Text 2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1 · INTRODUCTION</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What is Cloud Computing?</a:t>
            </a:r>
            <a:endParaRPr lang="en-US" sz="3000" dirty="0"/>
          </a:p>
        </p:txBody>
      </p:sp>
      <p:sp>
        <p:nvSpPr>
          <p:cNvPr id="4" name="Shape 2"/>
          <p:cNvSpPr/>
          <p:nvPr/>
        </p:nvSpPr>
        <p:spPr>
          <a:xfrm>
            <a:off x="548640" y="1691640"/>
            <a:ext cx="6492240" cy="1874520"/>
          </a:xfrm>
          <a:prstGeom prst="roundRect">
            <a:avLst>
              <a:gd name="adj" fmla="val 3902"/>
            </a:avLst>
          </a:prstGeom>
          <a:solidFill>
            <a:srgbClr val="F5F7FA"/>
          </a:solidFill>
        </p:spPr>
      </p:sp>
      <p:sp>
        <p:nvSpPr>
          <p:cNvPr id="5" name="Text 3"/>
          <p:cNvSpPr/>
          <p:nvPr/>
        </p:nvSpPr>
        <p:spPr>
          <a:xfrm>
            <a:off x="822960" y="1847088"/>
            <a:ext cx="4572000" cy="320040"/>
          </a:xfrm>
          <a:prstGeom prst="rect">
            <a:avLst/>
          </a:prstGeom>
          <a:noFill/>
        </p:spPr>
        <p:txBody>
          <a:bodyPr wrap="square" lIns="0" tIns="0" rIns="0" bIns="0" rtlCol="0" anchor="ctr"/>
          <a:lstStyle/>
          <a:p>
            <a:pPr marL="0" indent="0">
              <a:buNone/>
            </a:pPr>
            <a:r>
              <a:rPr lang="en-US" sz="1400" b="1" dirty="0">
                <a:solidFill>
                  <a:srgbClr val="FF9900"/>
                </a:solidFill>
                <a:latin typeface="Calibri" panose="020F0502020204030204" pitchFamily="34" charset="0"/>
                <a:ea typeface="Calibri" panose="020F0502020204030204" pitchFamily="34" charset="-122"/>
                <a:cs typeface="Calibri" panose="020F0502020204030204" pitchFamily="34" charset="-120"/>
              </a:rPr>
              <a:t>Definition</a:t>
            </a:r>
            <a:endParaRPr lang="en-US" sz="1400" dirty="0"/>
          </a:p>
        </p:txBody>
      </p:sp>
      <p:sp>
        <p:nvSpPr>
          <p:cNvPr id="6" name="Text 4"/>
          <p:cNvSpPr/>
          <p:nvPr/>
        </p:nvSpPr>
        <p:spPr>
          <a:xfrm>
            <a:off x="822960" y="2194560"/>
            <a:ext cx="6035040" cy="1280160"/>
          </a:xfrm>
          <a:prstGeom prst="rect">
            <a:avLst/>
          </a:prstGeom>
          <a:noFill/>
        </p:spPr>
        <p:txBody>
          <a:bodyPr wrap="square" lIns="0" tIns="0" rIns="0" bIns="0" rtlCol="0" anchor="ctr"/>
          <a:lstStyle/>
          <a:p>
            <a:pPr marL="0" indent="0">
              <a:lnSpc>
                <a:spcPct val="115000"/>
              </a:lnSpc>
              <a:buNone/>
            </a:pPr>
            <a:r>
              <a:rPr lang="en-US" sz="1450" dirty="0">
                <a:solidFill>
                  <a:srgbClr val="232F3E"/>
                </a:solidFill>
                <a:latin typeface="Calibri" panose="020F0502020204030204" pitchFamily="34" charset="0"/>
                <a:ea typeface="Calibri" panose="020F0502020204030204" pitchFamily="34" charset="-122"/>
                <a:cs typeface="Calibri" panose="020F0502020204030204" pitchFamily="34" charset="-120"/>
              </a:rPr>
              <a:t>The on-demand delivery of computing power, storage, databases, networking, and software over the internet, with pay-as-you-go pricing — instead of owning and maintaining physical hardware yourself.</a:t>
            </a:r>
            <a:endParaRPr lang="en-US" sz="1450" dirty="0"/>
          </a:p>
        </p:txBody>
      </p:sp>
      <p:sp>
        <p:nvSpPr>
          <p:cNvPr id="7" name="Shape 5"/>
          <p:cNvSpPr/>
          <p:nvPr/>
        </p:nvSpPr>
        <p:spPr>
          <a:xfrm>
            <a:off x="548640" y="3703320"/>
            <a:ext cx="6492240" cy="2011680"/>
          </a:xfrm>
          <a:prstGeom prst="roundRect">
            <a:avLst>
              <a:gd name="adj" fmla="val 3636"/>
            </a:avLst>
          </a:prstGeom>
          <a:solidFill>
            <a:srgbClr val="232F3E"/>
          </a:solidFill>
        </p:spPr>
      </p:sp>
      <p:sp>
        <p:nvSpPr>
          <p:cNvPr id="8" name="Text 6"/>
          <p:cNvSpPr/>
          <p:nvPr/>
        </p:nvSpPr>
        <p:spPr>
          <a:xfrm>
            <a:off x="822960" y="3858768"/>
            <a:ext cx="4572000" cy="320040"/>
          </a:xfrm>
          <a:prstGeom prst="rect">
            <a:avLst/>
          </a:prstGeom>
          <a:noFill/>
        </p:spPr>
        <p:txBody>
          <a:bodyPr wrap="square" lIns="0" tIns="0" rIns="0" bIns="0" rtlCol="0" anchor="ctr"/>
          <a:lstStyle/>
          <a:p>
            <a:pPr marL="0" indent="0">
              <a:buNone/>
            </a:pPr>
            <a:r>
              <a:rPr lang="en-US" sz="1400" b="1" dirty="0">
                <a:solidFill>
                  <a:srgbClr val="FF9900"/>
                </a:solidFill>
                <a:latin typeface="Calibri" panose="020F0502020204030204" pitchFamily="34" charset="0"/>
                <a:ea typeface="Calibri" panose="020F0502020204030204" pitchFamily="34" charset="-122"/>
                <a:cs typeface="Calibri" panose="020F0502020204030204" pitchFamily="34" charset="-120"/>
              </a:rPr>
              <a:t>A Simple Analogy</a:t>
            </a:r>
            <a:endParaRPr lang="en-US" sz="1400" dirty="0"/>
          </a:p>
        </p:txBody>
      </p:sp>
      <p:sp>
        <p:nvSpPr>
          <p:cNvPr id="9" name="Text 7"/>
          <p:cNvSpPr/>
          <p:nvPr/>
        </p:nvSpPr>
        <p:spPr>
          <a:xfrm>
            <a:off x="822960" y="4206240"/>
            <a:ext cx="6035040" cy="1371600"/>
          </a:xfrm>
          <a:prstGeom prst="rect">
            <a:avLst/>
          </a:prstGeom>
          <a:noFill/>
        </p:spPr>
        <p:txBody>
          <a:bodyPr wrap="square" lIns="0" tIns="0" rIns="0" bIns="0" rtlCol="0" anchor="ctr"/>
          <a:lstStyle/>
          <a:p>
            <a:pPr marL="0" indent="0">
              <a:lnSpc>
                <a:spcPct val="115000"/>
              </a:lnSpc>
              <a:buNone/>
            </a:pPr>
            <a:r>
              <a:rPr lang="en-US" sz="1450" i="1" dirty="0">
                <a:solidFill>
                  <a:srgbClr val="FFFFFF"/>
                </a:solidFill>
                <a:latin typeface="Calibri" panose="020F0502020204030204" pitchFamily="34" charset="0"/>
                <a:ea typeface="Calibri" panose="020F0502020204030204" pitchFamily="34" charset="-122"/>
                <a:cs typeface="Calibri" panose="020F0502020204030204" pitchFamily="34" charset="-120"/>
              </a:rPr>
              <a:t>Just like an electricity board supplies power on demand and bills you only for what you consume, cloud providers supply computing resources on demand and bill you only for what you use.</a:t>
            </a:r>
            <a:endParaRPr lang="en-US" sz="1450" dirty="0"/>
          </a:p>
        </p:txBody>
      </p:sp>
      <p:sp>
        <p:nvSpPr>
          <p:cNvPr id="10" name="Shape 8"/>
          <p:cNvSpPr/>
          <p:nvPr/>
        </p:nvSpPr>
        <p:spPr>
          <a:xfrm>
            <a:off x="7360920" y="1691640"/>
            <a:ext cx="4251960" cy="1115568"/>
          </a:xfrm>
          <a:prstGeom prst="roundRect">
            <a:avLst>
              <a:gd name="adj" fmla="val 6557"/>
            </a:avLst>
          </a:prstGeom>
          <a:solidFill>
            <a:srgbClr val="FFFFFF"/>
          </a:solidFill>
          <a:ln w="15875">
            <a:solidFill>
              <a:srgbClr val="E3E7ED"/>
            </a:solidFill>
            <a:prstDash val="solid"/>
          </a:ln>
        </p:spPr>
      </p:sp>
      <p:sp>
        <p:nvSpPr>
          <p:cNvPr id="11" name="Shape 9"/>
          <p:cNvSpPr/>
          <p:nvPr/>
        </p:nvSpPr>
        <p:spPr>
          <a:xfrm>
            <a:off x="7589520" y="1883664"/>
            <a:ext cx="731520" cy="731520"/>
          </a:xfrm>
          <a:prstGeom prst="ellipse">
            <a:avLst/>
          </a:prstGeom>
          <a:solidFill>
            <a:srgbClr val="FF9900"/>
          </a:solidFill>
        </p:spPr>
      </p:sp>
      <p:pic>
        <p:nvPicPr>
          <p:cNvPr id="12" name="Image 0" descr="/home/claude/icons/server_white.png"/>
          <p:cNvPicPr>
            <a:picLocks noChangeAspect="1"/>
          </p:cNvPicPr>
          <p:nvPr/>
        </p:nvPicPr>
        <p:blipFill>
          <a:blip r:embed="rId1"/>
          <a:stretch>
            <a:fillRect/>
          </a:stretch>
        </p:blipFill>
        <p:spPr>
          <a:xfrm>
            <a:off x="7765085" y="2059229"/>
            <a:ext cx="380390" cy="380390"/>
          </a:xfrm>
          <a:prstGeom prst="rect">
            <a:avLst/>
          </a:prstGeom>
        </p:spPr>
      </p:pic>
      <p:sp>
        <p:nvSpPr>
          <p:cNvPr id="13" name="Text 10"/>
          <p:cNvSpPr/>
          <p:nvPr/>
        </p:nvSpPr>
        <p:spPr>
          <a:xfrm>
            <a:off x="8503920" y="1837944"/>
            <a:ext cx="292608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Compute</a:t>
            </a:r>
            <a:endParaRPr lang="en-US" sz="1550" dirty="0"/>
          </a:p>
        </p:txBody>
      </p:sp>
      <p:sp>
        <p:nvSpPr>
          <p:cNvPr id="14" name="Text 11"/>
          <p:cNvSpPr/>
          <p:nvPr/>
        </p:nvSpPr>
        <p:spPr>
          <a:xfrm>
            <a:off x="8503920" y="2221992"/>
            <a:ext cx="2971800" cy="457200"/>
          </a:xfrm>
          <a:prstGeom prst="rect">
            <a:avLst/>
          </a:prstGeom>
          <a:noFill/>
        </p:spPr>
        <p:txBody>
          <a:bodyPr wrap="square" lIns="0" tIns="0" rIns="0" bIns="0" rtlCol="0" anchor="ctr"/>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Servers &amp; processing power</a:t>
            </a:r>
            <a:endParaRPr lang="en-US" sz="1200" dirty="0"/>
          </a:p>
        </p:txBody>
      </p:sp>
      <p:sp>
        <p:nvSpPr>
          <p:cNvPr id="15" name="Shape 12"/>
          <p:cNvSpPr/>
          <p:nvPr/>
        </p:nvSpPr>
        <p:spPr>
          <a:xfrm>
            <a:off x="7360920" y="2990088"/>
            <a:ext cx="4251960" cy="1115568"/>
          </a:xfrm>
          <a:prstGeom prst="roundRect">
            <a:avLst>
              <a:gd name="adj" fmla="val 6557"/>
            </a:avLst>
          </a:prstGeom>
          <a:solidFill>
            <a:srgbClr val="FFFFFF"/>
          </a:solidFill>
          <a:ln w="15875">
            <a:solidFill>
              <a:srgbClr val="E3E7ED"/>
            </a:solidFill>
            <a:prstDash val="solid"/>
          </a:ln>
        </p:spPr>
      </p:sp>
      <p:sp>
        <p:nvSpPr>
          <p:cNvPr id="16" name="Shape 13"/>
          <p:cNvSpPr/>
          <p:nvPr/>
        </p:nvSpPr>
        <p:spPr>
          <a:xfrm>
            <a:off x="7589520" y="3182112"/>
            <a:ext cx="731520" cy="731520"/>
          </a:xfrm>
          <a:prstGeom prst="ellipse">
            <a:avLst/>
          </a:prstGeom>
          <a:solidFill>
            <a:srgbClr val="FF9900"/>
          </a:solidFill>
        </p:spPr>
      </p:sp>
      <p:pic>
        <p:nvPicPr>
          <p:cNvPr id="17" name="Image 1" descr="/home/claude/icons/database_white.png"/>
          <p:cNvPicPr>
            <a:picLocks noChangeAspect="1"/>
          </p:cNvPicPr>
          <p:nvPr/>
        </p:nvPicPr>
        <p:blipFill>
          <a:blip r:embed="rId2"/>
          <a:stretch>
            <a:fillRect/>
          </a:stretch>
        </p:blipFill>
        <p:spPr>
          <a:xfrm>
            <a:off x="7765085" y="3357677"/>
            <a:ext cx="380390" cy="380390"/>
          </a:xfrm>
          <a:prstGeom prst="rect">
            <a:avLst/>
          </a:prstGeom>
        </p:spPr>
      </p:pic>
      <p:sp>
        <p:nvSpPr>
          <p:cNvPr id="18" name="Text 14"/>
          <p:cNvSpPr/>
          <p:nvPr/>
        </p:nvSpPr>
        <p:spPr>
          <a:xfrm>
            <a:off x="8503920" y="3136392"/>
            <a:ext cx="292608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Storage</a:t>
            </a:r>
            <a:endParaRPr lang="en-US" sz="1550" dirty="0"/>
          </a:p>
        </p:txBody>
      </p:sp>
      <p:sp>
        <p:nvSpPr>
          <p:cNvPr id="19" name="Text 15"/>
          <p:cNvSpPr/>
          <p:nvPr/>
        </p:nvSpPr>
        <p:spPr>
          <a:xfrm>
            <a:off x="8503920" y="3520440"/>
            <a:ext cx="2971800" cy="457200"/>
          </a:xfrm>
          <a:prstGeom prst="rect">
            <a:avLst/>
          </a:prstGeom>
          <a:noFill/>
        </p:spPr>
        <p:txBody>
          <a:bodyPr wrap="square" lIns="0" tIns="0" rIns="0" bIns="0" rtlCol="0" anchor="ctr"/>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Data storage &amp; databases</a:t>
            </a:r>
            <a:endParaRPr lang="en-US" sz="1200" dirty="0"/>
          </a:p>
        </p:txBody>
      </p:sp>
      <p:sp>
        <p:nvSpPr>
          <p:cNvPr id="20" name="Shape 16"/>
          <p:cNvSpPr/>
          <p:nvPr/>
        </p:nvSpPr>
        <p:spPr>
          <a:xfrm>
            <a:off x="7360920" y="4288536"/>
            <a:ext cx="4251960" cy="1115568"/>
          </a:xfrm>
          <a:prstGeom prst="roundRect">
            <a:avLst>
              <a:gd name="adj" fmla="val 6557"/>
            </a:avLst>
          </a:prstGeom>
          <a:solidFill>
            <a:srgbClr val="FFFFFF"/>
          </a:solidFill>
          <a:ln w="15875">
            <a:solidFill>
              <a:srgbClr val="E3E7ED"/>
            </a:solidFill>
            <a:prstDash val="solid"/>
          </a:ln>
        </p:spPr>
      </p:sp>
      <p:sp>
        <p:nvSpPr>
          <p:cNvPr id="21" name="Shape 17"/>
          <p:cNvSpPr/>
          <p:nvPr/>
        </p:nvSpPr>
        <p:spPr>
          <a:xfrm>
            <a:off x="7589520" y="4480560"/>
            <a:ext cx="731520" cy="731520"/>
          </a:xfrm>
          <a:prstGeom prst="ellipse">
            <a:avLst/>
          </a:prstGeom>
          <a:solidFill>
            <a:srgbClr val="FF9900"/>
          </a:solidFill>
        </p:spPr>
      </p:sp>
      <p:pic>
        <p:nvPicPr>
          <p:cNvPr id="22" name="Image 2" descr="/home/claude/icons/network_white.png"/>
          <p:cNvPicPr>
            <a:picLocks noChangeAspect="1"/>
          </p:cNvPicPr>
          <p:nvPr/>
        </p:nvPicPr>
        <p:blipFill>
          <a:blip r:embed="rId3"/>
          <a:stretch>
            <a:fillRect/>
          </a:stretch>
        </p:blipFill>
        <p:spPr>
          <a:xfrm>
            <a:off x="7765085" y="4656125"/>
            <a:ext cx="380390" cy="380390"/>
          </a:xfrm>
          <a:prstGeom prst="rect">
            <a:avLst/>
          </a:prstGeom>
        </p:spPr>
      </p:pic>
      <p:sp>
        <p:nvSpPr>
          <p:cNvPr id="23" name="Text 18"/>
          <p:cNvSpPr/>
          <p:nvPr/>
        </p:nvSpPr>
        <p:spPr>
          <a:xfrm>
            <a:off x="8503920" y="4434840"/>
            <a:ext cx="292608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Networking</a:t>
            </a:r>
            <a:endParaRPr lang="en-US" sz="1550" dirty="0"/>
          </a:p>
        </p:txBody>
      </p:sp>
      <p:sp>
        <p:nvSpPr>
          <p:cNvPr id="24" name="Text 19"/>
          <p:cNvSpPr/>
          <p:nvPr/>
        </p:nvSpPr>
        <p:spPr>
          <a:xfrm>
            <a:off x="8503920" y="4818888"/>
            <a:ext cx="2971800" cy="457200"/>
          </a:xfrm>
          <a:prstGeom prst="rect">
            <a:avLst/>
          </a:prstGeom>
          <a:noFill/>
        </p:spPr>
        <p:txBody>
          <a:bodyPr wrap="square" lIns="0" tIns="0" rIns="0" bIns="0" rtlCol="0" anchor="ctr"/>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Connectivity across the globe</a:t>
            </a:r>
            <a:endParaRPr lang="en-US" sz="1200" dirty="0"/>
          </a:p>
        </p:txBody>
      </p:sp>
      <p:sp>
        <p:nvSpPr>
          <p:cNvPr id="25" name="Text 20"/>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6" name="Text 21"/>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1 · INTRODUCTION</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Why Cloud Computing?</a:t>
            </a:r>
            <a:endParaRPr lang="en-US" sz="3000" dirty="0"/>
          </a:p>
        </p:txBody>
      </p:sp>
      <p:sp>
        <p:nvSpPr>
          <p:cNvPr id="4" name="Text 2"/>
          <p:cNvSpPr/>
          <p:nvPr/>
        </p:nvSpPr>
        <p:spPr>
          <a:xfrm>
            <a:off x="548640" y="1508760"/>
            <a:ext cx="10515600" cy="365760"/>
          </a:xfrm>
          <a:prstGeom prst="rect">
            <a:avLst/>
          </a:prstGeom>
          <a:noFill/>
        </p:spPr>
        <p:txBody>
          <a:bodyPr wrap="square" lIns="0" tIns="0" rIns="0" bIns="0" rtlCol="0" anchor="ctr"/>
          <a:lstStyle/>
          <a:p>
            <a:pPr marL="0" indent="0">
              <a:buNone/>
            </a:pPr>
            <a:r>
              <a:rPr lang="en-US" sz="1400" i="1" dirty="0">
                <a:solidFill>
                  <a:srgbClr val="5F6B7A"/>
                </a:solidFill>
                <a:latin typeface="Calibri" panose="020F0502020204030204" pitchFamily="34" charset="0"/>
                <a:ea typeface="Calibri" panose="020F0502020204030204" pitchFamily="34" charset="-122"/>
                <a:cs typeface="Calibri" panose="020F0502020204030204" pitchFamily="34" charset="-120"/>
              </a:rPr>
              <a:t>The problems traditional IT infrastructure creates — and how the cloud solves them:</a:t>
            </a:r>
            <a:endParaRPr lang="en-US" sz="1400" dirty="0"/>
          </a:p>
        </p:txBody>
      </p:sp>
      <p:sp>
        <p:nvSpPr>
          <p:cNvPr id="5" name="Shape 3"/>
          <p:cNvSpPr/>
          <p:nvPr/>
        </p:nvSpPr>
        <p:spPr>
          <a:xfrm>
            <a:off x="548640" y="2057400"/>
            <a:ext cx="5349240" cy="1737360"/>
          </a:xfrm>
          <a:prstGeom prst="roundRect">
            <a:avLst>
              <a:gd name="adj" fmla="val 4211"/>
            </a:avLst>
          </a:prstGeom>
          <a:solidFill>
            <a:srgbClr val="F5F7FA"/>
          </a:solidFill>
        </p:spPr>
      </p:sp>
      <p:sp>
        <p:nvSpPr>
          <p:cNvPr id="6" name="Shape 4"/>
          <p:cNvSpPr/>
          <p:nvPr/>
        </p:nvSpPr>
        <p:spPr>
          <a:xfrm>
            <a:off x="804672" y="2313432"/>
            <a:ext cx="685800" cy="685800"/>
          </a:xfrm>
          <a:prstGeom prst="ellipse">
            <a:avLst/>
          </a:prstGeom>
          <a:solidFill>
            <a:srgbClr val="232F3E"/>
          </a:solidFill>
        </p:spPr>
      </p:sp>
      <p:pic>
        <p:nvPicPr>
          <p:cNvPr id="7" name="Image 0" descr="/home/claude/icons/money_orange.png"/>
          <p:cNvPicPr>
            <a:picLocks noChangeAspect="1"/>
          </p:cNvPicPr>
          <p:nvPr/>
        </p:nvPicPr>
        <p:blipFill>
          <a:blip r:embed="rId1"/>
          <a:stretch>
            <a:fillRect/>
          </a:stretch>
        </p:blipFill>
        <p:spPr>
          <a:xfrm>
            <a:off x="969264" y="2478024"/>
            <a:ext cx="356616" cy="356616"/>
          </a:xfrm>
          <a:prstGeom prst="rect">
            <a:avLst/>
          </a:prstGeom>
        </p:spPr>
      </p:pic>
      <p:sp>
        <p:nvSpPr>
          <p:cNvPr id="8" name="Text 5"/>
          <p:cNvSpPr/>
          <p:nvPr/>
        </p:nvSpPr>
        <p:spPr>
          <a:xfrm>
            <a:off x="1691640" y="2286000"/>
            <a:ext cx="402336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High Upfront Cost</a:t>
            </a:r>
            <a:endParaRPr lang="en-US" sz="1550" dirty="0"/>
          </a:p>
        </p:txBody>
      </p:sp>
      <p:sp>
        <p:nvSpPr>
          <p:cNvPr id="9" name="Text 6"/>
          <p:cNvSpPr/>
          <p:nvPr/>
        </p:nvSpPr>
        <p:spPr>
          <a:xfrm>
            <a:off x="1691640" y="2679192"/>
            <a:ext cx="4023360" cy="96012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Buying servers needs huge capital investment before any project even starts</a:t>
            </a:r>
            <a:endParaRPr lang="en-US" sz="1250" dirty="0"/>
          </a:p>
        </p:txBody>
      </p:sp>
      <p:sp>
        <p:nvSpPr>
          <p:cNvPr id="10" name="Shape 7"/>
          <p:cNvSpPr/>
          <p:nvPr/>
        </p:nvSpPr>
        <p:spPr>
          <a:xfrm>
            <a:off x="6172200" y="2057400"/>
            <a:ext cx="5349240" cy="1737360"/>
          </a:xfrm>
          <a:prstGeom prst="roundRect">
            <a:avLst>
              <a:gd name="adj" fmla="val 4211"/>
            </a:avLst>
          </a:prstGeom>
          <a:solidFill>
            <a:srgbClr val="F5F7FA"/>
          </a:solidFill>
        </p:spPr>
      </p:sp>
      <p:sp>
        <p:nvSpPr>
          <p:cNvPr id="11" name="Shape 8"/>
          <p:cNvSpPr/>
          <p:nvPr/>
        </p:nvSpPr>
        <p:spPr>
          <a:xfrm>
            <a:off x="6428232" y="2313432"/>
            <a:ext cx="685800" cy="685800"/>
          </a:xfrm>
          <a:prstGeom prst="ellipse">
            <a:avLst/>
          </a:prstGeom>
          <a:solidFill>
            <a:srgbClr val="232F3E"/>
          </a:solidFill>
        </p:spPr>
      </p:sp>
      <p:pic>
        <p:nvPicPr>
          <p:cNvPr id="12" name="Image 1" descr="/home/claude/icons/clock_orange.png"/>
          <p:cNvPicPr>
            <a:picLocks noChangeAspect="1"/>
          </p:cNvPicPr>
          <p:nvPr/>
        </p:nvPicPr>
        <p:blipFill>
          <a:blip r:embed="rId2"/>
          <a:stretch>
            <a:fillRect/>
          </a:stretch>
        </p:blipFill>
        <p:spPr>
          <a:xfrm>
            <a:off x="6592824" y="2478024"/>
            <a:ext cx="356616" cy="356616"/>
          </a:xfrm>
          <a:prstGeom prst="rect">
            <a:avLst/>
          </a:prstGeom>
        </p:spPr>
      </p:pic>
      <p:sp>
        <p:nvSpPr>
          <p:cNvPr id="13" name="Text 9"/>
          <p:cNvSpPr/>
          <p:nvPr/>
        </p:nvSpPr>
        <p:spPr>
          <a:xfrm>
            <a:off x="7315200" y="2286000"/>
            <a:ext cx="402336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Slow Provisioning</a:t>
            </a:r>
            <a:endParaRPr lang="en-US" sz="1550" dirty="0"/>
          </a:p>
        </p:txBody>
      </p:sp>
      <p:sp>
        <p:nvSpPr>
          <p:cNvPr id="14" name="Text 10"/>
          <p:cNvSpPr/>
          <p:nvPr/>
        </p:nvSpPr>
        <p:spPr>
          <a:xfrm>
            <a:off x="7315200" y="2679192"/>
            <a:ext cx="4023360" cy="96012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Ordering, installing and configuring physical hardware can take weeks</a:t>
            </a:r>
            <a:endParaRPr lang="en-US" sz="1250" dirty="0"/>
          </a:p>
        </p:txBody>
      </p:sp>
      <p:sp>
        <p:nvSpPr>
          <p:cNvPr id="15" name="Shape 11"/>
          <p:cNvSpPr/>
          <p:nvPr/>
        </p:nvSpPr>
        <p:spPr>
          <a:xfrm>
            <a:off x="548640" y="4023360"/>
            <a:ext cx="5349240" cy="1737360"/>
          </a:xfrm>
          <a:prstGeom prst="roundRect">
            <a:avLst>
              <a:gd name="adj" fmla="val 4211"/>
            </a:avLst>
          </a:prstGeom>
          <a:solidFill>
            <a:srgbClr val="F5F7FA"/>
          </a:solidFill>
        </p:spPr>
      </p:sp>
      <p:sp>
        <p:nvSpPr>
          <p:cNvPr id="16" name="Shape 12"/>
          <p:cNvSpPr/>
          <p:nvPr/>
        </p:nvSpPr>
        <p:spPr>
          <a:xfrm>
            <a:off x="804672" y="4279392"/>
            <a:ext cx="685800" cy="685800"/>
          </a:xfrm>
          <a:prstGeom prst="ellipse">
            <a:avLst/>
          </a:prstGeom>
          <a:solidFill>
            <a:srgbClr val="232F3E"/>
          </a:solidFill>
        </p:spPr>
      </p:sp>
      <p:pic>
        <p:nvPicPr>
          <p:cNvPr id="17" name="Image 2" descr="/home/claude/icons/expand_orange.png"/>
          <p:cNvPicPr>
            <a:picLocks noChangeAspect="1"/>
          </p:cNvPicPr>
          <p:nvPr/>
        </p:nvPicPr>
        <p:blipFill>
          <a:blip r:embed="rId3"/>
          <a:stretch>
            <a:fillRect/>
          </a:stretch>
        </p:blipFill>
        <p:spPr>
          <a:xfrm>
            <a:off x="969264" y="4443984"/>
            <a:ext cx="356616" cy="356616"/>
          </a:xfrm>
          <a:prstGeom prst="rect">
            <a:avLst/>
          </a:prstGeom>
        </p:spPr>
      </p:pic>
      <p:sp>
        <p:nvSpPr>
          <p:cNvPr id="18" name="Text 13"/>
          <p:cNvSpPr/>
          <p:nvPr/>
        </p:nvSpPr>
        <p:spPr>
          <a:xfrm>
            <a:off x="1691640" y="4251960"/>
            <a:ext cx="402336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Poor Scalability</a:t>
            </a:r>
            <a:endParaRPr lang="en-US" sz="1550" dirty="0"/>
          </a:p>
        </p:txBody>
      </p:sp>
      <p:sp>
        <p:nvSpPr>
          <p:cNvPr id="19" name="Text 14"/>
          <p:cNvSpPr/>
          <p:nvPr/>
        </p:nvSpPr>
        <p:spPr>
          <a:xfrm>
            <a:off x="1691640" y="4645152"/>
            <a:ext cx="4023360" cy="96012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Fixed hardware cannot handle sudden spikes in user traffic or demand</a:t>
            </a:r>
            <a:endParaRPr lang="en-US" sz="1250" dirty="0"/>
          </a:p>
        </p:txBody>
      </p:sp>
      <p:sp>
        <p:nvSpPr>
          <p:cNvPr id="20" name="Shape 15"/>
          <p:cNvSpPr/>
          <p:nvPr/>
        </p:nvSpPr>
        <p:spPr>
          <a:xfrm>
            <a:off x="6172200" y="4023360"/>
            <a:ext cx="5349240" cy="1737360"/>
          </a:xfrm>
          <a:prstGeom prst="roundRect">
            <a:avLst>
              <a:gd name="adj" fmla="val 4211"/>
            </a:avLst>
          </a:prstGeom>
          <a:solidFill>
            <a:srgbClr val="F5F7FA"/>
          </a:solidFill>
        </p:spPr>
      </p:sp>
      <p:sp>
        <p:nvSpPr>
          <p:cNvPr id="21" name="Shape 16"/>
          <p:cNvSpPr/>
          <p:nvPr/>
        </p:nvSpPr>
        <p:spPr>
          <a:xfrm>
            <a:off x="6428232" y="4279392"/>
            <a:ext cx="685800" cy="685800"/>
          </a:xfrm>
          <a:prstGeom prst="ellipse">
            <a:avLst/>
          </a:prstGeom>
          <a:solidFill>
            <a:srgbClr val="232F3E"/>
          </a:solidFill>
        </p:spPr>
      </p:sp>
      <p:pic>
        <p:nvPicPr>
          <p:cNvPr id="22" name="Image 3" descr="/home/claude/icons/cogs_orange.png"/>
          <p:cNvPicPr>
            <a:picLocks noChangeAspect="1"/>
          </p:cNvPicPr>
          <p:nvPr/>
        </p:nvPicPr>
        <p:blipFill>
          <a:blip r:embed="rId4"/>
          <a:stretch>
            <a:fillRect/>
          </a:stretch>
        </p:blipFill>
        <p:spPr>
          <a:xfrm>
            <a:off x="6592824" y="4443984"/>
            <a:ext cx="356616" cy="356616"/>
          </a:xfrm>
          <a:prstGeom prst="rect">
            <a:avLst/>
          </a:prstGeom>
        </p:spPr>
      </p:pic>
      <p:sp>
        <p:nvSpPr>
          <p:cNvPr id="23" name="Text 17"/>
          <p:cNvSpPr/>
          <p:nvPr/>
        </p:nvSpPr>
        <p:spPr>
          <a:xfrm>
            <a:off x="7315200" y="4251960"/>
            <a:ext cx="402336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Heavy Maintenance</a:t>
            </a:r>
            <a:endParaRPr lang="en-US" sz="1550" dirty="0"/>
          </a:p>
        </p:txBody>
      </p:sp>
      <p:sp>
        <p:nvSpPr>
          <p:cNvPr id="24" name="Text 18"/>
          <p:cNvSpPr/>
          <p:nvPr/>
        </p:nvSpPr>
        <p:spPr>
          <a:xfrm>
            <a:off x="7315200" y="4645152"/>
            <a:ext cx="4023360" cy="96012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Organizations must manage power, cooling, security and upgrades themselves</a:t>
            </a:r>
            <a:endParaRPr lang="en-US" sz="1250" dirty="0"/>
          </a:p>
        </p:txBody>
      </p:sp>
      <p:sp>
        <p:nvSpPr>
          <p:cNvPr id="25" name="Text 19"/>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6" name="Text 20"/>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1 · INTRODUCTION</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Purpose &amp; Goals of Cloud Computing</a:t>
            </a:r>
            <a:endParaRPr lang="en-US" sz="3000" dirty="0"/>
          </a:p>
        </p:txBody>
      </p:sp>
      <p:sp>
        <p:nvSpPr>
          <p:cNvPr id="4" name="Shape 2"/>
          <p:cNvSpPr/>
          <p:nvPr/>
        </p:nvSpPr>
        <p:spPr>
          <a:xfrm>
            <a:off x="548640" y="1874520"/>
            <a:ext cx="3520440" cy="2103120"/>
          </a:xfrm>
          <a:prstGeom prst="roundRect">
            <a:avLst>
              <a:gd name="adj" fmla="val 4348"/>
            </a:avLst>
          </a:prstGeom>
          <a:solidFill>
            <a:srgbClr val="37475A"/>
          </a:solidFill>
        </p:spPr>
      </p:sp>
      <p:sp>
        <p:nvSpPr>
          <p:cNvPr id="5" name="Shape 3"/>
          <p:cNvSpPr/>
          <p:nvPr/>
        </p:nvSpPr>
        <p:spPr>
          <a:xfrm>
            <a:off x="804672" y="2130552"/>
            <a:ext cx="777240" cy="777240"/>
          </a:xfrm>
          <a:prstGeom prst="ellipse">
            <a:avLst/>
          </a:prstGeom>
          <a:solidFill>
            <a:srgbClr val="FF9900"/>
          </a:solidFill>
        </p:spPr>
      </p:sp>
      <p:pic>
        <p:nvPicPr>
          <p:cNvPr id="6" name="Image 0" descr="/home/claude/icons/bolt_navy.png"/>
          <p:cNvPicPr>
            <a:picLocks noChangeAspect="1"/>
          </p:cNvPicPr>
          <p:nvPr/>
        </p:nvPicPr>
        <p:blipFill>
          <a:blip r:embed="rId1"/>
          <a:stretch>
            <a:fillRect/>
          </a:stretch>
        </p:blipFill>
        <p:spPr>
          <a:xfrm>
            <a:off x="991210" y="2317090"/>
            <a:ext cx="404165" cy="404165"/>
          </a:xfrm>
          <a:prstGeom prst="rect">
            <a:avLst/>
          </a:prstGeom>
        </p:spPr>
      </p:pic>
      <p:sp>
        <p:nvSpPr>
          <p:cNvPr id="7" name="Text 4"/>
          <p:cNvSpPr/>
          <p:nvPr/>
        </p:nvSpPr>
        <p:spPr>
          <a:xfrm>
            <a:off x="804672" y="3017520"/>
            <a:ext cx="301752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Agility</a:t>
            </a:r>
            <a:endParaRPr lang="en-US" sz="1550" dirty="0"/>
          </a:p>
        </p:txBody>
      </p:sp>
      <p:sp>
        <p:nvSpPr>
          <p:cNvPr id="8" name="Text 5"/>
          <p:cNvSpPr/>
          <p:nvPr/>
        </p:nvSpPr>
        <p:spPr>
          <a:xfrm>
            <a:off x="804672" y="3383280"/>
            <a:ext cx="3017520" cy="548640"/>
          </a:xfrm>
          <a:prstGeom prst="rect">
            <a:avLst/>
          </a:prstGeom>
          <a:noFill/>
        </p:spPr>
        <p:txBody>
          <a:bodyPr wrap="square" lIns="0" tIns="0" rIns="0" bIns="0" rtlCol="0" anchor="ctr"/>
          <a:lstStyle/>
          <a:p>
            <a:pPr marL="0" indent="0">
              <a:lnSpc>
                <a:spcPct val="11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Launch new applications and services in minutes, not months</a:t>
            </a:r>
            <a:endParaRPr lang="en-US" sz="1150" dirty="0"/>
          </a:p>
        </p:txBody>
      </p:sp>
      <p:sp>
        <p:nvSpPr>
          <p:cNvPr id="9" name="Shape 6"/>
          <p:cNvSpPr/>
          <p:nvPr/>
        </p:nvSpPr>
        <p:spPr>
          <a:xfrm>
            <a:off x="4297680" y="1874520"/>
            <a:ext cx="3520440" cy="2103120"/>
          </a:xfrm>
          <a:prstGeom prst="roundRect">
            <a:avLst>
              <a:gd name="adj" fmla="val 4348"/>
            </a:avLst>
          </a:prstGeom>
          <a:solidFill>
            <a:srgbClr val="37475A"/>
          </a:solidFill>
        </p:spPr>
      </p:sp>
      <p:sp>
        <p:nvSpPr>
          <p:cNvPr id="10" name="Shape 7"/>
          <p:cNvSpPr/>
          <p:nvPr/>
        </p:nvSpPr>
        <p:spPr>
          <a:xfrm>
            <a:off x="4553712" y="2130552"/>
            <a:ext cx="777240" cy="777240"/>
          </a:xfrm>
          <a:prstGeom prst="ellipse">
            <a:avLst/>
          </a:prstGeom>
          <a:solidFill>
            <a:srgbClr val="FF9900"/>
          </a:solidFill>
        </p:spPr>
      </p:sp>
      <p:pic>
        <p:nvPicPr>
          <p:cNvPr id="11" name="Image 1" descr="/home/claude/icons/money_navy.png"/>
          <p:cNvPicPr>
            <a:picLocks noChangeAspect="1"/>
          </p:cNvPicPr>
          <p:nvPr/>
        </p:nvPicPr>
        <p:blipFill>
          <a:blip r:embed="rId2"/>
          <a:stretch>
            <a:fillRect/>
          </a:stretch>
        </p:blipFill>
        <p:spPr>
          <a:xfrm>
            <a:off x="4740250" y="2317090"/>
            <a:ext cx="404165" cy="404165"/>
          </a:xfrm>
          <a:prstGeom prst="rect">
            <a:avLst/>
          </a:prstGeom>
        </p:spPr>
      </p:pic>
      <p:sp>
        <p:nvSpPr>
          <p:cNvPr id="12" name="Text 8"/>
          <p:cNvSpPr/>
          <p:nvPr/>
        </p:nvSpPr>
        <p:spPr>
          <a:xfrm>
            <a:off x="4553712" y="3017520"/>
            <a:ext cx="301752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Cost Efficiency</a:t>
            </a:r>
            <a:endParaRPr lang="en-US" sz="1550" dirty="0"/>
          </a:p>
        </p:txBody>
      </p:sp>
      <p:sp>
        <p:nvSpPr>
          <p:cNvPr id="13" name="Text 9"/>
          <p:cNvSpPr/>
          <p:nvPr/>
        </p:nvSpPr>
        <p:spPr>
          <a:xfrm>
            <a:off x="4553712" y="3383280"/>
            <a:ext cx="3017520" cy="548640"/>
          </a:xfrm>
          <a:prstGeom prst="rect">
            <a:avLst/>
          </a:prstGeom>
          <a:noFill/>
        </p:spPr>
        <p:txBody>
          <a:bodyPr wrap="square" lIns="0" tIns="0" rIns="0" bIns="0" rtlCol="0" anchor="ctr"/>
          <a:lstStyle/>
          <a:p>
            <a:pPr marL="0" indent="0">
              <a:lnSpc>
                <a:spcPct val="11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Pay only for resources actually consumed — no idle hardware</a:t>
            </a:r>
            <a:endParaRPr lang="en-US" sz="1150" dirty="0"/>
          </a:p>
        </p:txBody>
      </p:sp>
      <p:sp>
        <p:nvSpPr>
          <p:cNvPr id="14" name="Shape 10"/>
          <p:cNvSpPr/>
          <p:nvPr/>
        </p:nvSpPr>
        <p:spPr>
          <a:xfrm>
            <a:off x="8046720" y="1874520"/>
            <a:ext cx="3520440" cy="2103120"/>
          </a:xfrm>
          <a:prstGeom prst="roundRect">
            <a:avLst>
              <a:gd name="adj" fmla="val 4348"/>
            </a:avLst>
          </a:prstGeom>
          <a:solidFill>
            <a:srgbClr val="37475A"/>
          </a:solidFill>
        </p:spPr>
      </p:sp>
      <p:sp>
        <p:nvSpPr>
          <p:cNvPr id="15" name="Shape 11"/>
          <p:cNvSpPr/>
          <p:nvPr/>
        </p:nvSpPr>
        <p:spPr>
          <a:xfrm>
            <a:off x="8302752" y="2130552"/>
            <a:ext cx="777240" cy="777240"/>
          </a:xfrm>
          <a:prstGeom prst="ellipse">
            <a:avLst/>
          </a:prstGeom>
          <a:solidFill>
            <a:srgbClr val="FF9900"/>
          </a:solidFill>
        </p:spPr>
      </p:sp>
      <p:pic>
        <p:nvPicPr>
          <p:cNvPr id="16" name="Image 2" descr="/home/claude/icons/expand_navy.png"/>
          <p:cNvPicPr>
            <a:picLocks noChangeAspect="1"/>
          </p:cNvPicPr>
          <p:nvPr/>
        </p:nvPicPr>
        <p:blipFill>
          <a:blip r:embed="rId3"/>
          <a:stretch>
            <a:fillRect/>
          </a:stretch>
        </p:blipFill>
        <p:spPr>
          <a:xfrm>
            <a:off x="8489290" y="2317090"/>
            <a:ext cx="404165" cy="404165"/>
          </a:xfrm>
          <a:prstGeom prst="rect">
            <a:avLst/>
          </a:prstGeom>
        </p:spPr>
      </p:pic>
      <p:sp>
        <p:nvSpPr>
          <p:cNvPr id="17" name="Text 12"/>
          <p:cNvSpPr/>
          <p:nvPr/>
        </p:nvSpPr>
        <p:spPr>
          <a:xfrm>
            <a:off x="8302752" y="3017520"/>
            <a:ext cx="301752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Elastic Scale</a:t>
            </a:r>
            <a:endParaRPr lang="en-US" sz="1550" dirty="0"/>
          </a:p>
        </p:txBody>
      </p:sp>
      <p:sp>
        <p:nvSpPr>
          <p:cNvPr id="18" name="Text 13"/>
          <p:cNvSpPr/>
          <p:nvPr/>
        </p:nvSpPr>
        <p:spPr>
          <a:xfrm>
            <a:off x="8302752" y="3383280"/>
            <a:ext cx="3017520" cy="548640"/>
          </a:xfrm>
          <a:prstGeom prst="rect">
            <a:avLst/>
          </a:prstGeom>
          <a:noFill/>
        </p:spPr>
        <p:txBody>
          <a:bodyPr wrap="square" lIns="0" tIns="0" rIns="0" bIns="0" rtlCol="0" anchor="ctr"/>
          <a:lstStyle/>
          <a:p>
            <a:pPr marL="0" indent="0">
              <a:lnSpc>
                <a:spcPct val="11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Automatically grow or shrink capacity with real-time demand</a:t>
            </a:r>
            <a:endParaRPr lang="en-US" sz="1150" dirty="0"/>
          </a:p>
        </p:txBody>
      </p:sp>
      <p:sp>
        <p:nvSpPr>
          <p:cNvPr id="19" name="Shape 14"/>
          <p:cNvSpPr/>
          <p:nvPr/>
        </p:nvSpPr>
        <p:spPr>
          <a:xfrm>
            <a:off x="548640" y="4206240"/>
            <a:ext cx="3520440" cy="2103120"/>
          </a:xfrm>
          <a:prstGeom prst="roundRect">
            <a:avLst>
              <a:gd name="adj" fmla="val 4348"/>
            </a:avLst>
          </a:prstGeom>
          <a:solidFill>
            <a:srgbClr val="37475A"/>
          </a:solidFill>
        </p:spPr>
      </p:sp>
      <p:sp>
        <p:nvSpPr>
          <p:cNvPr id="20" name="Shape 15"/>
          <p:cNvSpPr/>
          <p:nvPr/>
        </p:nvSpPr>
        <p:spPr>
          <a:xfrm>
            <a:off x="804672" y="4462272"/>
            <a:ext cx="777240" cy="777240"/>
          </a:xfrm>
          <a:prstGeom prst="ellipse">
            <a:avLst/>
          </a:prstGeom>
          <a:solidFill>
            <a:srgbClr val="FF9900"/>
          </a:solidFill>
        </p:spPr>
      </p:sp>
      <p:pic>
        <p:nvPicPr>
          <p:cNvPr id="21" name="Image 3" descr="/home/claude/icons/globe_navy.png"/>
          <p:cNvPicPr>
            <a:picLocks noChangeAspect="1"/>
          </p:cNvPicPr>
          <p:nvPr/>
        </p:nvPicPr>
        <p:blipFill>
          <a:blip r:embed="rId4"/>
          <a:stretch>
            <a:fillRect/>
          </a:stretch>
        </p:blipFill>
        <p:spPr>
          <a:xfrm>
            <a:off x="991210" y="4648810"/>
            <a:ext cx="404165" cy="404165"/>
          </a:xfrm>
          <a:prstGeom prst="rect">
            <a:avLst/>
          </a:prstGeom>
        </p:spPr>
      </p:pic>
      <p:sp>
        <p:nvSpPr>
          <p:cNvPr id="22" name="Text 16"/>
          <p:cNvSpPr/>
          <p:nvPr/>
        </p:nvSpPr>
        <p:spPr>
          <a:xfrm>
            <a:off x="804672" y="5349240"/>
            <a:ext cx="301752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Global Reach</a:t>
            </a:r>
            <a:endParaRPr lang="en-US" sz="1550" dirty="0"/>
          </a:p>
        </p:txBody>
      </p:sp>
      <p:sp>
        <p:nvSpPr>
          <p:cNvPr id="23" name="Text 17"/>
          <p:cNvSpPr/>
          <p:nvPr/>
        </p:nvSpPr>
        <p:spPr>
          <a:xfrm>
            <a:off x="804672" y="5715000"/>
            <a:ext cx="3017520" cy="548640"/>
          </a:xfrm>
          <a:prstGeom prst="rect">
            <a:avLst/>
          </a:prstGeom>
          <a:noFill/>
        </p:spPr>
        <p:txBody>
          <a:bodyPr wrap="square" lIns="0" tIns="0" rIns="0" bIns="0" rtlCol="0" anchor="ctr"/>
          <a:lstStyle/>
          <a:p>
            <a:pPr marL="0" indent="0">
              <a:lnSpc>
                <a:spcPct val="11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Deploy applications close to users anywhere in the world</a:t>
            </a:r>
            <a:endParaRPr lang="en-US" sz="1150" dirty="0"/>
          </a:p>
        </p:txBody>
      </p:sp>
      <p:sp>
        <p:nvSpPr>
          <p:cNvPr id="24" name="Shape 18"/>
          <p:cNvSpPr/>
          <p:nvPr/>
        </p:nvSpPr>
        <p:spPr>
          <a:xfrm>
            <a:off x="4297680" y="4206240"/>
            <a:ext cx="3520440" cy="2103120"/>
          </a:xfrm>
          <a:prstGeom prst="roundRect">
            <a:avLst>
              <a:gd name="adj" fmla="val 4348"/>
            </a:avLst>
          </a:prstGeom>
          <a:solidFill>
            <a:srgbClr val="37475A"/>
          </a:solidFill>
        </p:spPr>
      </p:sp>
      <p:sp>
        <p:nvSpPr>
          <p:cNvPr id="25" name="Shape 19"/>
          <p:cNvSpPr/>
          <p:nvPr/>
        </p:nvSpPr>
        <p:spPr>
          <a:xfrm>
            <a:off x="4553712" y="4462272"/>
            <a:ext cx="777240" cy="777240"/>
          </a:xfrm>
          <a:prstGeom prst="ellipse">
            <a:avLst/>
          </a:prstGeom>
          <a:solidFill>
            <a:srgbClr val="FF9900"/>
          </a:solidFill>
        </p:spPr>
      </p:sp>
      <p:pic>
        <p:nvPicPr>
          <p:cNvPr id="26" name="Image 4" descr="/home/claude/icons/shield_navy.png"/>
          <p:cNvPicPr>
            <a:picLocks noChangeAspect="1"/>
          </p:cNvPicPr>
          <p:nvPr/>
        </p:nvPicPr>
        <p:blipFill>
          <a:blip r:embed="rId5"/>
          <a:stretch>
            <a:fillRect/>
          </a:stretch>
        </p:blipFill>
        <p:spPr>
          <a:xfrm>
            <a:off x="4740250" y="4648810"/>
            <a:ext cx="404165" cy="404165"/>
          </a:xfrm>
          <a:prstGeom prst="rect">
            <a:avLst/>
          </a:prstGeom>
        </p:spPr>
      </p:pic>
      <p:sp>
        <p:nvSpPr>
          <p:cNvPr id="27" name="Text 20"/>
          <p:cNvSpPr/>
          <p:nvPr/>
        </p:nvSpPr>
        <p:spPr>
          <a:xfrm>
            <a:off x="4553712" y="5349240"/>
            <a:ext cx="301752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Resilience</a:t>
            </a:r>
            <a:endParaRPr lang="en-US" sz="1550" dirty="0"/>
          </a:p>
        </p:txBody>
      </p:sp>
      <p:sp>
        <p:nvSpPr>
          <p:cNvPr id="28" name="Text 21"/>
          <p:cNvSpPr/>
          <p:nvPr/>
        </p:nvSpPr>
        <p:spPr>
          <a:xfrm>
            <a:off x="4553712" y="5715000"/>
            <a:ext cx="3017520" cy="548640"/>
          </a:xfrm>
          <a:prstGeom prst="rect">
            <a:avLst/>
          </a:prstGeom>
          <a:noFill/>
        </p:spPr>
        <p:txBody>
          <a:bodyPr wrap="square" lIns="0" tIns="0" rIns="0" bIns="0" rtlCol="0" anchor="ctr"/>
          <a:lstStyle/>
          <a:p>
            <a:pPr marL="0" indent="0">
              <a:lnSpc>
                <a:spcPct val="11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Built-in redundancy keeps applications available and durable</a:t>
            </a:r>
            <a:endParaRPr lang="en-US" sz="1150" dirty="0"/>
          </a:p>
        </p:txBody>
      </p:sp>
      <p:sp>
        <p:nvSpPr>
          <p:cNvPr id="29" name="Shape 22"/>
          <p:cNvSpPr/>
          <p:nvPr/>
        </p:nvSpPr>
        <p:spPr>
          <a:xfrm>
            <a:off x="8046720" y="4206240"/>
            <a:ext cx="3520440" cy="2103120"/>
          </a:xfrm>
          <a:prstGeom prst="roundRect">
            <a:avLst>
              <a:gd name="adj" fmla="val 4348"/>
            </a:avLst>
          </a:prstGeom>
          <a:solidFill>
            <a:srgbClr val="37475A"/>
          </a:solidFill>
        </p:spPr>
      </p:sp>
      <p:sp>
        <p:nvSpPr>
          <p:cNvPr id="30" name="Shape 23"/>
          <p:cNvSpPr/>
          <p:nvPr/>
        </p:nvSpPr>
        <p:spPr>
          <a:xfrm>
            <a:off x="8302752" y="4462272"/>
            <a:ext cx="777240" cy="777240"/>
          </a:xfrm>
          <a:prstGeom prst="ellipse">
            <a:avLst/>
          </a:prstGeom>
          <a:solidFill>
            <a:srgbClr val="FF9900"/>
          </a:solidFill>
        </p:spPr>
      </p:sp>
      <p:pic>
        <p:nvPicPr>
          <p:cNvPr id="31" name="Image 5" descr="/home/claude/icons/users_navy.png"/>
          <p:cNvPicPr>
            <a:picLocks noChangeAspect="1"/>
          </p:cNvPicPr>
          <p:nvPr/>
        </p:nvPicPr>
        <p:blipFill>
          <a:blip r:embed="rId6"/>
          <a:stretch>
            <a:fillRect/>
          </a:stretch>
        </p:blipFill>
        <p:spPr>
          <a:xfrm>
            <a:off x="8489290" y="4648810"/>
            <a:ext cx="404165" cy="404165"/>
          </a:xfrm>
          <a:prstGeom prst="rect">
            <a:avLst/>
          </a:prstGeom>
        </p:spPr>
      </p:pic>
      <p:sp>
        <p:nvSpPr>
          <p:cNvPr id="32" name="Text 24"/>
          <p:cNvSpPr/>
          <p:nvPr/>
        </p:nvSpPr>
        <p:spPr>
          <a:xfrm>
            <a:off x="8302752" y="5349240"/>
            <a:ext cx="301752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Focus on Innovation</a:t>
            </a:r>
            <a:endParaRPr lang="en-US" sz="1550" dirty="0"/>
          </a:p>
        </p:txBody>
      </p:sp>
      <p:sp>
        <p:nvSpPr>
          <p:cNvPr id="33" name="Text 25"/>
          <p:cNvSpPr/>
          <p:nvPr/>
        </p:nvSpPr>
        <p:spPr>
          <a:xfrm>
            <a:off x="8302752" y="5715000"/>
            <a:ext cx="3017520" cy="548640"/>
          </a:xfrm>
          <a:prstGeom prst="rect">
            <a:avLst/>
          </a:prstGeom>
          <a:noFill/>
        </p:spPr>
        <p:txBody>
          <a:bodyPr wrap="square" lIns="0" tIns="0" rIns="0" bIns="0" rtlCol="0" anchor="ctr"/>
          <a:lstStyle/>
          <a:p>
            <a:pPr marL="0" indent="0">
              <a:lnSpc>
                <a:spcPct val="11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Free teams from infrastructure chores to focus on the product</a:t>
            </a:r>
            <a:endParaRPr lang="en-US" sz="1150" dirty="0"/>
          </a:p>
        </p:txBody>
      </p:sp>
      <p:sp>
        <p:nvSpPr>
          <p:cNvPr id="34" name="Text 26"/>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5" name="Text 27"/>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1 · INTRODUCTION</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History &amp; Evolution of Cloud Computing</a:t>
            </a:r>
            <a:endParaRPr lang="en-US" sz="3000" dirty="0"/>
          </a:p>
        </p:txBody>
      </p:sp>
      <p:sp>
        <p:nvSpPr>
          <p:cNvPr id="4" name="Shape 2"/>
          <p:cNvSpPr/>
          <p:nvPr/>
        </p:nvSpPr>
        <p:spPr>
          <a:xfrm>
            <a:off x="731520" y="3749040"/>
            <a:ext cx="10698480" cy="0"/>
          </a:xfrm>
          <a:prstGeom prst="line">
            <a:avLst/>
          </a:prstGeom>
          <a:noFill/>
          <a:ln w="38100">
            <a:solidFill>
              <a:srgbClr val="E3E7ED"/>
            </a:solidFill>
            <a:prstDash val="solid"/>
          </a:ln>
        </p:spPr>
      </p:sp>
      <p:sp>
        <p:nvSpPr>
          <p:cNvPr id="5" name="Shape 3"/>
          <p:cNvSpPr/>
          <p:nvPr/>
        </p:nvSpPr>
        <p:spPr>
          <a:xfrm>
            <a:off x="740664" y="3666744"/>
            <a:ext cx="164592" cy="164592"/>
          </a:xfrm>
          <a:prstGeom prst="ellipse">
            <a:avLst/>
          </a:prstGeom>
          <a:solidFill>
            <a:srgbClr val="FF9900"/>
          </a:solidFill>
          <a:ln w="19050">
            <a:solidFill>
              <a:srgbClr val="FFFFFF"/>
            </a:solidFill>
            <a:prstDash val="solid"/>
          </a:ln>
        </p:spPr>
      </p:sp>
      <p:sp>
        <p:nvSpPr>
          <p:cNvPr id="6" name="Shape 4"/>
          <p:cNvSpPr/>
          <p:nvPr/>
        </p:nvSpPr>
        <p:spPr>
          <a:xfrm>
            <a:off x="45720" y="2148840"/>
            <a:ext cx="1691640" cy="1371600"/>
          </a:xfrm>
          <a:prstGeom prst="roundRect">
            <a:avLst>
              <a:gd name="adj" fmla="val 5333"/>
            </a:avLst>
          </a:prstGeom>
          <a:solidFill>
            <a:srgbClr val="F5F7FA"/>
          </a:solidFill>
          <a:ln w="12700">
            <a:solidFill>
              <a:srgbClr val="E3E7ED"/>
            </a:solidFill>
            <a:prstDash val="solid"/>
          </a:ln>
        </p:spPr>
      </p:sp>
      <p:sp>
        <p:nvSpPr>
          <p:cNvPr id="7" name="Text 5"/>
          <p:cNvSpPr/>
          <p:nvPr/>
        </p:nvSpPr>
        <p:spPr>
          <a:xfrm>
            <a:off x="45720" y="2221992"/>
            <a:ext cx="1691640" cy="320040"/>
          </a:xfrm>
          <a:prstGeom prst="rect">
            <a:avLst/>
          </a:prstGeom>
          <a:noFill/>
        </p:spPr>
        <p:txBody>
          <a:bodyPr wrap="square" lIns="0" tIns="0" rIns="0" bIns="0" rtlCol="0" anchor="ctr"/>
          <a:lstStyle/>
          <a:p>
            <a:pPr marL="0" indent="0" algn="ctr">
              <a:buNone/>
            </a:pPr>
            <a:r>
              <a:rPr lang="en-US" sz="1500" b="1" dirty="0">
                <a:solidFill>
                  <a:srgbClr val="FF9900"/>
                </a:solidFill>
                <a:latin typeface="Cambria" panose="02040503050406030204" pitchFamily="34" charset="0"/>
                <a:ea typeface="Cambria" panose="02040503050406030204" pitchFamily="34" charset="-122"/>
                <a:cs typeface="Cambria" panose="02040503050406030204" pitchFamily="34" charset="-120"/>
              </a:rPr>
              <a:t>1960s</a:t>
            </a:r>
            <a:endParaRPr lang="en-US" sz="1500" dirty="0"/>
          </a:p>
        </p:txBody>
      </p:sp>
      <p:sp>
        <p:nvSpPr>
          <p:cNvPr id="8" name="Text 6"/>
          <p:cNvSpPr/>
          <p:nvPr/>
        </p:nvSpPr>
        <p:spPr>
          <a:xfrm>
            <a:off x="91440" y="2532888"/>
            <a:ext cx="1600200" cy="457200"/>
          </a:xfrm>
          <a:prstGeom prst="rect">
            <a:avLst/>
          </a:prstGeom>
          <a:noFill/>
        </p:spPr>
        <p:txBody>
          <a:bodyPr wrap="square" lIns="0" tIns="0" rIns="0" bIns="0" rtlCol="0" anchor="ctr"/>
          <a:lstStyle/>
          <a:p>
            <a:pPr marL="0" indent="0" algn="ctr">
              <a:buNone/>
            </a:pPr>
            <a:r>
              <a:rPr lang="en-US" sz="1050" b="1" dirty="0">
                <a:solidFill>
                  <a:srgbClr val="232F3E"/>
                </a:solidFill>
                <a:latin typeface="Calibri" panose="020F0502020204030204" pitchFamily="34" charset="0"/>
                <a:ea typeface="Calibri" panose="020F0502020204030204" pitchFamily="34" charset="-122"/>
                <a:cs typeface="Calibri" panose="020F0502020204030204" pitchFamily="34" charset="-120"/>
              </a:rPr>
              <a:t>Time-Sharing Era</a:t>
            </a:r>
            <a:endParaRPr lang="en-US" sz="1050" dirty="0"/>
          </a:p>
        </p:txBody>
      </p:sp>
      <p:sp>
        <p:nvSpPr>
          <p:cNvPr id="9" name="Text 7"/>
          <p:cNvSpPr/>
          <p:nvPr/>
        </p:nvSpPr>
        <p:spPr>
          <a:xfrm>
            <a:off x="91440" y="2953512"/>
            <a:ext cx="1600200" cy="530352"/>
          </a:xfrm>
          <a:prstGeom prst="rect">
            <a:avLst/>
          </a:prstGeom>
          <a:noFill/>
        </p:spPr>
        <p:txBody>
          <a:bodyPr wrap="square" lIns="0" tIns="0" rIns="0" bIns="0" rtlCol="0" anchor="ctr"/>
          <a:lstStyle/>
          <a:p>
            <a:pPr marL="0" indent="0" algn="ctr">
              <a:lnSpc>
                <a:spcPct val="105000"/>
              </a:lnSpc>
              <a:buNone/>
            </a:pPr>
            <a:r>
              <a:rPr lang="en-US" sz="850" dirty="0">
                <a:solidFill>
                  <a:srgbClr val="5F6B7A"/>
                </a:solidFill>
                <a:latin typeface="Calibri" panose="020F0502020204030204" pitchFamily="34" charset="0"/>
                <a:ea typeface="Calibri" panose="020F0502020204030204" pitchFamily="34" charset="-122"/>
                <a:cs typeface="Calibri" panose="020F0502020204030204" pitchFamily="34" charset="-120"/>
              </a:rPr>
              <a:t>Mainframes let multiple users share one computer's resources</a:t>
            </a:r>
            <a:endParaRPr lang="en-US" sz="850" dirty="0"/>
          </a:p>
        </p:txBody>
      </p:sp>
      <p:sp>
        <p:nvSpPr>
          <p:cNvPr id="10" name="Shape 8"/>
          <p:cNvSpPr/>
          <p:nvPr/>
        </p:nvSpPr>
        <p:spPr>
          <a:xfrm>
            <a:off x="2551176" y="3666744"/>
            <a:ext cx="164592" cy="164592"/>
          </a:xfrm>
          <a:prstGeom prst="ellipse">
            <a:avLst/>
          </a:prstGeom>
          <a:solidFill>
            <a:srgbClr val="FF9900"/>
          </a:solidFill>
          <a:ln w="19050">
            <a:solidFill>
              <a:srgbClr val="FFFFFF"/>
            </a:solidFill>
            <a:prstDash val="solid"/>
          </a:ln>
        </p:spPr>
      </p:sp>
      <p:sp>
        <p:nvSpPr>
          <p:cNvPr id="11" name="Shape 9"/>
          <p:cNvSpPr/>
          <p:nvPr/>
        </p:nvSpPr>
        <p:spPr>
          <a:xfrm>
            <a:off x="1856232" y="4023360"/>
            <a:ext cx="1691640" cy="1371600"/>
          </a:xfrm>
          <a:prstGeom prst="roundRect">
            <a:avLst>
              <a:gd name="adj" fmla="val 5333"/>
            </a:avLst>
          </a:prstGeom>
          <a:solidFill>
            <a:srgbClr val="F5F7FA"/>
          </a:solidFill>
          <a:ln w="12700">
            <a:solidFill>
              <a:srgbClr val="E3E7ED"/>
            </a:solidFill>
            <a:prstDash val="solid"/>
          </a:ln>
        </p:spPr>
      </p:sp>
      <p:sp>
        <p:nvSpPr>
          <p:cNvPr id="12" name="Text 10"/>
          <p:cNvSpPr/>
          <p:nvPr/>
        </p:nvSpPr>
        <p:spPr>
          <a:xfrm>
            <a:off x="1856232" y="4096512"/>
            <a:ext cx="1691640" cy="320040"/>
          </a:xfrm>
          <a:prstGeom prst="rect">
            <a:avLst/>
          </a:prstGeom>
          <a:noFill/>
        </p:spPr>
        <p:txBody>
          <a:bodyPr wrap="square" lIns="0" tIns="0" rIns="0" bIns="0" rtlCol="0" anchor="ctr"/>
          <a:lstStyle/>
          <a:p>
            <a:pPr marL="0" indent="0" algn="ctr">
              <a:buNone/>
            </a:pPr>
            <a:r>
              <a:rPr lang="en-US" sz="1500" b="1" dirty="0">
                <a:solidFill>
                  <a:srgbClr val="FF9900"/>
                </a:solidFill>
                <a:latin typeface="Cambria" panose="02040503050406030204" pitchFamily="34" charset="0"/>
                <a:ea typeface="Cambria" panose="02040503050406030204" pitchFamily="34" charset="-122"/>
                <a:cs typeface="Cambria" panose="02040503050406030204" pitchFamily="34" charset="-120"/>
              </a:rPr>
              <a:t>1999</a:t>
            </a:r>
            <a:endParaRPr lang="en-US" sz="1500" dirty="0"/>
          </a:p>
        </p:txBody>
      </p:sp>
      <p:sp>
        <p:nvSpPr>
          <p:cNvPr id="13" name="Text 11"/>
          <p:cNvSpPr/>
          <p:nvPr/>
        </p:nvSpPr>
        <p:spPr>
          <a:xfrm>
            <a:off x="1901952" y="4407408"/>
            <a:ext cx="1600200" cy="457200"/>
          </a:xfrm>
          <a:prstGeom prst="rect">
            <a:avLst/>
          </a:prstGeom>
          <a:noFill/>
        </p:spPr>
        <p:txBody>
          <a:bodyPr wrap="square" lIns="0" tIns="0" rIns="0" bIns="0" rtlCol="0" anchor="ctr"/>
          <a:lstStyle/>
          <a:p>
            <a:pPr marL="0" indent="0" algn="ctr">
              <a:buNone/>
            </a:pPr>
            <a:r>
              <a:rPr lang="en-US" sz="1050" b="1" dirty="0">
                <a:solidFill>
                  <a:srgbClr val="232F3E"/>
                </a:solidFill>
                <a:latin typeface="Calibri" panose="020F0502020204030204" pitchFamily="34" charset="0"/>
                <a:ea typeface="Calibri" panose="020F0502020204030204" pitchFamily="34" charset="-122"/>
                <a:cs typeface="Calibri" panose="020F0502020204030204" pitchFamily="34" charset="-120"/>
              </a:rPr>
              <a:t>SaaS Emerges</a:t>
            </a:r>
            <a:endParaRPr lang="en-US" sz="1050" dirty="0"/>
          </a:p>
        </p:txBody>
      </p:sp>
      <p:sp>
        <p:nvSpPr>
          <p:cNvPr id="14" name="Text 12"/>
          <p:cNvSpPr/>
          <p:nvPr/>
        </p:nvSpPr>
        <p:spPr>
          <a:xfrm>
            <a:off x="1901952" y="4828032"/>
            <a:ext cx="1600200" cy="530352"/>
          </a:xfrm>
          <a:prstGeom prst="rect">
            <a:avLst/>
          </a:prstGeom>
          <a:noFill/>
        </p:spPr>
        <p:txBody>
          <a:bodyPr wrap="square" lIns="0" tIns="0" rIns="0" bIns="0" rtlCol="0" anchor="ctr"/>
          <a:lstStyle/>
          <a:p>
            <a:pPr marL="0" indent="0" algn="ctr">
              <a:lnSpc>
                <a:spcPct val="105000"/>
              </a:lnSpc>
              <a:buNone/>
            </a:pPr>
            <a:r>
              <a:rPr lang="en-US" sz="850" dirty="0">
                <a:solidFill>
                  <a:srgbClr val="5F6B7A"/>
                </a:solidFill>
                <a:latin typeface="Calibri" panose="020F0502020204030204" pitchFamily="34" charset="0"/>
                <a:ea typeface="Calibri" panose="020F0502020204030204" pitchFamily="34" charset="-122"/>
                <a:cs typeface="Calibri" panose="020F0502020204030204" pitchFamily="34" charset="-120"/>
              </a:rPr>
              <a:t>Salesforce delivers business software over the web</a:t>
            </a:r>
            <a:endParaRPr lang="en-US" sz="850" dirty="0"/>
          </a:p>
        </p:txBody>
      </p:sp>
      <p:sp>
        <p:nvSpPr>
          <p:cNvPr id="15" name="Shape 13"/>
          <p:cNvSpPr/>
          <p:nvPr/>
        </p:nvSpPr>
        <p:spPr>
          <a:xfrm>
            <a:off x="4361688" y="3666744"/>
            <a:ext cx="164592" cy="164592"/>
          </a:xfrm>
          <a:prstGeom prst="ellipse">
            <a:avLst/>
          </a:prstGeom>
          <a:solidFill>
            <a:srgbClr val="FF9900"/>
          </a:solidFill>
          <a:ln w="19050">
            <a:solidFill>
              <a:srgbClr val="FFFFFF"/>
            </a:solidFill>
            <a:prstDash val="solid"/>
          </a:ln>
        </p:spPr>
      </p:sp>
      <p:sp>
        <p:nvSpPr>
          <p:cNvPr id="16" name="Shape 14"/>
          <p:cNvSpPr/>
          <p:nvPr/>
        </p:nvSpPr>
        <p:spPr>
          <a:xfrm>
            <a:off x="3666744" y="2148840"/>
            <a:ext cx="1691640" cy="1371600"/>
          </a:xfrm>
          <a:prstGeom prst="roundRect">
            <a:avLst>
              <a:gd name="adj" fmla="val 5333"/>
            </a:avLst>
          </a:prstGeom>
          <a:solidFill>
            <a:srgbClr val="F5F7FA"/>
          </a:solidFill>
          <a:ln w="12700">
            <a:solidFill>
              <a:srgbClr val="E3E7ED"/>
            </a:solidFill>
            <a:prstDash val="solid"/>
          </a:ln>
        </p:spPr>
      </p:sp>
      <p:sp>
        <p:nvSpPr>
          <p:cNvPr id="17" name="Text 15"/>
          <p:cNvSpPr/>
          <p:nvPr/>
        </p:nvSpPr>
        <p:spPr>
          <a:xfrm>
            <a:off x="3666744" y="2221992"/>
            <a:ext cx="1691640" cy="320040"/>
          </a:xfrm>
          <a:prstGeom prst="rect">
            <a:avLst/>
          </a:prstGeom>
          <a:noFill/>
        </p:spPr>
        <p:txBody>
          <a:bodyPr wrap="square" lIns="0" tIns="0" rIns="0" bIns="0" rtlCol="0" anchor="ctr"/>
          <a:lstStyle/>
          <a:p>
            <a:pPr marL="0" indent="0" algn="ctr">
              <a:buNone/>
            </a:pPr>
            <a:r>
              <a:rPr lang="en-US" sz="1500" b="1" dirty="0">
                <a:solidFill>
                  <a:srgbClr val="FF9900"/>
                </a:solidFill>
                <a:latin typeface="Cambria" panose="02040503050406030204" pitchFamily="34" charset="0"/>
                <a:ea typeface="Cambria" panose="02040503050406030204" pitchFamily="34" charset="-122"/>
                <a:cs typeface="Cambria" panose="02040503050406030204" pitchFamily="34" charset="-120"/>
              </a:rPr>
              <a:t>2006</a:t>
            </a:r>
            <a:endParaRPr lang="en-US" sz="1500" dirty="0"/>
          </a:p>
        </p:txBody>
      </p:sp>
      <p:sp>
        <p:nvSpPr>
          <p:cNvPr id="18" name="Text 16"/>
          <p:cNvSpPr/>
          <p:nvPr/>
        </p:nvSpPr>
        <p:spPr>
          <a:xfrm>
            <a:off x="3712464" y="2532888"/>
            <a:ext cx="1600200" cy="457200"/>
          </a:xfrm>
          <a:prstGeom prst="rect">
            <a:avLst/>
          </a:prstGeom>
          <a:noFill/>
        </p:spPr>
        <p:txBody>
          <a:bodyPr wrap="square" lIns="0" tIns="0" rIns="0" bIns="0" rtlCol="0" anchor="ctr"/>
          <a:lstStyle/>
          <a:p>
            <a:pPr marL="0" indent="0" algn="ctr">
              <a:buNone/>
            </a:pPr>
            <a:r>
              <a:rPr lang="en-US" sz="1050" b="1" dirty="0">
                <a:solidFill>
                  <a:srgbClr val="232F3E"/>
                </a:solidFill>
                <a:latin typeface="Calibri" panose="020F0502020204030204" pitchFamily="34" charset="0"/>
                <a:ea typeface="Calibri" panose="020F0502020204030204" pitchFamily="34" charset="-122"/>
                <a:cs typeface="Calibri" panose="020F0502020204030204" pitchFamily="34" charset="-120"/>
              </a:rPr>
              <a:t>AWS is Born</a:t>
            </a:r>
            <a:endParaRPr lang="en-US" sz="1050" dirty="0"/>
          </a:p>
        </p:txBody>
      </p:sp>
      <p:sp>
        <p:nvSpPr>
          <p:cNvPr id="19" name="Text 17"/>
          <p:cNvSpPr/>
          <p:nvPr/>
        </p:nvSpPr>
        <p:spPr>
          <a:xfrm>
            <a:off x="3712464" y="2953512"/>
            <a:ext cx="1600200" cy="530352"/>
          </a:xfrm>
          <a:prstGeom prst="rect">
            <a:avLst/>
          </a:prstGeom>
          <a:noFill/>
        </p:spPr>
        <p:txBody>
          <a:bodyPr wrap="square" lIns="0" tIns="0" rIns="0" bIns="0" rtlCol="0" anchor="ctr"/>
          <a:lstStyle/>
          <a:p>
            <a:pPr marL="0" indent="0" algn="ctr">
              <a:lnSpc>
                <a:spcPct val="105000"/>
              </a:lnSpc>
              <a:buNone/>
            </a:pPr>
            <a:r>
              <a:rPr lang="en-US" sz="850" dirty="0">
                <a:solidFill>
                  <a:srgbClr val="5F6B7A"/>
                </a:solidFill>
                <a:latin typeface="Calibri" panose="020F0502020204030204" pitchFamily="34" charset="0"/>
                <a:ea typeface="Calibri" panose="020F0502020204030204" pitchFamily="34" charset="-122"/>
                <a:cs typeface="Calibri" panose="020F0502020204030204" pitchFamily="34" charset="-120"/>
              </a:rPr>
              <a:t>Amazon launches S3 and EC2, starting modern cloud computing</a:t>
            </a:r>
            <a:endParaRPr lang="en-US" sz="850" dirty="0"/>
          </a:p>
        </p:txBody>
      </p:sp>
      <p:sp>
        <p:nvSpPr>
          <p:cNvPr id="20" name="Shape 18"/>
          <p:cNvSpPr/>
          <p:nvPr/>
        </p:nvSpPr>
        <p:spPr>
          <a:xfrm>
            <a:off x="6172200" y="3666744"/>
            <a:ext cx="164592" cy="164592"/>
          </a:xfrm>
          <a:prstGeom prst="ellipse">
            <a:avLst/>
          </a:prstGeom>
          <a:solidFill>
            <a:srgbClr val="FF9900"/>
          </a:solidFill>
          <a:ln w="19050">
            <a:solidFill>
              <a:srgbClr val="FFFFFF"/>
            </a:solidFill>
            <a:prstDash val="solid"/>
          </a:ln>
        </p:spPr>
      </p:sp>
      <p:sp>
        <p:nvSpPr>
          <p:cNvPr id="21" name="Shape 19"/>
          <p:cNvSpPr/>
          <p:nvPr/>
        </p:nvSpPr>
        <p:spPr>
          <a:xfrm>
            <a:off x="5477256" y="4023360"/>
            <a:ext cx="1691640" cy="1371600"/>
          </a:xfrm>
          <a:prstGeom prst="roundRect">
            <a:avLst>
              <a:gd name="adj" fmla="val 5333"/>
            </a:avLst>
          </a:prstGeom>
          <a:solidFill>
            <a:srgbClr val="F5F7FA"/>
          </a:solidFill>
          <a:ln w="12700">
            <a:solidFill>
              <a:srgbClr val="E3E7ED"/>
            </a:solidFill>
            <a:prstDash val="solid"/>
          </a:ln>
        </p:spPr>
      </p:sp>
      <p:sp>
        <p:nvSpPr>
          <p:cNvPr id="22" name="Text 20"/>
          <p:cNvSpPr/>
          <p:nvPr/>
        </p:nvSpPr>
        <p:spPr>
          <a:xfrm>
            <a:off x="5477256" y="4096512"/>
            <a:ext cx="1691640" cy="320040"/>
          </a:xfrm>
          <a:prstGeom prst="rect">
            <a:avLst/>
          </a:prstGeom>
          <a:noFill/>
        </p:spPr>
        <p:txBody>
          <a:bodyPr wrap="square" lIns="0" tIns="0" rIns="0" bIns="0" rtlCol="0" anchor="ctr"/>
          <a:lstStyle/>
          <a:p>
            <a:pPr marL="0" indent="0" algn="ctr">
              <a:buNone/>
            </a:pPr>
            <a:r>
              <a:rPr lang="en-US" sz="1500" b="1" dirty="0">
                <a:solidFill>
                  <a:srgbClr val="FF9900"/>
                </a:solidFill>
                <a:latin typeface="Cambria" panose="02040503050406030204" pitchFamily="34" charset="0"/>
                <a:ea typeface="Cambria" panose="02040503050406030204" pitchFamily="34" charset="-122"/>
                <a:cs typeface="Cambria" panose="02040503050406030204" pitchFamily="34" charset="-120"/>
              </a:rPr>
              <a:t>2010</a:t>
            </a:r>
            <a:endParaRPr lang="en-US" sz="1500" dirty="0"/>
          </a:p>
        </p:txBody>
      </p:sp>
      <p:sp>
        <p:nvSpPr>
          <p:cNvPr id="23" name="Text 21"/>
          <p:cNvSpPr/>
          <p:nvPr/>
        </p:nvSpPr>
        <p:spPr>
          <a:xfrm>
            <a:off x="5522976" y="4407408"/>
            <a:ext cx="1600200" cy="457200"/>
          </a:xfrm>
          <a:prstGeom prst="rect">
            <a:avLst/>
          </a:prstGeom>
          <a:noFill/>
        </p:spPr>
        <p:txBody>
          <a:bodyPr wrap="square" lIns="0" tIns="0" rIns="0" bIns="0" rtlCol="0" anchor="ctr"/>
          <a:lstStyle/>
          <a:p>
            <a:pPr marL="0" indent="0" algn="ctr">
              <a:buNone/>
            </a:pPr>
            <a:r>
              <a:rPr lang="en-US" sz="1050" b="1" dirty="0">
                <a:solidFill>
                  <a:srgbClr val="232F3E"/>
                </a:solidFill>
                <a:latin typeface="Calibri" panose="020F0502020204030204" pitchFamily="34" charset="0"/>
                <a:ea typeface="Calibri" panose="020F0502020204030204" pitchFamily="34" charset="-122"/>
                <a:cs typeface="Calibri" panose="020F0502020204030204" pitchFamily="34" charset="-120"/>
              </a:rPr>
              <a:t>Azure &amp; Enterprise Cloud</a:t>
            </a:r>
            <a:endParaRPr lang="en-US" sz="1050" dirty="0"/>
          </a:p>
        </p:txBody>
      </p:sp>
      <p:sp>
        <p:nvSpPr>
          <p:cNvPr id="24" name="Text 22"/>
          <p:cNvSpPr/>
          <p:nvPr/>
        </p:nvSpPr>
        <p:spPr>
          <a:xfrm>
            <a:off x="5522976" y="4828032"/>
            <a:ext cx="1600200" cy="530352"/>
          </a:xfrm>
          <a:prstGeom prst="rect">
            <a:avLst/>
          </a:prstGeom>
          <a:noFill/>
        </p:spPr>
        <p:txBody>
          <a:bodyPr wrap="square" lIns="0" tIns="0" rIns="0" bIns="0" rtlCol="0" anchor="ctr"/>
          <a:lstStyle/>
          <a:p>
            <a:pPr marL="0" indent="0" algn="ctr">
              <a:lnSpc>
                <a:spcPct val="105000"/>
              </a:lnSpc>
              <a:buNone/>
            </a:pPr>
            <a:r>
              <a:rPr lang="en-US" sz="850" dirty="0">
                <a:solidFill>
                  <a:srgbClr val="5F6B7A"/>
                </a:solidFill>
                <a:latin typeface="Calibri" panose="020F0502020204030204" pitchFamily="34" charset="0"/>
                <a:ea typeface="Calibri" panose="020F0502020204030204" pitchFamily="34" charset="-122"/>
                <a:cs typeface="Calibri" panose="020F0502020204030204" pitchFamily="34" charset="-120"/>
              </a:rPr>
              <a:t>Microsoft Azure launches; enterprises begin migrating</a:t>
            </a:r>
            <a:endParaRPr lang="en-US" sz="850" dirty="0"/>
          </a:p>
        </p:txBody>
      </p:sp>
      <p:sp>
        <p:nvSpPr>
          <p:cNvPr id="25" name="Shape 23"/>
          <p:cNvSpPr/>
          <p:nvPr/>
        </p:nvSpPr>
        <p:spPr>
          <a:xfrm>
            <a:off x="7982712" y="3666744"/>
            <a:ext cx="164592" cy="164592"/>
          </a:xfrm>
          <a:prstGeom prst="ellipse">
            <a:avLst/>
          </a:prstGeom>
          <a:solidFill>
            <a:srgbClr val="FF9900"/>
          </a:solidFill>
          <a:ln w="19050">
            <a:solidFill>
              <a:srgbClr val="FFFFFF"/>
            </a:solidFill>
            <a:prstDash val="solid"/>
          </a:ln>
        </p:spPr>
      </p:sp>
      <p:sp>
        <p:nvSpPr>
          <p:cNvPr id="26" name="Shape 24"/>
          <p:cNvSpPr/>
          <p:nvPr/>
        </p:nvSpPr>
        <p:spPr>
          <a:xfrm>
            <a:off x="7287768" y="2148840"/>
            <a:ext cx="1691640" cy="1371600"/>
          </a:xfrm>
          <a:prstGeom prst="roundRect">
            <a:avLst>
              <a:gd name="adj" fmla="val 5333"/>
            </a:avLst>
          </a:prstGeom>
          <a:solidFill>
            <a:srgbClr val="F5F7FA"/>
          </a:solidFill>
          <a:ln w="12700">
            <a:solidFill>
              <a:srgbClr val="E3E7ED"/>
            </a:solidFill>
            <a:prstDash val="solid"/>
          </a:ln>
        </p:spPr>
      </p:sp>
      <p:sp>
        <p:nvSpPr>
          <p:cNvPr id="27" name="Text 25"/>
          <p:cNvSpPr/>
          <p:nvPr/>
        </p:nvSpPr>
        <p:spPr>
          <a:xfrm>
            <a:off x="7287768" y="2221992"/>
            <a:ext cx="1691640" cy="320040"/>
          </a:xfrm>
          <a:prstGeom prst="rect">
            <a:avLst/>
          </a:prstGeom>
          <a:noFill/>
        </p:spPr>
        <p:txBody>
          <a:bodyPr wrap="square" lIns="0" tIns="0" rIns="0" bIns="0" rtlCol="0" anchor="ctr"/>
          <a:lstStyle/>
          <a:p>
            <a:pPr marL="0" indent="0" algn="ctr">
              <a:buNone/>
            </a:pPr>
            <a:r>
              <a:rPr lang="en-US" sz="1500" b="1" dirty="0">
                <a:solidFill>
                  <a:srgbClr val="FF9900"/>
                </a:solidFill>
                <a:latin typeface="Cambria" panose="02040503050406030204" pitchFamily="34" charset="0"/>
                <a:ea typeface="Cambria" panose="02040503050406030204" pitchFamily="34" charset="-122"/>
                <a:cs typeface="Cambria" panose="02040503050406030204" pitchFamily="34" charset="-120"/>
              </a:rPr>
              <a:t>2013+</a:t>
            </a:r>
            <a:endParaRPr lang="en-US" sz="1500" dirty="0"/>
          </a:p>
        </p:txBody>
      </p:sp>
      <p:sp>
        <p:nvSpPr>
          <p:cNvPr id="28" name="Text 26"/>
          <p:cNvSpPr/>
          <p:nvPr/>
        </p:nvSpPr>
        <p:spPr>
          <a:xfrm>
            <a:off x="7333488" y="2532888"/>
            <a:ext cx="1600200" cy="457200"/>
          </a:xfrm>
          <a:prstGeom prst="rect">
            <a:avLst/>
          </a:prstGeom>
          <a:noFill/>
        </p:spPr>
        <p:txBody>
          <a:bodyPr wrap="square" lIns="0" tIns="0" rIns="0" bIns="0" rtlCol="0" anchor="ctr"/>
          <a:lstStyle/>
          <a:p>
            <a:pPr marL="0" indent="0" algn="ctr">
              <a:buNone/>
            </a:pPr>
            <a:r>
              <a:rPr lang="en-US" sz="1050" b="1" dirty="0">
                <a:solidFill>
                  <a:srgbClr val="232F3E"/>
                </a:solidFill>
                <a:latin typeface="Calibri" panose="020F0502020204030204" pitchFamily="34" charset="0"/>
                <a:ea typeface="Calibri" panose="020F0502020204030204" pitchFamily="34" charset="-122"/>
                <a:cs typeface="Calibri" panose="020F0502020204030204" pitchFamily="34" charset="-120"/>
              </a:rPr>
              <a:t>Containers &amp; Serverless</a:t>
            </a:r>
            <a:endParaRPr lang="en-US" sz="1050" dirty="0"/>
          </a:p>
        </p:txBody>
      </p:sp>
      <p:sp>
        <p:nvSpPr>
          <p:cNvPr id="29" name="Text 27"/>
          <p:cNvSpPr/>
          <p:nvPr/>
        </p:nvSpPr>
        <p:spPr>
          <a:xfrm>
            <a:off x="7333488" y="2953512"/>
            <a:ext cx="1600200" cy="530352"/>
          </a:xfrm>
          <a:prstGeom prst="rect">
            <a:avLst/>
          </a:prstGeom>
          <a:noFill/>
        </p:spPr>
        <p:txBody>
          <a:bodyPr wrap="square" lIns="0" tIns="0" rIns="0" bIns="0" rtlCol="0" anchor="ctr"/>
          <a:lstStyle/>
          <a:p>
            <a:pPr marL="0" indent="0" algn="ctr">
              <a:lnSpc>
                <a:spcPct val="105000"/>
              </a:lnSpc>
              <a:buNone/>
            </a:pPr>
            <a:r>
              <a:rPr lang="en-US" sz="850" dirty="0">
                <a:solidFill>
                  <a:srgbClr val="5F6B7A"/>
                </a:solidFill>
                <a:latin typeface="Calibri" panose="020F0502020204030204" pitchFamily="34" charset="0"/>
                <a:ea typeface="Calibri" panose="020F0502020204030204" pitchFamily="34" charset="-122"/>
                <a:cs typeface="Calibri" panose="020F0502020204030204" pitchFamily="34" charset="-120"/>
              </a:rPr>
              <a:t>Docker, Kubernetes and AWS Lambda change how apps are built</a:t>
            </a:r>
            <a:endParaRPr lang="en-US" sz="850" dirty="0"/>
          </a:p>
        </p:txBody>
      </p:sp>
      <p:sp>
        <p:nvSpPr>
          <p:cNvPr id="30" name="Shape 28"/>
          <p:cNvSpPr/>
          <p:nvPr/>
        </p:nvSpPr>
        <p:spPr>
          <a:xfrm>
            <a:off x="9793224" y="3666744"/>
            <a:ext cx="164592" cy="164592"/>
          </a:xfrm>
          <a:prstGeom prst="ellipse">
            <a:avLst/>
          </a:prstGeom>
          <a:solidFill>
            <a:srgbClr val="FF9900"/>
          </a:solidFill>
          <a:ln w="19050">
            <a:solidFill>
              <a:srgbClr val="FFFFFF"/>
            </a:solidFill>
            <a:prstDash val="solid"/>
          </a:ln>
        </p:spPr>
      </p:sp>
      <p:sp>
        <p:nvSpPr>
          <p:cNvPr id="31" name="Shape 29"/>
          <p:cNvSpPr/>
          <p:nvPr/>
        </p:nvSpPr>
        <p:spPr>
          <a:xfrm>
            <a:off x="9098280" y="4023360"/>
            <a:ext cx="1691640" cy="1371600"/>
          </a:xfrm>
          <a:prstGeom prst="roundRect">
            <a:avLst>
              <a:gd name="adj" fmla="val 5333"/>
            </a:avLst>
          </a:prstGeom>
          <a:solidFill>
            <a:srgbClr val="F5F7FA"/>
          </a:solidFill>
          <a:ln w="12700">
            <a:solidFill>
              <a:srgbClr val="E3E7ED"/>
            </a:solidFill>
            <a:prstDash val="solid"/>
          </a:ln>
        </p:spPr>
      </p:sp>
      <p:sp>
        <p:nvSpPr>
          <p:cNvPr id="32" name="Text 30"/>
          <p:cNvSpPr/>
          <p:nvPr/>
        </p:nvSpPr>
        <p:spPr>
          <a:xfrm>
            <a:off x="9098280" y="4096512"/>
            <a:ext cx="1691640" cy="320040"/>
          </a:xfrm>
          <a:prstGeom prst="rect">
            <a:avLst/>
          </a:prstGeom>
          <a:noFill/>
        </p:spPr>
        <p:txBody>
          <a:bodyPr wrap="square" lIns="0" tIns="0" rIns="0" bIns="0" rtlCol="0" anchor="ctr"/>
          <a:lstStyle/>
          <a:p>
            <a:pPr marL="0" indent="0" algn="ctr">
              <a:buNone/>
            </a:pPr>
            <a:r>
              <a:rPr lang="en-US" sz="1500" b="1" dirty="0">
                <a:solidFill>
                  <a:srgbClr val="FF9900"/>
                </a:solidFill>
                <a:latin typeface="Cambria" panose="02040503050406030204" pitchFamily="34" charset="0"/>
                <a:ea typeface="Cambria" panose="02040503050406030204" pitchFamily="34" charset="-122"/>
                <a:cs typeface="Cambria" panose="02040503050406030204" pitchFamily="34" charset="-120"/>
              </a:rPr>
              <a:t>Today</a:t>
            </a:r>
            <a:endParaRPr lang="en-US" sz="1500" dirty="0"/>
          </a:p>
        </p:txBody>
      </p:sp>
      <p:sp>
        <p:nvSpPr>
          <p:cNvPr id="33" name="Text 31"/>
          <p:cNvSpPr/>
          <p:nvPr/>
        </p:nvSpPr>
        <p:spPr>
          <a:xfrm>
            <a:off x="9144000" y="4407408"/>
            <a:ext cx="1600200" cy="457200"/>
          </a:xfrm>
          <a:prstGeom prst="rect">
            <a:avLst/>
          </a:prstGeom>
          <a:noFill/>
        </p:spPr>
        <p:txBody>
          <a:bodyPr wrap="square" lIns="0" tIns="0" rIns="0" bIns="0" rtlCol="0" anchor="ctr"/>
          <a:lstStyle/>
          <a:p>
            <a:pPr marL="0" indent="0" algn="ctr">
              <a:buNone/>
            </a:pPr>
            <a:r>
              <a:rPr lang="en-US" sz="1050" b="1" dirty="0">
                <a:solidFill>
                  <a:srgbClr val="232F3E"/>
                </a:solidFill>
                <a:latin typeface="Calibri" panose="020F0502020204030204" pitchFamily="34" charset="0"/>
                <a:ea typeface="Calibri" panose="020F0502020204030204" pitchFamily="34" charset="-122"/>
                <a:cs typeface="Calibri" panose="020F0502020204030204" pitchFamily="34" charset="-120"/>
              </a:rPr>
              <a:t>Multi-Cloud &amp; AI</a:t>
            </a:r>
            <a:endParaRPr lang="en-US" sz="1050" dirty="0"/>
          </a:p>
        </p:txBody>
      </p:sp>
      <p:sp>
        <p:nvSpPr>
          <p:cNvPr id="34" name="Text 32"/>
          <p:cNvSpPr/>
          <p:nvPr/>
        </p:nvSpPr>
        <p:spPr>
          <a:xfrm>
            <a:off x="9144000" y="4828032"/>
            <a:ext cx="1600200" cy="530352"/>
          </a:xfrm>
          <a:prstGeom prst="rect">
            <a:avLst/>
          </a:prstGeom>
          <a:noFill/>
        </p:spPr>
        <p:txBody>
          <a:bodyPr wrap="square" lIns="0" tIns="0" rIns="0" bIns="0" rtlCol="0" anchor="ctr"/>
          <a:lstStyle/>
          <a:p>
            <a:pPr marL="0" indent="0" algn="ctr">
              <a:lnSpc>
                <a:spcPct val="105000"/>
              </a:lnSpc>
              <a:buNone/>
            </a:pPr>
            <a:r>
              <a:rPr lang="en-US" sz="85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powers AI, big data, and billions of connected devices</a:t>
            </a:r>
            <a:endParaRPr lang="en-US" sz="850" dirty="0"/>
          </a:p>
        </p:txBody>
      </p:sp>
      <p:sp>
        <p:nvSpPr>
          <p:cNvPr id="35" name="Text 33"/>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6" name="Text 34"/>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1 · INTRODUCTION</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Before Cloud vs. After Cloud</a:t>
            </a:r>
            <a:endParaRPr lang="en-US" sz="3000" dirty="0"/>
          </a:p>
        </p:txBody>
      </p:sp>
      <p:sp>
        <p:nvSpPr>
          <p:cNvPr id="4" name="Shape 2"/>
          <p:cNvSpPr/>
          <p:nvPr/>
        </p:nvSpPr>
        <p:spPr>
          <a:xfrm>
            <a:off x="548640" y="1645920"/>
            <a:ext cx="3794760" cy="685800"/>
          </a:xfrm>
          <a:prstGeom prst="roundRect">
            <a:avLst>
              <a:gd name="adj" fmla="val 8000"/>
            </a:avLst>
          </a:prstGeom>
          <a:solidFill>
            <a:srgbClr val="232F3E"/>
          </a:solidFill>
        </p:spPr>
      </p:sp>
      <p:sp>
        <p:nvSpPr>
          <p:cNvPr id="5" name="Text 3"/>
          <p:cNvSpPr/>
          <p:nvPr/>
        </p:nvSpPr>
        <p:spPr>
          <a:xfrm>
            <a:off x="548640" y="1645920"/>
            <a:ext cx="3794760" cy="6858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Factor</a:t>
            </a:r>
            <a:endParaRPr lang="en-US" sz="1400" dirty="0"/>
          </a:p>
        </p:txBody>
      </p:sp>
      <p:sp>
        <p:nvSpPr>
          <p:cNvPr id="6" name="Shape 4"/>
          <p:cNvSpPr/>
          <p:nvPr/>
        </p:nvSpPr>
        <p:spPr>
          <a:xfrm>
            <a:off x="4434840" y="1645920"/>
            <a:ext cx="3794760" cy="685800"/>
          </a:xfrm>
          <a:prstGeom prst="roundRect">
            <a:avLst>
              <a:gd name="adj" fmla="val 8000"/>
            </a:avLst>
          </a:prstGeom>
          <a:solidFill>
            <a:srgbClr val="8C1D1D"/>
          </a:solidFill>
        </p:spPr>
      </p:sp>
      <p:sp>
        <p:nvSpPr>
          <p:cNvPr id="7" name="Text 5"/>
          <p:cNvSpPr/>
          <p:nvPr/>
        </p:nvSpPr>
        <p:spPr>
          <a:xfrm>
            <a:off x="4434840" y="1645920"/>
            <a:ext cx="3794760" cy="6858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BEFORE Cloud</a:t>
            </a:r>
            <a:endParaRPr lang="en-US" sz="1400" dirty="0"/>
          </a:p>
        </p:txBody>
      </p:sp>
      <p:sp>
        <p:nvSpPr>
          <p:cNvPr id="8" name="Shape 6"/>
          <p:cNvSpPr/>
          <p:nvPr/>
        </p:nvSpPr>
        <p:spPr>
          <a:xfrm>
            <a:off x="8321040" y="1645920"/>
            <a:ext cx="3794760" cy="685800"/>
          </a:xfrm>
          <a:prstGeom prst="roundRect">
            <a:avLst>
              <a:gd name="adj" fmla="val 8000"/>
            </a:avLst>
          </a:prstGeom>
          <a:solidFill>
            <a:srgbClr val="1E7145"/>
          </a:solidFill>
        </p:spPr>
      </p:sp>
      <p:sp>
        <p:nvSpPr>
          <p:cNvPr id="9" name="Text 7"/>
          <p:cNvSpPr/>
          <p:nvPr/>
        </p:nvSpPr>
        <p:spPr>
          <a:xfrm>
            <a:off x="8321040" y="1645920"/>
            <a:ext cx="3794760" cy="6858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AFTER Cloud</a:t>
            </a:r>
            <a:endParaRPr lang="en-US" sz="1400" dirty="0"/>
          </a:p>
        </p:txBody>
      </p:sp>
      <p:sp>
        <p:nvSpPr>
          <p:cNvPr id="10" name="Shape 8"/>
          <p:cNvSpPr/>
          <p:nvPr/>
        </p:nvSpPr>
        <p:spPr>
          <a:xfrm>
            <a:off x="548640" y="2331720"/>
            <a:ext cx="3794760" cy="576072"/>
          </a:xfrm>
          <a:prstGeom prst="rect">
            <a:avLst/>
          </a:prstGeom>
          <a:solidFill>
            <a:srgbClr val="F5F7FA"/>
          </a:solidFill>
          <a:ln w="9525">
            <a:solidFill>
              <a:srgbClr val="E3E7ED"/>
            </a:solidFill>
            <a:prstDash val="solid"/>
          </a:ln>
        </p:spPr>
      </p:sp>
      <p:sp>
        <p:nvSpPr>
          <p:cNvPr id="11" name="Shape 9"/>
          <p:cNvSpPr/>
          <p:nvPr/>
        </p:nvSpPr>
        <p:spPr>
          <a:xfrm>
            <a:off x="4434840" y="2331720"/>
            <a:ext cx="3794760" cy="576072"/>
          </a:xfrm>
          <a:prstGeom prst="rect">
            <a:avLst/>
          </a:prstGeom>
          <a:solidFill>
            <a:srgbClr val="F5F7FA"/>
          </a:solidFill>
          <a:ln w="9525">
            <a:solidFill>
              <a:srgbClr val="E3E7ED"/>
            </a:solidFill>
            <a:prstDash val="solid"/>
          </a:ln>
        </p:spPr>
      </p:sp>
      <p:sp>
        <p:nvSpPr>
          <p:cNvPr id="12" name="Shape 10"/>
          <p:cNvSpPr/>
          <p:nvPr/>
        </p:nvSpPr>
        <p:spPr>
          <a:xfrm>
            <a:off x="8321040" y="2331720"/>
            <a:ext cx="3794760" cy="576072"/>
          </a:xfrm>
          <a:prstGeom prst="rect">
            <a:avLst/>
          </a:prstGeom>
          <a:solidFill>
            <a:srgbClr val="F5F7FA"/>
          </a:solidFill>
          <a:ln w="9525">
            <a:solidFill>
              <a:srgbClr val="E3E7ED"/>
            </a:solidFill>
            <a:prstDash val="solid"/>
          </a:ln>
        </p:spPr>
      </p:sp>
      <p:sp>
        <p:nvSpPr>
          <p:cNvPr id="13" name="Text 11"/>
          <p:cNvSpPr/>
          <p:nvPr/>
        </p:nvSpPr>
        <p:spPr>
          <a:xfrm>
            <a:off x="685800" y="2331720"/>
            <a:ext cx="3520440" cy="576072"/>
          </a:xfrm>
          <a:prstGeom prst="rect">
            <a:avLst/>
          </a:prstGeom>
          <a:noFill/>
        </p:spPr>
        <p:txBody>
          <a:bodyPr wrap="square" lIns="0" tIns="0" rIns="0" bIns="0" rtlCol="0" anchor="ctr"/>
          <a:lstStyle/>
          <a:p>
            <a:pPr marL="0" indent="0">
              <a:buNone/>
            </a:pPr>
            <a:r>
              <a:rPr lang="en-US" sz="1250" b="1" dirty="0">
                <a:solidFill>
                  <a:srgbClr val="232F3E"/>
                </a:solidFill>
                <a:latin typeface="Calibri" panose="020F0502020204030204" pitchFamily="34" charset="0"/>
                <a:ea typeface="Calibri" panose="020F0502020204030204" pitchFamily="34" charset="-122"/>
                <a:cs typeface="Calibri" panose="020F0502020204030204" pitchFamily="34" charset="-120"/>
              </a:rPr>
              <a:t>Cost Model</a:t>
            </a:r>
            <a:endParaRPr lang="en-US" sz="1250" dirty="0"/>
          </a:p>
        </p:txBody>
      </p:sp>
      <p:sp>
        <p:nvSpPr>
          <p:cNvPr id="14" name="Text 12"/>
          <p:cNvSpPr/>
          <p:nvPr/>
        </p:nvSpPr>
        <p:spPr>
          <a:xfrm>
            <a:off x="4572000" y="2331720"/>
            <a:ext cx="3520440" cy="576072"/>
          </a:xfrm>
          <a:prstGeom prst="rect">
            <a:avLst/>
          </a:prstGeom>
          <a:noFill/>
        </p:spPr>
        <p:txBody>
          <a:bodyPr wrap="square" lIns="0" tIns="0" rIns="0" bIns="0" rtlCol="0" anchor="ctr"/>
          <a:lstStyle/>
          <a:p>
            <a:pPr marL="0" indent="0">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High CAPEX — buy servers upfront</a:t>
            </a:r>
            <a:endParaRPr lang="en-US" sz="1150" dirty="0"/>
          </a:p>
        </p:txBody>
      </p:sp>
      <p:sp>
        <p:nvSpPr>
          <p:cNvPr id="15" name="Text 13"/>
          <p:cNvSpPr/>
          <p:nvPr/>
        </p:nvSpPr>
        <p:spPr>
          <a:xfrm>
            <a:off x="8458200" y="2331720"/>
            <a:ext cx="3520440" cy="576072"/>
          </a:xfrm>
          <a:prstGeom prst="rect">
            <a:avLst/>
          </a:prstGeom>
          <a:noFill/>
        </p:spPr>
        <p:txBody>
          <a:bodyPr wrap="square" lIns="0" tIns="0" rIns="0" bIns="0" rtlCol="0" anchor="ctr"/>
          <a:lstStyle/>
          <a:p>
            <a:pPr marL="0" indent="0">
              <a:buNone/>
            </a:pPr>
            <a:r>
              <a:rPr lang="en-US" sz="1150" b="1" dirty="0">
                <a:solidFill>
                  <a:srgbClr val="1E7145"/>
                </a:solidFill>
                <a:latin typeface="Calibri" panose="020F0502020204030204" pitchFamily="34" charset="0"/>
                <a:ea typeface="Calibri" panose="020F0502020204030204" pitchFamily="34" charset="-122"/>
                <a:cs typeface="Calibri" panose="020F0502020204030204" pitchFamily="34" charset="-120"/>
              </a:rPr>
              <a:t>Low OPEX — pay-as-you-go</a:t>
            </a:r>
            <a:endParaRPr lang="en-US" sz="1150" dirty="0"/>
          </a:p>
        </p:txBody>
      </p:sp>
      <p:sp>
        <p:nvSpPr>
          <p:cNvPr id="16" name="Shape 14"/>
          <p:cNvSpPr/>
          <p:nvPr/>
        </p:nvSpPr>
        <p:spPr>
          <a:xfrm>
            <a:off x="548640" y="2907792"/>
            <a:ext cx="3794760" cy="576072"/>
          </a:xfrm>
          <a:prstGeom prst="rect">
            <a:avLst/>
          </a:prstGeom>
          <a:solidFill>
            <a:srgbClr val="FFFFFF"/>
          </a:solidFill>
          <a:ln w="9525">
            <a:solidFill>
              <a:srgbClr val="E3E7ED"/>
            </a:solidFill>
            <a:prstDash val="solid"/>
          </a:ln>
        </p:spPr>
      </p:sp>
      <p:sp>
        <p:nvSpPr>
          <p:cNvPr id="17" name="Shape 15"/>
          <p:cNvSpPr/>
          <p:nvPr/>
        </p:nvSpPr>
        <p:spPr>
          <a:xfrm>
            <a:off x="4434840" y="2907792"/>
            <a:ext cx="3794760" cy="576072"/>
          </a:xfrm>
          <a:prstGeom prst="rect">
            <a:avLst/>
          </a:prstGeom>
          <a:solidFill>
            <a:srgbClr val="FFFFFF"/>
          </a:solidFill>
          <a:ln w="9525">
            <a:solidFill>
              <a:srgbClr val="E3E7ED"/>
            </a:solidFill>
            <a:prstDash val="solid"/>
          </a:ln>
        </p:spPr>
      </p:sp>
      <p:sp>
        <p:nvSpPr>
          <p:cNvPr id="18" name="Shape 16"/>
          <p:cNvSpPr/>
          <p:nvPr/>
        </p:nvSpPr>
        <p:spPr>
          <a:xfrm>
            <a:off x="8321040" y="2907792"/>
            <a:ext cx="3794760" cy="576072"/>
          </a:xfrm>
          <a:prstGeom prst="rect">
            <a:avLst/>
          </a:prstGeom>
          <a:solidFill>
            <a:srgbClr val="FFFFFF"/>
          </a:solidFill>
          <a:ln w="9525">
            <a:solidFill>
              <a:srgbClr val="E3E7ED"/>
            </a:solidFill>
            <a:prstDash val="solid"/>
          </a:ln>
        </p:spPr>
      </p:sp>
      <p:sp>
        <p:nvSpPr>
          <p:cNvPr id="19" name="Text 17"/>
          <p:cNvSpPr/>
          <p:nvPr/>
        </p:nvSpPr>
        <p:spPr>
          <a:xfrm>
            <a:off x="685800" y="2907792"/>
            <a:ext cx="3520440" cy="576072"/>
          </a:xfrm>
          <a:prstGeom prst="rect">
            <a:avLst/>
          </a:prstGeom>
          <a:noFill/>
        </p:spPr>
        <p:txBody>
          <a:bodyPr wrap="square" lIns="0" tIns="0" rIns="0" bIns="0" rtlCol="0" anchor="ctr"/>
          <a:lstStyle/>
          <a:p>
            <a:pPr marL="0" indent="0">
              <a:buNone/>
            </a:pPr>
            <a:r>
              <a:rPr lang="en-US" sz="1250" b="1" dirty="0">
                <a:solidFill>
                  <a:srgbClr val="232F3E"/>
                </a:solidFill>
                <a:latin typeface="Calibri" panose="020F0502020204030204" pitchFamily="34" charset="0"/>
                <a:ea typeface="Calibri" panose="020F0502020204030204" pitchFamily="34" charset="-122"/>
                <a:cs typeface="Calibri" panose="020F0502020204030204" pitchFamily="34" charset="-120"/>
              </a:rPr>
              <a:t>Scalability</a:t>
            </a:r>
            <a:endParaRPr lang="en-US" sz="1250" dirty="0"/>
          </a:p>
        </p:txBody>
      </p:sp>
      <p:sp>
        <p:nvSpPr>
          <p:cNvPr id="20" name="Text 18"/>
          <p:cNvSpPr/>
          <p:nvPr/>
        </p:nvSpPr>
        <p:spPr>
          <a:xfrm>
            <a:off x="4572000" y="2907792"/>
            <a:ext cx="3520440" cy="576072"/>
          </a:xfrm>
          <a:prstGeom prst="rect">
            <a:avLst/>
          </a:prstGeom>
          <a:noFill/>
        </p:spPr>
        <p:txBody>
          <a:bodyPr wrap="square" lIns="0" tIns="0" rIns="0" bIns="0" rtlCol="0" anchor="ctr"/>
          <a:lstStyle/>
          <a:p>
            <a:pPr marL="0" indent="0">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Fixed capacity, hard to expand</a:t>
            </a:r>
            <a:endParaRPr lang="en-US" sz="1150" dirty="0"/>
          </a:p>
        </p:txBody>
      </p:sp>
      <p:sp>
        <p:nvSpPr>
          <p:cNvPr id="21" name="Text 19"/>
          <p:cNvSpPr/>
          <p:nvPr/>
        </p:nvSpPr>
        <p:spPr>
          <a:xfrm>
            <a:off x="8458200" y="2907792"/>
            <a:ext cx="3520440" cy="576072"/>
          </a:xfrm>
          <a:prstGeom prst="rect">
            <a:avLst/>
          </a:prstGeom>
          <a:noFill/>
        </p:spPr>
        <p:txBody>
          <a:bodyPr wrap="square" lIns="0" tIns="0" rIns="0" bIns="0" rtlCol="0" anchor="ctr"/>
          <a:lstStyle/>
          <a:p>
            <a:pPr marL="0" indent="0">
              <a:buNone/>
            </a:pPr>
            <a:r>
              <a:rPr lang="en-US" sz="1150" b="1" dirty="0">
                <a:solidFill>
                  <a:srgbClr val="1E7145"/>
                </a:solidFill>
                <a:latin typeface="Calibri" panose="020F0502020204030204" pitchFamily="34" charset="0"/>
                <a:ea typeface="Calibri" panose="020F0502020204030204" pitchFamily="34" charset="-122"/>
                <a:cs typeface="Calibri" panose="020F0502020204030204" pitchFamily="34" charset="-120"/>
              </a:rPr>
              <a:t>Elastic — scale up/down instantly</a:t>
            </a:r>
            <a:endParaRPr lang="en-US" sz="1150" dirty="0"/>
          </a:p>
        </p:txBody>
      </p:sp>
      <p:sp>
        <p:nvSpPr>
          <p:cNvPr id="22" name="Shape 20"/>
          <p:cNvSpPr/>
          <p:nvPr/>
        </p:nvSpPr>
        <p:spPr>
          <a:xfrm>
            <a:off x="548640" y="3483864"/>
            <a:ext cx="3794760" cy="576072"/>
          </a:xfrm>
          <a:prstGeom prst="rect">
            <a:avLst/>
          </a:prstGeom>
          <a:solidFill>
            <a:srgbClr val="F5F7FA"/>
          </a:solidFill>
          <a:ln w="9525">
            <a:solidFill>
              <a:srgbClr val="E3E7ED"/>
            </a:solidFill>
            <a:prstDash val="solid"/>
          </a:ln>
        </p:spPr>
      </p:sp>
      <p:sp>
        <p:nvSpPr>
          <p:cNvPr id="23" name="Shape 21"/>
          <p:cNvSpPr/>
          <p:nvPr/>
        </p:nvSpPr>
        <p:spPr>
          <a:xfrm>
            <a:off x="4434840" y="3483864"/>
            <a:ext cx="3794760" cy="576072"/>
          </a:xfrm>
          <a:prstGeom prst="rect">
            <a:avLst/>
          </a:prstGeom>
          <a:solidFill>
            <a:srgbClr val="F5F7FA"/>
          </a:solidFill>
          <a:ln w="9525">
            <a:solidFill>
              <a:srgbClr val="E3E7ED"/>
            </a:solidFill>
            <a:prstDash val="solid"/>
          </a:ln>
        </p:spPr>
      </p:sp>
      <p:sp>
        <p:nvSpPr>
          <p:cNvPr id="24" name="Shape 22"/>
          <p:cNvSpPr/>
          <p:nvPr/>
        </p:nvSpPr>
        <p:spPr>
          <a:xfrm>
            <a:off x="8321040" y="3483864"/>
            <a:ext cx="3794760" cy="576072"/>
          </a:xfrm>
          <a:prstGeom prst="rect">
            <a:avLst/>
          </a:prstGeom>
          <a:solidFill>
            <a:srgbClr val="F5F7FA"/>
          </a:solidFill>
          <a:ln w="9525">
            <a:solidFill>
              <a:srgbClr val="E3E7ED"/>
            </a:solidFill>
            <a:prstDash val="solid"/>
          </a:ln>
        </p:spPr>
      </p:sp>
      <p:sp>
        <p:nvSpPr>
          <p:cNvPr id="25" name="Text 23"/>
          <p:cNvSpPr/>
          <p:nvPr/>
        </p:nvSpPr>
        <p:spPr>
          <a:xfrm>
            <a:off x="685800" y="3483864"/>
            <a:ext cx="3520440" cy="576072"/>
          </a:xfrm>
          <a:prstGeom prst="rect">
            <a:avLst/>
          </a:prstGeom>
          <a:noFill/>
        </p:spPr>
        <p:txBody>
          <a:bodyPr wrap="square" lIns="0" tIns="0" rIns="0" bIns="0" rtlCol="0" anchor="ctr"/>
          <a:lstStyle/>
          <a:p>
            <a:pPr marL="0" indent="0">
              <a:buNone/>
            </a:pPr>
            <a:r>
              <a:rPr lang="en-US" sz="1250" b="1" dirty="0">
                <a:solidFill>
                  <a:srgbClr val="232F3E"/>
                </a:solidFill>
                <a:latin typeface="Calibri" panose="020F0502020204030204" pitchFamily="34" charset="0"/>
                <a:ea typeface="Calibri" panose="020F0502020204030204" pitchFamily="34" charset="-122"/>
                <a:cs typeface="Calibri" panose="020F0502020204030204" pitchFamily="34" charset="-120"/>
              </a:rPr>
              <a:t>Setup Time</a:t>
            </a:r>
            <a:endParaRPr lang="en-US" sz="1250" dirty="0"/>
          </a:p>
        </p:txBody>
      </p:sp>
      <p:sp>
        <p:nvSpPr>
          <p:cNvPr id="26" name="Text 24"/>
          <p:cNvSpPr/>
          <p:nvPr/>
        </p:nvSpPr>
        <p:spPr>
          <a:xfrm>
            <a:off x="4572000" y="3483864"/>
            <a:ext cx="3520440" cy="576072"/>
          </a:xfrm>
          <a:prstGeom prst="rect">
            <a:avLst/>
          </a:prstGeom>
          <a:noFill/>
        </p:spPr>
        <p:txBody>
          <a:bodyPr wrap="square" lIns="0" tIns="0" rIns="0" bIns="0" rtlCol="0" anchor="ctr"/>
          <a:lstStyle/>
          <a:p>
            <a:pPr marL="0" indent="0">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Weeks to procure &amp; configure hardware</a:t>
            </a:r>
            <a:endParaRPr lang="en-US" sz="1150" dirty="0"/>
          </a:p>
        </p:txBody>
      </p:sp>
      <p:sp>
        <p:nvSpPr>
          <p:cNvPr id="27" name="Text 25"/>
          <p:cNvSpPr/>
          <p:nvPr/>
        </p:nvSpPr>
        <p:spPr>
          <a:xfrm>
            <a:off x="8458200" y="3483864"/>
            <a:ext cx="3520440" cy="576072"/>
          </a:xfrm>
          <a:prstGeom prst="rect">
            <a:avLst/>
          </a:prstGeom>
          <a:noFill/>
        </p:spPr>
        <p:txBody>
          <a:bodyPr wrap="square" lIns="0" tIns="0" rIns="0" bIns="0" rtlCol="0" anchor="ctr"/>
          <a:lstStyle/>
          <a:p>
            <a:pPr marL="0" indent="0">
              <a:buNone/>
            </a:pPr>
            <a:r>
              <a:rPr lang="en-US" sz="1150" b="1" dirty="0">
                <a:solidFill>
                  <a:srgbClr val="1E7145"/>
                </a:solidFill>
                <a:latin typeface="Calibri" panose="020F0502020204030204" pitchFamily="34" charset="0"/>
                <a:ea typeface="Calibri" panose="020F0502020204030204" pitchFamily="34" charset="-122"/>
                <a:cs typeface="Calibri" panose="020F0502020204030204" pitchFamily="34" charset="-120"/>
              </a:rPr>
              <a:t>Minutes to provision resources</a:t>
            </a:r>
            <a:endParaRPr lang="en-US" sz="1150" dirty="0"/>
          </a:p>
        </p:txBody>
      </p:sp>
      <p:sp>
        <p:nvSpPr>
          <p:cNvPr id="28" name="Shape 26"/>
          <p:cNvSpPr/>
          <p:nvPr/>
        </p:nvSpPr>
        <p:spPr>
          <a:xfrm>
            <a:off x="548640" y="4059936"/>
            <a:ext cx="3794760" cy="576072"/>
          </a:xfrm>
          <a:prstGeom prst="rect">
            <a:avLst/>
          </a:prstGeom>
          <a:solidFill>
            <a:srgbClr val="FFFFFF"/>
          </a:solidFill>
          <a:ln w="9525">
            <a:solidFill>
              <a:srgbClr val="E3E7ED"/>
            </a:solidFill>
            <a:prstDash val="solid"/>
          </a:ln>
        </p:spPr>
      </p:sp>
      <p:sp>
        <p:nvSpPr>
          <p:cNvPr id="29" name="Shape 27"/>
          <p:cNvSpPr/>
          <p:nvPr/>
        </p:nvSpPr>
        <p:spPr>
          <a:xfrm>
            <a:off x="4434840" y="4059936"/>
            <a:ext cx="3794760" cy="576072"/>
          </a:xfrm>
          <a:prstGeom prst="rect">
            <a:avLst/>
          </a:prstGeom>
          <a:solidFill>
            <a:srgbClr val="FFFFFF"/>
          </a:solidFill>
          <a:ln w="9525">
            <a:solidFill>
              <a:srgbClr val="E3E7ED"/>
            </a:solidFill>
            <a:prstDash val="solid"/>
          </a:ln>
        </p:spPr>
      </p:sp>
      <p:sp>
        <p:nvSpPr>
          <p:cNvPr id="30" name="Shape 28"/>
          <p:cNvSpPr/>
          <p:nvPr/>
        </p:nvSpPr>
        <p:spPr>
          <a:xfrm>
            <a:off x="8321040" y="4059936"/>
            <a:ext cx="3794760" cy="576072"/>
          </a:xfrm>
          <a:prstGeom prst="rect">
            <a:avLst/>
          </a:prstGeom>
          <a:solidFill>
            <a:srgbClr val="FFFFFF"/>
          </a:solidFill>
          <a:ln w="9525">
            <a:solidFill>
              <a:srgbClr val="E3E7ED"/>
            </a:solidFill>
            <a:prstDash val="solid"/>
          </a:ln>
        </p:spPr>
      </p:sp>
      <p:sp>
        <p:nvSpPr>
          <p:cNvPr id="31" name="Text 29"/>
          <p:cNvSpPr/>
          <p:nvPr/>
        </p:nvSpPr>
        <p:spPr>
          <a:xfrm>
            <a:off x="685800" y="4059936"/>
            <a:ext cx="3520440" cy="576072"/>
          </a:xfrm>
          <a:prstGeom prst="rect">
            <a:avLst/>
          </a:prstGeom>
          <a:noFill/>
        </p:spPr>
        <p:txBody>
          <a:bodyPr wrap="square" lIns="0" tIns="0" rIns="0" bIns="0" rtlCol="0" anchor="ctr"/>
          <a:lstStyle/>
          <a:p>
            <a:pPr marL="0" indent="0">
              <a:buNone/>
            </a:pPr>
            <a:r>
              <a:rPr lang="en-US" sz="1250" b="1" dirty="0">
                <a:solidFill>
                  <a:srgbClr val="232F3E"/>
                </a:solidFill>
                <a:latin typeface="Calibri" panose="020F0502020204030204" pitchFamily="34" charset="0"/>
                <a:ea typeface="Calibri" panose="020F0502020204030204" pitchFamily="34" charset="-122"/>
                <a:cs typeface="Calibri" panose="020F0502020204030204" pitchFamily="34" charset="-120"/>
              </a:rPr>
              <a:t>Maintenance</a:t>
            </a:r>
            <a:endParaRPr lang="en-US" sz="1250" dirty="0"/>
          </a:p>
        </p:txBody>
      </p:sp>
      <p:sp>
        <p:nvSpPr>
          <p:cNvPr id="32" name="Text 30"/>
          <p:cNvSpPr/>
          <p:nvPr/>
        </p:nvSpPr>
        <p:spPr>
          <a:xfrm>
            <a:off x="4572000" y="4059936"/>
            <a:ext cx="3520440" cy="576072"/>
          </a:xfrm>
          <a:prstGeom prst="rect">
            <a:avLst/>
          </a:prstGeom>
          <a:noFill/>
        </p:spPr>
        <p:txBody>
          <a:bodyPr wrap="square" lIns="0" tIns="0" rIns="0" bIns="0" rtlCol="0" anchor="ctr"/>
          <a:lstStyle/>
          <a:p>
            <a:pPr marL="0" indent="0">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In-house team manages everything</a:t>
            </a:r>
            <a:endParaRPr lang="en-US" sz="1150" dirty="0"/>
          </a:p>
        </p:txBody>
      </p:sp>
      <p:sp>
        <p:nvSpPr>
          <p:cNvPr id="33" name="Text 31"/>
          <p:cNvSpPr/>
          <p:nvPr/>
        </p:nvSpPr>
        <p:spPr>
          <a:xfrm>
            <a:off x="8458200" y="4059936"/>
            <a:ext cx="3520440" cy="576072"/>
          </a:xfrm>
          <a:prstGeom prst="rect">
            <a:avLst/>
          </a:prstGeom>
          <a:noFill/>
        </p:spPr>
        <p:txBody>
          <a:bodyPr wrap="square" lIns="0" tIns="0" rIns="0" bIns="0" rtlCol="0" anchor="ctr"/>
          <a:lstStyle/>
          <a:p>
            <a:pPr marL="0" indent="0">
              <a:buNone/>
            </a:pPr>
            <a:r>
              <a:rPr lang="en-US" sz="1150" b="1" dirty="0">
                <a:solidFill>
                  <a:srgbClr val="1E7145"/>
                </a:solidFill>
                <a:latin typeface="Calibri" panose="020F0502020204030204" pitchFamily="34" charset="0"/>
                <a:ea typeface="Calibri" panose="020F0502020204030204" pitchFamily="34" charset="-122"/>
                <a:cs typeface="Calibri" panose="020F0502020204030204" pitchFamily="34" charset="-120"/>
              </a:rPr>
              <a:t>Provider manages infrastructure</a:t>
            </a:r>
            <a:endParaRPr lang="en-US" sz="1150" dirty="0"/>
          </a:p>
        </p:txBody>
      </p:sp>
      <p:sp>
        <p:nvSpPr>
          <p:cNvPr id="34" name="Shape 32"/>
          <p:cNvSpPr/>
          <p:nvPr/>
        </p:nvSpPr>
        <p:spPr>
          <a:xfrm>
            <a:off x="548640" y="4636008"/>
            <a:ext cx="3794760" cy="576072"/>
          </a:xfrm>
          <a:prstGeom prst="rect">
            <a:avLst/>
          </a:prstGeom>
          <a:solidFill>
            <a:srgbClr val="F5F7FA"/>
          </a:solidFill>
          <a:ln w="9525">
            <a:solidFill>
              <a:srgbClr val="E3E7ED"/>
            </a:solidFill>
            <a:prstDash val="solid"/>
          </a:ln>
        </p:spPr>
      </p:sp>
      <p:sp>
        <p:nvSpPr>
          <p:cNvPr id="35" name="Shape 33"/>
          <p:cNvSpPr/>
          <p:nvPr/>
        </p:nvSpPr>
        <p:spPr>
          <a:xfrm>
            <a:off x="4434840" y="4636008"/>
            <a:ext cx="3794760" cy="576072"/>
          </a:xfrm>
          <a:prstGeom prst="rect">
            <a:avLst/>
          </a:prstGeom>
          <a:solidFill>
            <a:srgbClr val="F5F7FA"/>
          </a:solidFill>
          <a:ln w="9525">
            <a:solidFill>
              <a:srgbClr val="E3E7ED"/>
            </a:solidFill>
            <a:prstDash val="solid"/>
          </a:ln>
        </p:spPr>
      </p:sp>
      <p:sp>
        <p:nvSpPr>
          <p:cNvPr id="36" name="Shape 34"/>
          <p:cNvSpPr/>
          <p:nvPr/>
        </p:nvSpPr>
        <p:spPr>
          <a:xfrm>
            <a:off x="8321040" y="4636008"/>
            <a:ext cx="3794760" cy="576072"/>
          </a:xfrm>
          <a:prstGeom prst="rect">
            <a:avLst/>
          </a:prstGeom>
          <a:solidFill>
            <a:srgbClr val="F5F7FA"/>
          </a:solidFill>
          <a:ln w="9525">
            <a:solidFill>
              <a:srgbClr val="E3E7ED"/>
            </a:solidFill>
            <a:prstDash val="solid"/>
          </a:ln>
        </p:spPr>
      </p:sp>
      <p:sp>
        <p:nvSpPr>
          <p:cNvPr id="37" name="Text 35"/>
          <p:cNvSpPr/>
          <p:nvPr/>
        </p:nvSpPr>
        <p:spPr>
          <a:xfrm>
            <a:off x="685800" y="4636008"/>
            <a:ext cx="3520440" cy="576072"/>
          </a:xfrm>
          <a:prstGeom prst="rect">
            <a:avLst/>
          </a:prstGeom>
          <a:noFill/>
        </p:spPr>
        <p:txBody>
          <a:bodyPr wrap="square" lIns="0" tIns="0" rIns="0" bIns="0" rtlCol="0" anchor="ctr"/>
          <a:lstStyle/>
          <a:p>
            <a:pPr marL="0" indent="0">
              <a:buNone/>
            </a:pPr>
            <a:r>
              <a:rPr lang="en-US" sz="1250" b="1" dirty="0">
                <a:solidFill>
                  <a:srgbClr val="232F3E"/>
                </a:solidFill>
                <a:latin typeface="Calibri" panose="020F0502020204030204" pitchFamily="34" charset="0"/>
                <a:ea typeface="Calibri" panose="020F0502020204030204" pitchFamily="34" charset="-122"/>
                <a:cs typeface="Calibri" panose="020F0502020204030204" pitchFamily="34" charset="-120"/>
              </a:rPr>
              <a:t>Downtime Risk</a:t>
            </a:r>
            <a:endParaRPr lang="en-US" sz="1250" dirty="0"/>
          </a:p>
        </p:txBody>
      </p:sp>
      <p:sp>
        <p:nvSpPr>
          <p:cNvPr id="38" name="Text 36"/>
          <p:cNvSpPr/>
          <p:nvPr/>
        </p:nvSpPr>
        <p:spPr>
          <a:xfrm>
            <a:off x="4572000" y="4636008"/>
            <a:ext cx="3520440" cy="576072"/>
          </a:xfrm>
          <a:prstGeom prst="rect">
            <a:avLst/>
          </a:prstGeom>
          <a:noFill/>
        </p:spPr>
        <p:txBody>
          <a:bodyPr wrap="square" lIns="0" tIns="0" rIns="0" bIns="0" rtlCol="0" anchor="ctr"/>
          <a:lstStyle/>
          <a:p>
            <a:pPr marL="0" indent="0">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Single data center = higher risk</a:t>
            </a:r>
            <a:endParaRPr lang="en-US" sz="1150" dirty="0"/>
          </a:p>
        </p:txBody>
      </p:sp>
      <p:sp>
        <p:nvSpPr>
          <p:cNvPr id="39" name="Text 37"/>
          <p:cNvSpPr/>
          <p:nvPr/>
        </p:nvSpPr>
        <p:spPr>
          <a:xfrm>
            <a:off x="8458200" y="4636008"/>
            <a:ext cx="3520440" cy="576072"/>
          </a:xfrm>
          <a:prstGeom prst="rect">
            <a:avLst/>
          </a:prstGeom>
          <a:noFill/>
        </p:spPr>
        <p:txBody>
          <a:bodyPr wrap="square" lIns="0" tIns="0" rIns="0" bIns="0" rtlCol="0" anchor="ctr"/>
          <a:lstStyle/>
          <a:p>
            <a:pPr marL="0" indent="0">
              <a:buNone/>
            </a:pPr>
            <a:r>
              <a:rPr lang="en-US" sz="1150" b="1" dirty="0">
                <a:solidFill>
                  <a:srgbClr val="1E7145"/>
                </a:solidFill>
                <a:latin typeface="Calibri" panose="020F0502020204030204" pitchFamily="34" charset="0"/>
                <a:ea typeface="Calibri" panose="020F0502020204030204" pitchFamily="34" charset="-122"/>
                <a:cs typeface="Calibri" panose="020F0502020204030204" pitchFamily="34" charset="-120"/>
              </a:rPr>
              <a:t>Multi-region redundancy &amp; failover</a:t>
            </a:r>
            <a:endParaRPr lang="en-US" sz="1150" dirty="0"/>
          </a:p>
        </p:txBody>
      </p:sp>
      <p:sp>
        <p:nvSpPr>
          <p:cNvPr id="40" name="Shape 38"/>
          <p:cNvSpPr/>
          <p:nvPr/>
        </p:nvSpPr>
        <p:spPr>
          <a:xfrm>
            <a:off x="548640" y="5212080"/>
            <a:ext cx="3794760" cy="576072"/>
          </a:xfrm>
          <a:prstGeom prst="rect">
            <a:avLst/>
          </a:prstGeom>
          <a:solidFill>
            <a:srgbClr val="FFFFFF"/>
          </a:solidFill>
          <a:ln w="9525">
            <a:solidFill>
              <a:srgbClr val="E3E7ED"/>
            </a:solidFill>
            <a:prstDash val="solid"/>
          </a:ln>
        </p:spPr>
      </p:sp>
      <p:sp>
        <p:nvSpPr>
          <p:cNvPr id="41" name="Shape 39"/>
          <p:cNvSpPr/>
          <p:nvPr/>
        </p:nvSpPr>
        <p:spPr>
          <a:xfrm>
            <a:off x="4434840" y="5212080"/>
            <a:ext cx="3794760" cy="576072"/>
          </a:xfrm>
          <a:prstGeom prst="rect">
            <a:avLst/>
          </a:prstGeom>
          <a:solidFill>
            <a:srgbClr val="FFFFFF"/>
          </a:solidFill>
          <a:ln w="9525">
            <a:solidFill>
              <a:srgbClr val="E3E7ED"/>
            </a:solidFill>
            <a:prstDash val="solid"/>
          </a:ln>
        </p:spPr>
      </p:sp>
      <p:sp>
        <p:nvSpPr>
          <p:cNvPr id="42" name="Shape 40"/>
          <p:cNvSpPr/>
          <p:nvPr/>
        </p:nvSpPr>
        <p:spPr>
          <a:xfrm>
            <a:off x="8321040" y="5212080"/>
            <a:ext cx="3794760" cy="576072"/>
          </a:xfrm>
          <a:prstGeom prst="rect">
            <a:avLst/>
          </a:prstGeom>
          <a:solidFill>
            <a:srgbClr val="FFFFFF"/>
          </a:solidFill>
          <a:ln w="9525">
            <a:solidFill>
              <a:srgbClr val="E3E7ED"/>
            </a:solidFill>
            <a:prstDash val="solid"/>
          </a:ln>
        </p:spPr>
      </p:sp>
      <p:sp>
        <p:nvSpPr>
          <p:cNvPr id="43" name="Text 41"/>
          <p:cNvSpPr/>
          <p:nvPr/>
        </p:nvSpPr>
        <p:spPr>
          <a:xfrm>
            <a:off x="685800" y="5212080"/>
            <a:ext cx="3520440" cy="576072"/>
          </a:xfrm>
          <a:prstGeom prst="rect">
            <a:avLst/>
          </a:prstGeom>
          <a:noFill/>
        </p:spPr>
        <p:txBody>
          <a:bodyPr wrap="square" lIns="0" tIns="0" rIns="0" bIns="0" rtlCol="0" anchor="ctr"/>
          <a:lstStyle/>
          <a:p>
            <a:pPr marL="0" indent="0">
              <a:buNone/>
            </a:pPr>
            <a:r>
              <a:rPr lang="en-US" sz="1250" b="1" dirty="0">
                <a:solidFill>
                  <a:srgbClr val="232F3E"/>
                </a:solidFill>
                <a:latin typeface="Calibri" panose="020F0502020204030204" pitchFamily="34" charset="0"/>
                <a:ea typeface="Calibri" panose="020F0502020204030204" pitchFamily="34" charset="-122"/>
                <a:cs typeface="Calibri" panose="020F0502020204030204" pitchFamily="34" charset="-120"/>
              </a:rPr>
              <a:t>Global Reach</a:t>
            </a:r>
            <a:endParaRPr lang="en-US" sz="1250" dirty="0"/>
          </a:p>
        </p:txBody>
      </p:sp>
      <p:sp>
        <p:nvSpPr>
          <p:cNvPr id="44" name="Text 42"/>
          <p:cNvSpPr/>
          <p:nvPr/>
        </p:nvSpPr>
        <p:spPr>
          <a:xfrm>
            <a:off x="4572000" y="5212080"/>
            <a:ext cx="3520440" cy="576072"/>
          </a:xfrm>
          <a:prstGeom prst="rect">
            <a:avLst/>
          </a:prstGeom>
          <a:noFill/>
        </p:spPr>
        <p:txBody>
          <a:bodyPr wrap="square" lIns="0" tIns="0" rIns="0" bIns="0" rtlCol="0" anchor="ctr"/>
          <a:lstStyle/>
          <a:p>
            <a:pPr marL="0" indent="0">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Limited to owned data centers</a:t>
            </a:r>
            <a:endParaRPr lang="en-US" sz="1150" dirty="0"/>
          </a:p>
        </p:txBody>
      </p:sp>
      <p:sp>
        <p:nvSpPr>
          <p:cNvPr id="45" name="Text 43"/>
          <p:cNvSpPr/>
          <p:nvPr/>
        </p:nvSpPr>
        <p:spPr>
          <a:xfrm>
            <a:off x="8458200" y="5212080"/>
            <a:ext cx="3520440" cy="576072"/>
          </a:xfrm>
          <a:prstGeom prst="rect">
            <a:avLst/>
          </a:prstGeom>
          <a:noFill/>
        </p:spPr>
        <p:txBody>
          <a:bodyPr wrap="square" lIns="0" tIns="0" rIns="0" bIns="0" rtlCol="0" anchor="ctr"/>
          <a:lstStyle/>
          <a:p>
            <a:pPr marL="0" indent="0">
              <a:buNone/>
            </a:pPr>
            <a:r>
              <a:rPr lang="en-US" sz="1150" b="1" dirty="0">
                <a:solidFill>
                  <a:srgbClr val="1E7145"/>
                </a:solidFill>
                <a:latin typeface="Calibri" panose="020F0502020204030204" pitchFamily="34" charset="0"/>
                <a:ea typeface="Calibri" panose="020F0502020204030204" pitchFamily="34" charset="-122"/>
                <a:cs typeface="Calibri" panose="020F0502020204030204" pitchFamily="34" charset="-120"/>
              </a:rPr>
              <a:t>Deploy to any region worldwide</a:t>
            </a:r>
            <a:endParaRPr lang="en-US" sz="1150" dirty="0"/>
          </a:p>
        </p:txBody>
      </p:sp>
      <p:sp>
        <p:nvSpPr>
          <p:cNvPr id="46" name="Text 44"/>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47" name="Text 45"/>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apture"/>
          <p:cNvPicPr>
            <a:picLocks noChangeAspect="1"/>
          </p:cNvPicPr>
          <p:nvPr/>
        </p:nvPicPr>
        <p:blipFill>
          <a:blip r:embed="rId1"/>
          <a:stretch>
            <a:fillRect/>
          </a:stretch>
        </p:blipFill>
        <p:spPr>
          <a:xfrm>
            <a:off x="3485515" y="1890395"/>
            <a:ext cx="5723890" cy="33737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aptur1e"/>
          <p:cNvPicPr>
            <a:picLocks noChangeAspect="1"/>
          </p:cNvPicPr>
          <p:nvPr/>
        </p:nvPicPr>
        <p:blipFill>
          <a:blip r:embed="rId1"/>
          <a:stretch>
            <a:fillRect/>
          </a:stretch>
        </p:blipFill>
        <p:spPr>
          <a:xfrm>
            <a:off x="3571240" y="1928495"/>
            <a:ext cx="5048250" cy="30003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aptur2e"/>
          <p:cNvPicPr>
            <a:picLocks noChangeAspect="1"/>
          </p:cNvPicPr>
          <p:nvPr/>
        </p:nvPicPr>
        <p:blipFill>
          <a:blip r:embed="rId1"/>
          <a:srcRect t="6248" b="18050"/>
          <a:stretch>
            <a:fillRect/>
          </a:stretch>
        </p:blipFill>
        <p:spPr>
          <a:xfrm>
            <a:off x="1042670" y="2049780"/>
            <a:ext cx="9870440" cy="27254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apture3"/>
          <p:cNvPicPr>
            <a:picLocks noChangeAspect="1"/>
          </p:cNvPicPr>
          <p:nvPr/>
        </p:nvPicPr>
        <p:blipFill>
          <a:blip r:embed="rId1"/>
          <a:srcRect t="9859" r="4930" b="18372"/>
          <a:stretch>
            <a:fillRect/>
          </a:stretch>
        </p:blipFill>
        <p:spPr>
          <a:xfrm>
            <a:off x="1207770" y="1972945"/>
            <a:ext cx="8707120" cy="33502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aptur4e"/>
          <p:cNvPicPr>
            <a:picLocks noChangeAspect="1"/>
          </p:cNvPicPr>
          <p:nvPr/>
        </p:nvPicPr>
        <p:blipFill>
          <a:blip r:embed="rId1"/>
          <a:srcRect t="24265" b="5592"/>
          <a:stretch>
            <a:fillRect/>
          </a:stretch>
        </p:blipFill>
        <p:spPr>
          <a:xfrm>
            <a:off x="1435735" y="1940560"/>
            <a:ext cx="8896985" cy="32727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aptur5e"/>
          <p:cNvPicPr>
            <a:picLocks noChangeAspect="1"/>
          </p:cNvPicPr>
          <p:nvPr/>
        </p:nvPicPr>
        <p:blipFill>
          <a:blip r:embed="rId1"/>
          <a:srcRect t="20052" b="8579"/>
          <a:stretch>
            <a:fillRect/>
          </a:stretch>
        </p:blipFill>
        <p:spPr>
          <a:xfrm>
            <a:off x="1306830" y="2112645"/>
            <a:ext cx="9279890" cy="30073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aptur6e"/>
          <p:cNvPicPr>
            <a:picLocks noChangeAspect="1"/>
          </p:cNvPicPr>
          <p:nvPr/>
        </p:nvPicPr>
        <p:blipFill>
          <a:blip r:embed="rId1"/>
          <a:stretch>
            <a:fillRect/>
          </a:stretch>
        </p:blipFill>
        <p:spPr>
          <a:xfrm>
            <a:off x="1731010" y="1685925"/>
            <a:ext cx="7336155" cy="34861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aptur7e"/>
          <p:cNvPicPr>
            <a:picLocks noChangeAspect="1"/>
          </p:cNvPicPr>
          <p:nvPr/>
        </p:nvPicPr>
        <p:blipFill>
          <a:blip r:embed="rId1"/>
          <a:stretch>
            <a:fillRect/>
          </a:stretch>
        </p:blipFill>
        <p:spPr>
          <a:xfrm>
            <a:off x="4037965" y="2185670"/>
            <a:ext cx="4114800" cy="24860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aptur8e"/>
          <p:cNvPicPr>
            <a:picLocks noChangeAspect="1"/>
          </p:cNvPicPr>
          <p:nvPr/>
        </p:nvPicPr>
        <p:blipFill>
          <a:blip r:embed="rId1"/>
          <a:stretch>
            <a:fillRect/>
          </a:stretch>
        </p:blipFill>
        <p:spPr>
          <a:xfrm>
            <a:off x="4599940" y="2847975"/>
            <a:ext cx="3595370" cy="1397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aptur9e"/>
          <p:cNvPicPr>
            <a:picLocks noChangeAspect="1"/>
          </p:cNvPicPr>
          <p:nvPr/>
        </p:nvPicPr>
        <p:blipFill>
          <a:blip r:embed="rId1"/>
          <a:stretch>
            <a:fillRect/>
          </a:stretch>
        </p:blipFill>
        <p:spPr>
          <a:xfrm>
            <a:off x="3166745" y="1704975"/>
            <a:ext cx="5857875" cy="34480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aptur10e"/>
          <p:cNvPicPr>
            <a:picLocks noChangeAspect="1"/>
          </p:cNvPicPr>
          <p:nvPr/>
        </p:nvPicPr>
        <p:blipFill>
          <a:blip r:embed="rId1"/>
          <a:stretch>
            <a:fillRect/>
          </a:stretch>
        </p:blipFill>
        <p:spPr>
          <a:xfrm>
            <a:off x="3828415" y="1995170"/>
            <a:ext cx="4533900" cy="28670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37475A"/>
          </a:solidFill>
        </p:spPr>
      </p:sp>
      <p:sp>
        <p:nvSpPr>
          <p:cNvPr id="3" name="Shape 1"/>
          <p:cNvSpPr/>
          <p:nvPr/>
        </p:nvSpPr>
        <p:spPr>
          <a:xfrm>
            <a:off x="-1280160" y="4937760"/>
            <a:ext cx="3291840" cy="3291840"/>
          </a:xfrm>
          <a:prstGeom prst="ellipse">
            <a:avLst/>
          </a:prstGeom>
          <a:solidFill>
            <a:srgbClr val="37475A"/>
          </a:solidFill>
        </p:spPr>
      </p:sp>
      <p:sp>
        <p:nvSpPr>
          <p:cNvPr id="4" name="Shape 2"/>
          <p:cNvSpPr/>
          <p:nvPr/>
        </p:nvSpPr>
        <p:spPr>
          <a:xfrm>
            <a:off x="822960" y="1965960"/>
            <a:ext cx="1051560" cy="1051560"/>
          </a:xfrm>
          <a:prstGeom prst="ellipse">
            <a:avLst/>
          </a:prstGeom>
          <a:solidFill>
            <a:srgbClr val="FF9900"/>
          </a:solidFill>
        </p:spPr>
      </p:sp>
      <p:pic>
        <p:nvPicPr>
          <p:cNvPr id="5" name="Image 0" descr="/home/claude/icons/layers_navy.png"/>
          <p:cNvPicPr>
            <a:picLocks noChangeAspect="1"/>
          </p:cNvPicPr>
          <p:nvPr/>
        </p:nvPicPr>
        <p:blipFill>
          <a:blip r:embed="rId1"/>
          <a:stretch>
            <a:fillRect/>
          </a:stretch>
        </p:blipFill>
        <p:spPr>
          <a:xfrm>
            <a:off x="1075334" y="2218334"/>
            <a:ext cx="546811" cy="546811"/>
          </a:xfrm>
          <a:prstGeom prst="rect">
            <a:avLst/>
          </a:prstGeom>
        </p:spPr>
      </p:pic>
      <p:sp>
        <p:nvSpPr>
          <p:cNvPr id="6" name="Text 3"/>
          <p:cNvSpPr/>
          <p:nvPr/>
        </p:nvSpPr>
        <p:spPr>
          <a:xfrm>
            <a:off x="822960" y="3200400"/>
            <a:ext cx="7315200" cy="365760"/>
          </a:xfrm>
          <a:prstGeom prst="rect">
            <a:avLst/>
          </a:prstGeom>
          <a:noFill/>
        </p:spPr>
        <p:txBody>
          <a:bodyPr wrap="square" lIns="0" tIns="0" rIns="0" bIns="0" rtlCol="0" anchor="ctr"/>
          <a:lstStyle/>
          <a:p>
            <a:pPr marL="0" indent="0">
              <a:buNone/>
            </a:pPr>
            <a:r>
              <a:rPr lang="en-US" sz="1500" b="1" kern="0" spc="3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a:t>
            </a:r>
            <a:endParaRPr lang="en-US" sz="1500" dirty="0"/>
          </a:p>
        </p:txBody>
      </p:sp>
      <p:sp>
        <p:nvSpPr>
          <p:cNvPr id="7" name="Text 4"/>
          <p:cNvSpPr/>
          <p:nvPr/>
        </p:nvSpPr>
        <p:spPr>
          <a:xfrm>
            <a:off x="777240" y="3566160"/>
            <a:ext cx="9601200" cy="1188720"/>
          </a:xfrm>
          <a:prstGeom prst="rect">
            <a:avLst/>
          </a:prstGeom>
          <a:noFill/>
        </p:spPr>
        <p:txBody>
          <a:bodyPr wrap="square" lIns="0" tIns="0" rIns="0" bIns="0" rtlCol="0" anchor="ctr"/>
          <a:lstStyle/>
          <a:p>
            <a:pPr marL="0" indent="0">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Core Concepts</a:t>
            </a:r>
            <a:endParaRPr lang="en-US" sz="4200" dirty="0"/>
          </a:p>
        </p:txBody>
      </p:sp>
      <p:sp>
        <p:nvSpPr>
          <p:cNvPr id="8" name="Text 5"/>
          <p:cNvSpPr/>
          <p:nvPr/>
        </p:nvSpPr>
        <p:spPr>
          <a:xfrm>
            <a:off x="822960" y="4709160"/>
            <a:ext cx="8686800" cy="548640"/>
          </a:xfrm>
          <a:prstGeom prst="rect">
            <a:avLst/>
          </a:prstGeom>
          <a:noFill/>
        </p:spPr>
        <p:txBody>
          <a:bodyPr wrap="square" lIns="0" tIns="0" rIns="0" bIns="0"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Service models, deployment models, workflow &amp; architecture</a:t>
            </a:r>
            <a:endParaRPr lang="en-US" sz="1600" dirty="0"/>
          </a:p>
        </p:txBody>
      </p:sp>
      <p:sp>
        <p:nvSpPr>
          <p:cNvPr id="9" name="Text 6"/>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0" name="Text 7"/>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08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Key Characteristics of Cloud Computing</a:t>
            </a:r>
            <a:endParaRPr lang="en-US" sz="3000" dirty="0"/>
          </a:p>
        </p:txBody>
      </p:sp>
      <p:sp>
        <p:nvSpPr>
          <p:cNvPr id="4" name="Shape 2"/>
          <p:cNvSpPr/>
          <p:nvPr/>
        </p:nvSpPr>
        <p:spPr>
          <a:xfrm>
            <a:off x="548640" y="1691640"/>
            <a:ext cx="3520440" cy="2148840"/>
          </a:xfrm>
          <a:prstGeom prst="roundRect">
            <a:avLst>
              <a:gd name="adj" fmla="val 4255"/>
            </a:avLst>
          </a:prstGeom>
          <a:solidFill>
            <a:srgbClr val="F5F7FA"/>
          </a:solidFill>
        </p:spPr>
      </p:sp>
      <p:sp>
        <p:nvSpPr>
          <p:cNvPr id="5" name="Shape 3"/>
          <p:cNvSpPr/>
          <p:nvPr/>
        </p:nvSpPr>
        <p:spPr>
          <a:xfrm>
            <a:off x="804672" y="1929384"/>
            <a:ext cx="731520" cy="731520"/>
          </a:xfrm>
          <a:prstGeom prst="ellipse">
            <a:avLst/>
          </a:prstGeom>
          <a:solidFill>
            <a:srgbClr val="232F3E"/>
          </a:solidFill>
        </p:spPr>
      </p:sp>
      <p:pic>
        <p:nvPicPr>
          <p:cNvPr id="6" name="Image 0" descr="/home/claude/icons/users_orange.png"/>
          <p:cNvPicPr>
            <a:picLocks noChangeAspect="1"/>
          </p:cNvPicPr>
          <p:nvPr/>
        </p:nvPicPr>
        <p:blipFill>
          <a:blip r:embed="rId1"/>
          <a:stretch>
            <a:fillRect/>
          </a:stretch>
        </p:blipFill>
        <p:spPr>
          <a:xfrm>
            <a:off x="980237" y="2104949"/>
            <a:ext cx="380390" cy="380390"/>
          </a:xfrm>
          <a:prstGeom prst="rect">
            <a:avLst/>
          </a:prstGeom>
        </p:spPr>
      </p:pic>
      <p:sp>
        <p:nvSpPr>
          <p:cNvPr id="7" name="Text 4"/>
          <p:cNvSpPr/>
          <p:nvPr/>
        </p:nvSpPr>
        <p:spPr>
          <a:xfrm>
            <a:off x="804672" y="2788920"/>
            <a:ext cx="3063240" cy="502920"/>
          </a:xfrm>
          <a:prstGeom prst="rect">
            <a:avLst/>
          </a:prstGeom>
          <a:noFill/>
        </p:spPr>
        <p:txBody>
          <a:bodyPr wrap="square" lIns="0" tIns="0" rIns="0" bIns="0" rtlCol="0" anchor="ctr"/>
          <a:lstStyle/>
          <a:p>
            <a:pPr marL="0" indent="0">
              <a:buNone/>
            </a:pPr>
            <a:r>
              <a:rPr lang="en-US" sz="1450" b="1" dirty="0">
                <a:solidFill>
                  <a:srgbClr val="232F3E"/>
                </a:solidFill>
                <a:latin typeface="Calibri" panose="020F0502020204030204" pitchFamily="34" charset="0"/>
                <a:ea typeface="Calibri" panose="020F0502020204030204" pitchFamily="34" charset="-122"/>
                <a:cs typeface="Calibri" panose="020F0502020204030204" pitchFamily="34" charset="-120"/>
              </a:rPr>
              <a:t>On-Demand Self-Service</a:t>
            </a:r>
            <a:endParaRPr lang="en-US" sz="1450" dirty="0"/>
          </a:p>
        </p:txBody>
      </p:sp>
      <p:sp>
        <p:nvSpPr>
          <p:cNvPr id="8" name="Text 5"/>
          <p:cNvSpPr/>
          <p:nvPr/>
        </p:nvSpPr>
        <p:spPr>
          <a:xfrm>
            <a:off x="804672" y="3227832"/>
            <a:ext cx="3063240" cy="548640"/>
          </a:xfrm>
          <a:prstGeom prst="rect">
            <a:avLst/>
          </a:prstGeom>
          <a:noFill/>
        </p:spPr>
        <p:txBody>
          <a:bodyPr wrap="square" lIns="0" tIns="0" rIns="0" bIns="0" rtlCol="0" anchor="ctr"/>
          <a:lstStyle/>
          <a:p>
            <a:pPr marL="0" indent="0">
              <a:lnSpc>
                <a:spcPct val="110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Provision compute and storage instantly, without human intervention from the provider</a:t>
            </a:r>
            <a:endParaRPr lang="en-US" sz="1080" dirty="0"/>
          </a:p>
        </p:txBody>
      </p:sp>
      <p:sp>
        <p:nvSpPr>
          <p:cNvPr id="9" name="Shape 6"/>
          <p:cNvSpPr/>
          <p:nvPr/>
        </p:nvSpPr>
        <p:spPr>
          <a:xfrm>
            <a:off x="4297680" y="1691640"/>
            <a:ext cx="3520440" cy="2148840"/>
          </a:xfrm>
          <a:prstGeom prst="roundRect">
            <a:avLst>
              <a:gd name="adj" fmla="val 4255"/>
            </a:avLst>
          </a:prstGeom>
          <a:solidFill>
            <a:srgbClr val="F5F7FA"/>
          </a:solidFill>
        </p:spPr>
      </p:sp>
      <p:sp>
        <p:nvSpPr>
          <p:cNvPr id="10" name="Shape 7"/>
          <p:cNvSpPr/>
          <p:nvPr/>
        </p:nvSpPr>
        <p:spPr>
          <a:xfrm>
            <a:off x="4553712" y="1929384"/>
            <a:ext cx="731520" cy="731520"/>
          </a:xfrm>
          <a:prstGeom prst="ellipse">
            <a:avLst/>
          </a:prstGeom>
          <a:solidFill>
            <a:srgbClr val="232F3E"/>
          </a:solidFill>
        </p:spPr>
      </p:sp>
      <p:pic>
        <p:nvPicPr>
          <p:cNvPr id="11" name="Image 1" descr="/home/claude/icons/network_orange.png"/>
          <p:cNvPicPr>
            <a:picLocks noChangeAspect="1"/>
          </p:cNvPicPr>
          <p:nvPr/>
        </p:nvPicPr>
        <p:blipFill>
          <a:blip r:embed="rId2"/>
          <a:stretch>
            <a:fillRect/>
          </a:stretch>
        </p:blipFill>
        <p:spPr>
          <a:xfrm>
            <a:off x="4729277" y="2104949"/>
            <a:ext cx="380390" cy="380390"/>
          </a:xfrm>
          <a:prstGeom prst="rect">
            <a:avLst/>
          </a:prstGeom>
        </p:spPr>
      </p:pic>
      <p:sp>
        <p:nvSpPr>
          <p:cNvPr id="12" name="Text 8"/>
          <p:cNvSpPr/>
          <p:nvPr/>
        </p:nvSpPr>
        <p:spPr>
          <a:xfrm>
            <a:off x="4553712" y="2788920"/>
            <a:ext cx="3063240" cy="502920"/>
          </a:xfrm>
          <a:prstGeom prst="rect">
            <a:avLst/>
          </a:prstGeom>
          <a:noFill/>
        </p:spPr>
        <p:txBody>
          <a:bodyPr wrap="square" lIns="0" tIns="0" rIns="0" bIns="0" rtlCol="0" anchor="ctr"/>
          <a:lstStyle/>
          <a:p>
            <a:pPr marL="0" indent="0">
              <a:buNone/>
            </a:pPr>
            <a:r>
              <a:rPr lang="en-US" sz="1450" b="1" dirty="0">
                <a:solidFill>
                  <a:srgbClr val="232F3E"/>
                </a:solidFill>
                <a:latin typeface="Calibri" panose="020F0502020204030204" pitchFamily="34" charset="0"/>
                <a:ea typeface="Calibri" panose="020F0502020204030204" pitchFamily="34" charset="-122"/>
                <a:cs typeface="Calibri" panose="020F0502020204030204" pitchFamily="34" charset="-120"/>
              </a:rPr>
              <a:t>Broad Network Access</a:t>
            </a:r>
            <a:endParaRPr lang="en-US" sz="1450" dirty="0"/>
          </a:p>
        </p:txBody>
      </p:sp>
      <p:sp>
        <p:nvSpPr>
          <p:cNvPr id="13" name="Text 9"/>
          <p:cNvSpPr/>
          <p:nvPr/>
        </p:nvSpPr>
        <p:spPr>
          <a:xfrm>
            <a:off x="4553712" y="3227832"/>
            <a:ext cx="3063240" cy="548640"/>
          </a:xfrm>
          <a:prstGeom prst="rect">
            <a:avLst/>
          </a:prstGeom>
          <a:noFill/>
        </p:spPr>
        <p:txBody>
          <a:bodyPr wrap="square" lIns="0" tIns="0" rIns="0" bIns="0" rtlCol="0" anchor="ctr"/>
          <a:lstStyle/>
          <a:p>
            <a:pPr marL="0" indent="0">
              <a:lnSpc>
                <a:spcPct val="110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Access resources over the internet from laptops, phones, or tablets, anywhere</a:t>
            </a:r>
            <a:endParaRPr lang="en-US" sz="1080" dirty="0"/>
          </a:p>
        </p:txBody>
      </p:sp>
      <p:sp>
        <p:nvSpPr>
          <p:cNvPr id="14" name="Shape 10"/>
          <p:cNvSpPr/>
          <p:nvPr/>
        </p:nvSpPr>
        <p:spPr>
          <a:xfrm>
            <a:off x="8046720" y="1691640"/>
            <a:ext cx="3520440" cy="2148840"/>
          </a:xfrm>
          <a:prstGeom prst="roundRect">
            <a:avLst>
              <a:gd name="adj" fmla="val 4255"/>
            </a:avLst>
          </a:prstGeom>
          <a:solidFill>
            <a:srgbClr val="F5F7FA"/>
          </a:solidFill>
        </p:spPr>
      </p:sp>
      <p:sp>
        <p:nvSpPr>
          <p:cNvPr id="15" name="Shape 11"/>
          <p:cNvSpPr/>
          <p:nvPr/>
        </p:nvSpPr>
        <p:spPr>
          <a:xfrm>
            <a:off x="8302752" y="1929384"/>
            <a:ext cx="731520" cy="731520"/>
          </a:xfrm>
          <a:prstGeom prst="ellipse">
            <a:avLst/>
          </a:prstGeom>
          <a:solidFill>
            <a:srgbClr val="232F3E"/>
          </a:solidFill>
        </p:spPr>
      </p:sp>
      <p:pic>
        <p:nvPicPr>
          <p:cNvPr id="16" name="Image 2" descr="/home/claude/icons/cubes_orange.png"/>
          <p:cNvPicPr>
            <a:picLocks noChangeAspect="1"/>
          </p:cNvPicPr>
          <p:nvPr/>
        </p:nvPicPr>
        <p:blipFill>
          <a:blip r:embed="rId3"/>
          <a:stretch>
            <a:fillRect/>
          </a:stretch>
        </p:blipFill>
        <p:spPr>
          <a:xfrm>
            <a:off x="8478317" y="2104949"/>
            <a:ext cx="380390" cy="380390"/>
          </a:xfrm>
          <a:prstGeom prst="rect">
            <a:avLst/>
          </a:prstGeom>
        </p:spPr>
      </p:pic>
      <p:sp>
        <p:nvSpPr>
          <p:cNvPr id="17" name="Text 12"/>
          <p:cNvSpPr/>
          <p:nvPr/>
        </p:nvSpPr>
        <p:spPr>
          <a:xfrm>
            <a:off x="8302752" y="2788920"/>
            <a:ext cx="3063240" cy="502920"/>
          </a:xfrm>
          <a:prstGeom prst="rect">
            <a:avLst/>
          </a:prstGeom>
          <a:noFill/>
        </p:spPr>
        <p:txBody>
          <a:bodyPr wrap="square" lIns="0" tIns="0" rIns="0" bIns="0" rtlCol="0" anchor="ctr"/>
          <a:lstStyle/>
          <a:p>
            <a:pPr marL="0" indent="0">
              <a:buNone/>
            </a:pPr>
            <a:r>
              <a:rPr lang="en-US" sz="1450" b="1" dirty="0">
                <a:solidFill>
                  <a:srgbClr val="232F3E"/>
                </a:solidFill>
                <a:latin typeface="Calibri" panose="020F0502020204030204" pitchFamily="34" charset="0"/>
                <a:ea typeface="Calibri" panose="020F0502020204030204" pitchFamily="34" charset="-122"/>
                <a:cs typeface="Calibri" panose="020F0502020204030204" pitchFamily="34" charset="-120"/>
              </a:rPr>
              <a:t>Resource Pooling</a:t>
            </a:r>
            <a:endParaRPr lang="en-US" sz="1450" dirty="0"/>
          </a:p>
        </p:txBody>
      </p:sp>
      <p:sp>
        <p:nvSpPr>
          <p:cNvPr id="18" name="Text 13"/>
          <p:cNvSpPr/>
          <p:nvPr/>
        </p:nvSpPr>
        <p:spPr>
          <a:xfrm>
            <a:off x="8302752" y="3227832"/>
            <a:ext cx="3063240" cy="548640"/>
          </a:xfrm>
          <a:prstGeom prst="rect">
            <a:avLst/>
          </a:prstGeom>
          <a:noFill/>
        </p:spPr>
        <p:txBody>
          <a:bodyPr wrap="square" lIns="0" tIns="0" rIns="0" bIns="0" rtlCol="0" anchor="ctr"/>
          <a:lstStyle/>
          <a:p>
            <a:pPr marL="0" indent="0">
              <a:lnSpc>
                <a:spcPct val="110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Providers serve many customers from shared physical resources using multi-tenancy</a:t>
            </a:r>
            <a:endParaRPr lang="en-US" sz="1080" dirty="0"/>
          </a:p>
        </p:txBody>
      </p:sp>
      <p:sp>
        <p:nvSpPr>
          <p:cNvPr id="19" name="Shape 14"/>
          <p:cNvSpPr/>
          <p:nvPr/>
        </p:nvSpPr>
        <p:spPr>
          <a:xfrm>
            <a:off x="548640" y="4023360"/>
            <a:ext cx="3520440" cy="2148840"/>
          </a:xfrm>
          <a:prstGeom prst="roundRect">
            <a:avLst>
              <a:gd name="adj" fmla="val 4255"/>
            </a:avLst>
          </a:prstGeom>
          <a:solidFill>
            <a:srgbClr val="F5F7FA"/>
          </a:solidFill>
        </p:spPr>
      </p:sp>
      <p:sp>
        <p:nvSpPr>
          <p:cNvPr id="20" name="Shape 15"/>
          <p:cNvSpPr/>
          <p:nvPr/>
        </p:nvSpPr>
        <p:spPr>
          <a:xfrm>
            <a:off x="804672" y="4261104"/>
            <a:ext cx="731520" cy="731520"/>
          </a:xfrm>
          <a:prstGeom prst="ellipse">
            <a:avLst/>
          </a:prstGeom>
          <a:solidFill>
            <a:srgbClr val="232F3E"/>
          </a:solidFill>
        </p:spPr>
      </p:sp>
      <p:pic>
        <p:nvPicPr>
          <p:cNvPr id="21" name="Image 3" descr="/home/claude/icons/expand_orange.png"/>
          <p:cNvPicPr>
            <a:picLocks noChangeAspect="1"/>
          </p:cNvPicPr>
          <p:nvPr/>
        </p:nvPicPr>
        <p:blipFill>
          <a:blip r:embed="rId4"/>
          <a:stretch>
            <a:fillRect/>
          </a:stretch>
        </p:blipFill>
        <p:spPr>
          <a:xfrm>
            <a:off x="980237" y="4436669"/>
            <a:ext cx="380390" cy="380390"/>
          </a:xfrm>
          <a:prstGeom prst="rect">
            <a:avLst/>
          </a:prstGeom>
        </p:spPr>
      </p:pic>
      <p:sp>
        <p:nvSpPr>
          <p:cNvPr id="22" name="Text 16"/>
          <p:cNvSpPr/>
          <p:nvPr/>
        </p:nvSpPr>
        <p:spPr>
          <a:xfrm>
            <a:off x="804672" y="5120640"/>
            <a:ext cx="3063240" cy="502920"/>
          </a:xfrm>
          <a:prstGeom prst="rect">
            <a:avLst/>
          </a:prstGeom>
          <a:noFill/>
        </p:spPr>
        <p:txBody>
          <a:bodyPr wrap="square" lIns="0" tIns="0" rIns="0" bIns="0" rtlCol="0" anchor="ctr"/>
          <a:lstStyle/>
          <a:p>
            <a:pPr marL="0" indent="0">
              <a:buNone/>
            </a:pPr>
            <a:r>
              <a:rPr lang="en-US" sz="1450" b="1" dirty="0">
                <a:solidFill>
                  <a:srgbClr val="232F3E"/>
                </a:solidFill>
                <a:latin typeface="Calibri" panose="020F0502020204030204" pitchFamily="34" charset="0"/>
                <a:ea typeface="Calibri" panose="020F0502020204030204" pitchFamily="34" charset="-122"/>
                <a:cs typeface="Calibri" panose="020F0502020204030204" pitchFamily="34" charset="-120"/>
              </a:rPr>
              <a:t>Rapid Elasticity</a:t>
            </a:r>
            <a:endParaRPr lang="en-US" sz="1450" dirty="0"/>
          </a:p>
        </p:txBody>
      </p:sp>
      <p:sp>
        <p:nvSpPr>
          <p:cNvPr id="23" name="Text 17"/>
          <p:cNvSpPr/>
          <p:nvPr/>
        </p:nvSpPr>
        <p:spPr>
          <a:xfrm>
            <a:off x="804672" y="5559552"/>
            <a:ext cx="3063240" cy="548640"/>
          </a:xfrm>
          <a:prstGeom prst="rect">
            <a:avLst/>
          </a:prstGeom>
          <a:noFill/>
        </p:spPr>
        <p:txBody>
          <a:bodyPr wrap="square" lIns="0" tIns="0" rIns="0" bIns="0" rtlCol="0" anchor="ctr"/>
          <a:lstStyle/>
          <a:p>
            <a:pPr marL="0" indent="0">
              <a:lnSpc>
                <a:spcPct val="110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Capacity scales up or down automatically to match real-time demand</a:t>
            </a:r>
            <a:endParaRPr lang="en-US" sz="1080" dirty="0"/>
          </a:p>
        </p:txBody>
      </p:sp>
      <p:sp>
        <p:nvSpPr>
          <p:cNvPr id="24" name="Shape 18"/>
          <p:cNvSpPr/>
          <p:nvPr/>
        </p:nvSpPr>
        <p:spPr>
          <a:xfrm>
            <a:off x="4297680" y="4023360"/>
            <a:ext cx="3520440" cy="2148840"/>
          </a:xfrm>
          <a:prstGeom prst="roundRect">
            <a:avLst>
              <a:gd name="adj" fmla="val 4255"/>
            </a:avLst>
          </a:prstGeom>
          <a:solidFill>
            <a:srgbClr val="F5F7FA"/>
          </a:solidFill>
        </p:spPr>
      </p:sp>
      <p:sp>
        <p:nvSpPr>
          <p:cNvPr id="25" name="Shape 19"/>
          <p:cNvSpPr/>
          <p:nvPr/>
        </p:nvSpPr>
        <p:spPr>
          <a:xfrm>
            <a:off x="4553712" y="4261104"/>
            <a:ext cx="731520" cy="731520"/>
          </a:xfrm>
          <a:prstGeom prst="ellipse">
            <a:avLst/>
          </a:prstGeom>
          <a:solidFill>
            <a:srgbClr val="232F3E"/>
          </a:solidFill>
        </p:spPr>
      </p:sp>
      <p:pic>
        <p:nvPicPr>
          <p:cNvPr id="26" name="Image 4" descr="/home/claude/icons/chart_orange.png"/>
          <p:cNvPicPr>
            <a:picLocks noChangeAspect="1"/>
          </p:cNvPicPr>
          <p:nvPr/>
        </p:nvPicPr>
        <p:blipFill>
          <a:blip r:embed="rId5"/>
          <a:stretch>
            <a:fillRect/>
          </a:stretch>
        </p:blipFill>
        <p:spPr>
          <a:xfrm>
            <a:off x="4729277" y="4436669"/>
            <a:ext cx="380390" cy="380390"/>
          </a:xfrm>
          <a:prstGeom prst="rect">
            <a:avLst/>
          </a:prstGeom>
        </p:spPr>
      </p:pic>
      <p:sp>
        <p:nvSpPr>
          <p:cNvPr id="27" name="Text 20"/>
          <p:cNvSpPr/>
          <p:nvPr/>
        </p:nvSpPr>
        <p:spPr>
          <a:xfrm>
            <a:off x="4553712" y="5120640"/>
            <a:ext cx="3063240" cy="502920"/>
          </a:xfrm>
          <a:prstGeom prst="rect">
            <a:avLst/>
          </a:prstGeom>
          <a:noFill/>
        </p:spPr>
        <p:txBody>
          <a:bodyPr wrap="square" lIns="0" tIns="0" rIns="0" bIns="0" rtlCol="0" anchor="ctr"/>
          <a:lstStyle/>
          <a:p>
            <a:pPr marL="0" indent="0">
              <a:buNone/>
            </a:pPr>
            <a:r>
              <a:rPr lang="en-US" sz="1450" b="1" dirty="0">
                <a:solidFill>
                  <a:srgbClr val="232F3E"/>
                </a:solidFill>
                <a:latin typeface="Calibri" panose="020F0502020204030204" pitchFamily="34" charset="0"/>
                <a:ea typeface="Calibri" panose="020F0502020204030204" pitchFamily="34" charset="-122"/>
                <a:cs typeface="Calibri" panose="020F0502020204030204" pitchFamily="34" charset="-120"/>
              </a:rPr>
              <a:t>Measured Service</a:t>
            </a:r>
            <a:endParaRPr lang="en-US" sz="1450" dirty="0"/>
          </a:p>
        </p:txBody>
      </p:sp>
      <p:sp>
        <p:nvSpPr>
          <p:cNvPr id="28" name="Text 21"/>
          <p:cNvSpPr/>
          <p:nvPr/>
        </p:nvSpPr>
        <p:spPr>
          <a:xfrm>
            <a:off x="4553712" y="5559552"/>
            <a:ext cx="3063240" cy="548640"/>
          </a:xfrm>
          <a:prstGeom prst="rect">
            <a:avLst/>
          </a:prstGeom>
          <a:noFill/>
        </p:spPr>
        <p:txBody>
          <a:bodyPr wrap="square" lIns="0" tIns="0" rIns="0" bIns="0" rtlCol="0" anchor="ctr"/>
          <a:lstStyle/>
          <a:p>
            <a:pPr marL="0" indent="0">
              <a:lnSpc>
                <a:spcPct val="110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Usage is monitored and metered, giving pay-as-you-go transparent billing</a:t>
            </a:r>
            <a:endParaRPr lang="en-US" sz="1080" dirty="0"/>
          </a:p>
        </p:txBody>
      </p:sp>
      <p:sp>
        <p:nvSpPr>
          <p:cNvPr id="29" name="Text 2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0" name="Text 2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09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Benefits of Cloud Computing</a:t>
            </a:r>
            <a:endParaRPr lang="en-US" sz="3000" dirty="0"/>
          </a:p>
        </p:txBody>
      </p:sp>
      <p:sp>
        <p:nvSpPr>
          <p:cNvPr id="4" name="Shape 2"/>
          <p:cNvSpPr/>
          <p:nvPr/>
        </p:nvSpPr>
        <p:spPr>
          <a:xfrm>
            <a:off x="548640" y="1828800"/>
            <a:ext cx="685800" cy="685800"/>
          </a:xfrm>
          <a:prstGeom prst="ellipse">
            <a:avLst/>
          </a:prstGeom>
          <a:solidFill>
            <a:srgbClr val="37475A"/>
          </a:solidFill>
        </p:spPr>
      </p:sp>
      <p:pic>
        <p:nvPicPr>
          <p:cNvPr id="5" name="Image 0" descr="/home/claude/icons/money_orange.png"/>
          <p:cNvPicPr>
            <a:picLocks noChangeAspect="1"/>
          </p:cNvPicPr>
          <p:nvPr/>
        </p:nvPicPr>
        <p:blipFill>
          <a:blip r:embed="rId1"/>
          <a:stretch>
            <a:fillRect/>
          </a:stretch>
        </p:blipFill>
        <p:spPr>
          <a:xfrm>
            <a:off x="713232" y="1993392"/>
            <a:ext cx="356616" cy="356616"/>
          </a:xfrm>
          <a:prstGeom prst="rect">
            <a:avLst/>
          </a:prstGeom>
        </p:spPr>
      </p:pic>
      <p:sp>
        <p:nvSpPr>
          <p:cNvPr id="6" name="Text 3"/>
          <p:cNvSpPr/>
          <p:nvPr/>
        </p:nvSpPr>
        <p:spPr>
          <a:xfrm>
            <a:off x="1417320" y="1810512"/>
            <a:ext cx="269748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Cost Savings</a:t>
            </a:r>
            <a:endParaRPr lang="en-US" sz="1550" dirty="0"/>
          </a:p>
        </p:txBody>
      </p:sp>
      <p:sp>
        <p:nvSpPr>
          <p:cNvPr id="7" name="Text 4"/>
          <p:cNvSpPr/>
          <p:nvPr/>
        </p:nvSpPr>
        <p:spPr>
          <a:xfrm>
            <a:off x="548640" y="2697480"/>
            <a:ext cx="3520440" cy="822960"/>
          </a:xfrm>
          <a:prstGeom prst="rect">
            <a:avLst/>
          </a:prstGeom>
          <a:noFill/>
        </p:spPr>
        <p:txBody>
          <a:bodyPr wrap="square" lIns="0" tIns="0" rIns="0" bIns="0" rtlCol="0" anchor="ctr"/>
          <a:lstStyle/>
          <a:p>
            <a:pPr marL="0" indent="0">
              <a:lnSpc>
                <a:spcPct val="11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Convert capital expense into operating expense</a:t>
            </a:r>
            <a:endParaRPr lang="en-US" sz="1200" dirty="0"/>
          </a:p>
        </p:txBody>
      </p:sp>
      <p:sp>
        <p:nvSpPr>
          <p:cNvPr id="8" name="Shape 5"/>
          <p:cNvSpPr/>
          <p:nvPr/>
        </p:nvSpPr>
        <p:spPr>
          <a:xfrm>
            <a:off x="4297680" y="1828800"/>
            <a:ext cx="685800" cy="685800"/>
          </a:xfrm>
          <a:prstGeom prst="ellipse">
            <a:avLst/>
          </a:prstGeom>
          <a:solidFill>
            <a:srgbClr val="37475A"/>
          </a:solidFill>
        </p:spPr>
      </p:sp>
      <p:pic>
        <p:nvPicPr>
          <p:cNvPr id="9" name="Image 1" descr="/home/claude/icons/bolt_orange.png"/>
          <p:cNvPicPr>
            <a:picLocks noChangeAspect="1"/>
          </p:cNvPicPr>
          <p:nvPr/>
        </p:nvPicPr>
        <p:blipFill>
          <a:blip r:embed="rId2"/>
          <a:stretch>
            <a:fillRect/>
          </a:stretch>
        </p:blipFill>
        <p:spPr>
          <a:xfrm>
            <a:off x="4462272" y="1993392"/>
            <a:ext cx="356616" cy="356616"/>
          </a:xfrm>
          <a:prstGeom prst="rect">
            <a:avLst/>
          </a:prstGeom>
        </p:spPr>
      </p:pic>
      <p:sp>
        <p:nvSpPr>
          <p:cNvPr id="10" name="Text 6"/>
          <p:cNvSpPr/>
          <p:nvPr/>
        </p:nvSpPr>
        <p:spPr>
          <a:xfrm>
            <a:off x="5166360" y="1810512"/>
            <a:ext cx="269748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Speed &amp; Agility</a:t>
            </a:r>
            <a:endParaRPr lang="en-US" sz="1550" dirty="0"/>
          </a:p>
        </p:txBody>
      </p:sp>
      <p:sp>
        <p:nvSpPr>
          <p:cNvPr id="11" name="Text 7"/>
          <p:cNvSpPr/>
          <p:nvPr/>
        </p:nvSpPr>
        <p:spPr>
          <a:xfrm>
            <a:off x="4297680" y="2697480"/>
            <a:ext cx="3520440" cy="822960"/>
          </a:xfrm>
          <a:prstGeom prst="rect">
            <a:avLst/>
          </a:prstGeom>
          <a:noFill/>
        </p:spPr>
        <p:txBody>
          <a:bodyPr wrap="square" lIns="0" tIns="0" rIns="0" bIns="0" rtlCol="0" anchor="ctr"/>
          <a:lstStyle/>
          <a:p>
            <a:pPr marL="0" indent="0">
              <a:lnSpc>
                <a:spcPct val="11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Deploy new resources within minutes</a:t>
            </a:r>
            <a:endParaRPr lang="en-US" sz="1200" dirty="0"/>
          </a:p>
        </p:txBody>
      </p:sp>
      <p:sp>
        <p:nvSpPr>
          <p:cNvPr id="12" name="Shape 8"/>
          <p:cNvSpPr/>
          <p:nvPr/>
        </p:nvSpPr>
        <p:spPr>
          <a:xfrm>
            <a:off x="8046720" y="1828800"/>
            <a:ext cx="685800" cy="685800"/>
          </a:xfrm>
          <a:prstGeom prst="ellipse">
            <a:avLst/>
          </a:prstGeom>
          <a:solidFill>
            <a:srgbClr val="37475A"/>
          </a:solidFill>
        </p:spPr>
      </p:sp>
      <p:pic>
        <p:nvPicPr>
          <p:cNvPr id="13" name="Image 2" descr="/home/claude/icons/expand_orange.png"/>
          <p:cNvPicPr>
            <a:picLocks noChangeAspect="1"/>
          </p:cNvPicPr>
          <p:nvPr/>
        </p:nvPicPr>
        <p:blipFill>
          <a:blip r:embed="rId3"/>
          <a:stretch>
            <a:fillRect/>
          </a:stretch>
        </p:blipFill>
        <p:spPr>
          <a:xfrm>
            <a:off x="8211312" y="1993392"/>
            <a:ext cx="356616" cy="356616"/>
          </a:xfrm>
          <a:prstGeom prst="rect">
            <a:avLst/>
          </a:prstGeom>
        </p:spPr>
      </p:pic>
      <p:sp>
        <p:nvSpPr>
          <p:cNvPr id="14" name="Text 9"/>
          <p:cNvSpPr/>
          <p:nvPr/>
        </p:nvSpPr>
        <p:spPr>
          <a:xfrm>
            <a:off x="8915400" y="1810512"/>
            <a:ext cx="269748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Scalability</a:t>
            </a:r>
            <a:endParaRPr lang="en-US" sz="1550" dirty="0"/>
          </a:p>
        </p:txBody>
      </p:sp>
      <p:sp>
        <p:nvSpPr>
          <p:cNvPr id="15" name="Text 10"/>
          <p:cNvSpPr/>
          <p:nvPr/>
        </p:nvSpPr>
        <p:spPr>
          <a:xfrm>
            <a:off x="8046720" y="2697480"/>
            <a:ext cx="3520440" cy="822960"/>
          </a:xfrm>
          <a:prstGeom prst="rect">
            <a:avLst/>
          </a:prstGeom>
          <a:noFill/>
        </p:spPr>
        <p:txBody>
          <a:bodyPr wrap="square" lIns="0" tIns="0" rIns="0" bIns="0" rtlCol="0" anchor="ctr"/>
          <a:lstStyle/>
          <a:p>
            <a:pPr marL="0" indent="0">
              <a:lnSpc>
                <a:spcPct val="11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Match capacity precisely to demand</a:t>
            </a:r>
            <a:endParaRPr lang="en-US" sz="1200" dirty="0"/>
          </a:p>
        </p:txBody>
      </p:sp>
      <p:sp>
        <p:nvSpPr>
          <p:cNvPr id="16" name="Shape 11"/>
          <p:cNvSpPr/>
          <p:nvPr/>
        </p:nvSpPr>
        <p:spPr>
          <a:xfrm>
            <a:off x="548640" y="4160520"/>
            <a:ext cx="685800" cy="685800"/>
          </a:xfrm>
          <a:prstGeom prst="ellipse">
            <a:avLst/>
          </a:prstGeom>
          <a:solidFill>
            <a:srgbClr val="37475A"/>
          </a:solidFill>
        </p:spPr>
      </p:sp>
      <p:pic>
        <p:nvPicPr>
          <p:cNvPr id="17" name="Image 3" descr="/home/claude/icons/shield_orange.png"/>
          <p:cNvPicPr>
            <a:picLocks noChangeAspect="1"/>
          </p:cNvPicPr>
          <p:nvPr/>
        </p:nvPicPr>
        <p:blipFill>
          <a:blip r:embed="rId4"/>
          <a:stretch>
            <a:fillRect/>
          </a:stretch>
        </p:blipFill>
        <p:spPr>
          <a:xfrm>
            <a:off x="713232" y="4325112"/>
            <a:ext cx="356616" cy="356616"/>
          </a:xfrm>
          <a:prstGeom prst="rect">
            <a:avLst/>
          </a:prstGeom>
        </p:spPr>
      </p:pic>
      <p:sp>
        <p:nvSpPr>
          <p:cNvPr id="18" name="Text 12"/>
          <p:cNvSpPr/>
          <p:nvPr/>
        </p:nvSpPr>
        <p:spPr>
          <a:xfrm>
            <a:off x="1417320" y="4142232"/>
            <a:ext cx="269748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Reliability</a:t>
            </a:r>
            <a:endParaRPr lang="en-US" sz="1550" dirty="0"/>
          </a:p>
        </p:txBody>
      </p:sp>
      <p:sp>
        <p:nvSpPr>
          <p:cNvPr id="19" name="Text 13"/>
          <p:cNvSpPr/>
          <p:nvPr/>
        </p:nvSpPr>
        <p:spPr>
          <a:xfrm>
            <a:off x="548640" y="5029200"/>
            <a:ext cx="3520440" cy="822960"/>
          </a:xfrm>
          <a:prstGeom prst="rect">
            <a:avLst/>
          </a:prstGeom>
          <a:noFill/>
        </p:spPr>
        <p:txBody>
          <a:bodyPr wrap="square" lIns="0" tIns="0" rIns="0" bIns="0" rtlCol="0" anchor="ctr"/>
          <a:lstStyle/>
          <a:p>
            <a:pPr marL="0" indent="0">
              <a:lnSpc>
                <a:spcPct val="11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Data backup, disaster recovery, redundancy</a:t>
            </a:r>
            <a:endParaRPr lang="en-US" sz="1200" dirty="0"/>
          </a:p>
        </p:txBody>
      </p:sp>
      <p:sp>
        <p:nvSpPr>
          <p:cNvPr id="20" name="Shape 14"/>
          <p:cNvSpPr/>
          <p:nvPr/>
        </p:nvSpPr>
        <p:spPr>
          <a:xfrm>
            <a:off x="4297680" y="4160520"/>
            <a:ext cx="685800" cy="685800"/>
          </a:xfrm>
          <a:prstGeom prst="ellipse">
            <a:avLst/>
          </a:prstGeom>
          <a:solidFill>
            <a:srgbClr val="37475A"/>
          </a:solidFill>
        </p:spPr>
      </p:sp>
      <p:pic>
        <p:nvPicPr>
          <p:cNvPr id="21" name="Image 4" descr="/home/claude/icons/lock_orange.png"/>
          <p:cNvPicPr>
            <a:picLocks noChangeAspect="1"/>
          </p:cNvPicPr>
          <p:nvPr/>
        </p:nvPicPr>
        <p:blipFill>
          <a:blip r:embed="rId5"/>
          <a:stretch>
            <a:fillRect/>
          </a:stretch>
        </p:blipFill>
        <p:spPr>
          <a:xfrm>
            <a:off x="4462272" y="4325112"/>
            <a:ext cx="356616" cy="356616"/>
          </a:xfrm>
          <a:prstGeom prst="rect">
            <a:avLst/>
          </a:prstGeom>
        </p:spPr>
      </p:pic>
      <p:sp>
        <p:nvSpPr>
          <p:cNvPr id="22" name="Text 15"/>
          <p:cNvSpPr/>
          <p:nvPr/>
        </p:nvSpPr>
        <p:spPr>
          <a:xfrm>
            <a:off x="5166360" y="4142232"/>
            <a:ext cx="269748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Security</a:t>
            </a:r>
            <a:endParaRPr lang="en-US" sz="1550" dirty="0"/>
          </a:p>
        </p:txBody>
      </p:sp>
      <p:sp>
        <p:nvSpPr>
          <p:cNvPr id="23" name="Text 16"/>
          <p:cNvSpPr/>
          <p:nvPr/>
        </p:nvSpPr>
        <p:spPr>
          <a:xfrm>
            <a:off x="4297680" y="5029200"/>
            <a:ext cx="3520440" cy="822960"/>
          </a:xfrm>
          <a:prstGeom prst="rect">
            <a:avLst/>
          </a:prstGeom>
          <a:noFill/>
        </p:spPr>
        <p:txBody>
          <a:bodyPr wrap="square" lIns="0" tIns="0" rIns="0" bIns="0" rtlCol="0" anchor="ctr"/>
          <a:lstStyle/>
          <a:p>
            <a:pPr marL="0" indent="0">
              <a:lnSpc>
                <a:spcPct val="11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Enterprise-grade security built into the platform</a:t>
            </a:r>
            <a:endParaRPr lang="en-US" sz="1200" dirty="0"/>
          </a:p>
        </p:txBody>
      </p:sp>
      <p:sp>
        <p:nvSpPr>
          <p:cNvPr id="24" name="Shape 17"/>
          <p:cNvSpPr/>
          <p:nvPr/>
        </p:nvSpPr>
        <p:spPr>
          <a:xfrm>
            <a:off x="8046720" y="4160520"/>
            <a:ext cx="685800" cy="685800"/>
          </a:xfrm>
          <a:prstGeom prst="ellipse">
            <a:avLst/>
          </a:prstGeom>
          <a:solidFill>
            <a:srgbClr val="37475A"/>
          </a:solidFill>
        </p:spPr>
      </p:sp>
      <p:pic>
        <p:nvPicPr>
          <p:cNvPr id="25" name="Image 5" descr="/home/claude/icons/globe_orange.png"/>
          <p:cNvPicPr>
            <a:picLocks noChangeAspect="1"/>
          </p:cNvPicPr>
          <p:nvPr/>
        </p:nvPicPr>
        <p:blipFill>
          <a:blip r:embed="rId6"/>
          <a:stretch>
            <a:fillRect/>
          </a:stretch>
        </p:blipFill>
        <p:spPr>
          <a:xfrm>
            <a:off x="8211312" y="4325112"/>
            <a:ext cx="356616" cy="356616"/>
          </a:xfrm>
          <a:prstGeom prst="rect">
            <a:avLst/>
          </a:prstGeom>
        </p:spPr>
      </p:pic>
      <p:sp>
        <p:nvSpPr>
          <p:cNvPr id="26" name="Text 18"/>
          <p:cNvSpPr/>
          <p:nvPr/>
        </p:nvSpPr>
        <p:spPr>
          <a:xfrm>
            <a:off x="8915400" y="4142232"/>
            <a:ext cx="269748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Global Reach</a:t>
            </a:r>
            <a:endParaRPr lang="en-US" sz="1550" dirty="0"/>
          </a:p>
        </p:txBody>
      </p:sp>
      <p:sp>
        <p:nvSpPr>
          <p:cNvPr id="27" name="Text 19"/>
          <p:cNvSpPr/>
          <p:nvPr/>
        </p:nvSpPr>
        <p:spPr>
          <a:xfrm>
            <a:off x="8046720" y="5029200"/>
            <a:ext cx="3520440" cy="822960"/>
          </a:xfrm>
          <a:prstGeom prst="rect">
            <a:avLst/>
          </a:prstGeom>
          <a:noFill/>
        </p:spPr>
        <p:txBody>
          <a:bodyPr wrap="square" lIns="0" tIns="0" rIns="0" bIns="0" rtlCol="0" anchor="ctr"/>
          <a:lstStyle/>
          <a:p>
            <a:pPr marL="0" indent="0">
              <a:lnSpc>
                <a:spcPct val="11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Deploy applications close to users worldwide</a:t>
            </a:r>
            <a:endParaRPr lang="en-US" sz="1200" dirty="0"/>
          </a:p>
        </p:txBody>
      </p:sp>
      <p:sp>
        <p:nvSpPr>
          <p:cNvPr id="28" name="Text 20"/>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9" name="Text 21"/>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Global Infrastructure: Regions &amp; Availability Zones</a:t>
            </a:r>
            <a:endParaRPr lang="en-US" sz="3000" dirty="0"/>
          </a:p>
        </p:txBody>
      </p:sp>
      <p:sp>
        <p:nvSpPr>
          <p:cNvPr id="4" name="Text 2"/>
          <p:cNvSpPr/>
          <p:nvPr/>
        </p:nvSpPr>
        <p:spPr>
          <a:xfrm>
            <a:off x="548640" y="1691640"/>
            <a:ext cx="5120640" cy="320040"/>
          </a:xfrm>
          <a:prstGeom prst="rect">
            <a:avLst/>
          </a:prstGeom>
          <a:noFill/>
        </p:spPr>
        <p:txBody>
          <a:bodyPr wrap="square" lIns="0" tIns="0" rIns="0" bIns="0" rtlCol="0" anchor="ctr"/>
          <a:lstStyle/>
          <a:p>
            <a:pPr marL="0" indent="0">
              <a:buNone/>
            </a:pPr>
            <a:r>
              <a:rPr lang="en-US" sz="1500" b="1" dirty="0">
                <a:solidFill>
                  <a:srgbClr val="FF9900"/>
                </a:solidFill>
                <a:latin typeface="Calibri" panose="020F0502020204030204" pitchFamily="34" charset="0"/>
                <a:ea typeface="Calibri" panose="020F0502020204030204" pitchFamily="34" charset="-122"/>
                <a:cs typeface="Calibri" panose="020F0502020204030204" pitchFamily="34" charset="-120"/>
              </a:rPr>
              <a:t>Region</a:t>
            </a:r>
            <a:endParaRPr lang="en-US" sz="1500" dirty="0"/>
          </a:p>
        </p:txBody>
      </p:sp>
      <p:sp>
        <p:nvSpPr>
          <p:cNvPr id="5" name="Text 3"/>
          <p:cNvSpPr/>
          <p:nvPr/>
        </p:nvSpPr>
        <p:spPr>
          <a:xfrm>
            <a:off x="548640" y="2029968"/>
            <a:ext cx="5120640" cy="868680"/>
          </a:xfrm>
          <a:prstGeom prst="rect">
            <a:avLst/>
          </a:prstGeom>
          <a:noFill/>
        </p:spPr>
        <p:txBody>
          <a:bodyPr wrap="square" lIns="0" tIns="0" rIns="0" bIns="0" rtlCol="0" anchor="ctr"/>
          <a:lstStyle/>
          <a:p>
            <a:pPr marL="0" indent="0">
              <a:lnSpc>
                <a:spcPct val="120000"/>
              </a:lnSpc>
              <a:buNone/>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A geographic area (e.g., Mumbai, Singapore, Virginia) containing multiple, fully isolated locations called Availability Zones.</a:t>
            </a:r>
            <a:endParaRPr lang="en-US" sz="1300" dirty="0"/>
          </a:p>
        </p:txBody>
      </p:sp>
      <p:sp>
        <p:nvSpPr>
          <p:cNvPr id="6" name="Text 4"/>
          <p:cNvSpPr/>
          <p:nvPr/>
        </p:nvSpPr>
        <p:spPr>
          <a:xfrm>
            <a:off x="548640" y="2971800"/>
            <a:ext cx="5120640" cy="320040"/>
          </a:xfrm>
          <a:prstGeom prst="rect">
            <a:avLst/>
          </a:prstGeom>
          <a:noFill/>
        </p:spPr>
        <p:txBody>
          <a:bodyPr wrap="square" lIns="0" tIns="0" rIns="0" bIns="0" rtlCol="0" anchor="ctr"/>
          <a:lstStyle/>
          <a:p>
            <a:pPr marL="0" indent="0">
              <a:buNone/>
            </a:pPr>
            <a:r>
              <a:rPr lang="en-US" sz="1500" b="1" dirty="0">
                <a:solidFill>
                  <a:srgbClr val="FF9900"/>
                </a:solidFill>
                <a:latin typeface="Calibri" panose="020F0502020204030204" pitchFamily="34" charset="0"/>
                <a:ea typeface="Calibri" panose="020F0502020204030204" pitchFamily="34" charset="-122"/>
                <a:cs typeface="Calibri" panose="020F0502020204030204" pitchFamily="34" charset="-120"/>
              </a:rPr>
              <a:t>Availability Zone (AZ)</a:t>
            </a:r>
            <a:endParaRPr lang="en-US" sz="1500" dirty="0"/>
          </a:p>
        </p:txBody>
      </p:sp>
      <p:sp>
        <p:nvSpPr>
          <p:cNvPr id="7" name="Text 5"/>
          <p:cNvSpPr/>
          <p:nvPr/>
        </p:nvSpPr>
        <p:spPr>
          <a:xfrm>
            <a:off x="548640" y="3310128"/>
            <a:ext cx="5120640" cy="868680"/>
          </a:xfrm>
          <a:prstGeom prst="rect">
            <a:avLst/>
          </a:prstGeom>
          <a:noFill/>
        </p:spPr>
        <p:txBody>
          <a:bodyPr wrap="square" lIns="0" tIns="0" rIns="0" bIns="0" rtlCol="0" anchor="ctr"/>
          <a:lstStyle/>
          <a:p>
            <a:pPr marL="0" indent="0">
              <a:lnSpc>
                <a:spcPct val="120000"/>
              </a:lnSpc>
              <a:buNone/>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One or more discrete data centers with independent power, cooling, and networking — isolated from failures in other AZs.</a:t>
            </a:r>
            <a:endParaRPr lang="en-US" sz="1300" dirty="0"/>
          </a:p>
        </p:txBody>
      </p:sp>
      <p:sp>
        <p:nvSpPr>
          <p:cNvPr id="8" name="Text 6"/>
          <p:cNvSpPr/>
          <p:nvPr/>
        </p:nvSpPr>
        <p:spPr>
          <a:xfrm>
            <a:off x="548640" y="4251960"/>
            <a:ext cx="5120640" cy="320040"/>
          </a:xfrm>
          <a:prstGeom prst="rect">
            <a:avLst/>
          </a:prstGeom>
          <a:noFill/>
        </p:spPr>
        <p:txBody>
          <a:bodyPr wrap="square" lIns="0" tIns="0" rIns="0" bIns="0" rtlCol="0" anchor="ctr"/>
          <a:lstStyle/>
          <a:p>
            <a:pPr marL="0" indent="0">
              <a:buNone/>
            </a:pPr>
            <a:r>
              <a:rPr lang="en-US" sz="1500" b="1" dirty="0">
                <a:solidFill>
                  <a:srgbClr val="FF9900"/>
                </a:solidFill>
                <a:latin typeface="Calibri" panose="020F0502020204030204" pitchFamily="34" charset="0"/>
                <a:ea typeface="Calibri" panose="020F0502020204030204" pitchFamily="34" charset="-122"/>
                <a:cs typeface="Calibri" panose="020F0502020204030204" pitchFamily="34" charset="-120"/>
              </a:rPr>
              <a:t>Why It Matters</a:t>
            </a:r>
            <a:endParaRPr lang="en-US" sz="1500" dirty="0"/>
          </a:p>
        </p:txBody>
      </p:sp>
      <p:sp>
        <p:nvSpPr>
          <p:cNvPr id="9" name="Text 7"/>
          <p:cNvSpPr/>
          <p:nvPr/>
        </p:nvSpPr>
        <p:spPr>
          <a:xfrm>
            <a:off x="548640" y="4590288"/>
            <a:ext cx="5120640" cy="868680"/>
          </a:xfrm>
          <a:prstGeom prst="rect">
            <a:avLst/>
          </a:prstGeom>
          <a:noFill/>
        </p:spPr>
        <p:txBody>
          <a:bodyPr wrap="square" lIns="0" tIns="0" rIns="0" bIns="0" rtlCol="0" anchor="ctr"/>
          <a:lstStyle/>
          <a:p>
            <a:pPr marL="0" indent="0">
              <a:lnSpc>
                <a:spcPct val="120000"/>
              </a:lnSpc>
              <a:buNone/>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Spreading an application across multiple AZs protects it from a single data center failure, improving availability and durability.</a:t>
            </a:r>
            <a:endParaRPr lang="en-US" sz="1300" dirty="0"/>
          </a:p>
        </p:txBody>
      </p:sp>
      <p:sp>
        <p:nvSpPr>
          <p:cNvPr id="10" name="Shape 8"/>
          <p:cNvSpPr/>
          <p:nvPr/>
        </p:nvSpPr>
        <p:spPr>
          <a:xfrm>
            <a:off x="6126480" y="1783080"/>
            <a:ext cx="5532120" cy="4160520"/>
          </a:xfrm>
          <a:prstGeom prst="roundRect">
            <a:avLst>
              <a:gd name="adj" fmla="val 2198"/>
            </a:avLst>
          </a:prstGeom>
          <a:solidFill>
            <a:srgbClr val="F5F7FA"/>
          </a:solidFill>
          <a:ln w="25400">
            <a:solidFill>
              <a:srgbClr val="FF9900"/>
            </a:solidFill>
            <a:prstDash val="dash"/>
          </a:ln>
        </p:spPr>
      </p:sp>
      <p:sp>
        <p:nvSpPr>
          <p:cNvPr id="11" name="Text 9"/>
          <p:cNvSpPr/>
          <p:nvPr/>
        </p:nvSpPr>
        <p:spPr>
          <a:xfrm>
            <a:off x="6309360" y="1920240"/>
            <a:ext cx="5120640" cy="320040"/>
          </a:xfrm>
          <a:prstGeom prst="rect">
            <a:avLst/>
          </a:prstGeom>
          <a:noFill/>
        </p:spPr>
        <p:txBody>
          <a:bodyPr wrap="square" lIns="0" tIns="0" rIns="0" bIns="0" rtlCol="0" anchor="ctr"/>
          <a:lstStyle/>
          <a:p>
            <a:pPr marL="0" indent="0">
              <a:buNone/>
            </a:pPr>
            <a:r>
              <a:rPr lang="en-US" sz="1250" b="1" dirty="0">
                <a:solidFill>
                  <a:srgbClr val="FF9900"/>
                </a:solidFill>
                <a:latin typeface="Calibri" panose="020F0502020204030204" pitchFamily="34" charset="0"/>
                <a:ea typeface="Calibri" panose="020F0502020204030204" pitchFamily="34" charset="-122"/>
                <a:cs typeface="Calibri" panose="020F0502020204030204" pitchFamily="34" charset="-120"/>
              </a:rPr>
              <a:t>REGION: ap-south-1 (Mumbai)</a:t>
            </a:r>
            <a:endParaRPr lang="en-US" sz="1250" dirty="0"/>
          </a:p>
        </p:txBody>
      </p:sp>
      <p:sp>
        <p:nvSpPr>
          <p:cNvPr id="12" name="Shape 10"/>
          <p:cNvSpPr/>
          <p:nvPr/>
        </p:nvSpPr>
        <p:spPr>
          <a:xfrm>
            <a:off x="6446520" y="2423160"/>
            <a:ext cx="4892040" cy="932688"/>
          </a:xfrm>
          <a:prstGeom prst="roundRect">
            <a:avLst>
              <a:gd name="adj" fmla="val 7843"/>
            </a:avLst>
          </a:prstGeom>
          <a:solidFill>
            <a:srgbClr val="FFFFFF"/>
          </a:solidFill>
          <a:ln w="15875">
            <a:solidFill>
              <a:srgbClr val="E3E7ED"/>
            </a:solidFill>
            <a:prstDash val="solid"/>
          </a:ln>
        </p:spPr>
      </p:sp>
      <p:sp>
        <p:nvSpPr>
          <p:cNvPr id="13" name="Shape 11"/>
          <p:cNvSpPr/>
          <p:nvPr/>
        </p:nvSpPr>
        <p:spPr>
          <a:xfrm>
            <a:off x="6629400" y="2551176"/>
            <a:ext cx="658368" cy="658368"/>
          </a:xfrm>
          <a:prstGeom prst="ellipse">
            <a:avLst/>
          </a:prstGeom>
          <a:solidFill>
            <a:srgbClr val="232F3E"/>
          </a:solidFill>
        </p:spPr>
      </p:sp>
      <p:pic>
        <p:nvPicPr>
          <p:cNvPr id="14" name="Image 0" descr="/home/claude/icons/building_orange.png"/>
          <p:cNvPicPr>
            <a:picLocks noChangeAspect="1"/>
          </p:cNvPicPr>
          <p:nvPr/>
        </p:nvPicPr>
        <p:blipFill>
          <a:blip r:embed="rId1"/>
          <a:stretch>
            <a:fillRect/>
          </a:stretch>
        </p:blipFill>
        <p:spPr>
          <a:xfrm>
            <a:off x="6787408" y="2709184"/>
            <a:ext cx="342351" cy="342351"/>
          </a:xfrm>
          <a:prstGeom prst="rect">
            <a:avLst/>
          </a:prstGeom>
        </p:spPr>
      </p:pic>
      <p:sp>
        <p:nvSpPr>
          <p:cNvPr id="15" name="Text 12"/>
          <p:cNvSpPr/>
          <p:nvPr/>
        </p:nvSpPr>
        <p:spPr>
          <a:xfrm>
            <a:off x="7452360" y="2587752"/>
            <a:ext cx="3749040" cy="320040"/>
          </a:xfrm>
          <a:prstGeom prst="rect">
            <a:avLst/>
          </a:prstGeom>
          <a:noFill/>
        </p:spPr>
        <p:txBody>
          <a:bodyPr wrap="square" lIns="0" tIns="0" rIns="0" bIns="0" rtlCol="0" anchor="ctr"/>
          <a:lstStyle/>
          <a:p>
            <a:pPr marL="0" indent="0">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Availability Zone A</a:t>
            </a:r>
            <a:endParaRPr lang="en-US" sz="1300" dirty="0"/>
          </a:p>
        </p:txBody>
      </p:sp>
      <p:sp>
        <p:nvSpPr>
          <p:cNvPr id="16" name="Text 13"/>
          <p:cNvSpPr/>
          <p:nvPr/>
        </p:nvSpPr>
        <p:spPr>
          <a:xfrm>
            <a:off x="7452360" y="2926080"/>
            <a:ext cx="3749040" cy="320040"/>
          </a:xfrm>
          <a:prstGeom prst="rect">
            <a:avLst/>
          </a:prstGeom>
          <a:noFill/>
        </p:spPr>
        <p:txBody>
          <a:bodyPr wrap="square" lIns="0" tIns="0" rIns="0" bIns="0" rtlCol="0" anchor="ctr"/>
          <a:lstStyle/>
          <a:p>
            <a:pPr marL="0" indent="0">
              <a:buNone/>
            </a:pPr>
            <a:r>
              <a:rPr lang="en-US" sz="1050" dirty="0">
                <a:solidFill>
                  <a:srgbClr val="5F6B7A"/>
                </a:solidFill>
                <a:latin typeface="Calibri" panose="020F0502020204030204" pitchFamily="34" charset="0"/>
                <a:ea typeface="Calibri" panose="020F0502020204030204" pitchFamily="34" charset="-122"/>
                <a:cs typeface="Calibri" panose="020F0502020204030204" pitchFamily="34" charset="-120"/>
              </a:rPr>
              <a:t>Independent power, cooling &amp; network</a:t>
            </a:r>
            <a:endParaRPr lang="en-US" sz="1050" dirty="0"/>
          </a:p>
        </p:txBody>
      </p:sp>
      <p:sp>
        <p:nvSpPr>
          <p:cNvPr id="17" name="Shape 14"/>
          <p:cNvSpPr/>
          <p:nvPr/>
        </p:nvSpPr>
        <p:spPr>
          <a:xfrm>
            <a:off x="6446520" y="3566160"/>
            <a:ext cx="4892040" cy="932688"/>
          </a:xfrm>
          <a:prstGeom prst="roundRect">
            <a:avLst>
              <a:gd name="adj" fmla="val 7843"/>
            </a:avLst>
          </a:prstGeom>
          <a:solidFill>
            <a:srgbClr val="FFFFFF"/>
          </a:solidFill>
          <a:ln w="15875">
            <a:solidFill>
              <a:srgbClr val="E3E7ED"/>
            </a:solidFill>
            <a:prstDash val="solid"/>
          </a:ln>
        </p:spPr>
      </p:sp>
      <p:sp>
        <p:nvSpPr>
          <p:cNvPr id="18" name="Shape 15"/>
          <p:cNvSpPr/>
          <p:nvPr/>
        </p:nvSpPr>
        <p:spPr>
          <a:xfrm>
            <a:off x="6629400" y="3694176"/>
            <a:ext cx="658368" cy="658368"/>
          </a:xfrm>
          <a:prstGeom prst="ellipse">
            <a:avLst/>
          </a:prstGeom>
          <a:solidFill>
            <a:srgbClr val="232F3E"/>
          </a:solidFill>
        </p:spPr>
      </p:sp>
      <p:pic>
        <p:nvPicPr>
          <p:cNvPr id="19" name="Image 1" descr="/home/claude/icons/building_orange.png"/>
          <p:cNvPicPr>
            <a:picLocks noChangeAspect="1"/>
          </p:cNvPicPr>
          <p:nvPr/>
        </p:nvPicPr>
        <p:blipFill>
          <a:blip r:embed="rId1"/>
          <a:stretch>
            <a:fillRect/>
          </a:stretch>
        </p:blipFill>
        <p:spPr>
          <a:xfrm>
            <a:off x="6787408" y="3852184"/>
            <a:ext cx="342351" cy="342351"/>
          </a:xfrm>
          <a:prstGeom prst="rect">
            <a:avLst/>
          </a:prstGeom>
        </p:spPr>
      </p:pic>
      <p:sp>
        <p:nvSpPr>
          <p:cNvPr id="20" name="Text 16"/>
          <p:cNvSpPr/>
          <p:nvPr/>
        </p:nvSpPr>
        <p:spPr>
          <a:xfrm>
            <a:off x="7452360" y="3730752"/>
            <a:ext cx="3749040" cy="320040"/>
          </a:xfrm>
          <a:prstGeom prst="rect">
            <a:avLst/>
          </a:prstGeom>
          <a:noFill/>
        </p:spPr>
        <p:txBody>
          <a:bodyPr wrap="square" lIns="0" tIns="0" rIns="0" bIns="0" rtlCol="0" anchor="ctr"/>
          <a:lstStyle/>
          <a:p>
            <a:pPr marL="0" indent="0">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Availability Zone B</a:t>
            </a:r>
            <a:endParaRPr lang="en-US" sz="1300" dirty="0"/>
          </a:p>
        </p:txBody>
      </p:sp>
      <p:sp>
        <p:nvSpPr>
          <p:cNvPr id="21" name="Text 17"/>
          <p:cNvSpPr/>
          <p:nvPr/>
        </p:nvSpPr>
        <p:spPr>
          <a:xfrm>
            <a:off x="7452360" y="4069080"/>
            <a:ext cx="3749040" cy="320040"/>
          </a:xfrm>
          <a:prstGeom prst="rect">
            <a:avLst/>
          </a:prstGeom>
          <a:noFill/>
        </p:spPr>
        <p:txBody>
          <a:bodyPr wrap="square" lIns="0" tIns="0" rIns="0" bIns="0" rtlCol="0" anchor="ctr"/>
          <a:lstStyle/>
          <a:p>
            <a:pPr marL="0" indent="0">
              <a:buNone/>
            </a:pPr>
            <a:r>
              <a:rPr lang="en-US" sz="1050" dirty="0">
                <a:solidFill>
                  <a:srgbClr val="5F6B7A"/>
                </a:solidFill>
                <a:latin typeface="Calibri" panose="020F0502020204030204" pitchFamily="34" charset="0"/>
                <a:ea typeface="Calibri" panose="020F0502020204030204" pitchFamily="34" charset="-122"/>
                <a:cs typeface="Calibri" panose="020F0502020204030204" pitchFamily="34" charset="-120"/>
              </a:rPr>
              <a:t>Independent power, cooling &amp; network</a:t>
            </a:r>
            <a:endParaRPr lang="en-US" sz="1050" dirty="0"/>
          </a:p>
        </p:txBody>
      </p:sp>
      <p:sp>
        <p:nvSpPr>
          <p:cNvPr id="22" name="Shape 18"/>
          <p:cNvSpPr/>
          <p:nvPr/>
        </p:nvSpPr>
        <p:spPr>
          <a:xfrm>
            <a:off x="6446520" y="4709160"/>
            <a:ext cx="4892040" cy="932688"/>
          </a:xfrm>
          <a:prstGeom prst="roundRect">
            <a:avLst>
              <a:gd name="adj" fmla="val 7843"/>
            </a:avLst>
          </a:prstGeom>
          <a:solidFill>
            <a:srgbClr val="FFFFFF"/>
          </a:solidFill>
          <a:ln w="15875">
            <a:solidFill>
              <a:srgbClr val="E3E7ED"/>
            </a:solidFill>
            <a:prstDash val="solid"/>
          </a:ln>
        </p:spPr>
      </p:sp>
      <p:sp>
        <p:nvSpPr>
          <p:cNvPr id="23" name="Shape 19"/>
          <p:cNvSpPr/>
          <p:nvPr/>
        </p:nvSpPr>
        <p:spPr>
          <a:xfrm>
            <a:off x="6629400" y="4837176"/>
            <a:ext cx="658368" cy="658368"/>
          </a:xfrm>
          <a:prstGeom prst="ellipse">
            <a:avLst/>
          </a:prstGeom>
          <a:solidFill>
            <a:srgbClr val="232F3E"/>
          </a:solidFill>
        </p:spPr>
      </p:sp>
      <p:pic>
        <p:nvPicPr>
          <p:cNvPr id="24" name="Image 2" descr="/home/claude/icons/building_orange.png"/>
          <p:cNvPicPr>
            <a:picLocks noChangeAspect="1"/>
          </p:cNvPicPr>
          <p:nvPr/>
        </p:nvPicPr>
        <p:blipFill>
          <a:blip r:embed="rId1"/>
          <a:stretch>
            <a:fillRect/>
          </a:stretch>
        </p:blipFill>
        <p:spPr>
          <a:xfrm>
            <a:off x="6787408" y="4995184"/>
            <a:ext cx="342351" cy="342351"/>
          </a:xfrm>
          <a:prstGeom prst="rect">
            <a:avLst/>
          </a:prstGeom>
        </p:spPr>
      </p:pic>
      <p:sp>
        <p:nvSpPr>
          <p:cNvPr id="25" name="Text 20"/>
          <p:cNvSpPr/>
          <p:nvPr/>
        </p:nvSpPr>
        <p:spPr>
          <a:xfrm>
            <a:off x="7452360" y="4873752"/>
            <a:ext cx="3749040" cy="320040"/>
          </a:xfrm>
          <a:prstGeom prst="rect">
            <a:avLst/>
          </a:prstGeom>
          <a:noFill/>
        </p:spPr>
        <p:txBody>
          <a:bodyPr wrap="square" lIns="0" tIns="0" rIns="0" bIns="0" rtlCol="0" anchor="ctr"/>
          <a:lstStyle/>
          <a:p>
            <a:pPr marL="0" indent="0">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Availability Zone C</a:t>
            </a:r>
            <a:endParaRPr lang="en-US" sz="1300" dirty="0"/>
          </a:p>
        </p:txBody>
      </p:sp>
      <p:sp>
        <p:nvSpPr>
          <p:cNvPr id="26" name="Text 21"/>
          <p:cNvSpPr/>
          <p:nvPr/>
        </p:nvSpPr>
        <p:spPr>
          <a:xfrm>
            <a:off x="7452360" y="5212080"/>
            <a:ext cx="3749040" cy="320040"/>
          </a:xfrm>
          <a:prstGeom prst="rect">
            <a:avLst/>
          </a:prstGeom>
          <a:noFill/>
        </p:spPr>
        <p:txBody>
          <a:bodyPr wrap="square" lIns="0" tIns="0" rIns="0" bIns="0" rtlCol="0" anchor="ctr"/>
          <a:lstStyle/>
          <a:p>
            <a:pPr marL="0" indent="0">
              <a:buNone/>
            </a:pPr>
            <a:r>
              <a:rPr lang="en-US" sz="1050" dirty="0">
                <a:solidFill>
                  <a:srgbClr val="5F6B7A"/>
                </a:solidFill>
                <a:latin typeface="Calibri" panose="020F0502020204030204" pitchFamily="34" charset="0"/>
                <a:ea typeface="Calibri" panose="020F0502020204030204" pitchFamily="34" charset="-122"/>
                <a:cs typeface="Calibri" panose="020F0502020204030204" pitchFamily="34" charset="-120"/>
              </a:rPr>
              <a:t>Independent power, cooling &amp; network</a:t>
            </a:r>
            <a:endParaRPr lang="en-US" sz="1050" dirty="0"/>
          </a:p>
        </p:txBody>
      </p:sp>
      <p:sp>
        <p:nvSpPr>
          <p:cNvPr id="27" name="Text 2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8" name="Text 2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Global Infrastructure: Edge Locations &amp; Data Centers</a:t>
            </a:r>
            <a:endParaRPr lang="en-US" sz="3000" dirty="0"/>
          </a:p>
        </p:txBody>
      </p:sp>
      <p:sp>
        <p:nvSpPr>
          <p:cNvPr id="4" name="Shape 2"/>
          <p:cNvSpPr/>
          <p:nvPr/>
        </p:nvSpPr>
        <p:spPr>
          <a:xfrm>
            <a:off x="548640" y="1737360"/>
            <a:ext cx="3520440" cy="2834640"/>
          </a:xfrm>
          <a:prstGeom prst="roundRect">
            <a:avLst>
              <a:gd name="adj" fmla="val 3226"/>
            </a:avLst>
          </a:prstGeom>
          <a:solidFill>
            <a:srgbClr val="F5F7FA"/>
          </a:solidFill>
        </p:spPr>
      </p:sp>
      <p:sp>
        <p:nvSpPr>
          <p:cNvPr id="5" name="Shape 3"/>
          <p:cNvSpPr/>
          <p:nvPr/>
        </p:nvSpPr>
        <p:spPr>
          <a:xfrm>
            <a:off x="1920240" y="1965960"/>
            <a:ext cx="777240" cy="777240"/>
          </a:xfrm>
          <a:prstGeom prst="ellipse">
            <a:avLst/>
          </a:prstGeom>
          <a:solidFill>
            <a:srgbClr val="232F3E"/>
          </a:solidFill>
        </p:spPr>
      </p:sp>
      <p:pic>
        <p:nvPicPr>
          <p:cNvPr id="6" name="Image 0" descr="/home/claude/icons/tower_orange.png"/>
          <p:cNvPicPr>
            <a:picLocks noChangeAspect="1"/>
          </p:cNvPicPr>
          <p:nvPr/>
        </p:nvPicPr>
        <p:blipFill>
          <a:blip r:embed="rId1"/>
          <a:stretch>
            <a:fillRect/>
          </a:stretch>
        </p:blipFill>
        <p:spPr>
          <a:xfrm>
            <a:off x="2106778" y="2152498"/>
            <a:ext cx="404165" cy="404165"/>
          </a:xfrm>
          <a:prstGeom prst="rect">
            <a:avLst/>
          </a:prstGeom>
        </p:spPr>
      </p:pic>
      <p:sp>
        <p:nvSpPr>
          <p:cNvPr id="7" name="Text 4"/>
          <p:cNvSpPr/>
          <p:nvPr/>
        </p:nvSpPr>
        <p:spPr>
          <a:xfrm>
            <a:off x="777240" y="2880360"/>
            <a:ext cx="3063240" cy="365760"/>
          </a:xfrm>
          <a:prstGeom prst="rect">
            <a:avLst/>
          </a:prstGeom>
          <a:noFill/>
        </p:spPr>
        <p:txBody>
          <a:bodyPr wrap="square" lIns="0" tIns="0" rIns="0" bIns="0" rtlCol="0" anchor="ctr"/>
          <a:lstStyle/>
          <a:p>
            <a:pPr marL="0" indent="0" algn="ctr">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Edge Locations</a:t>
            </a:r>
            <a:endParaRPr lang="en-US" sz="1550" dirty="0"/>
          </a:p>
        </p:txBody>
      </p:sp>
      <p:sp>
        <p:nvSpPr>
          <p:cNvPr id="8" name="Text 5"/>
          <p:cNvSpPr/>
          <p:nvPr/>
        </p:nvSpPr>
        <p:spPr>
          <a:xfrm>
            <a:off x="777240" y="3291840"/>
            <a:ext cx="3063240" cy="1188720"/>
          </a:xfrm>
          <a:prstGeom prst="rect">
            <a:avLst/>
          </a:prstGeom>
          <a:noFill/>
        </p:spPr>
        <p:txBody>
          <a:bodyPr wrap="square" lIns="0" tIns="0" rIns="0" bIns="0" rtlCol="0" anchor="ctr"/>
          <a:lstStyle/>
          <a:p>
            <a:pPr marL="0" indent="0" algn="ctr">
              <a:lnSpc>
                <a:spcPct val="115000"/>
              </a:lnSpc>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Smaller sites in hundreds of cities that cache and deliver content (via CDN) closer to end users for lower latency.</a:t>
            </a:r>
            <a:endParaRPr lang="en-US" sz="1150" dirty="0"/>
          </a:p>
        </p:txBody>
      </p:sp>
      <p:sp>
        <p:nvSpPr>
          <p:cNvPr id="9" name="Shape 6"/>
          <p:cNvSpPr/>
          <p:nvPr/>
        </p:nvSpPr>
        <p:spPr>
          <a:xfrm>
            <a:off x="4297680" y="1737360"/>
            <a:ext cx="3520440" cy="2834640"/>
          </a:xfrm>
          <a:prstGeom prst="roundRect">
            <a:avLst>
              <a:gd name="adj" fmla="val 3226"/>
            </a:avLst>
          </a:prstGeom>
          <a:solidFill>
            <a:srgbClr val="F5F7FA"/>
          </a:solidFill>
        </p:spPr>
      </p:sp>
      <p:sp>
        <p:nvSpPr>
          <p:cNvPr id="10" name="Shape 7"/>
          <p:cNvSpPr/>
          <p:nvPr/>
        </p:nvSpPr>
        <p:spPr>
          <a:xfrm>
            <a:off x="5669280" y="1965960"/>
            <a:ext cx="777240" cy="777240"/>
          </a:xfrm>
          <a:prstGeom prst="ellipse">
            <a:avLst/>
          </a:prstGeom>
          <a:solidFill>
            <a:srgbClr val="232F3E"/>
          </a:solidFill>
        </p:spPr>
      </p:sp>
      <p:pic>
        <p:nvPicPr>
          <p:cNvPr id="11" name="Image 1" descr="/home/claude/icons/warehouse_orange.png"/>
          <p:cNvPicPr>
            <a:picLocks noChangeAspect="1"/>
          </p:cNvPicPr>
          <p:nvPr/>
        </p:nvPicPr>
        <p:blipFill>
          <a:blip r:embed="rId2"/>
          <a:stretch>
            <a:fillRect/>
          </a:stretch>
        </p:blipFill>
        <p:spPr>
          <a:xfrm>
            <a:off x="5855818" y="2152498"/>
            <a:ext cx="404165" cy="404165"/>
          </a:xfrm>
          <a:prstGeom prst="rect">
            <a:avLst/>
          </a:prstGeom>
        </p:spPr>
      </p:pic>
      <p:sp>
        <p:nvSpPr>
          <p:cNvPr id="12" name="Text 8"/>
          <p:cNvSpPr/>
          <p:nvPr/>
        </p:nvSpPr>
        <p:spPr>
          <a:xfrm>
            <a:off x="4526280" y="2880360"/>
            <a:ext cx="3063240" cy="365760"/>
          </a:xfrm>
          <a:prstGeom prst="rect">
            <a:avLst/>
          </a:prstGeom>
          <a:noFill/>
        </p:spPr>
        <p:txBody>
          <a:bodyPr wrap="square" lIns="0" tIns="0" rIns="0" bIns="0" rtlCol="0" anchor="ctr"/>
          <a:lstStyle/>
          <a:p>
            <a:pPr marL="0" indent="0" algn="ctr">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Data Centers</a:t>
            </a:r>
            <a:endParaRPr lang="en-US" sz="1550" dirty="0"/>
          </a:p>
        </p:txBody>
      </p:sp>
      <p:sp>
        <p:nvSpPr>
          <p:cNvPr id="13" name="Text 9"/>
          <p:cNvSpPr/>
          <p:nvPr/>
        </p:nvSpPr>
        <p:spPr>
          <a:xfrm>
            <a:off x="4526280" y="3291840"/>
            <a:ext cx="3063240" cy="1188720"/>
          </a:xfrm>
          <a:prstGeom prst="rect">
            <a:avLst/>
          </a:prstGeom>
          <a:noFill/>
        </p:spPr>
        <p:txBody>
          <a:bodyPr wrap="square" lIns="0" tIns="0" rIns="0" bIns="0" rtlCol="0" anchor="ctr"/>
          <a:lstStyle/>
          <a:p>
            <a:pPr marL="0" indent="0" algn="ctr">
              <a:lnSpc>
                <a:spcPct val="115000"/>
              </a:lnSpc>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The physical facilities — housing servers, storage, and networking gear — that make up each Availability Zone.</a:t>
            </a:r>
            <a:endParaRPr lang="en-US" sz="1150" dirty="0"/>
          </a:p>
        </p:txBody>
      </p:sp>
      <p:sp>
        <p:nvSpPr>
          <p:cNvPr id="14" name="Shape 10"/>
          <p:cNvSpPr/>
          <p:nvPr/>
        </p:nvSpPr>
        <p:spPr>
          <a:xfrm>
            <a:off x="8046720" y="1737360"/>
            <a:ext cx="3520440" cy="2834640"/>
          </a:xfrm>
          <a:prstGeom prst="roundRect">
            <a:avLst>
              <a:gd name="adj" fmla="val 3226"/>
            </a:avLst>
          </a:prstGeom>
          <a:solidFill>
            <a:srgbClr val="F5F7FA"/>
          </a:solidFill>
        </p:spPr>
      </p:sp>
      <p:sp>
        <p:nvSpPr>
          <p:cNvPr id="15" name="Shape 11"/>
          <p:cNvSpPr/>
          <p:nvPr/>
        </p:nvSpPr>
        <p:spPr>
          <a:xfrm>
            <a:off x="9418320" y="1965960"/>
            <a:ext cx="777240" cy="777240"/>
          </a:xfrm>
          <a:prstGeom prst="ellipse">
            <a:avLst/>
          </a:prstGeom>
          <a:solidFill>
            <a:srgbClr val="232F3E"/>
          </a:solidFill>
        </p:spPr>
      </p:sp>
      <p:pic>
        <p:nvPicPr>
          <p:cNvPr id="16" name="Image 2" descr="/home/claude/icons/map_orange.png"/>
          <p:cNvPicPr>
            <a:picLocks noChangeAspect="1"/>
          </p:cNvPicPr>
          <p:nvPr/>
        </p:nvPicPr>
        <p:blipFill>
          <a:blip r:embed="rId3"/>
          <a:stretch>
            <a:fillRect/>
          </a:stretch>
        </p:blipFill>
        <p:spPr>
          <a:xfrm>
            <a:off x="9604858" y="2152498"/>
            <a:ext cx="404165" cy="404165"/>
          </a:xfrm>
          <a:prstGeom prst="rect">
            <a:avLst/>
          </a:prstGeom>
        </p:spPr>
      </p:pic>
      <p:sp>
        <p:nvSpPr>
          <p:cNvPr id="17" name="Text 12"/>
          <p:cNvSpPr/>
          <p:nvPr/>
        </p:nvSpPr>
        <p:spPr>
          <a:xfrm>
            <a:off x="8275320" y="2880360"/>
            <a:ext cx="3063240" cy="365760"/>
          </a:xfrm>
          <a:prstGeom prst="rect">
            <a:avLst/>
          </a:prstGeom>
          <a:noFill/>
        </p:spPr>
        <p:txBody>
          <a:bodyPr wrap="square" lIns="0" tIns="0" rIns="0" bIns="0" rtlCol="0" anchor="ctr"/>
          <a:lstStyle/>
          <a:p>
            <a:pPr marL="0" indent="0" algn="ctr">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Points of Presence</a:t>
            </a:r>
            <a:endParaRPr lang="en-US" sz="1550" dirty="0"/>
          </a:p>
        </p:txBody>
      </p:sp>
      <p:sp>
        <p:nvSpPr>
          <p:cNvPr id="18" name="Text 13"/>
          <p:cNvSpPr/>
          <p:nvPr/>
        </p:nvSpPr>
        <p:spPr>
          <a:xfrm>
            <a:off x="8275320" y="3291840"/>
            <a:ext cx="3063240" cy="1188720"/>
          </a:xfrm>
          <a:prstGeom prst="rect">
            <a:avLst/>
          </a:prstGeom>
          <a:noFill/>
        </p:spPr>
        <p:txBody>
          <a:bodyPr wrap="square" lIns="0" tIns="0" rIns="0" bIns="0" rtlCol="0" anchor="ctr"/>
          <a:lstStyle/>
          <a:p>
            <a:pPr marL="0" indent="0" algn="ctr">
              <a:lnSpc>
                <a:spcPct val="115000"/>
              </a:lnSpc>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Network access points that route traffic efficiently onto the provider's global backbone network.</a:t>
            </a:r>
            <a:endParaRPr lang="en-US" sz="1150" dirty="0"/>
          </a:p>
        </p:txBody>
      </p:sp>
      <p:sp>
        <p:nvSpPr>
          <p:cNvPr id="19" name="Shape 14"/>
          <p:cNvSpPr/>
          <p:nvPr/>
        </p:nvSpPr>
        <p:spPr>
          <a:xfrm>
            <a:off x="548640" y="4846320"/>
            <a:ext cx="11064240" cy="914400"/>
          </a:xfrm>
          <a:prstGeom prst="roundRect">
            <a:avLst>
              <a:gd name="adj" fmla="val 8000"/>
            </a:avLst>
          </a:prstGeom>
          <a:solidFill>
            <a:srgbClr val="232F3E"/>
          </a:solidFill>
        </p:spPr>
      </p:sp>
      <p:sp>
        <p:nvSpPr>
          <p:cNvPr id="20" name="Text 15"/>
          <p:cNvSpPr/>
          <p:nvPr/>
        </p:nvSpPr>
        <p:spPr>
          <a:xfrm>
            <a:off x="822960" y="4846320"/>
            <a:ext cx="10515600" cy="914400"/>
          </a:xfrm>
          <a:prstGeom prst="rect">
            <a:avLst/>
          </a:prstGeom>
          <a:noFill/>
        </p:spPr>
        <p:txBody>
          <a:bodyPr wrap="square" lIns="0" tIns="0" rIns="0" bIns="0" rtlCol="0" anchor="ctr"/>
          <a:lstStyle/>
          <a:p>
            <a:pPr marL="0" indent="0">
              <a:buNone/>
            </a:pPr>
            <a:r>
              <a:rPr lang="en-US" sz="1350" i="1" dirty="0">
                <a:solidFill>
                  <a:srgbClr val="FFFFFF"/>
                </a:solidFill>
                <a:latin typeface="Calibri" panose="020F0502020204030204" pitchFamily="34" charset="0"/>
                <a:ea typeface="Calibri" panose="020F0502020204030204" pitchFamily="34" charset="-122"/>
                <a:cs typeface="Calibri" panose="020F0502020204030204" pitchFamily="34" charset="-120"/>
              </a:rPr>
              <a:t>Scale today: AWS alone spans 30+ geographic regions, 90+ Availability Zones, and 600+ Edge Locations worldwide.</a:t>
            </a:r>
            <a:endParaRPr lang="en-US" sz="1350" dirty="0"/>
          </a:p>
        </p:txBody>
      </p:sp>
      <p:sp>
        <p:nvSpPr>
          <p:cNvPr id="21" name="Text 16"/>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2" name="Text 17"/>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Cloud Service Models: IaaS, PaaS, SaaS</a:t>
            </a:r>
            <a:endParaRPr lang="en-US" sz="3000" dirty="0"/>
          </a:p>
        </p:txBody>
      </p:sp>
      <p:sp>
        <p:nvSpPr>
          <p:cNvPr id="4" name="Shape 2"/>
          <p:cNvSpPr/>
          <p:nvPr/>
        </p:nvSpPr>
        <p:spPr>
          <a:xfrm>
            <a:off x="548640" y="1691640"/>
            <a:ext cx="10881360" cy="1234440"/>
          </a:xfrm>
          <a:prstGeom prst="roundRect">
            <a:avLst>
              <a:gd name="adj" fmla="val 5926"/>
            </a:avLst>
          </a:prstGeom>
          <a:solidFill>
            <a:srgbClr val="232F3E"/>
          </a:solidFill>
        </p:spPr>
      </p:sp>
      <p:sp>
        <p:nvSpPr>
          <p:cNvPr id="5" name="Text 3"/>
          <p:cNvSpPr/>
          <p:nvPr/>
        </p:nvSpPr>
        <p:spPr>
          <a:xfrm>
            <a:off x="822960" y="1828800"/>
            <a:ext cx="1463040" cy="960120"/>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SaaS</a:t>
            </a:r>
            <a:endParaRPr lang="en-US" sz="2600" dirty="0"/>
          </a:p>
        </p:txBody>
      </p:sp>
      <p:sp>
        <p:nvSpPr>
          <p:cNvPr id="6" name="Text 4"/>
          <p:cNvSpPr/>
          <p:nvPr/>
        </p:nvSpPr>
        <p:spPr>
          <a:xfrm>
            <a:off x="2377440" y="1828800"/>
            <a:ext cx="3291840" cy="36576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Software as a Service</a:t>
            </a:r>
            <a:endParaRPr lang="en-US" sz="1400" dirty="0"/>
          </a:p>
        </p:txBody>
      </p:sp>
      <p:sp>
        <p:nvSpPr>
          <p:cNvPr id="7" name="Text 5"/>
          <p:cNvSpPr/>
          <p:nvPr/>
        </p:nvSpPr>
        <p:spPr>
          <a:xfrm>
            <a:off x="2377440" y="2194560"/>
            <a:ext cx="5577840" cy="640080"/>
          </a:xfrm>
          <a:prstGeom prst="rect">
            <a:avLst/>
          </a:prstGeom>
          <a:noFill/>
        </p:spPr>
        <p:txBody>
          <a:bodyPr wrap="square" lIns="0" tIns="0" rIns="0" bIns="0" rtlCol="0" anchor="ctr"/>
          <a:lstStyle/>
          <a:p>
            <a:pPr marL="0" indent="0">
              <a:lnSpc>
                <a:spcPct val="110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You manage: nothing. Provider manages everything.</a:t>
            </a:r>
            <a:endParaRPr lang="en-US" sz="1100" dirty="0"/>
          </a:p>
        </p:txBody>
      </p:sp>
      <p:sp>
        <p:nvSpPr>
          <p:cNvPr id="8" name="Text 6"/>
          <p:cNvSpPr/>
          <p:nvPr/>
        </p:nvSpPr>
        <p:spPr>
          <a:xfrm>
            <a:off x="8229600" y="1828800"/>
            <a:ext cx="2926080" cy="960120"/>
          </a:xfrm>
          <a:prstGeom prst="rect">
            <a:avLst/>
          </a:prstGeom>
          <a:noFill/>
        </p:spPr>
        <p:txBody>
          <a:bodyPr wrap="square" lIns="0" tIns="0" rIns="0" bIns="0" rtlCol="0" anchor="ctr"/>
          <a:lstStyle/>
          <a:p>
            <a:pPr marL="0" indent="0" algn="r">
              <a:buNone/>
            </a:pPr>
            <a:r>
              <a:rPr lang="en-US" sz="1150" i="1" dirty="0">
                <a:solidFill>
                  <a:srgbClr val="CADCFC"/>
                </a:solidFill>
                <a:latin typeface="Calibri" panose="020F0502020204030204" pitchFamily="34" charset="0"/>
                <a:ea typeface="Calibri" panose="020F0502020204030204" pitchFamily="34" charset="-122"/>
                <a:cs typeface="Calibri" panose="020F0502020204030204" pitchFamily="34" charset="-120"/>
              </a:rPr>
              <a:t>Gmail, Salesforce, Zoom</a:t>
            </a:r>
            <a:endParaRPr lang="en-US" sz="1150" dirty="0"/>
          </a:p>
        </p:txBody>
      </p:sp>
      <p:sp>
        <p:nvSpPr>
          <p:cNvPr id="9" name="Shape 7"/>
          <p:cNvSpPr/>
          <p:nvPr/>
        </p:nvSpPr>
        <p:spPr>
          <a:xfrm>
            <a:off x="1188720" y="3108960"/>
            <a:ext cx="9601200" cy="1234440"/>
          </a:xfrm>
          <a:prstGeom prst="roundRect">
            <a:avLst>
              <a:gd name="adj" fmla="val 5926"/>
            </a:avLst>
          </a:prstGeom>
          <a:solidFill>
            <a:srgbClr val="37475A"/>
          </a:solidFill>
        </p:spPr>
      </p:sp>
      <p:sp>
        <p:nvSpPr>
          <p:cNvPr id="10" name="Text 8"/>
          <p:cNvSpPr/>
          <p:nvPr/>
        </p:nvSpPr>
        <p:spPr>
          <a:xfrm>
            <a:off x="1463040" y="3246120"/>
            <a:ext cx="1463040" cy="960120"/>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PaaS</a:t>
            </a:r>
            <a:endParaRPr lang="en-US" sz="2600" dirty="0"/>
          </a:p>
        </p:txBody>
      </p:sp>
      <p:sp>
        <p:nvSpPr>
          <p:cNvPr id="11" name="Text 9"/>
          <p:cNvSpPr/>
          <p:nvPr/>
        </p:nvSpPr>
        <p:spPr>
          <a:xfrm>
            <a:off x="3017520" y="3246120"/>
            <a:ext cx="3291840" cy="36576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Platform as a Service</a:t>
            </a:r>
            <a:endParaRPr lang="en-US" sz="1400" dirty="0"/>
          </a:p>
        </p:txBody>
      </p:sp>
      <p:sp>
        <p:nvSpPr>
          <p:cNvPr id="12" name="Text 10"/>
          <p:cNvSpPr/>
          <p:nvPr/>
        </p:nvSpPr>
        <p:spPr>
          <a:xfrm>
            <a:off x="3017520" y="3611880"/>
            <a:ext cx="4297680" cy="640080"/>
          </a:xfrm>
          <a:prstGeom prst="rect">
            <a:avLst/>
          </a:prstGeom>
          <a:noFill/>
        </p:spPr>
        <p:txBody>
          <a:bodyPr wrap="square" lIns="0" tIns="0" rIns="0" bIns="0" rtlCol="0" anchor="ctr"/>
          <a:lstStyle/>
          <a:p>
            <a:pPr marL="0" indent="0">
              <a:lnSpc>
                <a:spcPct val="110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You manage: applications &amp; data. Provider manages runtime &amp; OS.</a:t>
            </a:r>
            <a:endParaRPr lang="en-US" sz="1100" dirty="0"/>
          </a:p>
        </p:txBody>
      </p:sp>
      <p:sp>
        <p:nvSpPr>
          <p:cNvPr id="13" name="Text 11"/>
          <p:cNvSpPr/>
          <p:nvPr/>
        </p:nvSpPr>
        <p:spPr>
          <a:xfrm>
            <a:off x="7589520" y="3246120"/>
            <a:ext cx="2926080" cy="960120"/>
          </a:xfrm>
          <a:prstGeom prst="rect">
            <a:avLst/>
          </a:prstGeom>
          <a:noFill/>
        </p:spPr>
        <p:txBody>
          <a:bodyPr wrap="square" lIns="0" tIns="0" rIns="0" bIns="0" rtlCol="0" anchor="ctr"/>
          <a:lstStyle/>
          <a:p>
            <a:pPr marL="0" indent="0" algn="r">
              <a:buNone/>
            </a:pPr>
            <a:r>
              <a:rPr lang="en-US" sz="1150" i="1" dirty="0">
                <a:solidFill>
                  <a:srgbClr val="CADCFC"/>
                </a:solidFill>
                <a:latin typeface="Calibri" panose="020F0502020204030204" pitchFamily="34" charset="0"/>
                <a:ea typeface="Calibri" panose="020F0502020204030204" pitchFamily="34" charset="-122"/>
                <a:cs typeface="Calibri" panose="020F0502020204030204" pitchFamily="34" charset="-120"/>
              </a:rPr>
              <a:t>Elastic Beanstalk, Heroku</a:t>
            </a:r>
            <a:endParaRPr lang="en-US" sz="1150" dirty="0"/>
          </a:p>
        </p:txBody>
      </p:sp>
      <p:sp>
        <p:nvSpPr>
          <p:cNvPr id="14" name="Shape 12"/>
          <p:cNvSpPr/>
          <p:nvPr/>
        </p:nvSpPr>
        <p:spPr>
          <a:xfrm>
            <a:off x="1828800" y="4526280"/>
            <a:ext cx="8321040" cy="1234440"/>
          </a:xfrm>
          <a:prstGeom prst="roundRect">
            <a:avLst>
              <a:gd name="adj" fmla="val 5926"/>
            </a:avLst>
          </a:prstGeom>
          <a:solidFill>
            <a:srgbClr val="FF9900"/>
          </a:solidFill>
        </p:spPr>
      </p:sp>
      <p:sp>
        <p:nvSpPr>
          <p:cNvPr id="15" name="Text 13"/>
          <p:cNvSpPr/>
          <p:nvPr/>
        </p:nvSpPr>
        <p:spPr>
          <a:xfrm>
            <a:off x="2103120" y="4663440"/>
            <a:ext cx="1463040" cy="960120"/>
          </a:xfrm>
          <a:prstGeom prst="rect">
            <a:avLst/>
          </a:prstGeom>
          <a:noFill/>
        </p:spPr>
        <p:txBody>
          <a:bodyPr wrap="square" lIns="0" tIns="0" rIns="0" bIns="0" rtlCol="0" anchor="ctr"/>
          <a:lstStyle/>
          <a:p>
            <a:pPr marL="0" indent="0">
              <a:buNone/>
            </a:pPr>
            <a:r>
              <a:rPr lang="en-US" sz="2600" b="1" dirty="0">
                <a:solidFill>
                  <a:srgbClr val="232F3E"/>
                </a:solidFill>
                <a:latin typeface="Cambria" panose="02040503050406030204" pitchFamily="34" charset="0"/>
                <a:ea typeface="Cambria" panose="02040503050406030204" pitchFamily="34" charset="-122"/>
                <a:cs typeface="Cambria" panose="02040503050406030204" pitchFamily="34" charset="-120"/>
              </a:rPr>
              <a:t>IaaS</a:t>
            </a:r>
            <a:endParaRPr lang="en-US" sz="2600" dirty="0"/>
          </a:p>
        </p:txBody>
      </p:sp>
      <p:sp>
        <p:nvSpPr>
          <p:cNvPr id="16" name="Text 14"/>
          <p:cNvSpPr/>
          <p:nvPr/>
        </p:nvSpPr>
        <p:spPr>
          <a:xfrm>
            <a:off x="3657600" y="4663440"/>
            <a:ext cx="3291840" cy="36576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Infrastructure as a Service</a:t>
            </a:r>
            <a:endParaRPr lang="en-US" sz="1400" dirty="0"/>
          </a:p>
        </p:txBody>
      </p:sp>
      <p:sp>
        <p:nvSpPr>
          <p:cNvPr id="17" name="Text 15"/>
          <p:cNvSpPr/>
          <p:nvPr/>
        </p:nvSpPr>
        <p:spPr>
          <a:xfrm>
            <a:off x="3657600" y="5029200"/>
            <a:ext cx="3017520" cy="640080"/>
          </a:xfrm>
          <a:prstGeom prst="rect">
            <a:avLst/>
          </a:prstGeom>
          <a:noFill/>
        </p:spPr>
        <p:txBody>
          <a:bodyPr wrap="square" lIns="0" tIns="0" rIns="0" bIns="0" rtlCol="0" anchor="ctr"/>
          <a:lstStyle/>
          <a:p>
            <a:pPr marL="0" indent="0">
              <a:lnSpc>
                <a:spcPct val="110000"/>
              </a:lnSpc>
              <a:buNone/>
            </a:pPr>
            <a:r>
              <a:rPr lang="en-US" sz="1100" dirty="0">
                <a:solidFill>
                  <a:srgbClr val="232F3E"/>
                </a:solidFill>
                <a:latin typeface="Calibri" panose="020F0502020204030204" pitchFamily="34" charset="0"/>
                <a:ea typeface="Calibri" panose="020F0502020204030204" pitchFamily="34" charset="-122"/>
                <a:cs typeface="Calibri" panose="020F0502020204030204" pitchFamily="34" charset="-120"/>
              </a:rPr>
              <a:t>You manage: OS, apps &amp; data. Provider manages hardware &amp; virtualization.</a:t>
            </a:r>
            <a:endParaRPr lang="en-US" sz="1100" dirty="0"/>
          </a:p>
        </p:txBody>
      </p:sp>
      <p:sp>
        <p:nvSpPr>
          <p:cNvPr id="18" name="Text 16"/>
          <p:cNvSpPr/>
          <p:nvPr/>
        </p:nvSpPr>
        <p:spPr>
          <a:xfrm>
            <a:off x="6949440" y="4663440"/>
            <a:ext cx="2926080" cy="960120"/>
          </a:xfrm>
          <a:prstGeom prst="rect">
            <a:avLst/>
          </a:prstGeom>
          <a:noFill/>
        </p:spPr>
        <p:txBody>
          <a:bodyPr wrap="square" lIns="0" tIns="0" rIns="0" bIns="0" rtlCol="0" anchor="ctr"/>
          <a:lstStyle/>
          <a:p>
            <a:pPr marL="0" indent="0" algn="r">
              <a:buNone/>
            </a:pPr>
            <a:r>
              <a:rPr lang="en-US" sz="1150" i="1" dirty="0">
                <a:solidFill>
                  <a:srgbClr val="232F3E"/>
                </a:solidFill>
                <a:latin typeface="Calibri" panose="020F0502020204030204" pitchFamily="34" charset="0"/>
                <a:ea typeface="Calibri" panose="020F0502020204030204" pitchFamily="34" charset="-122"/>
                <a:cs typeface="Calibri" panose="020F0502020204030204" pitchFamily="34" charset="-120"/>
              </a:rPr>
              <a:t>EC2, Azure VMs, GCE</a:t>
            </a:r>
            <a:endParaRPr lang="en-US" sz="1150" dirty="0"/>
          </a:p>
        </p:txBody>
      </p:sp>
      <p:sp>
        <p:nvSpPr>
          <p:cNvPr id="19" name="Text 17"/>
          <p:cNvSpPr/>
          <p:nvPr/>
        </p:nvSpPr>
        <p:spPr>
          <a:xfrm>
            <a:off x="548640" y="5806440"/>
            <a:ext cx="10972800" cy="320040"/>
          </a:xfrm>
          <a:prstGeom prst="rect">
            <a:avLst/>
          </a:prstGeom>
          <a:noFill/>
        </p:spPr>
        <p:txBody>
          <a:bodyPr wrap="square" lIns="0" tIns="0" rIns="0" bIns="0" rtlCol="0" anchor="ctr"/>
          <a:lstStyle/>
          <a:p>
            <a:pPr marL="0" indent="0" algn="ctr">
              <a:buNone/>
            </a:pPr>
            <a:r>
              <a:rPr lang="en-US" sz="1150" i="1" dirty="0">
                <a:solidFill>
                  <a:srgbClr val="5F6B7A"/>
                </a:solidFill>
                <a:latin typeface="Calibri" panose="020F0502020204030204" pitchFamily="34" charset="0"/>
                <a:ea typeface="Calibri" panose="020F0502020204030204" pitchFamily="34" charset="-122"/>
                <a:cs typeface="Calibri" panose="020F0502020204030204" pitchFamily="34" charset="-120"/>
              </a:rPr>
              <a:t>Increasing provider responsibility &amp; decreasing customer control from bottom to top</a:t>
            </a:r>
            <a:endParaRPr lang="en-US" sz="1150" dirty="0"/>
          </a:p>
        </p:txBody>
      </p:sp>
      <p:sp>
        <p:nvSpPr>
          <p:cNvPr id="20" name="Text 1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1" name="Text 1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IaaS — Infrastructure as a Service</a:t>
            </a:r>
            <a:endParaRPr lang="en-US" sz="3000" dirty="0"/>
          </a:p>
        </p:txBody>
      </p:sp>
      <p:sp>
        <p:nvSpPr>
          <p:cNvPr id="4" name="Text 2"/>
          <p:cNvSpPr/>
          <p:nvPr/>
        </p:nvSpPr>
        <p:spPr>
          <a:xfrm>
            <a:off x="548640" y="1600200"/>
            <a:ext cx="6583680" cy="1005840"/>
          </a:xfrm>
          <a:prstGeom prst="rect">
            <a:avLst/>
          </a:prstGeom>
          <a:noFill/>
        </p:spPr>
        <p:txBody>
          <a:bodyPr wrap="square" lIns="0" tIns="0" rIns="0" bIns="0" rtlCol="0" anchor="ctr"/>
          <a:lstStyle/>
          <a:p>
            <a:pPr marL="0" indent="0">
              <a:lnSpc>
                <a:spcPct val="120000"/>
              </a:lnSpc>
              <a:buNone/>
            </a:pPr>
            <a:r>
              <a:rPr lang="en-US" sz="1400" dirty="0">
                <a:solidFill>
                  <a:srgbClr val="232F3E"/>
                </a:solidFill>
                <a:latin typeface="Calibri" panose="020F0502020204030204" pitchFamily="34" charset="0"/>
                <a:ea typeface="Calibri" panose="020F0502020204030204" pitchFamily="34" charset="-122"/>
                <a:cs typeface="Calibri" panose="020F0502020204030204" pitchFamily="34" charset="-120"/>
              </a:rPr>
              <a:t>Provides raw computing infrastructure — virtual machines, storage, and networks — over the internet. You take over from the operating system upward.</a:t>
            </a:r>
            <a:endParaRPr lang="en-US" sz="1400" dirty="0"/>
          </a:p>
        </p:txBody>
      </p:sp>
      <p:sp>
        <p:nvSpPr>
          <p:cNvPr id="5" name="Text 3"/>
          <p:cNvSpPr/>
          <p:nvPr/>
        </p:nvSpPr>
        <p:spPr>
          <a:xfrm>
            <a:off x="548640" y="2697480"/>
            <a:ext cx="6583680" cy="320040"/>
          </a:xfrm>
          <a:prstGeom prst="rect">
            <a:avLst/>
          </a:prstGeom>
          <a:noFill/>
        </p:spPr>
        <p:txBody>
          <a:bodyPr wrap="square" lIns="0" tIns="0" rIns="0" bIns="0" rtlCol="0" anchor="ctr"/>
          <a:lstStyle/>
          <a:p>
            <a:pPr marL="0" indent="0">
              <a:buNone/>
            </a:pPr>
            <a:r>
              <a:rPr lang="en-US" sz="1350" b="1" dirty="0">
                <a:solidFill>
                  <a:srgbClr val="FF9900"/>
                </a:solidFill>
                <a:latin typeface="Calibri" panose="020F0502020204030204" pitchFamily="34" charset="0"/>
                <a:ea typeface="Calibri" panose="020F0502020204030204" pitchFamily="34" charset="-122"/>
                <a:cs typeface="Calibri" panose="020F0502020204030204" pitchFamily="34" charset="-120"/>
              </a:rPr>
              <a:t>You control:</a:t>
            </a:r>
            <a:endParaRPr lang="en-US" sz="1350" dirty="0"/>
          </a:p>
        </p:txBody>
      </p:sp>
      <p:sp>
        <p:nvSpPr>
          <p:cNvPr id="6" name="Text 4"/>
          <p:cNvSpPr/>
          <p:nvPr/>
        </p:nvSpPr>
        <p:spPr>
          <a:xfrm>
            <a:off x="548640" y="3035808"/>
            <a:ext cx="6583680" cy="2377440"/>
          </a:xfrm>
          <a:prstGeom prst="rect">
            <a:avLst/>
          </a:prstGeom>
          <a:noFill/>
        </p:spPr>
        <p:txBody>
          <a:bodyPr wrap="square" lIns="0" tIns="0" rIns="0" bIns="0" rtlCol="0" anchor="ctr"/>
          <a:lstStyle/>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Operating system installation &amp; patching</a:t>
            </a:r>
            <a:endParaRPr lang="en-US" sz="1300" dirty="0"/>
          </a:p>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Applications and runtime environments</a:t>
            </a:r>
            <a:endParaRPr lang="en-US" sz="1300" dirty="0"/>
          </a:p>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Data, middleware, and security rules</a:t>
            </a:r>
            <a:endParaRPr lang="en-US" sz="1300" dirty="0"/>
          </a:p>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Maximum flexibility and control</a:t>
            </a:r>
            <a:endParaRPr lang="en-US" sz="1300" dirty="0"/>
          </a:p>
        </p:txBody>
      </p:sp>
      <p:sp>
        <p:nvSpPr>
          <p:cNvPr id="7" name="Shape 5"/>
          <p:cNvSpPr/>
          <p:nvPr/>
        </p:nvSpPr>
        <p:spPr>
          <a:xfrm>
            <a:off x="7452360" y="1600200"/>
            <a:ext cx="4206240" cy="4160520"/>
          </a:xfrm>
          <a:prstGeom prst="roundRect">
            <a:avLst>
              <a:gd name="adj" fmla="val 2198"/>
            </a:avLst>
          </a:prstGeom>
          <a:solidFill>
            <a:srgbClr val="F5F7FA"/>
          </a:solidFill>
        </p:spPr>
      </p:sp>
      <p:sp>
        <p:nvSpPr>
          <p:cNvPr id="8" name="Shape 6"/>
          <p:cNvSpPr/>
          <p:nvPr/>
        </p:nvSpPr>
        <p:spPr>
          <a:xfrm>
            <a:off x="9189720" y="1874520"/>
            <a:ext cx="822960" cy="822960"/>
          </a:xfrm>
          <a:prstGeom prst="ellipse">
            <a:avLst/>
          </a:prstGeom>
          <a:solidFill>
            <a:srgbClr val="232F3E"/>
          </a:solidFill>
        </p:spPr>
      </p:sp>
      <p:pic>
        <p:nvPicPr>
          <p:cNvPr id="9" name="Image 0" descr="/home/claude/icons/server_orange.png"/>
          <p:cNvPicPr>
            <a:picLocks noChangeAspect="1"/>
          </p:cNvPicPr>
          <p:nvPr/>
        </p:nvPicPr>
        <p:blipFill>
          <a:blip r:embed="rId1"/>
          <a:stretch>
            <a:fillRect/>
          </a:stretch>
        </p:blipFill>
        <p:spPr>
          <a:xfrm>
            <a:off x="9387230" y="2072030"/>
            <a:ext cx="427939" cy="427939"/>
          </a:xfrm>
          <a:prstGeom prst="rect">
            <a:avLst/>
          </a:prstGeom>
        </p:spPr>
      </p:pic>
      <p:sp>
        <p:nvSpPr>
          <p:cNvPr id="10" name="Text 7"/>
          <p:cNvSpPr/>
          <p:nvPr/>
        </p:nvSpPr>
        <p:spPr>
          <a:xfrm>
            <a:off x="7680960" y="2880360"/>
            <a:ext cx="3749040" cy="32004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Real-World Examples</a:t>
            </a:r>
            <a:endParaRPr lang="en-US" sz="1350" dirty="0"/>
          </a:p>
        </p:txBody>
      </p:sp>
      <p:sp>
        <p:nvSpPr>
          <p:cNvPr id="11" name="Text 8"/>
          <p:cNvSpPr/>
          <p:nvPr/>
        </p:nvSpPr>
        <p:spPr>
          <a:xfrm>
            <a:off x="7863840" y="32918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Amazon EC2</a:t>
            </a:r>
            <a:endParaRPr lang="en-US" sz="1300" dirty="0"/>
          </a:p>
        </p:txBody>
      </p:sp>
      <p:sp>
        <p:nvSpPr>
          <p:cNvPr id="12" name="Text 9"/>
          <p:cNvSpPr/>
          <p:nvPr/>
        </p:nvSpPr>
        <p:spPr>
          <a:xfrm>
            <a:off x="7863840" y="37490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Microsoft Azure Virtual Machines</a:t>
            </a:r>
            <a:endParaRPr lang="en-US" sz="1300" dirty="0"/>
          </a:p>
        </p:txBody>
      </p:sp>
      <p:sp>
        <p:nvSpPr>
          <p:cNvPr id="13" name="Text 10"/>
          <p:cNvSpPr/>
          <p:nvPr/>
        </p:nvSpPr>
        <p:spPr>
          <a:xfrm>
            <a:off x="7863840" y="42062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Google Compute Engine</a:t>
            </a:r>
            <a:endParaRPr lang="en-US" sz="1300" dirty="0"/>
          </a:p>
        </p:txBody>
      </p:sp>
      <p:sp>
        <p:nvSpPr>
          <p:cNvPr id="14" name="Text 11"/>
          <p:cNvSpPr/>
          <p:nvPr/>
        </p:nvSpPr>
        <p:spPr>
          <a:xfrm>
            <a:off x="7863840" y="46634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DigitalOcean Droplets</a:t>
            </a:r>
            <a:endParaRPr lang="en-US" sz="1300" dirty="0"/>
          </a:p>
        </p:txBody>
      </p:sp>
      <p:sp>
        <p:nvSpPr>
          <p:cNvPr id="15" name="Text 1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6" name="Text 1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PaaS — Platform as a Service</a:t>
            </a:r>
            <a:endParaRPr lang="en-US" sz="3000" dirty="0"/>
          </a:p>
        </p:txBody>
      </p:sp>
      <p:sp>
        <p:nvSpPr>
          <p:cNvPr id="4" name="Text 2"/>
          <p:cNvSpPr/>
          <p:nvPr/>
        </p:nvSpPr>
        <p:spPr>
          <a:xfrm>
            <a:off x="548640" y="1600200"/>
            <a:ext cx="6583680" cy="1005840"/>
          </a:xfrm>
          <a:prstGeom prst="rect">
            <a:avLst/>
          </a:prstGeom>
          <a:noFill/>
        </p:spPr>
        <p:txBody>
          <a:bodyPr wrap="square" lIns="0" tIns="0" rIns="0" bIns="0" rtlCol="0" anchor="ctr"/>
          <a:lstStyle/>
          <a:p>
            <a:pPr marL="0" indent="0">
              <a:lnSpc>
                <a:spcPct val="120000"/>
              </a:lnSpc>
              <a:buNone/>
            </a:pPr>
            <a:r>
              <a:rPr lang="en-US" sz="1400" dirty="0">
                <a:solidFill>
                  <a:srgbClr val="232F3E"/>
                </a:solidFill>
                <a:latin typeface="Calibri" panose="020F0502020204030204" pitchFamily="34" charset="0"/>
                <a:ea typeface="Calibri" panose="020F0502020204030204" pitchFamily="34" charset="-122"/>
                <a:cs typeface="Calibri" panose="020F0502020204030204" pitchFamily="34" charset="-120"/>
              </a:rPr>
              <a:t>Provides a ready-made platform — including OS, runtime, and middleware — so developers can simply deploy code without managing servers.</a:t>
            </a:r>
            <a:endParaRPr lang="en-US" sz="1400" dirty="0"/>
          </a:p>
        </p:txBody>
      </p:sp>
      <p:sp>
        <p:nvSpPr>
          <p:cNvPr id="5" name="Text 3"/>
          <p:cNvSpPr/>
          <p:nvPr/>
        </p:nvSpPr>
        <p:spPr>
          <a:xfrm>
            <a:off x="548640" y="2697480"/>
            <a:ext cx="6583680" cy="320040"/>
          </a:xfrm>
          <a:prstGeom prst="rect">
            <a:avLst/>
          </a:prstGeom>
          <a:noFill/>
        </p:spPr>
        <p:txBody>
          <a:bodyPr wrap="square" lIns="0" tIns="0" rIns="0" bIns="0" rtlCol="0" anchor="ctr"/>
          <a:lstStyle/>
          <a:p>
            <a:pPr marL="0" indent="0">
              <a:buNone/>
            </a:pPr>
            <a:r>
              <a:rPr lang="en-US" sz="1350" b="1" dirty="0">
                <a:solidFill>
                  <a:srgbClr val="FF9900"/>
                </a:solidFill>
                <a:latin typeface="Calibri" panose="020F0502020204030204" pitchFamily="34" charset="0"/>
                <a:ea typeface="Calibri" panose="020F0502020204030204" pitchFamily="34" charset="-122"/>
                <a:cs typeface="Calibri" panose="020F0502020204030204" pitchFamily="34" charset="-120"/>
              </a:rPr>
              <a:t>You control:</a:t>
            </a:r>
            <a:endParaRPr lang="en-US" sz="1350" dirty="0"/>
          </a:p>
        </p:txBody>
      </p:sp>
      <p:sp>
        <p:nvSpPr>
          <p:cNvPr id="6" name="Text 4"/>
          <p:cNvSpPr/>
          <p:nvPr/>
        </p:nvSpPr>
        <p:spPr>
          <a:xfrm>
            <a:off x="548640" y="3035808"/>
            <a:ext cx="6583680" cy="2377440"/>
          </a:xfrm>
          <a:prstGeom prst="rect">
            <a:avLst/>
          </a:prstGeom>
          <a:noFill/>
        </p:spPr>
        <p:txBody>
          <a:bodyPr wrap="square" lIns="0" tIns="0" rIns="0" bIns="0" rtlCol="0" anchor="ctr"/>
          <a:lstStyle/>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Your application code and configuration</a:t>
            </a:r>
            <a:endParaRPr lang="en-US" sz="1300" dirty="0"/>
          </a:p>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Application data and business logic</a:t>
            </a:r>
            <a:endParaRPr lang="en-US" sz="1300" dirty="0"/>
          </a:p>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Deployment settings and scaling rules</a:t>
            </a:r>
            <a:endParaRPr lang="en-US" sz="1300" dirty="0"/>
          </a:p>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Provider handles OS, patches &amp; runtime</a:t>
            </a:r>
            <a:endParaRPr lang="en-US" sz="1300" dirty="0"/>
          </a:p>
        </p:txBody>
      </p:sp>
      <p:sp>
        <p:nvSpPr>
          <p:cNvPr id="7" name="Shape 5"/>
          <p:cNvSpPr/>
          <p:nvPr/>
        </p:nvSpPr>
        <p:spPr>
          <a:xfrm>
            <a:off x="7452360" y="1600200"/>
            <a:ext cx="4206240" cy="4160520"/>
          </a:xfrm>
          <a:prstGeom prst="roundRect">
            <a:avLst>
              <a:gd name="adj" fmla="val 2198"/>
            </a:avLst>
          </a:prstGeom>
          <a:solidFill>
            <a:srgbClr val="F5F7FA"/>
          </a:solidFill>
        </p:spPr>
      </p:sp>
      <p:sp>
        <p:nvSpPr>
          <p:cNvPr id="8" name="Shape 6"/>
          <p:cNvSpPr/>
          <p:nvPr/>
        </p:nvSpPr>
        <p:spPr>
          <a:xfrm>
            <a:off x="9189720" y="1874520"/>
            <a:ext cx="822960" cy="822960"/>
          </a:xfrm>
          <a:prstGeom prst="ellipse">
            <a:avLst/>
          </a:prstGeom>
          <a:solidFill>
            <a:srgbClr val="232F3E"/>
          </a:solidFill>
        </p:spPr>
      </p:sp>
      <p:pic>
        <p:nvPicPr>
          <p:cNvPr id="9" name="Image 0" descr="/home/claude/icons/code_orange.png"/>
          <p:cNvPicPr>
            <a:picLocks noChangeAspect="1"/>
          </p:cNvPicPr>
          <p:nvPr/>
        </p:nvPicPr>
        <p:blipFill>
          <a:blip r:embed="rId1"/>
          <a:stretch>
            <a:fillRect/>
          </a:stretch>
        </p:blipFill>
        <p:spPr>
          <a:xfrm>
            <a:off x="9387230" y="2072030"/>
            <a:ext cx="427939" cy="427939"/>
          </a:xfrm>
          <a:prstGeom prst="rect">
            <a:avLst/>
          </a:prstGeom>
        </p:spPr>
      </p:pic>
      <p:sp>
        <p:nvSpPr>
          <p:cNvPr id="10" name="Text 7"/>
          <p:cNvSpPr/>
          <p:nvPr/>
        </p:nvSpPr>
        <p:spPr>
          <a:xfrm>
            <a:off x="7680960" y="2880360"/>
            <a:ext cx="3749040" cy="32004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Real-World Examples</a:t>
            </a:r>
            <a:endParaRPr lang="en-US" sz="1350" dirty="0"/>
          </a:p>
        </p:txBody>
      </p:sp>
      <p:sp>
        <p:nvSpPr>
          <p:cNvPr id="11" name="Text 8"/>
          <p:cNvSpPr/>
          <p:nvPr/>
        </p:nvSpPr>
        <p:spPr>
          <a:xfrm>
            <a:off x="7863840" y="32918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AWS Elastic Beanstalk</a:t>
            </a:r>
            <a:endParaRPr lang="en-US" sz="1300" dirty="0"/>
          </a:p>
        </p:txBody>
      </p:sp>
      <p:sp>
        <p:nvSpPr>
          <p:cNvPr id="12" name="Text 9"/>
          <p:cNvSpPr/>
          <p:nvPr/>
        </p:nvSpPr>
        <p:spPr>
          <a:xfrm>
            <a:off x="7863840" y="37490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Google App Engine</a:t>
            </a:r>
            <a:endParaRPr lang="en-US" sz="1300" dirty="0"/>
          </a:p>
        </p:txBody>
      </p:sp>
      <p:sp>
        <p:nvSpPr>
          <p:cNvPr id="13" name="Text 10"/>
          <p:cNvSpPr/>
          <p:nvPr/>
        </p:nvSpPr>
        <p:spPr>
          <a:xfrm>
            <a:off x="7863840" y="42062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Heroku</a:t>
            </a:r>
            <a:endParaRPr lang="en-US" sz="1300" dirty="0"/>
          </a:p>
        </p:txBody>
      </p:sp>
      <p:sp>
        <p:nvSpPr>
          <p:cNvPr id="14" name="Text 11"/>
          <p:cNvSpPr/>
          <p:nvPr/>
        </p:nvSpPr>
        <p:spPr>
          <a:xfrm>
            <a:off x="7863840" y="46634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Microsoft Azure App Service</a:t>
            </a:r>
            <a:endParaRPr lang="en-US" sz="1300" dirty="0"/>
          </a:p>
        </p:txBody>
      </p:sp>
      <p:sp>
        <p:nvSpPr>
          <p:cNvPr id="15" name="Text 1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6" name="Text 1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15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SaaS — Software as a Service</a:t>
            </a:r>
            <a:endParaRPr lang="en-US" sz="3000" dirty="0"/>
          </a:p>
        </p:txBody>
      </p:sp>
      <p:sp>
        <p:nvSpPr>
          <p:cNvPr id="4" name="Text 2"/>
          <p:cNvSpPr/>
          <p:nvPr/>
        </p:nvSpPr>
        <p:spPr>
          <a:xfrm>
            <a:off x="548640" y="1600200"/>
            <a:ext cx="6583680" cy="1005840"/>
          </a:xfrm>
          <a:prstGeom prst="rect">
            <a:avLst/>
          </a:prstGeom>
          <a:noFill/>
        </p:spPr>
        <p:txBody>
          <a:bodyPr wrap="square" lIns="0" tIns="0" rIns="0" bIns="0" rtlCol="0" anchor="ctr"/>
          <a:lstStyle/>
          <a:p>
            <a:pPr marL="0" indent="0">
              <a:lnSpc>
                <a:spcPct val="120000"/>
              </a:lnSpc>
              <a:buNone/>
            </a:pPr>
            <a:r>
              <a:rPr lang="en-US" sz="1400" dirty="0">
                <a:solidFill>
                  <a:srgbClr val="232F3E"/>
                </a:solidFill>
                <a:latin typeface="Calibri" panose="020F0502020204030204" pitchFamily="34" charset="0"/>
                <a:ea typeface="Calibri" panose="020F0502020204030204" pitchFamily="34" charset="-122"/>
                <a:cs typeface="Calibri" panose="020F0502020204030204" pitchFamily="34" charset="-120"/>
              </a:rPr>
              <a:t>Delivers a complete, ready-to-use application over the internet — you simply log in and use it. The provider manages everything underneath.</a:t>
            </a:r>
            <a:endParaRPr lang="en-US" sz="1400" dirty="0"/>
          </a:p>
        </p:txBody>
      </p:sp>
      <p:sp>
        <p:nvSpPr>
          <p:cNvPr id="5" name="Text 3"/>
          <p:cNvSpPr/>
          <p:nvPr/>
        </p:nvSpPr>
        <p:spPr>
          <a:xfrm>
            <a:off x="548640" y="2697480"/>
            <a:ext cx="6583680" cy="320040"/>
          </a:xfrm>
          <a:prstGeom prst="rect">
            <a:avLst/>
          </a:prstGeom>
          <a:noFill/>
        </p:spPr>
        <p:txBody>
          <a:bodyPr wrap="square" lIns="0" tIns="0" rIns="0" bIns="0" rtlCol="0" anchor="ctr"/>
          <a:lstStyle/>
          <a:p>
            <a:pPr marL="0" indent="0">
              <a:buNone/>
            </a:pPr>
            <a:r>
              <a:rPr lang="en-US" sz="1350" b="1" dirty="0">
                <a:solidFill>
                  <a:srgbClr val="FF9900"/>
                </a:solidFill>
                <a:latin typeface="Calibri" panose="020F0502020204030204" pitchFamily="34" charset="0"/>
                <a:ea typeface="Calibri" panose="020F0502020204030204" pitchFamily="34" charset="-122"/>
                <a:cs typeface="Calibri" panose="020F0502020204030204" pitchFamily="34" charset="-120"/>
              </a:rPr>
              <a:t>You control:</a:t>
            </a:r>
            <a:endParaRPr lang="en-US" sz="1350" dirty="0"/>
          </a:p>
        </p:txBody>
      </p:sp>
      <p:sp>
        <p:nvSpPr>
          <p:cNvPr id="6" name="Text 4"/>
          <p:cNvSpPr/>
          <p:nvPr/>
        </p:nvSpPr>
        <p:spPr>
          <a:xfrm>
            <a:off x="548640" y="3035808"/>
            <a:ext cx="6583680" cy="2377440"/>
          </a:xfrm>
          <a:prstGeom prst="rect">
            <a:avLst/>
          </a:prstGeom>
          <a:noFill/>
        </p:spPr>
        <p:txBody>
          <a:bodyPr wrap="square" lIns="0" tIns="0" rIns="0" bIns="0" rtlCol="0" anchor="ctr"/>
          <a:lstStyle/>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User accounts, preferences &amp; content</a:t>
            </a:r>
            <a:endParaRPr lang="en-US" sz="1300" dirty="0"/>
          </a:p>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Nothing to install, patch or maintain</a:t>
            </a:r>
            <a:endParaRPr lang="en-US" sz="1300" dirty="0"/>
          </a:p>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Accessible from any browser or device</a:t>
            </a:r>
            <a:endParaRPr lang="en-US" sz="1300" dirty="0"/>
          </a:p>
          <a:p>
            <a:pPr marL="228600" indent="-228600">
              <a:spcAft>
                <a:spcPts val="1000"/>
              </a:spcAft>
              <a:buSzPct val="100000"/>
              <a:buChar char="•"/>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Provider handles all infrastructure &amp; code</a:t>
            </a:r>
            <a:endParaRPr lang="en-US" sz="1300" dirty="0"/>
          </a:p>
        </p:txBody>
      </p:sp>
      <p:sp>
        <p:nvSpPr>
          <p:cNvPr id="7" name="Shape 5"/>
          <p:cNvSpPr/>
          <p:nvPr/>
        </p:nvSpPr>
        <p:spPr>
          <a:xfrm>
            <a:off x="7452360" y="1600200"/>
            <a:ext cx="4206240" cy="4160520"/>
          </a:xfrm>
          <a:prstGeom prst="roundRect">
            <a:avLst>
              <a:gd name="adj" fmla="val 2198"/>
            </a:avLst>
          </a:prstGeom>
          <a:solidFill>
            <a:srgbClr val="F5F7FA"/>
          </a:solidFill>
        </p:spPr>
      </p:sp>
      <p:sp>
        <p:nvSpPr>
          <p:cNvPr id="8" name="Shape 6"/>
          <p:cNvSpPr/>
          <p:nvPr/>
        </p:nvSpPr>
        <p:spPr>
          <a:xfrm>
            <a:off x="9189720" y="1874520"/>
            <a:ext cx="822960" cy="822960"/>
          </a:xfrm>
          <a:prstGeom prst="ellipse">
            <a:avLst/>
          </a:prstGeom>
          <a:solidFill>
            <a:srgbClr val="232F3E"/>
          </a:solidFill>
        </p:spPr>
      </p:sp>
      <p:pic>
        <p:nvPicPr>
          <p:cNvPr id="9" name="Image 0" descr="/home/claude/icons/cloud_orange.png"/>
          <p:cNvPicPr>
            <a:picLocks noChangeAspect="1"/>
          </p:cNvPicPr>
          <p:nvPr/>
        </p:nvPicPr>
        <p:blipFill>
          <a:blip r:embed="rId1"/>
          <a:stretch>
            <a:fillRect/>
          </a:stretch>
        </p:blipFill>
        <p:spPr>
          <a:xfrm>
            <a:off x="9387230" y="2072030"/>
            <a:ext cx="427939" cy="427939"/>
          </a:xfrm>
          <a:prstGeom prst="rect">
            <a:avLst/>
          </a:prstGeom>
        </p:spPr>
      </p:pic>
      <p:sp>
        <p:nvSpPr>
          <p:cNvPr id="10" name="Text 7"/>
          <p:cNvSpPr/>
          <p:nvPr/>
        </p:nvSpPr>
        <p:spPr>
          <a:xfrm>
            <a:off x="7680960" y="2880360"/>
            <a:ext cx="3749040" cy="32004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Real-World Examples</a:t>
            </a:r>
            <a:endParaRPr lang="en-US" sz="1350" dirty="0"/>
          </a:p>
        </p:txBody>
      </p:sp>
      <p:sp>
        <p:nvSpPr>
          <p:cNvPr id="11" name="Text 8"/>
          <p:cNvSpPr/>
          <p:nvPr/>
        </p:nvSpPr>
        <p:spPr>
          <a:xfrm>
            <a:off x="7863840" y="32918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Gmail &amp; Google Workspace</a:t>
            </a:r>
            <a:endParaRPr lang="en-US" sz="1300" dirty="0"/>
          </a:p>
        </p:txBody>
      </p:sp>
      <p:sp>
        <p:nvSpPr>
          <p:cNvPr id="12" name="Text 9"/>
          <p:cNvSpPr/>
          <p:nvPr/>
        </p:nvSpPr>
        <p:spPr>
          <a:xfrm>
            <a:off x="7863840" y="37490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Salesforce CRM</a:t>
            </a:r>
            <a:endParaRPr lang="en-US" sz="1300" dirty="0"/>
          </a:p>
        </p:txBody>
      </p:sp>
      <p:sp>
        <p:nvSpPr>
          <p:cNvPr id="13" name="Text 10"/>
          <p:cNvSpPr/>
          <p:nvPr/>
        </p:nvSpPr>
        <p:spPr>
          <a:xfrm>
            <a:off x="7863840" y="42062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Zoom</a:t>
            </a:r>
            <a:endParaRPr lang="en-US" sz="1300" dirty="0"/>
          </a:p>
        </p:txBody>
      </p:sp>
      <p:sp>
        <p:nvSpPr>
          <p:cNvPr id="14" name="Text 11"/>
          <p:cNvSpPr/>
          <p:nvPr/>
        </p:nvSpPr>
        <p:spPr>
          <a:xfrm>
            <a:off x="7863840" y="4663440"/>
            <a:ext cx="3566160" cy="411480"/>
          </a:xfrm>
          <a:prstGeom prst="rect">
            <a:avLst/>
          </a:prstGeom>
          <a:noFill/>
        </p:spPr>
        <p:txBody>
          <a:bodyPr wrap="square" lIns="0" tIns="0" rIns="0" bIns="0" rtlCol="0" anchor="ctr"/>
          <a:lstStyle/>
          <a:p>
            <a:pPr marL="0" indent="0">
              <a:buNone/>
            </a:pPr>
            <a:r>
              <a:rPr lang="en-US" sz="1300" dirty="0">
                <a:solidFill>
                  <a:srgbClr val="5F6B7A"/>
                </a:solidFill>
                <a:latin typeface="Calibri" panose="020F0502020204030204" pitchFamily="34" charset="0"/>
                <a:ea typeface="Calibri" panose="020F0502020204030204" pitchFamily="34" charset="-122"/>
                <a:cs typeface="Calibri" panose="020F0502020204030204" pitchFamily="34" charset="-120"/>
              </a:rPr>
              <a:t>•  Microsoft 365</a:t>
            </a:r>
            <a:endParaRPr lang="en-US" sz="1300" dirty="0"/>
          </a:p>
        </p:txBody>
      </p:sp>
      <p:sp>
        <p:nvSpPr>
          <p:cNvPr id="15" name="Text 1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6" name="Text 1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16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Cloud Deployment Models</a:t>
            </a:r>
            <a:endParaRPr lang="en-US" sz="3000" dirty="0"/>
          </a:p>
        </p:txBody>
      </p:sp>
      <p:sp>
        <p:nvSpPr>
          <p:cNvPr id="4" name="Shape 2"/>
          <p:cNvSpPr/>
          <p:nvPr/>
        </p:nvSpPr>
        <p:spPr>
          <a:xfrm>
            <a:off x="548640" y="1691640"/>
            <a:ext cx="5349240" cy="1920240"/>
          </a:xfrm>
          <a:prstGeom prst="roundRect">
            <a:avLst>
              <a:gd name="adj" fmla="val 4762"/>
            </a:avLst>
          </a:prstGeom>
          <a:solidFill>
            <a:srgbClr val="232F3E"/>
          </a:solidFill>
        </p:spPr>
      </p:sp>
      <p:sp>
        <p:nvSpPr>
          <p:cNvPr id="5" name="Shape 3"/>
          <p:cNvSpPr/>
          <p:nvPr/>
        </p:nvSpPr>
        <p:spPr>
          <a:xfrm>
            <a:off x="822960" y="1947672"/>
            <a:ext cx="731520" cy="731520"/>
          </a:xfrm>
          <a:prstGeom prst="ellipse">
            <a:avLst/>
          </a:prstGeom>
          <a:solidFill>
            <a:srgbClr val="37475A"/>
          </a:solidFill>
        </p:spPr>
      </p:sp>
      <p:pic>
        <p:nvPicPr>
          <p:cNvPr id="6" name="Image 0" descr="/home/claude/icons/globe_orange.png"/>
          <p:cNvPicPr>
            <a:picLocks noChangeAspect="1"/>
          </p:cNvPicPr>
          <p:nvPr/>
        </p:nvPicPr>
        <p:blipFill>
          <a:blip r:embed="rId1"/>
          <a:stretch>
            <a:fillRect/>
          </a:stretch>
        </p:blipFill>
        <p:spPr>
          <a:xfrm>
            <a:off x="998525" y="2123237"/>
            <a:ext cx="380390" cy="380390"/>
          </a:xfrm>
          <a:prstGeom prst="rect">
            <a:avLst/>
          </a:prstGeom>
        </p:spPr>
      </p:pic>
      <p:sp>
        <p:nvSpPr>
          <p:cNvPr id="7" name="Text 4"/>
          <p:cNvSpPr/>
          <p:nvPr/>
        </p:nvSpPr>
        <p:spPr>
          <a:xfrm>
            <a:off x="1737360" y="1947672"/>
            <a:ext cx="393192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Public Cloud</a:t>
            </a:r>
            <a:endParaRPr lang="en-US" sz="1550" dirty="0"/>
          </a:p>
        </p:txBody>
      </p:sp>
      <p:sp>
        <p:nvSpPr>
          <p:cNvPr id="8" name="Text 5"/>
          <p:cNvSpPr/>
          <p:nvPr/>
        </p:nvSpPr>
        <p:spPr>
          <a:xfrm>
            <a:off x="1737360" y="2350008"/>
            <a:ext cx="3931920" cy="1143000"/>
          </a:xfrm>
          <a:prstGeom prst="rect">
            <a:avLst/>
          </a:prstGeom>
          <a:noFill/>
        </p:spPr>
        <p:txBody>
          <a:bodyPr wrap="square" lIns="0" tIns="0" rIns="0" bIns="0" rtlCol="0" anchor="ctr"/>
          <a:lstStyle/>
          <a:p>
            <a:pPr marL="0" indent="0">
              <a:lnSpc>
                <a:spcPct val="11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Resources owned &amp; operated by a third-party provider, shared across many customers over the internet.</a:t>
            </a:r>
            <a:endParaRPr lang="en-US" sz="1200" dirty="0"/>
          </a:p>
        </p:txBody>
      </p:sp>
      <p:sp>
        <p:nvSpPr>
          <p:cNvPr id="9" name="Shape 6"/>
          <p:cNvSpPr/>
          <p:nvPr/>
        </p:nvSpPr>
        <p:spPr>
          <a:xfrm>
            <a:off x="6172200" y="1691640"/>
            <a:ext cx="5349240" cy="1920240"/>
          </a:xfrm>
          <a:prstGeom prst="roundRect">
            <a:avLst>
              <a:gd name="adj" fmla="val 4762"/>
            </a:avLst>
          </a:prstGeom>
          <a:solidFill>
            <a:srgbClr val="F5F7FA"/>
          </a:solidFill>
        </p:spPr>
      </p:sp>
      <p:sp>
        <p:nvSpPr>
          <p:cNvPr id="10" name="Shape 7"/>
          <p:cNvSpPr/>
          <p:nvPr/>
        </p:nvSpPr>
        <p:spPr>
          <a:xfrm>
            <a:off x="6446520" y="1947672"/>
            <a:ext cx="731520" cy="731520"/>
          </a:xfrm>
          <a:prstGeom prst="ellipse">
            <a:avLst/>
          </a:prstGeom>
          <a:solidFill>
            <a:srgbClr val="232F3E"/>
          </a:solidFill>
        </p:spPr>
      </p:sp>
      <p:pic>
        <p:nvPicPr>
          <p:cNvPr id="11" name="Image 1" descr="/home/claude/icons/lock_orange.png"/>
          <p:cNvPicPr>
            <a:picLocks noChangeAspect="1"/>
          </p:cNvPicPr>
          <p:nvPr/>
        </p:nvPicPr>
        <p:blipFill>
          <a:blip r:embed="rId2"/>
          <a:stretch>
            <a:fillRect/>
          </a:stretch>
        </p:blipFill>
        <p:spPr>
          <a:xfrm>
            <a:off x="6622085" y="2123237"/>
            <a:ext cx="380390" cy="380390"/>
          </a:xfrm>
          <a:prstGeom prst="rect">
            <a:avLst/>
          </a:prstGeom>
        </p:spPr>
      </p:pic>
      <p:sp>
        <p:nvSpPr>
          <p:cNvPr id="12" name="Text 8"/>
          <p:cNvSpPr/>
          <p:nvPr/>
        </p:nvSpPr>
        <p:spPr>
          <a:xfrm>
            <a:off x="7360920" y="1947672"/>
            <a:ext cx="393192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Private Cloud</a:t>
            </a:r>
            <a:endParaRPr lang="en-US" sz="1550" dirty="0"/>
          </a:p>
        </p:txBody>
      </p:sp>
      <p:sp>
        <p:nvSpPr>
          <p:cNvPr id="13" name="Text 9"/>
          <p:cNvSpPr/>
          <p:nvPr/>
        </p:nvSpPr>
        <p:spPr>
          <a:xfrm>
            <a:off x="7360920" y="2350008"/>
            <a:ext cx="3931920" cy="1143000"/>
          </a:xfrm>
          <a:prstGeom prst="rect">
            <a:avLst/>
          </a:prstGeom>
          <a:noFill/>
        </p:spPr>
        <p:txBody>
          <a:bodyPr wrap="square" lIns="0" tIns="0" rIns="0" bIns="0" rtlCol="0" anchor="ctr"/>
          <a:lstStyle/>
          <a:p>
            <a:pPr marL="0" indent="0">
              <a:lnSpc>
                <a:spcPct val="115000"/>
              </a:lnSpc>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Infrastructure dedicated to a single organization, hosted on-premises or by a provider.</a:t>
            </a:r>
            <a:endParaRPr lang="en-US" sz="1200" dirty="0"/>
          </a:p>
        </p:txBody>
      </p:sp>
      <p:sp>
        <p:nvSpPr>
          <p:cNvPr id="14" name="Shape 10"/>
          <p:cNvSpPr/>
          <p:nvPr/>
        </p:nvSpPr>
        <p:spPr>
          <a:xfrm>
            <a:off x="548640" y="3840480"/>
            <a:ext cx="5349240" cy="1920240"/>
          </a:xfrm>
          <a:prstGeom prst="roundRect">
            <a:avLst>
              <a:gd name="adj" fmla="val 4762"/>
            </a:avLst>
          </a:prstGeom>
          <a:solidFill>
            <a:srgbClr val="232F3E"/>
          </a:solidFill>
        </p:spPr>
      </p:sp>
      <p:sp>
        <p:nvSpPr>
          <p:cNvPr id="15" name="Shape 11"/>
          <p:cNvSpPr/>
          <p:nvPr/>
        </p:nvSpPr>
        <p:spPr>
          <a:xfrm>
            <a:off x="822960" y="4096512"/>
            <a:ext cx="731520" cy="731520"/>
          </a:xfrm>
          <a:prstGeom prst="ellipse">
            <a:avLst/>
          </a:prstGeom>
          <a:solidFill>
            <a:srgbClr val="37475A"/>
          </a:solidFill>
        </p:spPr>
      </p:sp>
      <p:pic>
        <p:nvPicPr>
          <p:cNvPr id="16" name="Image 2" descr="/home/claude/icons/sync_orange.png"/>
          <p:cNvPicPr>
            <a:picLocks noChangeAspect="1"/>
          </p:cNvPicPr>
          <p:nvPr/>
        </p:nvPicPr>
        <p:blipFill>
          <a:blip r:embed="rId3"/>
          <a:stretch>
            <a:fillRect/>
          </a:stretch>
        </p:blipFill>
        <p:spPr>
          <a:xfrm>
            <a:off x="998525" y="4272077"/>
            <a:ext cx="380390" cy="380390"/>
          </a:xfrm>
          <a:prstGeom prst="rect">
            <a:avLst/>
          </a:prstGeom>
        </p:spPr>
      </p:pic>
      <p:sp>
        <p:nvSpPr>
          <p:cNvPr id="17" name="Text 12"/>
          <p:cNvSpPr/>
          <p:nvPr/>
        </p:nvSpPr>
        <p:spPr>
          <a:xfrm>
            <a:off x="1737360" y="4096512"/>
            <a:ext cx="3931920" cy="365760"/>
          </a:xfrm>
          <a:prstGeom prst="rect">
            <a:avLst/>
          </a:prstGeom>
          <a:noFill/>
        </p:spPr>
        <p:txBody>
          <a:bodyPr wrap="square" lIns="0" tIns="0" rIns="0" bIns="0" rtlCol="0" anchor="ctr"/>
          <a:lstStyle/>
          <a:p>
            <a:pPr marL="0" indent="0">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Hybrid Cloud</a:t>
            </a:r>
            <a:endParaRPr lang="en-US" sz="1550" dirty="0"/>
          </a:p>
        </p:txBody>
      </p:sp>
      <p:sp>
        <p:nvSpPr>
          <p:cNvPr id="18" name="Text 13"/>
          <p:cNvSpPr/>
          <p:nvPr/>
        </p:nvSpPr>
        <p:spPr>
          <a:xfrm>
            <a:off x="1737360" y="4498848"/>
            <a:ext cx="3931920" cy="1143000"/>
          </a:xfrm>
          <a:prstGeom prst="rect">
            <a:avLst/>
          </a:prstGeom>
          <a:noFill/>
        </p:spPr>
        <p:txBody>
          <a:bodyPr wrap="square" lIns="0" tIns="0" rIns="0" bIns="0" rtlCol="0" anchor="ctr"/>
          <a:lstStyle/>
          <a:p>
            <a:pPr marL="0" indent="0">
              <a:lnSpc>
                <a:spcPct val="11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Combines public and private clouds, allowing data and applications to move between them.</a:t>
            </a:r>
            <a:endParaRPr lang="en-US" sz="1200" dirty="0"/>
          </a:p>
        </p:txBody>
      </p:sp>
      <p:sp>
        <p:nvSpPr>
          <p:cNvPr id="19" name="Shape 14"/>
          <p:cNvSpPr/>
          <p:nvPr/>
        </p:nvSpPr>
        <p:spPr>
          <a:xfrm>
            <a:off x="6172200" y="3840480"/>
            <a:ext cx="5349240" cy="1920240"/>
          </a:xfrm>
          <a:prstGeom prst="roundRect">
            <a:avLst>
              <a:gd name="adj" fmla="val 4762"/>
            </a:avLst>
          </a:prstGeom>
          <a:solidFill>
            <a:srgbClr val="F5F7FA"/>
          </a:solidFill>
        </p:spPr>
      </p:sp>
      <p:sp>
        <p:nvSpPr>
          <p:cNvPr id="20" name="Shape 15"/>
          <p:cNvSpPr/>
          <p:nvPr/>
        </p:nvSpPr>
        <p:spPr>
          <a:xfrm>
            <a:off x="6446520" y="4096512"/>
            <a:ext cx="731520" cy="731520"/>
          </a:xfrm>
          <a:prstGeom prst="ellipse">
            <a:avLst/>
          </a:prstGeom>
          <a:solidFill>
            <a:srgbClr val="232F3E"/>
          </a:solidFill>
        </p:spPr>
      </p:sp>
      <p:pic>
        <p:nvPicPr>
          <p:cNvPr id="21" name="Image 3" descr="/home/claude/icons/users_orange.png"/>
          <p:cNvPicPr>
            <a:picLocks noChangeAspect="1"/>
          </p:cNvPicPr>
          <p:nvPr/>
        </p:nvPicPr>
        <p:blipFill>
          <a:blip r:embed="rId4"/>
          <a:stretch>
            <a:fillRect/>
          </a:stretch>
        </p:blipFill>
        <p:spPr>
          <a:xfrm>
            <a:off x="6622085" y="4272077"/>
            <a:ext cx="380390" cy="380390"/>
          </a:xfrm>
          <a:prstGeom prst="rect">
            <a:avLst/>
          </a:prstGeom>
        </p:spPr>
      </p:pic>
      <p:sp>
        <p:nvSpPr>
          <p:cNvPr id="22" name="Text 16"/>
          <p:cNvSpPr/>
          <p:nvPr/>
        </p:nvSpPr>
        <p:spPr>
          <a:xfrm>
            <a:off x="7360920" y="4096512"/>
            <a:ext cx="393192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Community Cloud</a:t>
            </a:r>
            <a:endParaRPr lang="en-US" sz="1550" dirty="0"/>
          </a:p>
        </p:txBody>
      </p:sp>
      <p:sp>
        <p:nvSpPr>
          <p:cNvPr id="23" name="Text 17"/>
          <p:cNvSpPr/>
          <p:nvPr/>
        </p:nvSpPr>
        <p:spPr>
          <a:xfrm>
            <a:off x="7360920" y="4498848"/>
            <a:ext cx="3931920" cy="1143000"/>
          </a:xfrm>
          <a:prstGeom prst="rect">
            <a:avLst/>
          </a:prstGeom>
          <a:noFill/>
        </p:spPr>
        <p:txBody>
          <a:bodyPr wrap="square" lIns="0" tIns="0" rIns="0" bIns="0" rtlCol="0" anchor="ctr"/>
          <a:lstStyle/>
          <a:p>
            <a:pPr marL="0" indent="0">
              <a:lnSpc>
                <a:spcPct val="115000"/>
              </a:lnSpc>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Shared infrastructure for organizations with common goals, such as compliance needs.</a:t>
            </a:r>
            <a:endParaRPr lang="en-US" sz="1200" dirty="0"/>
          </a:p>
        </p:txBody>
      </p:sp>
      <p:sp>
        <p:nvSpPr>
          <p:cNvPr id="24" name="Text 1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5" name="Text 1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17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Deployment Models: Detailed Comparison</a:t>
            </a:r>
            <a:endParaRPr lang="en-US" sz="3000" dirty="0"/>
          </a:p>
        </p:txBody>
      </p:sp>
      <p:sp>
        <p:nvSpPr>
          <p:cNvPr id="4" name="Shape 2"/>
          <p:cNvSpPr/>
          <p:nvPr/>
        </p:nvSpPr>
        <p:spPr>
          <a:xfrm>
            <a:off x="548640" y="1737360"/>
            <a:ext cx="1920240" cy="548640"/>
          </a:xfrm>
          <a:prstGeom prst="roundRect">
            <a:avLst>
              <a:gd name="adj" fmla="val 8333"/>
            </a:avLst>
          </a:prstGeom>
          <a:solidFill>
            <a:srgbClr val="232F3E"/>
          </a:solidFill>
        </p:spPr>
      </p:sp>
      <p:sp>
        <p:nvSpPr>
          <p:cNvPr id="5" name="Text 3"/>
          <p:cNvSpPr/>
          <p:nvPr/>
        </p:nvSpPr>
        <p:spPr>
          <a:xfrm>
            <a:off x="548640" y="1737360"/>
            <a:ext cx="1920240" cy="548640"/>
          </a:xfrm>
          <a:prstGeom prst="rect">
            <a:avLst/>
          </a:prstGeom>
          <a:noFill/>
        </p:spPr>
        <p:txBody>
          <a:bodyPr wrap="square" lIns="0" tIns="0" rIns="0" bIns="0"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1350" dirty="0"/>
          </a:p>
        </p:txBody>
      </p:sp>
      <p:sp>
        <p:nvSpPr>
          <p:cNvPr id="6" name="Shape 4"/>
          <p:cNvSpPr/>
          <p:nvPr/>
        </p:nvSpPr>
        <p:spPr>
          <a:xfrm>
            <a:off x="2468880" y="1737360"/>
            <a:ext cx="3017520" cy="548640"/>
          </a:xfrm>
          <a:prstGeom prst="roundRect">
            <a:avLst>
              <a:gd name="adj" fmla="val 8333"/>
            </a:avLst>
          </a:prstGeom>
          <a:solidFill>
            <a:srgbClr val="232F3E"/>
          </a:solidFill>
        </p:spPr>
      </p:sp>
      <p:sp>
        <p:nvSpPr>
          <p:cNvPr id="7" name="Text 5"/>
          <p:cNvSpPr/>
          <p:nvPr/>
        </p:nvSpPr>
        <p:spPr>
          <a:xfrm>
            <a:off x="2468880" y="1737360"/>
            <a:ext cx="3017520" cy="548640"/>
          </a:xfrm>
          <a:prstGeom prst="rect">
            <a:avLst/>
          </a:prstGeom>
          <a:noFill/>
        </p:spPr>
        <p:txBody>
          <a:bodyPr wrap="square" lIns="0" tIns="0" rIns="0" bIns="0"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Ownership</a:t>
            </a:r>
            <a:endParaRPr lang="en-US" sz="1350" dirty="0"/>
          </a:p>
        </p:txBody>
      </p:sp>
      <p:sp>
        <p:nvSpPr>
          <p:cNvPr id="8" name="Shape 6"/>
          <p:cNvSpPr/>
          <p:nvPr/>
        </p:nvSpPr>
        <p:spPr>
          <a:xfrm>
            <a:off x="5486400" y="1737360"/>
            <a:ext cx="2834640" cy="548640"/>
          </a:xfrm>
          <a:prstGeom prst="roundRect">
            <a:avLst>
              <a:gd name="adj" fmla="val 8333"/>
            </a:avLst>
          </a:prstGeom>
          <a:solidFill>
            <a:srgbClr val="232F3E"/>
          </a:solidFill>
        </p:spPr>
      </p:sp>
      <p:sp>
        <p:nvSpPr>
          <p:cNvPr id="9" name="Text 7"/>
          <p:cNvSpPr/>
          <p:nvPr/>
        </p:nvSpPr>
        <p:spPr>
          <a:xfrm>
            <a:off x="5486400" y="1737360"/>
            <a:ext cx="2834640" cy="548640"/>
          </a:xfrm>
          <a:prstGeom prst="rect">
            <a:avLst/>
          </a:prstGeom>
          <a:noFill/>
        </p:spPr>
        <p:txBody>
          <a:bodyPr wrap="square" lIns="0" tIns="0" rIns="0" bIns="0"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Cost</a:t>
            </a:r>
            <a:endParaRPr lang="en-US" sz="1350" dirty="0"/>
          </a:p>
        </p:txBody>
      </p:sp>
      <p:sp>
        <p:nvSpPr>
          <p:cNvPr id="10" name="Shape 8"/>
          <p:cNvSpPr/>
          <p:nvPr/>
        </p:nvSpPr>
        <p:spPr>
          <a:xfrm>
            <a:off x="8321040" y="1737360"/>
            <a:ext cx="3291840" cy="548640"/>
          </a:xfrm>
          <a:prstGeom prst="roundRect">
            <a:avLst>
              <a:gd name="adj" fmla="val 8333"/>
            </a:avLst>
          </a:prstGeom>
          <a:solidFill>
            <a:srgbClr val="232F3E"/>
          </a:solidFill>
        </p:spPr>
      </p:sp>
      <p:sp>
        <p:nvSpPr>
          <p:cNvPr id="11" name="Text 9"/>
          <p:cNvSpPr/>
          <p:nvPr/>
        </p:nvSpPr>
        <p:spPr>
          <a:xfrm>
            <a:off x="8321040" y="1737360"/>
            <a:ext cx="3291840" cy="548640"/>
          </a:xfrm>
          <a:prstGeom prst="rect">
            <a:avLst/>
          </a:prstGeom>
          <a:noFill/>
        </p:spPr>
        <p:txBody>
          <a:bodyPr wrap="square" lIns="0" tIns="0" rIns="0" bIns="0"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Best For</a:t>
            </a:r>
            <a:endParaRPr lang="en-US" sz="1350" dirty="0"/>
          </a:p>
        </p:txBody>
      </p:sp>
      <p:sp>
        <p:nvSpPr>
          <p:cNvPr id="12" name="Shape 10"/>
          <p:cNvSpPr/>
          <p:nvPr/>
        </p:nvSpPr>
        <p:spPr>
          <a:xfrm>
            <a:off x="548640" y="2286000"/>
            <a:ext cx="1920240" cy="868680"/>
          </a:xfrm>
          <a:prstGeom prst="rect">
            <a:avLst/>
          </a:prstGeom>
          <a:solidFill>
            <a:srgbClr val="F5F7FA"/>
          </a:solidFill>
          <a:ln w="9525">
            <a:solidFill>
              <a:srgbClr val="E3E7ED"/>
            </a:solidFill>
            <a:prstDash val="solid"/>
          </a:ln>
        </p:spPr>
      </p:sp>
      <p:sp>
        <p:nvSpPr>
          <p:cNvPr id="13" name="Text 11"/>
          <p:cNvSpPr/>
          <p:nvPr/>
        </p:nvSpPr>
        <p:spPr>
          <a:xfrm>
            <a:off x="685800" y="2286000"/>
            <a:ext cx="1645920" cy="868680"/>
          </a:xfrm>
          <a:prstGeom prst="rect">
            <a:avLst/>
          </a:prstGeom>
          <a:noFill/>
        </p:spPr>
        <p:txBody>
          <a:bodyPr wrap="square" lIns="0" tIns="0" rIns="0" bIns="0" rtlCol="0" anchor="ctr"/>
          <a:lstStyle/>
          <a:p>
            <a:pPr marL="0" indent="0">
              <a:lnSpc>
                <a:spcPct val="110000"/>
              </a:lnSpc>
              <a:buNone/>
            </a:pPr>
            <a:r>
              <a:rPr lang="en-US" sz="1250" b="1" dirty="0">
                <a:solidFill>
                  <a:srgbClr val="FF9900"/>
                </a:solidFill>
                <a:latin typeface="Calibri" panose="020F0502020204030204" pitchFamily="34" charset="0"/>
                <a:ea typeface="Calibri" panose="020F0502020204030204" pitchFamily="34" charset="-122"/>
                <a:cs typeface="Calibri" panose="020F0502020204030204" pitchFamily="34" charset="-120"/>
              </a:rPr>
              <a:t>Public</a:t>
            </a:r>
            <a:endParaRPr lang="en-US" sz="1250" dirty="0"/>
          </a:p>
        </p:txBody>
      </p:sp>
      <p:sp>
        <p:nvSpPr>
          <p:cNvPr id="14" name="Shape 12"/>
          <p:cNvSpPr/>
          <p:nvPr/>
        </p:nvSpPr>
        <p:spPr>
          <a:xfrm>
            <a:off x="2468880" y="2286000"/>
            <a:ext cx="3017520" cy="868680"/>
          </a:xfrm>
          <a:prstGeom prst="rect">
            <a:avLst/>
          </a:prstGeom>
          <a:solidFill>
            <a:srgbClr val="F5F7FA"/>
          </a:solidFill>
          <a:ln w="9525">
            <a:solidFill>
              <a:srgbClr val="E3E7ED"/>
            </a:solidFill>
            <a:prstDash val="solid"/>
          </a:ln>
        </p:spPr>
      </p:sp>
      <p:sp>
        <p:nvSpPr>
          <p:cNvPr id="15" name="Text 13"/>
          <p:cNvSpPr/>
          <p:nvPr/>
        </p:nvSpPr>
        <p:spPr>
          <a:xfrm>
            <a:off x="2606040" y="2286000"/>
            <a:ext cx="274320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Third-party provider</a:t>
            </a:r>
            <a:endParaRPr lang="en-US" sz="1250" dirty="0"/>
          </a:p>
        </p:txBody>
      </p:sp>
      <p:sp>
        <p:nvSpPr>
          <p:cNvPr id="16" name="Shape 14"/>
          <p:cNvSpPr/>
          <p:nvPr/>
        </p:nvSpPr>
        <p:spPr>
          <a:xfrm>
            <a:off x="5486400" y="2286000"/>
            <a:ext cx="2834640" cy="868680"/>
          </a:xfrm>
          <a:prstGeom prst="rect">
            <a:avLst/>
          </a:prstGeom>
          <a:solidFill>
            <a:srgbClr val="F5F7FA"/>
          </a:solidFill>
          <a:ln w="9525">
            <a:solidFill>
              <a:srgbClr val="E3E7ED"/>
            </a:solidFill>
            <a:prstDash val="solid"/>
          </a:ln>
        </p:spPr>
      </p:sp>
      <p:sp>
        <p:nvSpPr>
          <p:cNvPr id="17" name="Text 15"/>
          <p:cNvSpPr/>
          <p:nvPr/>
        </p:nvSpPr>
        <p:spPr>
          <a:xfrm>
            <a:off x="5623560" y="2286000"/>
            <a:ext cx="256032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Low (pay-as-you-go)</a:t>
            </a:r>
            <a:endParaRPr lang="en-US" sz="1250" dirty="0"/>
          </a:p>
        </p:txBody>
      </p:sp>
      <p:sp>
        <p:nvSpPr>
          <p:cNvPr id="18" name="Shape 16"/>
          <p:cNvSpPr/>
          <p:nvPr/>
        </p:nvSpPr>
        <p:spPr>
          <a:xfrm>
            <a:off x="8321040" y="2286000"/>
            <a:ext cx="3291840" cy="868680"/>
          </a:xfrm>
          <a:prstGeom prst="rect">
            <a:avLst/>
          </a:prstGeom>
          <a:solidFill>
            <a:srgbClr val="F5F7FA"/>
          </a:solidFill>
          <a:ln w="9525">
            <a:solidFill>
              <a:srgbClr val="E3E7ED"/>
            </a:solidFill>
            <a:prstDash val="solid"/>
          </a:ln>
        </p:spPr>
      </p:sp>
      <p:sp>
        <p:nvSpPr>
          <p:cNvPr id="19" name="Text 17"/>
          <p:cNvSpPr/>
          <p:nvPr/>
        </p:nvSpPr>
        <p:spPr>
          <a:xfrm>
            <a:off x="8458200" y="2286000"/>
            <a:ext cx="301752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Startups, variable workloads</a:t>
            </a:r>
            <a:endParaRPr lang="en-US" sz="1250" dirty="0"/>
          </a:p>
        </p:txBody>
      </p:sp>
      <p:sp>
        <p:nvSpPr>
          <p:cNvPr id="20" name="Shape 18"/>
          <p:cNvSpPr/>
          <p:nvPr/>
        </p:nvSpPr>
        <p:spPr>
          <a:xfrm>
            <a:off x="548640" y="3154680"/>
            <a:ext cx="1920240" cy="868680"/>
          </a:xfrm>
          <a:prstGeom prst="rect">
            <a:avLst/>
          </a:prstGeom>
          <a:solidFill>
            <a:srgbClr val="FFFFFF"/>
          </a:solidFill>
          <a:ln w="9525">
            <a:solidFill>
              <a:srgbClr val="E3E7ED"/>
            </a:solidFill>
            <a:prstDash val="solid"/>
          </a:ln>
        </p:spPr>
      </p:sp>
      <p:sp>
        <p:nvSpPr>
          <p:cNvPr id="21" name="Text 19"/>
          <p:cNvSpPr/>
          <p:nvPr/>
        </p:nvSpPr>
        <p:spPr>
          <a:xfrm>
            <a:off x="685800" y="3154680"/>
            <a:ext cx="1645920" cy="868680"/>
          </a:xfrm>
          <a:prstGeom prst="rect">
            <a:avLst/>
          </a:prstGeom>
          <a:noFill/>
        </p:spPr>
        <p:txBody>
          <a:bodyPr wrap="square" lIns="0" tIns="0" rIns="0" bIns="0" rtlCol="0" anchor="ctr"/>
          <a:lstStyle/>
          <a:p>
            <a:pPr marL="0" indent="0">
              <a:lnSpc>
                <a:spcPct val="110000"/>
              </a:lnSpc>
              <a:buNone/>
            </a:pPr>
            <a:r>
              <a:rPr lang="en-US" sz="1250" b="1" dirty="0">
                <a:solidFill>
                  <a:srgbClr val="FF9900"/>
                </a:solidFill>
                <a:latin typeface="Calibri" panose="020F0502020204030204" pitchFamily="34" charset="0"/>
                <a:ea typeface="Calibri" panose="020F0502020204030204" pitchFamily="34" charset="-122"/>
                <a:cs typeface="Calibri" panose="020F0502020204030204" pitchFamily="34" charset="-120"/>
              </a:rPr>
              <a:t>Private</a:t>
            </a:r>
            <a:endParaRPr lang="en-US" sz="1250" dirty="0"/>
          </a:p>
        </p:txBody>
      </p:sp>
      <p:sp>
        <p:nvSpPr>
          <p:cNvPr id="22" name="Shape 20"/>
          <p:cNvSpPr/>
          <p:nvPr/>
        </p:nvSpPr>
        <p:spPr>
          <a:xfrm>
            <a:off x="2468880" y="3154680"/>
            <a:ext cx="3017520" cy="868680"/>
          </a:xfrm>
          <a:prstGeom prst="rect">
            <a:avLst/>
          </a:prstGeom>
          <a:solidFill>
            <a:srgbClr val="FFFFFF"/>
          </a:solidFill>
          <a:ln w="9525">
            <a:solidFill>
              <a:srgbClr val="E3E7ED"/>
            </a:solidFill>
            <a:prstDash val="solid"/>
          </a:ln>
        </p:spPr>
      </p:sp>
      <p:sp>
        <p:nvSpPr>
          <p:cNvPr id="23" name="Text 21"/>
          <p:cNvSpPr/>
          <p:nvPr/>
        </p:nvSpPr>
        <p:spPr>
          <a:xfrm>
            <a:off x="2606040" y="3154680"/>
            <a:ext cx="274320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Single organization</a:t>
            </a:r>
            <a:endParaRPr lang="en-US" sz="1250" dirty="0"/>
          </a:p>
        </p:txBody>
      </p:sp>
      <p:sp>
        <p:nvSpPr>
          <p:cNvPr id="24" name="Shape 22"/>
          <p:cNvSpPr/>
          <p:nvPr/>
        </p:nvSpPr>
        <p:spPr>
          <a:xfrm>
            <a:off x="5486400" y="3154680"/>
            <a:ext cx="2834640" cy="868680"/>
          </a:xfrm>
          <a:prstGeom prst="rect">
            <a:avLst/>
          </a:prstGeom>
          <a:solidFill>
            <a:srgbClr val="FFFFFF"/>
          </a:solidFill>
          <a:ln w="9525">
            <a:solidFill>
              <a:srgbClr val="E3E7ED"/>
            </a:solidFill>
            <a:prstDash val="solid"/>
          </a:ln>
        </p:spPr>
      </p:sp>
      <p:sp>
        <p:nvSpPr>
          <p:cNvPr id="25" name="Text 23"/>
          <p:cNvSpPr/>
          <p:nvPr/>
        </p:nvSpPr>
        <p:spPr>
          <a:xfrm>
            <a:off x="5623560" y="3154680"/>
            <a:ext cx="256032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High (dedicated)</a:t>
            </a:r>
            <a:endParaRPr lang="en-US" sz="1250" dirty="0"/>
          </a:p>
        </p:txBody>
      </p:sp>
      <p:sp>
        <p:nvSpPr>
          <p:cNvPr id="26" name="Shape 24"/>
          <p:cNvSpPr/>
          <p:nvPr/>
        </p:nvSpPr>
        <p:spPr>
          <a:xfrm>
            <a:off x="8321040" y="3154680"/>
            <a:ext cx="3291840" cy="868680"/>
          </a:xfrm>
          <a:prstGeom prst="rect">
            <a:avLst/>
          </a:prstGeom>
          <a:solidFill>
            <a:srgbClr val="FFFFFF"/>
          </a:solidFill>
          <a:ln w="9525">
            <a:solidFill>
              <a:srgbClr val="E3E7ED"/>
            </a:solidFill>
            <a:prstDash val="solid"/>
          </a:ln>
        </p:spPr>
      </p:sp>
      <p:sp>
        <p:nvSpPr>
          <p:cNvPr id="27" name="Text 25"/>
          <p:cNvSpPr/>
          <p:nvPr/>
        </p:nvSpPr>
        <p:spPr>
          <a:xfrm>
            <a:off x="8458200" y="3154680"/>
            <a:ext cx="301752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Strict compliance, sensitive data</a:t>
            </a:r>
            <a:endParaRPr lang="en-US" sz="1250" dirty="0"/>
          </a:p>
        </p:txBody>
      </p:sp>
      <p:sp>
        <p:nvSpPr>
          <p:cNvPr id="28" name="Shape 26"/>
          <p:cNvSpPr/>
          <p:nvPr/>
        </p:nvSpPr>
        <p:spPr>
          <a:xfrm>
            <a:off x="548640" y="4023360"/>
            <a:ext cx="1920240" cy="868680"/>
          </a:xfrm>
          <a:prstGeom prst="rect">
            <a:avLst/>
          </a:prstGeom>
          <a:solidFill>
            <a:srgbClr val="F5F7FA"/>
          </a:solidFill>
          <a:ln w="9525">
            <a:solidFill>
              <a:srgbClr val="E3E7ED"/>
            </a:solidFill>
            <a:prstDash val="solid"/>
          </a:ln>
        </p:spPr>
      </p:sp>
      <p:sp>
        <p:nvSpPr>
          <p:cNvPr id="29" name="Text 27"/>
          <p:cNvSpPr/>
          <p:nvPr/>
        </p:nvSpPr>
        <p:spPr>
          <a:xfrm>
            <a:off x="685800" y="4023360"/>
            <a:ext cx="1645920" cy="868680"/>
          </a:xfrm>
          <a:prstGeom prst="rect">
            <a:avLst/>
          </a:prstGeom>
          <a:noFill/>
        </p:spPr>
        <p:txBody>
          <a:bodyPr wrap="square" lIns="0" tIns="0" rIns="0" bIns="0" rtlCol="0" anchor="ctr"/>
          <a:lstStyle/>
          <a:p>
            <a:pPr marL="0" indent="0">
              <a:lnSpc>
                <a:spcPct val="110000"/>
              </a:lnSpc>
              <a:buNone/>
            </a:pPr>
            <a:r>
              <a:rPr lang="en-US" sz="1250" b="1" dirty="0">
                <a:solidFill>
                  <a:srgbClr val="FF9900"/>
                </a:solidFill>
                <a:latin typeface="Calibri" panose="020F0502020204030204" pitchFamily="34" charset="0"/>
                <a:ea typeface="Calibri" panose="020F0502020204030204" pitchFamily="34" charset="-122"/>
                <a:cs typeface="Calibri" panose="020F0502020204030204" pitchFamily="34" charset="-120"/>
              </a:rPr>
              <a:t>Hybrid</a:t>
            </a:r>
            <a:endParaRPr lang="en-US" sz="1250" dirty="0"/>
          </a:p>
        </p:txBody>
      </p:sp>
      <p:sp>
        <p:nvSpPr>
          <p:cNvPr id="30" name="Shape 28"/>
          <p:cNvSpPr/>
          <p:nvPr/>
        </p:nvSpPr>
        <p:spPr>
          <a:xfrm>
            <a:off x="2468880" y="4023360"/>
            <a:ext cx="3017520" cy="868680"/>
          </a:xfrm>
          <a:prstGeom prst="rect">
            <a:avLst/>
          </a:prstGeom>
          <a:solidFill>
            <a:srgbClr val="F5F7FA"/>
          </a:solidFill>
          <a:ln w="9525">
            <a:solidFill>
              <a:srgbClr val="E3E7ED"/>
            </a:solidFill>
            <a:prstDash val="solid"/>
          </a:ln>
        </p:spPr>
      </p:sp>
      <p:sp>
        <p:nvSpPr>
          <p:cNvPr id="31" name="Text 29"/>
          <p:cNvSpPr/>
          <p:nvPr/>
        </p:nvSpPr>
        <p:spPr>
          <a:xfrm>
            <a:off x="2606040" y="4023360"/>
            <a:ext cx="274320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Mixed (both)</a:t>
            </a:r>
            <a:endParaRPr lang="en-US" sz="1250" dirty="0"/>
          </a:p>
        </p:txBody>
      </p:sp>
      <p:sp>
        <p:nvSpPr>
          <p:cNvPr id="32" name="Shape 30"/>
          <p:cNvSpPr/>
          <p:nvPr/>
        </p:nvSpPr>
        <p:spPr>
          <a:xfrm>
            <a:off x="5486400" y="4023360"/>
            <a:ext cx="2834640" cy="868680"/>
          </a:xfrm>
          <a:prstGeom prst="rect">
            <a:avLst/>
          </a:prstGeom>
          <a:solidFill>
            <a:srgbClr val="F5F7FA"/>
          </a:solidFill>
          <a:ln w="9525">
            <a:solidFill>
              <a:srgbClr val="E3E7ED"/>
            </a:solidFill>
            <a:prstDash val="solid"/>
          </a:ln>
        </p:spPr>
      </p:sp>
      <p:sp>
        <p:nvSpPr>
          <p:cNvPr id="33" name="Text 31"/>
          <p:cNvSpPr/>
          <p:nvPr/>
        </p:nvSpPr>
        <p:spPr>
          <a:xfrm>
            <a:off x="5623560" y="4023360"/>
            <a:ext cx="256032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Moderate</a:t>
            </a:r>
            <a:endParaRPr lang="en-US" sz="1250" dirty="0"/>
          </a:p>
        </p:txBody>
      </p:sp>
      <p:sp>
        <p:nvSpPr>
          <p:cNvPr id="34" name="Shape 32"/>
          <p:cNvSpPr/>
          <p:nvPr/>
        </p:nvSpPr>
        <p:spPr>
          <a:xfrm>
            <a:off x="8321040" y="4023360"/>
            <a:ext cx="3291840" cy="868680"/>
          </a:xfrm>
          <a:prstGeom prst="rect">
            <a:avLst/>
          </a:prstGeom>
          <a:solidFill>
            <a:srgbClr val="F5F7FA"/>
          </a:solidFill>
          <a:ln w="9525">
            <a:solidFill>
              <a:srgbClr val="E3E7ED"/>
            </a:solidFill>
            <a:prstDash val="solid"/>
          </a:ln>
        </p:spPr>
      </p:sp>
      <p:sp>
        <p:nvSpPr>
          <p:cNvPr id="35" name="Text 33"/>
          <p:cNvSpPr/>
          <p:nvPr/>
        </p:nvSpPr>
        <p:spPr>
          <a:xfrm>
            <a:off x="8458200" y="4023360"/>
            <a:ext cx="301752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Gradual migration, burst capacity</a:t>
            </a:r>
            <a:endParaRPr lang="en-US" sz="1250" dirty="0"/>
          </a:p>
        </p:txBody>
      </p:sp>
      <p:sp>
        <p:nvSpPr>
          <p:cNvPr id="36" name="Shape 34"/>
          <p:cNvSpPr/>
          <p:nvPr/>
        </p:nvSpPr>
        <p:spPr>
          <a:xfrm>
            <a:off x="548640" y="4892040"/>
            <a:ext cx="1920240" cy="868680"/>
          </a:xfrm>
          <a:prstGeom prst="rect">
            <a:avLst/>
          </a:prstGeom>
          <a:solidFill>
            <a:srgbClr val="FFFFFF"/>
          </a:solidFill>
          <a:ln w="9525">
            <a:solidFill>
              <a:srgbClr val="E3E7ED"/>
            </a:solidFill>
            <a:prstDash val="solid"/>
          </a:ln>
        </p:spPr>
      </p:sp>
      <p:sp>
        <p:nvSpPr>
          <p:cNvPr id="37" name="Text 35"/>
          <p:cNvSpPr/>
          <p:nvPr/>
        </p:nvSpPr>
        <p:spPr>
          <a:xfrm>
            <a:off x="685800" y="4892040"/>
            <a:ext cx="1645920" cy="868680"/>
          </a:xfrm>
          <a:prstGeom prst="rect">
            <a:avLst/>
          </a:prstGeom>
          <a:noFill/>
        </p:spPr>
        <p:txBody>
          <a:bodyPr wrap="square" lIns="0" tIns="0" rIns="0" bIns="0" rtlCol="0" anchor="ctr"/>
          <a:lstStyle/>
          <a:p>
            <a:pPr marL="0" indent="0">
              <a:lnSpc>
                <a:spcPct val="110000"/>
              </a:lnSpc>
              <a:buNone/>
            </a:pPr>
            <a:r>
              <a:rPr lang="en-US" sz="1250" b="1" dirty="0">
                <a:solidFill>
                  <a:srgbClr val="FF9900"/>
                </a:solidFill>
                <a:latin typeface="Calibri" panose="020F0502020204030204" pitchFamily="34" charset="0"/>
                <a:ea typeface="Calibri" panose="020F0502020204030204" pitchFamily="34" charset="-122"/>
                <a:cs typeface="Calibri" panose="020F0502020204030204" pitchFamily="34" charset="-120"/>
              </a:rPr>
              <a:t>Community</a:t>
            </a:r>
            <a:endParaRPr lang="en-US" sz="1250" dirty="0"/>
          </a:p>
        </p:txBody>
      </p:sp>
      <p:sp>
        <p:nvSpPr>
          <p:cNvPr id="38" name="Shape 36"/>
          <p:cNvSpPr/>
          <p:nvPr/>
        </p:nvSpPr>
        <p:spPr>
          <a:xfrm>
            <a:off x="2468880" y="4892040"/>
            <a:ext cx="3017520" cy="868680"/>
          </a:xfrm>
          <a:prstGeom prst="rect">
            <a:avLst/>
          </a:prstGeom>
          <a:solidFill>
            <a:srgbClr val="FFFFFF"/>
          </a:solidFill>
          <a:ln w="9525">
            <a:solidFill>
              <a:srgbClr val="E3E7ED"/>
            </a:solidFill>
            <a:prstDash val="solid"/>
          </a:ln>
        </p:spPr>
      </p:sp>
      <p:sp>
        <p:nvSpPr>
          <p:cNvPr id="39" name="Text 37"/>
          <p:cNvSpPr/>
          <p:nvPr/>
        </p:nvSpPr>
        <p:spPr>
          <a:xfrm>
            <a:off x="2606040" y="4892040"/>
            <a:ext cx="274320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Shared group of orgs</a:t>
            </a:r>
            <a:endParaRPr lang="en-US" sz="1250" dirty="0"/>
          </a:p>
        </p:txBody>
      </p:sp>
      <p:sp>
        <p:nvSpPr>
          <p:cNvPr id="40" name="Shape 38"/>
          <p:cNvSpPr/>
          <p:nvPr/>
        </p:nvSpPr>
        <p:spPr>
          <a:xfrm>
            <a:off x="5486400" y="4892040"/>
            <a:ext cx="2834640" cy="868680"/>
          </a:xfrm>
          <a:prstGeom prst="rect">
            <a:avLst/>
          </a:prstGeom>
          <a:solidFill>
            <a:srgbClr val="FFFFFF"/>
          </a:solidFill>
          <a:ln w="9525">
            <a:solidFill>
              <a:srgbClr val="E3E7ED"/>
            </a:solidFill>
            <a:prstDash val="solid"/>
          </a:ln>
        </p:spPr>
      </p:sp>
      <p:sp>
        <p:nvSpPr>
          <p:cNvPr id="41" name="Text 39"/>
          <p:cNvSpPr/>
          <p:nvPr/>
        </p:nvSpPr>
        <p:spPr>
          <a:xfrm>
            <a:off x="5623560" y="4892040"/>
            <a:ext cx="256032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Shared moderate cost</a:t>
            </a:r>
            <a:endParaRPr lang="en-US" sz="1250" dirty="0"/>
          </a:p>
        </p:txBody>
      </p:sp>
      <p:sp>
        <p:nvSpPr>
          <p:cNvPr id="42" name="Shape 40"/>
          <p:cNvSpPr/>
          <p:nvPr/>
        </p:nvSpPr>
        <p:spPr>
          <a:xfrm>
            <a:off x="8321040" y="4892040"/>
            <a:ext cx="3291840" cy="868680"/>
          </a:xfrm>
          <a:prstGeom prst="rect">
            <a:avLst/>
          </a:prstGeom>
          <a:solidFill>
            <a:srgbClr val="FFFFFF"/>
          </a:solidFill>
          <a:ln w="9525">
            <a:solidFill>
              <a:srgbClr val="E3E7ED"/>
            </a:solidFill>
            <a:prstDash val="solid"/>
          </a:ln>
        </p:spPr>
      </p:sp>
      <p:sp>
        <p:nvSpPr>
          <p:cNvPr id="43" name="Text 41"/>
          <p:cNvSpPr/>
          <p:nvPr/>
        </p:nvSpPr>
        <p:spPr>
          <a:xfrm>
            <a:off x="8458200" y="4892040"/>
            <a:ext cx="3017520" cy="868680"/>
          </a:xfrm>
          <a:prstGeom prst="rect">
            <a:avLst/>
          </a:prstGeom>
          <a:noFill/>
        </p:spPr>
        <p:txBody>
          <a:bodyPr wrap="square" lIns="0" tIns="0" rIns="0" bIns="0" rtlCol="0" anchor="ctr"/>
          <a:lstStyle/>
          <a:p>
            <a:pPr marL="0" indent="0">
              <a:lnSpc>
                <a:spcPct val="110000"/>
              </a:lnSpc>
              <a:buNone/>
            </a:pPr>
            <a:r>
              <a:rPr lang="en-US" sz="1250" dirty="0">
                <a:solidFill>
                  <a:srgbClr val="232F3E"/>
                </a:solidFill>
                <a:latin typeface="Calibri" panose="020F0502020204030204" pitchFamily="34" charset="0"/>
                <a:ea typeface="Calibri" panose="020F0502020204030204" pitchFamily="34" charset="-122"/>
                <a:cs typeface="Calibri" panose="020F0502020204030204" pitchFamily="34" charset="-120"/>
              </a:rPr>
              <a:t>Government, healthcare consortia</a:t>
            </a:r>
            <a:endParaRPr lang="en-US" sz="1250" dirty="0"/>
          </a:p>
        </p:txBody>
      </p:sp>
      <p:sp>
        <p:nvSpPr>
          <p:cNvPr id="44" name="Text 4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45" name="Text 4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18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General Cloud Computing Workflow</a:t>
            </a:r>
            <a:endParaRPr lang="en-US" sz="3000" dirty="0"/>
          </a:p>
        </p:txBody>
      </p:sp>
      <p:sp>
        <p:nvSpPr>
          <p:cNvPr id="4" name="Shape 2"/>
          <p:cNvSpPr/>
          <p:nvPr/>
        </p:nvSpPr>
        <p:spPr>
          <a:xfrm>
            <a:off x="548640" y="2377440"/>
            <a:ext cx="1993392" cy="2194560"/>
          </a:xfrm>
          <a:prstGeom prst="roundRect">
            <a:avLst>
              <a:gd name="adj" fmla="val 4128"/>
            </a:avLst>
          </a:prstGeom>
          <a:solidFill>
            <a:srgbClr val="F5F7FA"/>
          </a:solidFill>
        </p:spPr>
      </p:sp>
      <p:sp>
        <p:nvSpPr>
          <p:cNvPr id="5" name="Shape 3"/>
          <p:cNvSpPr/>
          <p:nvPr/>
        </p:nvSpPr>
        <p:spPr>
          <a:xfrm>
            <a:off x="1179576" y="2633472"/>
            <a:ext cx="731520" cy="731520"/>
          </a:xfrm>
          <a:prstGeom prst="ellipse">
            <a:avLst/>
          </a:prstGeom>
          <a:solidFill>
            <a:srgbClr val="232F3E"/>
          </a:solidFill>
        </p:spPr>
      </p:sp>
      <p:pic>
        <p:nvPicPr>
          <p:cNvPr id="6" name="Image 0" descr="/home/claude/icons/users_orange.png"/>
          <p:cNvPicPr>
            <a:picLocks noChangeAspect="1"/>
          </p:cNvPicPr>
          <p:nvPr/>
        </p:nvPicPr>
        <p:blipFill>
          <a:blip r:embed="rId1"/>
          <a:stretch>
            <a:fillRect/>
          </a:stretch>
        </p:blipFill>
        <p:spPr>
          <a:xfrm>
            <a:off x="1355141" y="2809037"/>
            <a:ext cx="380390" cy="380390"/>
          </a:xfrm>
          <a:prstGeom prst="rect">
            <a:avLst/>
          </a:prstGeom>
        </p:spPr>
      </p:pic>
      <p:sp>
        <p:nvSpPr>
          <p:cNvPr id="7" name="Text 4"/>
          <p:cNvSpPr/>
          <p:nvPr/>
        </p:nvSpPr>
        <p:spPr>
          <a:xfrm>
            <a:off x="2039112" y="2423160"/>
            <a:ext cx="411480" cy="411480"/>
          </a:xfrm>
          <a:prstGeom prst="rect">
            <a:avLst/>
          </a:prstGeom>
          <a:noFill/>
        </p:spPr>
        <p:txBody>
          <a:bodyPr wrap="square" lIns="0" tIns="0" rIns="0" bIns="0" rtlCol="0" anchor="ctr"/>
          <a:lstStyle/>
          <a:p>
            <a:pPr marL="0" indent="0" algn="ctr">
              <a:buNone/>
            </a:pPr>
            <a:r>
              <a:rPr lang="en-US" sz="1600" b="1" dirty="0">
                <a:solidFill>
                  <a:srgbClr val="FF9900"/>
                </a:solidFill>
                <a:latin typeface="Cambria" panose="02040503050406030204" pitchFamily="34" charset="0"/>
                <a:ea typeface="Cambria" panose="02040503050406030204" pitchFamily="34" charset="-122"/>
                <a:cs typeface="Cambria" panose="02040503050406030204" pitchFamily="34" charset="-120"/>
              </a:rPr>
              <a:t>1</a:t>
            </a:r>
            <a:endParaRPr lang="en-US" sz="1600" dirty="0"/>
          </a:p>
        </p:txBody>
      </p:sp>
      <p:sp>
        <p:nvSpPr>
          <p:cNvPr id="8" name="Text 5"/>
          <p:cNvSpPr/>
          <p:nvPr/>
        </p:nvSpPr>
        <p:spPr>
          <a:xfrm>
            <a:off x="658368" y="3456432"/>
            <a:ext cx="1773936"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Request</a:t>
            </a:r>
            <a:endParaRPr lang="en-US" sz="1350" dirty="0"/>
          </a:p>
        </p:txBody>
      </p:sp>
      <p:sp>
        <p:nvSpPr>
          <p:cNvPr id="9" name="Text 6"/>
          <p:cNvSpPr/>
          <p:nvPr/>
        </p:nvSpPr>
        <p:spPr>
          <a:xfrm>
            <a:off x="658368" y="3822192"/>
            <a:ext cx="1773936" cy="713232"/>
          </a:xfrm>
          <a:prstGeom prst="rect">
            <a:avLst/>
          </a:prstGeom>
          <a:noFill/>
        </p:spPr>
        <p:txBody>
          <a:bodyPr wrap="square" lIns="0" tIns="0" rIns="0" bIns="0" rtlCol="0" anchor="ctr"/>
          <a:lstStyle/>
          <a:p>
            <a:pPr marL="0" indent="0" algn="ctr">
              <a:lnSpc>
                <a:spcPct val="110000"/>
              </a:lnSpc>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User or app requests a resource via console, CLI, or API</a:t>
            </a:r>
            <a:endParaRPr lang="en-US" sz="1000" dirty="0"/>
          </a:p>
        </p:txBody>
      </p:sp>
      <p:sp>
        <p:nvSpPr>
          <p:cNvPr id="10" name="Text 7"/>
          <p:cNvSpPr/>
          <p:nvPr/>
        </p:nvSpPr>
        <p:spPr>
          <a:xfrm>
            <a:off x="2542032" y="3154680"/>
            <a:ext cx="274320" cy="548640"/>
          </a:xfrm>
          <a:prstGeom prst="rect">
            <a:avLst/>
          </a:prstGeom>
          <a:noFill/>
        </p:spPr>
        <p:txBody>
          <a:bodyPr wrap="square" lIns="0" tIns="0" rIns="0" bIns="0" rtlCol="0" anchor="ctr"/>
          <a:lstStyle/>
          <a:p>
            <a:pPr marL="0" indent="0" algn="ctr">
              <a:buNone/>
            </a:pPr>
            <a:r>
              <a:rPr lang="en-US" sz="22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11" name="Shape 8"/>
          <p:cNvSpPr/>
          <p:nvPr/>
        </p:nvSpPr>
        <p:spPr>
          <a:xfrm>
            <a:off x="2816352" y="2377440"/>
            <a:ext cx="1993392" cy="2194560"/>
          </a:xfrm>
          <a:prstGeom prst="roundRect">
            <a:avLst>
              <a:gd name="adj" fmla="val 4128"/>
            </a:avLst>
          </a:prstGeom>
          <a:solidFill>
            <a:srgbClr val="F5F7FA"/>
          </a:solidFill>
        </p:spPr>
      </p:sp>
      <p:sp>
        <p:nvSpPr>
          <p:cNvPr id="12" name="Shape 9"/>
          <p:cNvSpPr/>
          <p:nvPr/>
        </p:nvSpPr>
        <p:spPr>
          <a:xfrm>
            <a:off x="3447288" y="2633472"/>
            <a:ext cx="731520" cy="731520"/>
          </a:xfrm>
          <a:prstGeom prst="ellipse">
            <a:avLst/>
          </a:prstGeom>
          <a:solidFill>
            <a:srgbClr val="232F3E"/>
          </a:solidFill>
        </p:spPr>
      </p:sp>
      <p:pic>
        <p:nvPicPr>
          <p:cNvPr id="13" name="Image 1" descr="/home/claude/icons/cogs_orange.png"/>
          <p:cNvPicPr>
            <a:picLocks noChangeAspect="1"/>
          </p:cNvPicPr>
          <p:nvPr/>
        </p:nvPicPr>
        <p:blipFill>
          <a:blip r:embed="rId2"/>
          <a:stretch>
            <a:fillRect/>
          </a:stretch>
        </p:blipFill>
        <p:spPr>
          <a:xfrm>
            <a:off x="3622853" y="2809037"/>
            <a:ext cx="380390" cy="380390"/>
          </a:xfrm>
          <a:prstGeom prst="rect">
            <a:avLst/>
          </a:prstGeom>
        </p:spPr>
      </p:pic>
      <p:sp>
        <p:nvSpPr>
          <p:cNvPr id="14" name="Text 10"/>
          <p:cNvSpPr/>
          <p:nvPr/>
        </p:nvSpPr>
        <p:spPr>
          <a:xfrm>
            <a:off x="4306824" y="2423160"/>
            <a:ext cx="411480" cy="411480"/>
          </a:xfrm>
          <a:prstGeom prst="rect">
            <a:avLst/>
          </a:prstGeom>
          <a:noFill/>
        </p:spPr>
        <p:txBody>
          <a:bodyPr wrap="square" lIns="0" tIns="0" rIns="0" bIns="0" rtlCol="0" anchor="ctr"/>
          <a:lstStyle/>
          <a:p>
            <a:pPr marL="0" indent="0" algn="ctr">
              <a:buNone/>
            </a:pPr>
            <a:r>
              <a:rPr lang="en-US" sz="1600" b="1" dirty="0">
                <a:solidFill>
                  <a:srgbClr val="FF9900"/>
                </a:solidFill>
                <a:latin typeface="Cambria" panose="02040503050406030204" pitchFamily="34" charset="0"/>
                <a:ea typeface="Cambria" panose="02040503050406030204" pitchFamily="34" charset="-122"/>
                <a:cs typeface="Cambria" panose="02040503050406030204" pitchFamily="34" charset="-120"/>
              </a:rPr>
              <a:t>2</a:t>
            </a:r>
            <a:endParaRPr lang="en-US" sz="1600" dirty="0"/>
          </a:p>
        </p:txBody>
      </p:sp>
      <p:sp>
        <p:nvSpPr>
          <p:cNvPr id="15" name="Text 11"/>
          <p:cNvSpPr/>
          <p:nvPr/>
        </p:nvSpPr>
        <p:spPr>
          <a:xfrm>
            <a:off x="2926080" y="3456432"/>
            <a:ext cx="1773936"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Provisioning</a:t>
            </a:r>
            <a:endParaRPr lang="en-US" sz="1350" dirty="0"/>
          </a:p>
        </p:txBody>
      </p:sp>
      <p:sp>
        <p:nvSpPr>
          <p:cNvPr id="16" name="Text 12"/>
          <p:cNvSpPr/>
          <p:nvPr/>
        </p:nvSpPr>
        <p:spPr>
          <a:xfrm>
            <a:off x="2926080" y="3822192"/>
            <a:ext cx="1773936" cy="713232"/>
          </a:xfrm>
          <a:prstGeom prst="rect">
            <a:avLst/>
          </a:prstGeom>
          <a:noFill/>
        </p:spPr>
        <p:txBody>
          <a:bodyPr wrap="square" lIns="0" tIns="0" rIns="0" bIns="0" rtlCol="0" anchor="ctr"/>
          <a:lstStyle/>
          <a:p>
            <a:pPr marL="0" indent="0" algn="ctr">
              <a:lnSpc>
                <a:spcPct val="110000"/>
              </a:lnSpc>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Provider allocates compute, storage &amp; network automatically</a:t>
            </a:r>
            <a:endParaRPr lang="en-US" sz="1000" dirty="0"/>
          </a:p>
        </p:txBody>
      </p:sp>
      <p:sp>
        <p:nvSpPr>
          <p:cNvPr id="17" name="Text 13"/>
          <p:cNvSpPr/>
          <p:nvPr/>
        </p:nvSpPr>
        <p:spPr>
          <a:xfrm>
            <a:off x="4809744" y="3154680"/>
            <a:ext cx="274320" cy="548640"/>
          </a:xfrm>
          <a:prstGeom prst="rect">
            <a:avLst/>
          </a:prstGeom>
          <a:noFill/>
        </p:spPr>
        <p:txBody>
          <a:bodyPr wrap="square" lIns="0" tIns="0" rIns="0" bIns="0" rtlCol="0" anchor="ctr"/>
          <a:lstStyle/>
          <a:p>
            <a:pPr marL="0" indent="0" algn="ctr">
              <a:buNone/>
            </a:pPr>
            <a:r>
              <a:rPr lang="en-US" sz="22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18" name="Shape 14"/>
          <p:cNvSpPr/>
          <p:nvPr/>
        </p:nvSpPr>
        <p:spPr>
          <a:xfrm>
            <a:off x="5084064" y="2377440"/>
            <a:ext cx="1993392" cy="2194560"/>
          </a:xfrm>
          <a:prstGeom prst="roundRect">
            <a:avLst>
              <a:gd name="adj" fmla="val 4128"/>
            </a:avLst>
          </a:prstGeom>
          <a:solidFill>
            <a:srgbClr val="F5F7FA"/>
          </a:solidFill>
        </p:spPr>
      </p:sp>
      <p:sp>
        <p:nvSpPr>
          <p:cNvPr id="19" name="Shape 15"/>
          <p:cNvSpPr/>
          <p:nvPr/>
        </p:nvSpPr>
        <p:spPr>
          <a:xfrm>
            <a:off x="5715000" y="2633472"/>
            <a:ext cx="731520" cy="731520"/>
          </a:xfrm>
          <a:prstGeom prst="ellipse">
            <a:avLst/>
          </a:prstGeom>
          <a:solidFill>
            <a:srgbClr val="232F3E"/>
          </a:solidFill>
        </p:spPr>
      </p:sp>
      <p:pic>
        <p:nvPicPr>
          <p:cNvPr id="20" name="Image 2" descr="/home/claude/icons/rocket_orange.png"/>
          <p:cNvPicPr>
            <a:picLocks noChangeAspect="1"/>
          </p:cNvPicPr>
          <p:nvPr/>
        </p:nvPicPr>
        <p:blipFill>
          <a:blip r:embed="rId3"/>
          <a:stretch>
            <a:fillRect/>
          </a:stretch>
        </p:blipFill>
        <p:spPr>
          <a:xfrm>
            <a:off x="5890565" y="2809037"/>
            <a:ext cx="380390" cy="380390"/>
          </a:xfrm>
          <a:prstGeom prst="rect">
            <a:avLst/>
          </a:prstGeom>
        </p:spPr>
      </p:pic>
      <p:sp>
        <p:nvSpPr>
          <p:cNvPr id="21" name="Text 16"/>
          <p:cNvSpPr/>
          <p:nvPr/>
        </p:nvSpPr>
        <p:spPr>
          <a:xfrm>
            <a:off x="6574536" y="2423160"/>
            <a:ext cx="411480" cy="411480"/>
          </a:xfrm>
          <a:prstGeom prst="rect">
            <a:avLst/>
          </a:prstGeom>
          <a:noFill/>
        </p:spPr>
        <p:txBody>
          <a:bodyPr wrap="square" lIns="0" tIns="0" rIns="0" bIns="0" rtlCol="0" anchor="ctr"/>
          <a:lstStyle/>
          <a:p>
            <a:pPr marL="0" indent="0" algn="ctr">
              <a:buNone/>
            </a:pPr>
            <a:r>
              <a:rPr lang="en-US" sz="1600" b="1" dirty="0">
                <a:solidFill>
                  <a:srgbClr val="FF9900"/>
                </a:solidFill>
                <a:latin typeface="Cambria" panose="02040503050406030204" pitchFamily="34" charset="0"/>
                <a:ea typeface="Cambria" panose="02040503050406030204" pitchFamily="34" charset="-122"/>
                <a:cs typeface="Cambria" panose="02040503050406030204" pitchFamily="34" charset="-120"/>
              </a:rPr>
              <a:t>3</a:t>
            </a:r>
            <a:endParaRPr lang="en-US" sz="1600" dirty="0"/>
          </a:p>
        </p:txBody>
      </p:sp>
      <p:sp>
        <p:nvSpPr>
          <p:cNvPr id="22" name="Text 17"/>
          <p:cNvSpPr/>
          <p:nvPr/>
        </p:nvSpPr>
        <p:spPr>
          <a:xfrm>
            <a:off x="5193792" y="3456432"/>
            <a:ext cx="1773936"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Deployment</a:t>
            </a:r>
            <a:endParaRPr lang="en-US" sz="1350" dirty="0"/>
          </a:p>
        </p:txBody>
      </p:sp>
      <p:sp>
        <p:nvSpPr>
          <p:cNvPr id="23" name="Text 18"/>
          <p:cNvSpPr/>
          <p:nvPr/>
        </p:nvSpPr>
        <p:spPr>
          <a:xfrm>
            <a:off x="5193792" y="3822192"/>
            <a:ext cx="1773936" cy="713232"/>
          </a:xfrm>
          <a:prstGeom prst="rect">
            <a:avLst/>
          </a:prstGeom>
          <a:noFill/>
        </p:spPr>
        <p:txBody>
          <a:bodyPr wrap="square" lIns="0" tIns="0" rIns="0" bIns="0" rtlCol="0" anchor="ctr"/>
          <a:lstStyle/>
          <a:p>
            <a:pPr marL="0" indent="0" algn="ctr">
              <a:lnSpc>
                <a:spcPct val="110000"/>
              </a:lnSpc>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Application code and data are deployed onto the resource</a:t>
            </a:r>
            <a:endParaRPr lang="en-US" sz="1000" dirty="0"/>
          </a:p>
        </p:txBody>
      </p:sp>
      <p:sp>
        <p:nvSpPr>
          <p:cNvPr id="24" name="Text 19"/>
          <p:cNvSpPr/>
          <p:nvPr/>
        </p:nvSpPr>
        <p:spPr>
          <a:xfrm>
            <a:off x="7077456" y="3154680"/>
            <a:ext cx="274320" cy="548640"/>
          </a:xfrm>
          <a:prstGeom prst="rect">
            <a:avLst/>
          </a:prstGeom>
          <a:noFill/>
        </p:spPr>
        <p:txBody>
          <a:bodyPr wrap="square" lIns="0" tIns="0" rIns="0" bIns="0" rtlCol="0" anchor="ctr"/>
          <a:lstStyle/>
          <a:p>
            <a:pPr marL="0" indent="0" algn="ctr">
              <a:buNone/>
            </a:pPr>
            <a:r>
              <a:rPr lang="en-US" sz="22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25" name="Shape 20"/>
          <p:cNvSpPr/>
          <p:nvPr/>
        </p:nvSpPr>
        <p:spPr>
          <a:xfrm>
            <a:off x="7351776" y="2377440"/>
            <a:ext cx="1993392" cy="2194560"/>
          </a:xfrm>
          <a:prstGeom prst="roundRect">
            <a:avLst>
              <a:gd name="adj" fmla="val 4128"/>
            </a:avLst>
          </a:prstGeom>
          <a:solidFill>
            <a:srgbClr val="F5F7FA"/>
          </a:solidFill>
        </p:spPr>
      </p:sp>
      <p:sp>
        <p:nvSpPr>
          <p:cNvPr id="26" name="Shape 21"/>
          <p:cNvSpPr/>
          <p:nvPr/>
        </p:nvSpPr>
        <p:spPr>
          <a:xfrm>
            <a:off x="7982712" y="2633472"/>
            <a:ext cx="731520" cy="731520"/>
          </a:xfrm>
          <a:prstGeom prst="ellipse">
            <a:avLst/>
          </a:prstGeom>
          <a:solidFill>
            <a:srgbClr val="232F3E"/>
          </a:solidFill>
        </p:spPr>
      </p:sp>
      <p:pic>
        <p:nvPicPr>
          <p:cNvPr id="27" name="Image 3" descr="/home/claude/icons/chart_orange.png"/>
          <p:cNvPicPr>
            <a:picLocks noChangeAspect="1"/>
          </p:cNvPicPr>
          <p:nvPr/>
        </p:nvPicPr>
        <p:blipFill>
          <a:blip r:embed="rId4"/>
          <a:stretch>
            <a:fillRect/>
          </a:stretch>
        </p:blipFill>
        <p:spPr>
          <a:xfrm>
            <a:off x="8158277" y="2809037"/>
            <a:ext cx="380390" cy="380390"/>
          </a:xfrm>
          <a:prstGeom prst="rect">
            <a:avLst/>
          </a:prstGeom>
        </p:spPr>
      </p:pic>
      <p:sp>
        <p:nvSpPr>
          <p:cNvPr id="28" name="Text 22"/>
          <p:cNvSpPr/>
          <p:nvPr/>
        </p:nvSpPr>
        <p:spPr>
          <a:xfrm>
            <a:off x="8842248" y="2423160"/>
            <a:ext cx="411480" cy="411480"/>
          </a:xfrm>
          <a:prstGeom prst="rect">
            <a:avLst/>
          </a:prstGeom>
          <a:noFill/>
        </p:spPr>
        <p:txBody>
          <a:bodyPr wrap="square" lIns="0" tIns="0" rIns="0" bIns="0" rtlCol="0" anchor="ctr"/>
          <a:lstStyle/>
          <a:p>
            <a:pPr marL="0" indent="0" algn="ctr">
              <a:buNone/>
            </a:pPr>
            <a:r>
              <a:rPr lang="en-US" sz="1600" b="1" dirty="0">
                <a:solidFill>
                  <a:srgbClr val="FF9900"/>
                </a:solidFill>
                <a:latin typeface="Cambria" panose="02040503050406030204" pitchFamily="34" charset="0"/>
                <a:ea typeface="Cambria" panose="02040503050406030204" pitchFamily="34" charset="-122"/>
                <a:cs typeface="Cambria" panose="02040503050406030204" pitchFamily="34" charset="-120"/>
              </a:rPr>
              <a:t>4</a:t>
            </a:r>
            <a:endParaRPr lang="en-US" sz="1600" dirty="0"/>
          </a:p>
        </p:txBody>
      </p:sp>
      <p:sp>
        <p:nvSpPr>
          <p:cNvPr id="29" name="Text 23"/>
          <p:cNvSpPr/>
          <p:nvPr/>
        </p:nvSpPr>
        <p:spPr>
          <a:xfrm>
            <a:off x="7461504" y="3456432"/>
            <a:ext cx="1773936"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Monitoring</a:t>
            </a:r>
            <a:endParaRPr lang="en-US" sz="1350" dirty="0"/>
          </a:p>
        </p:txBody>
      </p:sp>
      <p:sp>
        <p:nvSpPr>
          <p:cNvPr id="30" name="Text 24"/>
          <p:cNvSpPr/>
          <p:nvPr/>
        </p:nvSpPr>
        <p:spPr>
          <a:xfrm>
            <a:off x="7461504" y="3822192"/>
            <a:ext cx="1773936" cy="713232"/>
          </a:xfrm>
          <a:prstGeom prst="rect">
            <a:avLst/>
          </a:prstGeom>
          <a:noFill/>
        </p:spPr>
        <p:txBody>
          <a:bodyPr wrap="square" lIns="0" tIns="0" rIns="0" bIns="0" rtlCol="0" anchor="ctr"/>
          <a:lstStyle/>
          <a:p>
            <a:pPr marL="0" indent="0" algn="ctr">
              <a:lnSpc>
                <a:spcPct val="110000"/>
              </a:lnSpc>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Usage, performance &amp; cost are tracked continuously</a:t>
            </a:r>
            <a:endParaRPr lang="en-US" sz="1000" dirty="0"/>
          </a:p>
        </p:txBody>
      </p:sp>
      <p:sp>
        <p:nvSpPr>
          <p:cNvPr id="31" name="Text 25"/>
          <p:cNvSpPr/>
          <p:nvPr/>
        </p:nvSpPr>
        <p:spPr>
          <a:xfrm>
            <a:off x="9345168" y="3154680"/>
            <a:ext cx="274320" cy="548640"/>
          </a:xfrm>
          <a:prstGeom prst="rect">
            <a:avLst/>
          </a:prstGeom>
          <a:noFill/>
        </p:spPr>
        <p:txBody>
          <a:bodyPr wrap="square" lIns="0" tIns="0" rIns="0" bIns="0" rtlCol="0" anchor="ctr"/>
          <a:lstStyle/>
          <a:p>
            <a:pPr marL="0" indent="0" algn="ctr">
              <a:buNone/>
            </a:pPr>
            <a:r>
              <a:rPr lang="en-US" sz="22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32" name="Shape 26"/>
          <p:cNvSpPr/>
          <p:nvPr/>
        </p:nvSpPr>
        <p:spPr>
          <a:xfrm>
            <a:off x="9619488" y="2377440"/>
            <a:ext cx="1993392" cy="2194560"/>
          </a:xfrm>
          <a:prstGeom prst="roundRect">
            <a:avLst>
              <a:gd name="adj" fmla="val 4128"/>
            </a:avLst>
          </a:prstGeom>
          <a:solidFill>
            <a:srgbClr val="F5F7FA"/>
          </a:solidFill>
        </p:spPr>
      </p:sp>
      <p:sp>
        <p:nvSpPr>
          <p:cNvPr id="33" name="Shape 27"/>
          <p:cNvSpPr/>
          <p:nvPr/>
        </p:nvSpPr>
        <p:spPr>
          <a:xfrm>
            <a:off x="10250424" y="2633472"/>
            <a:ext cx="731520" cy="731520"/>
          </a:xfrm>
          <a:prstGeom prst="ellipse">
            <a:avLst/>
          </a:prstGeom>
          <a:solidFill>
            <a:srgbClr val="232F3E"/>
          </a:solidFill>
        </p:spPr>
      </p:sp>
      <p:pic>
        <p:nvPicPr>
          <p:cNvPr id="34" name="Image 4" descr="/home/claude/icons/sync_orange.png"/>
          <p:cNvPicPr>
            <a:picLocks noChangeAspect="1"/>
          </p:cNvPicPr>
          <p:nvPr/>
        </p:nvPicPr>
        <p:blipFill>
          <a:blip r:embed="rId5"/>
          <a:stretch>
            <a:fillRect/>
          </a:stretch>
        </p:blipFill>
        <p:spPr>
          <a:xfrm>
            <a:off x="10425989" y="2809037"/>
            <a:ext cx="380390" cy="380390"/>
          </a:xfrm>
          <a:prstGeom prst="rect">
            <a:avLst/>
          </a:prstGeom>
        </p:spPr>
      </p:pic>
      <p:sp>
        <p:nvSpPr>
          <p:cNvPr id="35" name="Text 28"/>
          <p:cNvSpPr/>
          <p:nvPr/>
        </p:nvSpPr>
        <p:spPr>
          <a:xfrm>
            <a:off x="11109960" y="2423160"/>
            <a:ext cx="411480" cy="411480"/>
          </a:xfrm>
          <a:prstGeom prst="rect">
            <a:avLst/>
          </a:prstGeom>
          <a:noFill/>
        </p:spPr>
        <p:txBody>
          <a:bodyPr wrap="square" lIns="0" tIns="0" rIns="0" bIns="0" rtlCol="0" anchor="ctr"/>
          <a:lstStyle/>
          <a:p>
            <a:pPr marL="0" indent="0" algn="ctr">
              <a:buNone/>
            </a:pPr>
            <a:r>
              <a:rPr lang="en-US" sz="1600" b="1" dirty="0">
                <a:solidFill>
                  <a:srgbClr val="FF9900"/>
                </a:solidFill>
                <a:latin typeface="Cambria" panose="02040503050406030204" pitchFamily="34" charset="0"/>
                <a:ea typeface="Cambria" panose="02040503050406030204" pitchFamily="34" charset="-122"/>
                <a:cs typeface="Cambria" panose="02040503050406030204" pitchFamily="34" charset="-120"/>
              </a:rPr>
              <a:t>5</a:t>
            </a:r>
            <a:endParaRPr lang="en-US" sz="1600" dirty="0"/>
          </a:p>
        </p:txBody>
      </p:sp>
      <p:sp>
        <p:nvSpPr>
          <p:cNvPr id="36" name="Text 29"/>
          <p:cNvSpPr/>
          <p:nvPr/>
        </p:nvSpPr>
        <p:spPr>
          <a:xfrm>
            <a:off x="9729216" y="3456432"/>
            <a:ext cx="1773936"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Scaling / Optimizing</a:t>
            </a:r>
            <a:endParaRPr lang="en-US" sz="1350" dirty="0"/>
          </a:p>
        </p:txBody>
      </p:sp>
      <p:sp>
        <p:nvSpPr>
          <p:cNvPr id="37" name="Text 30"/>
          <p:cNvSpPr/>
          <p:nvPr/>
        </p:nvSpPr>
        <p:spPr>
          <a:xfrm>
            <a:off x="9729216" y="3822192"/>
            <a:ext cx="1773936" cy="713232"/>
          </a:xfrm>
          <a:prstGeom prst="rect">
            <a:avLst/>
          </a:prstGeom>
          <a:noFill/>
        </p:spPr>
        <p:txBody>
          <a:bodyPr wrap="square" lIns="0" tIns="0" rIns="0" bIns="0" rtlCol="0" anchor="ctr"/>
          <a:lstStyle/>
          <a:p>
            <a:pPr marL="0" indent="0" algn="ctr">
              <a:lnSpc>
                <a:spcPct val="110000"/>
              </a:lnSpc>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Resources adjust automatically as demand changes</a:t>
            </a:r>
            <a:endParaRPr lang="en-US" sz="1000" dirty="0"/>
          </a:p>
        </p:txBody>
      </p:sp>
      <p:sp>
        <p:nvSpPr>
          <p:cNvPr id="38" name="Text 31"/>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9" name="Text 32"/>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19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2 · CORE CONCEPTS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General Cloud Architecture: Layered View</a:t>
            </a:r>
            <a:endParaRPr lang="en-US" sz="3000" dirty="0"/>
          </a:p>
        </p:txBody>
      </p:sp>
      <p:sp>
        <p:nvSpPr>
          <p:cNvPr id="4" name="Shape 2"/>
          <p:cNvSpPr/>
          <p:nvPr/>
        </p:nvSpPr>
        <p:spPr>
          <a:xfrm>
            <a:off x="548640" y="1691640"/>
            <a:ext cx="11064240" cy="868680"/>
          </a:xfrm>
          <a:prstGeom prst="roundRect">
            <a:avLst>
              <a:gd name="adj" fmla="val 8421"/>
            </a:avLst>
          </a:prstGeom>
          <a:solidFill>
            <a:srgbClr val="232F3E"/>
          </a:solidFill>
        </p:spPr>
      </p:sp>
      <p:sp>
        <p:nvSpPr>
          <p:cNvPr id="5" name="Shape 3"/>
          <p:cNvSpPr/>
          <p:nvPr/>
        </p:nvSpPr>
        <p:spPr>
          <a:xfrm>
            <a:off x="777240" y="1810512"/>
            <a:ext cx="640080" cy="640080"/>
          </a:xfrm>
          <a:prstGeom prst="ellipse">
            <a:avLst/>
          </a:prstGeom>
          <a:solidFill>
            <a:srgbClr val="FF9900"/>
          </a:solidFill>
        </p:spPr>
      </p:sp>
      <p:pic>
        <p:nvPicPr>
          <p:cNvPr id="6" name="Image 0" descr="/home/claude/icons/users_navy.png"/>
          <p:cNvPicPr>
            <a:picLocks noChangeAspect="1"/>
          </p:cNvPicPr>
          <p:nvPr/>
        </p:nvPicPr>
        <p:blipFill>
          <a:blip r:embed="rId1"/>
          <a:stretch>
            <a:fillRect/>
          </a:stretch>
        </p:blipFill>
        <p:spPr>
          <a:xfrm>
            <a:off x="930859" y="1964131"/>
            <a:ext cx="332842" cy="332842"/>
          </a:xfrm>
          <a:prstGeom prst="rect">
            <a:avLst/>
          </a:prstGeom>
        </p:spPr>
      </p:pic>
      <p:sp>
        <p:nvSpPr>
          <p:cNvPr id="7" name="Text 4"/>
          <p:cNvSpPr/>
          <p:nvPr/>
        </p:nvSpPr>
        <p:spPr>
          <a:xfrm>
            <a:off x="1600200" y="1801368"/>
            <a:ext cx="3108960" cy="32004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Client Layer</a:t>
            </a:r>
            <a:endParaRPr lang="en-US" sz="1450" dirty="0"/>
          </a:p>
        </p:txBody>
      </p:sp>
      <p:sp>
        <p:nvSpPr>
          <p:cNvPr id="8" name="Text 5"/>
          <p:cNvSpPr/>
          <p:nvPr/>
        </p:nvSpPr>
        <p:spPr>
          <a:xfrm>
            <a:off x="1600200" y="2130552"/>
            <a:ext cx="9692640" cy="384048"/>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Browsers, mobile apps, and IoT devices that users interact with</a:t>
            </a:r>
            <a:endParaRPr lang="en-US" sz="1150" dirty="0"/>
          </a:p>
        </p:txBody>
      </p:sp>
      <p:sp>
        <p:nvSpPr>
          <p:cNvPr id="9" name="Text 6"/>
          <p:cNvSpPr/>
          <p:nvPr/>
        </p:nvSpPr>
        <p:spPr>
          <a:xfrm>
            <a:off x="5623560" y="2468880"/>
            <a:ext cx="731520" cy="320040"/>
          </a:xfrm>
          <a:prstGeom prst="rect">
            <a:avLst/>
          </a:prstGeom>
          <a:noFill/>
        </p:spPr>
        <p:txBody>
          <a:bodyPr wrap="square" lIns="0" tIns="0" rIns="0" bIns="0" rtlCol="0" anchor="ctr"/>
          <a:lstStyle/>
          <a:p>
            <a:pPr marL="0" indent="0" algn="ctr">
              <a:buNone/>
            </a:pPr>
            <a:r>
              <a:rPr lang="en-US" sz="16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0" name="Shape 7"/>
          <p:cNvSpPr/>
          <p:nvPr/>
        </p:nvSpPr>
        <p:spPr>
          <a:xfrm>
            <a:off x="548640" y="2743200"/>
            <a:ext cx="11064240" cy="868680"/>
          </a:xfrm>
          <a:prstGeom prst="roundRect">
            <a:avLst>
              <a:gd name="adj" fmla="val 8421"/>
            </a:avLst>
          </a:prstGeom>
          <a:solidFill>
            <a:srgbClr val="37475A"/>
          </a:solidFill>
        </p:spPr>
      </p:sp>
      <p:sp>
        <p:nvSpPr>
          <p:cNvPr id="11" name="Shape 8"/>
          <p:cNvSpPr/>
          <p:nvPr/>
        </p:nvSpPr>
        <p:spPr>
          <a:xfrm>
            <a:off x="777240" y="2862072"/>
            <a:ext cx="640080" cy="640080"/>
          </a:xfrm>
          <a:prstGeom prst="ellipse">
            <a:avLst/>
          </a:prstGeom>
          <a:solidFill>
            <a:srgbClr val="FF9900"/>
          </a:solidFill>
        </p:spPr>
      </p:sp>
      <p:pic>
        <p:nvPicPr>
          <p:cNvPr id="12" name="Image 1" descr="/home/claude/icons/network_navy.png"/>
          <p:cNvPicPr>
            <a:picLocks noChangeAspect="1"/>
          </p:cNvPicPr>
          <p:nvPr/>
        </p:nvPicPr>
        <p:blipFill>
          <a:blip r:embed="rId2"/>
          <a:stretch>
            <a:fillRect/>
          </a:stretch>
        </p:blipFill>
        <p:spPr>
          <a:xfrm>
            <a:off x="930859" y="3015691"/>
            <a:ext cx="332842" cy="332842"/>
          </a:xfrm>
          <a:prstGeom prst="rect">
            <a:avLst/>
          </a:prstGeom>
        </p:spPr>
      </p:pic>
      <p:sp>
        <p:nvSpPr>
          <p:cNvPr id="13" name="Text 9"/>
          <p:cNvSpPr/>
          <p:nvPr/>
        </p:nvSpPr>
        <p:spPr>
          <a:xfrm>
            <a:off x="1600200" y="2852928"/>
            <a:ext cx="3108960" cy="32004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Network Layer</a:t>
            </a:r>
            <a:endParaRPr lang="en-US" sz="1450" dirty="0"/>
          </a:p>
        </p:txBody>
      </p:sp>
      <p:sp>
        <p:nvSpPr>
          <p:cNvPr id="14" name="Text 10"/>
          <p:cNvSpPr/>
          <p:nvPr/>
        </p:nvSpPr>
        <p:spPr>
          <a:xfrm>
            <a:off x="1600200" y="3182112"/>
            <a:ext cx="9692640" cy="384048"/>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Load balancers, DNS, CDN, and gateways route requests securely</a:t>
            </a:r>
            <a:endParaRPr lang="en-US" sz="1150" dirty="0"/>
          </a:p>
        </p:txBody>
      </p:sp>
      <p:sp>
        <p:nvSpPr>
          <p:cNvPr id="15" name="Text 11"/>
          <p:cNvSpPr/>
          <p:nvPr/>
        </p:nvSpPr>
        <p:spPr>
          <a:xfrm>
            <a:off x="5623560" y="3520440"/>
            <a:ext cx="731520" cy="320040"/>
          </a:xfrm>
          <a:prstGeom prst="rect">
            <a:avLst/>
          </a:prstGeom>
          <a:noFill/>
        </p:spPr>
        <p:txBody>
          <a:bodyPr wrap="square" lIns="0" tIns="0" rIns="0" bIns="0" rtlCol="0" anchor="ctr"/>
          <a:lstStyle/>
          <a:p>
            <a:pPr marL="0" indent="0" algn="ctr">
              <a:buNone/>
            </a:pPr>
            <a:r>
              <a:rPr lang="en-US" sz="16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6" name="Shape 12"/>
          <p:cNvSpPr/>
          <p:nvPr/>
        </p:nvSpPr>
        <p:spPr>
          <a:xfrm>
            <a:off x="548640" y="3794760"/>
            <a:ext cx="11064240" cy="868680"/>
          </a:xfrm>
          <a:prstGeom prst="roundRect">
            <a:avLst>
              <a:gd name="adj" fmla="val 8421"/>
            </a:avLst>
          </a:prstGeom>
          <a:solidFill>
            <a:srgbClr val="232F3E"/>
          </a:solidFill>
        </p:spPr>
      </p:sp>
      <p:sp>
        <p:nvSpPr>
          <p:cNvPr id="17" name="Shape 13"/>
          <p:cNvSpPr/>
          <p:nvPr/>
        </p:nvSpPr>
        <p:spPr>
          <a:xfrm>
            <a:off x="777240" y="3913632"/>
            <a:ext cx="640080" cy="640080"/>
          </a:xfrm>
          <a:prstGeom prst="ellipse">
            <a:avLst/>
          </a:prstGeom>
          <a:solidFill>
            <a:srgbClr val="FF9900"/>
          </a:solidFill>
        </p:spPr>
      </p:sp>
      <p:pic>
        <p:nvPicPr>
          <p:cNvPr id="18" name="Image 2" descr="/home/claude/icons/server_navy.png"/>
          <p:cNvPicPr>
            <a:picLocks noChangeAspect="1"/>
          </p:cNvPicPr>
          <p:nvPr/>
        </p:nvPicPr>
        <p:blipFill>
          <a:blip r:embed="rId3"/>
          <a:stretch>
            <a:fillRect/>
          </a:stretch>
        </p:blipFill>
        <p:spPr>
          <a:xfrm>
            <a:off x="930859" y="4067251"/>
            <a:ext cx="332842" cy="332842"/>
          </a:xfrm>
          <a:prstGeom prst="rect">
            <a:avLst/>
          </a:prstGeom>
        </p:spPr>
      </p:pic>
      <p:sp>
        <p:nvSpPr>
          <p:cNvPr id="19" name="Text 14"/>
          <p:cNvSpPr/>
          <p:nvPr/>
        </p:nvSpPr>
        <p:spPr>
          <a:xfrm>
            <a:off x="1600200" y="3904488"/>
            <a:ext cx="3108960" cy="32004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Compute Layer</a:t>
            </a:r>
            <a:endParaRPr lang="en-US" sz="1450" dirty="0"/>
          </a:p>
        </p:txBody>
      </p:sp>
      <p:sp>
        <p:nvSpPr>
          <p:cNvPr id="20" name="Text 15"/>
          <p:cNvSpPr/>
          <p:nvPr/>
        </p:nvSpPr>
        <p:spPr>
          <a:xfrm>
            <a:off x="1600200" y="4233672"/>
            <a:ext cx="9692640" cy="384048"/>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Virtual machines, containers, and serverless functions run the app</a:t>
            </a:r>
            <a:endParaRPr lang="en-US" sz="1150" dirty="0"/>
          </a:p>
        </p:txBody>
      </p:sp>
      <p:sp>
        <p:nvSpPr>
          <p:cNvPr id="21" name="Text 16"/>
          <p:cNvSpPr/>
          <p:nvPr/>
        </p:nvSpPr>
        <p:spPr>
          <a:xfrm>
            <a:off x="5623560" y="4572000"/>
            <a:ext cx="731520" cy="320040"/>
          </a:xfrm>
          <a:prstGeom prst="rect">
            <a:avLst/>
          </a:prstGeom>
          <a:noFill/>
        </p:spPr>
        <p:txBody>
          <a:bodyPr wrap="square" lIns="0" tIns="0" rIns="0" bIns="0" rtlCol="0" anchor="ctr"/>
          <a:lstStyle/>
          <a:p>
            <a:pPr marL="0" indent="0" algn="ctr">
              <a:buNone/>
            </a:pPr>
            <a:r>
              <a:rPr lang="en-US" sz="16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22" name="Shape 17"/>
          <p:cNvSpPr/>
          <p:nvPr/>
        </p:nvSpPr>
        <p:spPr>
          <a:xfrm>
            <a:off x="548640" y="4846320"/>
            <a:ext cx="11064240" cy="868680"/>
          </a:xfrm>
          <a:prstGeom prst="roundRect">
            <a:avLst>
              <a:gd name="adj" fmla="val 8421"/>
            </a:avLst>
          </a:prstGeom>
          <a:solidFill>
            <a:srgbClr val="37475A"/>
          </a:solidFill>
        </p:spPr>
      </p:sp>
      <p:sp>
        <p:nvSpPr>
          <p:cNvPr id="23" name="Shape 18"/>
          <p:cNvSpPr/>
          <p:nvPr/>
        </p:nvSpPr>
        <p:spPr>
          <a:xfrm>
            <a:off x="777240" y="4965192"/>
            <a:ext cx="640080" cy="640080"/>
          </a:xfrm>
          <a:prstGeom prst="ellipse">
            <a:avLst/>
          </a:prstGeom>
          <a:solidFill>
            <a:srgbClr val="FF9900"/>
          </a:solidFill>
        </p:spPr>
      </p:sp>
      <p:pic>
        <p:nvPicPr>
          <p:cNvPr id="24" name="Image 3" descr="/home/claude/icons/database_navy.png"/>
          <p:cNvPicPr>
            <a:picLocks noChangeAspect="1"/>
          </p:cNvPicPr>
          <p:nvPr/>
        </p:nvPicPr>
        <p:blipFill>
          <a:blip r:embed="rId4"/>
          <a:stretch>
            <a:fillRect/>
          </a:stretch>
        </p:blipFill>
        <p:spPr>
          <a:xfrm>
            <a:off x="930859" y="5118811"/>
            <a:ext cx="332842" cy="332842"/>
          </a:xfrm>
          <a:prstGeom prst="rect">
            <a:avLst/>
          </a:prstGeom>
        </p:spPr>
      </p:pic>
      <p:sp>
        <p:nvSpPr>
          <p:cNvPr id="25" name="Text 19"/>
          <p:cNvSpPr/>
          <p:nvPr/>
        </p:nvSpPr>
        <p:spPr>
          <a:xfrm>
            <a:off x="1600200" y="4956048"/>
            <a:ext cx="3108960" cy="32004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Storage &amp; Database Layer</a:t>
            </a:r>
            <a:endParaRPr lang="en-US" sz="1450" dirty="0"/>
          </a:p>
        </p:txBody>
      </p:sp>
      <p:sp>
        <p:nvSpPr>
          <p:cNvPr id="26" name="Text 20"/>
          <p:cNvSpPr/>
          <p:nvPr/>
        </p:nvSpPr>
        <p:spPr>
          <a:xfrm>
            <a:off x="1600200" y="5285232"/>
            <a:ext cx="9692640" cy="384048"/>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Object storage, block storage, and databases persist all data</a:t>
            </a:r>
            <a:endParaRPr lang="en-US" sz="1150" dirty="0"/>
          </a:p>
        </p:txBody>
      </p:sp>
      <p:sp>
        <p:nvSpPr>
          <p:cNvPr id="27" name="Text 21"/>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8" name="Text 22"/>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20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37475A"/>
          </a:solidFill>
        </p:spPr>
      </p:sp>
      <p:sp>
        <p:nvSpPr>
          <p:cNvPr id="3" name="Shape 1"/>
          <p:cNvSpPr/>
          <p:nvPr/>
        </p:nvSpPr>
        <p:spPr>
          <a:xfrm>
            <a:off x="-1280160" y="4937760"/>
            <a:ext cx="3291840" cy="3291840"/>
          </a:xfrm>
          <a:prstGeom prst="ellipse">
            <a:avLst/>
          </a:prstGeom>
          <a:solidFill>
            <a:srgbClr val="37475A"/>
          </a:solidFill>
        </p:spPr>
      </p:sp>
      <p:sp>
        <p:nvSpPr>
          <p:cNvPr id="4" name="Shape 2"/>
          <p:cNvSpPr/>
          <p:nvPr/>
        </p:nvSpPr>
        <p:spPr>
          <a:xfrm>
            <a:off x="822960" y="1965960"/>
            <a:ext cx="1051560" cy="1051560"/>
          </a:xfrm>
          <a:prstGeom prst="ellipse">
            <a:avLst/>
          </a:prstGeom>
          <a:solidFill>
            <a:srgbClr val="FF9900"/>
          </a:solidFill>
        </p:spPr>
      </p:sp>
      <p:pic>
        <p:nvPicPr>
          <p:cNvPr id="5" name="Image 0" descr="/home/claude/icons/aws_navy.png"/>
          <p:cNvPicPr>
            <a:picLocks noChangeAspect="1"/>
          </p:cNvPicPr>
          <p:nvPr/>
        </p:nvPicPr>
        <p:blipFill>
          <a:blip r:embed="rId1"/>
          <a:stretch>
            <a:fillRect/>
          </a:stretch>
        </p:blipFill>
        <p:spPr>
          <a:xfrm>
            <a:off x="1075334" y="2218334"/>
            <a:ext cx="546811" cy="546811"/>
          </a:xfrm>
          <a:prstGeom prst="rect">
            <a:avLst/>
          </a:prstGeom>
        </p:spPr>
      </p:pic>
      <p:sp>
        <p:nvSpPr>
          <p:cNvPr id="6" name="Text 3"/>
          <p:cNvSpPr/>
          <p:nvPr/>
        </p:nvSpPr>
        <p:spPr>
          <a:xfrm>
            <a:off x="822960" y="3200400"/>
            <a:ext cx="7315200" cy="365760"/>
          </a:xfrm>
          <a:prstGeom prst="rect">
            <a:avLst/>
          </a:prstGeom>
          <a:noFill/>
        </p:spPr>
        <p:txBody>
          <a:bodyPr wrap="square" lIns="0" tIns="0" rIns="0" bIns="0" rtlCol="0" anchor="ctr"/>
          <a:lstStyle/>
          <a:p>
            <a:pPr marL="0" indent="0">
              <a:buNone/>
            </a:pPr>
            <a:r>
              <a:rPr lang="en-US" sz="1500" b="1" kern="0" spc="3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3</a:t>
            </a:r>
            <a:endParaRPr lang="en-US" sz="1500" dirty="0"/>
          </a:p>
        </p:txBody>
      </p:sp>
      <p:sp>
        <p:nvSpPr>
          <p:cNvPr id="7" name="Text 4"/>
          <p:cNvSpPr/>
          <p:nvPr/>
        </p:nvSpPr>
        <p:spPr>
          <a:xfrm>
            <a:off x="777240" y="3566160"/>
            <a:ext cx="9601200" cy="1188720"/>
          </a:xfrm>
          <a:prstGeom prst="rect">
            <a:avLst/>
          </a:prstGeom>
          <a:noFill/>
        </p:spPr>
        <p:txBody>
          <a:bodyPr wrap="square" lIns="0" tIns="0" rIns="0" bIns="0" rtlCol="0" anchor="ctr"/>
          <a:lstStyle/>
          <a:p>
            <a:pPr marL="0" indent="0">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AWS Deep Dive</a:t>
            </a:r>
            <a:endParaRPr lang="en-US" sz="4200" dirty="0"/>
          </a:p>
        </p:txBody>
      </p:sp>
      <p:sp>
        <p:nvSpPr>
          <p:cNvPr id="8" name="Text 5"/>
          <p:cNvSpPr/>
          <p:nvPr/>
        </p:nvSpPr>
        <p:spPr>
          <a:xfrm>
            <a:off x="822960" y="4709160"/>
            <a:ext cx="8686800" cy="548640"/>
          </a:xfrm>
          <a:prstGeom prst="rect">
            <a:avLst/>
          </a:prstGeom>
          <a:noFill/>
        </p:spPr>
        <p:txBody>
          <a:bodyPr wrap="square" lIns="0" tIns="0" rIns="0" bIns="0"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Global infrastructure, console, and core cloud services</a:t>
            </a:r>
            <a:endParaRPr lang="en-US" sz="1600" dirty="0"/>
          </a:p>
        </p:txBody>
      </p:sp>
      <p:sp>
        <p:nvSpPr>
          <p:cNvPr id="9" name="Text 6"/>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0" name="Text 7"/>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21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3 · AWS DEEP DIVE</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Introduction to Amazon Web Services</a:t>
            </a:r>
            <a:endParaRPr lang="en-US" sz="3000" dirty="0"/>
          </a:p>
        </p:txBody>
      </p:sp>
      <p:sp>
        <p:nvSpPr>
          <p:cNvPr id="4" name="Text 2"/>
          <p:cNvSpPr/>
          <p:nvPr/>
        </p:nvSpPr>
        <p:spPr>
          <a:xfrm>
            <a:off x="548640" y="1645920"/>
            <a:ext cx="6675120" cy="1005840"/>
          </a:xfrm>
          <a:prstGeom prst="rect">
            <a:avLst/>
          </a:prstGeom>
          <a:noFill/>
        </p:spPr>
        <p:txBody>
          <a:bodyPr wrap="square" lIns="0" tIns="0" rIns="0" bIns="0" rtlCol="0" anchor="ctr"/>
          <a:lstStyle/>
          <a:p>
            <a:pPr marL="0" indent="0">
              <a:lnSpc>
                <a:spcPct val="120000"/>
              </a:lnSpc>
              <a:buNone/>
            </a:pPr>
            <a:r>
              <a:rPr lang="en-US" sz="1450" dirty="0">
                <a:solidFill>
                  <a:srgbClr val="232F3E"/>
                </a:solidFill>
                <a:latin typeface="Calibri" panose="020F0502020204030204" pitchFamily="34" charset="0"/>
                <a:ea typeface="Calibri" panose="020F0502020204030204" pitchFamily="34" charset="-122"/>
                <a:cs typeface="Calibri" panose="020F0502020204030204" pitchFamily="34" charset="-120"/>
              </a:rPr>
              <a:t>Amazon Web Services (AWS), launched in 2006, is the world's most broadly adopted cloud platform — offering over 200 fully featured services from data centers globally.</a:t>
            </a:r>
            <a:endParaRPr lang="en-US" sz="1450" dirty="0"/>
          </a:p>
        </p:txBody>
      </p:sp>
      <p:sp>
        <p:nvSpPr>
          <p:cNvPr id="5" name="Shape 3"/>
          <p:cNvSpPr/>
          <p:nvPr/>
        </p:nvSpPr>
        <p:spPr>
          <a:xfrm>
            <a:off x="548640" y="2788920"/>
            <a:ext cx="566928" cy="566928"/>
          </a:xfrm>
          <a:prstGeom prst="ellipse">
            <a:avLst/>
          </a:prstGeom>
          <a:solidFill>
            <a:srgbClr val="232F3E"/>
          </a:solidFill>
        </p:spPr>
      </p:sp>
      <p:pic>
        <p:nvPicPr>
          <p:cNvPr id="6" name="Image 0" descr="/home/claude/icons/chart_orange.png"/>
          <p:cNvPicPr>
            <a:picLocks noChangeAspect="1"/>
          </p:cNvPicPr>
          <p:nvPr/>
        </p:nvPicPr>
        <p:blipFill>
          <a:blip r:embed="rId1"/>
          <a:stretch>
            <a:fillRect/>
          </a:stretch>
        </p:blipFill>
        <p:spPr>
          <a:xfrm>
            <a:off x="684703" y="2924983"/>
            <a:ext cx="294803" cy="294803"/>
          </a:xfrm>
          <a:prstGeom prst="rect">
            <a:avLst/>
          </a:prstGeom>
        </p:spPr>
      </p:pic>
      <p:sp>
        <p:nvSpPr>
          <p:cNvPr id="7" name="Text 4"/>
          <p:cNvSpPr/>
          <p:nvPr/>
        </p:nvSpPr>
        <p:spPr>
          <a:xfrm>
            <a:off x="1234440" y="2770632"/>
            <a:ext cx="2286000" cy="292608"/>
          </a:xfrm>
          <a:prstGeom prst="rect">
            <a:avLst/>
          </a:prstGeom>
          <a:noFill/>
        </p:spPr>
        <p:txBody>
          <a:bodyPr wrap="square" lIns="0" tIns="0" rIns="0" bIns="0" rtlCol="0" anchor="ctr"/>
          <a:lstStyle/>
          <a:p>
            <a:pPr marL="0" indent="0">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Market Leader</a:t>
            </a:r>
            <a:endParaRPr lang="en-US" sz="1300" dirty="0"/>
          </a:p>
        </p:txBody>
      </p:sp>
      <p:sp>
        <p:nvSpPr>
          <p:cNvPr id="8" name="Text 5"/>
          <p:cNvSpPr/>
          <p:nvPr/>
        </p:nvSpPr>
        <p:spPr>
          <a:xfrm>
            <a:off x="1234440" y="3054096"/>
            <a:ext cx="5120640" cy="384048"/>
          </a:xfrm>
          <a:prstGeom prst="rect">
            <a:avLst/>
          </a:prstGeom>
          <a:noFill/>
        </p:spPr>
        <p:txBody>
          <a:bodyPr wrap="square" lIns="0" tIns="0" rIns="0" bIns="0" rtlCol="0" anchor="ctr"/>
          <a:lstStyle/>
          <a:p>
            <a:pPr marL="0" indent="0">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Largest share of the global cloud infrastructure market since 2006</a:t>
            </a:r>
            <a:endParaRPr lang="en-US" sz="1100" dirty="0"/>
          </a:p>
        </p:txBody>
      </p:sp>
      <p:sp>
        <p:nvSpPr>
          <p:cNvPr id="9" name="Shape 6"/>
          <p:cNvSpPr/>
          <p:nvPr/>
        </p:nvSpPr>
        <p:spPr>
          <a:xfrm>
            <a:off x="548640" y="3566160"/>
            <a:ext cx="566928" cy="566928"/>
          </a:xfrm>
          <a:prstGeom prst="ellipse">
            <a:avLst/>
          </a:prstGeom>
          <a:solidFill>
            <a:srgbClr val="232F3E"/>
          </a:solidFill>
        </p:spPr>
      </p:sp>
      <p:pic>
        <p:nvPicPr>
          <p:cNvPr id="10" name="Image 1" descr="/home/claude/icons/money_orange.png"/>
          <p:cNvPicPr>
            <a:picLocks noChangeAspect="1"/>
          </p:cNvPicPr>
          <p:nvPr/>
        </p:nvPicPr>
        <p:blipFill>
          <a:blip r:embed="rId2"/>
          <a:stretch>
            <a:fillRect/>
          </a:stretch>
        </p:blipFill>
        <p:spPr>
          <a:xfrm>
            <a:off x="684703" y="3702223"/>
            <a:ext cx="294803" cy="294803"/>
          </a:xfrm>
          <a:prstGeom prst="rect">
            <a:avLst/>
          </a:prstGeom>
        </p:spPr>
      </p:pic>
      <p:sp>
        <p:nvSpPr>
          <p:cNvPr id="11" name="Text 7"/>
          <p:cNvSpPr/>
          <p:nvPr/>
        </p:nvSpPr>
        <p:spPr>
          <a:xfrm>
            <a:off x="1234440" y="3547872"/>
            <a:ext cx="2286000" cy="292608"/>
          </a:xfrm>
          <a:prstGeom prst="rect">
            <a:avLst/>
          </a:prstGeom>
          <a:noFill/>
        </p:spPr>
        <p:txBody>
          <a:bodyPr wrap="square" lIns="0" tIns="0" rIns="0" bIns="0" rtlCol="0" anchor="ctr"/>
          <a:lstStyle/>
          <a:p>
            <a:pPr marL="0" indent="0">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Free Tier</a:t>
            </a:r>
            <a:endParaRPr lang="en-US" sz="1300" dirty="0"/>
          </a:p>
        </p:txBody>
      </p:sp>
      <p:sp>
        <p:nvSpPr>
          <p:cNvPr id="12" name="Text 8"/>
          <p:cNvSpPr/>
          <p:nvPr/>
        </p:nvSpPr>
        <p:spPr>
          <a:xfrm>
            <a:off x="1234440" y="3831336"/>
            <a:ext cx="5120640" cy="384048"/>
          </a:xfrm>
          <a:prstGeom prst="rect">
            <a:avLst/>
          </a:prstGeom>
          <a:noFill/>
        </p:spPr>
        <p:txBody>
          <a:bodyPr wrap="square" lIns="0" tIns="0" rIns="0" bIns="0" rtlCol="0" anchor="ctr"/>
          <a:lstStyle/>
          <a:p>
            <a:pPr marL="0" indent="0">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New accounts get 12 months of free usage on many core services</a:t>
            </a:r>
            <a:endParaRPr lang="en-US" sz="1100" dirty="0"/>
          </a:p>
        </p:txBody>
      </p:sp>
      <p:sp>
        <p:nvSpPr>
          <p:cNvPr id="13" name="Shape 9"/>
          <p:cNvSpPr/>
          <p:nvPr/>
        </p:nvSpPr>
        <p:spPr>
          <a:xfrm>
            <a:off x="548640" y="4343400"/>
            <a:ext cx="566928" cy="566928"/>
          </a:xfrm>
          <a:prstGeom prst="ellipse">
            <a:avLst/>
          </a:prstGeom>
          <a:solidFill>
            <a:srgbClr val="232F3E"/>
          </a:solidFill>
        </p:spPr>
      </p:sp>
      <p:pic>
        <p:nvPicPr>
          <p:cNvPr id="14" name="Image 2" descr="/home/claude/icons/globe_orange.png"/>
          <p:cNvPicPr>
            <a:picLocks noChangeAspect="1"/>
          </p:cNvPicPr>
          <p:nvPr/>
        </p:nvPicPr>
        <p:blipFill>
          <a:blip r:embed="rId3"/>
          <a:stretch>
            <a:fillRect/>
          </a:stretch>
        </p:blipFill>
        <p:spPr>
          <a:xfrm>
            <a:off x="684703" y="4479463"/>
            <a:ext cx="294803" cy="294803"/>
          </a:xfrm>
          <a:prstGeom prst="rect">
            <a:avLst/>
          </a:prstGeom>
        </p:spPr>
      </p:pic>
      <p:sp>
        <p:nvSpPr>
          <p:cNvPr id="15" name="Text 10"/>
          <p:cNvSpPr/>
          <p:nvPr/>
        </p:nvSpPr>
        <p:spPr>
          <a:xfrm>
            <a:off x="1234440" y="4325112"/>
            <a:ext cx="2286000" cy="292608"/>
          </a:xfrm>
          <a:prstGeom prst="rect">
            <a:avLst/>
          </a:prstGeom>
          <a:noFill/>
        </p:spPr>
        <p:txBody>
          <a:bodyPr wrap="square" lIns="0" tIns="0" rIns="0" bIns="0" rtlCol="0" anchor="ctr"/>
          <a:lstStyle/>
          <a:p>
            <a:pPr marL="0" indent="0">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Global Footprint</a:t>
            </a:r>
            <a:endParaRPr lang="en-US" sz="1300" dirty="0"/>
          </a:p>
        </p:txBody>
      </p:sp>
      <p:sp>
        <p:nvSpPr>
          <p:cNvPr id="16" name="Text 11"/>
          <p:cNvSpPr/>
          <p:nvPr/>
        </p:nvSpPr>
        <p:spPr>
          <a:xfrm>
            <a:off x="1234440" y="4608576"/>
            <a:ext cx="5120640" cy="384048"/>
          </a:xfrm>
          <a:prstGeom prst="rect">
            <a:avLst/>
          </a:prstGeom>
          <a:noFill/>
        </p:spPr>
        <p:txBody>
          <a:bodyPr wrap="square" lIns="0" tIns="0" rIns="0" bIns="0" rtlCol="0" anchor="ctr"/>
          <a:lstStyle/>
          <a:p>
            <a:pPr marL="0" indent="0">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Data centers spanning six continents serve customers everywhere</a:t>
            </a:r>
            <a:endParaRPr lang="en-US" sz="1100" dirty="0"/>
          </a:p>
        </p:txBody>
      </p:sp>
      <p:sp>
        <p:nvSpPr>
          <p:cNvPr id="17" name="Shape 12"/>
          <p:cNvSpPr/>
          <p:nvPr/>
        </p:nvSpPr>
        <p:spPr>
          <a:xfrm>
            <a:off x="548640" y="5120640"/>
            <a:ext cx="566928" cy="566928"/>
          </a:xfrm>
          <a:prstGeom prst="ellipse">
            <a:avLst/>
          </a:prstGeom>
          <a:solidFill>
            <a:srgbClr val="232F3E"/>
          </a:solidFill>
        </p:spPr>
      </p:sp>
      <p:pic>
        <p:nvPicPr>
          <p:cNvPr id="18" name="Image 3" descr="/home/claude/icons/cubes_orange.png"/>
          <p:cNvPicPr>
            <a:picLocks noChangeAspect="1"/>
          </p:cNvPicPr>
          <p:nvPr/>
        </p:nvPicPr>
        <p:blipFill>
          <a:blip r:embed="rId4"/>
          <a:stretch>
            <a:fillRect/>
          </a:stretch>
        </p:blipFill>
        <p:spPr>
          <a:xfrm>
            <a:off x="684703" y="5256703"/>
            <a:ext cx="294803" cy="294803"/>
          </a:xfrm>
          <a:prstGeom prst="rect">
            <a:avLst/>
          </a:prstGeom>
        </p:spPr>
      </p:pic>
      <p:sp>
        <p:nvSpPr>
          <p:cNvPr id="19" name="Text 13"/>
          <p:cNvSpPr/>
          <p:nvPr/>
        </p:nvSpPr>
        <p:spPr>
          <a:xfrm>
            <a:off x="1234440" y="5102352"/>
            <a:ext cx="2286000" cy="292608"/>
          </a:xfrm>
          <a:prstGeom prst="rect">
            <a:avLst/>
          </a:prstGeom>
          <a:noFill/>
        </p:spPr>
        <p:txBody>
          <a:bodyPr wrap="square" lIns="0" tIns="0" rIns="0" bIns="0" rtlCol="0" anchor="ctr"/>
          <a:lstStyle/>
          <a:p>
            <a:pPr marL="0" indent="0">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200+ Services</a:t>
            </a:r>
            <a:endParaRPr lang="en-US" sz="1300" dirty="0"/>
          </a:p>
        </p:txBody>
      </p:sp>
      <p:sp>
        <p:nvSpPr>
          <p:cNvPr id="20" name="Text 14"/>
          <p:cNvSpPr/>
          <p:nvPr/>
        </p:nvSpPr>
        <p:spPr>
          <a:xfrm>
            <a:off x="1234440" y="5385816"/>
            <a:ext cx="5120640" cy="384048"/>
          </a:xfrm>
          <a:prstGeom prst="rect">
            <a:avLst/>
          </a:prstGeom>
          <a:noFill/>
        </p:spPr>
        <p:txBody>
          <a:bodyPr wrap="square" lIns="0" tIns="0" rIns="0" bIns="0" rtlCol="0" anchor="ctr"/>
          <a:lstStyle/>
          <a:p>
            <a:pPr marL="0" indent="0">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Compute, storage, databases, AI/ML, IoT, analytics and more</a:t>
            </a:r>
            <a:endParaRPr lang="en-US" sz="1100" dirty="0"/>
          </a:p>
        </p:txBody>
      </p:sp>
      <p:sp>
        <p:nvSpPr>
          <p:cNvPr id="21" name="Shape 15"/>
          <p:cNvSpPr/>
          <p:nvPr/>
        </p:nvSpPr>
        <p:spPr>
          <a:xfrm>
            <a:off x="7543800" y="1645920"/>
            <a:ext cx="4114800" cy="4206240"/>
          </a:xfrm>
          <a:prstGeom prst="roundRect">
            <a:avLst>
              <a:gd name="adj" fmla="val 2222"/>
            </a:avLst>
          </a:prstGeom>
          <a:solidFill>
            <a:srgbClr val="232F3E"/>
          </a:solidFill>
        </p:spPr>
      </p:sp>
      <p:sp>
        <p:nvSpPr>
          <p:cNvPr id="22" name="Shape 16"/>
          <p:cNvSpPr/>
          <p:nvPr/>
        </p:nvSpPr>
        <p:spPr>
          <a:xfrm>
            <a:off x="9418320" y="1965960"/>
            <a:ext cx="914400" cy="914400"/>
          </a:xfrm>
          <a:prstGeom prst="ellipse">
            <a:avLst/>
          </a:prstGeom>
          <a:solidFill>
            <a:srgbClr val="FF9900"/>
          </a:solidFill>
        </p:spPr>
      </p:sp>
      <p:pic>
        <p:nvPicPr>
          <p:cNvPr id="23" name="Image 4" descr="/home/claude/icons/aws_navy.png"/>
          <p:cNvPicPr>
            <a:picLocks noChangeAspect="1"/>
          </p:cNvPicPr>
          <p:nvPr/>
        </p:nvPicPr>
        <p:blipFill>
          <a:blip r:embed="rId5"/>
          <a:stretch>
            <a:fillRect/>
          </a:stretch>
        </p:blipFill>
        <p:spPr>
          <a:xfrm>
            <a:off x="9637776" y="2185416"/>
            <a:ext cx="475488" cy="475488"/>
          </a:xfrm>
          <a:prstGeom prst="rect">
            <a:avLst/>
          </a:prstGeom>
        </p:spPr>
      </p:pic>
      <p:sp>
        <p:nvSpPr>
          <p:cNvPr id="24" name="Text 17"/>
          <p:cNvSpPr/>
          <p:nvPr/>
        </p:nvSpPr>
        <p:spPr>
          <a:xfrm>
            <a:off x="7818120" y="3108960"/>
            <a:ext cx="3657600" cy="548640"/>
          </a:xfrm>
          <a:prstGeom prst="rect">
            <a:avLst/>
          </a:prstGeom>
          <a:noFill/>
        </p:spPr>
        <p:txBody>
          <a:bodyPr wrap="square" lIns="0" tIns="0" rIns="0" bIns="0" rtlCol="0" anchor="ctr"/>
          <a:lstStyle/>
          <a:p>
            <a:pPr marL="0" indent="0" algn="ctr">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Why Organizations Choose AWS</a:t>
            </a:r>
            <a:endParaRPr lang="en-US" sz="1450" dirty="0"/>
          </a:p>
        </p:txBody>
      </p:sp>
      <p:sp>
        <p:nvSpPr>
          <p:cNvPr id="25" name="Text 18"/>
          <p:cNvSpPr/>
          <p:nvPr/>
        </p:nvSpPr>
        <p:spPr>
          <a:xfrm>
            <a:off x="7863840" y="3794760"/>
            <a:ext cx="3566160" cy="411480"/>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  Mature &amp; battle-tested platform</a:t>
            </a:r>
            <a:endParaRPr lang="en-US" sz="1150" dirty="0"/>
          </a:p>
        </p:txBody>
      </p:sp>
      <p:sp>
        <p:nvSpPr>
          <p:cNvPr id="26" name="Text 19"/>
          <p:cNvSpPr/>
          <p:nvPr/>
        </p:nvSpPr>
        <p:spPr>
          <a:xfrm>
            <a:off x="7863840" y="4251960"/>
            <a:ext cx="3566160" cy="411480"/>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  Pay only for what you use</a:t>
            </a:r>
            <a:endParaRPr lang="en-US" sz="1150" dirty="0"/>
          </a:p>
        </p:txBody>
      </p:sp>
      <p:sp>
        <p:nvSpPr>
          <p:cNvPr id="27" name="Text 20"/>
          <p:cNvSpPr/>
          <p:nvPr/>
        </p:nvSpPr>
        <p:spPr>
          <a:xfrm>
            <a:off x="7863840" y="4709160"/>
            <a:ext cx="3566160" cy="411480"/>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  Extensive partner &amp; community support</a:t>
            </a:r>
            <a:endParaRPr lang="en-US" sz="1150" dirty="0"/>
          </a:p>
        </p:txBody>
      </p:sp>
      <p:sp>
        <p:nvSpPr>
          <p:cNvPr id="28" name="Text 21"/>
          <p:cNvSpPr/>
          <p:nvPr/>
        </p:nvSpPr>
        <p:spPr>
          <a:xfrm>
            <a:off x="7863840" y="5166360"/>
            <a:ext cx="3566160" cy="411480"/>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  Strong security &amp; compliance certifications</a:t>
            </a:r>
            <a:endParaRPr lang="en-US" sz="1150" dirty="0"/>
          </a:p>
        </p:txBody>
      </p:sp>
      <p:sp>
        <p:nvSpPr>
          <p:cNvPr id="29" name="Text 2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0" name="Text 2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22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3 · AWS DEEP DIVE</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AWS Global Infrastructure, By the Numbers</a:t>
            </a:r>
            <a:endParaRPr lang="en-US" sz="3000" dirty="0"/>
          </a:p>
        </p:txBody>
      </p:sp>
      <p:sp>
        <p:nvSpPr>
          <p:cNvPr id="4" name="Shape 2"/>
          <p:cNvSpPr/>
          <p:nvPr/>
        </p:nvSpPr>
        <p:spPr>
          <a:xfrm>
            <a:off x="548640" y="1920240"/>
            <a:ext cx="2606040" cy="2834640"/>
          </a:xfrm>
          <a:prstGeom prst="roundRect">
            <a:avLst>
              <a:gd name="adj" fmla="val 3509"/>
            </a:avLst>
          </a:prstGeom>
          <a:solidFill>
            <a:srgbClr val="37475A"/>
          </a:solidFill>
        </p:spPr>
      </p:sp>
      <p:sp>
        <p:nvSpPr>
          <p:cNvPr id="5" name="Shape 3"/>
          <p:cNvSpPr/>
          <p:nvPr/>
        </p:nvSpPr>
        <p:spPr>
          <a:xfrm>
            <a:off x="1444752" y="2148840"/>
            <a:ext cx="822960" cy="822960"/>
          </a:xfrm>
          <a:prstGeom prst="ellipse">
            <a:avLst/>
          </a:prstGeom>
          <a:solidFill>
            <a:srgbClr val="FF9900"/>
          </a:solidFill>
        </p:spPr>
      </p:sp>
      <p:pic>
        <p:nvPicPr>
          <p:cNvPr id="6" name="Image 0" descr="/home/claude/icons/map_navy.png"/>
          <p:cNvPicPr>
            <a:picLocks noChangeAspect="1"/>
          </p:cNvPicPr>
          <p:nvPr/>
        </p:nvPicPr>
        <p:blipFill>
          <a:blip r:embed="rId1"/>
          <a:stretch>
            <a:fillRect/>
          </a:stretch>
        </p:blipFill>
        <p:spPr>
          <a:xfrm>
            <a:off x="1642262" y="2346350"/>
            <a:ext cx="427939" cy="427939"/>
          </a:xfrm>
          <a:prstGeom prst="rect">
            <a:avLst/>
          </a:prstGeom>
        </p:spPr>
      </p:pic>
      <p:sp>
        <p:nvSpPr>
          <p:cNvPr id="7" name="Text 4"/>
          <p:cNvSpPr/>
          <p:nvPr/>
        </p:nvSpPr>
        <p:spPr>
          <a:xfrm>
            <a:off x="548640" y="3108960"/>
            <a:ext cx="2606040" cy="685800"/>
          </a:xfrm>
          <a:prstGeom prst="rect">
            <a:avLst/>
          </a:prstGeom>
          <a:noFill/>
        </p:spPr>
        <p:txBody>
          <a:bodyPr wrap="square" lIns="0" tIns="0" rIns="0" bIns="0" rtlCol="0" anchor="ctr"/>
          <a:lstStyle/>
          <a:p>
            <a:pPr marL="0" indent="0" algn="ctr">
              <a:buNone/>
            </a:pPr>
            <a:r>
              <a:rPr lang="en-US" sz="3600" b="1" dirty="0">
                <a:solidFill>
                  <a:srgbClr val="FF9900"/>
                </a:solidFill>
                <a:latin typeface="Cambria" panose="02040503050406030204" pitchFamily="34" charset="0"/>
                <a:ea typeface="Cambria" panose="02040503050406030204" pitchFamily="34" charset="-122"/>
                <a:cs typeface="Cambria" panose="02040503050406030204" pitchFamily="34" charset="-120"/>
              </a:rPr>
              <a:t>34+</a:t>
            </a:r>
            <a:endParaRPr lang="en-US" sz="3600" dirty="0"/>
          </a:p>
        </p:txBody>
      </p:sp>
      <p:sp>
        <p:nvSpPr>
          <p:cNvPr id="8" name="Text 5"/>
          <p:cNvSpPr/>
          <p:nvPr/>
        </p:nvSpPr>
        <p:spPr>
          <a:xfrm>
            <a:off x="685800" y="3840480"/>
            <a:ext cx="2331720" cy="777240"/>
          </a:xfrm>
          <a:prstGeom prst="rect">
            <a:avLst/>
          </a:prstGeom>
          <a:noFill/>
        </p:spPr>
        <p:txBody>
          <a:bodyPr wrap="square" lIns="0" tIns="0" rIns="0" bIns="0" rtlCol="0" anchor="ctr"/>
          <a:lstStyle/>
          <a:p>
            <a:pPr marL="0" indent="0" algn="ctr">
              <a:lnSpc>
                <a:spcPct val="115000"/>
              </a:lnSpc>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Geographic Regions</a:t>
            </a:r>
            <a:endParaRPr lang="en-US" sz="1250" dirty="0"/>
          </a:p>
        </p:txBody>
      </p:sp>
      <p:sp>
        <p:nvSpPr>
          <p:cNvPr id="9" name="Shape 6"/>
          <p:cNvSpPr/>
          <p:nvPr/>
        </p:nvSpPr>
        <p:spPr>
          <a:xfrm>
            <a:off x="3383280" y="1920240"/>
            <a:ext cx="2606040" cy="2834640"/>
          </a:xfrm>
          <a:prstGeom prst="roundRect">
            <a:avLst>
              <a:gd name="adj" fmla="val 3509"/>
            </a:avLst>
          </a:prstGeom>
          <a:solidFill>
            <a:srgbClr val="37475A"/>
          </a:solidFill>
        </p:spPr>
      </p:sp>
      <p:sp>
        <p:nvSpPr>
          <p:cNvPr id="10" name="Shape 7"/>
          <p:cNvSpPr/>
          <p:nvPr/>
        </p:nvSpPr>
        <p:spPr>
          <a:xfrm>
            <a:off x="4279392" y="2148840"/>
            <a:ext cx="822960" cy="822960"/>
          </a:xfrm>
          <a:prstGeom prst="ellipse">
            <a:avLst/>
          </a:prstGeom>
          <a:solidFill>
            <a:srgbClr val="FF9900"/>
          </a:solidFill>
        </p:spPr>
      </p:sp>
      <p:pic>
        <p:nvPicPr>
          <p:cNvPr id="11" name="Image 1" descr="/home/claude/icons/building_navy.png"/>
          <p:cNvPicPr>
            <a:picLocks noChangeAspect="1"/>
          </p:cNvPicPr>
          <p:nvPr/>
        </p:nvPicPr>
        <p:blipFill>
          <a:blip r:embed="rId2"/>
          <a:stretch>
            <a:fillRect/>
          </a:stretch>
        </p:blipFill>
        <p:spPr>
          <a:xfrm>
            <a:off x="4476902" y="2346350"/>
            <a:ext cx="427939" cy="427939"/>
          </a:xfrm>
          <a:prstGeom prst="rect">
            <a:avLst/>
          </a:prstGeom>
        </p:spPr>
      </p:pic>
      <p:sp>
        <p:nvSpPr>
          <p:cNvPr id="12" name="Text 8"/>
          <p:cNvSpPr/>
          <p:nvPr/>
        </p:nvSpPr>
        <p:spPr>
          <a:xfrm>
            <a:off x="3383280" y="3108960"/>
            <a:ext cx="2606040" cy="685800"/>
          </a:xfrm>
          <a:prstGeom prst="rect">
            <a:avLst/>
          </a:prstGeom>
          <a:noFill/>
        </p:spPr>
        <p:txBody>
          <a:bodyPr wrap="square" lIns="0" tIns="0" rIns="0" bIns="0" rtlCol="0" anchor="ctr"/>
          <a:lstStyle/>
          <a:p>
            <a:pPr marL="0" indent="0" algn="ctr">
              <a:buNone/>
            </a:pPr>
            <a:r>
              <a:rPr lang="en-US" sz="3600" b="1" dirty="0">
                <a:solidFill>
                  <a:srgbClr val="FF9900"/>
                </a:solidFill>
                <a:latin typeface="Cambria" panose="02040503050406030204" pitchFamily="34" charset="0"/>
                <a:ea typeface="Cambria" panose="02040503050406030204" pitchFamily="34" charset="-122"/>
                <a:cs typeface="Cambria" panose="02040503050406030204" pitchFamily="34" charset="-120"/>
              </a:rPr>
              <a:t>108+</a:t>
            </a:r>
            <a:endParaRPr lang="en-US" sz="3600" dirty="0"/>
          </a:p>
        </p:txBody>
      </p:sp>
      <p:sp>
        <p:nvSpPr>
          <p:cNvPr id="13" name="Text 9"/>
          <p:cNvSpPr/>
          <p:nvPr/>
        </p:nvSpPr>
        <p:spPr>
          <a:xfrm>
            <a:off x="3520440" y="3840480"/>
            <a:ext cx="2331720" cy="777240"/>
          </a:xfrm>
          <a:prstGeom prst="rect">
            <a:avLst/>
          </a:prstGeom>
          <a:noFill/>
        </p:spPr>
        <p:txBody>
          <a:bodyPr wrap="square" lIns="0" tIns="0" rIns="0" bIns="0" rtlCol="0" anchor="ctr"/>
          <a:lstStyle/>
          <a:p>
            <a:pPr marL="0" indent="0" algn="ctr">
              <a:lnSpc>
                <a:spcPct val="115000"/>
              </a:lnSpc>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Availability Zones</a:t>
            </a:r>
            <a:endParaRPr lang="en-US" sz="1250" dirty="0"/>
          </a:p>
        </p:txBody>
      </p:sp>
      <p:sp>
        <p:nvSpPr>
          <p:cNvPr id="14" name="Shape 10"/>
          <p:cNvSpPr/>
          <p:nvPr/>
        </p:nvSpPr>
        <p:spPr>
          <a:xfrm>
            <a:off x="6217920" y="1920240"/>
            <a:ext cx="2606040" cy="2834640"/>
          </a:xfrm>
          <a:prstGeom prst="roundRect">
            <a:avLst>
              <a:gd name="adj" fmla="val 3509"/>
            </a:avLst>
          </a:prstGeom>
          <a:solidFill>
            <a:srgbClr val="37475A"/>
          </a:solidFill>
        </p:spPr>
      </p:sp>
      <p:sp>
        <p:nvSpPr>
          <p:cNvPr id="15" name="Shape 11"/>
          <p:cNvSpPr/>
          <p:nvPr/>
        </p:nvSpPr>
        <p:spPr>
          <a:xfrm>
            <a:off x="7114032" y="2148840"/>
            <a:ext cx="822960" cy="822960"/>
          </a:xfrm>
          <a:prstGeom prst="ellipse">
            <a:avLst/>
          </a:prstGeom>
          <a:solidFill>
            <a:srgbClr val="FF9900"/>
          </a:solidFill>
        </p:spPr>
      </p:sp>
      <p:pic>
        <p:nvPicPr>
          <p:cNvPr id="16" name="Image 2" descr="/home/claude/icons/tower_navy.png"/>
          <p:cNvPicPr>
            <a:picLocks noChangeAspect="1"/>
          </p:cNvPicPr>
          <p:nvPr/>
        </p:nvPicPr>
        <p:blipFill>
          <a:blip r:embed="rId3"/>
          <a:stretch>
            <a:fillRect/>
          </a:stretch>
        </p:blipFill>
        <p:spPr>
          <a:xfrm>
            <a:off x="7311542" y="2346350"/>
            <a:ext cx="427939" cy="427939"/>
          </a:xfrm>
          <a:prstGeom prst="rect">
            <a:avLst/>
          </a:prstGeom>
        </p:spPr>
      </p:pic>
      <p:sp>
        <p:nvSpPr>
          <p:cNvPr id="17" name="Text 12"/>
          <p:cNvSpPr/>
          <p:nvPr/>
        </p:nvSpPr>
        <p:spPr>
          <a:xfrm>
            <a:off x="6217920" y="3108960"/>
            <a:ext cx="2606040" cy="685800"/>
          </a:xfrm>
          <a:prstGeom prst="rect">
            <a:avLst/>
          </a:prstGeom>
          <a:noFill/>
        </p:spPr>
        <p:txBody>
          <a:bodyPr wrap="square" lIns="0" tIns="0" rIns="0" bIns="0" rtlCol="0" anchor="ctr"/>
          <a:lstStyle/>
          <a:p>
            <a:pPr marL="0" indent="0" algn="ctr">
              <a:buNone/>
            </a:pPr>
            <a:r>
              <a:rPr lang="en-US" sz="3600" b="1" dirty="0">
                <a:solidFill>
                  <a:srgbClr val="FF9900"/>
                </a:solidFill>
                <a:latin typeface="Cambria" panose="02040503050406030204" pitchFamily="34" charset="0"/>
                <a:ea typeface="Cambria" panose="02040503050406030204" pitchFamily="34" charset="-122"/>
                <a:cs typeface="Cambria" panose="02040503050406030204" pitchFamily="34" charset="-120"/>
              </a:rPr>
              <a:t>600+</a:t>
            </a:r>
            <a:endParaRPr lang="en-US" sz="3600" dirty="0"/>
          </a:p>
        </p:txBody>
      </p:sp>
      <p:sp>
        <p:nvSpPr>
          <p:cNvPr id="18" name="Text 13"/>
          <p:cNvSpPr/>
          <p:nvPr/>
        </p:nvSpPr>
        <p:spPr>
          <a:xfrm>
            <a:off x="6355080" y="3840480"/>
            <a:ext cx="2331720" cy="777240"/>
          </a:xfrm>
          <a:prstGeom prst="rect">
            <a:avLst/>
          </a:prstGeom>
          <a:noFill/>
        </p:spPr>
        <p:txBody>
          <a:bodyPr wrap="square" lIns="0" tIns="0" rIns="0" bIns="0" rtlCol="0" anchor="ctr"/>
          <a:lstStyle/>
          <a:p>
            <a:pPr marL="0" indent="0" algn="ctr">
              <a:lnSpc>
                <a:spcPct val="115000"/>
              </a:lnSpc>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Edge Locations (CloudFront)</a:t>
            </a:r>
            <a:endParaRPr lang="en-US" sz="1250" dirty="0"/>
          </a:p>
        </p:txBody>
      </p:sp>
      <p:sp>
        <p:nvSpPr>
          <p:cNvPr id="19" name="Shape 14"/>
          <p:cNvSpPr/>
          <p:nvPr/>
        </p:nvSpPr>
        <p:spPr>
          <a:xfrm>
            <a:off x="9052560" y="1920240"/>
            <a:ext cx="2606040" cy="2834640"/>
          </a:xfrm>
          <a:prstGeom prst="roundRect">
            <a:avLst>
              <a:gd name="adj" fmla="val 3509"/>
            </a:avLst>
          </a:prstGeom>
          <a:solidFill>
            <a:srgbClr val="37475A"/>
          </a:solidFill>
        </p:spPr>
      </p:sp>
      <p:sp>
        <p:nvSpPr>
          <p:cNvPr id="20" name="Shape 15"/>
          <p:cNvSpPr/>
          <p:nvPr/>
        </p:nvSpPr>
        <p:spPr>
          <a:xfrm>
            <a:off x="9948672" y="2148840"/>
            <a:ext cx="822960" cy="822960"/>
          </a:xfrm>
          <a:prstGeom prst="ellipse">
            <a:avLst/>
          </a:prstGeom>
          <a:solidFill>
            <a:srgbClr val="FF9900"/>
          </a:solidFill>
        </p:spPr>
      </p:sp>
      <p:pic>
        <p:nvPicPr>
          <p:cNvPr id="21" name="Image 3" descr="/home/claude/icons/globe_navy.png"/>
          <p:cNvPicPr>
            <a:picLocks noChangeAspect="1"/>
          </p:cNvPicPr>
          <p:nvPr/>
        </p:nvPicPr>
        <p:blipFill>
          <a:blip r:embed="rId4"/>
          <a:stretch>
            <a:fillRect/>
          </a:stretch>
        </p:blipFill>
        <p:spPr>
          <a:xfrm>
            <a:off x="10146182" y="2346350"/>
            <a:ext cx="427939" cy="427939"/>
          </a:xfrm>
          <a:prstGeom prst="rect">
            <a:avLst/>
          </a:prstGeom>
        </p:spPr>
      </p:pic>
      <p:sp>
        <p:nvSpPr>
          <p:cNvPr id="22" name="Text 16"/>
          <p:cNvSpPr/>
          <p:nvPr/>
        </p:nvSpPr>
        <p:spPr>
          <a:xfrm>
            <a:off x="9052560" y="3108960"/>
            <a:ext cx="2606040" cy="685800"/>
          </a:xfrm>
          <a:prstGeom prst="rect">
            <a:avLst/>
          </a:prstGeom>
          <a:noFill/>
        </p:spPr>
        <p:txBody>
          <a:bodyPr wrap="square" lIns="0" tIns="0" rIns="0" bIns="0" rtlCol="0" anchor="ctr"/>
          <a:lstStyle/>
          <a:p>
            <a:pPr marL="0" indent="0" algn="ctr">
              <a:buNone/>
            </a:pPr>
            <a:r>
              <a:rPr lang="en-US" sz="3600" b="1" dirty="0">
                <a:solidFill>
                  <a:srgbClr val="FF9900"/>
                </a:solidFill>
                <a:latin typeface="Cambria" panose="02040503050406030204" pitchFamily="34" charset="0"/>
                <a:ea typeface="Cambria" panose="02040503050406030204" pitchFamily="34" charset="-122"/>
                <a:cs typeface="Cambria" panose="02040503050406030204" pitchFamily="34" charset="-120"/>
              </a:rPr>
              <a:t>245</a:t>
            </a:r>
            <a:endParaRPr lang="en-US" sz="3600" dirty="0"/>
          </a:p>
        </p:txBody>
      </p:sp>
      <p:sp>
        <p:nvSpPr>
          <p:cNvPr id="23" name="Text 17"/>
          <p:cNvSpPr/>
          <p:nvPr/>
        </p:nvSpPr>
        <p:spPr>
          <a:xfrm>
            <a:off x="9189720" y="3840480"/>
            <a:ext cx="2331720" cy="777240"/>
          </a:xfrm>
          <a:prstGeom prst="rect">
            <a:avLst/>
          </a:prstGeom>
          <a:noFill/>
        </p:spPr>
        <p:txBody>
          <a:bodyPr wrap="square" lIns="0" tIns="0" rIns="0" bIns="0" rtlCol="0" anchor="ctr"/>
          <a:lstStyle/>
          <a:p>
            <a:pPr marL="0" indent="0" algn="ctr">
              <a:lnSpc>
                <a:spcPct val="115000"/>
              </a:lnSpc>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Countries &amp; Territories Served</a:t>
            </a:r>
            <a:endParaRPr lang="en-US" sz="1250" dirty="0"/>
          </a:p>
        </p:txBody>
      </p:sp>
      <p:sp>
        <p:nvSpPr>
          <p:cNvPr id="24" name="Text 18"/>
          <p:cNvSpPr/>
          <p:nvPr/>
        </p:nvSpPr>
        <p:spPr>
          <a:xfrm>
            <a:off x="548640" y="5074920"/>
            <a:ext cx="10972800" cy="365760"/>
          </a:xfrm>
          <a:prstGeom prst="rect">
            <a:avLst/>
          </a:prstGeom>
          <a:noFill/>
        </p:spPr>
        <p:txBody>
          <a:bodyPr wrap="square" lIns="0" tIns="0" rIns="0" bIns="0" rtlCol="0" anchor="ctr"/>
          <a:lstStyle/>
          <a:p>
            <a:pPr marL="0" indent="0" algn="ctr">
              <a:buNone/>
            </a:pPr>
            <a:r>
              <a:rPr lang="en-US" sz="1100" i="1" dirty="0">
                <a:solidFill>
                  <a:srgbClr val="CADCFC"/>
                </a:solidFill>
                <a:latin typeface="Calibri" panose="020F0502020204030204" pitchFamily="34" charset="0"/>
                <a:ea typeface="Calibri" panose="020F0502020204030204" pitchFamily="34" charset="-122"/>
                <a:cs typeface="Calibri" panose="020F0502020204030204" pitchFamily="34" charset="-120"/>
              </a:rPr>
              <a:t>Figures are approximate and continue to grow as AWS opens new locations.</a:t>
            </a:r>
            <a:endParaRPr lang="en-US" sz="1100" dirty="0"/>
          </a:p>
        </p:txBody>
      </p:sp>
      <p:sp>
        <p:nvSpPr>
          <p:cNvPr id="25" name="Text 19"/>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6" name="Text 20"/>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23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3 · AWS DEEP DIVE</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Choosing the Right AWS Region</a:t>
            </a:r>
            <a:endParaRPr lang="en-US" sz="3000" dirty="0"/>
          </a:p>
        </p:txBody>
      </p:sp>
      <p:sp>
        <p:nvSpPr>
          <p:cNvPr id="4" name="Shape 2"/>
          <p:cNvSpPr/>
          <p:nvPr/>
        </p:nvSpPr>
        <p:spPr>
          <a:xfrm>
            <a:off x="548640" y="1737360"/>
            <a:ext cx="5349240" cy="1920240"/>
          </a:xfrm>
          <a:prstGeom prst="roundRect">
            <a:avLst>
              <a:gd name="adj" fmla="val 4762"/>
            </a:avLst>
          </a:prstGeom>
          <a:solidFill>
            <a:srgbClr val="F5F7FA"/>
          </a:solidFill>
        </p:spPr>
      </p:sp>
      <p:sp>
        <p:nvSpPr>
          <p:cNvPr id="5" name="Shape 3"/>
          <p:cNvSpPr/>
          <p:nvPr/>
        </p:nvSpPr>
        <p:spPr>
          <a:xfrm>
            <a:off x="822960" y="1993392"/>
            <a:ext cx="731520" cy="731520"/>
          </a:xfrm>
          <a:prstGeom prst="ellipse">
            <a:avLst/>
          </a:prstGeom>
          <a:solidFill>
            <a:srgbClr val="232F3E"/>
          </a:solidFill>
        </p:spPr>
      </p:sp>
      <p:pic>
        <p:nvPicPr>
          <p:cNvPr id="6" name="Image 0" descr="/home/claude/icons/users_orange.png"/>
          <p:cNvPicPr>
            <a:picLocks noChangeAspect="1"/>
          </p:cNvPicPr>
          <p:nvPr/>
        </p:nvPicPr>
        <p:blipFill>
          <a:blip r:embed="rId1"/>
          <a:stretch>
            <a:fillRect/>
          </a:stretch>
        </p:blipFill>
        <p:spPr>
          <a:xfrm>
            <a:off x="998525" y="2168957"/>
            <a:ext cx="380390" cy="380390"/>
          </a:xfrm>
          <a:prstGeom prst="rect">
            <a:avLst/>
          </a:prstGeom>
        </p:spPr>
      </p:pic>
      <p:sp>
        <p:nvSpPr>
          <p:cNvPr id="7" name="Text 4"/>
          <p:cNvSpPr/>
          <p:nvPr/>
        </p:nvSpPr>
        <p:spPr>
          <a:xfrm>
            <a:off x="1737360" y="2011680"/>
            <a:ext cx="3931920" cy="365760"/>
          </a:xfrm>
          <a:prstGeom prst="rect">
            <a:avLst/>
          </a:prstGeom>
          <a:noFill/>
        </p:spPr>
        <p:txBody>
          <a:bodyPr wrap="square" lIns="0" tIns="0" rIns="0" bIns="0" rtlCol="0" anchor="ctr"/>
          <a:lstStyle/>
          <a:p>
            <a:pPr marL="0" indent="0">
              <a:buNone/>
            </a:pPr>
            <a:r>
              <a:rPr lang="en-US" sz="1500" b="1" dirty="0">
                <a:solidFill>
                  <a:srgbClr val="232F3E"/>
                </a:solidFill>
                <a:latin typeface="Calibri" panose="020F0502020204030204" pitchFamily="34" charset="0"/>
                <a:ea typeface="Calibri" panose="020F0502020204030204" pitchFamily="34" charset="-122"/>
                <a:cs typeface="Calibri" panose="020F0502020204030204" pitchFamily="34" charset="-120"/>
              </a:rPr>
              <a:t>Latency</a:t>
            </a:r>
            <a:endParaRPr lang="en-US" sz="1500" dirty="0"/>
          </a:p>
        </p:txBody>
      </p:sp>
      <p:sp>
        <p:nvSpPr>
          <p:cNvPr id="8" name="Text 5"/>
          <p:cNvSpPr/>
          <p:nvPr/>
        </p:nvSpPr>
        <p:spPr>
          <a:xfrm>
            <a:off x="1737360" y="2395728"/>
            <a:ext cx="3931920" cy="1097280"/>
          </a:xfrm>
          <a:prstGeom prst="rect">
            <a:avLst/>
          </a:prstGeom>
          <a:noFill/>
        </p:spPr>
        <p:txBody>
          <a:bodyPr wrap="square" lIns="0" tIns="0" rIns="0" bIns="0" rtlCol="0" anchor="ctr"/>
          <a:lstStyle/>
          <a:p>
            <a:pPr marL="0" indent="0">
              <a:lnSpc>
                <a:spcPct val="115000"/>
              </a:lnSpc>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Pick a region close to your users for the fastest response times</a:t>
            </a:r>
            <a:endParaRPr lang="en-US" sz="1200" dirty="0"/>
          </a:p>
        </p:txBody>
      </p:sp>
      <p:sp>
        <p:nvSpPr>
          <p:cNvPr id="9" name="Shape 6"/>
          <p:cNvSpPr/>
          <p:nvPr/>
        </p:nvSpPr>
        <p:spPr>
          <a:xfrm>
            <a:off x="6172200" y="1737360"/>
            <a:ext cx="5349240" cy="1920240"/>
          </a:xfrm>
          <a:prstGeom prst="roundRect">
            <a:avLst>
              <a:gd name="adj" fmla="val 4762"/>
            </a:avLst>
          </a:prstGeom>
          <a:solidFill>
            <a:srgbClr val="F5F7FA"/>
          </a:solidFill>
        </p:spPr>
      </p:sp>
      <p:sp>
        <p:nvSpPr>
          <p:cNvPr id="10" name="Shape 7"/>
          <p:cNvSpPr/>
          <p:nvPr/>
        </p:nvSpPr>
        <p:spPr>
          <a:xfrm>
            <a:off x="6446520" y="1993392"/>
            <a:ext cx="731520" cy="731520"/>
          </a:xfrm>
          <a:prstGeom prst="ellipse">
            <a:avLst/>
          </a:prstGeom>
          <a:solidFill>
            <a:srgbClr val="232F3E"/>
          </a:solidFill>
        </p:spPr>
      </p:sp>
      <p:pic>
        <p:nvPicPr>
          <p:cNvPr id="11" name="Image 1" descr="/home/claude/icons/lock_orange.png"/>
          <p:cNvPicPr>
            <a:picLocks noChangeAspect="1"/>
          </p:cNvPicPr>
          <p:nvPr/>
        </p:nvPicPr>
        <p:blipFill>
          <a:blip r:embed="rId2"/>
          <a:stretch>
            <a:fillRect/>
          </a:stretch>
        </p:blipFill>
        <p:spPr>
          <a:xfrm>
            <a:off x="6622085" y="2168957"/>
            <a:ext cx="380390" cy="380390"/>
          </a:xfrm>
          <a:prstGeom prst="rect">
            <a:avLst/>
          </a:prstGeom>
        </p:spPr>
      </p:pic>
      <p:sp>
        <p:nvSpPr>
          <p:cNvPr id="12" name="Text 8"/>
          <p:cNvSpPr/>
          <p:nvPr/>
        </p:nvSpPr>
        <p:spPr>
          <a:xfrm>
            <a:off x="7360920" y="2011680"/>
            <a:ext cx="3931920" cy="365760"/>
          </a:xfrm>
          <a:prstGeom prst="rect">
            <a:avLst/>
          </a:prstGeom>
          <a:noFill/>
        </p:spPr>
        <p:txBody>
          <a:bodyPr wrap="square" lIns="0" tIns="0" rIns="0" bIns="0" rtlCol="0" anchor="ctr"/>
          <a:lstStyle/>
          <a:p>
            <a:pPr marL="0" indent="0">
              <a:buNone/>
            </a:pPr>
            <a:r>
              <a:rPr lang="en-US" sz="1500" b="1" dirty="0">
                <a:solidFill>
                  <a:srgbClr val="232F3E"/>
                </a:solidFill>
                <a:latin typeface="Calibri" panose="020F0502020204030204" pitchFamily="34" charset="0"/>
                <a:ea typeface="Calibri" panose="020F0502020204030204" pitchFamily="34" charset="-122"/>
                <a:cs typeface="Calibri" panose="020F0502020204030204" pitchFamily="34" charset="-120"/>
              </a:rPr>
              <a:t>Compliance</a:t>
            </a:r>
            <a:endParaRPr lang="en-US" sz="1500" dirty="0"/>
          </a:p>
        </p:txBody>
      </p:sp>
      <p:sp>
        <p:nvSpPr>
          <p:cNvPr id="13" name="Text 9"/>
          <p:cNvSpPr/>
          <p:nvPr/>
        </p:nvSpPr>
        <p:spPr>
          <a:xfrm>
            <a:off x="7360920" y="2395728"/>
            <a:ext cx="3931920" cy="1097280"/>
          </a:xfrm>
          <a:prstGeom prst="rect">
            <a:avLst/>
          </a:prstGeom>
          <a:noFill/>
        </p:spPr>
        <p:txBody>
          <a:bodyPr wrap="square" lIns="0" tIns="0" rIns="0" bIns="0" rtlCol="0" anchor="ctr"/>
          <a:lstStyle/>
          <a:p>
            <a:pPr marL="0" indent="0">
              <a:lnSpc>
                <a:spcPct val="115000"/>
              </a:lnSpc>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Some data must legally stay within a specific country or region</a:t>
            </a:r>
            <a:endParaRPr lang="en-US" sz="1200" dirty="0"/>
          </a:p>
        </p:txBody>
      </p:sp>
      <p:sp>
        <p:nvSpPr>
          <p:cNvPr id="14" name="Shape 10"/>
          <p:cNvSpPr/>
          <p:nvPr/>
        </p:nvSpPr>
        <p:spPr>
          <a:xfrm>
            <a:off x="548640" y="3886200"/>
            <a:ext cx="5349240" cy="1920240"/>
          </a:xfrm>
          <a:prstGeom prst="roundRect">
            <a:avLst>
              <a:gd name="adj" fmla="val 4762"/>
            </a:avLst>
          </a:prstGeom>
          <a:solidFill>
            <a:srgbClr val="F5F7FA"/>
          </a:solidFill>
        </p:spPr>
      </p:sp>
      <p:sp>
        <p:nvSpPr>
          <p:cNvPr id="15" name="Shape 11"/>
          <p:cNvSpPr/>
          <p:nvPr/>
        </p:nvSpPr>
        <p:spPr>
          <a:xfrm>
            <a:off x="822960" y="4142232"/>
            <a:ext cx="731520" cy="731520"/>
          </a:xfrm>
          <a:prstGeom prst="ellipse">
            <a:avLst/>
          </a:prstGeom>
          <a:solidFill>
            <a:srgbClr val="232F3E"/>
          </a:solidFill>
        </p:spPr>
      </p:sp>
      <p:pic>
        <p:nvPicPr>
          <p:cNvPr id="16" name="Image 2" descr="/home/claude/icons/money_orange.png"/>
          <p:cNvPicPr>
            <a:picLocks noChangeAspect="1"/>
          </p:cNvPicPr>
          <p:nvPr/>
        </p:nvPicPr>
        <p:blipFill>
          <a:blip r:embed="rId3"/>
          <a:stretch>
            <a:fillRect/>
          </a:stretch>
        </p:blipFill>
        <p:spPr>
          <a:xfrm>
            <a:off x="998525" y="4317797"/>
            <a:ext cx="380390" cy="380390"/>
          </a:xfrm>
          <a:prstGeom prst="rect">
            <a:avLst/>
          </a:prstGeom>
        </p:spPr>
      </p:pic>
      <p:sp>
        <p:nvSpPr>
          <p:cNvPr id="17" name="Text 12"/>
          <p:cNvSpPr/>
          <p:nvPr/>
        </p:nvSpPr>
        <p:spPr>
          <a:xfrm>
            <a:off x="1737360" y="4160520"/>
            <a:ext cx="3931920" cy="365760"/>
          </a:xfrm>
          <a:prstGeom prst="rect">
            <a:avLst/>
          </a:prstGeom>
          <a:noFill/>
        </p:spPr>
        <p:txBody>
          <a:bodyPr wrap="square" lIns="0" tIns="0" rIns="0" bIns="0" rtlCol="0" anchor="ctr"/>
          <a:lstStyle/>
          <a:p>
            <a:pPr marL="0" indent="0">
              <a:buNone/>
            </a:pPr>
            <a:r>
              <a:rPr lang="en-US" sz="1500" b="1" dirty="0">
                <a:solidFill>
                  <a:srgbClr val="232F3E"/>
                </a:solidFill>
                <a:latin typeface="Calibri" panose="020F0502020204030204" pitchFamily="34" charset="0"/>
                <a:ea typeface="Calibri" panose="020F0502020204030204" pitchFamily="34" charset="-122"/>
                <a:cs typeface="Calibri" panose="020F0502020204030204" pitchFamily="34" charset="-120"/>
              </a:rPr>
              <a:t>Pricing</a:t>
            </a:r>
            <a:endParaRPr lang="en-US" sz="1500" dirty="0"/>
          </a:p>
        </p:txBody>
      </p:sp>
      <p:sp>
        <p:nvSpPr>
          <p:cNvPr id="18" name="Text 13"/>
          <p:cNvSpPr/>
          <p:nvPr/>
        </p:nvSpPr>
        <p:spPr>
          <a:xfrm>
            <a:off x="1737360" y="4544568"/>
            <a:ext cx="3931920" cy="1097280"/>
          </a:xfrm>
          <a:prstGeom prst="rect">
            <a:avLst/>
          </a:prstGeom>
          <a:noFill/>
        </p:spPr>
        <p:txBody>
          <a:bodyPr wrap="square" lIns="0" tIns="0" rIns="0" bIns="0" rtlCol="0" anchor="ctr"/>
          <a:lstStyle/>
          <a:p>
            <a:pPr marL="0" indent="0">
              <a:lnSpc>
                <a:spcPct val="115000"/>
              </a:lnSpc>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Service costs vary slightly from one region to another</a:t>
            </a:r>
            <a:endParaRPr lang="en-US" sz="1200" dirty="0"/>
          </a:p>
        </p:txBody>
      </p:sp>
      <p:sp>
        <p:nvSpPr>
          <p:cNvPr id="19" name="Shape 14"/>
          <p:cNvSpPr/>
          <p:nvPr/>
        </p:nvSpPr>
        <p:spPr>
          <a:xfrm>
            <a:off x="6172200" y="3886200"/>
            <a:ext cx="5349240" cy="1920240"/>
          </a:xfrm>
          <a:prstGeom prst="roundRect">
            <a:avLst>
              <a:gd name="adj" fmla="val 4762"/>
            </a:avLst>
          </a:prstGeom>
          <a:solidFill>
            <a:srgbClr val="F5F7FA"/>
          </a:solidFill>
        </p:spPr>
      </p:sp>
      <p:sp>
        <p:nvSpPr>
          <p:cNvPr id="20" name="Shape 15"/>
          <p:cNvSpPr/>
          <p:nvPr/>
        </p:nvSpPr>
        <p:spPr>
          <a:xfrm>
            <a:off x="6446520" y="4142232"/>
            <a:ext cx="731520" cy="731520"/>
          </a:xfrm>
          <a:prstGeom prst="ellipse">
            <a:avLst/>
          </a:prstGeom>
          <a:solidFill>
            <a:srgbClr val="232F3E"/>
          </a:solidFill>
        </p:spPr>
      </p:sp>
      <p:pic>
        <p:nvPicPr>
          <p:cNvPr id="21" name="Image 3" descr="/home/claude/icons/cubes_orange.png"/>
          <p:cNvPicPr>
            <a:picLocks noChangeAspect="1"/>
          </p:cNvPicPr>
          <p:nvPr/>
        </p:nvPicPr>
        <p:blipFill>
          <a:blip r:embed="rId4"/>
          <a:stretch>
            <a:fillRect/>
          </a:stretch>
        </p:blipFill>
        <p:spPr>
          <a:xfrm>
            <a:off x="6622085" y="4317797"/>
            <a:ext cx="380390" cy="380390"/>
          </a:xfrm>
          <a:prstGeom prst="rect">
            <a:avLst/>
          </a:prstGeom>
        </p:spPr>
      </p:pic>
      <p:sp>
        <p:nvSpPr>
          <p:cNvPr id="22" name="Text 16"/>
          <p:cNvSpPr/>
          <p:nvPr/>
        </p:nvSpPr>
        <p:spPr>
          <a:xfrm>
            <a:off x="7360920" y="4160520"/>
            <a:ext cx="3931920" cy="365760"/>
          </a:xfrm>
          <a:prstGeom prst="rect">
            <a:avLst/>
          </a:prstGeom>
          <a:noFill/>
        </p:spPr>
        <p:txBody>
          <a:bodyPr wrap="square" lIns="0" tIns="0" rIns="0" bIns="0" rtlCol="0" anchor="ctr"/>
          <a:lstStyle/>
          <a:p>
            <a:pPr marL="0" indent="0">
              <a:buNone/>
            </a:pPr>
            <a:r>
              <a:rPr lang="en-US" sz="1500" b="1" dirty="0">
                <a:solidFill>
                  <a:srgbClr val="232F3E"/>
                </a:solidFill>
                <a:latin typeface="Calibri" panose="020F0502020204030204" pitchFamily="34" charset="0"/>
                <a:ea typeface="Calibri" panose="020F0502020204030204" pitchFamily="34" charset="-122"/>
                <a:cs typeface="Calibri" panose="020F0502020204030204" pitchFamily="34" charset="-120"/>
              </a:rPr>
              <a:t>Service Availability</a:t>
            </a:r>
            <a:endParaRPr lang="en-US" sz="1500" dirty="0"/>
          </a:p>
        </p:txBody>
      </p:sp>
      <p:sp>
        <p:nvSpPr>
          <p:cNvPr id="23" name="Text 17"/>
          <p:cNvSpPr/>
          <p:nvPr/>
        </p:nvSpPr>
        <p:spPr>
          <a:xfrm>
            <a:off x="7360920" y="4544568"/>
            <a:ext cx="3931920" cy="1097280"/>
          </a:xfrm>
          <a:prstGeom prst="rect">
            <a:avLst/>
          </a:prstGeom>
          <a:noFill/>
        </p:spPr>
        <p:txBody>
          <a:bodyPr wrap="square" lIns="0" tIns="0" rIns="0" bIns="0" rtlCol="0" anchor="ctr"/>
          <a:lstStyle/>
          <a:p>
            <a:pPr marL="0" indent="0">
              <a:lnSpc>
                <a:spcPct val="115000"/>
              </a:lnSpc>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Newer services may launch in select regions first</a:t>
            </a:r>
            <a:endParaRPr lang="en-US" sz="1200" dirty="0"/>
          </a:p>
        </p:txBody>
      </p:sp>
      <p:sp>
        <p:nvSpPr>
          <p:cNvPr id="24" name="Text 1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5" name="Text 1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24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3 · AWS DEEP DIVE</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AWS Management Console Overview</a:t>
            </a:r>
            <a:endParaRPr lang="en-US" sz="3000" dirty="0"/>
          </a:p>
        </p:txBody>
      </p:sp>
      <p:sp>
        <p:nvSpPr>
          <p:cNvPr id="4" name="Text 2"/>
          <p:cNvSpPr/>
          <p:nvPr/>
        </p:nvSpPr>
        <p:spPr>
          <a:xfrm>
            <a:off x="548640" y="1600200"/>
            <a:ext cx="10698480" cy="502920"/>
          </a:xfrm>
          <a:prstGeom prst="rect">
            <a:avLst/>
          </a:prstGeom>
          <a:noFill/>
        </p:spPr>
        <p:txBody>
          <a:bodyPr wrap="square" lIns="0" tIns="0" rIns="0" bIns="0" rtlCol="0" anchor="ctr"/>
          <a:lstStyle/>
          <a:p>
            <a:pPr marL="0" indent="0">
              <a:buNone/>
            </a:pPr>
            <a:r>
              <a:rPr lang="en-US" sz="1350" i="1" dirty="0">
                <a:solidFill>
                  <a:srgbClr val="5F6B7A"/>
                </a:solidFill>
                <a:latin typeface="Calibri" panose="020F0502020204030204" pitchFamily="34" charset="0"/>
                <a:ea typeface="Calibri" panose="020F0502020204030204" pitchFamily="34" charset="-122"/>
                <a:cs typeface="Calibri" panose="020F0502020204030204" pitchFamily="34" charset="-120"/>
              </a:rPr>
              <a:t>The Management Console is the web-based interface for creating, configuring, and monitoring AWS resources — no coding required to get started.</a:t>
            </a:r>
            <a:endParaRPr lang="en-US" sz="1350" dirty="0"/>
          </a:p>
        </p:txBody>
      </p:sp>
      <p:sp>
        <p:nvSpPr>
          <p:cNvPr id="5" name="Shape 3"/>
          <p:cNvSpPr/>
          <p:nvPr/>
        </p:nvSpPr>
        <p:spPr>
          <a:xfrm>
            <a:off x="548640" y="2194560"/>
            <a:ext cx="11064240" cy="3977640"/>
          </a:xfrm>
          <a:prstGeom prst="roundRect">
            <a:avLst>
              <a:gd name="adj" fmla="val 1839"/>
            </a:avLst>
          </a:prstGeom>
          <a:solidFill>
            <a:srgbClr val="F5F7FA"/>
          </a:solidFill>
          <a:ln w="19050">
            <a:solidFill>
              <a:srgbClr val="E3E7ED"/>
            </a:solidFill>
            <a:prstDash val="solid"/>
          </a:ln>
        </p:spPr>
      </p:sp>
      <p:sp>
        <p:nvSpPr>
          <p:cNvPr id="6" name="Shape 4"/>
          <p:cNvSpPr/>
          <p:nvPr/>
        </p:nvSpPr>
        <p:spPr>
          <a:xfrm>
            <a:off x="548640" y="2194560"/>
            <a:ext cx="11064240" cy="384048"/>
          </a:xfrm>
          <a:prstGeom prst="rect">
            <a:avLst/>
          </a:prstGeom>
          <a:solidFill>
            <a:srgbClr val="232F3E"/>
          </a:solidFill>
        </p:spPr>
      </p:sp>
      <p:sp>
        <p:nvSpPr>
          <p:cNvPr id="7" name="Shape 5"/>
          <p:cNvSpPr/>
          <p:nvPr/>
        </p:nvSpPr>
        <p:spPr>
          <a:xfrm>
            <a:off x="731520" y="2331720"/>
            <a:ext cx="109728" cy="109728"/>
          </a:xfrm>
          <a:prstGeom prst="ellipse">
            <a:avLst/>
          </a:prstGeom>
          <a:solidFill>
            <a:srgbClr val="E8544E"/>
          </a:solidFill>
        </p:spPr>
      </p:sp>
      <p:sp>
        <p:nvSpPr>
          <p:cNvPr id="8" name="Shape 6"/>
          <p:cNvSpPr/>
          <p:nvPr/>
        </p:nvSpPr>
        <p:spPr>
          <a:xfrm>
            <a:off x="987552" y="2331720"/>
            <a:ext cx="109728" cy="109728"/>
          </a:xfrm>
          <a:prstGeom prst="ellipse">
            <a:avLst/>
          </a:prstGeom>
          <a:solidFill>
            <a:srgbClr val="F2C94C"/>
          </a:solidFill>
        </p:spPr>
      </p:sp>
      <p:sp>
        <p:nvSpPr>
          <p:cNvPr id="9" name="Shape 7"/>
          <p:cNvSpPr/>
          <p:nvPr/>
        </p:nvSpPr>
        <p:spPr>
          <a:xfrm>
            <a:off x="1243584" y="2331720"/>
            <a:ext cx="109728" cy="109728"/>
          </a:xfrm>
          <a:prstGeom prst="ellipse">
            <a:avLst/>
          </a:prstGeom>
          <a:solidFill>
            <a:srgbClr val="6FCF97"/>
          </a:solidFill>
        </p:spPr>
      </p:sp>
      <p:sp>
        <p:nvSpPr>
          <p:cNvPr id="10" name="Text 8"/>
          <p:cNvSpPr/>
          <p:nvPr/>
        </p:nvSpPr>
        <p:spPr>
          <a:xfrm>
            <a:off x="4572000" y="2194560"/>
            <a:ext cx="3017520" cy="384048"/>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aws.amazon.com/console</a:t>
            </a:r>
            <a:endParaRPr lang="en-US" sz="1050" dirty="0"/>
          </a:p>
        </p:txBody>
      </p:sp>
      <p:sp>
        <p:nvSpPr>
          <p:cNvPr id="11" name="Shape 9"/>
          <p:cNvSpPr/>
          <p:nvPr/>
        </p:nvSpPr>
        <p:spPr>
          <a:xfrm>
            <a:off x="868680" y="2834640"/>
            <a:ext cx="594360" cy="594360"/>
          </a:xfrm>
          <a:prstGeom prst="ellipse">
            <a:avLst/>
          </a:prstGeom>
          <a:solidFill>
            <a:srgbClr val="232F3E"/>
          </a:solidFill>
        </p:spPr>
      </p:sp>
      <p:pic>
        <p:nvPicPr>
          <p:cNvPr id="12" name="Image 0" descr="/home/claude/icons/users_orange.png"/>
          <p:cNvPicPr>
            <a:picLocks noChangeAspect="1"/>
          </p:cNvPicPr>
          <p:nvPr/>
        </p:nvPicPr>
        <p:blipFill>
          <a:blip r:embed="rId1"/>
          <a:stretch>
            <a:fillRect/>
          </a:stretch>
        </p:blipFill>
        <p:spPr>
          <a:xfrm>
            <a:off x="1011326" y="2977286"/>
            <a:ext cx="309067" cy="309067"/>
          </a:xfrm>
          <a:prstGeom prst="rect">
            <a:avLst/>
          </a:prstGeom>
        </p:spPr>
      </p:pic>
      <p:sp>
        <p:nvSpPr>
          <p:cNvPr id="13" name="Text 10"/>
          <p:cNvSpPr/>
          <p:nvPr/>
        </p:nvSpPr>
        <p:spPr>
          <a:xfrm>
            <a:off x="1581912" y="2816352"/>
            <a:ext cx="3566160" cy="32004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Services Menu</a:t>
            </a:r>
            <a:endParaRPr lang="en-US" sz="1350" dirty="0"/>
          </a:p>
        </p:txBody>
      </p:sp>
      <p:sp>
        <p:nvSpPr>
          <p:cNvPr id="14" name="Text 11"/>
          <p:cNvSpPr/>
          <p:nvPr/>
        </p:nvSpPr>
        <p:spPr>
          <a:xfrm>
            <a:off x="1581912" y="3127248"/>
            <a:ext cx="4114800" cy="640080"/>
          </a:xfrm>
          <a:prstGeom prst="rect">
            <a:avLst/>
          </a:prstGeom>
          <a:noFill/>
        </p:spPr>
        <p:txBody>
          <a:bodyPr wrap="square" lIns="0" tIns="0" rIns="0" bIns="0" rtlCol="0" anchor="ctr"/>
          <a:lstStyle/>
          <a:p>
            <a:pPr marL="0" indent="0">
              <a:lnSpc>
                <a:spcPct val="110000"/>
              </a:lnSpc>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Search or browse 200+ AWS services by category</a:t>
            </a:r>
            <a:endParaRPr lang="en-US" sz="1100" dirty="0"/>
          </a:p>
        </p:txBody>
      </p:sp>
      <p:sp>
        <p:nvSpPr>
          <p:cNvPr id="15" name="Shape 12"/>
          <p:cNvSpPr/>
          <p:nvPr/>
        </p:nvSpPr>
        <p:spPr>
          <a:xfrm>
            <a:off x="6217920" y="2834640"/>
            <a:ext cx="594360" cy="594360"/>
          </a:xfrm>
          <a:prstGeom prst="ellipse">
            <a:avLst/>
          </a:prstGeom>
          <a:solidFill>
            <a:srgbClr val="232F3E"/>
          </a:solidFill>
        </p:spPr>
      </p:sp>
      <p:pic>
        <p:nvPicPr>
          <p:cNvPr id="16" name="Image 1" descr="/home/claude/icons/globe_orange.png"/>
          <p:cNvPicPr>
            <a:picLocks noChangeAspect="1"/>
          </p:cNvPicPr>
          <p:nvPr/>
        </p:nvPicPr>
        <p:blipFill>
          <a:blip r:embed="rId2"/>
          <a:stretch>
            <a:fillRect/>
          </a:stretch>
        </p:blipFill>
        <p:spPr>
          <a:xfrm>
            <a:off x="6360566" y="2977286"/>
            <a:ext cx="309067" cy="309067"/>
          </a:xfrm>
          <a:prstGeom prst="rect">
            <a:avLst/>
          </a:prstGeom>
        </p:spPr>
      </p:pic>
      <p:sp>
        <p:nvSpPr>
          <p:cNvPr id="17" name="Text 13"/>
          <p:cNvSpPr/>
          <p:nvPr/>
        </p:nvSpPr>
        <p:spPr>
          <a:xfrm>
            <a:off x="6931152" y="2816352"/>
            <a:ext cx="3566160" cy="32004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Region Selector</a:t>
            </a:r>
            <a:endParaRPr lang="en-US" sz="1350" dirty="0"/>
          </a:p>
        </p:txBody>
      </p:sp>
      <p:sp>
        <p:nvSpPr>
          <p:cNvPr id="18" name="Text 14"/>
          <p:cNvSpPr/>
          <p:nvPr/>
        </p:nvSpPr>
        <p:spPr>
          <a:xfrm>
            <a:off x="6931152" y="3127248"/>
            <a:ext cx="4114800" cy="640080"/>
          </a:xfrm>
          <a:prstGeom prst="rect">
            <a:avLst/>
          </a:prstGeom>
          <a:noFill/>
        </p:spPr>
        <p:txBody>
          <a:bodyPr wrap="square" lIns="0" tIns="0" rIns="0" bIns="0" rtlCol="0" anchor="ctr"/>
          <a:lstStyle/>
          <a:p>
            <a:pPr marL="0" indent="0">
              <a:lnSpc>
                <a:spcPct val="110000"/>
              </a:lnSpc>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Switch between geographic regions from the top bar</a:t>
            </a:r>
            <a:endParaRPr lang="en-US" sz="1100" dirty="0"/>
          </a:p>
        </p:txBody>
      </p:sp>
      <p:sp>
        <p:nvSpPr>
          <p:cNvPr id="19" name="Shape 15"/>
          <p:cNvSpPr/>
          <p:nvPr/>
        </p:nvSpPr>
        <p:spPr>
          <a:xfrm>
            <a:off x="868680" y="4343400"/>
            <a:ext cx="594360" cy="594360"/>
          </a:xfrm>
          <a:prstGeom prst="ellipse">
            <a:avLst/>
          </a:prstGeom>
          <a:solidFill>
            <a:srgbClr val="232F3E"/>
          </a:solidFill>
        </p:spPr>
      </p:sp>
      <p:pic>
        <p:nvPicPr>
          <p:cNvPr id="20" name="Image 2" descr="/home/claude/icons/chart_orange.png"/>
          <p:cNvPicPr>
            <a:picLocks noChangeAspect="1"/>
          </p:cNvPicPr>
          <p:nvPr/>
        </p:nvPicPr>
        <p:blipFill>
          <a:blip r:embed="rId3"/>
          <a:stretch>
            <a:fillRect/>
          </a:stretch>
        </p:blipFill>
        <p:spPr>
          <a:xfrm>
            <a:off x="1011326" y="4486046"/>
            <a:ext cx="309067" cy="309067"/>
          </a:xfrm>
          <a:prstGeom prst="rect">
            <a:avLst/>
          </a:prstGeom>
        </p:spPr>
      </p:pic>
      <p:sp>
        <p:nvSpPr>
          <p:cNvPr id="21" name="Text 16"/>
          <p:cNvSpPr/>
          <p:nvPr/>
        </p:nvSpPr>
        <p:spPr>
          <a:xfrm>
            <a:off x="1581912" y="4325112"/>
            <a:ext cx="3566160" cy="32004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Billing Dashboard</a:t>
            </a:r>
            <a:endParaRPr lang="en-US" sz="1350" dirty="0"/>
          </a:p>
        </p:txBody>
      </p:sp>
      <p:sp>
        <p:nvSpPr>
          <p:cNvPr id="22" name="Text 17"/>
          <p:cNvSpPr/>
          <p:nvPr/>
        </p:nvSpPr>
        <p:spPr>
          <a:xfrm>
            <a:off x="1581912" y="4636008"/>
            <a:ext cx="4114800" cy="640080"/>
          </a:xfrm>
          <a:prstGeom prst="rect">
            <a:avLst/>
          </a:prstGeom>
          <a:noFill/>
        </p:spPr>
        <p:txBody>
          <a:bodyPr wrap="square" lIns="0" tIns="0" rIns="0" bIns="0" rtlCol="0" anchor="ctr"/>
          <a:lstStyle/>
          <a:p>
            <a:pPr marL="0" indent="0">
              <a:lnSpc>
                <a:spcPct val="110000"/>
              </a:lnSpc>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Track current spend and forecast monthly costs</a:t>
            </a:r>
            <a:endParaRPr lang="en-US" sz="1100" dirty="0"/>
          </a:p>
        </p:txBody>
      </p:sp>
      <p:sp>
        <p:nvSpPr>
          <p:cNvPr id="23" name="Shape 18"/>
          <p:cNvSpPr/>
          <p:nvPr/>
        </p:nvSpPr>
        <p:spPr>
          <a:xfrm>
            <a:off x="6217920" y="4343400"/>
            <a:ext cx="594360" cy="594360"/>
          </a:xfrm>
          <a:prstGeom prst="ellipse">
            <a:avLst/>
          </a:prstGeom>
          <a:solidFill>
            <a:srgbClr val="232F3E"/>
          </a:solidFill>
        </p:spPr>
      </p:sp>
      <p:pic>
        <p:nvPicPr>
          <p:cNvPr id="24" name="Image 3" descr="/home/claude/icons/cogs_orange.png"/>
          <p:cNvPicPr>
            <a:picLocks noChangeAspect="1"/>
          </p:cNvPicPr>
          <p:nvPr/>
        </p:nvPicPr>
        <p:blipFill>
          <a:blip r:embed="rId4"/>
          <a:stretch>
            <a:fillRect/>
          </a:stretch>
        </p:blipFill>
        <p:spPr>
          <a:xfrm>
            <a:off x="6360566" y="4486046"/>
            <a:ext cx="309067" cy="309067"/>
          </a:xfrm>
          <a:prstGeom prst="rect">
            <a:avLst/>
          </a:prstGeom>
        </p:spPr>
      </p:pic>
      <p:sp>
        <p:nvSpPr>
          <p:cNvPr id="25" name="Text 19"/>
          <p:cNvSpPr/>
          <p:nvPr/>
        </p:nvSpPr>
        <p:spPr>
          <a:xfrm>
            <a:off x="6931152" y="4325112"/>
            <a:ext cx="3566160" cy="32004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Resource Groups</a:t>
            </a:r>
            <a:endParaRPr lang="en-US" sz="1350" dirty="0"/>
          </a:p>
        </p:txBody>
      </p:sp>
      <p:sp>
        <p:nvSpPr>
          <p:cNvPr id="26" name="Text 20"/>
          <p:cNvSpPr/>
          <p:nvPr/>
        </p:nvSpPr>
        <p:spPr>
          <a:xfrm>
            <a:off x="6931152" y="4636008"/>
            <a:ext cx="4114800" cy="640080"/>
          </a:xfrm>
          <a:prstGeom prst="rect">
            <a:avLst/>
          </a:prstGeom>
          <a:noFill/>
        </p:spPr>
        <p:txBody>
          <a:bodyPr wrap="square" lIns="0" tIns="0" rIns="0" bIns="0" rtlCol="0" anchor="ctr"/>
          <a:lstStyle/>
          <a:p>
            <a:pPr marL="0" indent="0">
              <a:lnSpc>
                <a:spcPct val="110000"/>
              </a:lnSpc>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Organize and tag related resources for easy management</a:t>
            </a:r>
            <a:endParaRPr lang="en-US" sz="1100" dirty="0"/>
          </a:p>
        </p:txBody>
      </p:sp>
      <p:sp>
        <p:nvSpPr>
          <p:cNvPr id="27" name="Text 21"/>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8" name="Text 22"/>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25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3 · AWS DEEP DIVE</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AWS Core Services — A Quick Map</a:t>
            </a:r>
            <a:endParaRPr lang="en-US" sz="3000" dirty="0"/>
          </a:p>
        </p:txBody>
      </p:sp>
      <p:sp>
        <p:nvSpPr>
          <p:cNvPr id="4" name="Shape 2"/>
          <p:cNvSpPr/>
          <p:nvPr/>
        </p:nvSpPr>
        <p:spPr>
          <a:xfrm>
            <a:off x="548640" y="1874520"/>
            <a:ext cx="3520440" cy="1737360"/>
          </a:xfrm>
          <a:prstGeom prst="roundRect">
            <a:avLst>
              <a:gd name="adj" fmla="val 5263"/>
            </a:avLst>
          </a:prstGeom>
          <a:solidFill>
            <a:srgbClr val="37475A"/>
          </a:solidFill>
        </p:spPr>
      </p:sp>
      <p:sp>
        <p:nvSpPr>
          <p:cNvPr id="5" name="Shape 3"/>
          <p:cNvSpPr/>
          <p:nvPr/>
        </p:nvSpPr>
        <p:spPr>
          <a:xfrm>
            <a:off x="804672" y="2103120"/>
            <a:ext cx="640080" cy="640080"/>
          </a:xfrm>
          <a:prstGeom prst="ellipse">
            <a:avLst/>
          </a:prstGeom>
          <a:solidFill>
            <a:srgbClr val="FF9900"/>
          </a:solidFill>
        </p:spPr>
      </p:sp>
      <p:pic>
        <p:nvPicPr>
          <p:cNvPr id="6" name="Image 0" descr="/home/claude/icons/server_navy.png"/>
          <p:cNvPicPr>
            <a:picLocks noChangeAspect="1"/>
          </p:cNvPicPr>
          <p:nvPr/>
        </p:nvPicPr>
        <p:blipFill>
          <a:blip r:embed="rId1"/>
          <a:stretch>
            <a:fillRect/>
          </a:stretch>
        </p:blipFill>
        <p:spPr>
          <a:xfrm>
            <a:off x="958291" y="2256739"/>
            <a:ext cx="332842" cy="332842"/>
          </a:xfrm>
          <a:prstGeom prst="rect">
            <a:avLst/>
          </a:prstGeom>
        </p:spPr>
      </p:pic>
      <p:sp>
        <p:nvSpPr>
          <p:cNvPr id="7" name="Text 4"/>
          <p:cNvSpPr/>
          <p:nvPr/>
        </p:nvSpPr>
        <p:spPr>
          <a:xfrm>
            <a:off x="1600200" y="2148840"/>
            <a:ext cx="2286000" cy="36576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Compute</a:t>
            </a:r>
            <a:endParaRPr lang="en-US" sz="1450" dirty="0"/>
          </a:p>
        </p:txBody>
      </p:sp>
      <p:sp>
        <p:nvSpPr>
          <p:cNvPr id="8" name="Text 5"/>
          <p:cNvSpPr/>
          <p:nvPr/>
        </p:nvSpPr>
        <p:spPr>
          <a:xfrm>
            <a:off x="804672" y="2926080"/>
            <a:ext cx="3063240" cy="54864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EC2 · Lambda · Elastic Beanstalk</a:t>
            </a:r>
            <a:endParaRPr lang="en-US" sz="1100" dirty="0"/>
          </a:p>
        </p:txBody>
      </p:sp>
      <p:sp>
        <p:nvSpPr>
          <p:cNvPr id="9" name="Shape 6"/>
          <p:cNvSpPr/>
          <p:nvPr/>
        </p:nvSpPr>
        <p:spPr>
          <a:xfrm>
            <a:off x="4297680" y="1874520"/>
            <a:ext cx="3520440" cy="1737360"/>
          </a:xfrm>
          <a:prstGeom prst="roundRect">
            <a:avLst>
              <a:gd name="adj" fmla="val 5263"/>
            </a:avLst>
          </a:prstGeom>
          <a:solidFill>
            <a:srgbClr val="37475A"/>
          </a:solidFill>
        </p:spPr>
      </p:sp>
      <p:sp>
        <p:nvSpPr>
          <p:cNvPr id="10" name="Shape 7"/>
          <p:cNvSpPr/>
          <p:nvPr/>
        </p:nvSpPr>
        <p:spPr>
          <a:xfrm>
            <a:off x="4553712" y="2103120"/>
            <a:ext cx="640080" cy="640080"/>
          </a:xfrm>
          <a:prstGeom prst="ellipse">
            <a:avLst/>
          </a:prstGeom>
          <a:solidFill>
            <a:srgbClr val="FF9900"/>
          </a:solidFill>
        </p:spPr>
      </p:sp>
      <p:pic>
        <p:nvPicPr>
          <p:cNvPr id="11" name="Image 1" descr="/home/claude/icons/database_navy.png"/>
          <p:cNvPicPr>
            <a:picLocks noChangeAspect="1"/>
          </p:cNvPicPr>
          <p:nvPr/>
        </p:nvPicPr>
        <p:blipFill>
          <a:blip r:embed="rId2"/>
          <a:stretch>
            <a:fillRect/>
          </a:stretch>
        </p:blipFill>
        <p:spPr>
          <a:xfrm>
            <a:off x="4707331" y="2256739"/>
            <a:ext cx="332842" cy="332842"/>
          </a:xfrm>
          <a:prstGeom prst="rect">
            <a:avLst/>
          </a:prstGeom>
        </p:spPr>
      </p:pic>
      <p:sp>
        <p:nvSpPr>
          <p:cNvPr id="12" name="Text 8"/>
          <p:cNvSpPr/>
          <p:nvPr/>
        </p:nvSpPr>
        <p:spPr>
          <a:xfrm>
            <a:off x="5349240" y="2148840"/>
            <a:ext cx="2286000" cy="36576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Storage</a:t>
            </a:r>
            <a:endParaRPr lang="en-US" sz="1450" dirty="0"/>
          </a:p>
        </p:txBody>
      </p:sp>
      <p:sp>
        <p:nvSpPr>
          <p:cNvPr id="13" name="Text 9"/>
          <p:cNvSpPr/>
          <p:nvPr/>
        </p:nvSpPr>
        <p:spPr>
          <a:xfrm>
            <a:off x="4553712" y="2926080"/>
            <a:ext cx="3063240" cy="54864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S3 · EBS · Glacier</a:t>
            </a:r>
            <a:endParaRPr lang="en-US" sz="1100" dirty="0"/>
          </a:p>
        </p:txBody>
      </p:sp>
      <p:sp>
        <p:nvSpPr>
          <p:cNvPr id="14" name="Shape 10"/>
          <p:cNvSpPr/>
          <p:nvPr/>
        </p:nvSpPr>
        <p:spPr>
          <a:xfrm>
            <a:off x="8046720" y="1874520"/>
            <a:ext cx="3520440" cy="1737360"/>
          </a:xfrm>
          <a:prstGeom prst="roundRect">
            <a:avLst>
              <a:gd name="adj" fmla="val 5263"/>
            </a:avLst>
          </a:prstGeom>
          <a:solidFill>
            <a:srgbClr val="37475A"/>
          </a:solidFill>
        </p:spPr>
      </p:sp>
      <p:sp>
        <p:nvSpPr>
          <p:cNvPr id="15" name="Shape 11"/>
          <p:cNvSpPr/>
          <p:nvPr/>
        </p:nvSpPr>
        <p:spPr>
          <a:xfrm>
            <a:off x="8302752" y="2103120"/>
            <a:ext cx="640080" cy="640080"/>
          </a:xfrm>
          <a:prstGeom prst="ellipse">
            <a:avLst/>
          </a:prstGeom>
          <a:solidFill>
            <a:srgbClr val="FF9900"/>
          </a:solidFill>
        </p:spPr>
      </p:sp>
      <p:pic>
        <p:nvPicPr>
          <p:cNvPr id="16" name="Image 2" descr="/home/claude/icons/cubes_navy.png"/>
          <p:cNvPicPr>
            <a:picLocks noChangeAspect="1"/>
          </p:cNvPicPr>
          <p:nvPr/>
        </p:nvPicPr>
        <p:blipFill>
          <a:blip r:embed="rId3"/>
          <a:stretch>
            <a:fillRect/>
          </a:stretch>
        </p:blipFill>
        <p:spPr>
          <a:xfrm>
            <a:off x="8456371" y="2256739"/>
            <a:ext cx="332842" cy="332842"/>
          </a:xfrm>
          <a:prstGeom prst="rect">
            <a:avLst/>
          </a:prstGeom>
        </p:spPr>
      </p:pic>
      <p:sp>
        <p:nvSpPr>
          <p:cNvPr id="17" name="Text 12"/>
          <p:cNvSpPr/>
          <p:nvPr/>
        </p:nvSpPr>
        <p:spPr>
          <a:xfrm>
            <a:off x="9098280" y="2148840"/>
            <a:ext cx="2286000" cy="36576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Database</a:t>
            </a:r>
            <a:endParaRPr lang="en-US" sz="1450" dirty="0"/>
          </a:p>
        </p:txBody>
      </p:sp>
      <p:sp>
        <p:nvSpPr>
          <p:cNvPr id="18" name="Text 13"/>
          <p:cNvSpPr/>
          <p:nvPr/>
        </p:nvSpPr>
        <p:spPr>
          <a:xfrm>
            <a:off x="8302752" y="2926080"/>
            <a:ext cx="3063240" cy="54864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RDS · DynamoDB · Aurora</a:t>
            </a:r>
            <a:endParaRPr lang="en-US" sz="1100" dirty="0"/>
          </a:p>
        </p:txBody>
      </p:sp>
      <p:sp>
        <p:nvSpPr>
          <p:cNvPr id="19" name="Shape 14"/>
          <p:cNvSpPr/>
          <p:nvPr/>
        </p:nvSpPr>
        <p:spPr>
          <a:xfrm>
            <a:off x="548640" y="3840480"/>
            <a:ext cx="3520440" cy="1737360"/>
          </a:xfrm>
          <a:prstGeom prst="roundRect">
            <a:avLst>
              <a:gd name="adj" fmla="val 5263"/>
            </a:avLst>
          </a:prstGeom>
          <a:solidFill>
            <a:srgbClr val="37475A"/>
          </a:solidFill>
        </p:spPr>
      </p:sp>
      <p:sp>
        <p:nvSpPr>
          <p:cNvPr id="20" name="Shape 15"/>
          <p:cNvSpPr/>
          <p:nvPr/>
        </p:nvSpPr>
        <p:spPr>
          <a:xfrm>
            <a:off x="804672" y="4069080"/>
            <a:ext cx="640080" cy="640080"/>
          </a:xfrm>
          <a:prstGeom prst="ellipse">
            <a:avLst/>
          </a:prstGeom>
          <a:solidFill>
            <a:srgbClr val="FF9900"/>
          </a:solidFill>
        </p:spPr>
      </p:sp>
      <p:pic>
        <p:nvPicPr>
          <p:cNvPr id="21" name="Image 3" descr="/home/claude/icons/bell_navy.png"/>
          <p:cNvPicPr>
            <a:picLocks noChangeAspect="1"/>
          </p:cNvPicPr>
          <p:nvPr/>
        </p:nvPicPr>
        <p:blipFill>
          <a:blip r:embed="rId4"/>
          <a:stretch>
            <a:fillRect/>
          </a:stretch>
        </p:blipFill>
        <p:spPr>
          <a:xfrm>
            <a:off x="958291" y="4222699"/>
            <a:ext cx="332842" cy="332842"/>
          </a:xfrm>
          <a:prstGeom prst="rect">
            <a:avLst/>
          </a:prstGeom>
        </p:spPr>
      </p:pic>
      <p:sp>
        <p:nvSpPr>
          <p:cNvPr id="22" name="Text 16"/>
          <p:cNvSpPr/>
          <p:nvPr/>
        </p:nvSpPr>
        <p:spPr>
          <a:xfrm>
            <a:off x="1600200" y="4114800"/>
            <a:ext cx="2286000" cy="36576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Messaging</a:t>
            </a:r>
            <a:endParaRPr lang="en-US" sz="1450" dirty="0"/>
          </a:p>
        </p:txBody>
      </p:sp>
      <p:sp>
        <p:nvSpPr>
          <p:cNvPr id="23" name="Text 17"/>
          <p:cNvSpPr/>
          <p:nvPr/>
        </p:nvSpPr>
        <p:spPr>
          <a:xfrm>
            <a:off x="804672" y="4892040"/>
            <a:ext cx="3063240" cy="54864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SNS · SQS · EventBridge</a:t>
            </a:r>
            <a:endParaRPr lang="en-US" sz="1100" dirty="0"/>
          </a:p>
        </p:txBody>
      </p:sp>
      <p:sp>
        <p:nvSpPr>
          <p:cNvPr id="24" name="Shape 18"/>
          <p:cNvSpPr/>
          <p:nvPr/>
        </p:nvSpPr>
        <p:spPr>
          <a:xfrm>
            <a:off x="4297680" y="3840480"/>
            <a:ext cx="3520440" cy="1737360"/>
          </a:xfrm>
          <a:prstGeom prst="roundRect">
            <a:avLst>
              <a:gd name="adj" fmla="val 5263"/>
            </a:avLst>
          </a:prstGeom>
          <a:solidFill>
            <a:srgbClr val="37475A"/>
          </a:solidFill>
        </p:spPr>
      </p:sp>
      <p:sp>
        <p:nvSpPr>
          <p:cNvPr id="25" name="Shape 19"/>
          <p:cNvSpPr/>
          <p:nvPr/>
        </p:nvSpPr>
        <p:spPr>
          <a:xfrm>
            <a:off x="4553712" y="4069080"/>
            <a:ext cx="640080" cy="640080"/>
          </a:xfrm>
          <a:prstGeom prst="ellipse">
            <a:avLst/>
          </a:prstGeom>
          <a:solidFill>
            <a:srgbClr val="FF9900"/>
          </a:solidFill>
        </p:spPr>
      </p:sp>
      <p:pic>
        <p:nvPicPr>
          <p:cNvPr id="26" name="Image 4" descr="/home/claude/icons/network_navy.png"/>
          <p:cNvPicPr>
            <a:picLocks noChangeAspect="1"/>
          </p:cNvPicPr>
          <p:nvPr/>
        </p:nvPicPr>
        <p:blipFill>
          <a:blip r:embed="rId5"/>
          <a:stretch>
            <a:fillRect/>
          </a:stretch>
        </p:blipFill>
        <p:spPr>
          <a:xfrm>
            <a:off x="4707331" y="4222699"/>
            <a:ext cx="332842" cy="332842"/>
          </a:xfrm>
          <a:prstGeom prst="rect">
            <a:avLst/>
          </a:prstGeom>
        </p:spPr>
      </p:pic>
      <p:sp>
        <p:nvSpPr>
          <p:cNvPr id="27" name="Text 20"/>
          <p:cNvSpPr/>
          <p:nvPr/>
        </p:nvSpPr>
        <p:spPr>
          <a:xfrm>
            <a:off x="5349240" y="4114800"/>
            <a:ext cx="2286000" cy="36576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Networking</a:t>
            </a:r>
            <a:endParaRPr lang="en-US" sz="1450" dirty="0"/>
          </a:p>
        </p:txBody>
      </p:sp>
      <p:sp>
        <p:nvSpPr>
          <p:cNvPr id="28" name="Text 21"/>
          <p:cNvSpPr/>
          <p:nvPr/>
        </p:nvSpPr>
        <p:spPr>
          <a:xfrm>
            <a:off x="4553712" y="4892040"/>
            <a:ext cx="3063240" cy="54864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VPC · Route 53 · CloudFront</a:t>
            </a:r>
            <a:endParaRPr lang="en-US" sz="1100" dirty="0"/>
          </a:p>
        </p:txBody>
      </p:sp>
      <p:sp>
        <p:nvSpPr>
          <p:cNvPr id="29" name="Shape 22"/>
          <p:cNvSpPr/>
          <p:nvPr/>
        </p:nvSpPr>
        <p:spPr>
          <a:xfrm>
            <a:off x="8046720" y="3840480"/>
            <a:ext cx="3520440" cy="1737360"/>
          </a:xfrm>
          <a:prstGeom prst="roundRect">
            <a:avLst>
              <a:gd name="adj" fmla="val 5263"/>
            </a:avLst>
          </a:prstGeom>
          <a:solidFill>
            <a:srgbClr val="37475A"/>
          </a:solidFill>
        </p:spPr>
      </p:sp>
      <p:sp>
        <p:nvSpPr>
          <p:cNvPr id="30" name="Shape 23"/>
          <p:cNvSpPr/>
          <p:nvPr/>
        </p:nvSpPr>
        <p:spPr>
          <a:xfrm>
            <a:off x="8302752" y="4069080"/>
            <a:ext cx="640080" cy="640080"/>
          </a:xfrm>
          <a:prstGeom prst="ellipse">
            <a:avLst/>
          </a:prstGeom>
          <a:solidFill>
            <a:srgbClr val="FF9900"/>
          </a:solidFill>
        </p:spPr>
      </p:sp>
      <p:pic>
        <p:nvPicPr>
          <p:cNvPr id="31" name="Image 5" descr="/home/claude/icons/shield_navy.png"/>
          <p:cNvPicPr>
            <a:picLocks noChangeAspect="1"/>
          </p:cNvPicPr>
          <p:nvPr/>
        </p:nvPicPr>
        <p:blipFill>
          <a:blip r:embed="rId6"/>
          <a:stretch>
            <a:fillRect/>
          </a:stretch>
        </p:blipFill>
        <p:spPr>
          <a:xfrm>
            <a:off x="8456371" y="4222699"/>
            <a:ext cx="332842" cy="332842"/>
          </a:xfrm>
          <a:prstGeom prst="rect">
            <a:avLst/>
          </a:prstGeom>
        </p:spPr>
      </p:pic>
      <p:sp>
        <p:nvSpPr>
          <p:cNvPr id="32" name="Text 24"/>
          <p:cNvSpPr/>
          <p:nvPr/>
        </p:nvSpPr>
        <p:spPr>
          <a:xfrm>
            <a:off x="9098280" y="4114800"/>
            <a:ext cx="2286000" cy="36576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Security &amp; Identity</a:t>
            </a:r>
            <a:endParaRPr lang="en-US" sz="1450" dirty="0"/>
          </a:p>
        </p:txBody>
      </p:sp>
      <p:sp>
        <p:nvSpPr>
          <p:cNvPr id="33" name="Text 25"/>
          <p:cNvSpPr/>
          <p:nvPr/>
        </p:nvSpPr>
        <p:spPr>
          <a:xfrm>
            <a:off x="8302752" y="4892040"/>
            <a:ext cx="3063240" cy="54864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IAM · KMS · Cognito</a:t>
            </a:r>
            <a:endParaRPr lang="en-US" sz="1100" dirty="0"/>
          </a:p>
        </p:txBody>
      </p:sp>
      <p:sp>
        <p:nvSpPr>
          <p:cNvPr id="34" name="Text 26"/>
          <p:cNvSpPr/>
          <p:nvPr/>
        </p:nvSpPr>
        <p:spPr>
          <a:xfrm>
            <a:off x="548640" y="5897880"/>
            <a:ext cx="10972800" cy="320040"/>
          </a:xfrm>
          <a:prstGeom prst="rect">
            <a:avLst/>
          </a:prstGeom>
          <a:noFill/>
        </p:spPr>
        <p:txBody>
          <a:bodyPr wrap="square" lIns="0" tIns="0" rIns="0" bIns="0" rtlCol="0" anchor="ctr"/>
          <a:lstStyle/>
          <a:p>
            <a:pPr marL="0" indent="0" algn="ctr">
              <a:buNone/>
            </a:pPr>
            <a:r>
              <a:rPr lang="en-US" sz="1200" i="1" dirty="0">
                <a:solidFill>
                  <a:srgbClr val="FF9900"/>
                </a:solidFill>
                <a:latin typeface="Calibri" panose="020F0502020204030204" pitchFamily="34" charset="0"/>
                <a:ea typeface="Calibri" panose="020F0502020204030204" pitchFamily="34" charset="-122"/>
                <a:cs typeface="Calibri" panose="020F0502020204030204" pitchFamily="34" charset="-120"/>
              </a:rPr>
              <a:t>This workshop focuses on the highlighted path: EC2 → S3 → SNS → Elastic Beanstalk</a:t>
            </a:r>
            <a:endParaRPr lang="en-US" sz="1200" dirty="0"/>
          </a:p>
        </p:txBody>
      </p:sp>
      <p:sp>
        <p:nvSpPr>
          <p:cNvPr id="35" name="Text 27"/>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6" name="Text 28"/>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26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37475A"/>
          </a:solidFill>
        </p:spPr>
      </p:sp>
      <p:sp>
        <p:nvSpPr>
          <p:cNvPr id="3" name="Shape 1"/>
          <p:cNvSpPr/>
          <p:nvPr/>
        </p:nvSpPr>
        <p:spPr>
          <a:xfrm>
            <a:off x="-1280160" y="4937760"/>
            <a:ext cx="3291840" cy="3291840"/>
          </a:xfrm>
          <a:prstGeom prst="ellipse">
            <a:avLst/>
          </a:prstGeom>
          <a:solidFill>
            <a:srgbClr val="37475A"/>
          </a:solidFill>
        </p:spPr>
      </p:sp>
      <p:sp>
        <p:nvSpPr>
          <p:cNvPr id="4" name="Shape 2"/>
          <p:cNvSpPr/>
          <p:nvPr/>
        </p:nvSpPr>
        <p:spPr>
          <a:xfrm>
            <a:off x="822960" y="1965960"/>
            <a:ext cx="1051560" cy="1051560"/>
          </a:xfrm>
          <a:prstGeom prst="ellipse">
            <a:avLst/>
          </a:prstGeom>
          <a:solidFill>
            <a:srgbClr val="FF9900"/>
          </a:solidFill>
        </p:spPr>
      </p:sp>
      <p:pic>
        <p:nvPicPr>
          <p:cNvPr id="5" name="Image 0" descr="/home/claude/icons/server_navy.png"/>
          <p:cNvPicPr>
            <a:picLocks noChangeAspect="1"/>
          </p:cNvPicPr>
          <p:nvPr/>
        </p:nvPicPr>
        <p:blipFill>
          <a:blip r:embed="rId1"/>
          <a:stretch>
            <a:fillRect/>
          </a:stretch>
        </p:blipFill>
        <p:spPr>
          <a:xfrm>
            <a:off x="1075334" y="2218334"/>
            <a:ext cx="546811" cy="546811"/>
          </a:xfrm>
          <a:prstGeom prst="rect">
            <a:avLst/>
          </a:prstGeom>
        </p:spPr>
      </p:pic>
      <p:sp>
        <p:nvSpPr>
          <p:cNvPr id="6" name="Text 3"/>
          <p:cNvSpPr/>
          <p:nvPr/>
        </p:nvSpPr>
        <p:spPr>
          <a:xfrm>
            <a:off x="822960" y="3200400"/>
            <a:ext cx="7315200" cy="365760"/>
          </a:xfrm>
          <a:prstGeom prst="rect">
            <a:avLst/>
          </a:prstGeom>
          <a:noFill/>
        </p:spPr>
        <p:txBody>
          <a:bodyPr wrap="square" lIns="0" tIns="0" rIns="0" bIns="0" rtlCol="0" anchor="ctr"/>
          <a:lstStyle/>
          <a:p>
            <a:pPr marL="0" indent="0">
              <a:buNone/>
            </a:pPr>
            <a:r>
              <a:rPr lang="en-US" sz="1500" b="1" kern="0" spc="3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4</a:t>
            </a:r>
            <a:endParaRPr lang="en-US" sz="1500" dirty="0"/>
          </a:p>
        </p:txBody>
      </p:sp>
      <p:sp>
        <p:nvSpPr>
          <p:cNvPr id="7" name="Text 4"/>
          <p:cNvSpPr/>
          <p:nvPr/>
        </p:nvSpPr>
        <p:spPr>
          <a:xfrm>
            <a:off x="777240" y="3566160"/>
            <a:ext cx="9601200" cy="1188720"/>
          </a:xfrm>
          <a:prstGeom prst="rect">
            <a:avLst/>
          </a:prstGeom>
          <a:noFill/>
        </p:spPr>
        <p:txBody>
          <a:bodyPr wrap="square" lIns="0" tIns="0" rIns="0" bIns="0" rtlCol="0" anchor="ctr"/>
          <a:lstStyle/>
          <a:p>
            <a:pPr marL="0" indent="0">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Amazon EC2</a:t>
            </a:r>
            <a:endParaRPr lang="en-US" sz="4200" dirty="0"/>
          </a:p>
        </p:txBody>
      </p:sp>
      <p:sp>
        <p:nvSpPr>
          <p:cNvPr id="8" name="Text 5"/>
          <p:cNvSpPr/>
          <p:nvPr/>
        </p:nvSpPr>
        <p:spPr>
          <a:xfrm>
            <a:off x="822960" y="4709160"/>
            <a:ext cx="8686800" cy="548640"/>
          </a:xfrm>
          <a:prstGeom prst="rect">
            <a:avLst/>
          </a:prstGeom>
          <a:noFill/>
        </p:spPr>
        <p:txBody>
          <a:bodyPr wrap="square" lIns="0" tIns="0" rIns="0" bIns="0"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Elastic Compute Cloud — resizable virtual servers in the cloud</a:t>
            </a:r>
            <a:endParaRPr lang="en-US" sz="1600" dirty="0"/>
          </a:p>
        </p:txBody>
      </p:sp>
      <p:sp>
        <p:nvSpPr>
          <p:cNvPr id="9" name="Text 6"/>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0" name="Text 7"/>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27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EC2</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What is Amazon EC2?</a:t>
            </a:r>
            <a:endParaRPr lang="en-US" sz="3000" dirty="0"/>
          </a:p>
        </p:txBody>
      </p:sp>
      <p:sp>
        <p:nvSpPr>
          <p:cNvPr id="4" name="Text 2"/>
          <p:cNvSpPr/>
          <p:nvPr/>
        </p:nvSpPr>
        <p:spPr>
          <a:xfrm>
            <a:off x="548640" y="1691640"/>
            <a:ext cx="6492240" cy="1463040"/>
          </a:xfrm>
          <a:prstGeom prst="rect">
            <a:avLst/>
          </a:prstGeom>
          <a:noFill/>
        </p:spPr>
        <p:txBody>
          <a:bodyPr wrap="square" lIns="0" tIns="0" rIns="0" bIns="0" rtlCol="0" anchor="ctr"/>
          <a:lstStyle/>
          <a:p>
            <a:pPr marL="0" indent="0">
              <a:lnSpc>
                <a:spcPct val="125000"/>
              </a:lnSpc>
              <a:buNone/>
            </a:pPr>
            <a:r>
              <a:rPr lang="en-US" sz="1450" dirty="0">
                <a:solidFill>
                  <a:srgbClr val="232F3E"/>
                </a:solidFill>
                <a:latin typeface="Calibri" panose="020F0502020204030204" pitchFamily="34" charset="0"/>
                <a:ea typeface="Calibri" panose="020F0502020204030204" pitchFamily="34" charset="-122"/>
                <a:cs typeface="Calibri" panose="020F0502020204030204" pitchFamily="34" charset="-120"/>
              </a:rPr>
              <a:t>Amazon Elastic Compute Cloud (EC2) provides resizable virtual servers, called instances, in the cloud. You can launch as many or as few as you need, configure security and networking, and pay only for the compute time you use.</a:t>
            </a:r>
            <a:endParaRPr lang="en-US" sz="1450" dirty="0"/>
          </a:p>
        </p:txBody>
      </p:sp>
      <p:sp>
        <p:nvSpPr>
          <p:cNvPr id="5" name="Text 3"/>
          <p:cNvSpPr/>
          <p:nvPr/>
        </p:nvSpPr>
        <p:spPr>
          <a:xfrm>
            <a:off x="548640" y="3246120"/>
            <a:ext cx="6492240" cy="2377440"/>
          </a:xfrm>
          <a:prstGeom prst="rect">
            <a:avLst/>
          </a:prstGeom>
          <a:noFill/>
        </p:spPr>
        <p:txBody>
          <a:bodyPr wrap="square" lIns="0" tIns="0" rIns="0" bIns="0" rtlCol="0" anchor="ctr"/>
          <a:lstStyle/>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Full control over the operating system and installed software</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Launch an instance in minutes from a pre-built image</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Scale capacity up or down as demand changes</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Integrates with storage, networking &amp; security services</a:t>
            </a:r>
            <a:endParaRPr lang="en-US" sz="1350" dirty="0"/>
          </a:p>
        </p:txBody>
      </p:sp>
      <p:sp>
        <p:nvSpPr>
          <p:cNvPr id="6" name="Shape 4"/>
          <p:cNvSpPr/>
          <p:nvPr/>
        </p:nvSpPr>
        <p:spPr>
          <a:xfrm>
            <a:off x="7360920" y="1691640"/>
            <a:ext cx="4251960" cy="4206240"/>
          </a:xfrm>
          <a:prstGeom prst="roundRect">
            <a:avLst>
              <a:gd name="adj" fmla="val 2174"/>
            </a:avLst>
          </a:prstGeom>
          <a:solidFill>
            <a:srgbClr val="232F3E"/>
          </a:solidFill>
        </p:spPr>
      </p:sp>
      <p:sp>
        <p:nvSpPr>
          <p:cNvPr id="7" name="Shape 5"/>
          <p:cNvSpPr/>
          <p:nvPr/>
        </p:nvSpPr>
        <p:spPr>
          <a:xfrm>
            <a:off x="9144000" y="2011680"/>
            <a:ext cx="914400" cy="914400"/>
          </a:xfrm>
          <a:prstGeom prst="ellipse">
            <a:avLst/>
          </a:prstGeom>
          <a:solidFill>
            <a:srgbClr val="FF9900"/>
          </a:solidFill>
        </p:spPr>
      </p:sp>
      <p:pic>
        <p:nvPicPr>
          <p:cNvPr id="8" name="Image 0" descr="/home/claude/icons/server_navy.png"/>
          <p:cNvPicPr>
            <a:picLocks noChangeAspect="1"/>
          </p:cNvPicPr>
          <p:nvPr/>
        </p:nvPicPr>
        <p:blipFill>
          <a:blip r:embed="rId1"/>
          <a:stretch>
            <a:fillRect/>
          </a:stretch>
        </p:blipFill>
        <p:spPr>
          <a:xfrm>
            <a:off x="9363456" y="2231136"/>
            <a:ext cx="475488" cy="475488"/>
          </a:xfrm>
          <a:prstGeom prst="rect">
            <a:avLst/>
          </a:prstGeom>
        </p:spPr>
      </p:pic>
      <p:sp>
        <p:nvSpPr>
          <p:cNvPr id="9" name="Text 6"/>
          <p:cNvSpPr/>
          <p:nvPr/>
        </p:nvSpPr>
        <p:spPr>
          <a:xfrm>
            <a:off x="7635240" y="3154680"/>
            <a:ext cx="3657600" cy="59436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EC2 = Virtual Machine in the Cloud</a:t>
            </a:r>
            <a:endParaRPr lang="en-US" sz="1400" dirty="0"/>
          </a:p>
        </p:txBody>
      </p:sp>
      <p:sp>
        <p:nvSpPr>
          <p:cNvPr id="10" name="Text 7"/>
          <p:cNvSpPr/>
          <p:nvPr/>
        </p:nvSpPr>
        <p:spPr>
          <a:xfrm>
            <a:off x="7635240" y="3840480"/>
            <a:ext cx="3657600" cy="1828800"/>
          </a:xfrm>
          <a:prstGeom prst="rect">
            <a:avLst/>
          </a:prstGeom>
          <a:noFill/>
        </p:spPr>
        <p:txBody>
          <a:bodyPr wrap="square" lIns="0" tIns="0" rIns="0" bIns="0" rtlCol="0" anchor="ctr"/>
          <a:lstStyle/>
          <a:p>
            <a:pPr marL="0" indent="0" algn="ctr">
              <a:lnSpc>
                <a:spcPct val="120000"/>
              </a:lnSpc>
              <a:buNone/>
            </a:pP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Think of it as renting a computer that lives in an AWS data center — accessible remotely, configurable, and billed by the second or hour.</a:t>
            </a:r>
            <a:endParaRPr lang="en-US" sz="1200" dirty="0"/>
          </a:p>
        </p:txBody>
      </p:sp>
      <p:sp>
        <p:nvSpPr>
          <p:cNvPr id="11" name="Text 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2" name="Text 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28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EC2</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EC2 Use Cases</a:t>
            </a:r>
            <a:endParaRPr lang="en-US" sz="3000" dirty="0"/>
          </a:p>
        </p:txBody>
      </p:sp>
      <p:sp>
        <p:nvSpPr>
          <p:cNvPr id="4" name="Shape 2"/>
          <p:cNvSpPr/>
          <p:nvPr/>
        </p:nvSpPr>
        <p:spPr>
          <a:xfrm>
            <a:off x="548640" y="1737360"/>
            <a:ext cx="3520440" cy="1920240"/>
          </a:xfrm>
          <a:prstGeom prst="roundRect">
            <a:avLst>
              <a:gd name="adj" fmla="val 4762"/>
            </a:avLst>
          </a:prstGeom>
          <a:solidFill>
            <a:srgbClr val="F5F7FA"/>
          </a:solidFill>
        </p:spPr>
      </p:sp>
      <p:sp>
        <p:nvSpPr>
          <p:cNvPr id="5" name="Shape 3"/>
          <p:cNvSpPr/>
          <p:nvPr/>
        </p:nvSpPr>
        <p:spPr>
          <a:xfrm>
            <a:off x="804672" y="1965960"/>
            <a:ext cx="685800" cy="685800"/>
          </a:xfrm>
          <a:prstGeom prst="ellipse">
            <a:avLst/>
          </a:prstGeom>
          <a:solidFill>
            <a:srgbClr val="232F3E"/>
          </a:solidFill>
        </p:spPr>
      </p:sp>
      <p:pic>
        <p:nvPicPr>
          <p:cNvPr id="6" name="Image 0" descr="/home/claude/icons/laptop_orange.png"/>
          <p:cNvPicPr>
            <a:picLocks noChangeAspect="1"/>
          </p:cNvPicPr>
          <p:nvPr/>
        </p:nvPicPr>
        <p:blipFill>
          <a:blip r:embed="rId1"/>
          <a:stretch>
            <a:fillRect/>
          </a:stretch>
        </p:blipFill>
        <p:spPr>
          <a:xfrm>
            <a:off x="969264" y="2130552"/>
            <a:ext cx="356616" cy="356616"/>
          </a:xfrm>
          <a:prstGeom prst="rect">
            <a:avLst/>
          </a:prstGeom>
        </p:spPr>
      </p:pic>
      <p:sp>
        <p:nvSpPr>
          <p:cNvPr id="7" name="Text 4"/>
          <p:cNvSpPr/>
          <p:nvPr/>
        </p:nvSpPr>
        <p:spPr>
          <a:xfrm>
            <a:off x="804672" y="2743200"/>
            <a:ext cx="3063240" cy="41148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Web &amp; App Hosting</a:t>
            </a:r>
            <a:endParaRPr lang="en-US" sz="1350" dirty="0"/>
          </a:p>
        </p:txBody>
      </p:sp>
      <p:sp>
        <p:nvSpPr>
          <p:cNvPr id="8" name="Text 5"/>
          <p:cNvSpPr/>
          <p:nvPr/>
        </p:nvSpPr>
        <p:spPr>
          <a:xfrm>
            <a:off x="804672" y="3108960"/>
            <a:ext cx="3063240" cy="502920"/>
          </a:xfrm>
          <a:prstGeom prst="rect">
            <a:avLst/>
          </a:prstGeom>
          <a:noFill/>
        </p:spPr>
        <p:txBody>
          <a:bodyPr wrap="square" lIns="0" tIns="0" rIns="0" bIns="0" rtlCol="0" anchor="ctr"/>
          <a:lstStyle/>
          <a:p>
            <a:pPr marL="0" indent="0">
              <a:lnSpc>
                <a:spcPct val="110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Run websites and applications with full server control</a:t>
            </a:r>
            <a:endParaRPr lang="en-US" sz="1080" dirty="0"/>
          </a:p>
        </p:txBody>
      </p:sp>
      <p:sp>
        <p:nvSpPr>
          <p:cNvPr id="9" name="Shape 6"/>
          <p:cNvSpPr/>
          <p:nvPr/>
        </p:nvSpPr>
        <p:spPr>
          <a:xfrm>
            <a:off x="4297680" y="1737360"/>
            <a:ext cx="3520440" cy="1920240"/>
          </a:xfrm>
          <a:prstGeom prst="roundRect">
            <a:avLst>
              <a:gd name="adj" fmla="val 4762"/>
            </a:avLst>
          </a:prstGeom>
          <a:solidFill>
            <a:srgbClr val="F5F7FA"/>
          </a:solidFill>
        </p:spPr>
      </p:sp>
      <p:sp>
        <p:nvSpPr>
          <p:cNvPr id="10" name="Shape 7"/>
          <p:cNvSpPr/>
          <p:nvPr/>
        </p:nvSpPr>
        <p:spPr>
          <a:xfrm>
            <a:off x="4553712" y="1965960"/>
            <a:ext cx="685800" cy="685800"/>
          </a:xfrm>
          <a:prstGeom prst="ellipse">
            <a:avLst/>
          </a:prstGeom>
          <a:solidFill>
            <a:srgbClr val="232F3E"/>
          </a:solidFill>
        </p:spPr>
      </p:sp>
      <p:pic>
        <p:nvPicPr>
          <p:cNvPr id="11" name="Image 1" descr="/home/claude/icons/chart_orange.png"/>
          <p:cNvPicPr>
            <a:picLocks noChangeAspect="1"/>
          </p:cNvPicPr>
          <p:nvPr/>
        </p:nvPicPr>
        <p:blipFill>
          <a:blip r:embed="rId2"/>
          <a:stretch>
            <a:fillRect/>
          </a:stretch>
        </p:blipFill>
        <p:spPr>
          <a:xfrm>
            <a:off x="4718304" y="2130552"/>
            <a:ext cx="356616" cy="356616"/>
          </a:xfrm>
          <a:prstGeom prst="rect">
            <a:avLst/>
          </a:prstGeom>
        </p:spPr>
      </p:pic>
      <p:sp>
        <p:nvSpPr>
          <p:cNvPr id="12" name="Text 8"/>
          <p:cNvSpPr/>
          <p:nvPr/>
        </p:nvSpPr>
        <p:spPr>
          <a:xfrm>
            <a:off x="4553712" y="2743200"/>
            <a:ext cx="3063240" cy="41148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Big Data Processing</a:t>
            </a:r>
            <a:endParaRPr lang="en-US" sz="1350" dirty="0"/>
          </a:p>
        </p:txBody>
      </p:sp>
      <p:sp>
        <p:nvSpPr>
          <p:cNvPr id="13" name="Text 9"/>
          <p:cNvSpPr/>
          <p:nvPr/>
        </p:nvSpPr>
        <p:spPr>
          <a:xfrm>
            <a:off x="4553712" y="3108960"/>
            <a:ext cx="3063240" cy="502920"/>
          </a:xfrm>
          <a:prstGeom prst="rect">
            <a:avLst/>
          </a:prstGeom>
          <a:noFill/>
        </p:spPr>
        <p:txBody>
          <a:bodyPr wrap="square" lIns="0" tIns="0" rIns="0" bIns="0" rtlCol="0" anchor="ctr"/>
          <a:lstStyle/>
          <a:p>
            <a:pPr marL="0" indent="0">
              <a:lnSpc>
                <a:spcPct val="110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Crunch large datasets with high-performance instances</a:t>
            </a:r>
            <a:endParaRPr lang="en-US" sz="1080" dirty="0"/>
          </a:p>
        </p:txBody>
      </p:sp>
      <p:sp>
        <p:nvSpPr>
          <p:cNvPr id="14" name="Shape 10"/>
          <p:cNvSpPr/>
          <p:nvPr/>
        </p:nvSpPr>
        <p:spPr>
          <a:xfrm>
            <a:off x="8046720" y="1737360"/>
            <a:ext cx="3520440" cy="1920240"/>
          </a:xfrm>
          <a:prstGeom prst="roundRect">
            <a:avLst>
              <a:gd name="adj" fmla="val 4762"/>
            </a:avLst>
          </a:prstGeom>
          <a:solidFill>
            <a:srgbClr val="F5F7FA"/>
          </a:solidFill>
        </p:spPr>
      </p:sp>
      <p:sp>
        <p:nvSpPr>
          <p:cNvPr id="15" name="Shape 11"/>
          <p:cNvSpPr/>
          <p:nvPr/>
        </p:nvSpPr>
        <p:spPr>
          <a:xfrm>
            <a:off x="8302752" y="1965960"/>
            <a:ext cx="685800" cy="685800"/>
          </a:xfrm>
          <a:prstGeom prst="ellipse">
            <a:avLst/>
          </a:prstGeom>
          <a:solidFill>
            <a:srgbClr val="232F3E"/>
          </a:solidFill>
        </p:spPr>
      </p:sp>
      <p:pic>
        <p:nvPicPr>
          <p:cNvPr id="16" name="Image 2" descr="/home/claude/icons/cogs_orange.png"/>
          <p:cNvPicPr>
            <a:picLocks noChangeAspect="1"/>
          </p:cNvPicPr>
          <p:nvPr/>
        </p:nvPicPr>
        <p:blipFill>
          <a:blip r:embed="rId3"/>
          <a:stretch>
            <a:fillRect/>
          </a:stretch>
        </p:blipFill>
        <p:spPr>
          <a:xfrm>
            <a:off x="8467344" y="2130552"/>
            <a:ext cx="356616" cy="356616"/>
          </a:xfrm>
          <a:prstGeom prst="rect">
            <a:avLst/>
          </a:prstGeom>
        </p:spPr>
      </p:pic>
      <p:sp>
        <p:nvSpPr>
          <p:cNvPr id="17" name="Text 12"/>
          <p:cNvSpPr/>
          <p:nvPr/>
        </p:nvSpPr>
        <p:spPr>
          <a:xfrm>
            <a:off x="8302752" y="2743200"/>
            <a:ext cx="3063240" cy="41148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Batch Processing</a:t>
            </a:r>
            <a:endParaRPr lang="en-US" sz="1350" dirty="0"/>
          </a:p>
        </p:txBody>
      </p:sp>
      <p:sp>
        <p:nvSpPr>
          <p:cNvPr id="18" name="Text 13"/>
          <p:cNvSpPr/>
          <p:nvPr/>
        </p:nvSpPr>
        <p:spPr>
          <a:xfrm>
            <a:off x="8302752" y="3108960"/>
            <a:ext cx="3063240" cy="502920"/>
          </a:xfrm>
          <a:prstGeom prst="rect">
            <a:avLst/>
          </a:prstGeom>
          <a:noFill/>
        </p:spPr>
        <p:txBody>
          <a:bodyPr wrap="square" lIns="0" tIns="0" rIns="0" bIns="0" rtlCol="0" anchor="ctr"/>
          <a:lstStyle/>
          <a:p>
            <a:pPr marL="0" indent="0">
              <a:lnSpc>
                <a:spcPct val="110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Run scheduled or long computation jobs at scale</a:t>
            </a:r>
            <a:endParaRPr lang="en-US" sz="1080" dirty="0"/>
          </a:p>
        </p:txBody>
      </p:sp>
      <p:sp>
        <p:nvSpPr>
          <p:cNvPr id="19" name="Shape 14"/>
          <p:cNvSpPr/>
          <p:nvPr/>
        </p:nvSpPr>
        <p:spPr>
          <a:xfrm>
            <a:off x="548640" y="3886200"/>
            <a:ext cx="3520440" cy="1920240"/>
          </a:xfrm>
          <a:prstGeom prst="roundRect">
            <a:avLst>
              <a:gd name="adj" fmla="val 4762"/>
            </a:avLst>
          </a:prstGeom>
          <a:solidFill>
            <a:srgbClr val="F5F7FA"/>
          </a:solidFill>
        </p:spPr>
      </p:sp>
      <p:sp>
        <p:nvSpPr>
          <p:cNvPr id="20" name="Shape 15"/>
          <p:cNvSpPr/>
          <p:nvPr/>
        </p:nvSpPr>
        <p:spPr>
          <a:xfrm>
            <a:off x="804672" y="4114800"/>
            <a:ext cx="685800" cy="685800"/>
          </a:xfrm>
          <a:prstGeom prst="ellipse">
            <a:avLst/>
          </a:prstGeom>
          <a:solidFill>
            <a:srgbClr val="232F3E"/>
          </a:solidFill>
        </p:spPr>
      </p:sp>
      <p:pic>
        <p:nvPicPr>
          <p:cNvPr id="21" name="Image 3" descr="/home/claude/icons/shield_orange.png"/>
          <p:cNvPicPr>
            <a:picLocks noChangeAspect="1"/>
          </p:cNvPicPr>
          <p:nvPr/>
        </p:nvPicPr>
        <p:blipFill>
          <a:blip r:embed="rId4"/>
          <a:stretch>
            <a:fillRect/>
          </a:stretch>
        </p:blipFill>
        <p:spPr>
          <a:xfrm>
            <a:off x="969264" y="4279392"/>
            <a:ext cx="356616" cy="356616"/>
          </a:xfrm>
          <a:prstGeom prst="rect">
            <a:avLst/>
          </a:prstGeom>
        </p:spPr>
      </p:pic>
      <p:sp>
        <p:nvSpPr>
          <p:cNvPr id="22" name="Text 16"/>
          <p:cNvSpPr/>
          <p:nvPr/>
        </p:nvSpPr>
        <p:spPr>
          <a:xfrm>
            <a:off x="804672" y="4892040"/>
            <a:ext cx="3063240" cy="41148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Dev &amp; Test Environments</a:t>
            </a:r>
            <a:endParaRPr lang="en-US" sz="1350" dirty="0"/>
          </a:p>
        </p:txBody>
      </p:sp>
      <p:sp>
        <p:nvSpPr>
          <p:cNvPr id="23" name="Text 17"/>
          <p:cNvSpPr/>
          <p:nvPr/>
        </p:nvSpPr>
        <p:spPr>
          <a:xfrm>
            <a:off x="804672" y="5257800"/>
            <a:ext cx="3063240" cy="502920"/>
          </a:xfrm>
          <a:prstGeom prst="rect">
            <a:avLst/>
          </a:prstGeom>
          <a:noFill/>
        </p:spPr>
        <p:txBody>
          <a:bodyPr wrap="square" lIns="0" tIns="0" rIns="0" bIns="0" rtlCol="0" anchor="ctr"/>
          <a:lstStyle/>
          <a:p>
            <a:pPr marL="0" indent="0">
              <a:lnSpc>
                <a:spcPct val="110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Spin up disposable environments for development</a:t>
            </a:r>
            <a:endParaRPr lang="en-US" sz="1080" dirty="0"/>
          </a:p>
        </p:txBody>
      </p:sp>
      <p:sp>
        <p:nvSpPr>
          <p:cNvPr id="24" name="Shape 18"/>
          <p:cNvSpPr/>
          <p:nvPr/>
        </p:nvSpPr>
        <p:spPr>
          <a:xfrm>
            <a:off x="4297680" y="3886200"/>
            <a:ext cx="3520440" cy="1920240"/>
          </a:xfrm>
          <a:prstGeom prst="roundRect">
            <a:avLst>
              <a:gd name="adj" fmla="val 4762"/>
            </a:avLst>
          </a:prstGeom>
          <a:solidFill>
            <a:srgbClr val="F5F7FA"/>
          </a:solidFill>
        </p:spPr>
      </p:sp>
      <p:sp>
        <p:nvSpPr>
          <p:cNvPr id="25" name="Shape 19"/>
          <p:cNvSpPr/>
          <p:nvPr/>
        </p:nvSpPr>
        <p:spPr>
          <a:xfrm>
            <a:off x="4553712" y="4114800"/>
            <a:ext cx="685800" cy="685800"/>
          </a:xfrm>
          <a:prstGeom prst="ellipse">
            <a:avLst/>
          </a:prstGeom>
          <a:solidFill>
            <a:srgbClr val="232F3E"/>
          </a:solidFill>
        </p:spPr>
      </p:sp>
      <p:pic>
        <p:nvPicPr>
          <p:cNvPr id="26" name="Image 4" descr="/home/claude/icons/network_orange.png"/>
          <p:cNvPicPr>
            <a:picLocks noChangeAspect="1"/>
          </p:cNvPicPr>
          <p:nvPr/>
        </p:nvPicPr>
        <p:blipFill>
          <a:blip r:embed="rId5"/>
          <a:stretch>
            <a:fillRect/>
          </a:stretch>
        </p:blipFill>
        <p:spPr>
          <a:xfrm>
            <a:off x="4718304" y="4279392"/>
            <a:ext cx="356616" cy="356616"/>
          </a:xfrm>
          <a:prstGeom prst="rect">
            <a:avLst/>
          </a:prstGeom>
        </p:spPr>
      </p:pic>
      <p:sp>
        <p:nvSpPr>
          <p:cNvPr id="27" name="Text 20"/>
          <p:cNvSpPr/>
          <p:nvPr/>
        </p:nvSpPr>
        <p:spPr>
          <a:xfrm>
            <a:off x="4553712" y="4892040"/>
            <a:ext cx="3063240" cy="41148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Hosting Game Servers</a:t>
            </a:r>
            <a:endParaRPr lang="en-US" sz="1350" dirty="0"/>
          </a:p>
        </p:txBody>
      </p:sp>
      <p:sp>
        <p:nvSpPr>
          <p:cNvPr id="28" name="Text 21"/>
          <p:cNvSpPr/>
          <p:nvPr/>
        </p:nvSpPr>
        <p:spPr>
          <a:xfrm>
            <a:off x="4553712" y="5257800"/>
            <a:ext cx="3063240" cy="502920"/>
          </a:xfrm>
          <a:prstGeom prst="rect">
            <a:avLst/>
          </a:prstGeom>
          <a:noFill/>
        </p:spPr>
        <p:txBody>
          <a:bodyPr wrap="square" lIns="0" tIns="0" rIns="0" bIns="0" rtlCol="0" anchor="ctr"/>
          <a:lstStyle/>
          <a:p>
            <a:pPr marL="0" indent="0">
              <a:lnSpc>
                <a:spcPct val="110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Low-latency compute for multiplayer game backends</a:t>
            </a:r>
            <a:endParaRPr lang="en-US" sz="1080" dirty="0"/>
          </a:p>
        </p:txBody>
      </p:sp>
      <p:sp>
        <p:nvSpPr>
          <p:cNvPr id="29" name="Shape 22"/>
          <p:cNvSpPr/>
          <p:nvPr/>
        </p:nvSpPr>
        <p:spPr>
          <a:xfrm>
            <a:off x="8046720" y="3886200"/>
            <a:ext cx="3520440" cy="1920240"/>
          </a:xfrm>
          <a:prstGeom prst="roundRect">
            <a:avLst>
              <a:gd name="adj" fmla="val 4762"/>
            </a:avLst>
          </a:prstGeom>
          <a:solidFill>
            <a:srgbClr val="F5F7FA"/>
          </a:solidFill>
        </p:spPr>
      </p:sp>
      <p:sp>
        <p:nvSpPr>
          <p:cNvPr id="30" name="Shape 23"/>
          <p:cNvSpPr/>
          <p:nvPr/>
        </p:nvSpPr>
        <p:spPr>
          <a:xfrm>
            <a:off x="8302752" y="4114800"/>
            <a:ext cx="685800" cy="685800"/>
          </a:xfrm>
          <a:prstGeom prst="ellipse">
            <a:avLst/>
          </a:prstGeom>
          <a:solidFill>
            <a:srgbClr val="232F3E"/>
          </a:solidFill>
        </p:spPr>
      </p:sp>
      <p:pic>
        <p:nvPicPr>
          <p:cNvPr id="31" name="Image 5" descr="/home/claude/icons/database_orange.png"/>
          <p:cNvPicPr>
            <a:picLocks noChangeAspect="1"/>
          </p:cNvPicPr>
          <p:nvPr/>
        </p:nvPicPr>
        <p:blipFill>
          <a:blip r:embed="rId6"/>
          <a:stretch>
            <a:fillRect/>
          </a:stretch>
        </p:blipFill>
        <p:spPr>
          <a:xfrm>
            <a:off x="8467344" y="4279392"/>
            <a:ext cx="356616" cy="356616"/>
          </a:xfrm>
          <a:prstGeom prst="rect">
            <a:avLst/>
          </a:prstGeom>
        </p:spPr>
      </p:pic>
      <p:sp>
        <p:nvSpPr>
          <p:cNvPr id="32" name="Text 24"/>
          <p:cNvSpPr/>
          <p:nvPr/>
        </p:nvSpPr>
        <p:spPr>
          <a:xfrm>
            <a:off x="8302752" y="4892040"/>
            <a:ext cx="3063240" cy="41148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Machine Learning Training</a:t>
            </a:r>
            <a:endParaRPr lang="en-US" sz="1350" dirty="0"/>
          </a:p>
        </p:txBody>
      </p:sp>
      <p:sp>
        <p:nvSpPr>
          <p:cNvPr id="33" name="Text 25"/>
          <p:cNvSpPr/>
          <p:nvPr/>
        </p:nvSpPr>
        <p:spPr>
          <a:xfrm>
            <a:off x="8302752" y="5257800"/>
            <a:ext cx="3063240" cy="502920"/>
          </a:xfrm>
          <a:prstGeom prst="rect">
            <a:avLst/>
          </a:prstGeom>
          <a:noFill/>
        </p:spPr>
        <p:txBody>
          <a:bodyPr wrap="square" lIns="0" tIns="0" rIns="0" bIns="0" rtlCol="0" anchor="ctr"/>
          <a:lstStyle/>
          <a:p>
            <a:pPr marL="0" indent="0">
              <a:lnSpc>
                <a:spcPct val="110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GPU-backed instances for training AI/ML models</a:t>
            </a:r>
            <a:endParaRPr lang="en-US" sz="1080" dirty="0"/>
          </a:p>
        </p:txBody>
      </p:sp>
      <p:sp>
        <p:nvSpPr>
          <p:cNvPr id="34" name="Text 26"/>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5" name="Text 27"/>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29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EC2</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EC2 Instance Types</a:t>
            </a:r>
            <a:endParaRPr lang="en-US" sz="3000" dirty="0"/>
          </a:p>
        </p:txBody>
      </p:sp>
      <p:sp>
        <p:nvSpPr>
          <p:cNvPr id="4" name="Shape 2"/>
          <p:cNvSpPr/>
          <p:nvPr/>
        </p:nvSpPr>
        <p:spPr>
          <a:xfrm>
            <a:off x="548640" y="1691640"/>
            <a:ext cx="11064240" cy="914400"/>
          </a:xfrm>
          <a:prstGeom prst="roundRect">
            <a:avLst>
              <a:gd name="adj" fmla="val 8000"/>
            </a:avLst>
          </a:prstGeom>
          <a:solidFill>
            <a:srgbClr val="F5F7FA"/>
          </a:solidFill>
          <a:ln w="12700">
            <a:solidFill>
              <a:srgbClr val="E3E7ED"/>
            </a:solidFill>
            <a:prstDash val="solid"/>
          </a:ln>
        </p:spPr>
      </p:sp>
      <p:sp>
        <p:nvSpPr>
          <p:cNvPr id="5" name="Shape 3"/>
          <p:cNvSpPr/>
          <p:nvPr/>
        </p:nvSpPr>
        <p:spPr>
          <a:xfrm>
            <a:off x="777240" y="1828800"/>
            <a:ext cx="640080" cy="640080"/>
          </a:xfrm>
          <a:prstGeom prst="ellipse">
            <a:avLst/>
          </a:prstGeom>
          <a:solidFill>
            <a:srgbClr val="232F3E"/>
          </a:solidFill>
        </p:spPr>
      </p:sp>
      <p:pic>
        <p:nvPicPr>
          <p:cNvPr id="6" name="Image 0" descr="/home/claude/icons/bolt_orange.png"/>
          <p:cNvPicPr>
            <a:picLocks noChangeAspect="1"/>
          </p:cNvPicPr>
          <p:nvPr/>
        </p:nvPicPr>
        <p:blipFill>
          <a:blip r:embed="rId1"/>
          <a:stretch>
            <a:fillRect/>
          </a:stretch>
        </p:blipFill>
        <p:spPr>
          <a:xfrm>
            <a:off x="930859" y="1982419"/>
            <a:ext cx="332842" cy="332842"/>
          </a:xfrm>
          <a:prstGeom prst="rect">
            <a:avLst/>
          </a:prstGeom>
        </p:spPr>
      </p:pic>
      <p:sp>
        <p:nvSpPr>
          <p:cNvPr id="7" name="Text 4"/>
          <p:cNvSpPr/>
          <p:nvPr/>
        </p:nvSpPr>
        <p:spPr>
          <a:xfrm>
            <a:off x="1645920" y="1801368"/>
            <a:ext cx="2377440" cy="32004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General Purpose</a:t>
            </a:r>
            <a:endParaRPr lang="en-US" sz="1400" dirty="0"/>
          </a:p>
        </p:txBody>
      </p:sp>
      <p:sp>
        <p:nvSpPr>
          <p:cNvPr id="8" name="Text 5"/>
          <p:cNvSpPr/>
          <p:nvPr/>
        </p:nvSpPr>
        <p:spPr>
          <a:xfrm>
            <a:off x="1645920" y="2148840"/>
            <a:ext cx="2377440" cy="320040"/>
          </a:xfrm>
          <a:prstGeom prst="rect">
            <a:avLst/>
          </a:prstGeom>
          <a:noFill/>
        </p:spPr>
        <p:txBody>
          <a:bodyPr wrap="square" lIns="0" tIns="0" rIns="0" bIns="0" rtlCol="0" anchor="ctr"/>
          <a:lstStyle/>
          <a:p>
            <a:pPr marL="0" indent="0">
              <a:buNone/>
            </a:pPr>
            <a:r>
              <a:rPr lang="en-US" sz="1150" b="1" dirty="0">
                <a:solidFill>
                  <a:srgbClr val="FF9900"/>
                </a:solidFill>
                <a:latin typeface="Calibri" panose="020F0502020204030204" pitchFamily="34" charset="0"/>
                <a:ea typeface="Calibri" panose="020F0502020204030204" pitchFamily="34" charset="-122"/>
                <a:cs typeface="Calibri" panose="020F0502020204030204" pitchFamily="34" charset="-120"/>
              </a:rPr>
              <a:t>T3, M5</a:t>
            </a:r>
            <a:endParaRPr lang="en-US" sz="1150" dirty="0"/>
          </a:p>
        </p:txBody>
      </p:sp>
      <p:sp>
        <p:nvSpPr>
          <p:cNvPr id="9" name="Text 6"/>
          <p:cNvSpPr/>
          <p:nvPr/>
        </p:nvSpPr>
        <p:spPr>
          <a:xfrm>
            <a:off x="4297680" y="1691640"/>
            <a:ext cx="7040880" cy="91440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Balanced compute, memory &amp; networking for common workloads</a:t>
            </a:r>
            <a:endParaRPr lang="en-US" sz="1250" dirty="0"/>
          </a:p>
        </p:txBody>
      </p:sp>
      <p:sp>
        <p:nvSpPr>
          <p:cNvPr id="10" name="Shape 7"/>
          <p:cNvSpPr/>
          <p:nvPr/>
        </p:nvSpPr>
        <p:spPr>
          <a:xfrm>
            <a:off x="548640" y="2770632"/>
            <a:ext cx="11064240" cy="914400"/>
          </a:xfrm>
          <a:prstGeom prst="roundRect">
            <a:avLst>
              <a:gd name="adj" fmla="val 8000"/>
            </a:avLst>
          </a:prstGeom>
          <a:solidFill>
            <a:srgbClr val="FFFFFF"/>
          </a:solidFill>
          <a:ln w="12700">
            <a:solidFill>
              <a:srgbClr val="E3E7ED"/>
            </a:solidFill>
            <a:prstDash val="solid"/>
          </a:ln>
        </p:spPr>
      </p:sp>
      <p:sp>
        <p:nvSpPr>
          <p:cNvPr id="11" name="Shape 8"/>
          <p:cNvSpPr/>
          <p:nvPr/>
        </p:nvSpPr>
        <p:spPr>
          <a:xfrm>
            <a:off x="777240" y="2907792"/>
            <a:ext cx="640080" cy="640080"/>
          </a:xfrm>
          <a:prstGeom prst="ellipse">
            <a:avLst/>
          </a:prstGeom>
          <a:solidFill>
            <a:srgbClr val="232F3E"/>
          </a:solidFill>
        </p:spPr>
      </p:sp>
      <p:pic>
        <p:nvPicPr>
          <p:cNvPr id="12" name="Image 1" descr="/home/claude/icons/chart_orange.png"/>
          <p:cNvPicPr>
            <a:picLocks noChangeAspect="1"/>
          </p:cNvPicPr>
          <p:nvPr/>
        </p:nvPicPr>
        <p:blipFill>
          <a:blip r:embed="rId2"/>
          <a:stretch>
            <a:fillRect/>
          </a:stretch>
        </p:blipFill>
        <p:spPr>
          <a:xfrm>
            <a:off x="930859" y="3061411"/>
            <a:ext cx="332842" cy="332842"/>
          </a:xfrm>
          <a:prstGeom prst="rect">
            <a:avLst/>
          </a:prstGeom>
        </p:spPr>
      </p:pic>
      <p:sp>
        <p:nvSpPr>
          <p:cNvPr id="13" name="Text 9"/>
          <p:cNvSpPr/>
          <p:nvPr/>
        </p:nvSpPr>
        <p:spPr>
          <a:xfrm>
            <a:off x="1645920" y="2880360"/>
            <a:ext cx="2377440" cy="32004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Compute Optimized</a:t>
            </a:r>
            <a:endParaRPr lang="en-US" sz="1400" dirty="0"/>
          </a:p>
        </p:txBody>
      </p:sp>
      <p:sp>
        <p:nvSpPr>
          <p:cNvPr id="14" name="Text 10"/>
          <p:cNvSpPr/>
          <p:nvPr/>
        </p:nvSpPr>
        <p:spPr>
          <a:xfrm>
            <a:off x="1645920" y="3227832"/>
            <a:ext cx="2377440" cy="320040"/>
          </a:xfrm>
          <a:prstGeom prst="rect">
            <a:avLst/>
          </a:prstGeom>
          <a:noFill/>
        </p:spPr>
        <p:txBody>
          <a:bodyPr wrap="square" lIns="0" tIns="0" rIns="0" bIns="0" rtlCol="0" anchor="ctr"/>
          <a:lstStyle/>
          <a:p>
            <a:pPr marL="0" indent="0">
              <a:buNone/>
            </a:pPr>
            <a:r>
              <a:rPr lang="en-US" sz="1150" b="1" dirty="0">
                <a:solidFill>
                  <a:srgbClr val="FF9900"/>
                </a:solidFill>
                <a:latin typeface="Calibri" panose="020F0502020204030204" pitchFamily="34" charset="0"/>
                <a:ea typeface="Calibri" panose="020F0502020204030204" pitchFamily="34" charset="-122"/>
                <a:cs typeface="Calibri" panose="020F0502020204030204" pitchFamily="34" charset="-120"/>
              </a:rPr>
              <a:t>C5, C6g</a:t>
            </a:r>
            <a:endParaRPr lang="en-US" sz="1150" dirty="0"/>
          </a:p>
        </p:txBody>
      </p:sp>
      <p:sp>
        <p:nvSpPr>
          <p:cNvPr id="15" name="Text 11"/>
          <p:cNvSpPr/>
          <p:nvPr/>
        </p:nvSpPr>
        <p:spPr>
          <a:xfrm>
            <a:off x="4297680" y="2770632"/>
            <a:ext cx="7040880" cy="91440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High-performance processors for CPU-intensive tasks</a:t>
            </a:r>
            <a:endParaRPr lang="en-US" sz="1250" dirty="0"/>
          </a:p>
        </p:txBody>
      </p:sp>
      <p:sp>
        <p:nvSpPr>
          <p:cNvPr id="16" name="Shape 12"/>
          <p:cNvSpPr/>
          <p:nvPr/>
        </p:nvSpPr>
        <p:spPr>
          <a:xfrm>
            <a:off x="548640" y="3849624"/>
            <a:ext cx="11064240" cy="914400"/>
          </a:xfrm>
          <a:prstGeom prst="roundRect">
            <a:avLst>
              <a:gd name="adj" fmla="val 8000"/>
            </a:avLst>
          </a:prstGeom>
          <a:solidFill>
            <a:srgbClr val="F5F7FA"/>
          </a:solidFill>
          <a:ln w="12700">
            <a:solidFill>
              <a:srgbClr val="E3E7ED"/>
            </a:solidFill>
            <a:prstDash val="solid"/>
          </a:ln>
        </p:spPr>
      </p:sp>
      <p:sp>
        <p:nvSpPr>
          <p:cNvPr id="17" name="Shape 13"/>
          <p:cNvSpPr/>
          <p:nvPr/>
        </p:nvSpPr>
        <p:spPr>
          <a:xfrm>
            <a:off x="777240" y="3986784"/>
            <a:ext cx="640080" cy="640080"/>
          </a:xfrm>
          <a:prstGeom prst="ellipse">
            <a:avLst/>
          </a:prstGeom>
          <a:solidFill>
            <a:srgbClr val="232F3E"/>
          </a:solidFill>
        </p:spPr>
      </p:sp>
      <p:pic>
        <p:nvPicPr>
          <p:cNvPr id="18" name="Image 2" descr="/home/claude/icons/database_orange.png"/>
          <p:cNvPicPr>
            <a:picLocks noChangeAspect="1"/>
          </p:cNvPicPr>
          <p:nvPr/>
        </p:nvPicPr>
        <p:blipFill>
          <a:blip r:embed="rId3"/>
          <a:stretch>
            <a:fillRect/>
          </a:stretch>
        </p:blipFill>
        <p:spPr>
          <a:xfrm>
            <a:off x="930859" y="4140403"/>
            <a:ext cx="332842" cy="332842"/>
          </a:xfrm>
          <a:prstGeom prst="rect">
            <a:avLst/>
          </a:prstGeom>
        </p:spPr>
      </p:pic>
      <p:sp>
        <p:nvSpPr>
          <p:cNvPr id="19" name="Text 14"/>
          <p:cNvSpPr/>
          <p:nvPr/>
        </p:nvSpPr>
        <p:spPr>
          <a:xfrm>
            <a:off x="1645920" y="3959352"/>
            <a:ext cx="2377440" cy="32004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Memory Optimized</a:t>
            </a:r>
            <a:endParaRPr lang="en-US" sz="1400" dirty="0"/>
          </a:p>
        </p:txBody>
      </p:sp>
      <p:sp>
        <p:nvSpPr>
          <p:cNvPr id="20" name="Text 15"/>
          <p:cNvSpPr/>
          <p:nvPr/>
        </p:nvSpPr>
        <p:spPr>
          <a:xfrm>
            <a:off x="1645920" y="4306824"/>
            <a:ext cx="2377440" cy="320040"/>
          </a:xfrm>
          <a:prstGeom prst="rect">
            <a:avLst/>
          </a:prstGeom>
          <a:noFill/>
        </p:spPr>
        <p:txBody>
          <a:bodyPr wrap="square" lIns="0" tIns="0" rIns="0" bIns="0" rtlCol="0" anchor="ctr"/>
          <a:lstStyle/>
          <a:p>
            <a:pPr marL="0" indent="0">
              <a:buNone/>
            </a:pPr>
            <a:r>
              <a:rPr lang="en-US" sz="1150" b="1" dirty="0">
                <a:solidFill>
                  <a:srgbClr val="FF9900"/>
                </a:solidFill>
                <a:latin typeface="Calibri" panose="020F0502020204030204" pitchFamily="34" charset="0"/>
                <a:ea typeface="Calibri" panose="020F0502020204030204" pitchFamily="34" charset="-122"/>
                <a:cs typeface="Calibri" panose="020F0502020204030204" pitchFamily="34" charset="-120"/>
              </a:rPr>
              <a:t>R5, X1</a:t>
            </a:r>
            <a:endParaRPr lang="en-US" sz="1150" dirty="0"/>
          </a:p>
        </p:txBody>
      </p:sp>
      <p:sp>
        <p:nvSpPr>
          <p:cNvPr id="21" name="Text 16"/>
          <p:cNvSpPr/>
          <p:nvPr/>
        </p:nvSpPr>
        <p:spPr>
          <a:xfrm>
            <a:off x="4297680" y="3849624"/>
            <a:ext cx="7040880" cy="91440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Large memory footprint for in-memory databases &amp; caching</a:t>
            </a:r>
            <a:endParaRPr lang="en-US" sz="1250" dirty="0"/>
          </a:p>
        </p:txBody>
      </p:sp>
      <p:sp>
        <p:nvSpPr>
          <p:cNvPr id="22" name="Shape 17"/>
          <p:cNvSpPr/>
          <p:nvPr/>
        </p:nvSpPr>
        <p:spPr>
          <a:xfrm>
            <a:off x="548640" y="4928616"/>
            <a:ext cx="11064240" cy="914400"/>
          </a:xfrm>
          <a:prstGeom prst="roundRect">
            <a:avLst>
              <a:gd name="adj" fmla="val 8000"/>
            </a:avLst>
          </a:prstGeom>
          <a:solidFill>
            <a:srgbClr val="FFFFFF"/>
          </a:solidFill>
          <a:ln w="12700">
            <a:solidFill>
              <a:srgbClr val="E3E7ED"/>
            </a:solidFill>
            <a:prstDash val="solid"/>
          </a:ln>
        </p:spPr>
      </p:sp>
      <p:sp>
        <p:nvSpPr>
          <p:cNvPr id="23" name="Shape 18"/>
          <p:cNvSpPr/>
          <p:nvPr/>
        </p:nvSpPr>
        <p:spPr>
          <a:xfrm>
            <a:off x="777240" y="5065776"/>
            <a:ext cx="640080" cy="640080"/>
          </a:xfrm>
          <a:prstGeom prst="ellipse">
            <a:avLst/>
          </a:prstGeom>
          <a:solidFill>
            <a:srgbClr val="232F3E"/>
          </a:solidFill>
        </p:spPr>
      </p:sp>
      <p:pic>
        <p:nvPicPr>
          <p:cNvPr id="24" name="Image 3" descr="/home/claude/icons/warehouse_orange.png"/>
          <p:cNvPicPr>
            <a:picLocks noChangeAspect="1"/>
          </p:cNvPicPr>
          <p:nvPr/>
        </p:nvPicPr>
        <p:blipFill>
          <a:blip r:embed="rId4"/>
          <a:stretch>
            <a:fillRect/>
          </a:stretch>
        </p:blipFill>
        <p:spPr>
          <a:xfrm>
            <a:off x="930859" y="5219395"/>
            <a:ext cx="332842" cy="332842"/>
          </a:xfrm>
          <a:prstGeom prst="rect">
            <a:avLst/>
          </a:prstGeom>
        </p:spPr>
      </p:pic>
      <p:sp>
        <p:nvSpPr>
          <p:cNvPr id="25" name="Text 19"/>
          <p:cNvSpPr/>
          <p:nvPr/>
        </p:nvSpPr>
        <p:spPr>
          <a:xfrm>
            <a:off x="1645920" y="5038344"/>
            <a:ext cx="2377440" cy="32004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Storage Optimized</a:t>
            </a:r>
            <a:endParaRPr lang="en-US" sz="1400" dirty="0"/>
          </a:p>
        </p:txBody>
      </p:sp>
      <p:sp>
        <p:nvSpPr>
          <p:cNvPr id="26" name="Text 20"/>
          <p:cNvSpPr/>
          <p:nvPr/>
        </p:nvSpPr>
        <p:spPr>
          <a:xfrm>
            <a:off x="1645920" y="5385816"/>
            <a:ext cx="2377440" cy="320040"/>
          </a:xfrm>
          <a:prstGeom prst="rect">
            <a:avLst/>
          </a:prstGeom>
          <a:noFill/>
        </p:spPr>
        <p:txBody>
          <a:bodyPr wrap="square" lIns="0" tIns="0" rIns="0" bIns="0" rtlCol="0" anchor="ctr"/>
          <a:lstStyle/>
          <a:p>
            <a:pPr marL="0" indent="0">
              <a:buNone/>
            </a:pPr>
            <a:r>
              <a:rPr lang="en-US" sz="1150" b="1" dirty="0">
                <a:solidFill>
                  <a:srgbClr val="FF9900"/>
                </a:solidFill>
                <a:latin typeface="Calibri" panose="020F0502020204030204" pitchFamily="34" charset="0"/>
                <a:ea typeface="Calibri" panose="020F0502020204030204" pitchFamily="34" charset="-122"/>
                <a:cs typeface="Calibri" panose="020F0502020204030204" pitchFamily="34" charset="-120"/>
              </a:rPr>
              <a:t>I3, D2</a:t>
            </a:r>
            <a:endParaRPr lang="en-US" sz="1150" dirty="0"/>
          </a:p>
        </p:txBody>
      </p:sp>
      <p:sp>
        <p:nvSpPr>
          <p:cNvPr id="27" name="Text 21"/>
          <p:cNvSpPr/>
          <p:nvPr/>
        </p:nvSpPr>
        <p:spPr>
          <a:xfrm>
            <a:off x="4297680" y="4928616"/>
            <a:ext cx="7040880" cy="91440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High, fast local storage for data warehousing</a:t>
            </a:r>
            <a:endParaRPr lang="en-US" sz="1250" dirty="0"/>
          </a:p>
        </p:txBody>
      </p:sp>
      <p:sp>
        <p:nvSpPr>
          <p:cNvPr id="28" name="Text 2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9" name="Text 2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30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EC2</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EC2 Pricing Models</a:t>
            </a:r>
            <a:endParaRPr lang="en-US" sz="3000" dirty="0"/>
          </a:p>
        </p:txBody>
      </p:sp>
      <p:sp>
        <p:nvSpPr>
          <p:cNvPr id="4" name="Shape 2"/>
          <p:cNvSpPr/>
          <p:nvPr/>
        </p:nvSpPr>
        <p:spPr>
          <a:xfrm>
            <a:off x="548640" y="1828800"/>
            <a:ext cx="3520440" cy="3840480"/>
          </a:xfrm>
          <a:prstGeom prst="roundRect">
            <a:avLst>
              <a:gd name="adj" fmla="val 2597"/>
            </a:avLst>
          </a:prstGeom>
          <a:solidFill>
            <a:srgbClr val="37475A"/>
          </a:solidFill>
        </p:spPr>
      </p:sp>
      <p:sp>
        <p:nvSpPr>
          <p:cNvPr id="5" name="Shape 3"/>
          <p:cNvSpPr/>
          <p:nvPr/>
        </p:nvSpPr>
        <p:spPr>
          <a:xfrm>
            <a:off x="1920240" y="2103120"/>
            <a:ext cx="777240" cy="777240"/>
          </a:xfrm>
          <a:prstGeom prst="ellipse">
            <a:avLst/>
          </a:prstGeom>
          <a:solidFill>
            <a:srgbClr val="FF9900"/>
          </a:solidFill>
        </p:spPr>
      </p:sp>
      <p:pic>
        <p:nvPicPr>
          <p:cNvPr id="6" name="Image 0" descr="/home/claude/icons/money_navy.png"/>
          <p:cNvPicPr>
            <a:picLocks noChangeAspect="1"/>
          </p:cNvPicPr>
          <p:nvPr/>
        </p:nvPicPr>
        <p:blipFill>
          <a:blip r:embed="rId1"/>
          <a:stretch>
            <a:fillRect/>
          </a:stretch>
        </p:blipFill>
        <p:spPr>
          <a:xfrm>
            <a:off x="2106778" y="2289658"/>
            <a:ext cx="404165" cy="404165"/>
          </a:xfrm>
          <a:prstGeom prst="rect">
            <a:avLst/>
          </a:prstGeom>
        </p:spPr>
      </p:pic>
      <p:sp>
        <p:nvSpPr>
          <p:cNvPr id="7" name="Text 4"/>
          <p:cNvSpPr/>
          <p:nvPr/>
        </p:nvSpPr>
        <p:spPr>
          <a:xfrm>
            <a:off x="777240" y="3108960"/>
            <a:ext cx="3063240" cy="457200"/>
          </a:xfrm>
          <a:prstGeom prst="rect">
            <a:avLst/>
          </a:prstGeom>
          <a:noFill/>
        </p:spPr>
        <p:txBody>
          <a:bodyPr wrap="square" lIns="0" tIns="0" rIns="0" bIns="0" rtlCol="0" anchor="ctr"/>
          <a:lstStyle/>
          <a:p>
            <a:pPr marL="0" indent="0" algn="ctr">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On-Demand</a:t>
            </a:r>
            <a:endParaRPr lang="en-US" sz="1550" dirty="0"/>
          </a:p>
        </p:txBody>
      </p:sp>
      <p:sp>
        <p:nvSpPr>
          <p:cNvPr id="8" name="Text 5"/>
          <p:cNvSpPr/>
          <p:nvPr/>
        </p:nvSpPr>
        <p:spPr>
          <a:xfrm>
            <a:off x="822960" y="3611880"/>
            <a:ext cx="2971800" cy="1920240"/>
          </a:xfrm>
          <a:prstGeom prst="rect">
            <a:avLst/>
          </a:prstGeom>
          <a:noFill/>
        </p:spPr>
        <p:txBody>
          <a:bodyPr wrap="square" lIns="0" tIns="0" rIns="0" bIns="0" rtlCol="0" anchor="ctr"/>
          <a:lstStyle/>
          <a:p>
            <a:pPr marL="0" indent="0" algn="ctr">
              <a:lnSpc>
                <a:spcPct val="12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Pay by the hour or second with no upfront commitment. Best for short-term, unpredictable workloads.</a:t>
            </a:r>
            <a:endParaRPr lang="en-US" sz="1200" dirty="0"/>
          </a:p>
        </p:txBody>
      </p:sp>
      <p:sp>
        <p:nvSpPr>
          <p:cNvPr id="9" name="Shape 6"/>
          <p:cNvSpPr/>
          <p:nvPr/>
        </p:nvSpPr>
        <p:spPr>
          <a:xfrm>
            <a:off x="4297680" y="1828800"/>
            <a:ext cx="3520440" cy="3840480"/>
          </a:xfrm>
          <a:prstGeom prst="roundRect">
            <a:avLst>
              <a:gd name="adj" fmla="val 2597"/>
            </a:avLst>
          </a:prstGeom>
          <a:solidFill>
            <a:srgbClr val="37475A"/>
          </a:solidFill>
        </p:spPr>
      </p:sp>
      <p:sp>
        <p:nvSpPr>
          <p:cNvPr id="10" name="Shape 7"/>
          <p:cNvSpPr/>
          <p:nvPr/>
        </p:nvSpPr>
        <p:spPr>
          <a:xfrm>
            <a:off x="5669280" y="2103120"/>
            <a:ext cx="777240" cy="777240"/>
          </a:xfrm>
          <a:prstGeom prst="ellipse">
            <a:avLst/>
          </a:prstGeom>
          <a:solidFill>
            <a:srgbClr val="FF9900"/>
          </a:solidFill>
        </p:spPr>
      </p:sp>
      <p:pic>
        <p:nvPicPr>
          <p:cNvPr id="11" name="Image 1" descr="/home/claude/icons/clock_navy.png"/>
          <p:cNvPicPr>
            <a:picLocks noChangeAspect="1"/>
          </p:cNvPicPr>
          <p:nvPr/>
        </p:nvPicPr>
        <p:blipFill>
          <a:blip r:embed="rId2"/>
          <a:stretch>
            <a:fillRect/>
          </a:stretch>
        </p:blipFill>
        <p:spPr>
          <a:xfrm>
            <a:off x="5855818" y="2289658"/>
            <a:ext cx="404165" cy="404165"/>
          </a:xfrm>
          <a:prstGeom prst="rect">
            <a:avLst/>
          </a:prstGeom>
        </p:spPr>
      </p:pic>
      <p:sp>
        <p:nvSpPr>
          <p:cNvPr id="12" name="Text 8"/>
          <p:cNvSpPr/>
          <p:nvPr/>
        </p:nvSpPr>
        <p:spPr>
          <a:xfrm>
            <a:off x="4526280" y="3108960"/>
            <a:ext cx="3063240" cy="457200"/>
          </a:xfrm>
          <a:prstGeom prst="rect">
            <a:avLst/>
          </a:prstGeom>
          <a:noFill/>
        </p:spPr>
        <p:txBody>
          <a:bodyPr wrap="square" lIns="0" tIns="0" rIns="0" bIns="0" rtlCol="0" anchor="ctr"/>
          <a:lstStyle/>
          <a:p>
            <a:pPr marL="0" indent="0" algn="ctr">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Reserved Instances</a:t>
            </a:r>
            <a:endParaRPr lang="en-US" sz="1550" dirty="0"/>
          </a:p>
        </p:txBody>
      </p:sp>
      <p:sp>
        <p:nvSpPr>
          <p:cNvPr id="13" name="Text 9"/>
          <p:cNvSpPr/>
          <p:nvPr/>
        </p:nvSpPr>
        <p:spPr>
          <a:xfrm>
            <a:off x="4572000" y="3611880"/>
            <a:ext cx="2971800" cy="1920240"/>
          </a:xfrm>
          <a:prstGeom prst="rect">
            <a:avLst/>
          </a:prstGeom>
          <a:noFill/>
        </p:spPr>
        <p:txBody>
          <a:bodyPr wrap="square" lIns="0" tIns="0" rIns="0" bIns="0" rtlCol="0" anchor="ctr"/>
          <a:lstStyle/>
          <a:p>
            <a:pPr marL="0" indent="0" algn="ctr">
              <a:lnSpc>
                <a:spcPct val="12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Commit to 1 or 3 years for up to 72% savings versus On-Demand. Best for steady, predictable usage.</a:t>
            </a:r>
            <a:endParaRPr lang="en-US" sz="1200" dirty="0"/>
          </a:p>
        </p:txBody>
      </p:sp>
      <p:sp>
        <p:nvSpPr>
          <p:cNvPr id="14" name="Shape 10"/>
          <p:cNvSpPr/>
          <p:nvPr/>
        </p:nvSpPr>
        <p:spPr>
          <a:xfrm>
            <a:off x="8046720" y="1828800"/>
            <a:ext cx="3520440" cy="3840480"/>
          </a:xfrm>
          <a:prstGeom prst="roundRect">
            <a:avLst>
              <a:gd name="adj" fmla="val 2597"/>
            </a:avLst>
          </a:prstGeom>
          <a:solidFill>
            <a:srgbClr val="37475A"/>
          </a:solidFill>
        </p:spPr>
      </p:sp>
      <p:sp>
        <p:nvSpPr>
          <p:cNvPr id="15" name="Shape 11"/>
          <p:cNvSpPr/>
          <p:nvPr/>
        </p:nvSpPr>
        <p:spPr>
          <a:xfrm>
            <a:off x="9418320" y="2103120"/>
            <a:ext cx="777240" cy="777240"/>
          </a:xfrm>
          <a:prstGeom prst="ellipse">
            <a:avLst/>
          </a:prstGeom>
          <a:solidFill>
            <a:srgbClr val="FF9900"/>
          </a:solidFill>
        </p:spPr>
      </p:sp>
      <p:pic>
        <p:nvPicPr>
          <p:cNvPr id="16" name="Image 2" descr="/home/claude/icons/bolt_navy.png"/>
          <p:cNvPicPr>
            <a:picLocks noChangeAspect="1"/>
          </p:cNvPicPr>
          <p:nvPr/>
        </p:nvPicPr>
        <p:blipFill>
          <a:blip r:embed="rId3"/>
          <a:stretch>
            <a:fillRect/>
          </a:stretch>
        </p:blipFill>
        <p:spPr>
          <a:xfrm>
            <a:off x="9604858" y="2289658"/>
            <a:ext cx="404165" cy="404165"/>
          </a:xfrm>
          <a:prstGeom prst="rect">
            <a:avLst/>
          </a:prstGeom>
        </p:spPr>
      </p:pic>
      <p:sp>
        <p:nvSpPr>
          <p:cNvPr id="17" name="Text 12"/>
          <p:cNvSpPr/>
          <p:nvPr/>
        </p:nvSpPr>
        <p:spPr>
          <a:xfrm>
            <a:off x="8275320" y="3108960"/>
            <a:ext cx="3063240" cy="457200"/>
          </a:xfrm>
          <a:prstGeom prst="rect">
            <a:avLst/>
          </a:prstGeom>
          <a:noFill/>
        </p:spPr>
        <p:txBody>
          <a:bodyPr wrap="square" lIns="0" tIns="0" rIns="0" bIns="0" rtlCol="0" anchor="ctr"/>
          <a:lstStyle/>
          <a:p>
            <a:pPr marL="0" indent="0" algn="ctr">
              <a:buNone/>
            </a:pPr>
            <a:r>
              <a:rPr lang="en-US" sz="1550" b="1" dirty="0">
                <a:solidFill>
                  <a:srgbClr val="FFFFFF"/>
                </a:solidFill>
                <a:latin typeface="Calibri" panose="020F0502020204030204" pitchFamily="34" charset="0"/>
                <a:ea typeface="Calibri" panose="020F0502020204030204" pitchFamily="34" charset="-122"/>
                <a:cs typeface="Calibri" panose="020F0502020204030204" pitchFamily="34" charset="-120"/>
              </a:rPr>
              <a:t>Spot Instances</a:t>
            </a:r>
            <a:endParaRPr lang="en-US" sz="1550" dirty="0"/>
          </a:p>
        </p:txBody>
      </p:sp>
      <p:sp>
        <p:nvSpPr>
          <p:cNvPr id="18" name="Text 13"/>
          <p:cNvSpPr/>
          <p:nvPr/>
        </p:nvSpPr>
        <p:spPr>
          <a:xfrm>
            <a:off x="8321040" y="3611880"/>
            <a:ext cx="2971800" cy="1920240"/>
          </a:xfrm>
          <a:prstGeom prst="rect">
            <a:avLst/>
          </a:prstGeom>
          <a:noFill/>
        </p:spPr>
        <p:txBody>
          <a:bodyPr wrap="square" lIns="0" tIns="0" rIns="0" bIns="0" rtlCol="0" anchor="ctr"/>
          <a:lstStyle/>
          <a:p>
            <a:pPr marL="0" indent="0" algn="ctr">
              <a:lnSpc>
                <a:spcPct val="12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Bid on spare AWS capacity for up to 90% savings. Best for flexible, fault-tolerant workloads.</a:t>
            </a:r>
            <a:endParaRPr lang="en-US" sz="1200" dirty="0"/>
          </a:p>
        </p:txBody>
      </p:sp>
      <p:sp>
        <p:nvSpPr>
          <p:cNvPr id="19" name="Text 14"/>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0" name="Text 15"/>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31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EC2</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Key Pairs &amp; Security Groups</a:t>
            </a:r>
            <a:endParaRPr lang="en-US" sz="3000" dirty="0"/>
          </a:p>
        </p:txBody>
      </p:sp>
      <p:sp>
        <p:nvSpPr>
          <p:cNvPr id="4" name="Shape 2"/>
          <p:cNvSpPr/>
          <p:nvPr/>
        </p:nvSpPr>
        <p:spPr>
          <a:xfrm>
            <a:off x="548640" y="1691640"/>
            <a:ext cx="5349240" cy="4206240"/>
          </a:xfrm>
          <a:prstGeom prst="roundRect">
            <a:avLst>
              <a:gd name="adj" fmla="val 2174"/>
            </a:avLst>
          </a:prstGeom>
          <a:solidFill>
            <a:srgbClr val="F5F7FA"/>
          </a:solidFill>
        </p:spPr>
      </p:sp>
      <p:sp>
        <p:nvSpPr>
          <p:cNvPr id="5" name="Shape 3"/>
          <p:cNvSpPr/>
          <p:nvPr/>
        </p:nvSpPr>
        <p:spPr>
          <a:xfrm>
            <a:off x="822960" y="1920240"/>
            <a:ext cx="777240" cy="777240"/>
          </a:xfrm>
          <a:prstGeom prst="ellipse">
            <a:avLst/>
          </a:prstGeom>
          <a:solidFill>
            <a:srgbClr val="232F3E"/>
          </a:solidFill>
        </p:spPr>
      </p:sp>
      <p:pic>
        <p:nvPicPr>
          <p:cNvPr id="6" name="Image 0" descr="/home/claude/icons/key_orange.png"/>
          <p:cNvPicPr>
            <a:picLocks noChangeAspect="1"/>
          </p:cNvPicPr>
          <p:nvPr/>
        </p:nvPicPr>
        <p:blipFill>
          <a:blip r:embed="rId1"/>
          <a:stretch>
            <a:fillRect/>
          </a:stretch>
        </p:blipFill>
        <p:spPr>
          <a:xfrm>
            <a:off x="1009498" y="2106778"/>
            <a:ext cx="404165" cy="404165"/>
          </a:xfrm>
          <a:prstGeom prst="rect">
            <a:avLst/>
          </a:prstGeom>
        </p:spPr>
      </p:pic>
      <p:sp>
        <p:nvSpPr>
          <p:cNvPr id="7" name="Text 4"/>
          <p:cNvSpPr/>
          <p:nvPr/>
        </p:nvSpPr>
        <p:spPr>
          <a:xfrm>
            <a:off x="1828800" y="2084832"/>
            <a:ext cx="3840480" cy="365760"/>
          </a:xfrm>
          <a:prstGeom prst="rect">
            <a:avLst/>
          </a:prstGeom>
          <a:noFill/>
        </p:spPr>
        <p:txBody>
          <a:bodyPr wrap="square" lIns="0" tIns="0" rIns="0" bIns="0" rtlCol="0" anchor="ctr"/>
          <a:lstStyle/>
          <a:p>
            <a:pPr marL="0" indent="0">
              <a:buNone/>
            </a:pPr>
            <a:r>
              <a:rPr lang="en-US" sz="1700" b="1" dirty="0">
                <a:solidFill>
                  <a:srgbClr val="232F3E"/>
                </a:solidFill>
                <a:latin typeface="Calibri" panose="020F0502020204030204" pitchFamily="34" charset="0"/>
                <a:ea typeface="Calibri" panose="020F0502020204030204" pitchFamily="34" charset="-122"/>
                <a:cs typeface="Calibri" panose="020F0502020204030204" pitchFamily="34" charset="-120"/>
              </a:rPr>
              <a:t>Key Pairs</a:t>
            </a:r>
            <a:endParaRPr lang="en-US" sz="1700" dirty="0"/>
          </a:p>
        </p:txBody>
      </p:sp>
      <p:sp>
        <p:nvSpPr>
          <p:cNvPr id="8" name="Text 5"/>
          <p:cNvSpPr/>
          <p:nvPr/>
        </p:nvSpPr>
        <p:spPr>
          <a:xfrm>
            <a:off x="822960" y="2880360"/>
            <a:ext cx="4800600" cy="1463040"/>
          </a:xfrm>
          <a:prstGeom prst="rect">
            <a:avLst/>
          </a:prstGeom>
          <a:noFill/>
        </p:spPr>
        <p:txBody>
          <a:bodyPr wrap="square" lIns="0" tIns="0" rIns="0" bIns="0" rtlCol="0" anchor="ctr"/>
          <a:lstStyle/>
          <a:p>
            <a:pPr marL="0" indent="0">
              <a:lnSpc>
                <a:spcPct val="125000"/>
              </a:lnSpc>
              <a:buNone/>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A key pair consists of a public key (stored by AWS) and a private key (downloaded by you). It is used to securely log in to a Linux instance via SSH or decrypt the Windows administrator password — never share your private key file.</a:t>
            </a:r>
            <a:endParaRPr lang="en-US" sz="1300" dirty="0"/>
          </a:p>
        </p:txBody>
      </p:sp>
      <p:sp>
        <p:nvSpPr>
          <p:cNvPr id="9" name="Text 6"/>
          <p:cNvSpPr/>
          <p:nvPr/>
        </p:nvSpPr>
        <p:spPr>
          <a:xfrm>
            <a:off x="822960" y="4480560"/>
            <a:ext cx="4800600" cy="1188720"/>
          </a:xfrm>
          <a:prstGeom prst="rect">
            <a:avLst/>
          </a:prstGeom>
          <a:noFill/>
        </p:spPr>
        <p:txBody>
          <a:bodyPr wrap="square" lIns="0" tIns="0" rIns="0" bIns="0" rtlCol="0" anchor="ctr"/>
          <a:lstStyle/>
          <a:p>
            <a:pPr marL="0" indent="0">
              <a:lnSpc>
                <a:spcPct val="120000"/>
              </a:lnSpc>
              <a:buNone/>
            </a:pPr>
            <a:r>
              <a:rPr lang="en-US" sz="1200" i="1" dirty="0">
                <a:solidFill>
                  <a:srgbClr val="5F6B7A"/>
                </a:solidFill>
                <a:latin typeface="Calibri" panose="020F0502020204030204" pitchFamily="34" charset="0"/>
                <a:ea typeface="Calibri" panose="020F0502020204030204" pitchFamily="34" charset="-122"/>
                <a:cs typeface="Calibri" panose="020F0502020204030204" pitchFamily="34" charset="-120"/>
              </a:rPr>
              <a:t>Best Practice: store the .pem file securely and never commit it to source control.</a:t>
            </a:r>
            <a:endParaRPr lang="en-US" sz="1200" dirty="0"/>
          </a:p>
        </p:txBody>
      </p:sp>
      <p:sp>
        <p:nvSpPr>
          <p:cNvPr id="10" name="Shape 7"/>
          <p:cNvSpPr/>
          <p:nvPr/>
        </p:nvSpPr>
        <p:spPr>
          <a:xfrm>
            <a:off x="6263640" y="1691640"/>
            <a:ext cx="5349240" cy="4206240"/>
          </a:xfrm>
          <a:prstGeom prst="roundRect">
            <a:avLst>
              <a:gd name="adj" fmla="val 2174"/>
            </a:avLst>
          </a:prstGeom>
          <a:solidFill>
            <a:srgbClr val="232F3E"/>
          </a:solidFill>
        </p:spPr>
      </p:sp>
      <p:sp>
        <p:nvSpPr>
          <p:cNvPr id="11" name="Shape 8"/>
          <p:cNvSpPr/>
          <p:nvPr/>
        </p:nvSpPr>
        <p:spPr>
          <a:xfrm>
            <a:off x="6537960" y="1920240"/>
            <a:ext cx="777240" cy="777240"/>
          </a:xfrm>
          <a:prstGeom prst="ellipse">
            <a:avLst/>
          </a:prstGeom>
          <a:solidFill>
            <a:srgbClr val="FF9900"/>
          </a:solidFill>
        </p:spPr>
      </p:sp>
      <p:pic>
        <p:nvPicPr>
          <p:cNvPr id="12" name="Image 1" descr="/home/claude/icons/shield_navy.png"/>
          <p:cNvPicPr>
            <a:picLocks noChangeAspect="1"/>
          </p:cNvPicPr>
          <p:nvPr/>
        </p:nvPicPr>
        <p:blipFill>
          <a:blip r:embed="rId2"/>
          <a:stretch>
            <a:fillRect/>
          </a:stretch>
        </p:blipFill>
        <p:spPr>
          <a:xfrm>
            <a:off x="6724498" y="2106778"/>
            <a:ext cx="404165" cy="404165"/>
          </a:xfrm>
          <a:prstGeom prst="rect">
            <a:avLst/>
          </a:prstGeom>
        </p:spPr>
      </p:pic>
      <p:sp>
        <p:nvSpPr>
          <p:cNvPr id="13" name="Text 9"/>
          <p:cNvSpPr/>
          <p:nvPr/>
        </p:nvSpPr>
        <p:spPr>
          <a:xfrm>
            <a:off x="7543800" y="2084832"/>
            <a:ext cx="3840480" cy="365760"/>
          </a:xfrm>
          <a:prstGeom prst="rect">
            <a:avLst/>
          </a:prstGeom>
          <a:noFill/>
        </p:spPr>
        <p:txBody>
          <a:bodyPr wrap="square" lIns="0" tIns="0" rIns="0" bIns="0" rtlCol="0" anchor="ctr"/>
          <a:lstStyle/>
          <a:p>
            <a:pPr marL="0" indent="0">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Security Groups</a:t>
            </a:r>
            <a:endParaRPr lang="en-US" sz="1700" dirty="0"/>
          </a:p>
        </p:txBody>
      </p:sp>
      <p:sp>
        <p:nvSpPr>
          <p:cNvPr id="14" name="Text 10"/>
          <p:cNvSpPr/>
          <p:nvPr/>
        </p:nvSpPr>
        <p:spPr>
          <a:xfrm>
            <a:off x="6537960" y="2880360"/>
            <a:ext cx="4800600" cy="1463040"/>
          </a:xfrm>
          <a:prstGeom prst="rect">
            <a:avLst/>
          </a:prstGeom>
          <a:noFill/>
        </p:spPr>
        <p:txBody>
          <a:bodyPr wrap="square" lIns="0" tIns="0" rIns="0" bIns="0" rtlCol="0" anchor="ctr"/>
          <a:lstStyle/>
          <a:p>
            <a:pPr marL="0" indent="0">
              <a:lnSpc>
                <a:spcPct val="125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A security group acts as a virtual firewall controlling inbound and outbound traffic to your instance. You define rules by port, protocol, and source IP — for example, allow port 22 (SSH) only from your office IP address.</a:t>
            </a:r>
            <a:endParaRPr lang="en-US" sz="1300" dirty="0"/>
          </a:p>
        </p:txBody>
      </p:sp>
      <p:sp>
        <p:nvSpPr>
          <p:cNvPr id="15" name="Text 11"/>
          <p:cNvSpPr/>
          <p:nvPr/>
        </p:nvSpPr>
        <p:spPr>
          <a:xfrm>
            <a:off x="6537960" y="4480560"/>
            <a:ext cx="4800600" cy="1188720"/>
          </a:xfrm>
          <a:prstGeom prst="rect">
            <a:avLst/>
          </a:prstGeom>
          <a:noFill/>
        </p:spPr>
        <p:txBody>
          <a:bodyPr wrap="square" lIns="0" tIns="0" rIns="0" bIns="0" rtlCol="0" anchor="ctr"/>
          <a:lstStyle/>
          <a:p>
            <a:pPr marL="0" indent="0">
              <a:lnSpc>
                <a:spcPct val="120000"/>
              </a:lnSpc>
              <a:buNone/>
            </a:pP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Best Practice: never open all ports (0.0.0.0/0) to the entire internet unless required.</a:t>
            </a:r>
            <a:endParaRPr lang="en-US" sz="1200" dirty="0"/>
          </a:p>
        </p:txBody>
      </p:sp>
      <p:sp>
        <p:nvSpPr>
          <p:cNvPr id="16" name="Text 1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7" name="Text 1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32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EC2</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Amazon Machine Images (AMIs)</a:t>
            </a:r>
            <a:endParaRPr lang="en-US" sz="3000" dirty="0"/>
          </a:p>
        </p:txBody>
      </p:sp>
      <p:sp>
        <p:nvSpPr>
          <p:cNvPr id="4" name="Text 2"/>
          <p:cNvSpPr/>
          <p:nvPr/>
        </p:nvSpPr>
        <p:spPr>
          <a:xfrm>
            <a:off x="548640" y="1645920"/>
            <a:ext cx="10881360" cy="685800"/>
          </a:xfrm>
          <a:prstGeom prst="rect">
            <a:avLst/>
          </a:prstGeom>
          <a:noFill/>
        </p:spPr>
        <p:txBody>
          <a:bodyPr wrap="square" lIns="0" tIns="0" rIns="0" bIns="0" rtlCol="0" anchor="ctr"/>
          <a:lstStyle/>
          <a:p>
            <a:pPr marL="0" indent="0">
              <a:lnSpc>
                <a:spcPct val="120000"/>
              </a:lnSpc>
              <a:buNone/>
            </a:pPr>
            <a:r>
              <a:rPr lang="en-US" sz="1400" i="1" dirty="0">
                <a:solidFill>
                  <a:srgbClr val="5F6B7A"/>
                </a:solidFill>
                <a:latin typeface="Calibri" panose="020F0502020204030204" pitchFamily="34" charset="0"/>
                <a:ea typeface="Calibri" panose="020F0502020204030204" pitchFamily="34" charset="-122"/>
                <a:cs typeface="Calibri" panose="020F0502020204030204" pitchFamily="34" charset="-120"/>
              </a:rPr>
              <a:t>An AMI is a pre-configured template containing an operating system, application server, and applications — used to launch new EC2 instances quickly and consistently.</a:t>
            </a:r>
            <a:endParaRPr lang="en-US" sz="1400" dirty="0"/>
          </a:p>
        </p:txBody>
      </p:sp>
      <p:sp>
        <p:nvSpPr>
          <p:cNvPr id="5" name="Shape 3"/>
          <p:cNvSpPr/>
          <p:nvPr/>
        </p:nvSpPr>
        <p:spPr>
          <a:xfrm>
            <a:off x="548640" y="2514600"/>
            <a:ext cx="3520440" cy="2148840"/>
          </a:xfrm>
          <a:prstGeom prst="roundRect">
            <a:avLst>
              <a:gd name="adj" fmla="val 4255"/>
            </a:avLst>
          </a:prstGeom>
          <a:solidFill>
            <a:srgbClr val="F5F7FA"/>
          </a:solidFill>
        </p:spPr>
      </p:sp>
      <p:sp>
        <p:nvSpPr>
          <p:cNvPr id="6" name="Shape 4"/>
          <p:cNvSpPr/>
          <p:nvPr/>
        </p:nvSpPr>
        <p:spPr>
          <a:xfrm>
            <a:off x="1920240" y="2743200"/>
            <a:ext cx="777240" cy="777240"/>
          </a:xfrm>
          <a:prstGeom prst="ellipse">
            <a:avLst/>
          </a:prstGeom>
          <a:solidFill>
            <a:srgbClr val="232F3E"/>
          </a:solidFill>
        </p:spPr>
      </p:sp>
      <p:pic>
        <p:nvPicPr>
          <p:cNvPr id="7" name="Image 0" descr="/home/claude/icons/cloud_orange.png"/>
          <p:cNvPicPr>
            <a:picLocks noChangeAspect="1"/>
          </p:cNvPicPr>
          <p:nvPr/>
        </p:nvPicPr>
        <p:blipFill>
          <a:blip r:embed="rId1"/>
          <a:stretch>
            <a:fillRect/>
          </a:stretch>
        </p:blipFill>
        <p:spPr>
          <a:xfrm>
            <a:off x="2106778" y="2929738"/>
            <a:ext cx="404165" cy="404165"/>
          </a:xfrm>
          <a:prstGeom prst="rect">
            <a:avLst/>
          </a:prstGeom>
        </p:spPr>
      </p:pic>
      <p:sp>
        <p:nvSpPr>
          <p:cNvPr id="8" name="Text 5"/>
          <p:cNvSpPr/>
          <p:nvPr/>
        </p:nvSpPr>
        <p:spPr>
          <a:xfrm>
            <a:off x="777240" y="3657600"/>
            <a:ext cx="3063240"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AWS-Provided AMIs</a:t>
            </a:r>
            <a:endParaRPr lang="en-US" sz="1350" dirty="0"/>
          </a:p>
        </p:txBody>
      </p:sp>
      <p:sp>
        <p:nvSpPr>
          <p:cNvPr id="9" name="Text 6"/>
          <p:cNvSpPr/>
          <p:nvPr/>
        </p:nvSpPr>
        <p:spPr>
          <a:xfrm>
            <a:off x="777240" y="4023360"/>
            <a:ext cx="3063240" cy="594360"/>
          </a:xfrm>
          <a:prstGeom prst="rect">
            <a:avLst/>
          </a:prstGeom>
          <a:noFill/>
        </p:spPr>
        <p:txBody>
          <a:bodyPr wrap="square" lIns="0" tIns="0" rIns="0" bIns="0" rtlCol="0" anchor="ctr"/>
          <a:lstStyle/>
          <a:p>
            <a:pPr marL="0" indent="0" algn="ctr">
              <a:lnSpc>
                <a:spcPct val="110000"/>
              </a:lnSpc>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Ready-made images for Amazon Linux, Ubuntu, Windows Server, and more</a:t>
            </a:r>
            <a:endParaRPr lang="en-US" sz="1100" dirty="0"/>
          </a:p>
        </p:txBody>
      </p:sp>
      <p:sp>
        <p:nvSpPr>
          <p:cNvPr id="10" name="Shape 7"/>
          <p:cNvSpPr/>
          <p:nvPr/>
        </p:nvSpPr>
        <p:spPr>
          <a:xfrm>
            <a:off x="4297680" y="2514600"/>
            <a:ext cx="3520440" cy="2148840"/>
          </a:xfrm>
          <a:prstGeom prst="roundRect">
            <a:avLst>
              <a:gd name="adj" fmla="val 4255"/>
            </a:avLst>
          </a:prstGeom>
          <a:solidFill>
            <a:srgbClr val="F5F7FA"/>
          </a:solidFill>
        </p:spPr>
      </p:sp>
      <p:sp>
        <p:nvSpPr>
          <p:cNvPr id="11" name="Shape 8"/>
          <p:cNvSpPr/>
          <p:nvPr/>
        </p:nvSpPr>
        <p:spPr>
          <a:xfrm>
            <a:off x="5669280" y="2743200"/>
            <a:ext cx="777240" cy="777240"/>
          </a:xfrm>
          <a:prstGeom prst="ellipse">
            <a:avLst/>
          </a:prstGeom>
          <a:solidFill>
            <a:srgbClr val="232F3E"/>
          </a:solidFill>
        </p:spPr>
      </p:sp>
      <p:pic>
        <p:nvPicPr>
          <p:cNvPr id="12" name="Image 1" descr="/home/claude/icons/users_orange.png"/>
          <p:cNvPicPr>
            <a:picLocks noChangeAspect="1"/>
          </p:cNvPicPr>
          <p:nvPr/>
        </p:nvPicPr>
        <p:blipFill>
          <a:blip r:embed="rId2"/>
          <a:stretch>
            <a:fillRect/>
          </a:stretch>
        </p:blipFill>
        <p:spPr>
          <a:xfrm>
            <a:off x="5855818" y="2929738"/>
            <a:ext cx="404165" cy="404165"/>
          </a:xfrm>
          <a:prstGeom prst="rect">
            <a:avLst/>
          </a:prstGeom>
        </p:spPr>
      </p:pic>
      <p:sp>
        <p:nvSpPr>
          <p:cNvPr id="13" name="Text 9"/>
          <p:cNvSpPr/>
          <p:nvPr/>
        </p:nvSpPr>
        <p:spPr>
          <a:xfrm>
            <a:off x="4526280" y="3657600"/>
            <a:ext cx="3063240"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Marketplace AMIs</a:t>
            </a:r>
            <a:endParaRPr lang="en-US" sz="1350" dirty="0"/>
          </a:p>
        </p:txBody>
      </p:sp>
      <p:sp>
        <p:nvSpPr>
          <p:cNvPr id="14" name="Text 10"/>
          <p:cNvSpPr/>
          <p:nvPr/>
        </p:nvSpPr>
        <p:spPr>
          <a:xfrm>
            <a:off x="4526280" y="4023360"/>
            <a:ext cx="3063240" cy="594360"/>
          </a:xfrm>
          <a:prstGeom prst="rect">
            <a:avLst/>
          </a:prstGeom>
          <a:noFill/>
        </p:spPr>
        <p:txBody>
          <a:bodyPr wrap="square" lIns="0" tIns="0" rIns="0" bIns="0" rtlCol="0" anchor="ctr"/>
          <a:lstStyle/>
          <a:p>
            <a:pPr marL="0" indent="0" algn="ctr">
              <a:lnSpc>
                <a:spcPct val="110000"/>
              </a:lnSpc>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Pre-configured software images published by third-party vendors</a:t>
            </a:r>
            <a:endParaRPr lang="en-US" sz="1100" dirty="0"/>
          </a:p>
        </p:txBody>
      </p:sp>
      <p:sp>
        <p:nvSpPr>
          <p:cNvPr id="15" name="Shape 11"/>
          <p:cNvSpPr/>
          <p:nvPr/>
        </p:nvSpPr>
        <p:spPr>
          <a:xfrm>
            <a:off x="8046720" y="2514600"/>
            <a:ext cx="3520440" cy="2148840"/>
          </a:xfrm>
          <a:prstGeom prst="roundRect">
            <a:avLst>
              <a:gd name="adj" fmla="val 4255"/>
            </a:avLst>
          </a:prstGeom>
          <a:solidFill>
            <a:srgbClr val="F5F7FA"/>
          </a:solidFill>
        </p:spPr>
      </p:sp>
      <p:sp>
        <p:nvSpPr>
          <p:cNvPr id="16" name="Shape 12"/>
          <p:cNvSpPr/>
          <p:nvPr/>
        </p:nvSpPr>
        <p:spPr>
          <a:xfrm>
            <a:off x="9418320" y="2743200"/>
            <a:ext cx="777240" cy="777240"/>
          </a:xfrm>
          <a:prstGeom prst="ellipse">
            <a:avLst/>
          </a:prstGeom>
          <a:solidFill>
            <a:srgbClr val="232F3E"/>
          </a:solidFill>
        </p:spPr>
      </p:sp>
      <p:pic>
        <p:nvPicPr>
          <p:cNvPr id="17" name="Image 2" descr="/home/claude/icons/cogs_orange.png"/>
          <p:cNvPicPr>
            <a:picLocks noChangeAspect="1"/>
          </p:cNvPicPr>
          <p:nvPr/>
        </p:nvPicPr>
        <p:blipFill>
          <a:blip r:embed="rId3"/>
          <a:stretch>
            <a:fillRect/>
          </a:stretch>
        </p:blipFill>
        <p:spPr>
          <a:xfrm>
            <a:off x="9604858" y="2929738"/>
            <a:ext cx="404165" cy="404165"/>
          </a:xfrm>
          <a:prstGeom prst="rect">
            <a:avLst/>
          </a:prstGeom>
        </p:spPr>
      </p:pic>
      <p:sp>
        <p:nvSpPr>
          <p:cNvPr id="18" name="Text 13"/>
          <p:cNvSpPr/>
          <p:nvPr/>
        </p:nvSpPr>
        <p:spPr>
          <a:xfrm>
            <a:off x="8275320" y="3657600"/>
            <a:ext cx="3063240"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Custom AMIs</a:t>
            </a:r>
            <a:endParaRPr lang="en-US" sz="1350" dirty="0"/>
          </a:p>
        </p:txBody>
      </p:sp>
      <p:sp>
        <p:nvSpPr>
          <p:cNvPr id="19" name="Text 14"/>
          <p:cNvSpPr/>
          <p:nvPr/>
        </p:nvSpPr>
        <p:spPr>
          <a:xfrm>
            <a:off x="8275320" y="4023360"/>
            <a:ext cx="3063240" cy="594360"/>
          </a:xfrm>
          <a:prstGeom prst="rect">
            <a:avLst/>
          </a:prstGeom>
          <a:noFill/>
        </p:spPr>
        <p:txBody>
          <a:bodyPr wrap="square" lIns="0" tIns="0" rIns="0" bIns="0" rtlCol="0" anchor="ctr"/>
          <a:lstStyle/>
          <a:p>
            <a:pPr marL="0" indent="0" algn="ctr">
              <a:lnSpc>
                <a:spcPct val="110000"/>
              </a:lnSpc>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Create your own image from a configured instance to replicate it later</a:t>
            </a:r>
            <a:endParaRPr lang="en-US" sz="1100" dirty="0"/>
          </a:p>
        </p:txBody>
      </p:sp>
      <p:sp>
        <p:nvSpPr>
          <p:cNvPr id="20" name="Shape 15"/>
          <p:cNvSpPr/>
          <p:nvPr/>
        </p:nvSpPr>
        <p:spPr>
          <a:xfrm>
            <a:off x="548640" y="4846320"/>
            <a:ext cx="11064240" cy="960120"/>
          </a:xfrm>
          <a:prstGeom prst="roundRect">
            <a:avLst>
              <a:gd name="adj" fmla="val 7619"/>
            </a:avLst>
          </a:prstGeom>
          <a:solidFill>
            <a:srgbClr val="232F3E"/>
          </a:solidFill>
        </p:spPr>
      </p:sp>
      <p:sp>
        <p:nvSpPr>
          <p:cNvPr id="21" name="Text 16"/>
          <p:cNvSpPr/>
          <p:nvPr/>
        </p:nvSpPr>
        <p:spPr>
          <a:xfrm>
            <a:off x="822960" y="4846320"/>
            <a:ext cx="10515600" cy="960120"/>
          </a:xfrm>
          <a:prstGeom prst="rect">
            <a:avLst/>
          </a:prstGeom>
          <a:noFill/>
        </p:spPr>
        <p:txBody>
          <a:bodyPr wrap="square" lIns="0" tIns="0" rIns="0" bIns="0" rtlCol="0" anchor="ctr"/>
          <a:lstStyle/>
          <a:p>
            <a:pPr marL="0" indent="0">
              <a:buNone/>
            </a:pPr>
            <a:r>
              <a:rPr lang="en-US" sz="1300" i="1" dirty="0">
                <a:solidFill>
                  <a:srgbClr val="FFFFFF"/>
                </a:solidFill>
                <a:latin typeface="Calibri" panose="020F0502020204030204" pitchFamily="34" charset="0"/>
                <a:ea typeface="Calibri" panose="020F0502020204030204" pitchFamily="34" charset="-122"/>
                <a:cs typeface="Calibri" panose="020F0502020204030204" pitchFamily="34" charset="-120"/>
              </a:rPr>
              <a:t>Why it matters: launching from an AMI means every new instance starts identically configured — no manual setup repeated each time.</a:t>
            </a:r>
            <a:endParaRPr lang="en-US" sz="1300" dirty="0"/>
          </a:p>
        </p:txBody>
      </p:sp>
      <p:sp>
        <p:nvSpPr>
          <p:cNvPr id="22" name="Text 17"/>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3" name="Text 18"/>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33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EC2</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Step-by-Step: Launching an EC2 Instance</a:t>
            </a:r>
            <a:endParaRPr lang="en-US" sz="3000" dirty="0"/>
          </a:p>
        </p:txBody>
      </p:sp>
      <p:sp>
        <p:nvSpPr>
          <p:cNvPr id="4" name="Shape 2"/>
          <p:cNvSpPr/>
          <p:nvPr/>
        </p:nvSpPr>
        <p:spPr>
          <a:xfrm>
            <a:off x="548640" y="1737360"/>
            <a:ext cx="3520440" cy="1920240"/>
          </a:xfrm>
          <a:prstGeom prst="roundRect">
            <a:avLst>
              <a:gd name="adj" fmla="val 4762"/>
            </a:avLst>
          </a:prstGeom>
          <a:solidFill>
            <a:srgbClr val="232F3E"/>
          </a:solidFill>
        </p:spPr>
      </p:sp>
      <p:sp>
        <p:nvSpPr>
          <p:cNvPr id="5" name="Shape 3"/>
          <p:cNvSpPr/>
          <p:nvPr/>
        </p:nvSpPr>
        <p:spPr>
          <a:xfrm>
            <a:off x="804672" y="1965960"/>
            <a:ext cx="548640" cy="548640"/>
          </a:xfrm>
          <a:prstGeom prst="ellipse">
            <a:avLst/>
          </a:prstGeom>
          <a:solidFill>
            <a:srgbClr val="FF9900"/>
          </a:solidFill>
        </p:spPr>
      </p:sp>
      <p:sp>
        <p:nvSpPr>
          <p:cNvPr id="6" name="Text 4"/>
          <p:cNvSpPr/>
          <p:nvPr/>
        </p:nvSpPr>
        <p:spPr>
          <a:xfrm>
            <a:off x="804672" y="1965960"/>
            <a:ext cx="548640" cy="548640"/>
          </a:xfrm>
          <a:prstGeom prst="rect">
            <a:avLst/>
          </a:prstGeom>
          <a:noFill/>
        </p:spPr>
        <p:txBody>
          <a:bodyPr wrap="square" lIns="0" tIns="0" rIns="0" bIns="0" rtlCol="0" anchor="ctr"/>
          <a:lstStyle/>
          <a:p>
            <a:pPr marL="0" indent="0" algn="ctr">
              <a:buNone/>
            </a:pPr>
            <a:r>
              <a:rPr lang="en-US" sz="2000" b="1" dirty="0">
                <a:solidFill>
                  <a:srgbClr val="232F3E"/>
                </a:solidFill>
                <a:latin typeface="Cambria" panose="02040503050406030204" pitchFamily="34" charset="0"/>
                <a:ea typeface="Cambria" panose="02040503050406030204" pitchFamily="34" charset="-122"/>
                <a:cs typeface="Cambria" panose="02040503050406030204" pitchFamily="34" charset="-120"/>
              </a:rPr>
              <a:t>1</a:t>
            </a:r>
            <a:endParaRPr lang="en-US" sz="2000" dirty="0"/>
          </a:p>
        </p:txBody>
      </p:sp>
      <p:sp>
        <p:nvSpPr>
          <p:cNvPr id="7" name="Text 5"/>
          <p:cNvSpPr/>
          <p:nvPr/>
        </p:nvSpPr>
        <p:spPr>
          <a:xfrm>
            <a:off x="1508760" y="2011680"/>
            <a:ext cx="2377440" cy="45720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Choose an AMI</a:t>
            </a:r>
            <a:endParaRPr lang="en-US" sz="1350" dirty="0"/>
          </a:p>
        </p:txBody>
      </p:sp>
      <p:sp>
        <p:nvSpPr>
          <p:cNvPr id="8" name="Text 6"/>
          <p:cNvSpPr/>
          <p:nvPr/>
        </p:nvSpPr>
        <p:spPr>
          <a:xfrm>
            <a:off x="804672" y="2651760"/>
            <a:ext cx="3063240" cy="914400"/>
          </a:xfrm>
          <a:prstGeom prst="rect">
            <a:avLst/>
          </a:prstGeom>
          <a:noFill/>
        </p:spPr>
        <p:txBody>
          <a:bodyPr wrap="square" lIns="0" tIns="0" rIns="0" bIns="0" rtlCol="0" anchor="ctr"/>
          <a:lstStyle/>
          <a:p>
            <a:pPr marL="0" indent="0">
              <a:lnSpc>
                <a:spcPct val="115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Select the OS/software template to launch from</a:t>
            </a:r>
            <a:endParaRPr lang="en-US" sz="1100" dirty="0"/>
          </a:p>
        </p:txBody>
      </p:sp>
      <p:sp>
        <p:nvSpPr>
          <p:cNvPr id="9" name="Shape 7"/>
          <p:cNvSpPr/>
          <p:nvPr/>
        </p:nvSpPr>
        <p:spPr>
          <a:xfrm>
            <a:off x="4297680" y="1737360"/>
            <a:ext cx="3520440" cy="1920240"/>
          </a:xfrm>
          <a:prstGeom prst="roundRect">
            <a:avLst>
              <a:gd name="adj" fmla="val 4762"/>
            </a:avLst>
          </a:prstGeom>
          <a:solidFill>
            <a:srgbClr val="232F3E"/>
          </a:solidFill>
        </p:spPr>
      </p:sp>
      <p:sp>
        <p:nvSpPr>
          <p:cNvPr id="10" name="Shape 8"/>
          <p:cNvSpPr/>
          <p:nvPr/>
        </p:nvSpPr>
        <p:spPr>
          <a:xfrm>
            <a:off x="4553712" y="1965960"/>
            <a:ext cx="548640" cy="548640"/>
          </a:xfrm>
          <a:prstGeom prst="ellipse">
            <a:avLst/>
          </a:prstGeom>
          <a:solidFill>
            <a:srgbClr val="FF9900"/>
          </a:solidFill>
        </p:spPr>
      </p:sp>
      <p:sp>
        <p:nvSpPr>
          <p:cNvPr id="11" name="Text 9"/>
          <p:cNvSpPr/>
          <p:nvPr/>
        </p:nvSpPr>
        <p:spPr>
          <a:xfrm>
            <a:off x="4553712" y="1965960"/>
            <a:ext cx="548640" cy="548640"/>
          </a:xfrm>
          <a:prstGeom prst="rect">
            <a:avLst/>
          </a:prstGeom>
          <a:noFill/>
        </p:spPr>
        <p:txBody>
          <a:bodyPr wrap="square" lIns="0" tIns="0" rIns="0" bIns="0" rtlCol="0" anchor="ctr"/>
          <a:lstStyle/>
          <a:p>
            <a:pPr marL="0" indent="0" algn="ctr">
              <a:buNone/>
            </a:pPr>
            <a:r>
              <a:rPr lang="en-US" sz="2000" b="1" dirty="0">
                <a:solidFill>
                  <a:srgbClr val="232F3E"/>
                </a:solidFill>
                <a:latin typeface="Cambria" panose="02040503050406030204" pitchFamily="34" charset="0"/>
                <a:ea typeface="Cambria" panose="02040503050406030204" pitchFamily="34" charset="-122"/>
                <a:cs typeface="Cambria" panose="02040503050406030204" pitchFamily="34" charset="-120"/>
              </a:rPr>
              <a:t>2</a:t>
            </a:r>
            <a:endParaRPr lang="en-US" sz="2000" dirty="0"/>
          </a:p>
        </p:txBody>
      </p:sp>
      <p:sp>
        <p:nvSpPr>
          <p:cNvPr id="12" name="Text 10"/>
          <p:cNvSpPr/>
          <p:nvPr/>
        </p:nvSpPr>
        <p:spPr>
          <a:xfrm>
            <a:off x="5257800" y="2011680"/>
            <a:ext cx="2377440" cy="45720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Choose Instance Type</a:t>
            </a:r>
            <a:endParaRPr lang="en-US" sz="1350" dirty="0"/>
          </a:p>
        </p:txBody>
      </p:sp>
      <p:sp>
        <p:nvSpPr>
          <p:cNvPr id="13" name="Text 11"/>
          <p:cNvSpPr/>
          <p:nvPr/>
        </p:nvSpPr>
        <p:spPr>
          <a:xfrm>
            <a:off x="4553712" y="2651760"/>
            <a:ext cx="3063240" cy="914400"/>
          </a:xfrm>
          <a:prstGeom prst="rect">
            <a:avLst/>
          </a:prstGeom>
          <a:noFill/>
        </p:spPr>
        <p:txBody>
          <a:bodyPr wrap="square" lIns="0" tIns="0" rIns="0" bIns="0" rtlCol="0" anchor="ctr"/>
          <a:lstStyle/>
          <a:p>
            <a:pPr marL="0" indent="0">
              <a:lnSpc>
                <a:spcPct val="115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Pick the CPU/memory combination that fits your workload</a:t>
            </a:r>
            <a:endParaRPr lang="en-US" sz="1100" dirty="0"/>
          </a:p>
        </p:txBody>
      </p:sp>
      <p:sp>
        <p:nvSpPr>
          <p:cNvPr id="14" name="Shape 12"/>
          <p:cNvSpPr/>
          <p:nvPr/>
        </p:nvSpPr>
        <p:spPr>
          <a:xfrm>
            <a:off x="8046720" y="1737360"/>
            <a:ext cx="3520440" cy="1920240"/>
          </a:xfrm>
          <a:prstGeom prst="roundRect">
            <a:avLst>
              <a:gd name="adj" fmla="val 4762"/>
            </a:avLst>
          </a:prstGeom>
          <a:solidFill>
            <a:srgbClr val="232F3E"/>
          </a:solidFill>
        </p:spPr>
      </p:sp>
      <p:sp>
        <p:nvSpPr>
          <p:cNvPr id="15" name="Shape 13"/>
          <p:cNvSpPr/>
          <p:nvPr/>
        </p:nvSpPr>
        <p:spPr>
          <a:xfrm>
            <a:off x="8302752" y="1965960"/>
            <a:ext cx="548640" cy="548640"/>
          </a:xfrm>
          <a:prstGeom prst="ellipse">
            <a:avLst/>
          </a:prstGeom>
          <a:solidFill>
            <a:srgbClr val="FF9900"/>
          </a:solidFill>
        </p:spPr>
      </p:sp>
      <p:sp>
        <p:nvSpPr>
          <p:cNvPr id="16" name="Text 14"/>
          <p:cNvSpPr/>
          <p:nvPr/>
        </p:nvSpPr>
        <p:spPr>
          <a:xfrm>
            <a:off x="8302752" y="1965960"/>
            <a:ext cx="548640" cy="548640"/>
          </a:xfrm>
          <a:prstGeom prst="rect">
            <a:avLst/>
          </a:prstGeom>
          <a:noFill/>
        </p:spPr>
        <p:txBody>
          <a:bodyPr wrap="square" lIns="0" tIns="0" rIns="0" bIns="0" rtlCol="0" anchor="ctr"/>
          <a:lstStyle/>
          <a:p>
            <a:pPr marL="0" indent="0" algn="ctr">
              <a:buNone/>
            </a:pPr>
            <a:r>
              <a:rPr lang="en-US" sz="2000" b="1" dirty="0">
                <a:solidFill>
                  <a:srgbClr val="232F3E"/>
                </a:solidFill>
                <a:latin typeface="Cambria" panose="02040503050406030204" pitchFamily="34" charset="0"/>
                <a:ea typeface="Cambria" panose="02040503050406030204" pitchFamily="34" charset="-122"/>
                <a:cs typeface="Cambria" panose="02040503050406030204" pitchFamily="34" charset="-120"/>
              </a:rPr>
              <a:t>3</a:t>
            </a:r>
            <a:endParaRPr lang="en-US" sz="2000" dirty="0"/>
          </a:p>
        </p:txBody>
      </p:sp>
      <p:sp>
        <p:nvSpPr>
          <p:cNvPr id="17" name="Text 15"/>
          <p:cNvSpPr/>
          <p:nvPr/>
        </p:nvSpPr>
        <p:spPr>
          <a:xfrm>
            <a:off x="9006840" y="2011680"/>
            <a:ext cx="2377440" cy="45720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Configure Network</a:t>
            </a:r>
            <a:endParaRPr lang="en-US" sz="1350" dirty="0"/>
          </a:p>
        </p:txBody>
      </p:sp>
      <p:sp>
        <p:nvSpPr>
          <p:cNvPr id="18" name="Text 16"/>
          <p:cNvSpPr/>
          <p:nvPr/>
        </p:nvSpPr>
        <p:spPr>
          <a:xfrm>
            <a:off x="8302752" y="2651760"/>
            <a:ext cx="3063240" cy="914400"/>
          </a:xfrm>
          <a:prstGeom prst="rect">
            <a:avLst/>
          </a:prstGeom>
          <a:noFill/>
        </p:spPr>
        <p:txBody>
          <a:bodyPr wrap="square" lIns="0" tIns="0" rIns="0" bIns="0" rtlCol="0" anchor="ctr"/>
          <a:lstStyle/>
          <a:p>
            <a:pPr marL="0" indent="0">
              <a:lnSpc>
                <a:spcPct val="115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Select VPC, subnet &amp; auto-assign public IP if needed</a:t>
            </a:r>
            <a:endParaRPr lang="en-US" sz="1100" dirty="0"/>
          </a:p>
        </p:txBody>
      </p:sp>
      <p:sp>
        <p:nvSpPr>
          <p:cNvPr id="19" name="Shape 17"/>
          <p:cNvSpPr/>
          <p:nvPr/>
        </p:nvSpPr>
        <p:spPr>
          <a:xfrm>
            <a:off x="548640" y="3886200"/>
            <a:ext cx="3520440" cy="1920240"/>
          </a:xfrm>
          <a:prstGeom prst="roundRect">
            <a:avLst>
              <a:gd name="adj" fmla="val 4762"/>
            </a:avLst>
          </a:prstGeom>
          <a:solidFill>
            <a:srgbClr val="F5F7FA"/>
          </a:solidFill>
        </p:spPr>
      </p:sp>
      <p:sp>
        <p:nvSpPr>
          <p:cNvPr id="20" name="Shape 18"/>
          <p:cNvSpPr/>
          <p:nvPr/>
        </p:nvSpPr>
        <p:spPr>
          <a:xfrm>
            <a:off x="804672" y="4114800"/>
            <a:ext cx="548640" cy="548640"/>
          </a:xfrm>
          <a:prstGeom prst="ellipse">
            <a:avLst/>
          </a:prstGeom>
          <a:solidFill>
            <a:srgbClr val="FF9900"/>
          </a:solidFill>
        </p:spPr>
      </p:sp>
      <p:sp>
        <p:nvSpPr>
          <p:cNvPr id="21" name="Text 19"/>
          <p:cNvSpPr/>
          <p:nvPr/>
        </p:nvSpPr>
        <p:spPr>
          <a:xfrm>
            <a:off x="804672" y="4114800"/>
            <a:ext cx="548640" cy="548640"/>
          </a:xfrm>
          <a:prstGeom prst="rect">
            <a:avLst/>
          </a:prstGeom>
          <a:noFill/>
        </p:spPr>
        <p:txBody>
          <a:bodyPr wrap="square" lIns="0" tIns="0" rIns="0" bIns="0" rtlCol="0" anchor="ctr"/>
          <a:lstStyle/>
          <a:p>
            <a:pPr marL="0" indent="0" algn="ctr">
              <a:buNone/>
            </a:pPr>
            <a:r>
              <a:rPr lang="en-US" sz="2000" b="1" dirty="0">
                <a:solidFill>
                  <a:srgbClr val="232F3E"/>
                </a:solidFill>
                <a:latin typeface="Cambria" panose="02040503050406030204" pitchFamily="34" charset="0"/>
                <a:ea typeface="Cambria" panose="02040503050406030204" pitchFamily="34" charset="-122"/>
                <a:cs typeface="Cambria" panose="02040503050406030204" pitchFamily="34" charset="-120"/>
              </a:rPr>
              <a:t>4</a:t>
            </a:r>
            <a:endParaRPr lang="en-US" sz="2000" dirty="0"/>
          </a:p>
        </p:txBody>
      </p:sp>
      <p:sp>
        <p:nvSpPr>
          <p:cNvPr id="22" name="Text 20"/>
          <p:cNvSpPr/>
          <p:nvPr/>
        </p:nvSpPr>
        <p:spPr>
          <a:xfrm>
            <a:off x="1508760" y="4160520"/>
            <a:ext cx="2377440" cy="45720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Add Storage</a:t>
            </a:r>
            <a:endParaRPr lang="en-US" sz="1350" dirty="0"/>
          </a:p>
        </p:txBody>
      </p:sp>
      <p:sp>
        <p:nvSpPr>
          <p:cNvPr id="23" name="Text 21"/>
          <p:cNvSpPr/>
          <p:nvPr/>
        </p:nvSpPr>
        <p:spPr>
          <a:xfrm>
            <a:off x="804672" y="4800600"/>
            <a:ext cx="3063240" cy="914400"/>
          </a:xfrm>
          <a:prstGeom prst="rect">
            <a:avLst/>
          </a:prstGeom>
          <a:noFill/>
        </p:spPr>
        <p:txBody>
          <a:bodyPr wrap="square" lIns="0" tIns="0" rIns="0" bIns="0" rtlCol="0" anchor="ctr"/>
          <a:lstStyle/>
          <a:p>
            <a:pPr marL="0" indent="0">
              <a:lnSpc>
                <a:spcPct val="115000"/>
              </a:lnSpc>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Attach EBS volumes for the root and any additional disks</a:t>
            </a:r>
            <a:endParaRPr lang="en-US" sz="1100" dirty="0"/>
          </a:p>
        </p:txBody>
      </p:sp>
      <p:sp>
        <p:nvSpPr>
          <p:cNvPr id="24" name="Shape 22"/>
          <p:cNvSpPr/>
          <p:nvPr/>
        </p:nvSpPr>
        <p:spPr>
          <a:xfrm>
            <a:off x="4297680" y="3886200"/>
            <a:ext cx="3520440" cy="1920240"/>
          </a:xfrm>
          <a:prstGeom prst="roundRect">
            <a:avLst>
              <a:gd name="adj" fmla="val 4762"/>
            </a:avLst>
          </a:prstGeom>
          <a:solidFill>
            <a:srgbClr val="F5F7FA"/>
          </a:solidFill>
        </p:spPr>
      </p:sp>
      <p:sp>
        <p:nvSpPr>
          <p:cNvPr id="25" name="Shape 23"/>
          <p:cNvSpPr/>
          <p:nvPr/>
        </p:nvSpPr>
        <p:spPr>
          <a:xfrm>
            <a:off x="4553712" y="4114800"/>
            <a:ext cx="548640" cy="548640"/>
          </a:xfrm>
          <a:prstGeom prst="ellipse">
            <a:avLst/>
          </a:prstGeom>
          <a:solidFill>
            <a:srgbClr val="FF9900"/>
          </a:solidFill>
        </p:spPr>
      </p:sp>
      <p:sp>
        <p:nvSpPr>
          <p:cNvPr id="26" name="Text 24"/>
          <p:cNvSpPr/>
          <p:nvPr/>
        </p:nvSpPr>
        <p:spPr>
          <a:xfrm>
            <a:off x="4553712" y="4114800"/>
            <a:ext cx="548640" cy="548640"/>
          </a:xfrm>
          <a:prstGeom prst="rect">
            <a:avLst/>
          </a:prstGeom>
          <a:noFill/>
        </p:spPr>
        <p:txBody>
          <a:bodyPr wrap="square" lIns="0" tIns="0" rIns="0" bIns="0" rtlCol="0" anchor="ctr"/>
          <a:lstStyle/>
          <a:p>
            <a:pPr marL="0" indent="0" algn="ctr">
              <a:buNone/>
            </a:pPr>
            <a:r>
              <a:rPr lang="en-US" sz="2000" b="1" dirty="0">
                <a:solidFill>
                  <a:srgbClr val="232F3E"/>
                </a:solidFill>
                <a:latin typeface="Cambria" panose="02040503050406030204" pitchFamily="34" charset="0"/>
                <a:ea typeface="Cambria" panose="02040503050406030204" pitchFamily="34" charset="-122"/>
                <a:cs typeface="Cambria" panose="02040503050406030204" pitchFamily="34" charset="-120"/>
              </a:rPr>
              <a:t>5</a:t>
            </a:r>
            <a:endParaRPr lang="en-US" sz="2000" dirty="0"/>
          </a:p>
        </p:txBody>
      </p:sp>
      <p:sp>
        <p:nvSpPr>
          <p:cNvPr id="27" name="Text 25"/>
          <p:cNvSpPr/>
          <p:nvPr/>
        </p:nvSpPr>
        <p:spPr>
          <a:xfrm>
            <a:off x="5257800" y="4160520"/>
            <a:ext cx="2377440" cy="45720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Set Security Group</a:t>
            </a:r>
            <a:endParaRPr lang="en-US" sz="1350" dirty="0"/>
          </a:p>
        </p:txBody>
      </p:sp>
      <p:sp>
        <p:nvSpPr>
          <p:cNvPr id="28" name="Text 26"/>
          <p:cNvSpPr/>
          <p:nvPr/>
        </p:nvSpPr>
        <p:spPr>
          <a:xfrm>
            <a:off x="4553712" y="4800600"/>
            <a:ext cx="3063240" cy="914400"/>
          </a:xfrm>
          <a:prstGeom prst="rect">
            <a:avLst/>
          </a:prstGeom>
          <a:noFill/>
        </p:spPr>
        <p:txBody>
          <a:bodyPr wrap="square" lIns="0" tIns="0" rIns="0" bIns="0" rtlCol="0" anchor="ctr"/>
          <a:lstStyle/>
          <a:p>
            <a:pPr marL="0" indent="0">
              <a:lnSpc>
                <a:spcPct val="115000"/>
              </a:lnSpc>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Define firewall rules for allowed inbound/outbound traffic</a:t>
            </a:r>
            <a:endParaRPr lang="en-US" sz="1100" dirty="0"/>
          </a:p>
        </p:txBody>
      </p:sp>
      <p:sp>
        <p:nvSpPr>
          <p:cNvPr id="29" name="Shape 27"/>
          <p:cNvSpPr/>
          <p:nvPr/>
        </p:nvSpPr>
        <p:spPr>
          <a:xfrm>
            <a:off x="8046720" y="3886200"/>
            <a:ext cx="3520440" cy="1920240"/>
          </a:xfrm>
          <a:prstGeom prst="roundRect">
            <a:avLst>
              <a:gd name="adj" fmla="val 4762"/>
            </a:avLst>
          </a:prstGeom>
          <a:solidFill>
            <a:srgbClr val="F5F7FA"/>
          </a:solidFill>
        </p:spPr>
      </p:sp>
      <p:sp>
        <p:nvSpPr>
          <p:cNvPr id="30" name="Shape 28"/>
          <p:cNvSpPr/>
          <p:nvPr/>
        </p:nvSpPr>
        <p:spPr>
          <a:xfrm>
            <a:off x="8302752" y="4114800"/>
            <a:ext cx="548640" cy="548640"/>
          </a:xfrm>
          <a:prstGeom prst="ellipse">
            <a:avLst/>
          </a:prstGeom>
          <a:solidFill>
            <a:srgbClr val="FF9900"/>
          </a:solidFill>
        </p:spPr>
      </p:sp>
      <p:sp>
        <p:nvSpPr>
          <p:cNvPr id="31" name="Text 29"/>
          <p:cNvSpPr/>
          <p:nvPr/>
        </p:nvSpPr>
        <p:spPr>
          <a:xfrm>
            <a:off x="8302752" y="4114800"/>
            <a:ext cx="548640" cy="548640"/>
          </a:xfrm>
          <a:prstGeom prst="rect">
            <a:avLst/>
          </a:prstGeom>
          <a:noFill/>
        </p:spPr>
        <p:txBody>
          <a:bodyPr wrap="square" lIns="0" tIns="0" rIns="0" bIns="0" rtlCol="0" anchor="ctr"/>
          <a:lstStyle/>
          <a:p>
            <a:pPr marL="0" indent="0" algn="ctr">
              <a:buNone/>
            </a:pPr>
            <a:r>
              <a:rPr lang="en-US" sz="2000" b="1" dirty="0">
                <a:solidFill>
                  <a:srgbClr val="232F3E"/>
                </a:solidFill>
                <a:latin typeface="Cambria" panose="02040503050406030204" pitchFamily="34" charset="0"/>
                <a:ea typeface="Cambria" panose="02040503050406030204" pitchFamily="34" charset="-122"/>
                <a:cs typeface="Cambria" panose="02040503050406030204" pitchFamily="34" charset="-120"/>
              </a:rPr>
              <a:t>6</a:t>
            </a:r>
            <a:endParaRPr lang="en-US" sz="2000" dirty="0"/>
          </a:p>
        </p:txBody>
      </p:sp>
      <p:sp>
        <p:nvSpPr>
          <p:cNvPr id="32" name="Text 30"/>
          <p:cNvSpPr/>
          <p:nvPr/>
        </p:nvSpPr>
        <p:spPr>
          <a:xfrm>
            <a:off x="9006840" y="4160520"/>
            <a:ext cx="2377440" cy="457200"/>
          </a:xfrm>
          <a:prstGeom prst="rect">
            <a:avLst/>
          </a:prstGeom>
          <a:noFill/>
        </p:spPr>
        <p:txBody>
          <a:bodyPr wrap="square" lIns="0" tIns="0" rIns="0" bIns="0" rtlCol="0" anchor="ctr"/>
          <a:lstStyle/>
          <a:p>
            <a:pPr marL="0" indent="0">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Launch &amp; Connect</a:t>
            </a:r>
            <a:endParaRPr lang="en-US" sz="1350" dirty="0"/>
          </a:p>
        </p:txBody>
      </p:sp>
      <p:sp>
        <p:nvSpPr>
          <p:cNvPr id="33" name="Text 31"/>
          <p:cNvSpPr/>
          <p:nvPr/>
        </p:nvSpPr>
        <p:spPr>
          <a:xfrm>
            <a:off x="8302752" y="4800600"/>
            <a:ext cx="3063240" cy="914400"/>
          </a:xfrm>
          <a:prstGeom prst="rect">
            <a:avLst/>
          </a:prstGeom>
          <a:noFill/>
        </p:spPr>
        <p:txBody>
          <a:bodyPr wrap="square" lIns="0" tIns="0" rIns="0" bIns="0" rtlCol="0" anchor="ctr"/>
          <a:lstStyle/>
          <a:p>
            <a:pPr marL="0" indent="0">
              <a:lnSpc>
                <a:spcPct val="115000"/>
              </a:lnSpc>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Assign a key pair, launch, then connect via SSH or RDP</a:t>
            </a:r>
            <a:endParaRPr lang="en-US" sz="1100" dirty="0"/>
          </a:p>
        </p:txBody>
      </p:sp>
      <p:sp>
        <p:nvSpPr>
          <p:cNvPr id="34" name="Text 3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5" name="Text 3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34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37475A"/>
          </a:solidFill>
        </p:spPr>
      </p:sp>
      <p:sp>
        <p:nvSpPr>
          <p:cNvPr id="3" name="Shape 1"/>
          <p:cNvSpPr/>
          <p:nvPr/>
        </p:nvSpPr>
        <p:spPr>
          <a:xfrm>
            <a:off x="-1280160" y="4937760"/>
            <a:ext cx="3291840" cy="3291840"/>
          </a:xfrm>
          <a:prstGeom prst="ellipse">
            <a:avLst/>
          </a:prstGeom>
          <a:solidFill>
            <a:srgbClr val="37475A"/>
          </a:solidFill>
        </p:spPr>
      </p:sp>
      <p:sp>
        <p:nvSpPr>
          <p:cNvPr id="4" name="Shape 2"/>
          <p:cNvSpPr/>
          <p:nvPr/>
        </p:nvSpPr>
        <p:spPr>
          <a:xfrm>
            <a:off x="822960" y="1965960"/>
            <a:ext cx="1051560" cy="1051560"/>
          </a:xfrm>
          <a:prstGeom prst="ellipse">
            <a:avLst/>
          </a:prstGeom>
          <a:solidFill>
            <a:srgbClr val="FF9900"/>
          </a:solidFill>
        </p:spPr>
      </p:sp>
      <p:pic>
        <p:nvPicPr>
          <p:cNvPr id="5" name="Image 0" descr="/home/claude/icons/database_navy.png"/>
          <p:cNvPicPr>
            <a:picLocks noChangeAspect="1"/>
          </p:cNvPicPr>
          <p:nvPr/>
        </p:nvPicPr>
        <p:blipFill>
          <a:blip r:embed="rId1"/>
          <a:stretch>
            <a:fillRect/>
          </a:stretch>
        </p:blipFill>
        <p:spPr>
          <a:xfrm>
            <a:off x="1075334" y="2218334"/>
            <a:ext cx="546811" cy="546811"/>
          </a:xfrm>
          <a:prstGeom prst="rect">
            <a:avLst/>
          </a:prstGeom>
        </p:spPr>
      </p:pic>
      <p:sp>
        <p:nvSpPr>
          <p:cNvPr id="6" name="Text 3"/>
          <p:cNvSpPr/>
          <p:nvPr/>
        </p:nvSpPr>
        <p:spPr>
          <a:xfrm>
            <a:off x="822960" y="3200400"/>
            <a:ext cx="7315200" cy="365760"/>
          </a:xfrm>
          <a:prstGeom prst="rect">
            <a:avLst/>
          </a:prstGeom>
          <a:noFill/>
        </p:spPr>
        <p:txBody>
          <a:bodyPr wrap="square" lIns="0" tIns="0" rIns="0" bIns="0" rtlCol="0" anchor="ctr"/>
          <a:lstStyle/>
          <a:p>
            <a:pPr marL="0" indent="0">
              <a:buNone/>
            </a:pPr>
            <a:r>
              <a:rPr lang="en-US" sz="1500" b="1" kern="0" spc="3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5</a:t>
            </a:r>
            <a:endParaRPr lang="en-US" sz="1500" dirty="0"/>
          </a:p>
        </p:txBody>
      </p:sp>
      <p:sp>
        <p:nvSpPr>
          <p:cNvPr id="7" name="Text 4"/>
          <p:cNvSpPr/>
          <p:nvPr/>
        </p:nvSpPr>
        <p:spPr>
          <a:xfrm>
            <a:off x="777240" y="3566160"/>
            <a:ext cx="9601200" cy="1188720"/>
          </a:xfrm>
          <a:prstGeom prst="rect">
            <a:avLst/>
          </a:prstGeom>
          <a:noFill/>
        </p:spPr>
        <p:txBody>
          <a:bodyPr wrap="square" lIns="0" tIns="0" rIns="0" bIns="0" rtlCol="0" anchor="ctr"/>
          <a:lstStyle/>
          <a:p>
            <a:pPr marL="0" indent="0">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Amazon S3</a:t>
            </a:r>
            <a:endParaRPr lang="en-US" sz="4200" dirty="0"/>
          </a:p>
        </p:txBody>
      </p:sp>
      <p:sp>
        <p:nvSpPr>
          <p:cNvPr id="8" name="Text 5"/>
          <p:cNvSpPr/>
          <p:nvPr/>
        </p:nvSpPr>
        <p:spPr>
          <a:xfrm>
            <a:off x="822960" y="4709160"/>
            <a:ext cx="8686800" cy="548640"/>
          </a:xfrm>
          <a:prstGeom prst="rect">
            <a:avLst/>
          </a:prstGeom>
          <a:noFill/>
        </p:spPr>
        <p:txBody>
          <a:bodyPr wrap="square" lIns="0" tIns="0" rIns="0" bIns="0"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Simple Storage Service — durable, scalable object storage</a:t>
            </a:r>
            <a:endParaRPr lang="en-US" sz="1600" dirty="0"/>
          </a:p>
        </p:txBody>
      </p:sp>
      <p:sp>
        <p:nvSpPr>
          <p:cNvPr id="9" name="Text 6"/>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0" name="Text 7"/>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35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S3</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What is Amazon S3?</a:t>
            </a:r>
            <a:endParaRPr lang="en-US" sz="3000" dirty="0"/>
          </a:p>
        </p:txBody>
      </p:sp>
      <p:sp>
        <p:nvSpPr>
          <p:cNvPr id="4" name="Text 2"/>
          <p:cNvSpPr/>
          <p:nvPr/>
        </p:nvSpPr>
        <p:spPr>
          <a:xfrm>
            <a:off x="548640" y="1691640"/>
            <a:ext cx="6492240" cy="1280160"/>
          </a:xfrm>
          <a:prstGeom prst="rect">
            <a:avLst/>
          </a:prstGeom>
          <a:noFill/>
        </p:spPr>
        <p:txBody>
          <a:bodyPr wrap="square" lIns="0" tIns="0" rIns="0" bIns="0" rtlCol="0" anchor="ctr"/>
          <a:lstStyle/>
          <a:p>
            <a:pPr marL="0" indent="0">
              <a:lnSpc>
                <a:spcPct val="125000"/>
              </a:lnSpc>
              <a:buNone/>
            </a:pPr>
            <a:r>
              <a:rPr lang="en-US" sz="1450" dirty="0">
                <a:solidFill>
                  <a:srgbClr val="232F3E"/>
                </a:solidFill>
                <a:latin typeface="Calibri" panose="020F0502020204030204" pitchFamily="34" charset="0"/>
                <a:ea typeface="Calibri" panose="020F0502020204030204" pitchFamily="34" charset="-122"/>
                <a:cs typeface="Calibri" panose="020F0502020204030204" pitchFamily="34" charset="-120"/>
              </a:rPr>
              <a:t>Amazon Simple Storage Service (S3) is object storage built to store and retrieve any amount of data — from a single file to exabytes — with 99.999999999% (11 nines) durability.</a:t>
            </a:r>
            <a:endParaRPr lang="en-US" sz="1450" dirty="0"/>
          </a:p>
        </p:txBody>
      </p:sp>
      <p:sp>
        <p:nvSpPr>
          <p:cNvPr id="5" name="Text 3"/>
          <p:cNvSpPr/>
          <p:nvPr/>
        </p:nvSpPr>
        <p:spPr>
          <a:xfrm>
            <a:off x="548640" y="3063240"/>
            <a:ext cx="6492240" cy="2377440"/>
          </a:xfrm>
          <a:prstGeom prst="rect">
            <a:avLst/>
          </a:prstGeom>
          <a:noFill/>
        </p:spPr>
        <p:txBody>
          <a:bodyPr wrap="square" lIns="0" tIns="0" rIns="0" bIns="0" rtlCol="0" anchor="ctr"/>
          <a:lstStyle/>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Store unlimited data as objects inside buckets</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Access data over the internet via a simple API or console</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Built-in redundancy across multiple Availability Zones</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Pay only for storage used, plus data transfer &amp; requests</a:t>
            </a:r>
            <a:endParaRPr lang="en-US" sz="1350" dirty="0"/>
          </a:p>
        </p:txBody>
      </p:sp>
      <p:sp>
        <p:nvSpPr>
          <p:cNvPr id="6" name="Shape 4"/>
          <p:cNvSpPr/>
          <p:nvPr/>
        </p:nvSpPr>
        <p:spPr>
          <a:xfrm>
            <a:off x="7360920" y="1691640"/>
            <a:ext cx="4251960" cy="4206240"/>
          </a:xfrm>
          <a:prstGeom prst="roundRect">
            <a:avLst>
              <a:gd name="adj" fmla="val 2174"/>
            </a:avLst>
          </a:prstGeom>
          <a:solidFill>
            <a:srgbClr val="232F3E"/>
          </a:solidFill>
        </p:spPr>
      </p:sp>
      <p:sp>
        <p:nvSpPr>
          <p:cNvPr id="7" name="Shape 5"/>
          <p:cNvSpPr/>
          <p:nvPr/>
        </p:nvSpPr>
        <p:spPr>
          <a:xfrm>
            <a:off x="9144000" y="2011680"/>
            <a:ext cx="914400" cy="914400"/>
          </a:xfrm>
          <a:prstGeom prst="ellipse">
            <a:avLst/>
          </a:prstGeom>
          <a:solidFill>
            <a:srgbClr val="FF9900"/>
          </a:solidFill>
        </p:spPr>
      </p:sp>
      <p:pic>
        <p:nvPicPr>
          <p:cNvPr id="8" name="Image 0" descr="/home/claude/icons/database_navy.png"/>
          <p:cNvPicPr>
            <a:picLocks noChangeAspect="1"/>
          </p:cNvPicPr>
          <p:nvPr/>
        </p:nvPicPr>
        <p:blipFill>
          <a:blip r:embed="rId1"/>
          <a:stretch>
            <a:fillRect/>
          </a:stretch>
        </p:blipFill>
        <p:spPr>
          <a:xfrm>
            <a:off x="9363456" y="2231136"/>
            <a:ext cx="475488" cy="475488"/>
          </a:xfrm>
          <a:prstGeom prst="rect">
            <a:avLst/>
          </a:prstGeom>
        </p:spPr>
      </p:pic>
      <p:sp>
        <p:nvSpPr>
          <p:cNvPr id="9" name="Text 6"/>
          <p:cNvSpPr/>
          <p:nvPr/>
        </p:nvSpPr>
        <p:spPr>
          <a:xfrm>
            <a:off x="7635240" y="3154680"/>
            <a:ext cx="36576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11 Nines of Durability</a:t>
            </a:r>
            <a:endParaRPr lang="en-US" sz="1500" dirty="0"/>
          </a:p>
        </p:txBody>
      </p:sp>
      <p:sp>
        <p:nvSpPr>
          <p:cNvPr id="10" name="Text 7"/>
          <p:cNvSpPr/>
          <p:nvPr/>
        </p:nvSpPr>
        <p:spPr>
          <a:xfrm>
            <a:off x="7635240" y="3703320"/>
            <a:ext cx="3657600" cy="1920240"/>
          </a:xfrm>
          <a:prstGeom prst="rect">
            <a:avLst/>
          </a:prstGeom>
          <a:noFill/>
        </p:spPr>
        <p:txBody>
          <a:bodyPr wrap="square" lIns="0" tIns="0" rIns="0" bIns="0" rtlCol="0" anchor="ctr"/>
          <a:lstStyle/>
          <a:p>
            <a:pPr marL="0" indent="0" algn="ctr">
              <a:lnSpc>
                <a:spcPct val="125000"/>
              </a:lnSpc>
              <a:buNone/>
            </a:pP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99.999999999% — if you store 10 million objects, you can expect to lose a single object roughly once every 10,000 years.</a:t>
            </a:r>
            <a:endParaRPr lang="en-US" sz="1200" dirty="0"/>
          </a:p>
        </p:txBody>
      </p:sp>
      <p:sp>
        <p:nvSpPr>
          <p:cNvPr id="11" name="Text 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2" name="Text 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36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S3</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Buckets &amp; Objects</a:t>
            </a:r>
            <a:endParaRPr lang="en-US" sz="3000" dirty="0"/>
          </a:p>
        </p:txBody>
      </p:sp>
      <p:sp>
        <p:nvSpPr>
          <p:cNvPr id="4" name="Shape 2"/>
          <p:cNvSpPr/>
          <p:nvPr/>
        </p:nvSpPr>
        <p:spPr>
          <a:xfrm>
            <a:off x="548640" y="1691640"/>
            <a:ext cx="5349240" cy="4160520"/>
          </a:xfrm>
          <a:prstGeom prst="roundRect">
            <a:avLst>
              <a:gd name="adj" fmla="val 2198"/>
            </a:avLst>
          </a:prstGeom>
          <a:solidFill>
            <a:srgbClr val="F5F7FA"/>
          </a:solidFill>
        </p:spPr>
      </p:sp>
      <p:sp>
        <p:nvSpPr>
          <p:cNvPr id="5" name="Shape 3"/>
          <p:cNvSpPr/>
          <p:nvPr/>
        </p:nvSpPr>
        <p:spPr>
          <a:xfrm>
            <a:off x="822960" y="1920240"/>
            <a:ext cx="777240" cy="777240"/>
          </a:xfrm>
          <a:prstGeom prst="ellipse">
            <a:avLst/>
          </a:prstGeom>
          <a:solidFill>
            <a:srgbClr val="232F3E"/>
          </a:solidFill>
        </p:spPr>
      </p:sp>
      <p:pic>
        <p:nvPicPr>
          <p:cNvPr id="6" name="Image 0" descr="/home/claude/icons/warehouse_orange.png"/>
          <p:cNvPicPr>
            <a:picLocks noChangeAspect="1"/>
          </p:cNvPicPr>
          <p:nvPr/>
        </p:nvPicPr>
        <p:blipFill>
          <a:blip r:embed="rId1"/>
          <a:stretch>
            <a:fillRect/>
          </a:stretch>
        </p:blipFill>
        <p:spPr>
          <a:xfrm>
            <a:off x="1009498" y="2106778"/>
            <a:ext cx="404165" cy="404165"/>
          </a:xfrm>
          <a:prstGeom prst="rect">
            <a:avLst/>
          </a:prstGeom>
        </p:spPr>
      </p:pic>
      <p:sp>
        <p:nvSpPr>
          <p:cNvPr id="7" name="Text 4"/>
          <p:cNvSpPr/>
          <p:nvPr/>
        </p:nvSpPr>
        <p:spPr>
          <a:xfrm>
            <a:off x="1828800" y="2084832"/>
            <a:ext cx="3840480" cy="365760"/>
          </a:xfrm>
          <a:prstGeom prst="rect">
            <a:avLst/>
          </a:prstGeom>
          <a:noFill/>
        </p:spPr>
        <p:txBody>
          <a:bodyPr wrap="square" lIns="0" tIns="0" rIns="0" bIns="0" rtlCol="0" anchor="ctr"/>
          <a:lstStyle/>
          <a:p>
            <a:pPr marL="0" indent="0">
              <a:buNone/>
            </a:pPr>
            <a:r>
              <a:rPr lang="en-US" sz="1700" b="1" dirty="0">
                <a:solidFill>
                  <a:srgbClr val="232F3E"/>
                </a:solidFill>
                <a:latin typeface="Calibri" panose="020F0502020204030204" pitchFamily="34" charset="0"/>
                <a:ea typeface="Calibri" panose="020F0502020204030204" pitchFamily="34" charset="-122"/>
                <a:cs typeface="Calibri" panose="020F0502020204030204" pitchFamily="34" charset="-120"/>
              </a:rPr>
              <a:t>Bucket</a:t>
            </a:r>
            <a:endParaRPr lang="en-US" sz="1700" dirty="0"/>
          </a:p>
        </p:txBody>
      </p:sp>
      <p:sp>
        <p:nvSpPr>
          <p:cNvPr id="8" name="Text 5"/>
          <p:cNvSpPr/>
          <p:nvPr/>
        </p:nvSpPr>
        <p:spPr>
          <a:xfrm>
            <a:off x="822960" y="2880360"/>
            <a:ext cx="4800600" cy="1371600"/>
          </a:xfrm>
          <a:prstGeom prst="rect">
            <a:avLst/>
          </a:prstGeom>
          <a:noFill/>
        </p:spPr>
        <p:txBody>
          <a:bodyPr wrap="square" lIns="0" tIns="0" rIns="0" bIns="0" rtlCol="0" anchor="ctr"/>
          <a:lstStyle/>
          <a:p>
            <a:pPr marL="0" indent="0">
              <a:lnSpc>
                <a:spcPct val="125000"/>
              </a:lnSpc>
              <a:buNone/>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A globally unique-named container that holds objects. Buckets belong to a specific AWS region and act as the top-level organizational unit — like a root folder for your data.</a:t>
            </a:r>
            <a:endParaRPr lang="en-US" sz="1300" dirty="0"/>
          </a:p>
        </p:txBody>
      </p:sp>
      <p:sp>
        <p:nvSpPr>
          <p:cNvPr id="9" name="Text 6"/>
          <p:cNvSpPr/>
          <p:nvPr/>
        </p:nvSpPr>
        <p:spPr>
          <a:xfrm>
            <a:off x="822960" y="4343400"/>
            <a:ext cx="4800600" cy="365760"/>
          </a:xfrm>
          <a:prstGeom prst="rect">
            <a:avLst/>
          </a:prstGeom>
          <a:noFill/>
        </p:spPr>
        <p:txBody>
          <a:bodyPr wrap="square" lIns="0" tIns="0" rIns="0" bIns="0" rtlCol="0" anchor="ctr"/>
          <a:lstStyle/>
          <a:p>
            <a:pPr marL="0" indent="0">
              <a:buNone/>
            </a:pPr>
            <a:r>
              <a:rPr lang="en-US" sz="1200" i="1" dirty="0">
                <a:solidFill>
                  <a:srgbClr val="FF9900"/>
                </a:solidFill>
                <a:latin typeface="Calibri" panose="020F0502020204030204" pitchFamily="34" charset="0"/>
                <a:ea typeface="Calibri" panose="020F0502020204030204" pitchFamily="34" charset="-122"/>
                <a:cs typeface="Calibri" panose="020F0502020204030204" pitchFamily="34" charset="-120"/>
              </a:rPr>
              <a:t>Example: my-company-invoices-2026</a:t>
            </a:r>
            <a:endParaRPr lang="en-US" sz="1200" dirty="0"/>
          </a:p>
        </p:txBody>
      </p:sp>
      <p:sp>
        <p:nvSpPr>
          <p:cNvPr id="10" name="Shape 7"/>
          <p:cNvSpPr/>
          <p:nvPr/>
        </p:nvSpPr>
        <p:spPr>
          <a:xfrm>
            <a:off x="6263640" y="1691640"/>
            <a:ext cx="5349240" cy="4160520"/>
          </a:xfrm>
          <a:prstGeom prst="roundRect">
            <a:avLst>
              <a:gd name="adj" fmla="val 2198"/>
            </a:avLst>
          </a:prstGeom>
          <a:solidFill>
            <a:srgbClr val="232F3E"/>
          </a:solidFill>
        </p:spPr>
      </p:sp>
      <p:sp>
        <p:nvSpPr>
          <p:cNvPr id="11" name="Shape 8"/>
          <p:cNvSpPr/>
          <p:nvPr/>
        </p:nvSpPr>
        <p:spPr>
          <a:xfrm>
            <a:off x="6537960" y="1920240"/>
            <a:ext cx="777240" cy="777240"/>
          </a:xfrm>
          <a:prstGeom prst="ellipse">
            <a:avLst/>
          </a:prstGeom>
          <a:solidFill>
            <a:srgbClr val="FF9900"/>
          </a:solidFill>
        </p:spPr>
      </p:sp>
      <p:pic>
        <p:nvPicPr>
          <p:cNvPr id="12" name="Image 1" descr="/home/claude/icons/code_navy.png"/>
          <p:cNvPicPr>
            <a:picLocks noChangeAspect="1"/>
          </p:cNvPicPr>
          <p:nvPr/>
        </p:nvPicPr>
        <p:blipFill>
          <a:blip r:embed="rId2"/>
          <a:stretch>
            <a:fillRect/>
          </a:stretch>
        </p:blipFill>
        <p:spPr>
          <a:xfrm>
            <a:off x="6724498" y="2106778"/>
            <a:ext cx="404165" cy="404165"/>
          </a:xfrm>
          <a:prstGeom prst="rect">
            <a:avLst/>
          </a:prstGeom>
        </p:spPr>
      </p:pic>
      <p:sp>
        <p:nvSpPr>
          <p:cNvPr id="13" name="Text 9"/>
          <p:cNvSpPr/>
          <p:nvPr/>
        </p:nvSpPr>
        <p:spPr>
          <a:xfrm>
            <a:off x="7543800" y="2084832"/>
            <a:ext cx="3840480" cy="365760"/>
          </a:xfrm>
          <a:prstGeom prst="rect">
            <a:avLst/>
          </a:prstGeom>
          <a:noFill/>
        </p:spPr>
        <p:txBody>
          <a:bodyPr wrap="square" lIns="0" tIns="0" rIns="0" bIns="0" rtlCol="0" anchor="ctr"/>
          <a:lstStyle/>
          <a:p>
            <a:pPr marL="0" indent="0">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Object</a:t>
            </a:r>
            <a:endParaRPr lang="en-US" sz="1700" dirty="0"/>
          </a:p>
        </p:txBody>
      </p:sp>
      <p:sp>
        <p:nvSpPr>
          <p:cNvPr id="14" name="Text 10"/>
          <p:cNvSpPr/>
          <p:nvPr/>
        </p:nvSpPr>
        <p:spPr>
          <a:xfrm>
            <a:off x="6537960" y="2880360"/>
            <a:ext cx="4800600" cy="1371600"/>
          </a:xfrm>
          <a:prstGeom prst="rect">
            <a:avLst/>
          </a:prstGeom>
          <a:noFill/>
        </p:spPr>
        <p:txBody>
          <a:bodyPr wrap="square" lIns="0" tIns="0" rIns="0" bIns="0" rtlCol="0" anchor="ctr"/>
          <a:lstStyle/>
          <a:p>
            <a:pPr marL="0" indent="0">
              <a:lnSpc>
                <a:spcPct val="125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The actual file stored inside a bucket, made up of data, a unique key (its name/path), and metadata. Objects can range from 0 bytes up to 5 terabytes each.</a:t>
            </a:r>
            <a:endParaRPr lang="en-US" sz="1300" dirty="0"/>
          </a:p>
        </p:txBody>
      </p:sp>
      <p:sp>
        <p:nvSpPr>
          <p:cNvPr id="15" name="Text 11"/>
          <p:cNvSpPr/>
          <p:nvPr/>
        </p:nvSpPr>
        <p:spPr>
          <a:xfrm>
            <a:off x="6537960" y="4343400"/>
            <a:ext cx="4800600" cy="365760"/>
          </a:xfrm>
          <a:prstGeom prst="rect">
            <a:avLst/>
          </a:prstGeom>
          <a:noFill/>
        </p:spPr>
        <p:txBody>
          <a:bodyPr wrap="square" lIns="0" tIns="0" rIns="0" bIns="0" rtlCol="0" anchor="ctr"/>
          <a:lstStyle/>
          <a:p>
            <a:pPr marL="0" indent="0">
              <a:buNone/>
            </a:pPr>
            <a:r>
              <a:rPr lang="en-US" sz="1200" i="1" dirty="0">
                <a:solidFill>
                  <a:srgbClr val="FF9900"/>
                </a:solidFill>
                <a:latin typeface="Calibri" panose="020F0502020204030204" pitchFamily="34" charset="0"/>
                <a:ea typeface="Calibri" panose="020F0502020204030204" pitchFamily="34" charset="-122"/>
                <a:cs typeface="Calibri" panose="020F0502020204030204" pitchFamily="34" charset="-120"/>
              </a:rPr>
              <a:t>Example: invoices/2026/january.pdf</a:t>
            </a:r>
            <a:endParaRPr lang="en-US" sz="1200" dirty="0"/>
          </a:p>
        </p:txBody>
      </p:sp>
      <p:sp>
        <p:nvSpPr>
          <p:cNvPr id="16" name="Text 1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7" name="Text 1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37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S3</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S3 Storage Classes</a:t>
            </a:r>
            <a:endParaRPr lang="en-US" sz="3000" dirty="0"/>
          </a:p>
        </p:txBody>
      </p:sp>
      <p:sp>
        <p:nvSpPr>
          <p:cNvPr id="4" name="Shape 2"/>
          <p:cNvSpPr/>
          <p:nvPr/>
        </p:nvSpPr>
        <p:spPr>
          <a:xfrm>
            <a:off x="548640" y="1691640"/>
            <a:ext cx="4114800" cy="502920"/>
          </a:xfrm>
          <a:prstGeom prst="roundRect">
            <a:avLst>
              <a:gd name="adj" fmla="val 9091"/>
            </a:avLst>
          </a:prstGeom>
          <a:solidFill>
            <a:srgbClr val="232F3E"/>
          </a:solidFill>
        </p:spPr>
      </p:sp>
      <p:sp>
        <p:nvSpPr>
          <p:cNvPr id="5" name="Text 3"/>
          <p:cNvSpPr/>
          <p:nvPr/>
        </p:nvSpPr>
        <p:spPr>
          <a:xfrm>
            <a:off x="548640" y="1691640"/>
            <a:ext cx="4114800" cy="50292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Storage Class</a:t>
            </a:r>
            <a:endParaRPr lang="en-US" sz="1300" dirty="0"/>
          </a:p>
        </p:txBody>
      </p:sp>
      <p:sp>
        <p:nvSpPr>
          <p:cNvPr id="6" name="Shape 4"/>
          <p:cNvSpPr/>
          <p:nvPr/>
        </p:nvSpPr>
        <p:spPr>
          <a:xfrm>
            <a:off x="4663440" y="1691640"/>
            <a:ext cx="4114800" cy="502920"/>
          </a:xfrm>
          <a:prstGeom prst="roundRect">
            <a:avLst>
              <a:gd name="adj" fmla="val 9091"/>
            </a:avLst>
          </a:prstGeom>
          <a:solidFill>
            <a:srgbClr val="232F3E"/>
          </a:solidFill>
        </p:spPr>
      </p:sp>
      <p:sp>
        <p:nvSpPr>
          <p:cNvPr id="7" name="Text 5"/>
          <p:cNvSpPr/>
          <p:nvPr/>
        </p:nvSpPr>
        <p:spPr>
          <a:xfrm>
            <a:off x="4663440" y="1691640"/>
            <a:ext cx="4114800" cy="50292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Best For</a:t>
            </a:r>
            <a:endParaRPr lang="en-US" sz="1300" dirty="0"/>
          </a:p>
        </p:txBody>
      </p:sp>
      <p:sp>
        <p:nvSpPr>
          <p:cNvPr id="8" name="Shape 6"/>
          <p:cNvSpPr/>
          <p:nvPr/>
        </p:nvSpPr>
        <p:spPr>
          <a:xfrm>
            <a:off x="8778240" y="1691640"/>
            <a:ext cx="2834640" cy="502920"/>
          </a:xfrm>
          <a:prstGeom prst="roundRect">
            <a:avLst>
              <a:gd name="adj" fmla="val 9091"/>
            </a:avLst>
          </a:prstGeom>
          <a:solidFill>
            <a:srgbClr val="232F3E"/>
          </a:solidFill>
        </p:spPr>
      </p:sp>
      <p:sp>
        <p:nvSpPr>
          <p:cNvPr id="9" name="Text 7"/>
          <p:cNvSpPr/>
          <p:nvPr/>
        </p:nvSpPr>
        <p:spPr>
          <a:xfrm>
            <a:off x="8778240" y="1691640"/>
            <a:ext cx="2834640" cy="50292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Relative Cost</a:t>
            </a:r>
            <a:endParaRPr lang="en-US" sz="1300" dirty="0"/>
          </a:p>
        </p:txBody>
      </p:sp>
      <p:sp>
        <p:nvSpPr>
          <p:cNvPr id="10" name="Shape 8"/>
          <p:cNvSpPr/>
          <p:nvPr/>
        </p:nvSpPr>
        <p:spPr>
          <a:xfrm>
            <a:off x="548640" y="2194560"/>
            <a:ext cx="4114800" cy="658368"/>
          </a:xfrm>
          <a:prstGeom prst="rect">
            <a:avLst/>
          </a:prstGeom>
          <a:solidFill>
            <a:srgbClr val="F5F7FA"/>
          </a:solidFill>
          <a:ln w="9525">
            <a:solidFill>
              <a:srgbClr val="E3E7ED"/>
            </a:solidFill>
            <a:prstDash val="solid"/>
          </a:ln>
        </p:spPr>
      </p:sp>
      <p:sp>
        <p:nvSpPr>
          <p:cNvPr id="11" name="Shape 9"/>
          <p:cNvSpPr/>
          <p:nvPr/>
        </p:nvSpPr>
        <p:spPr>
          <a:xfrm>
            <a:off x="4663440" y="2194560"/>
            <a:ext cx="4114800" cy="658368"/>
          </a:xfrm>
          <a:prstGeom prst="rect">
            <a:avLst/>
          </a:prstGeom>
          <a:solidFill>
            <a:srgbClr val="F5F7FA"/>
          </a:solidFill>
          <a:ln w="9525">
            <a:solidFill>
              <a:srgbClr val="E3E7ED"/>
            </a:solidFill>
            <a:prstDash val="solid"/>
          </a:ln>
        </p:spPr>
      </p:sp>
      <p:sp>
        <p:nvSpPr>
          <p:cNvPr id="12" name="Shape 10"/>
          <p:cNvSpPr/>
          <p:nvPr/>
        </p:nvSpPr>
        <p:spPr>
          <a:xfrm>
            <a:off x="8778240" y="2194560"/>
            <a:ext cx="2834640" cy="658368"/>
          </a:xfrm>
          <a:prstGeom prst="rect">
            <a:avLst/>
          </a:prstGeom>
          <a:solidFill>
            <a:srgbClr val="F5F7FA"/>
          </a:solidFill>
          <a:ln w="9525">
            <a:solidFill>
              <a:srgbClr val="E3E7ED"/>
            </a:solidFill>
            <a:prstDash val="solid"/>
          </a:ln>
        </p:spPr>
      </p:sp>
      <p:sp>
        <p:nvSpPr>
          <p:cNvPr id="13" name="Text 11"/>
          <p:cNvSpPr/>
          <p:nvPr/>
        </p:nvSpPr>
        <p:spPr>
          <a:xfrm>
            <a:off x="685800" y="2194560"/>
            <a:ext cx="3840480" cy="658368"/>
          </a:xfrm>
          <a:prstGeom prst="rect">
            <a:avLst/>
          </a:prstGeom>
          <a:noFill/>
        </p:spPr>
        <p:txBody>
          <a:bodyPr wrap="square" lIns="0" tIns="0" rIns="0" bIns="0" rtlCol="0" anchor="ctr"/>
          <a:lstStyle/>
          <a:p>
            <a:pPr marL="0" indent="0">
              <a:buNone/>
            </a:pPr>
            <a:r>
              <a:rPr lang="en-US" sz="1250" b="1" dirty="0">
                <a:solidFill>
                  <a:srgbClr val="FF9900"/>
                </a:solidFill>
                <a:latin typeface="Calibri" panose="020F0502020204030204" pitchFamily="34" charset="0"/>
                <a:ea typeface="Calibri" panose="020F0502020204030204" pitchFamily="34" charset="-122"/>
                <a:cs typeface="Calibri" panose="020F0502020204030204" pitchFamily="34" charset="-120"/>
              </a:rPr>
              <a:t>S3 Standard</a:t>
            </a:r>
            <a:endParaRPr lang="en-US" sz="1250" dirty="0"/>
          </a:p>
        </p:txBody>
      </p:sp>
      <p:sp>
        <p:nvSpPr>
          <p:cNvPr id="14" name="Text 12"/>
          <p:cNvSpPr/>
          <p:nvPr/>
        </p:nvSpPr>
        <p:spPr>
          <a:xfrm>
            <a:off x="4800600" y="2194560"/>
            <a:ext cx="3840480" cy="658368"/>
          </a:xfrm>
          <a:prstGeom prst="rect">
            <a:avLst/>
          </a:prstGeom>
          <a:noFill/>
        </p:spPr>
        <p:txBody>
          <a:bodyPr wrap="square" lIns="0" tIns="0" rIns="0" bIns="0" rtlCol="0" anchor="ctr"/>
          <a:lstStyle/>
          <a:p>
            <a:pPr marL="0" indent="0">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Frequently accessed data</a:t>
            </a:r>
            <a:endParaRPr lang="en-US" sz="1200" dirty="0"/>
          </a:p>
        </p:txBody>
      </p:sp>
      <p:sp>
        <p:nvSpPr>
          <p:cNvPr id="15" name="Text 13"/>
          <p:cNvSpPr/>
          <p:nvPr/>
        </p:nvSpPr>
        <p:spPr>
          <a:xfrm>
            <a:off x="8915400" y="2194560"/>
            <a:ext cx="2560320" cy="658368"/>
          </a:xfrm>
          <a:prstGeom prst="rect">
            <a:avLst/>
          </a:prstGeom>
          <a:noFill/>
        </p:spPr>
        <p:txBody>
          <a:bodyPr wrap="square" lIns="0" tIns="0" rIns="0" bIns="0" rtlCol="0" anchor="ctr"/>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Highest</a:t>
            </a:r>
            <a:endParaRPr lang="en-US" sz="1200" dirty="0"/>
          </a:p>
        </p:txBody>
      </p:sp>
      <p:sp>
        <p:nvSpPr>
          <p:cNvPr id="16" name="Shape 14"/>
          <p:cNvSpPr/>
          <p:nvPr/>
        </p:nvSpPr>
        <p:spPr>
          <a:xfrm>
            <a:off x="548640" y="2852928"/>
            <a:ext cx="4114800" cy="658368"/>
          </a:xfrm>
          <a:prstGeom prst="rect">
            <a:avLst/>
          </a:prstGeom>
          <a:solidFill>
            <a:srgbClr val="FFFFFF"/>
          </a:solidFill>
          <a:ln w="9525">
            <a:solidFill>
              <a:srgbClr val="E3E7ED"/>
            </a:solidFill>
            <a:prstDash val="solid"/>
          </a:ln>
        </p:spPr>
      </p:sp>
      <p:sp>
        <p:nvSpPr>
          <p:cNvPr id="17" name="Shape 15"/>
          <p:cNvSpPr/>
          <p:nvPr/>
        </p:nvSpPr>
        <p:spPr>
          <a:xfrm>
            <a:off x="4663440" y="2852928"/>
            <a:ext cx="4114800" cy="658368"/>
          </a:xfrm>
          <a:prstGeom prst="rect">
            <a:avLst/>
          </a:prstGeom>
          <a:solidFill>
            <a:srgbClr val="FFFFFF"/>
          </a:solidFill>
          <a:ln w="9525">
            <a:solidFill>
              <a:srgbClr val="E3E7ED"/>
            </a:solidFill>
            <a:prstDash val="solid"/>
          </a:ln>
        </p:spPr>
      </p:sp>
      <p:sp>
        <p:nvSpPr>
          <p:cNvPr id="18" name="Shape 16"/>
          <p:cNvSpPr/>
          <p:nvPr/>
        </p:nvSpPr>
        <p:spPr>
          <a:xfrm>
            <a:off x="8778240" y="2852928"/>
            <a:ext cx="2834640" cy="658368"/>
          </a:xfrm>
          <a:prstGeom prst="rect">
            <a:avLst/>
          </a:prstGeom>
          <a:solidFill>
            <a:srgbClr val="FFFFFF"/>
          </a:solidFill>
          <a:ln w="9525">
            <a:solidFill>
              <a:srgbClr val="E3E7ED"/>
            </a:solidFill>
            <a:prstDash val="solid"/>
          </a:ln>
        </p:spPr>
      </p:sp>
      <p:sp>
        <p:nvSpPr>
          <p:cNvPr id="19" name="Text 17"/>
          <p:cNvSpPr/>
          <p:nvPr/>
        </p:nvSpPr>
        <p:spPr>
          <a:xfrm>
            <a:off x="685800" y="2852928"/>
            <a:ext cx="3840480" cy="658368"/>
          </a:xfrm>
          <a:prstGeom prst="rect">
            <a:avLst/>
          </a:prstGeom>
          <a:noFill/>
        </p:spPr>
        <p:txBody>
          <a:bodyPr wrap="square" lIns="0" tIns="0" rIns="0" bIns="0" rtlCol="0" anchor="ctr"/>
          <a:lstStyle/>
          <a:p>
            <a:pPr marL="0" indent="0">
              <a:buNone/>
            </a:pPr>
            <a:r>
              <a:rPr lang="en-US" sz="1250" b="1" dirty="0">
                <a:solidFill>
                  <a:srgbClr val="FF9900"/>
                </a:solidFill>
                <a:latin typeface="Calibri" panose="020F0502020204030204" pitchFamily="34" charset="0"/>
                <a:ea typeface="Calibri" panose="020F0502020204030204" pitchFamily="34" charset="-122"/>
                <a:cs typeface="Calibri" panose="020F0502020204030204" pitchFamily="34" charset="-120"/>
              </a:rPr>
              <a:t>S3 Intelligent-Tiering</a:t>
            </a:r>
            <a:endParaRPr lang="en-US" sz="1250" dirty="0"/>
          </a:p>
        </p:txBody>
      </p:sp>
      <p:sp>
        <p:nvSpPr>
          <p:cNvPr id="20" name="Text 18"/>
          <p:cNvSpPr/>
          <p:nvPr/>
        </p:nvSpPr>
        <p:spPr>
          <a:xfrm>
            <a:off x="4800600" y="2852928"/>
            <a:ext cx="3840480" cy="658368"/>
          </a:xfrm>
          <a:prstGeom prst="rect">
            <a:avLst/>
          </a:prstGeom>
          <a:noFill/>
        </p:spPr>
        <p:txBody>
          <a:bodyPr wrap="square" lIns="0" tIns="0" rIns="0" bIns="0" rtlCol="0" anchor="ctr"/>
          <a:lstStyle/>
          <a:p>
            <a:pPr marL="0" indent="0">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Unknown/changing access patterns</a:t>
            </a:r>
            <a:endParaRPr lang="en-US" sz="1200" dirty="0"/>
          </a:p>
        </p:txBody>
      </p:sp>
      <p:sp>
        <p:nvSpPr>
          <p:cNvPr id="21" name="Text 19"/>
          <p:cNvSpPr/>
          <p:nvPr/>
        </p:nvSpPr>
        <p:spPr>
          <a:xfrm>
            <a:off x="8915400" y="2852928"/>
            <a:ext cx="2560320" cy="658368"/>
          </a:xfrm>
          <a:prstGeom prst="rect">
            <a:avLst/>
          </a:prstGeom>
          <a:noFill/>
        </p:spPr>
        <p:txBody>
          <a:bodyPr wrap="square" lIns="0" tIns="0" rIns="0" bIns="0" rtlCol="0" anchor="ctr"/>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Auto-optimized</a:t>
            </a:r>
            <a:endParaRPr lang="en-US" sz="1200" dirty="0"/>
          </a:p>
        </p:txBody>
      </p:sp>
      <p:sp>
        <p:nvSpPr>
          <p:cNvPr id="22" name="Shape 20"/>
          <p:cNvSpPr/>
          <p:nvPr/>
        </p:nvSpPr>
        <p:spPr>
          <a:xfrm>
            <a:off x="548640" y="3511296"/>
            <a:ext cx="4114800" cy="658368"/>
          </a:xfrm>
          <a:prstGeom prst="rect">
            <a:avLst/>
          </a:prstGeom>
          <a:solidFill>
            <a:srgbClr val="F5F7FA"/>
          </a:solidFill>
          <a:ln w="9525">
            <a:solidFill>
              <a:srgbClr val="E3E7ED"/>
            </a:solidFill>
            <a:prstDash val="solid"/>
          </a:ln>
        </p:spPr>
      </p:sp>
      <p:sp>
        <p:nvSpPr>
          <p:cNvPr id="23" name="Shape 21"/>
          <p:cNvSpPr/>
          <p:nvPr/>
        </p:nvSpPr>
        <p:spPr>
          <a:xfrm>
            <a:off x="4663440" y="3511296"/>
            <a:ext cx="4114800" cy="658368"/>
          </a:xfrm>
          <a:prstGeom prst="rect">
            <a:avLst/>
          </a:prstGeom>
          <a:solidFill>
            <a:srgbClr val="F5F7FA"/>
          </a:solidFill>
          <a:ln w="9525">
            <a:solidFill>
              <a:srgbClr val="E3E7ED"/>
            </a:solidFill>
            <a:prstDash val="solid"/>
          </a:ln>
        </p:spPr>
      </p:sp>
      <p:sp>
        <p:nvSpPr>
          <p:cNvPr id="24" name="Shape 22"/>
          <p:cNvSpPr/>
          <p:nvPr/>
        </p:nvSpPr>
        <p:spPr>
          <a:xfrm>
            <a:off x="8778240" y="3511296"/>
            <a:ext cx="2834640" cy="658368"/>
          </a:xfrm>
          <a:prstGeom prst="rect">
            <a:avLst/>
          </a:prstGeom>
          <a:solidFill>
            <a:srgbClr val="F5F7FA"/>
          </a:solidFill>
          <a:ln w="9525">
            <a:solidFill>
              <a:srgbClr val="E3E7ED"/>
            </a:solidFill>
            <a:prstDash val="solid"/>
          </a:ln>
        </p:spPr>
      </p:sp>
      <p:sp>
        <p:nvSpPr>
          <p:cNvPr id="25" name="Text 23"/>
          <p:cNvSpPr/>
          <p:nvPr/>
        </p:nvSpPr>
        <p:spPr>
          <a:xfrm>
            <a:off x="685800" y="3511296"/>
            <a:ext cx="3840480" cy="658368"/>
          </a:xfrm>
          <a:prstGeom prst="rect">
            <a:avLst/>
          </a:prstGeom>
          <a:noFill/>
        </p:spPr>
        <p:txBody>
          <a:bodyPr wrap="square" lIns="0" tIns="0" rIns="0" bIns="0" rtlCol="0" anchor="ctr"/>
          <a:lstStyle/>
          <a:p>
            <a:pPr marL="0" indent="0">
              <a:buNone/>
            </a:pPr>
            <a:r>
              <a:rPr lang="en-US" sz="1250" b="1" dirty="0">
                <a:solidFill>
                  <a:srgbClr val="FF9900"/>
                </a:solidFill>
                <a:latin typeface="Calibri" panose="020F0502020204030204" pitchFamily="34" charset="0"/>
                <a:ea typeface="Calibri" panose="020F0502020204030204" pitchFamily="34" charset="-122"/>
                <a:cs typeface="Calibri" panose="020F0502020204030204" pitchFamily="34" charset="-120"/>
              </a:rPr>
              <a:t>S3 Standard-IA</a:t>
            </a:r>
            <a:endParaRPr lang="en-US" sz="1250" dirty="0"/>
          </a:p>
        </p:txBody>
      </p:sp>
      <p:sp>
        <p:nvSpPr>
          <p:cNvPr id="26" name="Text 24"/>
          <p:cNvSpPr/>
          <p:nvPr/>
        </p:nvSpPr>
        <p:spPr>
          <a:xfrm>
            <a:off x="4800600" y="3511296"/>
            <a:ext cx="3840480" cy="658368"/>
          </a:xfrm>
          <a:prstGeom prst="rect">
            <a:avLst/>
          </a:prstGeom>
          <a:noFill/>
        </p:spPr>
        <p:txBody>
          <a:bodyPr wrap="square" lIns="0" tIns="0" rIns="0" bIns="0" rtlCol="0" anchor="ctr"/>
          <a:lstStyle/>
          <a:p>
            <a:pPr marL="0" indent="0">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Infrequent access, rapid retrieval</a:t>
            </a:r>
            <a:endParaRPr lang="en-US" sz="1200" dirty="0"/>
          </a:p>
        </p:txBody>
      </p:sp>
      <p:sp>
        <p:nvSpPr>
          <p:cNvPr id="27" name="Text 25"/>
          <p:cNvSpPr/>
          <p:nvPr/>
        </p:nvSpPr>
        <p:spPr>
          <a:xfrm>
            <a:off x="8915400" y="3511296"/>
            <a:ext cx="2560320" cy="658368"/>
          </a:xfrm>
          <a:prstGeom prst="rect">
            <a:avLst/>
          </a:prstGeom>
          <a:noFill/>
        </p:spPr>
        <p:txBody>
          <a:bodyPr wrap="square" lIns="0" tIns="0" rIns="0" bIns="0" rtlCol="0" anchor="ctr"/>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High, lower cost</a:t>
            </a:r>
            <a:endParaRPr lang="en-US" sz="1200" dirty="0"/>
          </a:p>
        </p:txBody>
      </p:sp>
      <p:sp>
        <p:nvSpPr>
          <p:cNvPr id="28" name="Shape 26"/>
          <p:cNvSpPr/>
          <p:nvPr/>
        </p:nvSpPr>
        <p:spPr>
          <a:xfrm>
            <a:off x="548640" y="4169664"/>
            <a:ext cx="4114800" cy="658368"/>
          </a:xfrm>
          <a:prstGeom prst="rect">
            <a:avLst/>
          </a:prstGeom>
          <a:solidFill>
            <a:srgbClr val="FFFFFF"/>
          </a:solidFill>
          <a:ln w="9525">
            <a:solidFill>
              <a:srgbClr val="E3E7ED"/>
            </a:solidFill>
            <a:prstDash val="solid"/>
          </a:ln>
        </p:spPr>
      </p:sp>
      <p:sp>
        <p:nvSpPr>
          <p:cNvPr id="29" name="Shape 27"/>
          <p:cNvSpPr/>
          <p:nvPr/>
        </p:nvSpPr>
        <p:spPr>
          <a:xfrm>
            <a:off x="4663440" y="4169664"/>
            <a:ext cx="4114800" cy="658368"/>
          </a:xfrm>
          <a:prstGeom prst="rect">
            <a:avLst/>
          </a:prstGeom>
          <a:solidFill>
            <a:srgbClr val="FFFFFF"/>
          </a:solidFill>
          <a:ln w="9525">
            <a:solidFill>
              <a:srgbClr val="E3E7ED"/>
            </a:solidFill>
            <a:prstDash val="solid"/>
          </a:ln>
        </p:spPr>
      </p:sp>
      <p:sp>
        <p:nvSpPr>
          <p:cNvPr id="30" name="Shape 28"/>
          <p:cNvSpPr/>
          <p:nvPr/>
        </p:nvSpPr>
        <p:spPr>
          <a:xfrm>
            <a:off x="8778240" y="4169664"/>
            <a:ext cx="2834640" cy="658368"/>
          </a:xfrm>
          <a:prstGeom prst="rect">
            <a:avLst/>
          </a:prstGeom>
          <a:solidFill>
            <a:srgbClr val="FFFFFF"/>
          </a:solidFill>
          <a:ln w="9525">
            <a:solidFill>
              <a:srgbClr val="E3E7ED"/>
            </a:solidFill>
            <a:prstDash val="solid"/>
          </a:ln>
        </p:spPr>
      </p:sp>
      <p:sp>
        <p:nvSpPr>
          <p:cNvPr id="31" name="Text 29"/>
          <p:cNvSpPr/>
          <p:nvPr/>
        </p:nvSpPr>
        <p:spPr>
          <a:xfrm>
            <a:off x="685800" y="4169664"/>
            <a:ext cx="3840480" cy="658368"/>
          </a:xfrm>
          <a:prstGeom prst="rect">
            <a:avLst/>
          </a:prstGeom>
          <a:noFill/>
        </p:spPr>
        <p:txBody>
          <a:bodyPr wrap="square" lIns="0" tIns="0" rIns="0" bIns="0" rtlCol="0" anchor="ctr"/>
          <a:lstStyle/>
          <a:p>
            <a:pPr marL="0" indent="0">
              <a:buNone/>
            </a:pPr>
            <a:r>
              <a:rPr lang="en-US" sz="1250" b="1" dirty="0">
                <a:solidFill>
                  <a:srgbClr val="FF9900"/>
                </a:solidFill>
                <a:latin typeface="Calibri" panose="020F0502020204030204" pitchFamily="34" charset="0"/>
                <a:ea typeface="Calibri" panose="020F0502020204030204" pitchFamily="34" charset="-122"/>
                <a:cs typeface="Calibri" panose="020F0502020204030204" pitchFamily="34" charset="-120"/>
              </a:rPr>
              <a:t>S3 Glacier Instant Retrieval</a:t>
            </a:r>
            <a:endParaRPr lang="en-US" sz="1250" dirty="0"/>
          </a:p>
        </p:txBody>
      </p:sp>
      <p:sp>
        <p:nvSpPr>
          <p:cNvPr id="32" name="Text 30"/>
          <p:cNvSpPr/>
          <p:nvPr/>
        </p:nvSpPr>
        <p:spPr>
          <a:xfrm>
            <a:off x="4800600" y="4169664"/>
            <a:ext cx="3840480" cy="658368"/>
          </a:xfrm>
          <a:prstGeom prst="rect">
            <a:avLst/>
          </a:prstGeom>
          <a:noFill/>
        </p:spPr>
        <p:txBody>
          <a:bodyPr wrap="square" lIns="0" tIns="0" rIns="0" bIns="0" rtlCol="0" anchor="ctr"/>
          <a:lstStyle/>
          <a:p>
            <a:pPr marL="0" indent="0">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Archive, needs millisecond access</a:t>
            </a:r>
            <a:endParaRPr lang="en-US" sz="1200" dirty="0"/>
          </a:p>
        </p:txBody>
      </p:sp>
      <p:sp>
        <p:nvSpPr>
          <p:cNvPr id="33" name="Text 31"/>
          <p:cNvSpPr/>
          <p:nvPr/>
        </p:nvSpPr>
        <p:spPr>
          <a:xfrm>
            <a:off x="8915400" y="4169664"/>
            <a:ext cx="2560320" cy="658368"/>
          </a:xfrm>
          <a:prstGeom prst="rect">
            <a:avLst/>
          </a:prstGeom>
          <a:noFill/>
        </p:spPr>
        <p:txBody>
          <a:bodyPr wrap="square" lIns="0" tIns="0" rIns="0" bIns="0" rtlCol="0" anchor="ctr"/>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Low cost</a:t>
            </a:r>
            <a:endParaRPr lang="en-US" sz="1200" dirty="0"/>
          </a:p>
        </p:txBody>
      </p:sp>
      <p:sp>
        <p:nvSpPr>
          <p:cNvPr id="34" name="Shape 32"/>
          <p:cNvSpPr/>
          <p:nvPr/>
        </p:nvSpPr>
        <p:spPr>
          <a:xfrm>
            <a:off x="548640" y="4828032"/>
            <a:ext cx="4114800" cy="658368"/>
          </a:xfrm>
          <a:prstGeom prst="rect">
            <a:avLst/>
          </a:prstGeom>
          <a:solidFill>
            <a:srgbClr val="F5F7FA"/>
          </a:solidFill>
          <a:ln w="9525">
            <a:solidFill>
              <a:srgbClr val="E3E7ED"/>
            </a:solidFill>
            <a:prstDash val="solid"/>
          </a:ln>
        </p:spPr>
      </p:sp>
      <p:sp>
        <p:nvSpPr>
          <p:cNvPr id="35" name="Shape 33"/>
          <p:cNvSpPr/>
          <p:nvPr/>
        </p:nvSpPr>
        <p:spPr>
          <a:xfrm>
            <a:off x="4663440" y="4828032"/>
            <a:ext cx="4114800" cy="658368"/>
          </a:xfrm>
          <a:prstGeom prst="rect">
            <a:avLst/>
          </a:prstGeom>
          <a:solidFill>
            <a:srgbClr val="F5F7FA"/>
          </a:solidFill>
          <a:ln w="9525">
            <a:solidFill>
              <a:srgbClr val="E3E7ED"/>
            </a:solidFill>
            <a:prstDash val="solid"/>
          </a:ln>
        </p:spPr>
      </p:sp>
      <p:sp>
        <p:nvSpPr>
          <p:cNvPr id="36" name="Shape 34"/>
          <p:cNvSpPr/>
          <p:nvPr/>
        </p:nvSpPr>
        <p:spPr>
          <a:xfrm>
            <a:off x="8778240" y="4828032"/>
            <a:ext cx="2834640" cy="658368"/>
          </a:xfrm>
          <a:prstGeom prst="rect">
            <a:avLst/>
          </a:prstGeom>
          <a:solidFill>
            <a:srgbClr val="F5F7FA"/>
          </a:solidFill>
          <a:ln w="9525">
            <a:solidFill>
              <a:srgbClr val="E3E7ED"/>
            </a:solidFill>
            <a:prstDash val="solid"/>
          </a:ln>
        </p:spPr>
      </p:sp>
      <p:sp>
        <p:nvSpPr>
          <p:cNvPr id="37" name="Text 35"/>
          <p:cNvSpPr/>
          <p:nvPr/>
        </p:nvSpPr>
        <p:spPr>
          <a:xfrm>
            <a:off x="685800" y="4828032"/>
            <a:ext cx="3840480" cy="658368"/>
          </a:xfrm>
          <a:prstGeom prst="rect">
            <a:avLst/>
          </a:prstGeom>
          <a:noFill/>
        </p:spPr>
        <p:txBody>
          <a:bodyPr wrap="square" lIns="0" tIns="0" rIns="0" bIns="0" rtlCol="0" anchor="ctr"/>
          <a:lstStyle/>
          <a:p>
            <a:pPr marL="0" indent="0">
              <a:buNone/>
            </a:pPr>
            <a:r>
              <a:rPr lang="en-US" sz="1250" b="1" dirty="0">
                <a:solidFill>
                  <a:srgbClr val="FF9900"/>
                </a:solidFill>
                <a:latin typeface="Calibri" panose="020F0502020204030204" pitchFamily="34" charset="0"/>
                <a:ea typeface="Calibri" panose="020F0502020204030204" pitchFamily="34" charset="-122"/>
                <a:cs typeface="Calibri" panose="020F0502020204030204" pitchFamily="34" charset="-120"/>
              </a:rPr>
              <a:t>S3 Glacier Deep Archive</a:t>
            </a:r>
            <a:endParaRPr lang="en-US" sz="1250" dirty="0"/>
          </a:p>
        </p:txBody>
      </p:sp>
      <p:sp>
        <p:nvSpPr>
          <p:cNvPr id="38" name="Text 36"/>
          <p:cNvSpPr/>
          <p:nvPr/>
        </p:nvSpPr>
        <p:spPr>
          <a:xfrm>
            <a:off x="4800600" y="4828032"/>
            <a:ext cx="3840480" cy="658368"/>
          </a:xfrm>
          <a:prstGeom prst="rect">
            <a:avLst/>
          </a:prstGeom>
          <a:noFill/>
        </p:spPr>
        <p:txBody>
          <a:bodyPr wrap="square" lIns="0" tIns="0" rIns="0" bIns="0" rtlCol="0" anchor="ctr"/>
          <a:lstStyle/>
          <a:p>
            <a:pPr marL="0" indent="0">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Long-term archive, rarely accessed</a:t>
            </a:r>
            <a:endParaRPr lang="en-US" sz="1200" dirty="0"/>
          </a:p>
        </p:txBody>
      </p:sp>
      <p:sp>
        <p:nvSpPr>
          <p:cNvPr id="39" name="Text 37"/>
          <p:cNvSpPr/>
          <p:nvPr/>
        </p:nvSpPr>
        <p:spPr>
          <a:xfrm>
            <a:off x="8915400" y="4828032"/>
            <a:ext cx="2560320" cy="658368"/>
          </a:xfrm>
          <a:prstGeom prst="rect">
            <a:avLst/>
          </a:prstGeom>
          <a:noFill/>
        </p:spPr>
        <p:txBody>
          <a:bodyPr wrap="square" lIns="0" tIns="0" rIns="0" bIns="0" rtlCol="0" anchor="ctr"/>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Lowest cost</a:t>
            </a:r>
            <a:endParaRPr lang="en-US" sz="1200" dirty="0"/>
          </a:p>
        </p:txBody>
      </p:sp>
      <p:sp>
        <p:nvSpPr>
          <p:cNvPr id="40" name="Text 3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41" name="Text 3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38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S3</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S3 Use Cases</a:t>
            </a:r>
            <a:endParaRPr lang="en-US" sz="3000" dirty="0"/>
          </a:p>
        </p:txBody>
      </p:sp>
      <p:sp>
        <p:nvSpPr>
          <p:cNvPr id="4" name="Shape 2"/>
          <p:cNvSpPr/>
          <p:nvPr/>
        </p:nvSpPr>
        <p:spPr>
          <a:xfrm>
            <a:off x="548640" y="1828800"/>
            <a:ext cx="640080" cy="640080"/>
          </a:xfrm>
          <a:prstGeom prst="ellipse">
            <a:avLst/>
          </a:prstGeom>
          <a:solidFill>
            <a:srgbClr val="37475A"/>
          </a:solidFill>
        </p:spPr>
      </p:sp>
      <p:pic>
        <p:nvPicPr>
          <p:cNvPr id="5" name="Image 0" descr="/home/claude/icons/laptop_orange.png"/>
          <p:cNvPicPr>
            <a:picLocks noChangeAspect="1"/>
          </p:cNvPicPr>
          <p:nvPr/>
        </p:nvPicPr>
        <p:blipFill>
          <a:blip r:embed="rId1"/>
          <a:stretch>
            <a:fillRect/>
          </a:stretch>
        </p:blipFill>
        <p:spPr>
          <a:xfrm>
            <a:off x="702259" y="1982419"/>
            <a:ext cx="332842" cy="332842"/>
          </a:xfrm>
          <a:prstGeom prst="rect">
            <a:avLst/>
          </a:prstGeom>
        </p:spPr>
      </p:pic>
      <p:sp>
        <p:nvSpPr>
          <p:cNvPr id="6" name="Text 3"/>
          <p:cNvSpPr/>
          <p:nvPr/>
        </p:nvSpPr>
        <p:spPr>
          <a:xfrm>
            <a:off x="1371600" y="1847088"/>
            <a:ext cx="2788920" cy="54864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Static Website Hosting</a:t>
            </a:r>
            <a:endParaRPr lang="en-US" sz="1350" dirty="0"/>
          </a:p>
        </p:txBody>
      </p:sp>
      <p:sp>
        <p:nvSpPr>
          <p:cNvPr id="7" name="Text 4"/>
          <p:cNvSpPr/>
          <p:nvPr/>
        </p:nvSpPr>
        <p:spPr>
          <a:xfrm>
            <a:off x="548640" y="2651760"/>
            <a:ext cx="3520440" cy="822960"/>
          </a:xfrm>
          <a:prstGeom prst="rect">
            <a:avLst/>
          </a:prstGeom>
          <a:noFill/>
        </p:spPr>
        <p:txBody>
          <a:bodyPr wrap="square" lIns="0" tIns="0" rIns="0" bIns="0" rtlCol="0" anchor="ctr"/>
          <a:lstStyle/>
          <a:p>
            <a:pPr marL="0" indent="0">
              <a:lnSpc>
                <a:spcPct val="115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Serve HTML, CSS, JS and images directly from a bucket</a:t>
            </a:r>
            <a:endParaRPr lang="en-US" sz="1100" dirty="0"/>
          </a:p>
        </p:txBody>
      </p:sp>
      <p:sp>
        <p:nvSpPr>
          <p:cNvPr id="8" name="Shape 5"/>
          <p:cNvSpPr/>
          <p:nvPr/>
        </p:nvSpPr>
        <p:spPr>
          <a:xfrm>
            <a:off x="4297680" y="1828800"/>
            <a:ext cx="640080" cy="640080"/>
          </a:xfrm>
          <a:prstGeom prst="ellipse">
            <a:avLst/>
          </a:prstGeom>
          <a:solidFill>
            <a:srgbClr val="37475A"/>
          </a:solidFill>
        </p:spPr>
      </p:sp>
      <p:pic>
        <p:nvPicPr>
          <p:cNvPr id="9" name="Image 1" descr="/home/claude/icons/database_orange.png"/>
          <p:cNvPicPr>
            <a:picLocks noChangeAspect="1"/>
          </p:cNvPicPr>
          <p:nvPr/>
        </p:nvPicPr>
        <p:blipFill>
          <a:blip r:embed="rId2"/>
          <a:stretch>
            <a:fillRect/>
          </a:stretch>
        </p:blipFill>
        <p:spPr>
          <a:xfrm>
            <a:off x="4451299" y="1982419"/>
            <a:ext cx="332842" cy="332842"/>
          </a:xfrm>
          <a:prstGeom prst="rect">
            <a:avLst/>
          </a:prstGeom>
        </p:spPr>
      </p:pic>
      <p:sp>
        <p:nvSpPr>
          <p:cNvPr id="10" name="Text 6"/>
          <p:cNvSpPr/>
          <p:nvPr/>
        </p:nvSpPr>
        <p:spPr>
          <a:xfrm>
            <a:off x="5120640" y="1847088"/>
            <a:ext cx="2788920" cy="54864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Backup &amp; Restore</a:t>
            </a:r>
            <a:endParaRPr lang="en-US" sz="1350" dirty="0"/>
          </a:p>
        </p:txBody>
      </p:sp>
      <p:sp>
        <p:nvSpPr>
          <p:cNvPr id="11" name="Text 7"/>
          <p:cNvSpPr/>
          <p:nvPr/>
        </p:nvSpPr>
        <p:spPr>
          <a:xfrm>
            <a:off x="4297680" y="2651760"/>
            <a:ext cx="3520440" cy="822960"/>
          </a:xfrm>
          <a:prstGeom prst="rect">
            <a:avLst/>
          </a:prstGeom>
          <a:noFill/>
        </p:spPr>
        <p:txBody>
          <a:bodyPr wrap="square" lIns="0" tIns="0" rIns="0" bIns="0" rtlCol="0" anchor="ctr"/>
          <a:lstStyle/>
          <a:p>
            <a:pPr marL="0" indent="0">
              <a:lnSpc>
                <a:spcPct val="115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Store backups of databases and critical files reliably</a:t>
            </a:r>
            <a:endParaRPr lang="en-US" sz="1100" dirty="0"/>
          </a:p>
        </p:txBody>
      </p:sp>
      <p:sp>
        <p:nvSpPr>
          <p:cNvPr id="12" name="Shape 8"/>
          <p:cNvSpPr/>
          <p:nvPr/>
        </p:nvSpPr>
        <p:spPr>
          <a:xfrm>
            <a:off x="8046720" y="1828800"/>
            <a:ext cx="640080" cy="640080"/>
          </a:xfrm>
          <a:prstGeom prst="ellipse">
            <a:avLst/>
          </a:prstGeom>
          <a:solidFill>
            <a:srgbClr val="37475A"/>
          </a:solidFill>
        </p:spPr>
      </p:sp>
      <p:pic>
        <p:nvPicPr>
          <p:cNvPr id="13" name="Image 2" descr="/home/claude/icons/chart_orange.png"/>
          <p:cNvPicPr>
            <a:picLocks noChangeAspect="1"/>
          </p:cNvPicPr>
          <p:nvPr/>
        </p:nvPicPr>
        <p:blipFill>
          <a:blip r:embed="rId3"/>
          <a:stretch>
            <a:fillRect/>
          </a:stretch>
        </p:blipFill>
        <p:spPr>
          <a:xfrm>
            <a:off x="8200339" y="1982419"/>
            <a:ext cx="332842" cy="332842"/>
          </a:xfrm>
          <a:prstGeom prst="rect">
            <a:avLst/>
          </a:prstGeom>
        </p:spPr>
      </p:pic>
      <p:sp>
        <p:nvSpPr>
          <p:cNvPr id="14" name="Text 9"/>
          <p:cNvSpPr/>
          <p:nvPr/>
        </p:nvSpPr>
        <p:spPr>
          <a:xfrm>
            <a:off x="8869680" y="1847088"/>
            <a:ext cx="2788920" cy="54864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Lakes &amp; Analytics</a:t>
            </a:r>
            <a:endParaRPr lang="en-US" sz="1350" dirty="0"/>
          </a:p>
        </p:txBody>
      </p:sp>
      <p:sp>
        <p:nvSpPr>
          <p:cNvPr id="15" name="Text 10"/>
          <p:cNvSpPr/>
          <p:nvPr/>
        </p:nvSpPr>
        <p:spPr>
          <a:xfrm>
            <a:off x="8046720" y="2651760"/>
            <a:ext cx="3520440" cy="822960"/>
          </a:xfrm>
          <a:prstGeom prst="rect">
            <a:avLst/>
          </a:prstGeom>
          <a:noFill/>
        </p:spPr>
        <p:txBody>
          <a:bodyPr wrap="square" lIns="0" tIns="0" rIns="0" bIns="0" rtlCol="0" anchor="ctr"/>
          <a:lstStyle/>
          <a:p>
            <a:pPr marL="0" indent="0">
              <a:lnSpc>
                <a:spcPct val="115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Central store for big data pipelines and analytics tools</a:t>
            </a:r>
            <a:endParaRPr lang="en-US" sz="1100" dirty="0"/>
          </a:p>
        </p:txBody>
      </p:sp>
      <p:sp>
        <p:nvSpPr>
          <p:cNvPr id="16" name="Shape 11"/>
          <p:cNvSpPr/>
          <p:nvPr/>
        </p:nvSpPr>
        <p:spPr>
          <a:xfrm>
            <a:off x="548640" y="4023360"/>
            <a:ext cx="640080" cy="640080"/>
          </a:xfrm>
          <a:prstGeom prst="ellipse">
            <a:avLst/>
          </a:prstGeom>
          <a:solidFill>
            <a:srgbClr val="37475A"/>
          </a:solidFill>
        </p:spPr>
      </p:sp>
      <p:pic>
        <p:nvPicPr>
          <p:cNvPr id="17" name="Image 3" descr="/home/claude/icons/cloud_orange.png"/>
          <p:cNvPicPr>
            <a:picLocks noChangeAspect="1"/>
          </p:cNvPicPr>
          <p:nvPr/>
        </p:nvPicPr>
        <p:blipFill>
          <a:blip r:embed="rId4"/>
          <a:stretch>
            <a:fillRect/>
          </a:stretch>
        </p:blipFill>
        <p:spPr>
          <a:xfrm>
            <a:off x="702259" y="4176979"/>
            <a:ext cx="332842" cy="332842"/>
          </a:xfrm>
          <a:prstGeom prst="rect">
            <a:avLst/>
          </a:prstGeom>
        </p:spPr>
      </p:pic>
      <p:sp>
        <p:nvSpPr>
          <p:cNvPr id="18" name="Text 12"/>
          <p:cNvSpPr/>
          <p:nvPr/>
        </p:nvSpPr>
        <p:spPr>
          <a:xfrm>
            <a:off x="1371600" y="4041648"/>
            <a:ext cx="2788920" cy="54864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Content Distribution</a:t>
            </a:r>
            <a:endParaRPr lang="en-US" sz="1350" dirty="0"/>
          </a:p>
        </p:txBody>
      </p:sp>
      <p:sp>
        <p:nvSpPr>
          <p:cNvPr id="19" name="Text 13"/>
          <p:cNvSpPr/>
          <p:nvPr/>
        </p:nvSpPr>
        <p:spPr>
          <a:xfrm>
            <a:off x="548640" y="4846320"/>
            <a:ext cx="3520440" cy="822960"/>
          </a:xfrm>
          <a:prstGeom prst="rect">
            <a:avLst/>
          </a:prstGeom>
          <a:noFill/>
        </p:spPr>
        <p:txBody>
          <a:bodyPr wrap="square" lIns="0" tIns="0" rIns="0" bIns="0" rtlCol="0" anchor="ctr"/>
          <a:lstStyle/>
          <a:p>
            <a:pPr marL="0" indent="0">
              <a:lnSpc>
                <a:spcPct val="115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Origin store for media delivered via CloudFront CDN</a:t>
            </a:r>
            <a:endParaRPr lang="en-US" sz="1100" dirty="0"/>
          </a:p>
        </p:txBody>
      </p:sp>
      <p:sp>
        <p:nvSpPr>
          <p:cNvPr id="20" name="Shape 14"/>
          <p:cNvSpPr/>
          <p:nvPr/>
        </p:nvSpPr>
        <p:spPr>
          <a:xfrm>
            <a:off x="4297680" y="4023360"/>
            <a:ext cx="640080" cy="640080"/>
          </a:xfrm>
          <a:prstGeom prst="ellipse">
            <a:avLst/>
          </a:prstGeom>
          <a:solidFill>
            <a:srgbClr val="37475A"/>
          </a:solidFill>
        </p:spPr>
      </p:sp>
      <p:pic>
        <p:nvPicPr>
          <p:cNvPr id="21" name="Image 4" descr="/home/claude/icons/cogs_orange.png"/>
          <p:cNvPicPr>
            <a:picLocks noChangeAspect="1"/>
          </p:cNvPicPr>
          <p:nvPr/>
        </p:nvPicPr>
        <p:blipFill>
          <a:blip r:embed="rId5"/>
          <a:stretch>
            <a:fillRect/>
          </a:stretch>
        </p:blipFill>
        <p:spPr>
          <a:xfrm>
            <a:off x="4451299" y="4176979"/>
            <a:ext cx="332842" cy="332842"/>
          </a:xfrm>
          <a:prstGeom prst="rect">
            <a:avLst/>
          </a:prstGeom>
        </p:spPr>
      </p:pic>
      <p:sp>
        <p:nvSpPr>
          <p:cNvPr id="22" name="Text 15"/>
          <p:cNvSpPr/>
          <p:nvPr/>
        </p:nvSpPr>
        <p:spPr>
          <a:xfrm>
            <a:off x="5120640" y="4041648"/>
            <a:ext cx="2788920" cy="54864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Application Data Storage</a:t>
            </a:r>
            <a:endParaRPr lang="en-US" sz="1350" dirty="0"/>
          </a:p>
        </p:txBody>
      </p:sp>
      <p:sp>
        <p:nvSpPr>
          <p:cNvPr id="23" name="Text 16"/>
          <p:cNvSpPr/>
          <p:nvPr/>
        </p:nvSpPr>
        <p:spPr>
          <a:xfrm>
            <a:off x="4297680" y="4846320"/>
            <a:ext cx="3520440" cy="822960"/>
          </a:xfrm>
          <a:prstGeom prst="rect">
            <a:avLst/>
          </a:prstGeom>
          <a:noFill/>
        </p:spPr>
        <p:txBody>
          <a:bodyPr wrap="square" lIns="0" tIns="0" rIns="0" bIns="0" rtlCol="0" anchor="ctr"/>
          <a:lstStyle/>
          <a:p>
            <a:pPr marL="0" indent="0">
              <a:lnSpc>
                <a:spcPct val="115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Store user uploads: images, videos, documents</a:t>
            </a:r>
            <a:endParaRPr lang="en-US" sz="1100" dirty="0"/>
          </a:p>
        </p:txBody>
      </p:sp>
      <p:sp>
        <p:nvSpPr>
          <p:cNvPr id="24" name="Shape 17"/>
          <p:cNvSpPr/>
          <p:nvPr/>
        </p:nvSpPr>
        <p:spPr>
          <a:xfrm>
            <a:off x="8046720" y="4023360"/>
            <a:ext cx="640080" cy="640080"/>
          </a:xfrm>
          <a:prstGeom prst="ellipse">
            <a:avLst/>
          </a:prstGeom>
          <a:solidFill>
            <a:srgbClr val="37475A"/>
          </a:solidFill>
        </p:spPr>
      </p:sp>
      <p:pic>
        <p:nvPicPr>
          <p:cNvPr id="25" name="Image 5" descr="/home/claude/icons/shield_orange.png"/>
          <p:cNvPicPr>
            <a:picLocks noChangeAspect="1"/>
          </p:cNvPicPr>
          <p:nvPr/>
        </p:nvPicPr>
        <p:blipFill>
          <a:blip r:embed="rId6"/>
          <a:stretch>
            <a:fillRect/>
          </a:stretch>
        </p:blipFill>
        <p:spPr>
          <a:xfrm>
            <a:off x="8200339" y="4176979"/>
            <a:ext cx="332842" cy="332842"/>
          </a:xfrm>
          <a:prstGeom prst="rect">
            <a:avLst/>
          </a:prstGeom>
        </p:spPr>
      </p:pic>
      <p:sp>
        <p:nvSpPr>
          <p:cNvPr id="26" name="Text 18"/>
          <p:cNvSpPr/>
          <p:nvPr/>
        </p:nvSpPr>
        <p:spPr>
          <a:xfrm>
            <a:off x="8869680" y="4041648"/>
            <a:ext cx="2788920" cy="548640"/>
          </a:xfrm>
          <a:prstGeom prst="rect">
            <a:avLst/>
          </a:prstGeom>
          <a:noFill/>
        </p:spPr>
        <p:txBody>
          <a:bodyPr wrap="square" lIns="0" tIns="0" rIns="0" bIns="0"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Disaster Recovery</a:t>
            </a:r>
            <a:endParaRPr lang="en-US" sz="1350" dirty="0"/>
          </a:p>
        </p:txBody>
      </p:sp>
      <p:sp>
        <p:nvSpPr>
          <p:cNvPr id="27" name="Text 19"/>
          <p:cNvSpPr/>
          <p:nvPr/>
        </p:nvSpPr>
        <p:spPr>
          <a:xfrm>
            <a:off x="8046720" y="4846320"/>
            <a:ext cx="3520440" cy="822960"/>
          </a:xfrm>
          <a:prstGeom prst="rect">
            <a:avLst/>
          </a:prstGeom>
          <a:noFill/>
        </p:spPr>
        <p:txBody>
          <a:bodyPr wrap="square" lIns="0" tIns="0" rIns="0" bIns="0" rtlCol="0" anchor="ctr"/>
          <a:lstStyle/>
          <a:p>
            <a:pPr marL="0" indent="0">
              <a:lnSpc>
                <a:spcPct val="115000"/>
              </a:lnSpc>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Cross-region replication protects against regional outages</a:t>
            </a:r>
            <a:endParaRPr lang="en-US" sz="1100" dirty="0"/>
          </a:p>
        </p:txBody>
      </p:sp>
      <p:sp>
        <p:nvSpPr>
          <p:cNvPr id="28" name="Text 20"/>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9" name="Text 21"/>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39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S3</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Versioning &amp; Lifecycle Policies</a:t>
            </a:r>
            <a:endParaRPr lang="en-US" sz="3000" dirty="0"/>
          </a:p>
        </p:txBody>
      </p:sp>
      <p:sp>
        <p:nvSpPr>
          <p:cNvPr id="4" name="Shape 2"/>
          <p:cNvSpPr/>
          <p:nvPr/>
        </p:nvSpPr>
        <p:spPr>
          <a:xfrm>
            <a:off x="548640" y="1691640"/>
            <a:ext cx="5349240" cy="4160520"/>
          </a:xfrm>
          <a:prstGeom prst="roundRect">
            <a:avLst>
              <a:gd name="adj" fmla="val 2198"/>
            </a:avLst>
          </a:prstGeom>
          <a:solidFill>
            <a:srgbClr val="F5F7FA"/>
          </a:solidFill>
        </p:spPr>
      </p:sp>
      <p:sp>
        <p:nvSpPr>
          <p:cNvPr id="5" name="Shape 3"/>
          <p:cNvSpPr/>
          <p:nvPr/>
        </p:nvSpPr>
        <p:spPr>
          <a:xfrm>
            <a:off x="822960" y="1920240"/>
            <a:ext cx="777240" cy="777240"/>
          </a:xfrm>
          <a:prstGeom prst="ellipse">
            <a:avLst/>
          </a:prstGeom>
          <a:solidFill>
            <a:srgbClr val="232F3E"/>
          </a:solidFill>
        </p:spPr>
      </p:sp>
      <p:pic>
        <p:nvPicPr>
          <p:cNvPr id="6" name="Image 0" descr="/home/claude/icons/sync_orange.png"/>
          <p:cNvPicPr>
            <a:picLocks noChangeAspect="1"/>
          </p:cNvPicPr>
          <p:nvPr/>
        </p:nvPicPr>
        <p:blipFill>
          <a:blip r:embed="rId1"/>
          <a:stretch>
            <a:fillRect/>
          </a:stretch>
        </p:blipFill>
        <p:spPr>
          <a:xfrm>
            <a:off x="1009498" y="2106778"/>
            <a:ext cx="404165" cy="404165"/>
          </a:xfrm>
          <a:prstGeom prst="rect">
            <a:avLst/>
          </a:prstGeom>
        </p:spPr>
      </p:pic>
      <p:sp>
        <p:nvSpPr>
          <p:cNvPr id="7" name="Text 4"/>
          <p:cNvSpPr/>
          <p:nvPr/>
        </p:nvSpPr>
        <p:spPr>
          <a:xfrm>
            <a:off x="1828800" y="2084832"/>
            <a:ext cx="3840480" cy="365760"/>
          </a:xfrm>
          <a:prstGeom prst="rect">
            <a:avLst/>
          </a:prstGeom>
          <a:noFill/>
        </p:spPr>
        <p:txBody>
          <a:bodyPr wrap="square" lIns="0" tIns="0" rIns="0" bIns="0" rtlCol="0" anchor="ctr"/>
          <a:lstStyle/>
          <a:p>
            <a:pPr marL="0" indent="0">
              <a:buNone/>
            </a:pPr>
            <a:r>
              <a:rPr lang="en-US" sz="1700" b="1" dirty="0">
                <a:solidFill>
                  <a:srgbClr val="232F3E"/>
                </a:solidFill>
                <a:latin typeface="Calibri" panose="020F0502020204030204" pitchFamily="34" charset="0"/>
                <a:ea typeface="Calibri" panose="020F0502020204030204" pitchFamily="34" charset="-122"/>
                <a:cs typeface="Calibri" panose="020F0502020204030204" pitchFamily="34" charset="-120"/>
              </a:rPr>
              <a:t>Versioning</a:t>
            </a:r>
            <a:endParaRPr lang="en-US" sz="1700" dirty="0"/>
          </a:p>
        </p:txBody>
      </p:sp>
      <p:sp>
        <p:nvSpPr>
          <p:cNvPr id="8" name="Text 5"/>
          <p:cNvSpPr/>
          <p:nvPr/>
        </p:nvSpPr>
        <p:spPr>
          <a:xfrm>
            <a:off x="822960" y="2880360"/>
            <a:ext cx="4800600" cy="1463040"/>
          </a:xfrm>
          <a:prstGeom prst="rect">
            <a:avLst/>
          </a:prstGeom>
          <a:noFill/>
        </p:spPr>
        <p:txBody>
          <a:bodyPr wrap="square" lIns="0" tIns="0" rIns="0" bIns="0" rtlCol="0" anchor="ctr"/>
          <a:lstStyle/>
          <a:p>
            <a:pPr marL="0" indent="0">
              <a:lnSpc>
                <a:spcPct val="125000"/>
              </a:lnSpc>
              <a:buNone/>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When enabled, S3 keeps every version of an object instead of overwriting it. This protects against accidental deletes or overwrites — you can always restore a prior version.</a:t>
            </a:r>
            <a:endParaRPr lang="en-US" sz="1300" dirty="0"/>
          </a:p>
        </p:txBody>
      </p:sp>
      <p:sp>
        <p:nvSpPr>
          <p:cNvPr id="9" name="Text 6"/>
          <p:cNvSpPr/>
          <p:nvPr/>
        </p:nvSpPr>
        <p:spPr>
          <a:xfrm>
            <a:off x="822960" y="4480560"/>
            <a:ext cx="4800600" cy="1188720"/>
          </a:xfrm>
          <a:prstGeom prst="rect">
            <a:avLst/>
          </a:prstGeom>
          <a:noFill/>
        </p:spPr>
        <p:txBody>
          <a:bodyPr wrap="square" lIns="0" tIns="0" rIns="0" bIns="0" rtlCol="0" anchor="ctr"/>
          <a:lstStyle/>
          <a:p>
            <a:pPr marL="0" indent="0">
              <a:lnSpc>
                <a:spcPct val="120000"/>
              </a:lnSpc>
              <a:buNone/>
            </a:pPr>
            <a:r>
              <a:rPr lang="en-US" sz="1200" i="1" dirty="0">
                <a:solidFill>
                  <a:srgbClr val="5F6B7A"/>
                </a:solidFill>
                <a:latin typeface="Calibri" panose="020F0502020204030204" pitchFamily="34" charset="0"/>
                <a:ea typeface="Calibri" panose="020F0502020204030204" pitchFamily="34" charset="-122"/>
                <a:cs typeface="Calibri" panose="020F0502020204030204" pitchFamily="34" charset="-120"/>
              </a:rPr>
              <a:t>Use case: protect critical documents from accidental overwrites</a:t>
            </a:r>
            <a:endParaRPr lang="en-US" sz="1200" dirty="0"/>
          </a:p>
        </p:txBody>
      </p:sp>
      <p:sp>
        <p:nvSpPr>
          <p:cNvPr id="10" name="Shape 7"/>
          <p:cNvSpPr/>
          <p:nvPr/>
        </p:nvSpPr>
        <p:spPr>
          <a:xfrm>
            <a:off x="6263640" y="1691640"/>
            <a:ext cx="5349240" cy="4160520"/>
          </a:xfrm>
          <a:prstGeom prst="roundRect">
            <a:avLst>
              <a:gd name="adj" fmla="val 2198"/>
            </a:avLst>
          </a:prstGeom>
          <a:solidFill>
            <a:srgbClr val="232F3E"/>
          </a:solidFill>
        </p:spPr>
      </p:sp>
      <p:sp>
        <p:nvSpPr>
          <p:cNvPr id="11" name="Shape 8"/>
          <p:cNvSpPr/>
          <p:nvPr/>
        </p:nvSpPr>
        <p:spPr>
          <a:xfrm>
            <a:off x="6537960" y="1920240"/>
            <a:ext cx="777240" cy="777240"/>
          </a:xfrm>
          <a:prstGeom prst="ellipse">
            <a:avLst/>
          </a:prstGeom>
          <a:solidFill>
            <a:srgbClr val="FF9900"/>
          </a:solidFill>
        </p:spPr>
      </p:sp>
      <p:pic>
        <p:nvPicPr>
          <p:cNvPr id="12" name="Image 1" descr="/home/claude/icons/clock_navy.png"/>
          <p:cNvPicPr>
            <a:picLocks noChangeAspect="1"/>
          </p:cNvPicPr>
          <p:nvPr/>
        </p:nvPicPr>
        <p:blipFill>
          <a:blip r:embed="rId2"/>
          <a:stretch>
            <a:fillRect/>
          </a:stretch>
        </p:blipFill>
        <p:spPr>
          <a:xfrm>
            <a:off x="6724498" y="2106778"/>
            <a:ext cx="404165" cy="404165"/>
          </a:xfrm>
          <a:prstGeom prst="rect">
            <a:avLst/>
          </a:prstGeom>
        </p:spPr>
      </p:pic>
      <p:sp>
        <p:nvSpPr>
          <p:cNvPr id="13" name="Text 9"/>
          <p:cNvSpPr/>
          <p:nvPr/>
        </p:nvSpPr>
        <p:spPr>
          <a:xfrm>
            <a:off x="7543800" y="2084832"/>
            <a:ext cx="3840480" cy="365760"/>
          </a:xfrm>
          <a:prstGeom prst="rect">
            <a:avLst/>
          </a:prstGeom>
          <a:noFill/>
        </p:spPr>
        <p:txBody>
          <a:bodyPr wrap="square" lIns="0" tIns="0" rIns="0" bIns="0" rtlCol="0" anchor="ctr"/>
          <a:lstStyle/>
          <a:p>
            <a:pPr marL="0" indent="0">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Lifecycle Policies</a:t>
            </a:r>
            <a:endParaRPr lang="en-US" sz="1700" dirty="0"/>
          </a:p>
        </p:txBody>
      </p:sp>
      <p:sp>
        <p:nvSpPr>
          <p:cNvPr id="14" name="Text 10"/>
          <p:cNvSpPr/>
          <p:nvPr/>
        </p:nvSpPr>
        <p:spPr>
          <a:xfrm>
            <a:off x="6537960" y="2880360"/>
            <a:ext cx="4800600" cy="1463040"/>
          </a:xfrm>
          <a:prstGeom prst="rect">
            <a:avLst/>
          </a:prstGeom>
          <a:noFill/>
        </p:spPr>
        <p:txBody>
          <a:bodyPr wrap="square" lIns="0" tIns="0" rIns="0" bIns="0" rtlCol="0" anchor="ctr"/>
          <a:lstStyle/>
          <a:p>
            <a:pPr marL="0" indent="0">
              <a:lnSpc>
                <a:spcPct val="125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Rules that automatically transition objects to cheaper storage classes, or delete them entirely, after a set number of days — reducing storage costs without manual effort.</a:t>
            </a:r>
            <a:endParaRPr lang="en-US" sz="1300" dirty="0"/>
          </a:p>
        </p:txBody>
      </p:sp>
      <p:sp>
        <p:nvSpPr>
          <p:cNvPr id="15" name="Text 11"/>
          <p:cNvSpPr/>
          <p:nvPr/>
        </p:nvSpPr>
        <p:spPr>
          <a:xfrm>
            <a:off x="6537960" y="4480560"/>
            <a:ext cx="4800600" cy="1188720"/>
          </a:xfrm>
          <a:prstGeom prst="rect">
            <a:avLst/>
          </a:prstGeom>
          <a:noFill/>
        </p:spPr>
        <p:txBody>
          <a:bodyPr wrap="square" lIns="0" tIns="0" rIns="0" bIns="0" rtlCol="0" anchor="ctr"/>
          <a:lstStyle/>
          <a:p>
            <a:pPr marL="0" indent="0">
              <a:lnSpc>
                <a:spcPct val="120000"/>
              </a:lnSpc>
              <a:buNone/>
            </a:pP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Example: move logs to Glacier after 90 days, then delete after 365 days</a:t>
            </a:r>
            <a:endParaRPr lang="en-US" sz="1200" dirty="0"/>
          </a:p>
        </p:txBody>
      </p:sp>
      <p:sp>
        <p:nvSpPr>
          <p:cNvPr id="16" name="Text 1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7" name="Text 1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40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S3</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Example: Static Website Hosting on S3</a:t>
            </a:r>
            <a:endParaRPr lang="en-US" sz="3000" dirty="0"/>
          </a:p>
        </p:txBody>
      </p:sp>
      <p:sp>
        <p:nvSpPr>
          <p:cNvPr id="4" name="Text 2"/>
          <p:cNvSpPr/>
          <p:nvPr/>
        </p:nvSpPr>
        <p:spPr>
          <a:xfrm>
            <a:off x="548640" y="1645920"/>
            <a:ext cx="10789920" cy="594360"/>
          </a:xfrm>
          <a:prstGeom prst="rect">
            <a:avLst/>
          </a:prstGeom>
          <a:noFill/>
        </p:spPr>
        <p:txBody>
          <a:bodyPr wrap="square" lIns="0" tIns="0" rIns="0" bIns="0" rtlCol="0" anchor="ctr"/>
          <a:lstStyle/>
          <a:p>
            <a:pPr marL="0" indent="0">
              <a:lnSpc>
                <a:spcPct val="120000"/>
              </a:lnSpc>
              <a:buNone/>
            </a:pPr>
            <a:r>
              <a:rPr lang="en-US" sz="1350" i="1" dirty="0">
                <a:solidFill>
                  <a:srgbClr val="5F6B7A"/>
                </a:solidFill>
                <a:latin typeface="Calibri" panose="020F0502020204030204" pitchFamily="34" charset="0"/>
                <a:ea typeface="Calibri" panose="020F0502020204030204" pitchFamily="34" charset="-122"/>
                <a:cs typeface="Calibri" panose="020F0502020204030204" pitchFamily="34" charset="-120"/>
              </a:rPr>
              <a:t>S3 can serve a website's HTML, CSS, JavaScript, and images directly — no web server required. Perfect for portfolios, documentation sites, and single-page apps.</a:t>
            </a:r>
            <a:endParaRPr lang="en-US" sz="1350" dirty="0"/>
          </a:p>
        </p:txBody>
      </p:sp>
      <p:sp>
        <p:nvSpPr>
          <p:cNvPr id="5" name="Shape 3"/>
          <p:cNvSpPr/>
          <p:nvPr/>
        </p:nvSpPr>
        <p:spPr>
          <a:xfrm>
            <a:off x="548640" y="2468880"/>
            <a:ext cx="2606040" cy="3291840"/>
          </a:xfrm>
          <a:prstGeom prst="roundRect">
            <a:avLst>
              <a:gd name="adj" fmla="val 3509"/>
            </a:avLst>
          </a:prstGeom>
          <a:solidFill>
            <a:srgbClr val="F5F7FA"/>
          </a:solidFill>
        </p:spPr>
      </p:sp>
      <p:sp>
        <p:nvSpPr>
          <p:cNvPr id="6" name="Shape 4"/>
          <p:cNvSpPr/>
          <p:nvPr/>
        </p:nvSpPr>
        <p:spPr>
          <a:xfrm>
            <a:off x="1481328" y="2697480"/>
            <a:ext cx="731520" cy="731520"/>
          </a:xfrm>
          <a:prstGeom prst="ellipse">
            <a:avLst/>
          </a:prstGeom>
          <a:solidFill>
            <a:srgbClr val="FF9900"/>
          </a:solidFill>
        </p:spPr>
      </p:sp>
      <p:sp>
        <p:nvSpPr>
          <p:cNvPr id="7" name="Text 5"/>
          <p:cNvSpPr/>
          <p:nvPr/>
        </p:nvSpPr>
        <p:spPr>
          <a:xfrm>
            <a:off x="1481328" y="2697480"/>
            <a:ext cx="731520" cy="731520"/>
          </a:xfrm>
          <a:prstGeom prst="rect">
            <a:avLst/>
          </a:prstGeom>
          <a:noFill/>
        </p:spPr>
        <p:txBody>
          <a:bodyPr wrap="square" lIns="0" tIns="0" rIns="0" bIns="0" rtlCol="0" anchor="ctr"/>
          <a:lstStyle/>
          <a:p>
            <a:pPr marL="0" indent="0" algn="ctr">
              <a:buNone/>
            </a:pPr>
            <a:r>
              <a:rPr lang="en-US" sz="2400" b="1" dirty="0">
                <a:solidFill>
                  <a:srgbClr val="232F3E"/>
                </a:solidFill>
                <a:latin typeface="Cambria" panose="02040503050406030204" pitchFamily="34" charset="0"/>
                <a:ea typeface="Cambria" panose="02040503050406030204" pitchFamily="34" charset="-122"/>
                <a:cs typeface="Cambria" panose="02040503050406030204" pitchFamily="34" charset="-120"/>
              </a:rPr>
              <a:t>1</a:t>
            </a:r>
            <a:endParaRPr lang="en-US" sz="2400" dirty="0"/>
          </a:p>
        </p:txBody>
      </p:sp>
      <p:sp>
        <p:nvSpPr>
          <p:cNvPr id="8" name="Shape 6"/>
          <p:cNvSpPr/>
          <p:nvPr/>
        </p:nvSpPr>
        <p:spPr>
          <a:xfrm>
            <a:off x="1508760" y="3611880"/>
            <a:ext cx="685800" cy="685800"/>
          </a:xfrm>
          <a:prstGeom prst="ellipse">
            <a:avLst/>
          </a:prstGeom>
          <a:solidFill>
            <a:srgbClr val="232F3E"/>
          </a:solidFill>
        </p:spPr>
      </p:sp>
      <p:pic>
        <p:nvPicPr>
          <p:cNvPr id="9" name="Image 0" descr="/home/claude/icons/code_orange.png"/>
          <p:cNvPicPr>
            <a:picLocks noChangeAspect="1"/>
          </p:cNvPicPr>
          <p:nvPr/>
        </p:nvPicPr>
        <p:blipFill>
          <a:blip r:embed="rId1"/>
          <a:stretch>
            <a:fillRect/>
          </a:stretch>
        </p:blipFill>
        <p:spPr>
          <a:xfrm>
            <a:off x="1673352" y="3776472"/>
            <a:ext cx="356616" cy="356616"/>
          </a:xfrm>
          <a:prstGeom prst="rect">
            <a:avLst/>
          </a:prstGeom>
        </p:spPr>
      </p:pic>
      <p:sp>
        <p:nvSpPr>
          <p:cNvPr id="10" name="Text 7"/>
          <p:cNvSpPr/>
          <p:nvPr/>
        </p:nvSpPr>
        <p:spPr>
          <a:xfrm>
            <a:off x="685800" y="4434840"/>
            <a:ext cx="2331720" cy="36576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Upload Files</a:t>
            </a:r>
            <a:endParaRPr lang="en-US" sz="1300" dirty="0"/>
          </a:p>
        </p:txBody>
      </p:sp>
      <p:sp>
        <p:nvSpPr>
          <p:cNvPr id="11" name="Text 8"/>
          <p:cNvSpPr/>
          <p:nvPr/>
        </p:nvSpPr>
        <p:spPr>
          <a:xfrm>
            <a:off x="685800" y="4800600"/>
            <a:ext cx="2331720" cy="868680"/>
          </a:xfrm>
          <a:prstGeom prst="rect">
            <a:avLst/>
          </a:prstGeom>
          <a:noFill/>
        </p:spPr>
        <p:txBody>
          <a:bodyPr wrap="square" lIns="0" tIns="0" rIns="0" bIns="0" rtlCol="0" anchor="ctr"/>
          <a:lstStyle/>
          <a:p>
            <a:pPr marL="0" indent="0" algn="ctr">
              <a:lnSpc>
                <a:spcPct val="110000"/>
              </a:lnSpc>
              <a:buNone/>
            </a:pPr>
            <a:r>
              <a:rPr lang="en-US" sz="1050" dirty="0">
                <a:solidFill>
                  <a:srgbClr val="5F6B7A"/>
                </a:solidFill>
                <a:latin typeface="Calibri" panose="020F0502020204030204" pitchFamily="34" charset="0"/>
                <a:ea typeface="Calibri" panose="020F0502020204030204" pitchFamily="34" charset="-122"/>
                <a:cs typeface="Calibri" panose="020F0502020204030204" pitchFamily="34" charset="-120"/>
              </a:rPr>
              <a:t>Upload index.html, style.css &amp; assets to a bucket</a:t>
            </a:r>
            <a:endParaRPr lang="en-US" sz="1050" dirty="0"/>
          </a:p>
        </p:txBody>
      </p:sp>
      <p:sp>
        <p:nvSpPr>
          <p:cNvPr id="12" name="Text 9"/>
          <p:cNvSpPr/>
          <p:nvPr/>
        </p:nvSpPr>
        <p:spPr>
          <a:xfrm>
            <a:off x="3154680" y="3931920"/>
            <a:ext cx="201168"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3" name="Shape 10"/>
          <p:cNvSpPr/>
          <p:nvPr/>
        </p:nvSpPr>
        <p:spPr>
          <a:xfrm>
            <a:off x="3360420" y="2468880"/>
            <a:ext cx="2606040" cy="3291840"/>
          </a:xfrm>
          <a:prstGeom prst="roundRect">
            <a:avLst>
              <a:gd name="adj" fmla="val 3509"/>
            </a:avLst>
          </a:prstGeom>
          <a:solidFill>
            <a:srgbClr val="F5F7FA"/>
          </a:solidFill>
        </p:spPr>
      </p:sp>
      <p:sp>
        <p:nvSpPr>
          <p:cNvPr id="14" name="Shape 11"/>
          <p:cNvSpPr/>
          <p:nvPr/>
        </p:nvSpPr>
        <p:spPr>
          <a:xfrm>
            <a:off x="4293108" y="2697480"/>
            <a:ext cx="731520" cy="731520"/>
          </a:xfrm>
          <a:prstGeom prst="ellipse">
            <a:avLst/>
          </a:prstGeom>
          <a:solidFill>
            <a:srgbClr val="FF9900"/>
          </a:solidFill>
        </p:spPr>
      </p:sp>
      <p:sp>
        <p:nvSpPr>
          <p:cNvPr id="15" name="Text 12"/>
          <p:cNvSpPr/>
          <p:nvPr/>
        </p:nvSpPr>
        <p:spPr>
          <a:xfrm>
            <a:off x="4293108" y="2697480"/>
            <a:ext cx="731520" cy="731520"/>
          </a:xfrm>
          <a:prstGeom prst="rect">
            <a:avLst/>
          </a:prstGeom>
          <a:noFill/>
        </p:spPr>
        <p:txBody>
          <a:bodyPr wrap="square" lIns="0" tIns="0" rIns="0" bIns="0" rtlCol="0" anchor="ctr"/>
          <a:lstStyle/>
          <a:p>
            <a:pPr marL="0" indent="0" algn="ctr">
              <a:buNone/>
            </a:pPr>
            <a:r>
              <a:rPr lang="en-US" sz="2400" b="1" dirty="0">
                <a:solidFill>
                  <a:srgbClr val="232F3E"/>
                </a:solidFill>
                <a:latin typeface="Cambria" panose="02040503050406030204" pitchFamily="34" charset="0"/>
                <a:ea typeface="Cambria" panose="02040503050406030204" pitchFamily="34" charset="-122"/>
                <a:cs typeface="Cambria" panose="02040503050406030204" pitchFamily="34" charset="-120"/>
              </a:rPr>
              <a:t>2</a:t>
            </a:r>
            <a:endParaRPr lang="en-US" sz="2400" dirty="0"/>
          </a:p>
        </p:txBody>
      </p:sp>
      <p:sp>
        <p:nvSpPr>
          <p:cNvPr id="16" name="Shape 13"/>
          <p:cNvSpPr/>
          <p:nvPr/>
        </p:nvSpPr>
        <p:spPr>
          <a:xfrm>
            <a:off x="4320540" y="3611880"/>
            <a:ext cx="685800" cy="685800"/>
          </a:xfrm>
          <a:prstGeom prst="ellipse">
            <a:avLst/>
          </a:prstGeom>
          <a:solidFill>
            <a:srgbClr val="232F3E"/>
          </a:solidFill>
        </p:spPr>
      </p:sp>
      <p:pic>
        <p:nvPicPr>
          <p:cNvPr id="17" name="Image 1" descr="/home/claude/icons/cogs_orange.png"/>
          <p:cNvPicPr>
            <a:picLocks noChangeAspect="1"/>
          </p:cNvPicPr>
          <p:nvPr/>
        </p:nvPicPr>
        <p:blipFill>
          <a:blip r:embed="rId2"/>
          <a:stretch>
            <a:fillRect/>
          </a:stretch>
        </p:blipFill>
        <p:spPr>
          <a:xfrm>
            <a:off x="4485132" y="3776472"/>
            <a:ext cx="356616" cy="356616"/>
          </a:xfrm>
          <a:prstGeom prst="rect">
            <a:avLst/>
          </a:prstGeom>
        </p:spPr>
      </p:pic>
      <p:sp>
        <p:nvSpPr>
          <p:cNvPr id="18" name="Text 14"/>
          <p:cNvSpPr/>
          <p:nvPr/>
        </p:nvSpPr>
        <p:spPr>
          <a:xfrm>
            <a:off x="3497580" y="4434840"/>
            <a:ext cx="2331720" cy="36576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Enable Hosting</a:t>
            </a:r>
            <a:endParaRPr lang="en-US" sz="1300" dirty="0"/>
          </a:p>
        </p:txBody>
      </p:sp>
      <p:sp>
        <p:nvSpPr>
          <p:cNvPr id="19" name="Text 15"/>
          <p:cNvSpPr/>
          <p:nvPr/>
        </p:nvSpPr>
        <p:spPr>
          <a:xfrm>
            <a:off x="3497580" y="4800600"/>
            <a:ext cx="2331720" cy="868680"/>
          </a:xfrm>
          <a:prstGeom prst="rect">
            <a:avLst/>
          </a:prstGeom>
          <a:noFill/>
        </p:spPr>
        <p:txBody>
          <a:bodyPr wrap="square" lIns="0" tIns="0" rIns="0" bIns="0" rtlCol="0" anchor="ctr"/>
          <a:lstStyle/>
          <a:p>
            <a:pPr marL="0" indent="0" algn="ctr">
              <a:lnSpc>
                <a:spcPct val="110000"/>
              </a:lnSpc>
              <a:buNone/>
            </a:pPr>
            <a:r>
              <a:rPr lang="en-US" sz="1050" dirty="0">
                <a:solidFill>
                  <a:srgbClr val="5F6B7A"/>
                </a:solidFill>
                <a:latin typeface="Calibri" panose="020F0502020204030204" pitchFamily="34" charset="0"/>
                <a:ea typeface="Calibri" panose="020F0502020204030204" pitchFamily="34" charset="-122"/>
                <a:cs typeface="Calibri" panose="020F0502020204030204" pitchFamily="34" charset="-120"/>
              </a:rPr>
              <a:t>Turn on Static Website Hosting in bucket properties</a:t>
            </a:r>
            <a:endParaRPr lang="en-US" sz="1050" dirty="0"/>
          </a:p>
        </p:txBody>
      </p:sp>
      <p:sp>
        <p:nvSpPr>
          <p:cNvPr id="20" name="Text 16"/>
          <p:cNvSpPr/>
          <p:nvPr/>
        </p:nvSpPr>
        <p:spPr>
          <a:xfrm>
            <a:off x="5966460" y="3931920"/>
            <a:ext cx="201168"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1" name="Shape 17"/>
          <p:cNvSpPr/>
          <p:nvPr/>
        </p:nvSpPr>
        <p:spPr>
          <a:xfrm>
            <a:off x="6172200" y="2468880"/>
            <a:ext cx="2606040" cy="3291840"/>
          </a:xfrm>
          <a:prstGeom prst="roundRect">
            <a:avLst>
              <a:gd name="adj" fmla="val 3509"/>
            </a:avLst>
          </a:prstGeom>
          <a:solidFill>
            <a:srgbClr val="F5F7FA"/>
          </a:solidFill>
        </p:spPr>
      </p:sp>
      <p:sp>
        <p:nvSpPr>
          <p:cNvPr id="22" name="Shape 18"/>
          <p:cNvSpPr/>
          <p:nvPr/>
        </p:nvSpPr>
        <p:spPr>
          <a:xfrm>
            <a:off x="7104888" y="2697480"/>
            <a:ext cx="731520" cy="731520"/>
          </a:xfrm>
          <a:prstGeom prst="ellipse">
            <a:avLst/>
          </a:prstGeom>
          <a:solidFill>
            <a:srgbClr val="FF9900"/>
          </a:solidFill>
        </p:spPr>
      </p:sp>
      <p:sp>
        <p:nvSpPr>
          <p:cNvPr id="23" name="Text 19"/>
          <p:cNvSpPr/>
          <p:nvPr/>
        </p:nvSpPr>
        <p:spPr>
          <a:xfrm>
            <a:off x="7104888" y="2697480"/>
            <a:ext cx="731520" cy="731520"/>
          </a:xfrm>
          <a:prstGeom prst="rect">
            <a:avLst/>
          </a:prstGeom>
          <a:noFill/>
        </p:spPr>
        <p:txBody>
          <a:bodyPr wrap="square" lIns="0" tIns="0" rIns="0" bIns="0" rtlCol="0" anchor="ctr"/>
          <a:lstStyle/>
          <a:p>
            <a:pPr marL="0" indent="0" algn="ctr">
              <a:buNone/>
            </a:pPr>
            <a:r>
              <a:rPr lang="en-US" sz="2400" b="1" dirty="0">
                <a:solidFill>
                  <a:srgbClr val="232F3E"/>
                </a:solidFill>
                <a:latin typeface="Cambria" panose="02040503050406030204" pitchFamily="34" charset="0"/>
                <a:ea typeface="Cambria" panose="02040503050406030204" pitchFamily="34" charset="-122"/>
                <a:cs typeface="Cambria" panose="02040503050406030204" pitchFamily="34" charset="-120"/>
              </a:rPr>
              <a:t>3</a:t>
            </a:r>
            <a:endParaRPr lang="en-US" sz="2400" dirty="0"/>
          </a:p>
        </p:txBody>
      </p:sp>
      <p:sp>
        <p:nvSpPr>
          <p:cNvPr id="24" name="Shape 20"/>
          <p:cNvSpPr/>
          <p:nvPr/>
        </p:nvSpPr>
        <p:spPr>
          <a:xfrm>
            <a:off x="7132320" y="3611880"/>
            <a:ext cx="685800" cy="685800"/>
          </a:xfrm>
          <a:prstGeom prst="ellipse">
            <a:avLst/>
          </a:prstGeom>
          <a:solidFill>
            <a:srgbClr val="232F3E"/>
          </a:solidFill>
        </p:spPr>
      </p:sp>
      <p:pic>
        <p:nvPicPr>
          <p:cNvPr id="25" name="Image 2" descr="/home/claude/icons/lock_orange.png"/>
          <p:cNvPicPr>
            <a:picLocks noChangeAspect="1"/>
          </p:cNvPicPr>
          <p:nvPr/>
        </p:nvPicPr>
        <p:blipFill>
          <a:blip r:embed="rId3"/>
          <a:stretch>
            <a:fillRect/>
          </a:stretch>
        </p:blipFill>
        <p:spPr>
          <a:xfrm>
            <a:off x="7296912" y="3776472"/>
            <a:ext cx="356616" cy="356616"/>
          </a:xfrm>
          <a:prstGeom prst="rect">
            <a:avLst/>
          </a:prstGeom>
        </p:spPr>
      </p:pic>
      <p:sp>
        <p:nvSpPr>
          <p:cNvPr id="26" name="Text 21"/>
          <p:cNvSpPr/>
          <p:nvPr/>
        </p:nvSpPr>
        <p:spPr>
          <a:xfrm>
            <a:off x="6309360" y="4434840"/>
            <a:ext cx="2331720" cy="36576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Set Permissions</a:t>
            </a:r>
            <a:endParaRPr lang="en-US" sz="1300" dirty="0"/>
          </a:p>
        </p:txBody>
      </p:sp>
      <p:sp>
        <p:nvSpPr>
          <p:cNvPr id="27" name="Text 22"/>
          <p:cNvSpPr/>
          <p:nvPr/>
        </p:nvSpPr>
        <p:spPr>
          <a:xfrm>
            <a:off x="6309360" y="4800600"/>
            <a:ext cx="2331720" cy="868680"/>
          </a:xfrm>
          <a:prstGeom prst="rect">
            <a:avLst/>
          </a:prstGeom>
          <a:noFill/>
        </p:spPr>
        <p:txBody>
          <a:bodyPr wrap="square" lIns="0" tIns="0" rIns="0" bIns="0" rtlCol="0" anchor="ctr"/>
          <a:lstStyle/>
          <a:p>
            <a:pPr marL="0" indent="0" algn="ctr">
              <a:lnSpc>
                <a:spcPct val="110000"/>
              </a:lnSpc>
              <a:buNone/>
            </a:pPr>
            <a:r>
              <a:rPr lang="en-US" sz="1050" dirty="0">
                <a:solidFill>
                  <a:srgbClr val="5F6B7A"/>
                </a:solidFill>
                <a:latin typeface="Calibri" panose="020F0502020204030204" pitchFamily="34" charset="0"/>
                <a:ea typeface="Calibri" panose="020F0502020204030204" pitchFamily="34" charset="-122"/>
                <a:cs typeface="Calibri" panose="020F0502020204030204" pitchFamily="34" charset="-120"/>
              </a:rPr>
              <a:t>Allow public read access to the website files</a:t>
            </a:r>
            <a:endParaRPr lang="en-US" sz="1050" dirty="0"/>
          </a:p>
        </p:txBody>
      </p:sp>
      <p:sp>
        <p:nvSpPr>
          <p:cNvPr id="28" name="Text 23"/>
          <p:cNvSpPr/>
          <p:nvPr/>
        </p:nvSpPr>
        <p:spPr>
          <a:xfrm>
            <a:off x="8778240" y="3931920"/>
            <a:ext cx="201168"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9" name="Shape 24"/>
          <p:cNvSpPr/>
          <p:nvPr/>
        </p:nvSpPr>
        <p:spPr>
          <a:xfrm>
            <a:off x="8983980" y="2468880"/>
            <a:ext cx="2606040" cy="3291840"/>
          </a:xfrm>
          <a:prstGeom prst="roundRect">
            <a:avLst>
              <a:gd name="adj" fmla="val 3509"/>
            </a:avLst>
          </a:prstGeom>
          <a:solidFill>
            <a:srgbClr val="F5F7FA"/>
          </a:solidFill>
        </p:spPr>
      </p:sp>
      <p:sp>
        <p:nvSpPr>
          <p:cNvPr id="30" name="Shape 25"/>
          <p:cNvSpPr/>
          <p:nvPr/>
        </p:nvSpPr>
        <p:spPr>
          <a:xfrm>
            <a:off x="9916668" y="2697480"/>
            <a:ext cx="731520" cy="731520"/>
          </a:xfrm>
          <a:prstGeom prst="ellipse">
            <a:avLst/>
          </a:prstGeom>
          <a:solidFill>
            <a:srgbClr val="FF9900"/>
          </a:solidFill>
        </p:spPr>
      </p:sp>
      <p:sp>
        <p:nvSpPr>
          <p:cNvPr id="31" name="Text 26"/>
          <p:cNvSpPr/>
          <p:nvPr/>
        </p:nvSpPr>
        <p:spPr>
          <a:xfrm>
            <a:off x="9916668" y="2697480"/>
            <a:ext cx="731520" cy="731520"/>
          </a:xfrm>
          <a:prstGeom prst="rect">
            <a:avLst/>
          </a:prstGeom>
          <a:noFill/>
        </p:spPr>
        <p:txBody>
          <a:bodyPr wrap="square" lIns="0" tIns="0" rIns="0" bIns="0" rtlCol="0" anchor="ctr"/>
          <a:lstStyle/>
          <a:p>
            <a:pPr marL="0" indent="0" algn="ctr">
              <a:buNone/>
            </a:pPr>
            <a:r>
              <a:rPr lang="en-US" sz="2400" b="1" dirty="0">
                <a:solidFill>
                  <a:srgbClr val="232F3E"/>
                </a:solidFill>
                <a:latin typeface="Cambria" panose="02040503050406030204" pitchFamily="34" charset="0"/>
                <a:ea typeface="Cambria" panose="02040503050406030204" pitchFamily="34" charset="-122"/>
                <a:cs typeface="Cambria" panose="02040503050406030204" pitchFamily="34" charset="-120"/>
              </a:rPr>
              <a:t>4</a:t>
            </a:r>
            <a:endParaRPr lang="en-US" sz="2400" dirty="0"/>
          </a:p>
        </p:txBody>
      </p:sp>
      <p:sp>
        <p:nvSpPr>
          <p:cNvPr id="32" name="Shape 27"/>
          <p:cNvSpPr/>
          <p:nvPr/>
        </p:nvSpPr>
        <p:spPr>
          <a:xfrm>
            <a:off x="9944100" y="3611880"/>
            <a:ext cx="685800" cy="685800"/>
          </a:xfrm>
          <a:prstGeom prst="ellipse">
            <a:avLst/>
          </a:prstGeom>
          <a:solidFill>
            <a:srgbClr val="232F3E"/>
          </a:solidFill>
        </p:spPr>
      </p:sp>
      <p:pic>
        <p:nvPicPr>
          <p:cNvPr id="33" name="Image 3" descr="/home/claude/icons/globe_orange.png"/>
          <p:cNvPicPr>
            <a:picLocks noChangeAspect="1"/>
          </p:cNvPicPr>
          <p:nvPr/>
        </p:nvPicPr>
        <p:blipFill>
          <a:blip r:embed="rId4"/>
          <a:stretch>
            <a:fillRect/>
          </a:stretch>
        </p:blipFill>
        <p:spPr>
          <a:xfrm>
            <a:off x="10108692" y="3776472"/>
            <a:ext cx="356616" cy="356616"/>
          </a:xfrm>
          <a:prstGeom prst="rect">
            <a:avLst/>
          </a:prstGeom>
        </p:spPr>
      </p:pic>
      <p:sp>
        <p:nvSpPr>
          <p:cNvPr id="34" name="Text 28"/>
          <p:cNvSpPr/>
          <p:nvPr/>
        </p:nvSpPr>
        <p:spPr>
          <a:xfrm>
            <a:off x="9121140" y="4434840"/>
            <a:ext cx="2331720" cy="36576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Go Live</a:t>
            </a:r>
            <a:endParaRPr lang="en-US" sz="1300" dirty="0"/>
          </a:p>
        </p:txBody>
      </p:sp>
      <p:sp>
        <p:nvSpPr>
          <p:cNvPr id="35" name="Text 29"/>
          <p:cNvSpPr/>
          <p:nvPr/>
        </p:nvSpPr>
        <p:spPr>
          <a:xfrm>
            <a:off x="9121140" y="4800600"/>
            <a:ext cx="2331720" cy="868680"/>
          </a:xfrm>
          <a:prstGeom prst="rect">
            <a:avLst/>
          </a:prstGeom>
          <a:noFill/>
        </p:spPr>
        <p:txBody>
          <a:bodyPr wrap="square" lIns="0" tIns="0" rIns="0" bIns="0" rtlCol="0" anchor="ctr"/>
          <a:lstStyle/>
          <a:p>
            <a:pPr marL="0" indent="0" algn="ctr">
              <a:lnSpc>
                <a:spcPct val="110000"/>
              </a:lnSpc>
              <a:buNone/>
            </a:pPr>
            <a:r>
              <a:rPr lang="en-US" sz="1050" dirty="0">
                <a:solidFill>
                  <a:srgbClr val="5F6B7A"/>
                </a:solidFill>
                <a:latin typeface="Calibri" panose="020F0502020204030204" pitchFamily="34" charset="0"/>
                <a:ea typeface="Calibri" panose="020F0502020204030204" pitchFamily="34" charset="-122"/>
                <a:cs typeface="Calibri" panose="020F0502020204030204" pitchFamily="34" charset="-120"/>
              </a:rPr>
              <a:t>Access the site via its S3 website endpoint URL</a:t>
            </a:r>
            <a:endParaRPr lang="en-US" sz="1050" dirty="0"/>
          </a:p>
        </p:txBody>
      </p:sp>
      <p:sp>
        <p:nvSpPr>
          <p:cNvPr id="36" name="Text 30"/>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7" name="Text 31"/>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41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37475A"/>
          </a:solidFill>
        </p:spPr>
      </p:sp>
      <p:sp>
        <p:nvSpPr>
          <p:cNvPr id="3" name="Shape 1"/>
          <p:cNvSpPr/>
          <p:nvPr/>
        </p:nvSpPr>
        <p:spPr>
          <a:xfrm>
            <a:off x="-1280160" y="4937760"/>
            <a:ext cx="3291840" cy="3291840"/>
          </a:xfrm>
          <a:prstGeom prst="ellipse">
            <a:avLst/>
          </a:prstGeom>
          <a:solidFill>
            <a:srgbClr val="37475A"/>
          </a:solidFill>
        </p:spPr>
      </p:sp>
      <p:sp>
        <p:nvSpPr>
          <p:cNvPr id="4" name="Shape 2"/>
          <p:cNvSpPr/>
          <p:nvPr/>
        </p:nvSpPr>
        <p:spPr>
          <a:xfrm>
            <a:off x="822960" y="1965960"/>
            <a:ext cx="1051560" cy="1051560"/>
          </a:xfrm>
          <a:prstGeom prst="ellipse">
            <a:avLst/>
          </a:prstGeom>
          <a:solidFill>
            <a:srgbClr val="FF9900"/>
          </a:solidFill>
        </p:spPr>
      </p:sp>
      <p:pic>
        <p:nvPicPr>
          <p:cNvPr id="5" name="Image 0" descr="/home/claude/icons/bell_navy.png"/>
          <p:cNvPicPr>
            <a:picLocks noChangeAspect="1"/>
          </p:cNvPicPr>
          <p:nvPr/>
        </p:nvPicPr>
        <p:blipFill>
          <a:blip r:embed="rId1"/>
          <a:stretch>
            <a:fillRect/>
          </a:stretch>
        </p:blipFill>
        <p:spPr>
          <a:xfrm>
            <a:off x="1075334" y="2218334"/>
            <a:ext cx="546811" cy="546811"/>
          </a:xfrm>
          <a:prstGeom prst="rect">
            <a:avLst/>
          </a:prstGeom>
        </p:spPr>
      </p:pic>
      <p:sp>
        <p:nvSpPr>
          <p:cNvPr id="6" name="Text 3"/>
          <p:cNvSpPr/>
          <p:nvPr/>
        </p:nvSpPr>
        <p:spPr>
          <a:xfrm>
            <a:off x="822960" y="3200400"/>
            <a:ext cx="7315200" cy="365760"/>
          </a:xfrm>
          <a:prstGeom prst="rect">
            <a:avLst/>
          </a:prstGeom>
          <a:noFill/>
        </p:spPr>
        <p:txBody>
          <a:bodyPr wrap="square" lIns="0" tIns="0" rIns="0" bIns="0" rtlCol="0" anchor="ctr"/>
          <a:lstStyle/>
          <a:p>
            <a:pPr marL="0" indent="0">
              <a:buNone/>
            </a:pPr>
            <a:r>
              <a:rPr lang="en-US" sz="1500" b="1" kern="0" spc="3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6</a:t>
            </a:r>
            <a:endParaRPr lang="en-US" sz="1500" dirty="0"/>
          </a:p>
        </p:txBody>
      </p:sp>
      <p:sp>
        <p:nvSpPr>
          <p:cNvPr id="7" name="Text 4"/>
          <p:cNvSpPr/>
          <p:nvPr/>
        </p:nvSpPr>
        <p:spPr>
          <a:xfrm>
            <a:off x="777240" y="3566160"/>
            <a:ext cx="9601200" cy="1188720"/>
          </a:xfrm>
          <a:prstGeom prst="rect">
            <a:avLst/>
          </a:prstGeom>
          <a:noFill/>
        </p:spPr>
        <p:txBody>
          <a:bodyPr wrap="square" lIns="0" tIns="0" rIns="0" bIns="0" rtlCol="0" anchor="ctr"/>
          <a:lstStyle/>
          <a:p>
            <a:pPr marL="0" indent="0">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Amazon SNS</a:t>
            </a:r>
            <a:endParaRPr lang="en-US" sz="4200" dirty="0"/>
          </a:p>
        </p:txBody>
      </p:sp>
      <p:sp>
        <p:nvSpPr>
          <p:cNvPr id="8" name="Text 5"/>
          <p:cNvSpPr/>
          <p:nvPr/>
        </p:nvSpPr>
        <p:spPr>
          <a:xfrm>
            <a:off x="822960" y="4709160"/>
            <a:ext cx="8686800" cy="548640"/>
          </a:xfrm>
          <a:prstGeom prst="rect">
            <a:avLst/>
          </a:prstGeom>
          <a:noFill/>
        </p:spPr>
        <p:txBody>
          <a:bodyPr wrap="square" lIns="0" tIns="0" rIns="0" bIns="0"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Simple Notification Service — fully managed pub/sub messaging</a:t>
            </a:r>
            <a:endParaRPr lang="en-US" sz="1600" dirty="0"/>
          </a:p>
        </p:txBody>
      </p:sp>
      <p:sp>
        <p:nvSpPr>
          <p:cNvPr id="9" name="Text 6"/>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0" name="Text 7"/>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42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SNS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What is Amazon SNS?</a:t>
            </a:r>
            <a:endParaRPr lang="en-US" sz="3000" dirty="0"/>
          </a:p>
        </p:txBody>
      </p:sp>
      <p:sp>
        <p:nvSpPr>
          <p:cNvPr id="4" name="Text 2"/>
          <p:cNvSpPr/>
          <p:nvPr/>
        </p:nvSpPr>
        <p:spPr>
          <a:xfrm>
            <a:off x="548640" y="1691640"/>
            <a:ext cx="6492240" cy="1463040"/>
          </a:xfrm>
          <a:prstGeom prst="rect">
            <a:avLst/>
          </a:prstGeom>
          <a:noFill/>
        </p:spPr>
        <p:txBody>
          <a:bodyPr wrap="square" lIns="0" tIns="0" rIns="0" bIns="0" rtlCol="0" anchor="ctr"/>
          <a:lstStyle/>
          <a:p>
            <a:pPr marL="0" indent="0">
              <a:lnSpc>
                <a:spcPct val="125000"/>
              </a:lnSpc>
              <a:buNone/>
            </a:pPr>
            <a:r>
              <a:rPr lang="en-US" sz="1450" dirty="0">
                <a:solidFill>
                  <a:srgbClr val="232F3E"/>
                </a:solidFill>
                <a:latin typeface="Calibri" panose="020F0502020204030204" pitchFamily="34" charset="0"/>
                <a:ea typeface="Calibri" panose="020F0502020204030204" pitchFamily="34" charset="-122"/>
                <a:cs typeface="Calibri" panose="020F0502020204030204" pitchFamily="34" charset="-120"/>
              </a:rPr>
              <a:t>Amazon Simple Notification Service (SNS) is a fully managed publish/subscribe messaging service. Publishers send a single message, and SNS instantly delivers it to every subscriber — decoupling senders from receivers.</a:t>
            </a:r>
            <a:endParaRPr lang="en-US" sz="1450" dirty="0"/>
          </a:p>
        </p:txBody>
      </p:sp>
      <p:sp>
        <p:nvSpPr>
          <p:cNvPr id="5" name="Text 3"/>
          <p:cNvSpPr/>
          <p:nvPr/>
        </p:nvSpPr>
        <p:spPr>
          <a:xfrm>
            <a:off x="548640" y="3246120"/>
            <a:ext cx="6492240" cy="2377440"/>
          </a:xfrm>
          <a:prstGeom prst="rect">
            <a:avLst/>
          </a:prstGeom>
          <a:noFill/>
        </p:spPr>
        <p:txBody>
          <a:bodyPr wrap="square" lIns="0" tIns="0" rIns="0" bIns="0" rtlCol="0" anchor="ctr"/>
          <a:lstStyle/>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Deliver messages to multiple subscribers at once</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Supports email, SMS, mobile push &amp; other AWS services</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Fully managed — no messaging infrastructure to run</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Scales automatically with your application's traffic</a:t>
            </a:r>
            <a:endParaRPr lang="en-US" sz="1350" dirty="0"/>
          </a:p>
        </p:txBody>
      </p:sp>
      <p:sp>
        <p:nvSpPr>
          <p:cNvPr id="6" name="Shape 4"/>
          <p:cNvSpPr/>
          <p:nvPr/>
        </p:nvSpPr>
        <p:spPr>
          <a:xfrm>
            <a:off x="7360920" y="1691640"/>
            <a:ext cx="4251960" cy="4206240"/>
          </a:xfrm>
          <a:prstGeom prst="roundRect">
            <a:avLst>
              <a:gd name="adj" fmla="val 2174"/>
            </a:avLst>
          </a:prstGeom>
          <a:solidFill>
            <a:srgbClr val="232F3E"/>
          </a:solidFill>
        </p:spPr>
      </p:sp>
      <p:sp>
        <p:nvSpPr>
          <p:cNvPr id="7" name="Shape 5"/>
          <p:cNvSpPr/>
          <p:nvPr/>
        </p:nvSpPr>
        <p:spPr>
          <a:xfrm>
            <a:off x="9144000" y="2011680"/>
            <a:ext cx="914400" cy="914400"/>
          </a:xfrm>
          <a:prstGeom prst="ellipse">
            <a:avLst/>
          </a:prstGeom>
          <a:solidFill>
            <a:srgbClr val="FF9900"/>
          </a:solidFill>
        </p:spPr>
      </p:sp>
      <p:pic>
        <p:nvPicPr>
          <p:cNvPr id="8" name="Image 0" descr="/home/claude/icons/bell_navy.png"/>
          <p:cNvPicPr>
            <a:picLocks noChangeAspect="1"/>
          </p:cNvPicPr>
          <p:nvPr/>
        </p:nvPicPr>
        <p:blipFill>
          <a:blip r:embed="rId1"/>
          <a:stretch>
            <a:fillRect/>
          </a:stretch>
        </p:blipFill>
        <p:spPr>
          <a:xfrm>
            <a:off x="9363456" y="2231136"/>
            <a:ext cx="475488" cy="475488"/>
          </a:xfrm>
          <a:prstGeom prst="rect">
            <a:avLst/>
          </a:prstGeom>
        </p:spPr>
      </p:pic>
      <p:sp>
        <p:nvSpPr>
          <p:cNvPr id="9" name="Text 6"/>
          <p:cNvSpPr/>
          <p:nvPr/>
        </p:nvSpPr>
        <p:spPr>
          <a:xfrm>
            <a:off x="7635240" y="3154680"/>
            <a:ext cx="36576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 Digital Loudspeaker</a:t>
            </a:r>
            <a:endParaRPr lang="en-US" sz="1500" dirty="0"/>
          </a:p>
        </p:txBody>
      </p:sp>
      <p:sp>
        <p:nvSpPr>
          <p:cNvPr id="10" name="Text 7"/>
          <p:cNvSpPr/>
          <p:nvPr/>
        </p:nvSpPr>
        <p:spPr>
          <a:xfrm>
            <a:off x="7635240" y="3703320"/>
            <a:ext cx="3657600" cy="1920240"/>
          </a:xfrm>
          <a:prstGeom prst="rect">
            <a:avLst/>
          </a:prstGeom>
          <a:noFill/>
        </p:spPr>
        <p:txBody>
          <a:bodyPr wrap="square" lIns="0" tIns="0" rIns="0" bIns="0" rtlCol="0" anchor="ctr"/>
          <a:lstStyle/>
          <a:p>
            <a:pPr marL="0" indent="0" algn="ctr">
              <a:lnSpc>
                <a:spcPct val="125000"/>
              </a:lnSpc>
              <a:buNone/>
            </a:pP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One announcement (message) is broadcast instantly to everyone who is listening (subscribed) — email, text, or another application.</a:t>
            </a:r>
            <a:endParaRPr lang="en-US" sz="1200" dirty="0"/>
          </a:p>
        </p:txBody>
      </p:sp>
      <p:sp>
        <p:nvSpPr>
          <p:cNvPr id="11" name="Text 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2" name="Text 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43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SNS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The Publish / Subscribe Model</a:t>
            </a:r>
            <a:endParaRPr lang="en-US" sz="3000" dirty="0"/>
          </a:p>
        </p:txBody>
      </p:sp>
      <p:sp>
        <p:nvSpPr>
          <p:cNvPr id="4" name="Shape 2"/>
          <p:cNvSpPr/>
          <p:nvPr/>
        </p:nvSpPr>
        <p:spPr>
          <a:xfrm>
            <a:off x="548640" y="2377440"/>
            <a:ext cx="2651760" cy="1554480"/>
          </a:xfrm>
          <a:prstGeom prst="roundRect">
            <a:avLst>
              <a:gd name="adj" fmla="val 5882"/>
            </a:avLst>
          </a:prstGeom>
          <a:solidFill>
            <a:srgbClr val="232F3E"/>
          </a:solidFill>
        </p:spPr>
      </p:sp>
      <p:sp>
        <p:nvSpPr>
          <p:cNvPr id="5" name="Shape 3"/>
          <p:cNvSpPr/>
          <p:nvPr/>
        </p:nvSpPr>
        <p:spPr>
          <a:xfrm>
            <a:off x="1143000" y="2560320"/>
            <a:ext cx="685800" cy="685800"/>
          </a:xfrm>
          <a:prstGeom prst="ellipse">
            <a:avLst/>
          </a:prstGeom>
          <a:solidFill>
            <a:srgbClr val="FF9900"/>
          </a:solidFill>
        </p:spPr>
      </p:sp>
      <p:pic>
        <p:nvPicPr>
          <p:cNvPr id="6" name="Image 0" descr="/home/claude/icons/code_navy.png"/>
          <p:cNvPicPr>
            <a:picLocks noChangeAspect="1"/>
          </p:cNvPicPr>
          <p:nvPr/>
        </p:nvPicPr>
        <p:blipFill>
          <a:blip r:embed="rId1"/>
          <a:stretch>
            <a:fillRect/>
          </a:stretch>
        </p:blipFill>
        <p:spPr>
          <a:xfrm>
            <a:off x="1307592" y="2724912"/>
            <a:ext cx="356616" cy="356616"/>
          </a:xfrm>
          <a:prstGeom prst="rect">
            <a:avLst/>
          </a:prstGeom>
        </p:spPr>
      </p:pic>
      <p:sp>
        <p:nvSpPr>
          <p:cNvPr id="7" name="Text 4"/>
          <p:cNvSpPr/>
          <p:nvPr/>
        </p:nvSpPr>
        <p:spPr>
          <a:xfrm>
            <a:off x="640080" y="3291840"/>
            <a:ext cx="246888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Publisher</a:t>
            </a:r>
            <a:endParaRPr lang="en-US" sz="1400" dirty="0"/>
          </a:p>
        </p:txBody>
      </p:sp>
      <p:sp>
        <p:nvSpPr>
          <p:cNvPr id="8" name="Text 5"/>
          <p:cNvSpPr/>
          <p:nvPr/>
        </p:nvSpPr>
        <p:spPr>
          <a:xfrm>
            <a:off x="3246120" y="2880360"/>
            <a:ext cx="914400" cy="548640"/>
          </a:xfrm>
          <a:prstGeom prst="rect">
            <a:avLst/>
          </a:prstGeom>
          <a:noFill/>
        </p:spPr>
        <p:txBody>
          <a:bodyPr wrap="square" lIns="0" tIns="0" rIns="0" bIns="0" rtlCol="0" anchor="ctr"/>
          <a:lstStyle/>
          <a:p>
            <a:pPr marL="0" indent="0" algn="ctr">
              <a:buNone/>
            </a:pPr>
            <a:r>
              <a:rPr lang="en-US" sz="26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9" name="Shape 6"/>
          <p:cNvSpPr/>
          <p:nvPr/>
        </p:nvSpPr>
        <p:spPr>
          <a:xfrm>
            <a:off x="4251960" y="2148840"/>
            <a:ext cx="2743200" cy="2011680"/>
          </a:xfrm>
          <a:prstGeom prst="roundRect">
            <a:avLst>
              <a:gd name="adj" fmla="val 4545"/>
            </a:avLst>
          </a:prstGeom>
          <a:solidFill>
            <a:srgbClr val="FF9900"/>
          </a:solidFill>
        </p:spPr>
      </p:sp>
      <p:sp>
        <p:nvSpPr>
          <p:cNvPr id="10" name="Shape 7"/>
          <p:cNvSpPr/>
          <p:nvPr/>
        </p:nvSpPr>
        <p:spPr>
          <a:xfrm>
            <a:off x="5074920" y="2331720"/>
            <a:ext cx="731520" cy="731520"/>
          </a:xfrm>
          <a:prstGeom prst="ellipse">
            <a:avLst/>
          </a:prstGeom>
          <a:solidFill>
            <a:srgbClr val="232F3E"/>
          </a:solidFill>
        </p:spPr>
      </p:sp>
      <p:pic>
        <p:nvPicPr>
          <p:cNvPr id="11" name="Image 1" descr="/home/claude/icons/bell_white.png"/>
          <p:cNvPicPr>
            <a:picLocks noChangeAspect="1"/>
          </p:cNvPicPr>
          <p:nvPr/>
        </p:nvPicPr>
        <p:blipFill>
          <a:blip r:embed="rId2"/>
          <a:stretch>
            <a:fillRect/>
          </a:stretch>
        </p:blipFill>
        <p:spPr>
          <a:xfrm>
            <a:off x="5250485" y="2507285"/>
            <a:ext cx="380390" cy="380390"/>
          </a:xfrm>
          <a:prstGeom prst="rect">
            <a:avLst/>
          </a:prstGeom>
        </p:spPr>
      </p:pic>
      <p:sp>
        <p:nvSpPr>
          <p:cNvPr id="12" name="Text 8"/>
          <p:cNvSpPr/>
          <p:nvPr/>
        </p:nvSpPr>
        <p:spPr>
          <a:xfrm>
            <a:off x="4343400" y="3291840"/>
            <a:ext cx="2560320" cy="457200"/>
          </a:xfrm>
          <a:prstGeom prst="rect">
            <a:avLst/>
          </a:prstGeom>
          <a:noFill/>
        </p:spPr>
        <p:txBody>
          <a:bodyPr wrap="square" lIns="0" tIns="0" rIns="0" bIns="0" rtlCol="0" anchor="ctr"/>
          <a:lstStyle/>
          <a:p>
            <a:pPr marL="0" indent="0" algn="ctr">
              <a:buNone/>
            </a:pPr>
            <a:r>
              <a:rPr lang="en-US" sz="1500" b="1" dirty="0">
                <a:solidFill>
                  <a:srgbClr val="232F3E"/>
                </a:solidFill>
                <a:latin typeface="Calibri" panose="020F0502020204030204" pitchFamily="34" charset="0"/>
                <a:ea typeface="Calibri" panose="020F0502020204030204" pitchFamily="34" charset="-122"/>
                <a:cs typeface="Calibri" panose="020F0502020204030204" pitchFamily="34" charset="-120"/>
              </a:rPr>
              <a:t>SNS Topic</a:t>
            </a:r>
            <a:endParaRPr lang="en-US" sz="1500" dirty="0"/>
          </a:p>
        </p:txBody>
      </p:sp>
      <p:sp>
        <p:nvSpPr>
          <p:cNvPr id="13" name="Text 9"/>
          <p:cNvSpPr/>
          <p:nvPr/>
        </p:nvSpPr>
        <p:spPr>
          <a:xfrm>
            <a:off x="4343400" y="3703320"/>
            <a:ext cx="2560320" cy="320040"/>
          </a:xfrm>
          <a:prstGeom prst="rect">
            <a:avLst/>
          </a:prstGeom>
          <a:noFill/>
        </p:spPr>
        <p:txBody>
          <a:bodyPr wrap="square" lIns="0" tIns="0" rIns="0" bIns="0" rtlCol="0" anchor="ctr"/>
          <a:lstStyle/>
          <a:p>
            <a:pPr marL="0" indent="0" algn="ctr">
              <a:buNone/>
            </a:pPr>
            <a:r>
              <a:rPr lang="en-US" sz="1100" i="1" dirty="0">
                <a:solidFill>
                  <a:srgbClr val="232F3E"/>
                </a:solidFill>
                <a:latin typeface="Calibri" panose="020F0502020204030204" pitchFamily="34" charset="0"/>
                <a:ea typeface="Calibri" panose="020F0502020204030204" pitchFamily="34" charset="-122"/>
                <a:cs typeface="Calibri" panose="020F0502020204030204" pitchFamily="34" charset="-120"/>
              </a:rPr>
              <a:t>Publish once</a:t>
            </a:r>
            <a:endParaRPr lang="en-US" sz="1100" dirty="0"/>
          </a:p>
        </p:txBody>
      </p:sp>
      <p:sp>
        <p:nvSpPr>
          <p:cNvPr id="14" name="Text 10"/>
          <p:cNvSpPr/>
          <p:nvPr/>
        </p:nvSpPr>
        <p:spPr>
          <a:xfrm>
            <a:off x="7223760" y="1737360"/>
            <a:ext cx="731520"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5" name="Shape 11"/>
          <p:cNvSpPr/>
          <p:nvPr/>
        </p:nvSpPr>
        <p:spPr>
          <a:xfrm>
            <a:off x="8092440" y="1618488"/>
            <a:ext cx="3520440" cy="685800"/>
          </a:xfrm>
          <a:prstGeom prst="roundRect">
            <a:avLst>
              <a:gd name="adj" fmla="val 10667"/>
            </a:avLst>
          </a:prstGeom>
          <a:solidFill>
            <a:srgbClr val="F5F7FA"/>
          </a:solidFill>
          <a:ln w="12700">
            <a:solidFill>
              <a:srgbClr val="E3E7ED"/>
            </a:solidFill>
            <a:prstDash val="solid"/>
          </a:ln>
        </p:spPr>
      </p:sp>
      <p:sp>
        <p:nvSpPr>
          <p:cNvPr id="16" name="Text 12"/>
          <p:cNvSpPr/>
          <p:nvPr/>
        </p:nvSpPr>
        <p:spPr>
          <a:xfrm>
            <a:off x="8092440" y="1618488"/>
            <a:ext cx="3520440" cy="68580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Email Subscriber</a:t>
            </a:r>
            <a:endParaRPr lang="en-US" sz="1300" dirty="0"/>
          </a:p>
        </p:txBody>
      </p:sp>
      <p:sp>
        <p:nvSpPr>
          <p:cNvPr id="17" name="Text 13"/>
          <p:cNvSpPr/>
          <p:nvPr/>
        </p:nvSpPr>
        <p:spPr>
          <a:xfrm>
            <a:off x="7223760" y="3200400"/>
            <a:ext cx="731520"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8" name="Shape 14"/>
          <p:cNvSpPr/>
          <p:nvPr/>
        </p:nvSpPr>
        <p:spPr>
          <a:xfrm>
            <a:off x="8092440" y="3081528"/>
            <a:ext cx="3520440" cy="685800"/>
          </a:xfrm>
          <a:prstGeom prst="roundRect">
            <a:avLst>
              <a:gd name="adj" fmla="val 10667"/>
            </a:avLst>
          </a:prstGeom>
          <a:solidFill>
            <a:srgbClr val="F5F7FA"/>
          </a:solidFill>
          <a:ln w="12700">
            <a:solidFill>
              <a:srgbClr val="E3E7ED"/>
            </a:solidFill>
            <a:prstDash val="solid"/>
          </a:ln>
        </p:spPr>
      </p:sp>
      <p:sp>
        <p:nvSpPr>
          <p:cNvPr id="19" name="Text 15"/>
          <p:cNvSpPr/>
          <p:nvPr/>
        </p:nvSpPr>
        <p:spPr>
          <a:xfrm>
            <a:off x="8092440" y="3081528"/>
            <a:ext cx="3520440" cy="68580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SMS Subscriber</a:t>
            </a:r>
            <a:endParaRPr lang="en-US" sz="1300" dirty="0"/>
          </a:p>
        </p:txBody>
      </p:sp>
      <p:sp>
        <p:nvSpPr>
          <p:cNvPr id="20" name="Text 16"/>
          <p:cNvSpPr/>
          <p:nvPr/>
        </p:nvSpPr>
        <p:spPr>
          <a:xfrm>
            <a:off x="7223760" y="4663440"/>
            <a:ext cx="731520"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1" name="Shape 17"/>
          <p:cNvSpPr/>
          <p:nvPr/>
        </p:nvSpPr>
        <p:spPr>
          <a:xfrm>
            <a:off x="8092440" y="4544568"/>
            <a:ext cx="3520440" cy="685800"/>
          </a:xfrm>
          <a:prstGeom prst="roundRect">
            <a:avLst>
              <a:gd name="adj" fmla="val 10667"/>
            </a:avLst>
          </a:prstGeom>
          <a:solidFill>
            <a:srgbClr val="F5F7FA"/>
          </a:solidFill>
          <a:ln w="12700">
            <a:solidFill>
              <a:srgbClr val="E3E7ED"/>
            </a:solidFill>
            <a:prstDash val="solid"/>
          </a:ln>
        </p:spPr>
      </p:sp>
      <p:sp>
        <p:nvSpPr>
          <p:cNvPr id="22" name="Text 18"/>
          <p:cNvSpPr/>
          <p:nvPr/>
        </p:nvSpPr>
        <p:spPr>
          <a:xfrm>
            <a:off x="8092440" y="4544568"/>
            <a:ext cx="3520440" cy="68580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Lambda Subscriber</a:t>
            </a:r>
            <a:endParaRPr lang="en-US" sz="1300" dirty="0"/>
          </a:p>
        </p:txBody>
      </p:sp>
      <p:sp>
        <p:nvSpPr>
          <p:cNvPr id="23" name="Text 19"/>
          <p:cNvSpPr/>
          <p:nvPr/>
        </p:nvSpPr>
        <p:spPr>
          <a:xfrm>
            <a:off x="548640" y="4937760"/>
            <a:ext cx="11064240" cy="457200"/>
          </a:xfrm>
          <a:prstGeom prst="rect">
            <a:avLst/>
          </a:prstGeom>
          <a:noFill/>
        </p:spPr>
        <p:txBody>
          <a:bodyPr wrap="square" lIns="0" tIns="0" rIns="0" bIns="0" rtlCol="0" anchor="ctr"/>
          <a:lstStyle/>
          <a:p>
            <a:pPr marL="0" indent="0" algn="ctr">
              <a:buNone/>
            </a:pPr>
            <a:r>
              <a:rPr lang="en-US" sz="1300" i="1" dirty="0">
                <a:solidFill>
                  <a:srgbClr val="5F6B7A"/>
                </a:solidFill>
                <a:latin typeface="Calibri" panose="020F0502020204030204" pitchFamily="34" charset="0"/>
                <a:ea typeface="Calibri" panose="020F0502020204030204" pitchFamily="34" charset="-122"/>
                <a:cs typeface="Calibri" panose="020F0502020204030204" pitchFamily="34" charset="-120"/>
              </a:rPr>
              <a:t>One publish → automatic fan-out delivery to every subscribed endpoint, in parallel.</a:t>
            </a:r>
            <a:endParaRPr lang="en-US" sz="1300" dirty="0"/>
          </a:p>
        </p:txBody>
      </p:sp>
      <p:sp>
        <p:nvSpPr>
          <p:cNvPr id="24" name="Text 20"/>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5" name="Text 21"/>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44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SNS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Topics &amp; Subscriptions</a:t>
            </a:r>
            <a:endParaRPr lang="en-US" sz="3000" dirty="0"/>
          </a:p>
        </p:txBody>
      </p:sp>
      <p:sp>
        <p:nvSpPr>
          <p:cNvPr id="4" name="Shape 2"/>
          <p:cNvSpPr/>
          <p:nvPr/>
        </p:nvSpPr>
        <p:spPr>
          <a:xfrm>
            <a:off x="548640" y="1691640"/>
            <a:ext cx="5349240" cy="4160520"/>
          </a:xfrm>
          <a:prstGeom prst="roundRect">
            <a:avLst>
              <a:gd name="adj" fmla="val 2198"/>
            </a:avLst>
          </a:prstGeom>
          <a:solidFill>
            <a:srgbClr val="F5F7FA"/>
          </a:solidFill>
        </p:spPr>
      </p:sp>
      <p:sp>
        <p:nvSpPr>
          <p:cNvPr id="5" name="Shape 3"/>
          <p:cNvSpPr/>
          <p:nvPr/>
        </p:nvSpPr>
        <p:spPr>
          <a:xfrm>
            <a:off x="822960" y="1920240"/>
            <a:ext cx="777240" cy="777240"/>
          </a:xfrm>
          <a:prstGeom prst="ellipse">
            <a:avLst/>
          </a:prstGeom>
          <a:solidFill>
            <a:srgbClr val="232F3E"/>
          </a:solidFill>
        </p:spPr>
      </p:sp>
      <p:pic>
        <p:nvPicPr>
          <p:cNvPr id="6" name="Image 0" descr="/home/claude/icons/bell_orange.png"/>
          <p:cNvPicPr>
            <a:picLocks noChangeAspect="1"/>
          </p:cNvPicPr>
          <p:nvPr/>
        </p:nvPicPr>
        <p:blipFill>
          <a:blip r:embed="rId1"/>
          <a:stretch>
            <a:fillRect/>
          </a:stretch>
        </p:blipFill>
        <p:spPr>
          <a:xfrm>
            <a:off x="1009498" y="2106778"/>
            <a:ext cx="404165" cy="404165"/>
          </a:xfrm>
          <a:prstGeom prst="rect">
            <a:avLst/>
          </a:prstGeom>
        </p:spPr>
      </p:pic>
      <p:sp>
        <p:nvSpPr>
          <p:cNvPr id="7" name="Text 4"/>
          <p:cNvSpPr/>
          <p:nvPr/>
        </p:nvSpPr>
        <p:spPr>
          <a:xfrm>
            <a:off x="1828800" y="2084832"/>
            <a:ext cx="3840480" cy="365760"/>
          </a:xfrm>
          <a:prstGeom prst="rect">
            <a:avLst/>
          </a:prstGeom>
          <a:noFill/>
        </p:spPr>
        <p:txBody>
          <a:bodyPr wrap="square" lIns="0" tIns="0" rIns="0" bIns="0" rtlCol="0" anchor="ctr"/>
          <a:lstStyle/>
          <a:p>
            <a:pPr marL="0" indent="0">
              <a:buNone/>
            </a:pPr>
            <a:r>
              <a:rPr lang="en-US" sz="1700" b="1" dirty="0">
                <a:solidFill>
                  <a:srgbClr val="232F3E"/>
                </a:solidFill>
                <a:latin typeface="Calibri" panose="020F0502020204030204" pitchFamily="34" charset="0"/>
                <a:ea typeface="Calibri" panose="020F0502020204030204" pitchFamily="34" charset="-122"/>
                <a:cs typeface="Calibri" panose="020F0502020204030204" pitchFamily="34" charset="-120"/>
              </a:rPr>
              <a:t>Topic</a:t>
            </a:r>
            <a:endParaRPr lang="en-US" sz="1700" dirty="0"/>
          </a:p>
        </p:txBody>
      </p:sp>
      <p:sp>
        <p:nvSpPr>
          <p:cNvPr id="8" name="Text 5"/>
          <p:cNvSpPr/>
          <p:nvPr/>
        </p:nvSpPr>
        <p:spPr>
          <a:xfrm>
            <a:off x="822960" y="2880360"/>
            <a:ext cx="4800600" cy="1371600"/>
          </a:xfrm>
          <a:prstGeom prst="rect">
            <a:avLst/>
          </a:prstGeom>
          <a:noFill/>
        </p:spPr>
        <p:txBody>
          <a:bodyPr wrap="square" lIns="0" tIns="0" rIns="0" bIns="0" rtlCol="0" anchor="ctr"/>
          <a:lstStyle/>
          <a:p>
            <a:pPr marL="0" indent="0">
              <a:lnSpc>
                <a:spcPct val="125000"/>
              </a:lnSpc>
              <a:buNone/>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A logical access point and communication channel. Publishers send messages to a topic; SNS handles delivering it to every subscription attached to that topic.</a:t>
            </a:r>
            <a:endParaRPr lang="en-US" sz="1300" dirty="0"/>
          </a:p>
        </p:txBody>
      </p:sp>
      <p:sp>
        <p:nvSpPr>
          <p:cNvPr id="9" name="Text 6"/>
          <p:cNvSpPr/>
          <p:nvPr/>
        </p:nvSpPr>
        <p:spPr>
          <a:xfrm>
            <a:off x="822960" y="4343400"/>
            <a:ext cx="4800600" cy="365760"/>
          </a:xfrm>
          <a:prstGeom prst="rect">
            <a:avLst/>
          </a:prstGeom>
          <a:noFill/>
        </p:spPr>
        <p:txBody>
          <a:bodyPr wrap="square" lIns="0" tIns="0" rIns="0" bIns="0" rtlCol="0" anchor="ctr"/>
          <a:lstStyle/>
          <a:p>
            <a:pPr marL="0" indent="0">
              <a:buNone/>
            </a:pPr>
            <a:r>
              <a:rPr lang="en-US" sz="1200" i="1" dirty="0">
                <a:solidFill>
                  <a:srgbClr val="FF9900"/>
                </a:solidFill>
                <a:latin typeface="Calibri" panose="020F0502020204030204" pitchFamily="34" charset="0"/>
                <a:ea typeface="Calibri" panose="020F0502020204030204" pitchFamily="34" charset="-122"/>
                <a:cs typeface="Calibri" panose="020F0502020204030204" pitchFamily="34" charset="-120"/>
              </a:rPr>
              <a:t>Example topic: order-status-updates</a:t>
            </a:r>
            <a:endParaRPr lang="en-US" sz="1200" dirty="0"/>
          </a:p>
        </p:txBody>
      </p:sp>
      <p:sp>
        <p:nvSpPr>
          <p:cNvPr id="10" name="Shape 7"/>
          <p:cNvSpPr/>
          <p:nvPr/>
        </p:nvSpPr>
        <p:spPr>
          <a:xfrm>
            <a:off x="6263640" y="1691640"/>
            <a:ext cx="5349240" cy="4160520"/>
          </a:xfrm>
          <a:prstGeom prst="roundRect">
            <a:avLst>
              <a:gd name="adj" fmla="val 2198"/>
            </a:avLst>
          </a:prstGeom>
          <a:solidFill>
            <a:srgbClr val="232F3E"/>
          </a:solidFill>
        </p:spPr>
      </p:sp>
      <p:sp>
        <p:nvSpPr>
          <p:cNvPr id="11" name="Shape 8"/>
          <p:cNvSpPr/>
          <p:nvPr/>
        </p:nvSpPr>
        <p:spPr>
          <a:xfrm>
            <a:off x="6537960" y="1920240"/>
            <a:ext cx="777240" cy="777240"/>
          </a:xfrm>
          <a:prstGeom prst="ellipse">
            <a:avLst/>
          </a:prstGeom>
          <a:solidFill>
            <a:srgbClr val="FF9900"/>
          </a:solidFill>
        </p:spPr>
      </p:sp>
      <p:pic>
        <p:nvPicPr>
          <p:cNvPr id="12" name="Image 1" descr="/home/claude/icons/users_navy.png"/>
          <p:cNvPicPr>
            <a:picLocks noChangeAspect="1"/>
          </p:cNvPicPr>
          <p:nvPr/>
        </p:nvPicPr>
        <p:blipFill>
          <a:blip r:embed="rId2"/>
          <a:stretch>
            <a:fillRect/>
          </a:stretch>
        </p:blipFill>
        <p:spPr>
          <a:xfrm>
            <a:off x="6724498" y="2106778"/>
            <a:ext cx="404165" cy="404165"/>
          </a:xfrm>
          <a:prstGeom prst="rect">
            <a:avLst/>
          </a:prstGeom>
        </p:spPr>
      </p:pic>
      <p:sp>
        <p:nvSpPr>
          <p:cNvPr id="13" name="Text 9"/>
          <p:cNvSpPr/>
          <p:nvPr/>
        </p:nvSpPr>
        <p:spPr>
          <a:xfrm>
            <a:off x="7543800" y="2084832"/>
            <a:ext cx="3840480" cy="365760"/>
          </a:xfrm>
          <a:prstGeom prst="rect">
            <a:avLst/>
          </a:prstGeom>
          <a:noFill/>
        </p:spPr>
        <p:txBody>
          <a:bodyPr wrap="square" lIns="0" tIns="0" rIns="0" bIns="0" rtlCol="0" anchor="ctr"/>
          <a:lstStyle/>
          <a:p>
            <a:pPr marL="0" indent="0">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Subscription</a:t>
            </a:r>
            <a:endParaRPr lang="en-US" sz="1700" dirty="0"/>
          </a:p>
        </p:txBody>
      </p:sp>
      <p:sp>
        <p:nvSpPr>
          <p:cNvPr id="14" name="Text 10"/>
          <p:cNvSpPr/>
          <p:nvPr/>
        </p:nvSpPr>
        <p:spPr>
          <a:xfrm>
            <a:off x="6537960" y="2880360"/>
            <a:ext cx="4800600" cy="1371600"/>
          </a:xfrm>
          <a:prstGeom prst="rect">
            <a:avLst/>
          </a:prstGeom>
          <a:noFill/>
        </p:spPr>
        <p:txBody>
          <a:bodyPr wrap="square" lIns="0" tIns="0" rIns="0" bIns="0" rtlCol="0" anchor="ctr"/>
          <a:lstStyle/>
          <a:p>
            <a:pPr marL="0" indent="0">
              <a:lnSpc>
                <a:spcPct val="125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An endpoint registered to receive messages from a topic — such as an email address, phone number, SQS queue, or Lambda function. A topic can have many subscriptions.</a:t>
            </a:r>
            <a:endParaRPr lang="en-US" sz="1300" dirty="0"/>
          </a:p>
        </p:txBody>
      </p:sp>
      <p:sp>
        <p:nvSpPr>
          <p:cNvPr id="15" name="Text 11"/>
          <p:cNvSpPr/>
          <p:nvPr/>
        </p:nvSpPr>
        <p:spPr>
          <a:xfrm>
            <a:off x="6537960" y="4343400"/>
            <a:ext cx="4800600" cy="457200"/>
          </a:xfrm>
          <a:prstGeom prst="rect">
            <a:avLst/>
          </a:prstGeom>
          <a:noFill/>
        </p:spPr>
        <p:txBody>
          <a:bodyPr wrap="square" lIns="0" tIns="0" rIns="0" bIns="0" rtlCol="0" anchor="ctr"/>
          <a:lstStyle/>
          <a:p>
            <a:pPr marL="0" indent="0">
              <a:buNone/>
            </a:pP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Example: customer@email.com subscribed via Email protocol</a:t>
            </a:r>
            <a:endParaRPr lang="en-US" sz="1200" dirty="0"/>
          </a:p>
        </p:txBody>
      </p:sp>
      <p:sp>
        <p:nvSpPr>
          <p:cNvPr id="16" name="Text 1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7" name="Text 1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45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AMAZON SNS</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Use Cases &amp; the Fan-Out Architecture</a:t>
            </a:r>
            <a:endParaRPr lang="en-US" sz="3000" dirty="0"/>
          </a:p>
        </p:txBody>
      </p:sp>
      <p:sp>
        <p:nvSpPr>
          <p:cNvPr id="4" name="Text 2"/>
          <p:cNvSpPr/>
          <p:nvPr/>
        </p:nvSpPr>
        <p:spPr>
          <a:xfrm>
            <a:off x="548640" y="1783080"/>
            <a:ext cx="5120640" cy="365760"/>
          </a:xfrm>
          <a:prstGeom prst="rect">
            <a:avLst/>
          </a:prstGeom>
          <a:noFill/>
        </p:spPr>
        <p:txBody>
          <a:bodyPr wrap="square" lIns="0" tIns="0" rIns="0" bIns="0" rtlCol="0" anchor="ctr"/>
          <a:lstStyle/>
          <a:p>
            <a:pPr marL="0" indent="0">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  Application &amp; system alerts</a:t>
            </a:r>
            <a:endParaRPr lang="en-US" sz="1350" dirty="0"/>
          </a:p>
        </p:txBody>
      </p:sp>
      <p:sp>
        <p:nvSpPr>
          <p:cNvPr id="5" name="Text 3"/>
          <p:cNvSpPr/>
          <p:nvPr/>
        </p:nvSpPr>
        <p:spPr>
          <a:xfrm>
            <a:off x="548640" y="2167128"/>
            <a:ext cx="5120640" cy="365760"/>
          </a:xfrm>
          <a:prstGeom prst="rect">
            <a:avLst/>
          </a:prstGeom>
          <a:noFill/>
        </p:spPr>
        <p:txBody>
          <a:bodyPr wrap="square" lIns="0" tIns="0" rIns="0" bIns="0" rtlCol="0" anchor="ctr"/>
          <a:lstStyle/>
          <a:p>
            <a:pPr marL="0" indent="0">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  Order/shipment notifications</a:t>
            </a:r>
            <a:endParaRPr lang="en-US" sz="1350" dirty="0"/>
          </a:p>
        </p:txBody>
      </p:sp>
      <p:sp>
        <p:nvSpPr>
          <p:cNvPr id="6" name="Text 4"/>
          <p:cNvSpPr/>
          <p:nvPr/>
        </p:nvSpPr>
        <p:spPr>
          <a:xfrm>
            <a:off x="548640" y="2551176"/>
            <a:ext cx="5120640" cy="365760"/>
          </a:xfrm>
          <a:prstGeom prst="rect">
            <a:avLst/>
          </a:prstGeom>
          <a:noFill/>
        </p:spPr>
        <p:txBody>
          <a:bodyPr wrap="square" lIns="0" tIns="0" rIns="0" bIns="0" rtlCol="0" anchor="ctr"/>
          <a:lstStyle/>
          <a:p>
            <a:pPr marL="0" indent="0">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  Mobile push notifications</a:t>
            </a:r>
            <a:endParaRPr lang="en-US" sz="1350" dirty="0"/>
          </a:p>
        </p:txBody>
      </p:sp>
      <p:sp>
        <p:nvSpPr>
          <p:cNvPr id="7" name="Text 5"/>
          <p:cNvSpPr/>
          <p:nvPr/>
        </p:nvSpPr>
        <p:spPr>
          <a:xfrm>
            <a:off x="548640" y="2935224"/>
            <a:ext cx="5120640" cy="365760"/>
          </a:xfrm>
          <a:prstGeom prst="rect">
            <a:avLst/>
          </a:prstGeom>
          <a:noFill/>
        </p:spPr>
        <p:txBody>
          <a:bodyPr wrap="square" lIns="0" tIns="0" rIns="0" bIns="0" rtlCol="0" anchor="ctr"/>
          <a:lstStyle/>
          <a:p>
            <a:pPr marL="0" indent="0">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  Fan-out to multiple microservices</a:t>
            </a:r>
            <a:endParaRPr lang="en-US" sz="1350" dirty="0"/>
          </a:p>
        </p:txBody>
      </p:sp>
      <p:sp>
        <p:nvSpPr>
          <p:cNvPr id="8" name="Shape 6"/>
          <p:cNvSpPr/>
          <p:nvPr/>
        </p:nvSpPr>
        <p:spPr>
          <a:xfrm>
            <a:off x="548640" y="3520440"/>
            <a:ext cx="2468880" cy="914400"/>
          </a:xfrm>
          <a:prstGeom prst="roundRect">
            <a:avLst>
              <a:gd name="adj" fmla="val 8000"/>
            </a:avLst>
          </a:prstGeom>
          <a:solidFill>
            <a:srgbClr val="37475A"/>
          </a:solidFill>
        </p:spPr>
      </p:sp>
      <p:sp>
        <p:nvSpPr>
          <p:cNvPr id="9" name="Text 7"/>
          <p:cNvSpPr/>
          <p:nvPr/>
        </p:nvSpPr>
        <p:spPr>
          <a:xfrm>
            <a:off x="548640" y="3520440"/>
            <a:ext cx="2468880" cy="91440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New Order Event</a:t>
            </a:r>
            <a:endParaRPr lang="en-US" sz="1250" dirty="0"/>
          </a:p>
        </p:txBody>
      </p:sp>
      <p:sp>
        <p:nvSpPr>
          <p:cNvPr id="10" name="Text 8"/>
          <p:cNvSpPr/>
          <p:nvPr/>
        </p:nvSpPr>
        <p:spPr>
          <a:xfrm>
            <a:off x="3108960" y="3611880"/>
            <a:ext cx="548640" cy="731520"/>
          </a:xfrm>
          <a:prstGeom prst="rect">
            <a:avLst/>
          </a:prstGeom>
          <a:noFill/>
        </p:spPr>
        <p:txBody>
          <a:bodyPr wrap="square" lIns="0" tIns="0" rIns="0" bIns="0" rtlCol="0" anchor="ctr"/>
          <a:lstStyle/>
          <a:p>
            <a:pPr marL="0" indent="0" algn="ctr">
              <a:buNone/>
            </a:pPr>
            <a:r>
              <a:rPr lang="en-US" sz="22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11" name="Shape 9"/>
          <p:cNvSpPr/>
          <p:nvPr/>
        </p:nvSpPr>
        <p:spPr>
          <a:xfrm>
            <a:off x="3703320" y="3429000"/>
            <a:ext cx="1737360" cy="1097280"/>
          </a:xfrm>
          <a:prstGeom prst="roundRect">
            <a:avLst>
              <a:gd name="adj" fmla="val 6667"/>
            </a:avLst>
          </a:prstGeom>
          <a:solidFill>
            <a:srgbClr val="FF9900"/>
          </a:solidFill>
        </p:spPr>
      </p:sp>
      <p:sp>
        <p:nvSpPr>
          <p:cNvPr id="12" name="Text 10"/>
          <p:cNvSpPr/>
          <p:nvPr/>
        </p:nvSpPr>
        <p:spPr>
          <a:xfrm>
            <a:off x="3703320" y="3429000"/>
            <a:ext cx="1737360" cy="109728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SNS Topic</a:t>
            </a:r>
            <a:endParaRPr lang="en-US" sz="1300" dirty="0"/>
          </a:p>
        </p:txBody>
      </p:sp>
      <p:sp>
        <p:nvSpPr>
          <p:cNvPr id="13" name="Text 11"/>
          <p:cNvSpPr/>
          <p:nvPr/>
        </p:nvSpPr>
        <p:spPr>
          <a:xfrm>
            <a:off x="5623560" y="2331720"/>
            <a:ext cx="457200" cy="548640"/>
          </a:xfrm>
          <a:prstGeom prst="rect">
            <a:avLst/>
          </a:prstGeom>
          <a:noFill/>
        </p:spPr>
        <p:txBody>
          <a:bodyPr wrap="square" lIns="0" tIns="0" rIns="0" bIns="0" rtlCol="0" anchor="ctr"/>
          <a:lstStyle/>
          <a:p>
            <a:pPr marL="0" indent="0" algn="ctr">
              <a:buNone/>
            </a:pPr>
            <a:r>
              <a:rPr lang="en-US" sz="18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4" name="Shape 12"/>
          <p:cNvSpPr/>
          <p:nvPr/>
        </p:nvSpPr>
        <p:spPr>
          <a:xfrm>
            <a:off x="6172200" y="2240280"/>
            <a:ext cx="5394960" cy="731520"/>
          </a:xfrm>
          <a:prstGeom prst="roundRect">
            <a:avLst>
              <a:gd name="adj" fmla="val 10000"/>
            </a:avLst>
          </a:prstGeom>
          <a:solidFill>
            <a:srgbClr val="37475A"/>
          </a:solidFill>
        </p:spPr>
      </p:sp>
      <p:sp>
        <p:nvSpPr>
          <p:cNvPr id="15" name="Text 13"/>
          <p:cNvSpPr/>
          <p:nvPr/>
        </p:nvSpPr>
        <p:spPr>
          <a:xfrm>
            <a:off x="6172200" y="2240280"/>
            <a:ext cx="5394960" cy="73152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Email Confirmation</a:t>
            </a:r>
            <a:endParaRPr lang="en-US" sz="1250" dirty="0"/>
          </a:p>
        </p:txBody>
      </p:sp>
      <p:sp>
        <p:nvSpPr>
          <p:cNvPr id="16" name="Text 14"/>
          <p:cNvSpPr/>
          <p:nvPr/>
        </p:nvSpPr>
        <p:spPr>
          <a:xfrm>
            <a:off x="5623560" y="3429000"/>
            <a:ext cx="457200" cy="548640"/>
          </a:xfrm>
          <a:prstGeom prst="rect">
            <a:avLst/>
          </a:prstGeom>
          <a:noFill/>
        </p:spPr>
        <p:txBody>
          <a:bodyPr wrap="square" lIns="0" tIns="0" rIns="0" bIns="0" rtlCol="0" anchor="ctr"/>
          <a:lstStyle/>
          <a:p>
            <a:pPr marL="0" indent="0" algn="ctr">
              <a:buNone/>
            </a:pPr>
            <a:r>
              <a:rPr lang="en-US" sz="18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7" name="Shape 15"/>
          <p:cNvSpPr/>
          <p:nvPr/>
        </p:nvSpPr>
        <p:spPr>
          <a:xfrm>
            <a:off x="6172200" y="3337560"/>
            <a:ext cx="5394960" cy="731520"/>
          </a:xfrm>
          <a:prstGeom prst="roundRect">
            <a:avLst>
              <a:gd name="adj" fmla="val 10000"/>
            </a:avLst>
          </a:prstGeom>
          <a:solidFill>
            <a:srgbClr val="37475A"/>
          </a:solidFill>
        </p:spPr>
      </p:sp>
      <p:sp>
        <p:nvSpPr>
          <p:cNvPr id="18" name="Text 16"/>
          <p:cNvSpPr/>
          <p:nvPr/>
        </p:nvSpPr>
        <p:spPr>
          <a:xfrm>
            <a:off x="6172200" y="3337560"/>
            <a:ext cx="5394960" cy="73152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Update Inventory (Lambda)</a:t>
            </a:r>
            <a:endParaRPr lang="en-US" sz="1250" dirty="0"/>
          </a:p>
        </p:txBody>
      </p:sp>
      <p:sp>
        <p:nvSpPr>
          <p:cNvPr id="19" name="Text 17"/>
          <p:cNvSpPr/>
          <p:nvPr/>
        </p:nvSpPr>
        <p:spPr>
          <a:xfrm>
            <a:off x="5623560" y="4526280"/>
            <a:ext cx="457200" cy="548640"/>
          </a:xfrm>
          <a:prstGeom prst="rect">
            <a:avLst/>
          </a:prstGeom>
          <a:noFill/>
        </p:spPr>
        <p:txBody>
          <a:bodyPr wrap="square" lIns="0" tIns="0" rIns="0" bIns="0" rtlCol="0" anchor="ctr"/>
          <a:lstStyle/>
          <a:p>
            <a:pPr marL="0" indent="0" algn="ctr">
              <a:buNone/>
            </a:pPr>
            <a:r>
              <a:rPr lang="en-US" sz="18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20" name="Shape 18"/>
          <p:cNvSpPr/>
          <p:nvPr/>
        </p:nvSpPr>
        <p:spPr>
          <a:xfrm>
            <a:off x="6172200" y="4434840"/>
            <a:ext cx="5394960" cy="731520"/>
          </a:xfrm>
          <a:prstGeom prst="roundRect">
            <a:avLst>
              <a:gd name="adj" fmla="val 10000"/>
            </a:avLst>
          </a:prstGeom>
          <a:solidFill>
            <a:srgbClr val="37475A"/>
          </a:solidFill>
        </p:spPr>
      </p:sp>
      <p:sp>
        <p:nvSpPr>
          <p:cNvPr id="21" name="Text 19"/>
          <p:cNvSpPr/>
          <p:nvPr/>
        </p:nvSpPr>
        <p:spPr>
          <a:xfrm>
            <a:off x="6172200" y="4434840"/>
            <a:ext cx="5394960" cy="73152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Notify Warehouse (SQS)</a:t>
            </a:r>
            <a:endParaRPr lang="en-US" sz="1250" dirty="0"/>
          </a:p>
        </p:txBody>
      </p:sp>
      <p:sp>
        <p:nvSpPr>
          <p:cNvPr id="22" name="Text 20"/>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3" name="Text 21"/>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46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37475A"/>
          </a:solidFill>
        </p:spPr>
      </p:sp>
      <p:sp>
        <p:nvSpPr>
          <p:cNvPr id="3" name="Shape 1"/>
          <p:cNvSpPr/>
          <p:nvPr/>
        </p:nvSpPr>
        <p:spPr>
          <a:xfrm>
            <a:off x="-1280160" y="4937760"/>
            <a:ext cx="3291840" cy="3291840"/>
          </a:xfrm>
          <a:prstGeom prst="ellipse">
            <a:avLst/>
          </a:prstGeom>
          <a:solidFill>
            <a:srgbClr val="37475A"/>
          </a:solidFill>
        </p:spPr>
      </p:sp>
      <p:sp>
        <p:nvSpPr>
          <p:cNvPr id="4" name="Shape 2"/>
          <p:cNvSpPr/>
          <p:nvPr/>
        </p:nvSpPr>
        <p:spPr>
          <a:xfrm>
            <a:off x="822960" y="1965960"/>
            <a:ext cx="1051560" cy="1051560"/>
          </a:xfrm>
          <a:prstGeom prst="ellipse">
            <a:avLst/>
          </a:prstGeom>
          <a:solidFill>
            <a:srgbClr val="FF9900"/>
          </a:solidFill>
        </p:spPr>
      </p:sp>
      <p:pic>
        <p:nvPicPr>
          <p:cNvPr id="5" name="Image 0" descr="/home/claude/icons/rocket_navy.png"/>
          <p:cNvPicPr>
            <a:picLocks noChangeAspect="1"/>
          </p:cNvPicPr>
          <p:nvPr/>
        </p:nvPicPr>
        <p:blipFill>
          <a:blip r:embed="rId1"/>
          <a:stretch>
            <a:fillRect/>
          </a:stretch>
        </p:blipFill>
        <p:spPr>
          <a:xfrm>
            <a:off x="1075334" y="2218334"/>
            <a:ext cx="546811" cy="546811"/>
          </a:xfrm>
          <a:prstGeom prst="rect">
            <a:avLst/>
          </a:prstGeom>
        </p:spPr>
      </p:pic>
      <p:sp>
        <p:nvSpPr>
          <p:cNvPr id="6" name="Text 3"/>
          <p:cNvSpPr/>
          <p:nvPr/>
        </p:nvSpPr>
        <p:spPr>
          <a:xfrm>
            <a:off x="822960" y="3200400"/>
            <a:ext cx="7315200" cy="365760"/>
          </a:xfrm>
          <a:prstGeom prst="rect">
            <a:avLst/>
          </a:prstGeom>
          <a:noFill/>
        </p:spPr>
        <p:txBody>
          <a:bodyPr wrap="square" lIns="0" tIns="0" rIns="0" bIns="0" rtlCol="0" anchor="ctr"/>
          <a:lstStyle/>
          <a:p>
            <a:pPr marL="0" indent="0">
              <a:buNone/>
            </a:pPr>
            <a:r>
              <a:rPr lang="en-US" sz="1500" b="1" kern="0" spc="3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7</a:t>
            </a:r>
            <a:endParaRPr lang="en-US" sz="1500" dirty="0"/>
          </a:p>
        </p:txBody>
      </p:sp>
      <p:sp>
        <p:nvSpPr>
          <p:cNvPr id="7" name="Text 4"/>
          <p:cNvSpPr/>
          <p:nvPr/>
        </p:nvSpPr>
        <p:spPr>
          <a:xfrm>
            <a:off x="777240" y="3566160"/>
            <a:ext cx="9601200" cy="1188720"/>
          </a:xfrm>
          <a:prstGeom prst="rect">
            <a:avLst/>
          </a:prstGeom>
          <a:noFill/>
        </p:spPr>
        <p:txBody>
          <a:bodyPr wrap="square" lIns="0" tIns="0" rIns="0" bIns="0" rtlCol="0" anchor="ctr"/>
          <a:lstStyle/>
          <a:p>
            <a:pPr marL="0" indent="0">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AWS Elastic Beanstalk</a:t>
            </a:r>
            <a:endParaRPr lang="en-US" sz="4200" dirty="0"/>
          </a:p>
        </p:txBody>
      </p:sp>
      <p:sp>
        <p:nvSpPr>
          <p:cNvPr id="8" name="Text 5"/>
          <p:cNvSpPr/>
          <p:nvPr/>
        </p:nvSpPr>
        <p:spPr>
          <a:xfrm>
            <a:off x="822960" y="4709160"/>
            <a:ext cx="8686800" cy="548640"/>
          </a:xfrm>
          <a:prstGeom prst="rect">
            <a:avLst/>
          </a:prstGeom>
          <a:noFill/>
        </p:spPr>
        <p:txBody>
          <a:bodyPr wrap="square" lIns="0" tIns="0" rIns="0" bIns="0"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The easiest way to deploy and scale web applications</a:t>
            </a:r>
            <a:endParaRPr lang="en-US" sz="1600" dirty="0"/>
          </a:p>
        </p:txBody>
      </p:sp>
      <p:sp>
        <p:nvSpPr>
          <p:cNvPr id="9" name="Text 6"/>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0" name="Text 7"/>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47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ELASTIC BEANSTALK</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What is AWS Elastic Beanstalk?</a:t>
            </a:r>
            <a:endParaRPr lang="en-US" sz="3000" dirty="0"/>
          </a:p>
        </p:txBody>
      </p:sp>
      <p:sp>
        <p:nvSpPr>
          <p:cNvPr id="4" name="Text 2"/>
          <p:cNvSpPr/>
          <p:nvPr/>
        </p:nvSpPr>
        <p:spPr>
          <a:xfrm>
            <a:off x="548640" y="1691640"/>
            <a:ext cx="6492240" cy="1463040"/>
          </a:xfrm>
          <a:prstGeom prst="rect">
            <a:avLst/>
          </a:prstGeom>
          <a:noFill/>
        </p:spPr>
        <p:txBody>
          <a:bodyPr wrap="square" lIns="0" tIns="0" rIns="0" bIns="0" rtlCol="0" anchor="ctr"/>
          <a:lstStyle/>
          <a:p>
            <a:pPr marL="0" indent="0">
              <a:lnSpc>
                <a:spcPct val="125000"/>
              </a:lnSpc>
              <a:buNone/>
            </a:pPr>
            <a:r>
              <a:rPr lang="en-US" sz="1450" dirty="0">
                <a:solidFill>
                  <a:srgbClr val="232F3E"/>
                </a:solidFill>
                <a:latin typeface="Calibri" panose="020F0502020204030204" pitchFamily="34" charset="0"/>
                <a:ea typeface="Calibri" panose="020F0502020204030204" pitchFamily="34" charset="-122"/>
                <a:cs typeface="Calibri" panose="020F0502020204030204" pitchFamily="34" charset="-120"/>
              </a:rPr>
              <a:t>Elastic Beanstalk is a Platform-as-a-Service that lets you deploy applications simply by uploading your code — it automatically handles provisioning, load balancing, scaling, and health monitoring for you.</a:t>
            </a:r>
            <a:endParaRPr lang="en-US" sz="1450" dirty="0"/>
          </a:p>
        </p:txBody>
      </p:sp>
      <p:sp>
        <p:nvSpPr>
          <p:cNvPr id="5" name="Text 3"/>
          <p:cNvSpPr/>
          <p:nvPr/>
        </p:nvSpPr>
        <p:spPr>
          <a:xfrm>
            <a:off x="548640" y="3246120"/>
            <a:ext cx="6492240" cy="2377440"/>
          </a:xfrm>
          <a:prstGeom prst="rect">
            <a:avLst/>
          </a:prstGeom>
          <a:noFill/>
        </p:spPr>
        <p:txBody>
          <a:bodyPr wrap="square" lIns="0" tIns="0" rIns="0" bIns="0" rtlCol="0" anchor="ctr"/>
          <a:lstStyle/>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Upload code — Beanstalk provisions EC2, load balancer &amp; more</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You retain full control to customize the underlying resources</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No additional charge — pay only for resources it creates</a:t>
            </a:r>
            <a:endParaRPr lang="en-US" sz="1350" dirty="0"/>
          </a:p>
          <a:p>
            <a:pPr marL="228600" indent="-228600">
              <a:spcAft>
                <a:spcPts val="1000"/>
              </a:spcAft>
              <a:buSzPct val="100000"/>
              <a:buChar char="•"/>
            </a:pPr>
            <a:r>
              <a:rPr lang="en-US" sz="1350" dirty="0">
                <a:solidFill>
                  <a:srgbClr val="232F3E"/>
                </a:solidFill>
                <a:latin typeface="Calibri" panose="020F0502020204030204" pitchFamily="34" charset="0"/>
                <a:ea typeface="Calibri" panose="020F0502020204030204" pitchFamily="34" charset="-122"/>
                <a:cs typeface="Calibri" panose="020F0502020204030204" pitchFamily="34" charset="-120"/>
              </a:rPr>
              <a:t>Ideal for developers who want to focus on code, not servers</a:t>
            </a:r>
            <a:endParaRPr lang="en-US" sz="1350" dirty="0"/>
          </a:p>
        </p:txBody>
      </p:sp>
      <p:sp>
        <p:nvSpPr>
          <p:cNvPr id="6" name="Shape 4"/>
          <p:cNvSpPr/>
          <p:nvPr/>
        </p:nvSpPr>
        <p:spPr>
          <a:xfrm>
            <a:off x="7360920" y="1691640"/>
            <a:ext cx="4251960" cy="4206240"/>
          </a:xfrm>
          <a:prstGeom prst="roundRect">
            <a:avLst>
              <a:gd name="adj" fmla="val 2174"/>
            </a:avLst>
          </a:prstGeom>
          <a:solidFill>
            <a:srgbClr val="232F3E"/>
          </a:solidFill>
        </p:spPr>
      </p:sp>
      <p:sp>
        <p:nvSpPr>
          <p:cNvPr id="7" name="Shape 5"/>
          <p:cNvSpPr/>
          <p:nvPr/>
        </p:nvSpPr>
        <p:spPr>
          <a:xfrm>
            <a:off x="9144000" y="2011680"/>
            <a:ext cx="914400" cy="914400"/>
          </a:xfrm>
          <a:prstGeom prst="ellipse">
            <a:avLst/>
          </a:prstGeom>
          <a:solidFill>
            <a:srgbClr val="FF9900"/>
          </a:solidFill>
        </p:spPr>
      </p:sp>
      <p:pic>
        <p:nvPicPr>
          <p:cNvPr id="8" name="Image 0" descr="/home/claude/icons/rocket_navy.png"/>
          <p:cNvPicPr>
            <a:picLocks noChangeAspect="1"/>
          </p:cNvPicPr>
          <p:nvPr/>
        </p:nvPicPr>
        <p:blipFill>
          <a:blip r:embed="rId1"/>
          <a:stretch>
            <a:fillRect/>
          </a:stretch>
        </p:blipFill>
        <p:spPr>
          <a:xfrm>
            <a:off x="9363456" y="2231136"/>
            <a:ext cx="475488" cy="475488"/>
          </a:xfrm>
          <a:prstGeom prst="rect">
            <a:avLst/>
          </a:prstGeom>
        </p:spPr>
      </p:pic>
      <p:sp>
        <p:nvSpPr>
          <p:cNvPr id="9" name="Text 6"/>
          <p:cNvSpPr/>
          <p:nvPr/>
        </p:nvSpPr>
        <p:spPr>
          <a:xfrm>
            <a:off x="7635240" y="3154680"/>
            <a:ext cx="36576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PaaS Simplicity</a:t>
            </a:r>
            <a:endParaRPr lang="en-US" sz="1500" dirty="0"/>
          </a:p>
        </p:txBody>
      </p:sp>
      <p:sp>
        <p:nvSpPr>
          <p:cNvPr id="10" name="Text 7"/>
          <p:cNvSpPr/>
          <p:nvPr/>
        </p:nvSpPr>
        <p:spPr>
          <a:xfrm>
            <a:off x="7635240" y="3703320"/>
            <a:ext cx="3657600" cy="1920240"/>
          </a:xfrm>
          <a:prstGeom prst="rect">
            <a:avLst/>
          </a:prstGeom>
          <a:noFill/>
        </p:spPr>
        <p:txBody>
          <a:bodyPr wrap="square" lIns="0" tIns="0" rIns="0" bIns="0" rtlCol="0" anchor="ctr"/>
          <a:lstStyle/>
          <a:p>
            <a:pPr marL="0" indent="0" algn="ctr">
              <a:lnSpc>
                <a:spcPct val="125000"/>
              </a:lnSpc>
              <a:buNone/>
            </a:pP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Think of it as EC2 with the setup automated — you bring the code, Beanstalk builds and manages the infrastructure underneath.</a:t>
            </a:r>
            <a:endParaRPr lang="en-US" sz="1200" dirty="0"/>
          </a:p>
        </p:txBody>
      </p:sp>
      <p:sp>
        <p:nvSpPr>
          <p:cNvPr id="11" name="Text 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2" name="Text 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48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ELASTIC BEANSTALK</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Supported Platforms</a:t>
            </a:r>
            <a:endParaRPr lang="en-US" sz="3000" dirty="0"/>
          </a:p>
        </p:txBody>
      </p:sp>
      <p:sp>
        <p:nvSpPr>
          <p:cNvPr id="4" name="Shape 2"/>
          <p:cNvSpPr/>
          <p:nvPr/>
        </p:nvSpPr>
        <p:spPr>
          <a:xfrm>
            <a:off x="548640" y="1920240"/>
            <a:ext cx="2560320" cy="1463040"/>
          </a:xfrm>
          <a:prstGeom prst="roundRect">
            <a:avLst>
              <a:gd name="adj" fmla="val 6250"/>
            </a:avLst>
          </a:prstGeom>
          <a:solidFill>
            <a:srgbClr val="F5F7FA"/>
          </a:solidFill>
          <a:ln w="12700">
            <a:solidFill>
              <a:srgbClr val="E3E7ED"/>
            </a:solidFill>
            <a:prstDash val="solid"/>
          </a:ln>
        </p:spPr>
      </p:sp>
      <p:sp>
        <p:nvSpPr>
          <p:cNvPr id="5" name="Shape 3"/>
          <p:cNvSpPr/>
          <p:nvPr/>
        </p:nvSpPr>
        <p:spPr>
          <a:xfrm>
            <a:off x="1463040" y="2103120"/>
            <a:ext cx="685800" cy="685800"/>
          </a:xfrm>
          <a:prstGeom prst="ellipse">
            <a:avLst/>
          </a:prstGeom>
          <a:solidFill>
            <a:srgbClr val="232F3E"/>
          </a:solidFill>
        </p:spPr>
      </p:sp>
      <p:pic>
        <p:nvPicPr>
          <p:cNvPr id="6" name="Image 0" descr="/home/claude/icons/code_orange.png"/>
          <p:cNvPicPr>
            <a:picLocks noChangeAspect="1"/>
          </p:cNvPicPr>
          <p:nvPr/>
        </p:nvPicPr>
        <p:blipFill>
          <a:blip r:embed="rId1"/>
          <a:stretch>
            <a:fillRect/>
          </a:stretch>
        </p:blipFill>
        <p:spPr>
          <a:xfrm>
            <a:off x="1627632" y="2267712"/>
            <a:ext cx="356616" cy="356616"/>
          </a:xfrm>
          <a:prstGeom prst="rect">
            <a:avLst/>
          </a:prstGeom>
        </p:spPr>
      </p:pic>
      <p:sp>
        <p:nvSpPr>
          <p:cNvPr id="7" name="Text 4"/>
          <p:cNvSpPr/>
          <p:nvPr/>
        </p:nvSpPr>
        <p:spPr>
          <a:xfrm>
            <a:off x="640080" y="2880360"/>
            <a:ext cx="2377440" cy="41148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Java</a:t>
            </a:r>
            <a:endParaRPr lang="en-US" sz="1300" dirty="0"/>
          </a:p>
        </p:txBody>
      </p:sp>
      <p:sp>
        <p:nvSpPr>
          <p:cNvPr id="8" name="Shape 5"/>
          <p:cNvSpPr/>
          <p:nvPr/>
        </p:nvSpPr>
        <p:spPr>
          <a:xfrm>
            <a:off x="3337560" y="1920240"/>
            <a:ext cx="2560320" cy="1463040"/>
          </a:xfrm>
          <a:prstGeom prst="roundRect">
            <a:avLst>
              <a:gd name="adj" fmla="val 6250"/>
            </a:avLst>
          </a:prstGeom>
          <a:solidFill>
            <a:srgbClr val="F5F7FA"/>
          </a:solidFill>
          <a:ln w="12700">
            <a:solidFill>
              <a:srgbClr val="E3E7ED"/>
            </a:solidFill>
            <a:prstDash val="solid"/>
          </a:ln>
        </p:spPr>
      </p:sp>
      <p:sp>
        <p:nvSpPr>
          <p:cNvPr id="9" name="Shape 6"/>
          <p:cNvSpPr/>
          <p:nvPr/>
        </p:nvSpPr>
        <p:spPr>
          <a:xfrm>
            <a:off x="4251960" y="2103120"/>
            <a:ext cx="685800" cy="685800"/>
          </a:xfrm>
          <a:prstGeom prst="ellipse">
            <a:avLst/>
          </a:prstGeom>
          <a:solidFill>
            <a:srgbClr val="232F3E"/>
          </a:solidFill>
        </p:spPr>
      </p:sp>
      <p:pic>
        <p:nvPicPr>
          <p:cNvPr id="10" name="Image 1" descr="/home/claude/icons/code_orange.png"/>
          <p:cNvPicPr>
            <a:picLocks noChangeAspect="1"/>
          </p:cNvPicPr>
          <p:nvPr/>
        </p:nvPicPr>
        <p:blipFill>
          <a:blip r:embed="rId1"/>
          <a:stretch>
            <a:fillRect/>
          </a:stretch>
        </p:blipFill>
        <p:spPr>
          <a:xfrm>
            <a:off x="4416552" y="2267712"/>
            <a:ext cx="356616" cy="356616"/>
          </a:xfrm>
          <a:prstGeom prst="rect">
            <a:avLst/>
          </a:prstGeom>
        </p:spPr>
      </p:pic>
      <p:sp>
        <p:nvSpPr>
          <p:cNvPr id="11" name="Text 7"/>
          <p:cNvSpPr/>
          <p:nvPr/>
        </p:nvSpPr>
        <p:spPr>
          <a:xfrm>
            <a:off x="3429000" y="2880360"/>
            <a:ext cx="2377440" cy="41148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Node.js</a:t>
            </a:r>
            <a:endParaRPr lang="en-US" sz="1300" dirty="0"/>
          </a:p>
        </p:txBody>
      </p:sp>
      <p:sp>
        <p:nvSpPr>
          <p:cNvPr id="12" name="Shape 8"/>
          <p:cNvSpPr/>
          <p:nvPr/>
        </p:nvSpPr>
        <p:spPr>
          <a:xfrm>
            <a:off x="6126480" y="1920240"/>
            <a:ext cx="2560320" cy="1463040"/>
          </a:xfrm>
          <a:prstGeom prst="roundRect">
            <a:avLst>
              <a:gd name="adj" fmla="val 6250"/>
            </a:avLst>
          </a:prstGeom>
          <a:solidFill>
            <a:srgbClr val="F5F7FA"/>
          </a:solidFill>
          <a:ln w="12700">
            <a:solidFill>
              <a:srgbClr val="E3E7ED"/>
            </a:solidFill>
            <a:prstDash val="solid"/>
          </a:ln>
        </p:spPr>
      </p:sp>
      <p:sp>
        <p:nvSpPr>
          <p:cNvPr id="13" name="Shape 9"/>
          <p:cNvSpPr/>
          <p:nvPr/>
        </p:nvSpPr>
        <p:spPr>
          <a:xfrm>
            <a:off x="7040880" y="2103120"/>
            <a:ext cx="685800" cy="685800"/>
          </a:xfrm>
          <a:prstGeom prst="ellipse">
            <a:avLst/>
          </a:prstGeom>
          <a:solidFill>
            <a:srgbClr val="232F3E"/>
          </a:solidFill>
        </p:spPr>
      </p:sp>
      <p:pic>
        <p:nvPicPr>
          <p:cNvPr id="14" name="Image 2" descr="/home/claude/icons/code_orange.png"/>
          <p:cNvPicPr>
            <a:picLocks noChangeAspect="1"/>
          </p:cNvPicPr>
          <p:nvPr/>
        </p:nvPicPr>
        <p:blipFill>
          <a:blip r:embed="rId1"/>
          <a:stretch>
            <a:fillRect/>
          </a:stretch>
        </p:blipFill>
        <p:spPr>
          <a:xfrm>
            <a:off x="7205472" y="2267712"/>
            <a:ext cx="356616" cy="356616"/>
          </a:xfrm>
          <a:prstGeom prst="rect">
            <a:avLst/>
          </a:prstGeom>
        </p:spPr>
      </p:pic>
      <p:sp>
        <p:nvSpPr>
          <p:cNvPr id="15" name="Text 10"/>
          <p:cNvSpPr/>
          <p:nvPr/>
        </p:nvSpPr>
        <p:spPr>
          <a:xfrm>
            <a:off x="6217920" y="2880360"/>
            <a:ext cx="2377440" cy="41148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.NET on Windows</a:t>
            </a:r>
            <a:endParaRPr lang="en-US" sz="1300" dirty="0"/>
          </a:p>
        </p:txBody>
      </p:sp>
      <p:sp>
        <p:nvSpPr>
          <p:cNvPr id="16" name="Shape 11"/>
          <p:cNvSpPr/>
          <p:nvPr/>
        </p:nvSpPr>
        <p:spPr>
          <a:xfrm>
            <a:off x="8915400" y="1920240"/>
            <a:ext cx="2560320" cy="1463040"/>
          </a:xfrm>
          <a:prstGeom prst="roundRect">
            <a:avLst>
              <a:gd name="adj" fmla="val 6250"/>
            </a:avLst>
          </a:prstGeom>
          <a:solidFill>
            <a:srgbClr val="F5F7FA"/>
          </a:solidFill>
          <a:ln w="12700">
            <a:solidFill>
              <a:srgbClr val="E3E7ED"/>
            </a:solidFill>
            <a:prstDash val="solid"/>
          </a:ln>
        </p:spPr>
      </p:sp>
      <p:sp>
        <p:nvSpPr>
          <p:cNvPr id="17" name="Shape 12"/>
          <p:cNvSpPr/>
          <p:nvPr/>
        </p:nvSpPr>
        <p:spPr>
          <a:xfrm>
            <a:off x="9829800" y="2103120"/>
            <a:ext cx="685800" cy="685800"/>
          </a:xfrm>
          <a:prstGeom prst="ellipse">
            <a:avLst/>
          </a:prstGeom>
          <a:solidFill>
            <a:srgbClr val="232F3E"/>
          </a:solidFill>
        </p:spPr>
      </p:sp>
      <p:pic>
        <p:nvPicPr>
          <p:cNvPr id="18" name="Image 3" descr="/home/claude/icons/code_orange.png"/>
          <p:cNvPicPr>
            <a:picLocks noChangeAspect="1"/>
          </p:cNvPicPr>
          <p:nvPr/>
        </p:nvPicPr>
        <p:blipFill>
          <a:blip r:embed="rId1"/>
          <a:stretch>
            <a:fillRect/>
          </a:stretch>
        </p:blipFill>
        <p:spPr>
          <a:xfrm>
            <a:off x="9994392" y="2267712"/>
            <a:ext cx="356616" cy="356616"/>
          </a:xfrm>
          <a:prstGeom prst="rect">
            <a:avLst/>
          </a:prstGeom>
        </p:spPr>
      </p:pic>
      <p:sp>
        <p:nvSpPr>
          <p:cNvPr id="19" name="Text 13"/>
          <p:cNvSpPr/>
          <p:nvPr/>
        </p:nvSpPr>
        <p:spPr>
          <a:xfrm>
            <a:off x="9006840" y="2880360"/>
            <a:ext cx="2377440" cy="41148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PHP</a:t>
            </a:r>
            <a:endParaRPr lang="en-US" sz="1300" dirty="0"/>
          </a:p>
        </p:txBody>
      </p:sp>
      <p:sp>
        <p:nvSpPr>
          <p:cNvPr id="20" name="Shape 14"/>
          <p:cNvSpPr/>
          <p:nvPr/>
        </p:nvSpPr>
        <p:spPr>
          <a:xfrm>
            <a:off x="548640" y="3611880"/>
            <a:ext cx="2560320" cy="1463040"/>
          </a:xfrm>
          <a:prstGeom prst="roundRect">
            <a:avLst>
              <a:gd name="adj" fmla="val 6250"/>
            </a:avLst>
          </a:prstGeom>
          <a:solidFill>
            <a:srgbClr val="F5F7FA"/>
          </a:solidFill>
          <a:ln w="12700">
            <a:solidFill>
              <a:srgbClr val="E3E7ED"/>
            </a:solidFill>
            <a:prstDash val="solid"/>
          </a:ln>
        </p:spPr>
      </p:sp>
      <p:sp>
        <p:nvSpPr>
          <p:cNvPr id="21" name="Shape 15"/>
          <p:cNvSpPr/>
          <p:nvPr/>
        </p:nvSpPr>
        <p:spPr>
          <a:xfrm>
            <a:off x="1463040" y="3794760"/>
            <a:ext cx="685800" cy="685800"/>
          </a:xfrm>
          <a:prstGeom prst="ellipse">
            <a:avLst/>
          </a:prstGeom>
          <a:solidFill>
            <a:srgbClr val="232F3E"/>
          </a:solidFill>
        </p:spPr>
      </p:sp>
      <p:pic>
        <p:nvPicPr>
          <p:cNvPr id="22" name="Image 4" descr="/home/claude/icons/code_orange.png"/>
          <p:cNvPicPr>
            <a:picLocks noChangeAspect="1"/>
          </p:cNvPicPr>
          <p:nvPr/>
        </p:nvPicPr>
        <p:blipFill>
          <a:blip r:embed="rId1"/>
          <a:stretch>
            <a:fillRect/>
          </a:stretch>
        </p:blipFill>
        <p:spPr>
          <a:xfrm>
            <a:off x="1627632" y="3959352"/>
            <a:ext cx="356616" cy="356616"/>
          </a:xfrm>
          <a:prstGeom prst="rect">
            <a:avLst/>
          </a:prstGeom>
        </p:spPr>
      </p:pic>
      <p:sp>
        <p:nvSpPr>
          <p:cNvPr id="23" name="Text 16"/>
          <p:cNvSpPr/>
          <p:nvPr/>
        </p:nvSpPr>
        <p:spPr>
          <a:xfrm>
            <a:off x="640080" y="4572000"/>
            <a:ext cx="2377440" cy="41148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Python</a:t>
            </a:r>
            <a:endParaRPr lang="en-US" sz="1300" dirty="0"/>
          </a:p>
        </p:txBody>
      </p:sp>
      <p:sp>
        <p:nvSpPr>
          <p:cNvPr id="24" name="Shape 17"/>
          <p:cNvSpPr/>
          <p:nvPr/>
        </p:nvSpPr>
        <p:spPr>
          <a:xfrm>
            <a:off x="3337560" y="3611880"/>
            <a:ext cx="2560320" cy="1463040"/>
          </a:xfrm>
          <a:prstGeom prst="roundRect">
            <a:avLst>
              <a:gd name="adj" fmla="val 6250"/>
            </a:avLst>
          </a:prstGeom>
          <a:solidFill>
            <a:srgbClr val="F5F7FA"/>
          </a:solidFill>
          <a:ln w="12700">
            <a:solidFill>
              <a:srgbClr val="E3E7ED"/>
            </a:solidFill>
            <a:prstDash val="solid"/>
          </a:ln>
        </p:spPr>
      </p:sp>
      <p:sp>
        <p:nvSpPr>
          <p:cNvPr id="25" name="Shape 18"/>
          <p:cNvSpPr/>
          <p:nvPr/>
        </p:nvSpPr>
        <p:spPr>
          <a:xfrm>
            <a:off x="4251960" y="3794760"/>
            <a:ext cx="685800" cy="685800"/>
          </a:xfrm>
          <a:prstGeom prst="ellipse">
            <a:avLst/>
          </a:prstGeom>
          <a:solidFill>
            <a:srgbClr val="232F3E"/>
          </a:solidFill>
        </p:spPr>
      </p:sp>
      <p:pic>
        <p:nvPicPr>
          <p:cNvPr id="26" name="Image 5" descr="/home/claude/icons/code_orange.png"/>
          <p:cNvPicPr>
            <a:picLocks noChangeAspect="1"/>
          </p:cNvPicPr>
          <p:nvPr/>
        </p:nvPicPr>
        <p:blipFill>
          <a:blip r:embed="rId1"/>
          <a:stretch>
            <a:fillRect/>
          </a:stretch>
        </p:blipFill>
        <p:spPr>
          <a:xfrm>
            <a:off x="4416552" y="3959352"/>
            <a:ext cx="356616" cy="356616"/>
          </a:xfrm>
          <a:prstGeom prst="rect">
            <a:avLst/>
          </a:prstGeom>
        </p:spPr>
      </p:pic>
      <p:sp>
        <p:nvSpPr>
          <p:cNvPr id="27" name="Text 19"/>
          <p:cNvSpPr/>
          <p:nvPr/>
        </p:nvSpPr>
        <p:spPr>
          <a:xfrm>
            <a:off x="3429000" y="4572000"/>
            <a:ext cx="2377440" cy="41148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Ruby</a:t>
            </a:r>
            <a:endParaRPr lang="en-US" sz="1300" dirty="0"/>
          </a:p>
        </p:txBody>
      </p:sp>
      <p:sp>
        <p:nvSpPr>
          <p:cNvPr id="28" name="Shape 20"/>
          <p:cNvSpPr/>
          <p:nvPr/>
        </p:nvSpPr>
        <p:spPr>
          <a:xfrm>
            <a:off x="6126480" y="3611880"/>
            <a:ext cx="2560320" cy="1463040"/>
          </a:xfrm>
          <a:prstGeom prst="roundRect">
            <a:avLst>
              <a:gd name="adj" fmla="val 6250"/>
            </a:avLst>
          </a:prstGeom>
          <a:solidFill>
            <a:srgbClr val="F5F7FA"/>
          </a:solidFill>
          <a:ln w="12700">
            <a:solidFill>
              <a:srgbClr val="E3E7ED"/>
            </a:solidFill>
            <a:prstDash val="solid"/>
          </a:ln>
        </p:spPr>
      </p:sp>
      <p:sp>
        <p:nvSpPr>
          <p:cNvPr id="29" name="Shape 21"/>
          <p:cNvSpPr/>
          <p:nvPr/>
        </p:nvSpPr>
        <p:spPr>
          <a:xfrm>
            <a:off x="7040880" y="3794760"/>
            <a:ext cx="685800" cy="685800"/>
          </a:xfrm>
          <a:prstGeom prst="ellipse">
            <a:avLst/>
          </a:prstGeom>
          <a:solidFill>
            <a:srgbClr val="232F3E"/>
          </a:solidFill>
        </p:spPr>
      </p:sp>
      <p:pic>
        <p:nvPicPr>
          <p:cNvPr id="30" name="Image 6" descr="/home/claude/icons/code_orange.png"/>
          <p:cNvPicPr>
            <a:picLocks noChangeAspect="1"/>
          </p:cNvPicPr>
          <p:nvPr/>
        </p:nvPicPr>
        <p:blipFill>
          <a:blip r:embed="rId1"/>
          <a:stretch>
            <a:fillRect/>
          </a:stretch>
        </p:blipFill>
        <p:spPr>
          <a:xfrm>
            <a:off x="7205472" y="3959352"/>
            <a:ext cx="356616" cy="356616"/>
          </a:xfrm>
          <a:prstGeom prst="rect">
            <a:avLst/>
          </a:prstGeom>
        </p:spPr>
      </p:pic>
      <p:sp>
        <p:nvSpPr>
          <p:cNvPr id="31" name="Text 22"/>
          <p:cNvSpPr/>
          <p:nvPr/>
        </p:nvSpPr>
        <p:spPr>
          <a:xfrm>
            <a:off x="6217920" y="4572000"/>
            <a:ext cx="2377440" cy="41148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Go</a:t>
            </a:r>
            <a:endParaRPr lang="en-US" sz="1300" dirty="0"/>
          </a:p>
        </p:txBody>
      </p:sp>
      <p:sp>
        <p:nvSpPr>
          <p:cNvPr id="32" name="Shape 23"/>
          <p:cNvSpPr/>
          <p:nvPr/>
        </p:nvSpPr>
        <p:spPr>
          <a:xfrm>
            <a:off x="8915400" y="3611880"/>
            <a:ext cx="2560320" cy="1463040"/>
          </a:xfrm>
          <a:prstGeom prst="roundRect">
            <a:avLst>
              <a:gd name="adj" fmla="val 6250"/>
            </a:avLst>
          </a:prstGeom>
          <a:solidFill>
            <a:srgbClr val="F5F7FA"/>
          </a:solidFill>
          <a:ln w="12700">
            <a:solidFill>
              <a:srgbClr val="E3E7ED"/>
            </a:solidFill>
            <a:prstDash val="solid"/>
          </a:ln>
        </p:spPr>
      </p:sp>
      <p:sp>
        <p:nvSpPr>
          <p:cNvPr id="33" name="Shape 24"/>
          <p:cNvSpPr/>
          <p:nvPr/>
        </p:nvSpPr>
        <p:spPr>
          <a:xfrm>
            <a:off x="9829800" y="3794760"/>
            <a:ext cx="685800" cy="685800"/>
          </a:xfrm>
          <a:prstGeom prst="ellipse">
            <a:avLst/>
          </a:prstGeom>
          <a:solidFill>
            <a:srgbClr val="232F3E"/>
          </a:solidFill>
        </p:spPr>
      </p:sp>
      <p:pic>
        <p:nvPicPr>
          <p:cNvPr id="34" name="Image 7" descr="/home/claude/icons/code_orange.png"/>
          <p:cNvPicPr>
            <a:picLocks noChangeAspect="1"/>
          </p:cNvPicPr>
          <p:nvPr/>
        </p:nvPicPr>
        <p:blipFill>
          <a:blip r:embed="rId1"/>
          <a:stretch>
            <a:fillRect/>
          </a:stretch>
        </p:blipFill>
        <p:spPr>
          <a:xfrm>
            <a:off x="9994392" y="3959352"/>
            <a:ext cx="356616" cy="356616"/>
          </a:xfrm>
          <a:prstGeom prst="rect">
            <a:avLst/>
          </a:prstGeom>
        </p:spPr>
      </p:pic>
      <p:sp>
        <p:nvSpPr>
          <p:cNvPr id="35" name="Text 25"/>
          <p:cNvSpPr/>
          <p:nvPr/>
        </p:nvSpPr>
        <p:spPr>
          <a:xfrm>
            <a:off x="9006840" y="4572000"/>
            <a:ext cx="2377440" cy="411480"/>
          </a:xfrm>
          <a:prstGeom prst="rect">
            <a:avLst/>
          </a:prstGeom>
          <a:noFill/>
        </p:spPr>
        <p:txBody>
          <a:bodyPr wrap="square" lIns="0" tIns="0" rIns="0" bIns="0" rtlCol="0" anchor="ctr"/>
          <a:lstStyle/>
          <a:p>
            <a:pPr marL="0" indent="0" algn="ctr">
              <a:buNone/>
            </a:pPr>
            <a:r>
              <a:rPr lang="en-US" sz="1300" b="1" dirty="0">
                <a:solidFill>
                  <a:srgbClr val="232F3E"/>
                </a:solidFill>
                <a:latin typeface="Calibri" panose="020F0502020204030204" pitchFamily="34" charset="0"/>
                <a:ea typeface="Calibri" panose="020F0502020204030204" pitchFamily="34" charset="-122"/>
                <a:cs typeface="Calibri" panose="020F0502020204030204" pitchFamily="34" charset="-120"/>
              </a:rPr>
              <a:t>Docker Containers</a:t>
            </a:r>
            <a:endParaRPr lang="en-US" sz="1300" dirty="0"/>
          </a:p>
        </p:txBody>
      </p:sp>
      <p:sp>
        <p:nvSpPr>
          <p:cNvPr id="36" name="Shape 26"/>
          <p:cNvSpPr/>
          <p:nvPr/>
        </p:nvSpPr>
        <p:spPr>
          <a:xfrm>
            <a:off x="548640" y="5440680"/>
            <a:ext cx="11064240" cy="777240"/>
          </a:xfrm>
          <a:prstGeom prst="roundRect">
            <a:avLst>
              <a:gd name="adj" fmla="val 9412"/>
            </a:avLst>
          </a:prstGeom>
          <a:solidFill>
            <a:srgbClr val="232F3E"/>
          </a:solidFill>
        </p:spPr>
      </p:sp>
      <p:sp>
        <p:nvSpPr>
          <p:cNvPr id="37" name="Text 27"/>
          <p:cNvSpPr/>
          <p:nvPr/>
        </p:nvSpPr>
        <p:spPr>
          <a:xfrm>
            <a:off x="822960" y="5440680"/>
            <a:ext cx="10515600" cy="777240"/>
          </a:xfrm>
          <a:prstGeom prst="rect">
            <a:avLst/>
          </a:prstGeom>
          <a:noFill/>
        </p:spPr>
        <p:txBody>
          <a:bodyPr wrap="square" lIns="0" tIns="0" rIns="0" bIns="0" rtlCol="0" anchor="ctr"/>
          <a:lstStyle/>
          <a:p>
            <a:pPr marL="0" indent="0">
              <a:buNone/>
            </a:pPr>
            <a:r>
              <a:rPr lang="en-US" sz="1300" i="1" dirty="0">
                <a:solidFill>
                  <a:srgbClr val="FFFFFF"/>
                </a:solidFill>
                <a:latin typeface="Calibri" panose="020F0502020204030204" pitchFamily="34" charset="0"/>
                <a:ea typeface="Calibri" panose="020F0502020204030204" pitchFamily="34" charset="-122"/>
                <a:cs typeface="Calibri" panose="020F0502020204030204" pitchFamily="34" charset="-120"/>
              </a:rPr>
              <a:t>Beanstalk automatically installs the runtime, web/app server, and OS needed for your chosen platform.</a:t>
            </a:r>
            <a:endParaRPr lang="en-US" sz="1300" dirty="0"/>
          </a:p>
        </p:txBody>
      </p:sp>
      <p:sp>
        <p:nvSpPr>
          <p:cNvPr id="38" name="Text 2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9" name="Text 2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49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ELASTIC BEANSTALK</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Application vs. Environment</a:t>
            </a:r>
            <a:endParaRPr lang="en-US" sz="3000" dirty="0"/>
          </a:p>
        </p:txBody>
      </p:sp>
      <p:sp>
        <p:nvSpPr>
          <p:cNvPr id="4" name="Shape 2"/>
          <p:cNvSpPr/>
          <p:nvPr/>
        </p:nvSpPr>
        <p:spPr>
          <a:xfrm>
            <a:off x="548640" y="1691640"/>
            <a:ext cx="5349240" cy="4160520"/>
          </a:xfrm>
          <a:prstGeom prst="roundRect">
            <a:avLst>
              <a:gd name="adj" fmla="val 2198"/>
            </a:avLst>
          </a:prstGeom>
          <a:solidFill>
            <a:srgbClr val="F5F7FA"/>
          </a:solidFill>
        </p:spPr>
      </p:sp>
      <p:sp>
        <p:nvSpPr>
          <p:cNvPr id="5" name="Shape 3"/>
          <p:cNvSpPr/>
          <p:nvPr/>
        </p:nvSpPr>
        <p:spPr>
          <a:xfrm>
            <a:off x="822960" y="1920240"/>
            <a:ext cx="777240" cy="777240"/>
          </a:xfrm>
          <a:prstGeom prst="ellipse">
            <a:avLst/>
          </a:prstGeom>
          <a:solidFill>
            <a:srgbClr val="232F3E"/>
          </a:solidFill>
        </p:spPr>
      </p:sp>
      <p:pic>
        <p:nvPicPr>
          <p:cNvPr id="6" name="Image 0" descr="/home/claude/icons/cubes_orange.png"/>
          <p:cNvPicPr>
            <a:picLocks noChangeAspect="1"/>
          </p:cNvPicPr>
          <p:nvPr/>
        </p:nvPicPr>
        <p:blipFill>
          <a:blip r:embed="rId1"/>
          <a:stretch>
            <a:fillRect/>
          </a:stretch>
        </p:blipFill>
        <p:spPr>
          <a:xfrm>
            <a:off x="1009498" y="2106778"/>
            <a:ext cx="404165" cy="404165"/>
          </a:xfrm>
          <a:prstGeom prst="rect">
            <a:avLst/>
          </a:prstGeom>
        </p:spPr>
      </p:pic>
      <p:sp>
        <p:nvSpPr>
          <p:cNvPr id="7" name="Text 4"/>
          <p:cNvSpPr/>
          <p:nvPr/>
        </p:nvSpPr>
        <p:spPr>
          <a:xfrm>
            <a:off x="1828800" y="2084832"/>
            <a:ext cx="3840480" cy="365760"/>
          </a:xfrm>
          <a:prstGeom prst="rect">
            <a:avLst/>
          </a:prstGeom>
          <a:noFill/>
        </p:spPr>
        <p:txBody>
          <a:bodyPr wrap="square" lIns="0" tIns="0" rIns="0" bIns="0" rtlCol="0" anchor="ctr"/>
          <a:lstStyle/>
          <a:p>
            <a:pPr marL="0" indent="0">
              <a:buNone/>
            </a:pPr>
            <a:r>
              <a:rPr lang="en-US" sz="1700" b="1" dirty="0">
                <a:solidFill>
                  <a:srgbClr val="232F3E"/>
                </a:solidFill>
                <a:latin typeface="Calibri" panose="020F0502020204030204" pitchFamily="34" charset="0"/>
                <a:ea typeface="Calibri" panose="020F0502020204030204" pitchFamily="34" charset="-122"/>
                <a:cs typeface="Calibri" panose="020F0502020204030204" pitchFamily="34" charset="-120"/>
              </a:rPr>
              <a:t>Application</a:t>
            </a:r>
            <a:endParaRPr lang="en-US" sz="1700" dirty="0"/>
          </a:p>
        </p:txBody>
      </p:sp>
      <p:sp>
        <p:nvSpPr>
          <p:cNvPr id="8" name="Text 5"/>
          <p:cNvSpPr/>
          <p:nvPr/>
        </p:nvSpPr>
        <p:spPr>
          <a:xfrm>
            <a:off x="822960" y="2880360"/>
            <a:ext cx="4800600" cy="1463040"/>
          </a:xfrm>
          <a:prstGeom prst="rect">
            <a:avLst/>
          </a:prstGeom>
          <a:noFill/>
        </p:spPr>
        <p:txBody>
          <a:bodyPr wrap="square" lIns="0" tIns="0" rIns="0" bIns="0" rtlCol="0" anchor="ctr"/>
          <a:lstStyle/>
          <a:p>
            <a:pPr marL="0" indent="0">
              <a:lnSpc>
                <a:spcPct val="125000"/>
              </a:lnSpc>
              <a:buNone/>
            </a:pPr>
            <a:r>
              <a:rPr lang="en-US" sz="1300" dirty="0">
                <a:solidFill>
                  <a:srgbClr val="232F3E"/>
                </a:solidFill>
                <a:latin typeface="Calibri" panose="020F0502020204030204" pitchFamily="34" charset="0"/>
                <a:ea typeface="Calibri" panose="020F0502020204030204" pitchFamily="34" charset="-122"/>
                <a:cs typeface="Calibri" panose="020F0502020204030204" pitchFamily="34" charset="-120"/>
              </a:rPr>
              <a:t>A logical container — a conceptual folder — for your Beanstalk components, including environments, versions, and configurations. One application can have several environments.</a:t>
            </a:r>
            <a:endParaRPr lang="en-US" sz="1300" dirty="0"/>
          </a:p>
        </p:txBody>
      </p:sp>
      <p:sp>
        <p:nvSpPr>
          <p:cNvPr id="9" name="Text 6"/>
          <p:cNvSpPr/>
          <p:nvPr/>
        </p:nvSpPr>
        <p:spPr>
          <a:xfrm>
            <a:off x="822960" y="4480560"/>
            <a:ext cx="4800600" cy="365760"/>
          </a:xfrm>
          <a:prstGeom prst="rect">
            <a:avLst/>
          </a:prstGeom>
          <a:noFill/>
        </p:spPr>
        <p:txBody>
          <a:bodyPr wrap="square" lIns="0" tIns="0" rIns="0" bIns="0" rtlCol="0" anchor="ctr"/>
          <a:lstStyle/>
          <a:p>
            <a:pPr marL="0" indent="0">
              <a:buNone/>
            </a:pPr>
            <a:r>
              <a:rPr lang="en-US" sz="1200" i="1" dirty="0">
                <a:solidFill>
                  <a:srgbClr val="FF9900"/>
                </a:solidFill>
                <a:latin typeface="Calibri" panose="020F0502020204030204" pitchFamily="34" charset="0"/>
                <a:ea typeface="Calibri" panose="020F0502020204030204" pitchFamily="34" charset="-122"/>
                <a:cs typeface="Calibri" panose="020F0502020204030204" pitchFamily="34" charset="-120"/>
              </a:rPr>
              <a:t>Example: "MyShoppingApp"</a:t>
            </a:r>
            <a:endParaRPr lang="en-US" sz="1200" dirty="0"/>
          </a:p>
        </p:txBody>
      </p:sp>
      <p:sp>
        <p:nvSpPr>
          <p:cNvPr id="10" name="Shape 7"/>
          <p:cNvSpPr/>
          <p:nvPr/>
        </p:nvSpPr>
        <p:spPr>
          <a:xfrm>
            <a:off x="6263640" y="1691640"/>
            <a:ext cx="5349240" cy="4160520"/>
          </a:xfrm>
          <a:prstGeom prst="roundRect">
            <a:avLst>
              <a:gd name="adj" fmla="val 2198"/>
            </a:avLst>
          </a:prstGeom>
          <a:solidFill>
            <a:srgbClr val="232F3E"/>
          </a:solidFill>
        </p:spPr>
      </p:sp>
      <p:sp>
        <p:nvSpPr>
          <p:cNvPr id="11" name="Shape 8"/>
          <p:cNvSpPr/>
          <p:nvPr/>
        </p:nvSpPr>
        <p:spPr>
          <a:xfrm>
            <a:off x="6537960" y="1920240"/>
            <a:ext cx="777240" cy="777240"/>
          </a:xfrm>
          <a:prstGeom prst="ellipse">
            <a:avLst/>
          </a:prstGeom>
          <a:solidFill>
            <a:srgbClr val="FF9900"/>
          </a:solidFill>
        </p:spPr>
      </p:sp>
      <p:pic>
        <p:nvPicPr>
          <p:cNvPr id="12" name="Image 1" descr="/home/claude/icons/server_navy.png"/>
          <p:cNvPicPr>
            <a:picLocks noChangeAspect="1"/>
          </p:cNvPicPr>
          <p:nvPr/>
        </p:nvPicPr>
        <p:blipFill>
          <a:blip r:embed="rId2"/>
          <a:stretch>
            <a:fillRect/>
          </a:stretch>
        </p:blipFill>
        <p:spPr>
          <a:xfrm>
            <a:off x="6724498" y="2106778"/>
            <a:ext cx="404165" cy="404165"/>
          </a:xfrm>
          <a:prstGeom prst="rect">
            <a:avLst/>
          </a:prstGeom>
        </p:spPr>
      </p:pic>
      <p:sp>
        <p:nvSpPr>
          <p:cNvPr id="13" name="Text 9"/>
          <p:cNvSpPr/>
          <p:nvPr/>
        </p:nvSpPr>
        <p:spPr>
          <a:xfrm>
            <a:off x="7543800" y="2084832"/>
            <a:ext cx="3840480" cy="365760"/>
          </a:xfrm>
          <a:prstGeom prst="rect">
            <a:avLst/>
          </a:prstGeom>
          <a:noFill/>
        </p:spPr>
        <p:txBody>
          <a:bodyPr wrap="square" lIns="0" tIns="0" rIns="0" bIns="0" rtlCol="0" anchor="ctr"/>
          <a:lstStyle/>
          <a:p>
            <a:pPr marL="0" indent="0">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Environment</a:t>
            </a:r>
            <a:endParaRPr lang="en-US" sz="1700" dirty="0"/>
          </a:p>
        </p:txBody>
      </p:sp>
      <p:sp>
        <p:nvSpPr>
          <p:cNvPr id="14" name="Text 10"/>
          <p:cNvSpPr/>
          <p:nvPr/>
        </p:nvSpPr>
        <p:spPr>
          <a:xfrm>
            <a:off x="6537960" y="2880360"/>
            <a:ext cx="4800600" cy="1463040"/>
          </a:xfrm>
          <a:prstGeom prst="rect">
            <a:avLst/>
          </a:prstGeom>
          <a:noFill/>
        </p:spPr>
        <p:txBody>
          <a:bodyPr wrap="square" lIns="0" tIns="0" rIns="0" bIns="0" rtlCol="0" anchor="ctr"/>
          <a:lstStyle/>
          <a:p>
            <a:pPr marL="0" indent="0">
              <a:lnSpc>
                <a:spcPct val="125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A running collection of AWS resources (EC2, load balancer, auto scaling group) for one version of your application — for example, separate 'staging' and 'production' environments.</a:t>
            </a:r>
            <a:endParaRPr lang="en-US" sz="1300" dirty="0"/>
          </a:p>
        </p:txBody>
      </p:sp>
      <p:sp>
        <p:nvSpPr>
          <p:cNvPr id="15" name="Text 11"/>
          <p:cNvSpPr/>
          <p:nvPr/>
        </p:nvSpPr>
        <p:spPr>
          <a:xfrm>
            <a:off x="6537960" y="4480560"/>
            <a:ext cx="4800600" cy="365760"/>
          </a:xfrm>
          <a:prstGeom prst="rect">
            <a:avLst/>
          </a:prstGeom>
          <a:noFill/>
        </p:spPr>
        <p:txBody>
          <a:bodyPr wrap="square" lIns="0" tIns="0" rIns="0" bIns="0" rtlCol="0" anchor="ctr"/>
          <a:lstStyle/>
          <a:p>
            <a:pPr marL="0" indent="0">
              <a:buNone/>
            </a:pP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Example: "MyShoppingApp-production"</a:t>
            </a:r>
            <a:endParaRPr lang="en-US" sz="1200" dirty="0"/>
          </a:p>
        </p:txBody>
      </p:sp>
      <p:sp>
        <p:nvSpPr>
          <p:cNvPr id="16" name="Text 1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7" name="Text 1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50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ELASTIC BEANSTALK</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Elastic Beanstalk Deployment Workflow</a:t>
            </a:r>
            <a:endParaRPr lang="en-US" sz="3000" dirty="0"/>
          </a:p>
        </p:txBody>
      </p:sp>
      <p:sp>
        <p:nvSpPr>
          <p:cNvPr id="4" name="Shape 2"/>
          <p:cNvSpPr/>
          <p:nvPr/>
        </p:nvSpPr>
        <p:spPr>
          <a:xfrm>
            <a:off x="548640" y="2011680"/>
            <a:ext cx="2606040" cy="3291840"/>
          </a:xfrm>
          <a:prstGeom prst="roundRect">
            <a:avLst>
              <a:gd name="adj" fmla="val 3509"/>
            </a:avLst>
          </a:prstGeom>
          <a:solidFill>
            <a:srgbClr val="F5F7FA"/>
          </a:solidFill>
        </p:spPr>
      </p:sp>
      <p:sp>
        <p:nvSpPr>
          <p:cNvPr id="5" name="Shape 3"/>
          <p:cNvSpPr/>
          <p:nvPr/>
        </p:nvSpPr>
        <p:spPr>
          <a:xfrm>
            <a:off x="1481328" y="2240280"/>
            <a:ext cx="731520" cy="731520"/>
          </a:xfrm>
          <a:prstGeom prst="ellipse">
            <a:avLst/>
          </a:prstGeom>
          <a:solidFill>
            <a:srgbClr val="FF9900"/>
          </a:solidFill>
        </p:spPr>
      </p:sp>
      <p:sp>
        <p:nvSpPr>
          <p:cNvPr id="6" name="Text 4"/>
          <p:cNvSpPr/>
          <p:nvPr/>
        </p:nvSpPr>
        <p:spPr>
          <a:xfrm>
            <a:off x="1481328" y="2240280"/>
            <a:ext cx="731520" cy="731520"/>
          </a:xfrm>
          <a:prstGeom prst="rect">
            <a:avLst/>
          </a:prstGeom>
          <a:noFill/>
        </p:spPr>
        <p:txBody>
          <a:bodyPr wrap="square" lIns="0" tIns="0" rIns="0" bIns="0" rtlCol="0" anchor="ctr"/>
          <a:lstStyle/>
          <a:p>
            <a:pPr marL="0" indent="0" algn="ctr">
              <a:buNone/>
            </a:pPr>
            <a:r>
              <a:rPr lang="en-US" sz="2400" b="1" dirty="0">
                <a:solidFill>
                  <a:srgbClr val="232F3E"/>
                </a:solidFill>
                <a:latin typeface="Cambria" panose="02040503050406030204" pitchFamily="34" charset="0"/>
                <a:ea typeface="Cambria" panose="02040503050406030204" pitchFamily="34" charset="-122"/>
                <a:cs typeface="Cambria" panose="02040503050406030204" pitchFamily="34" charset="-120"/>
              </a:rPr>
              <a:t>1</a:t>
            </a:r>
            <a:endParaRPr lang="en-US" sz="2400" dirty="0"/>
          </a:p>
        </p:txBody>
      </p:sp>
      <p:sp>
        <p:nvSpPr>
          <p:cNvPr id="7" name="Shape 5"/>
          <p:cNvSpPr/>
          <p:nvPr/>
        </p:nvSpPr>
        <p:spPr>
          <a:xfrm>
            <a:off x="1508760" y="3154680"/>
            <a:ext cx="685800" cy="685800"/>
          </a:xfrm>
          <a:prstGeom prst="ellipse">
            <a:avLst/>
          </a:prstGeom>
          <a:solidFill>
            <a:srgbClr val="232F3E"/>
          </a:solidFill>
        </p:spPr>
      </p:sp>
      <p:pic>
        <p:nvPicPr>
          <p:cNvPr id="8" name="Image 0" descr="/home/claude/icons/code_orange.png"/>
          <p:cNvPicPr>
            <a:picLocks noChangeAspect="1"/>
          </p:cNvPicPr>
          <p:nvPr/>
        </p:nvPicPr>
        <p:blipFill>
          <a:blip r:embed="rId1"/>
          <a:stretch>
            <a:fillRect/>
          </a:stretch>
        </p:blipFill>
        <p:spPr>
          <a:xfrm>
            <a:off x="1673352" y="3319272"/>
            <a:ext cx="356616" cy="356616"/>
          </a:xfrm>
          <a:prstGeom prst="rect">
            <a:avLst/>
          </a:prstGeom>
        </p:spPr>
      </p:pic>
      <p:sp>
        <p:nvSpPr>
          <p:cNvPr id="9" name="Text 6"/>
          <p:cNvSpPr/>
          <p:nvPr/>
        </p:nvSpPr>
        <p:spPr>
          <a:xfrm>
            <a:off x="685800" y="3977640"/>
            <a:ext cx="2331720"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Write Code</a:t>
            </a:r>
            <a:endParaRPr lang="en-US" sz="1350" dirty="0"/>
          </a:p>
        </p:txBody>
      </p:sp>
      <p:sp>
        <p:nvSpPr>
          <p:cNvPr id="10" name="Text 7"/>
          <p:cNvSpPr/>
          <p:nvPr/>
        </p:nvSpPr>
        <p:spPr>
          <a:xfrm>
            <a:off x="685800" y="4343400"/>
            <a:ext cx="2331720" cy="914400"/>
          </a:xfrm>
          <a:prstGeom prst="rect">
            <a:avLst/>
          </a:prstGeom>
          <a:noFill/>
        </p:spPr>
        <p:txBody>
          <a:bodyPr wrap="square" lIns="0" tIns="0" rIns="0" bIns="0" rtlCol="0" anchor="ctr"/>
          <a:lstStyle/>
          <a:p>
            <a:pPr marL="0" indent="0" algn="ctr">
              <a:lnSpc>
                <a:spcPct val="115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Develop your application locally in a supported language</a:t>
            </a:r>
            <a:endParaRPr lang="en-US" sz="1080" dirty="0"/>
          </a:p>
        </p:txBody>
      </p:sp>
      <p:sp>
        <p:nvSpPr>
          <p:cNvPr id="11" name="Text 8"/>
          <p:cNvSpPr/>
          <p:nvPr/>
        </p:nvSpPr>
        <p:spPr>
          <a:xfrm>
            <a:off x="3154680" y="3474720"/>
            <a:ext cx="201168"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2" name="Shape 9"/>
          <p:cNvSpPr/>
          <p:nvPr/>
        </p:nvSpPr>
        <p:spPr>
          <a:xfrm>
            <a:off x="3360420" y="2011680"/>
            <a:ext cx="2606040" cy="3291840"/>
          </a:xfrm>
          <a:prstGeom prst="roundRect">
            <a:avLst>
              <a:gd name="adj" fmla="val 3509"/>
            </a:avLst>
          </a:prstGeom>
          <a:solidFill>
            <a:srgbClr val="F5F7FA"/>
          </a:solidFill>
        </p:spPr>
      </p:sp>
      <p:sp>
        <p:nvSpPr>
          <p:cNvPr id="13" name="Shape 10"/>
          <p:cNvSpPr/>
          <p:nvPr/>
        </p:nvSpPr>
        <p:spPr>
          <a:xfrm>
            <a:off x="4293108" y="2240280"/>
            <a:ext cx="731520" cy="731520"/>
          </a:xfrm>
          <a:prstGeom prst="ellipse">
            <a:avLst/>
          </a:prstGeom>
          <a:solidFill>
            <a:srgbClr val="FF9900"/>
          </a:solidFill>
        </p:spPr>
      </p:sp>
      <p:sp>
        <p:nvSpPr>
          <p:cNvPr id="14" name="Text 11"/>
          <p:cNvSpPr/>
          <p:nvPr/>
        </p:nvSpPr>
        <p:spPr>
          <a:xfrm>
            <a:off x="4293108" y="2240280"/>
            <a:ext cx="731520" cy="731520"/>
          </a:xfrm>
          <a:prstGeom prst="rect">
            <a:avLst/>
          </a:prstGeom>
          <a:noFill/>
        </p:spPr>
        <p:txBody>
          <a:bodyPr wrap="square" lIns="0" tIns="0" rIns="0" bIns="0" rtlCol="0" anchor="ctr"/>
          <a:lstStyle/>
          <a:p>
            <a:pPr marL="0" indent="0" algn="ctr">
              <a:buNone/>
            </a:pPr>
            <a:r>
              <a:rPr lang="en-US" sz="2400" b="1" dirty="0">
                <a:solidFill>
                  <a:srgbClr val="232F3E"/>
                </a:solidFill>
                <a:latin typeface="Cambria" panose="02040503050406030204" pitchFamily="34" charset="0"/>
                <a:ea typeface="Cambria" panose="02040503050406030204" pitchFamily="34" charset="-122"/>
                <a:cs typeface="Cambria" panose="02040503050406030204" pitchFamily="34" charset="-120"/>
              </a:rPr>
              <a:t>2</a:t>
            </a:r>
            <a:endParaRPr lang="en-US" sz="2400" dirty="0"/>
          </a:p>
        </p:txBody>
      </p:sp>
      <p:sp>
        <p:nvSpPr>
          <p:cNvPr id="15" name="Shape 12"/>
          <p:cNvSpPr/>
          <p:nvPr/>
        </p:nvSpPr>
        <p:spPr>
          <a:xfrm>
            <a:off x="4320540" y="3154680"/>
            <a:ext cx="685800" cy="685800"/>
          </a:xfrm>
          <a:prstGeom prst="ellipse">
            <a:avLst/>
          </a:prstGeom>
          <a:solidFill>
            <a:srgbClr val="232F3E"/>
          </a:solidFill>
        </p:spPr>
      </p:sp>
      <p:pic>
        <p:nvPicPr>
          <p:cNvPr id="16" name="Image 1" descr="/home/claude/icons/cubes_orange.png"/>
          <p:cNvPicPr>
            <a:picLocks noChangeAspect="1"/>
          </p:cNvPicPr>
          <p:nvPr/>
        </p:nvPicPr>
        <p:blipFill>
          <a:blip r:embed="rId2"/>
          <a:stretch>
            <a:fillRect/>
          </a:stretch>
        </p:blipFill>
        <p:spPr>
          <a:xfrm>
            <a:off x="4485132" y="3319272"/>
            <a:ext cx="356616" cy="356616"/>
          </a:xfrm>
          <a:prstGeom prst="rect">
            <a:avLst/>
          </a:prstGeom>
        </p:spPr>
      </p:pic>
      <p:sp>
        <p:nvSpPr>
          <p:cNvPr id="17" name="Text 13"/>
          <p:cNvSpPr/>
          <p:nvPr/>
        </p:nvSpPr>
        <p:spPr>
          <a:xfrm>
            <a:off x="3497580" y="3977640"/>
            <a:ext cx="2331720"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Create Application</a:t>
            </a:r>
            <a:endParaRPr lang="en-US" sz="1350" dirty="0"/>
          </a:p>
        </p:txBody>
      </p:sp>
      <p:sp>
        <p:nvSpPr>
          <p:cNvPr id="18" name="Text 14"/>
          <p:cNvSpPr/>
          <p:nvPr/>
        </p:nvSpPr>
        <p:spPr>
          <a:xfrm>
            <a:off x="3497580" y="4343400"/>
            <a:ext cx="2331720" cy="914400"/>
          </a:xfrm>
          <a:prstGeom prst="rect">
            <a:avLst/>
          </a:prstGeom>
          <a:noFill/>
        </p:spPr>
        <p:txBody>
          <a:bodyPr wrap="square" lIns="0" tIns="0" rIns="0" bIns="0" rtlCol="0" anchor="ctr"/>
          <a:lstStyle/>
          <a:p>
            <a:pPr marL="0" indent="0" algn="ctr">
              <a:lnSpc>
                <a:spcPct val="115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Create a Beanstalk application to hold your project</a:t>
            </a:r>
            <a:endParaRPr lang="en-US" sz="1080" dirty="0"/>
          </a:p>
        </p:txBody>
      </p:sp>
      <p:sp>
        <p:nvSpPr>
          <p:cNvPr id="19" name="Text 15"/>
          <p:cNvSpPr/>
          <p:nvPr/>
        </p:nvSpPr>
        <p:spPr>
          <a:xfrm>
            <a:off x="5966460" y="3474720"/>
            <a:ext cx="201168"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0" name="Shape 16"/>
          <p:cNvSpPr/>
          <p:nvPr/>
        </p:nvSpPr>
        <p:spPr>
          <a:xfrm>
            <a:off x="6172200" y="2011680"/>
            <a:ext cx="2606040" cy="3291840"/>
          </a:xfrm>
          <a:prstGeom prst="roundRect">
            <a:avLst>
              <a:gd name="adj" fmla="val 3509"/>
            </a:avLst>
          </a:prstGeom>
          <a:solidFill>
            <a:srgbClr val="F5F7FA"/>
          </a:solidFill>
        </p:spPr>
      </p:sp>
      <p:sp>
        <p:nvSpPr>
          <p:cNvPr id="21" name="Shape 17"/>
          <p:cNvSpPr/>
          <p:nvPr/>
        </p:nvSpPr>
        <p:spPr>
          <a:xfrm>
            <a:off x="7104888" y="2240280"/>
            <a:ext cx="731520" cy="731520"/>
          </a:xfrm>
          <a:prstGeom prst="ellipse">
            <a:avLst/>
          </a:prstGeom>
          <a:solidFill>
            <a:srgbClr val="FF9900"/>
          </a:solidFill>
        </p:spPr>
      </p:sp>
      <p:sp>
        <p:nvSpPr>
          <p:cNvPr id="22" name="Text 18"/>
          <p:cNvSpPr/>
          <p:nvPr/>
        </p:nvSpPr>
        <p:spPr>
          <a:xfrm>
            <a:off x="7104888" y="2240280"/>
            <a:ext cx="731520" cy="731520"/>
          </a:xfrm>
          <a:prstGeom prst="rect">
            <a:avLst/>
          </a:prstGeom>
          <a:noFill/>
        </p:spPr>
        <p:txBody>
          <a:bodyPr wrap="square" lIns="0" tIns="0" rIns="0" bIns="0" rtlCol="0" anchor="ctr"/>
          <a:lstStyle/>
          <a:p>
            <a:pPr marL="0" indent="0" algn="ctr">
              <a:buNone/>
            </a:pPr>
            <a:r>
              <a:rPr lang="en-US" sz="2400" b="1" dirty="0">
                <a:solidFill>
                  <a:srgbClr val="232F3E"/>
                </a:solidFill>
                <a:latin typeface="Cambria" panose="02040503050406030204" pitchFamily="34" charset="0"/>
                <a:ea typeface="Cambria" panose="02040503050406030204" pitchFamily="34" charset="-122"/>
                <a:cs typeface="Cambria" panose="02040503050406030204" pitchFamily="34" charset="-120"/>
              </a:rPr>
              <a:t>3</a:t>
            </a:r>
            <a:endParaRPr lang="en-US" sz="2400" dirty="0"/>
          </a:p>
        </p:txBody>
      </p:sp>
      <p:sp>
        <p:nvSpPr>
          <p:cNvPr id="23" name="Shape 19"/>
          <p:cNvSpPr/>
          <p:nvPr/>
        </p:nvSpPr>
        <p:spPr>
          <a:xfrm>
            <a:off x="7132320" y="3154680"/>
            <a:ext cx="685800" cy="685800"/>
          </a:xfrm>
          <a:prstGeom prst="ellipse">
            <a:avLst/>
          </a:prstGeom>
          <a:solidFill>
            <a:srgbClr val="232F3E"/>
          </a:solidFill>
        </p:spPr>
      </p:sp>
      <p:pic>
        <p:nvPicPr>
          <p:cNvPr id="24" name="Image 2" descr="/home/claude/icons/rocket_orange.png"/>
          <p:cNvPicPr>
            <a:picLocks noChangeAspect="1"/>
          </p:cNvPicPr>
          <p:nvPr/>
        </p:nvPicPr>
        <p:blipFill>
          <a:blip r:embed="rId3"/>
          <a:stretch>
            <a:fillRect/>
          </a:stretch>
        </p:blipFill>
        <p:spPr>
          <a:xfrm>
            <a:off x="7296912" y="3319272"/>
            <a:ext cx="356616" cy="356616"/>
          </a:xfrm>
          <a:prstGeom prst="rect">
            <a:avLst/>
          </a:prstGeom>
        </p:spPr>
      </p:pic>
      <p:sp>
        <p:nvSpPr>
          <p:cNvPr id="25" name="Text 20"/>
          <p:cNvSpPr/>
          <p:nvPr/>
        </p:nvSpPr>
        <p:spPr>
          <a:xfrm>
            <a:off x="6309360" y="3977640"/>
            <a:ext cx="2331720"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Upload &amp; Deploy</a:t>
            </a:r>
            <a:endParaRPr lang="en-US" sz="1350" dirty="0"/>
          </a:p>
        </p:txBody>
      </p:sp>
      <p:sp>
        <p:nvSpPr>
          <p:cNvPr id="26" name="Text 21"/>
          <p:cNvSpPr/>
          <p:nvPr/>
        </p:nvSpPr>
        <p:spPr>
          <a:xfrm>
            <a:off x="6309360" y="4343400"/>
            <a:ext cx="2331720" cy="914400"/>
          </a:xfrm>
          <a:prstGeom prst="rect">
            <a:avLst/>
          </a:prstGeom>
          <a:noFill/>
        </p:spPr>
        <p:txBody>
          <a:bodyPr wrap="square" lIns="0" tIns="0" rIns="0" bIns="0" rtlCol="0" anchor="ctr"/>
          <a:lstStyle/>
          <a:p>
            <a:pPr marL="0" indent="0" algn="ctr">
              <a:lnSpc>
                <a:spcPct val="115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Upload a code bundle; Beanstalk provisions the environment</a:t>
            </a:r>
            <a:endParaRPr lang="en-US" sz="1080" dirty="0"/>
          </a:p>
        </p:txBody>
      </p:sp>
      <p:sp>
        <p:nvSpPr>
          <p:cNvPr id="27" name="Text 22"/>
          <p:cNvSpPr/>
          <p:nvPr/>
        </p:nvSpPr>
        <p:spPr>
          <a:xfrm>
            <a:off x="8778240" y="3474720"/>
            <a:ext cx="201168"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8" name="Shape 23"/>
          <p:cNvSpPr/>
          <p:nvPr/>
        </p:nvSpPr>
        <p:spPr>
          <a:xfrm>
            <a:off x="8983980" y="2011680"/>
            <a:ext cx="2606040" cy="3291840"/>
          </a:xfrm>
          <a:prstGeom prst="roundRect">
            <a:avLst>
              <a:gd name="adj" fmla="val 3509"/>
            </a:avLst>
          </a:prstGeom>
          <a:solidFill>
            <a:srgbClr val="F5F7FA"/>
          </a:solidFill>
        </p:spPr>
      </p:sp>
      <p:sp>
        <p:nvSpPr>
          <p:cNvPr id="29" name="Shape 24"/>
          <p:cNvSpPr/>
          <p:nvPr/>
        </p:nvSpPr>
        <p:spPr>
          <a:xfrm>
            <a:off x="9916668" y="2240280"/>
            <a:ext cx="731520" cy="731520"/>
          </a:xfrm>
          <a:prstGeom prst="ellipse">
            <a:avLst/>
          </a:prstGeom>
          <a:solidFill>
            <a:srgbClr val="FF9900"/>
          </a:solidFill>
        </p:spPr>
      </p:sp>
      <p:sp>
        <p:nvSpPr>
          <p:cNvPr id="30" name="Text 25"/>
          <p:cNvSpPr/>
          <p:nvPr/>
        </p:nvSpPr>
        <p:spPr>
          <a:xfrm>
            <a:off x="9916668" y="2240280"/>
            <a:ext cx="731520" cy="731520"/>
          </a:xfrm>
          <a:prstGeom prst="rect">
            <a:avLst/>
          </a:prstGeom>
          <a:noFill/>
        </p:spPr>
        <p:txBody>
          <a:bodyPr wrap="square" lIns="0" tIns="0" rIns="0" bIns="0" rtlCol="0" anchor="ctr"/>
          <a:lstStyle/>
          <a:p>
            <a:pPr marL="0" indent="0" algn="ctr">
              <a:buNone/>
            </a:pPr>
            <a:r>
              <a:rPr lang="en-US" sz="2400" b="1" dirty="0">
                <a:solidFill>
                  <a:srgbClr val="232F3E"/>
                </a:solidFill>
                <a:latin typeface="Cambria" panose="02040503050406030204" pitchFamily="34" charset="0"/>
                <a:ea typeface="Cambria" panose="02040503050406030204" pitchFamily="34" charset="-122"/>
                <a:cs typeface="Cambria" panose="02040503050406030204" pitchFamily="34" charset="-120"/>
              </a:rPr>
              <a:t>4</a:t>
            </a:r>
            <a:endParaRPr lang="en-US" sz="2400" dirty="0"/>
          </a:p>
        </p:txBody>
      </p:sp>
      <p:sp>
        <p:nvSpPr>
          <p:cNvPr id="31" name="Shape 26"/>
          <p:cNvSpPr/>
          <p:nvPr/>
        </p:nvSpPr>
        <p:spPr>
          <a:xfrm>
            <a:off x="9944100" y="3154680"/>
            <a:ext cx="685800" cy="685800"/>
          </a:xfrm>
          <a:prstGeom prst="ellipse">
            <a:avLst/>
          </a:prstGeom>
          <a:solidFill>
            <a:srgbClr val="232F3E"/>
          </a:solidFill>
        </p:spPr>
      </p:sp>
      <p:pic>
        <p:nvPicPr>
          <p:cNvPr id="32" name="Image 3" descr="/home/claude/icons/chart_orange.png"/>
          <p:cNvPicPr>
            <a:picLocks noChangeAspect="1"/>
          </p:cNvPicPr>
          <p:nvPr/>
        </p:nvPicPr>
        <p:blipFill>
          <a:blip r:embed="rId4"/>
          <a:stretch>
            <a:fillRect/>
          </a:stretch>
        </p:blipFill>
        <p:spPr>
          <a:xfrm>
            <a:off x="10108692" y="3319272"/>
            <a:ext cx="356616" cy="356616"/>
          </a:xfrm>
          <a:prstGeom prst="rect">
            <a:avLst/>
          </a:prstGeom>
        </p:spPr>
      </p:pic>
      <p:sp>
        <p:nvSpPr>
          <p:cNvPr id="33" name="Text 27"/>
          <p:cNvSpPr/>
          <p:nvPr/>
        </p:nvSpPr>
        <p:spPr>
          <a:xfrm>
            <a:off x="9121140" y="3977640"/>
            <a:ext cx="2331720" cy="365760"/>
          </a:xfrm>
          <a:prstGeom prst="rect">
            <a:avLst/>
          </a:prstGeom>
          <a:noFill/>
        </p:spPr>
        <p:txBody>
          <a:bodyPr wrap="square" lIns="0" tIns="0" rIns="0" bIns="0" rtlCol="0" anchor="ctr"/>
          <a:lstStyle/>
          <a:p>
            <a:pPr marL="0" indent="0" algn="ctr">
              <a:buNone/>
            </a:pPr>
            <a:r>
              <a:rPr lang="en-US" sz="1350" b="1" dirty="0">
                <a:solidFill>
                  <a:srgbClr val="232F3E"/>
                </a:solidFill>
                <a:latin typeface="Calibri" panose="020F0502020204030204" pitchFamily="34" charset="0"/>
                <a:ea typeface="Calibri" panose="020F0502020204030204" pitchFamily="34" charset="-122"/>
                <a:cs typeface="Calibri" panose="020F0502020204030204" pitchFamily="34" charset="-120"/>
              </a:rPr>
              <a:t>Monitor &amp; Scale</a:t>
            </a:r>
            <a:endParaRPr lang="en-US" sz="1350" dirty="0"/>
          </a:p>
        </p:txBody>
      </p:sp>
      <p:sp>
        <p:nvSpPr>
          <p:cNvPr id="34" name="Text 28"/>
          <p:cNvSpPr/>
          <p:nvPr/>
        </p:nvSpPr>
        <p:spPr>
          <a:xfrm>
            <a:off x="9121140" y="4343400"/>
            <a:ext cx="2331720" cy="914400"/>
          </a:xfrm>
          <a:prstGeom prst="rect">
            <a:avLst/>
          </a:prstGeom>
          <a:noFill/>
        </p:spPr>
        <p:txBody>
          <a:bodyPr wrap="square" lIns="0" tIns="0" rIns="0" bIns="0" rtlCol="0" anchor="ctr"/>
          <a:lstStyle/>
          <a:p>
            <a:pPr marL="0" indent="0" algn="ctr">
              <a:lnSpc>
                <a:spcPct val="115000"/>
              </a:lnSpc>
              <a:buNone/>
            </a:pPr>
            <a:r>
              <a:rPr lang="en-US" sz="1080" dirty="0">
                <a:solidFill>
                  <a:srgbClr val="5F6B7A"/>
                </a:solidFill>
                <a:latin typeface="Calibri" panose="020F0502020204030204" pitchFamily="34" charset="0"/>
                <a:ea typeface="Calibri" panose="020F0502020204030204" pitchFamily="34" charset="-122"/>
                <a:cs typeface="Calibri" panose="020F0502020204030204" pitchFamily="34" charset="-120"/>
              </a:rPr>
              <a:t>Beanstalk auto-scales and reports health continuously</a:t>
            </a:r>
            <a:endParaRPr lang="en-US" sz="1080" dirty="0"/>
          </a:p>
        </p:txBody>
      </p:sp>
      <p:sp>
        <p:nvSpPr>
          <p:cNvPr id="35" name="Text 29"/>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6" name="Text 30"/>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51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ELASTIC BEANSTALK</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EC2 vs. Elastic Beanstalk vs. Lambda</a:t>
            </a:r>
            <a:endParaRPr lang="en-US" sz="3000" dirty="0"/>
          </a:p>
        </p:txBody>
      </p:sp>
      <p:sp>
        <p:nvSpPr>
          <p:cNvPr id="4" name="Shape 2"/>
          <p:cNvSpPr/>
          <p:nvPr/>
        </p:nvSpPr>
        <p:spPr>
          <a:xfrm>
            <a:off x="548640" y="1737360"/>
            <a:ext cx="2377440" cy="548640"/>
          </a:xfrm>
          <a:prstGeom prst="roundRect">
            <a:avLst>
              <a:gd name="adj" fmla="val 8333"/>
            </a:avLst>
          </a:prstGeom>
          <a:solidFill>
            <a:srgbClr val="FFFFFF"/>
          </a:solidFill>
        </p:spPr>
      </p:sp>
      <p:sp>
        <p:nvSpPr>
          <p:cNvPr id="5" name="Text 3"/>
          <p:cNvSpPr/>
          <p:nvPr/>
        </p:nvSpPr>
        <p:spPr>
          <a:xfrm>
            <a:off x="548640" y="1737360"/>
            <a:ext cx="2377440" cy="548640"/>
          </a:xfrm>
          <a:prstGeom prst="rect">
            <a:avLst/>
          </a:prstGeom>
          <a:noFill/>
        </p:spPr>
        <p:txBody>
          <a:bodyPr wrap="square" lIns="0" tIns="0" rIns="0" bIns="0" rtlCol="0" anchor="ctr"/>
          <a:lstStyle/>
          <a:p>
            <a:pPr marL="0" indent="0" algn="ctr">
              <a:buNone/>
            </a:pPr>
            <a:endParaRPr lang="en-US" sz="1400" dirty="0"/>
          </a:p>
        </p:txBody>
      </p:sp>
      <p:sp>
        <p:nvSpPr>
          <p:cNvPr id="6" name="Shape 4"/>
          <p:cNvSpPr/>
          <p:nvPr/>
        </p:nvSpPr>
        <p:spPr>
          <a:xfrm>
            <a:off x="2926080" y="1737360"/>
            <a:ext cx="2834640" cy="548640"/>
          </a:xfrm>
          <a:prstGeom prst="roundRect">
            <a:avLst>
              <a:gd name="adj" fmla="val 8333"/>
            </a:avLst>
          </a:prstGeom>
          <a:solidFill>
            <a:srgbClr val="232F3E"/>
          </a:solidFill>
        </p:spPr>
      </p:sp>
      <p:sp>
        <p:nvSpPr>
          <p:cNvPr id="7" name="Text 5"/>
          <p:cNvSpPr/>
          <p:nvPr/>
        </p:nvSpPr>
        <p:spPr>
          <a:xfrm>
            <a:off x="2926080" y="1737360"/>
            <a:ext cx="2834640" cy="54864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EC2</a:t>
            </a:r>
            <a:endParaRPr lang="en-US" sz="1400" dirty="0"/>
          </a:p>
        </p:txBody>
      </p:sp>
      <p:sp>
        <p:nvSpPr>
          <p:cNvPr id="8" name="Shape 6"/>
          <p:cNvSpPr/>
          <p:nvPr/>
        </p:nvSpPr>
        <p:spPr>
          <a:xfrm>
            <a:off x="5760720" y="1737360"/>
            <a:ext cx="3108960" cy="548640"/>
          </a:xfrm>
          <a:prstGeom prst="roundRect">
            <a:avLst>
              <a:gd name="adj" fmla="val 8333"/>
            </a:avLst>
          </a:prstGeom>
          <a:solidFill>
            <a:srgbClr val="232F3E"/>
          </a:solidFill>
        </p:spPr>
      </p:sp>
      <p:sp>
        <p:nvSpPr>
          <p:cNvPr id="9" name="Text 7"/>
          <p:cNvSpPr/>
          <p:nvPr/>
        </p:nvSpPr>
        <p:spPr>
          <a:xfrm>
            <a:off x="5760720" y="1737360"/>
            <a:ext cx="3108960" cy="54864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Elastic Beanstalk</a:t>
            </a:r>
            <a:endParaRPr lang="en-US" sz="1400" dirty="0"/>
          </a:p>
        </p:txBody>
      </p:sp>
      <p:sp>
        <p:nvSpPr>
          <p:cNvPr id="10" name="Shape 8"/>
          <p:cNvSpPr/>
          <p:nvPr/>
        </p:nvSpPr>
        <p:spPr>
          <a:xfrm>
            <a:off x="8869680" y="1737360"/>
            <a:ext cx="2743200" cy="548640"/>
          </a:xfrm>
          <a:prstGeom prst="roundRect">
            <a:avLst>
              <a:gd name="adj" fmla="val 8333"/>
            </a:avLst>
          </a:prstGeom>
          <a:solidFill>
            <a:srgbClr val="232F3E"/>
          </a:solidFill>
        </p:spPr>
      </p:sp>
      <p:sp>
        <p:nvSpPr>
          <p:cNvPr id="11" name="Text 9"/>
          <p:cNvSpPr/>
          <p:nvPr/>
        </p:nvSpPr>
        <p:spPr>
          <a:xfrm>
            <a:off x="8869680" y="1737360"/>
            <a:ext cx="2743200" cy="54864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Lambda</a:t>
            </a:r>
            <a:endParaRPr lang="en-US" sz="1400" dirty="0"/>
          </a:p>
        </p:txBody>
      </p:sp>
      <p:sp>
        <p:nvSpPr>
          <p:cNvPr id="12" name="Shape 10"/>
          <p:cNvSpPr/>
          <p:nvPr/>
        </p:nvSpPr>
        <p:spPr>
          <a:xfrm>
            <a:off x="548640" y="2286000"/>
            <a:ext cx="2377440" cy="914400"/>
          </a:xfrm>
          <a:prstGeom prst="rect">
            <a:avLst/>
          </a:prstGeom>
          <a:solidFill>
            <a:srgbClr val="37475A"/>
          </a:solidFill>
          <a:ln w="9525">
            <a:solidFill>
              <a:srgbClr val="E3E7ED"/>
            </a:solidFill>
            <a:prstDash val="solid"/>
          </a:ln>
        </p:spPr>
      </p:sp>
      <p:sp>
        <p:nvSpPr>
          <p:cNvPr id="13" name="Text 11"/>
          <p:cNvSpPr/>
          <p:nvPr/>
        </p:nvSpPr>
        <p:spPr>
          <a:xfrm>
            <a:off x="685800" y="2286000"/>
            <a:ext cx="2103120" cy="914400"/>
          </a:xfrm>
          <a:prstGeom prst="rect">
            <a:avLst/>
          </a:prstGeom>
          <a:noFill/>
        </p:spPr>
        <p:txBody>
          <a:bodyPr wrap="square" lIns="0" tIns="0" rIns="0" bIns="0" rtlCol="0" anchor="ctr"/>
          <a:lstStyle/>
          <a:p>
            <a:pPr marL="0" indent="0">
              <a:lnSpc>
                <a:spcPct val="110000"/>
              </a:lnSpc>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Control Level</a:t>
            </a:r>
            <a:endParaRPr lang="en-US" sz="1200" dirty="0"/>
          </a:p>
        </p:txBody>
      </p:sp>
      <p:sp>
        <p:nvSpPr>
          <p:cNvPr id="14" name="Shape 12"/>
          <p:cNvSpPr/>
          <p:nvPr/>
        </p:nvSpPr>
        <p:spPr>
          <a:xfrm>
            <a:off x="2926080" y="2286000"/>
            <a:ext cx="2834640" cy="914400"/>
          </a:xfrm>
          <a:prstGeom prst="rect">
            <a:avLst/>
          </a:prstGeom>
          <a:solidFill>
            <a:srgbClr val="F5F7FA"/>
          </a:solidFill>
          <a:ln w="9525">
            <a:solidFill>
              <a:srgbClr val="E3E7ED"/>
            </a:solidFill>
            <a:prstDash val="solid"/>
          </a:ln>
        </p:spPr>
      </p:sp>
      <p:sp>
        <p:nvSpPr>
          <p:cNvPr id="15" name="Text 13"/>
          <p:cNvSpPr/>
          <p:nvPr/>
        </p:nvSpPr>
        <p:spPr>
          <a:xfrm>
            <a:off x="3063240" y="2286000"/>
            <a:ext cx="256032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Full control</a:t>
            </a:r>
            <a:endParaRPr lang="en-US" sz="1200" dirty="0"/>
          </a:p>
        </p:txBody>
      </p:sp>
      <p:sp>
        <p:nvSpPr>
          <p:cNvPr id="16" name="Shape 14"/>
          <p:cNvSpPr/>
          <p:nvPr/>
        </p:nvSpPr>
        <p:spPr>
          <a:xfrm>
            <a:off x="5760720" y="2286000"/>
            <a:ext cx="3108960" cy="914400"/>
          </a:xfrm>
          <a:prstGeom prst="rect">
            <a:avLst/>
          </a:prstGeom>
          <a:solidFill>
            <a:srgbClr val="F5F7FA"/>
          </a:solidFill>
          <a:ln w="9525">
            <a:solidFill>
              <a:srgbClr val="E3E7ED"/>
            </a:solidFill>
            <a:prstDash val="solid"/>
          </a:ln>
        </p:spPr>
      </p:sp>
      <p:sp>
        <p:nvSpPr>
          <p:cNvPr id="17" name="Text 15"/>
          <p:cNvSpPr/>
          <p:nvPr/>
        </p:nvSpPr>
        <p:spPr>
          <a:xfrm>
            <a:off x="5897880" y="2286000"/>
            <a:ext cx="283464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Partial (auto-managed)</a:t>
            </a:r>
            <a:endParaRPr lang="en-US" sz="1200" dirty="0"/>
          </a:p>
        </p:txBody>
      </p:sp>
      <p:sp>
        <p:nvSpPr>
          <p:cNvPr id="18" name="Shape 16"/>
          <p:cNvSpPr/>
          <p:nvPr/>
        </p:nvSpPr>
        <p:spPr>
          <a:xfrm>
            <a:off x="8869680" y="2286000"/>
            <a:ext cx="2743200" cy="914400"/>
          </a:xfrm>
          <a:prstGeom prst="rect">
            <a:avLst/>
          </a:prstGeom>
          <a:solidFill>
            <a:srgbClr val="F5F7FA"/>
          </a:solidFill>
          <a:ln w="9525">
            <a:solidFill>
              <a:srgbClr val="E3E7ED"/>
            </a:solidFill>
            <a:prstDash val="solid"/>
          </a:ln>
        </p:spPr>
      </p:sp>
      <p:sp>
        <p:nvSpPr>
          <p:cNvPr id="19" name="Text 17"/>
          <p:cNvSpPr/>
          <p:nvPr/>
        </p:nvSpPr>
        <p:spPr>
          <a:xfrm>
            <a:off x="9006840" y="2286000"/>
            <a:ext cx="246888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Minimal (code only)</a:t>
            </a:r>
            <a:endParaRPr lang="en-US" sz="1200" dirty="0"/>
          </a:p>
        </p:txBody>
      </p:sp>
      <p:sp>
        <p:nvSpPr>
          <p:cNvPr id="20" name="Shape 18"/>
          <p:cNvSpPr/>
          <p:nvPr/>
        </p:nvSpPr>
        <p:spPr>
          <a:xfrm>
            <a:off x="548640" y="3200400"/>
            <a:ext cx="2377440" cy="914400"/>
          </a:xfrm>
          <a:prstGeom prst="rect">
            <a:avLst/>
          </a:prstGeom>
          <a:solidFill>
            <a:srgbClr val="37475A"/>
          </a:solidFill>
          <a:ln w="9525">
            <a:solidFill>
              <a:srgbClr val="E3E7ED"/>
            </a:solidFill>
            <a:prstDash val="solid"/>
          </a:ln>
        </p:spPr>
      </p:sp>
      <p:sp>
        <p:nvSpPr>
          <p:cNvPr id="21" name="Text 19"/>
          <p:cNvSpPr/>
          <p:nvPr/>
        </p:nvSpPr>
        <p:spPr>
          <a:xfrm>
            <a:off x="685800" y="3200400"/>
            <a:ext cx="2103120" cy="914400"/>
          </a:xfrm>
          <a:prstGeom prst="rect">
            <a:avLst/>
          </a:prstGeom>
          <a:noFill/>
        </p:spPr>
        <p:txBody>
          <a:bodyPr wrap="square" lIns="0" tIns="0" rIns="0" bIns="0" rtlCol="0" anchor="ctr"/>
          <a:lstStyle/>
          <a:p>
            <a:pPr marL="0" indent="0">
              <a:lnSpc>
                <a:spcPct val="110000"/>
              </a:lnSpc>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Setup Effort</a:t>
            </a:r>
            <a:endParaRPr lang="en-US" sz="1200" dirty="0"/>
          </a:p>
        </p:txBody>
      </p:sp>
      <p:sp>
        <p:nvSpPr>
          <p:cNvPr id="22" name="Shape 20"/>
          <p:cNvSpPr/>
          <p:nvPr/>
        </p:nvSpPr>
        <p:spPr>
          <a:xfrm>
            <a:off x="2926080" y="3200400"/>
            <a:ext cx="2834640" cy="914400"/>
          </a:xfrm>
          <a:prstGeom prst="rect">
            <a:avLst/>
          </a:prstGeom>
          <a:solidFill>
            <a:srgbClr val="FFFFFF"/>
          </a:solidFill>
          <a:ln w="9525">
            <a:solidFill>
              <a:srgbClr val="E3E7ED"/>
            </a:solidFill>
            <a:prstDash val="solid"/>
          </a:ln>
        </p:spPr>
      </p:sp>
      <p:sp>
        <p:nvSpPr>
          <p:cNvPr id="23" name="Text 21"/>
          <p:cNvSpPr/>
          <p:nvPr/>
        </p:nvSpPr>
        <p:spPr>
          <a:xfrm>
            <a:off x="3063240" y="3200400"/>
            <a:ext cx="256032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Manual configuration</a:t>
            </a:r>
            <a:endParaRPr lang="en-US" sz="1200" dirty="0"/>
          </a:p>
        </p:txBody>
      </p:sp>
      <p:sp>
        <p:nvSpPr>
          <p:cNvPr id="24" name="Shape 22"/>
          <p:cNvSpPr/>
          <p:nvPr/>
        </p:nvSpPr>
        <p:spPr>
          <a:xfrm>
            <a:off x="5760720" y="3200400"/>
            <a:ext cx="3108960" cy="914400"/>
          </a:xfrm>
          <a:prstGeom prst="rect">
            <a:avLst/>
          </a:prstGeom>
          <a:solidFill>
            <a:srgbClr val="FFFFFF"/>
          </a:solidFill>
          <a:ln w="9525">
            <a:solidFill>
              <a:srgbClr val="E3E7ED"/>
            </a:solidFill>
            <a:prstDash val="solid"/>
          </a:ln>
        </p:spPr>
      </p:sp>
      <p:sp>
        <p:nvSpPr>
          <p:cNvPr id="25" name="Text 23"/>
          <p:cNvSpPr/>
          <p:nvPr/>
        </p:nvSpPr>
        <p:spPr>
          <a:xfrm>
            <a:off x="5897880" y="3200400"/>
            <a:ext cx="283464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Automated provisioning</a:t>
            </a:r>
            <a:endParaRPr lang="en-US" sz="1200" dirty="0"/>
          </a:p>
        </p:txBody>
      </p:sp>
      <p:sp>
        <p:nvSpPr>
          <p:cNvPr id="26" name="Shape 24"/>
          <p:cNvSpPr/>
          <p:nvPr/>
        </p:nvSpPr>
        <p:spPr>
          <a:xfrm>
            <a:off x="8869680" y="3200400"/>
            <a:ext cx="2743200" cy="914400"/>
          </a:xfrm>
          <a:prstGeom prst="rect">
            <a:avLst/>
          </a:prstGeom>
          <a:solidFill>
            <a:srgbClr val="FFFFFF"/>
          </a:solidFill>
          <a:ln w="9525">
            <a:solidFill>
              <a:srgbClr val="E3E7ED"/>
            </a:solidFill>
            <a:prstDash val="solid"/>
          </a:ln>
        </p:spPr>
      </p:sp>
      <p:sp>
        <p:nvSpPr>
          <p:cNvPr id="27" name="Text 25"/>
          <p:cNvSpPr/>
          <p:nvPr/>
        </p:nvSpPr>
        <p:spPr>
          <a:xfrm>
            <a:off x="9006840" y="3200400"/>
            <a:ext cx="246888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None — just deploy code</a:t>
            </a:r>
            <a:endParaRPr lang="en-US" sz="1200" dirty="0"/>
          </a:p>
        </p:txBody>
      </p:sp>
      <p:sp>
        <p:nvSpPr>
          <p:cNvPr id="28" name="Shape 26"/>
          <p:cNvSpPr/>
          <p:nvPr/>
        </p:nvSpPr>
        <p:spPr>
          <a:xfrm>
            <a:off x="548640" y="4114800"/>
            <a:ext cx="2377440" cy="914400"/>
          </a:xfrm>
          <a:prstGeom prst="rect">
            <a:avLst/>
          </a:prstGeom>
          <a:solidFill>
            <a:srgbClr val="37475A"/>
          </a:solidFill>
          <a:ln w="9525">
            <a:solidFill>
              <a:srgbClr val="E3E7ED"/>
            </a:solidFill>
            <a:prstDash val="solid"/>
          </a:ln>
        </p:spPr>
      </p:sp>
      <p:sp>
        <p:nvSpPr>
          <p:cNvPr id="29" name="Text 27"/>
          <p:cNvSpPr/>
          <p:nvPr/>
        </p:nvSpPr>
        <p:spPr>
          <a:xfrm>
            <a:off x="685800" y="4114800"/>
            <a:ext cx="2103120" cy="914400"/>
          </a:xfrm>
          <a:prstGeom prst="rect">
            <a:avLst/>
          </a:prstGeom>
          <a:noFill/>
        </p:spPr>
        <p:txBody>
          <a:bodyPr wrap="square" lIns="0" tIns="0" rIns="0" bIns="0" rtlCol="0" anchor="ctr"/>
          <a:lstStyle/>
          <a:p>
            <a:pPr marL="0" indent="0">
              <a:lnSpc>
                <a:spcPct val="110000"/>
              </a:lnSpc>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Scaling</a:t>
            </a:r>
            <a:endParaRPr lang="en-US" sz="1200" dirty="0"/>
          </a:p>
        </p:txBody>
      </p:sp>
      <p:sp>
        <p:nvSpPr>
          <p:cNvPr id="30" name="Shape 28"/>
          <p:cNvSpPr/>
          <p:nvPr/>
        </p:nvSpPr>
        <p:spPr>
          <a:xfrm>
            <a:off x="2926080" y="4114800"/>
            <a:ext cx="2834640" cy="914400"/>
          </a:xfrm>
          <a:prstGeom prst="rect">
            <a:avLst/>
          </a:prstGeom>
          <a:solidFill>
            <a:srgbClr val="F5F7FA"/>
          </a:solidFill>
          <a:ln w="9525">
            <a:solidFill>
              <a:srgbClr val="E3E7ED"/>
            </a:solidFill>
            <a:prstDash val="solid"/>
          </a:ln>
        </p:spPr>
      </p:sp>
      <p:sp>
        <p:nvSpPr>
          <p:cNvPr id="31" name="Text 29"/>
          <p:cNvSpPr/>
          <p:nvPr/>
        </p:nvSpPr>
        <p:spPr>
          <a:xfrm>
            <a:off x="3063240" y="4114800"/>
            <a:ext cx="256032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Manual or Auto Scaling</a:t>
            </a:r>
            <a:endParaRPr lang="en-US" sz="1200" dirty="0"/>
          </a:p>
        </p:txBody>
      </p:sp>
      <p:sp>
        <p:nvSpPr>
          <p:cNvPr id="32" name="Shape 30"/>
          <p:cNvSpPr/>
          <p:nvPr/>
        </p:nvSpPr>
        <p:spPr>
          <a:xfrm>
            <a:off x="5760720" y="4114800"/>
            <a:ext cx="3108960" cy="914400"/>
          </a:xfrm>
          <a:prstGeom prst="rect">
            <a:avLst/>
          </a:prstGeom>
          <a:solidFill>
            <a:srgbClr val="F5F7FA"/>
          </a:solidFill>
          <a:ln w="9525">
            <a:solidFill>
              <a:srgbClr val="E3E7ED"/>
            </a:solidFill>
            <a:prstDash val="solid"/>
          </a:ln>
        </p:spPr>
      </p:sp>
      <p:sp>
        <p:nvSpPr>
          <p:cNvPr id="33" name="Text 31"/>
          <p:cNvSpPr/>
          <p:nvPr/>
        </p:nvSpPr>
        <p:spPr>
          <a:xfrm>
            <a:off x="5897880" y="4114800"/>
            <a:ext cx="283464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Built-in auto scaling</a:t>
            </a:r>
            <a:endParaRPr lang="en-US" sz="1200" dirty="0"/>
          </a:p>
        </p:txBody>
      </p:sp>
      <p:sp>
        <p:nvSpPr>
          <p:cNvPr id="34" name="Shape 32"/>
          <p:cNvSpPr/>
          <p:nvPr/>
        </p:nvSpPr>
        <p:spPr>
          <a:xfrm>
            <a:off x="8869680" y="4114800"/>
            <a:ext cx="2743200" cy="914400"/>
          </a:xfrm>
          <a:prstGeom prst="rect">
            <a:avLst/>
          </a:prstGeom>
          <a:solidFill>
            <a:srgbClr val="F5F7FA"/>
          </a:solidFill>
          <a:ln w="9525">
            <a:solidFill>
              <a:srgbClr val="E3E7ED"/>
            </a:solidFill>
            <a:prstDash val="solid"/>
          </a:ln>
        </p:spPr>
      </p:sp>
      <p:sp>
        <p:nvSpPr>
          <p:cNvPr id="35" name="Text 33"/>
          <p:cNvSpPr/>
          <p:nvPr/>
        </p:nvSpPr>
        <p:spPr>
          <a:xfrm>
            <a:off x="9006840" y="4114800"/>
            <a:ext cx="246888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Instant, automatic</a:t>
            </a:r>
            <a:endParaRPr lang="en-US" sz="1200" dirty="0"/>
          </a:p>
        </p:txBody>
      </p:sp>
      <p:sp>
        <p:nvSpPr>
          <p:cNvPr id="36" name="Shape 34"/>
          <p:cNvSpPr/>
          <p:nvPr/>
        </p:nvSpPr>
        <p:spPr>
          <a:xfrm>
            <a:off x="548640" y="5029200"/>
            <a:ext cx="2377440" cy="914400"/>
          </a:xfrm>
          <a:prstGeom prst="rect">
            <a:avLst/>
          </a:prstGeom>
          <a:solidFill>
            <a:srgbClr val="37475A"/>
          </a:solidFill>
          <a:ln w="9525">
            <a:solidFill>
              <a:srgbClr val="E3E7ED"/>
            </a:solidFill>
            <a:prstDash val="solid"/>
          </a:ln>
        </p:spPr>
      </p:sp>
      <p:sp>
        <p:nvSpPr>
          <p:cNvPr id="37" name="Text 35"/>
          <p:cNvSpPr/>
          <p:nvPr/>
        </p:nvSpPr>
        <p:spPr>
          <a:xfrm>
            <a:off x="685800" y="5029200"/>
            <a:ext cx="2103120" cy="914400"/>
          </a:xfrm>
          <a:prstGeom prst="rect">
            <a:avLst/>
          </a:prstGeom>
          <a:noFill/>
        </p:spPr>
        <p:txBody>
          <a:bodyPr wrap="square" lIns="0" tIns="0" rIns="0" bIns="0" rtlCol="0" anchor="ctr"/>
          <a:lstStyle/>
          <a:p>
            <a:pPr marL="0" indent="0">
              <a:lnSpc>
                <a:spcPct val="110000"/>
              </a:lnSpc>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Best For</a:t>
            </a:r>
            <a:endParaRPr lang="en-US" sz="1200" dirty="0"/>
          </a:p>
        </p:txBody>
      </p:sp>
      <p:sp>
        <p:nvSpPr>
          <p:cNvPr id="38" name="Shape 36"/>
          <p:cNvSpPr/>
          <p:nvPr/>
        </p:nvSpPr>
        <p:spPr>
          <a:xfrm>
            <a:off x="2926080" y="5029200"/>
            <a:ext cx="2834640" cy="914400"/>
          </a:xfrm>
          <a:prstGeom prst="rect">
            <a:avLst/>
          </a:prstGeom>
          <a:solidFill>
            <a:srgbClr val="FFFFFF"/>
          </a:solidFill>
          <a:ln w="9525">
            <a:solidFill>
              <a:srgbClr val="E3E7ED"/>
            </a:solidFill>
            <a:prstDash val="solid"/>
          </a:ln>
        </p:spPr>
      </p:sp>
      <p:sp>
        <p:nvSpPr>
          <p:cNvPr id="39" name="Text 37"/>
          <p:cNvSpPr/>
          <p:nvPr/>
        </p:nvSpPr>
        <p:spPr>
          <a:xfrm>
            <a:off x="3063240" y="5029200"/>
            <a:ext cx="256032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Custom, complex servers</a:t>
            </a:r>
            <a:endParaRPr lang="en-US" sz="1200" dirty="0"/>
          </a:p>
        </p:txBody>
      </p:sp>
      <p:sp>
        <p:nvSpPr>
          <p:cNvPr id="40" name="Shape 38"/>
          <p:cNvSpPr/>
          <p:nvPr/>
        </p:nvSpPr>
        <p:spPr>
          <a:xfrm>
            <a:off x="5760720" y="5029200"/>
            <a:ext cx="3108960" cy="914400"/>
          </a:xfrm>
          <a:prstGeom prst="rect">
            <a:avLst/>
          </a:prstGeom>
          <a:solidFill>
            <a:srgbClr val="FFFFFF"/>
          </a:solidFill>
          <a:ln w="9525">
            <a:solidFill>
              <a:srgbClr val="E3E7ED"/>
            </a:solidFill>
            <a:prstDash val="solid"/>
          </a:ln>
        </p:spPr>
      </p:sp>
      <p:sp>
        <p:nvSpPr>
          <p:cNvPr id="41" name="Text 39"/>
          <p:cNvSpPr/>
          <p:nvPr/>
        </p:nvSpPr>
        <p:spPr>
          <a:xfrm>
            <a:off x="5897880" y="5029200"/>
            <a:ext cx="283464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Standard web apps</a:t>
            </a:r>
            <a:endParaRPr lang="en-US" sz="1200" dirty="0"/>
          </a:p>
        </p:txBody>
      </p:sp>
      <p:sp>
        <p:nvSpPr>
          <p:cNvPr id="42" name="Shape 40"/>
          <p:cNvSpPr/>
          <p:nvPr/>
        </p:nvSpPr>
        <p:spPr>
          <a:xfrm>
            <a:off x="8869680" y="5029200"/>
            <a:ext cx="2743200" cy="914400"/>
          </a:xfrm>
          <a:prstGeom prst="rect">
            <a:avLst/>
          </a:prstGeom>
          <a:solidFill>
            <a:srgbClr val="FFFFFF"/>
          </a:solidFill>
          <a:ln w="9525">
            <a:solidFill>
              <a:srgbClr val="E3E7ED"/>
            </a:solidFill>
            <a:prstDash val="solid"/>
          </a:ln>
        </p:spPr>
      </p:sp>
      <p:sp>
        <p:nvSpPr>
          <p:cNvPr id="43" name="Text 41"/>
          <p:cNvSpPr/>
          <p:nvPr/>
        </p:nvSpPr>
        <p:spPr>
          <a:xfrm>
            <a:off x="9006840" y="5029200"/>
            <a:ext cx="2468880" cy="914400"/>
          </a:xfrm>
          <a:prstGeom prst="rect">
            <a:avLst/>
          </a:prstGeom>
          <a:noFill/>
        </p:spPr>
        <p:txBody>
          <a:bodyPr wrap="square" lIns="0" tIns="0" rIns="0" bIns="0" rtlCol="0" anchor="ctr"/>
          <a:lstStyle/>
          <a:p>
            <a:pPr marL="0" indent="0">
              <a:lnSpc>
                <a:spcPct val="110000"/>
              </a:lnSpc>
              <a:buNone/>
            </a:pPr>
            <a:r>
              <a:rPr lang="en-US" sz="1200" dirty="0">
                <a:solidFill>
                  <a:srgbClr val="232F3E"/>
                </a:solidFill>
                <a:latin typeface="Calibri" panose="020F0502020204030204" pitchFamily="34" charset="0"/>
                <a:ea typeface="Calibri" panose="020F0502020204030204" pitchFamily="34" charset="-122"/>
                <a:cs typeface="Calibri" panose="020F0502020204030204" pitchFamily="34" charset="-120"/>
              </a:rPr>
              <a:t>Event-driven functions</a:t>
            </a:r>
            <a:endParaRPr lang="en-US" sz="1200" dirty="0"/>
          </a:p>
        </p:txBody>
      </p:sp>
      <p:sp>
        <p:nvSpPr>
          <p:cNvPr id="44" name="Text 42"/>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45" name="Text 43"/>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52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PUTTING IT ALL TOGETHER</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Sample Architecture: EC2 + S3 + SNS + Beanstalk</a:t>
            </a:r>
            <a:endParaRPr lang="en-US" sz="3000" dirty="0"/>
          </a:p>
        </p:txBody>
      </p:sp>
      <p:sp>
        <p:nvSpPr>
          <p:cNvPr id="4" name="Shape 2"/>
          <p:cNvSpPr/>
          <p:nvPr/>
        </p:nvSpPr>
        <p:spPr>
          <a:xfrm>
            <a:off x="457200" y="2286000"/>
            <a:ext cx="1828800" cy="914400"/>
          </a:xfrm>
          <a:prstGeom prst="roundRect">
            <a:avLst>
              <a:gd name="adj" fmla="val 8000"/>
            </a:avLst>
          </a:prstGeom>
          <a:solidFill>
            <a:srgbClr val="37475A"/>
          </a:solidFill>
        </p:spPr>
      </p:sp>
      <p:sp>
        <p:nvSpPr>
          <p:cNvPr id="5" name="Shape 3"/>
          <p:cNvSpPr/>
          <p:nvPr/>
        </p:nvSpPr>
        <p:spPr>
          <a:xfrm>
            <a:off x="777240" y="2395728"/>
            <a:ext cx="548640" cy="548640"/>
          </a:xfrm>
          <a:prstGeom prst="ellipse">
            <a:avLst/>
          </a:prstGeom>
          <a:solidFill>
            <a:srgbClr val="FF9900"/>
          </a:solidFill>
        </p:spPr>
      </p:sp>
      <p:pic>
        <p:nvPicPr>
          <p:cNvPr id="6" name="Image 0" descr="/home/claude/icons/users_navy.png"/>
          <p:cNvPicPr>
            <a:picLocks noChangeAspect="1"/>
          </p:cNvPicPr>
          <p:nvPr/>
        </p:nvPicPr>
        <p:blipFill>
          <a:blip r:embed="rId1"/>
          <a:stretch>
            <a:fillRect/>
          </a:stretch>
        </p:blipFill>
        <p:spPr>
          <a:xfrm>
            <a:off x="908914" y="2527402"/>
            <a:ext cx="285293" cy="285293"/>
          </a:xfrm>
          <a:prstGeom prst="rect">
            <a:avLst/>
          </a:prstGeom>
        </p:spPr>
      </p:pic>
      <p:sp>
        <p:nvSpPr>
          <p:cNvPr id="7" name="Text 4"/>
          <p:cNvSpPr/>
          <p:nvPr/>
        </p:nvSpPr>
        <p:spPr>
          <a:xfrm>
            <a:off x="457200" y="2999232"/>
            <a:ext cx="1828800" cy="27432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Users</a:t>
            </a:r>
            <a:endParaRPr lang="en-US" sz="1150" dirty="0"/>
          </a:p>
        </p:txBody>
      </p:sp>
      <p:sp>
        <p:nvSpPr>
          <p:cNvPr id="8" name="Text 5"/>
          <p:cNvSpPr/>
          <p:nvPr/>
        </p:nvSpPr>
        <p:spPr>
          <a:xfrm>
            <a:off x="2331720" y="2606040"/>
            <a:ext cx="502920"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9" name="Shape 6"/>
          <p:cNvSpPr/>
          <p:nvPr/>
        </p:nvSpPr>
        <p:spPr>
          <a:xfrm>
            <a:off x="2880360" y="2286000"/>
            <a:ext cx="2103120" cy="914400"/>
          </a:xfrm>
          <a:prstGeom prst="roundRect">
            <a:avLst>
              <a:gd name="adj" fmla="val 8000"/>
            </a:avLst>
          </a:prstGeom>
          <a:solidFill>
            <a:srgbClr val="FF9900"/>
          </a:solidFill>
        </p:spPr>
      </p:sp>
      <p:sp>
        <p:nvSpPr>
          <p:cNvPr id="10" name="Shape 7"/>
          <p:cNvSpPr/>
          <p:nvPr/>
        </p:nvSpPr>
        <p:spPr>
          <a:xfrm>
            <a:off x="3200400" y="2395728"/>
            <a:ext cx="548640" cy="548640"/>
          </a:xfrm>
          <a:prstGeom prst="ellipse">
            <a:avLst/>
          </a:prstGeom>
          <a:solidFill>
            <a:srgbClr val="232F3E"/>
          </a:solidFill>
        </p:spPr>
      </p:sp>
      <p:pic>
        <p:nvPicPr>
          <p:cNvPr id="11" name="Image 1" descr="/home/claude/icons/rocket_white.png"/>
          <p:cNvPicPr>
            <a:picLocks noChangeAspect="1"/>
          </p:cNvPicPr>
          <p:nvPr/>
        </p:nvPicPr>
        <p:blipFill>
          <a:blip r:embed="rId2"/>
          <a:stretch>
            <a:fillRect/>
          </a:stretch>
        </p:blipFill>
        <p:spPr>
          <a:xfrm>
            <a:off x="3332074" y="2527402"/>
            <a:ext cx="285293" cy="285293"/>
          </a:xfrm>
          <a:prstGeom prst="rect">
            <a:avLst/>
          </a:prstGeom>
        </p:spPr>
      </p:pic>
      <p:sp>
        <p:nvSpPr>
          <p:cNvPr id="12" name="Text 8"/>
          <p:cNvSpPr/>
          <p:nvPr/>
        </p:nvSpPr>
        <p:spPr>
          <a:xfrm>
            <a:off x="2880360" y="2999232"/>
            <a:ext cx="2103120" cy="274320"/>
          </a:xfrm>
          <a:prstGeom prst="rect">
            <a:avLst/>
          </a:prstGeom>
          <a:noFill/>
        </p:spPr>
        <p:txBody>
          <a:bodyPr wrap="square" lIns="0" tIns="0" rIns="0" bIns="0" rtlCol="0" anchor="ctr"/>
          <a:lstStyle/>
          <a:p>
            <a:pPr marL="0" indent="0" algn="ctr">
              <a:buNone/>
            </a:pPr>
            <a:r>
              <a:rPr lang="en-US" sz="1050" b="1" dirty="0">
                <a:solidFill>
                  <a:srgbClr val="232F3E"/>
                </a:solidFill>
                <a:latin typeface="Calibri" panose="020F0502020204030204" pitchFamily="34" charset="0"/>
                <a:ea typeface="Calibri" panose="020F0502020204030204" pitchFamily="34" charset="-122"/>
                <a:cs typeface="Calibri" panose="020F0502020204030204" pitchFamily="34" charset="-120"/>
              </a:rPr>
              <a:t>Elastic Beanstalk</a:t>
            </a:r>
            <a:endParaRPr lang="en-US" sz="1050" dirty="0"/>
          </a:p>
        </p:txBody>
      </p:sp>
      <p:sp>
        <p:nvSpPr>
          <p:cNvPr id="13" name="Text 9"/>
          <p:cNvSpPr/>
          <p:nvPr/>
        </p:nvSpPr>
        <p:spPr>
          <a:xfrm>
            <a:off x="5029200" y="2606040"/>
            <a:ext cx="502920"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4" name="Shape 10"/>
          <p:cNvSpPr/>
          <p:nvPr/>
        </p:nvSpPr>
        <p:spPr>
          <a:xfrm>
            <a:off x="5577840" y="2286000"/>
            <a:ext cx="2011680" cy="914400"/>
          </a:xfrm>
          <a:prstGeom prst="roundRect">
            <a:avLst>
              <a:gd name="adj" fmla="val 8000"/>
            </a:avLst>
          </a:prstGeom>
          <a:solidFill>
            <a:srgbClr val="37475A"/>
          </a:solidFill>
        </p:spPr>
      </p:sp>
      <p:sp>
        <p:nvSpPr>
          <p:cNvPr id="15" name="Shape 11"/>
          <p:cNvSpPr/>
          <p:nvPr/>
        </p:nvSpPr>
        <p:spPr>
          <a:xfrm>
            <a:off x="5897880" y="2395728"/>
            <a:ext cx="548640" cy="548640"/>
          </a:xfrm>
          <a:prstGeom prst="ellipse">
            <a:avLst/>
          </a:prstGeom>
          <a:solidFill>
            <a:srgbClr val="FF9900"/>
          </a:solidFill>
        </p:spPr>
      </p:sp>
      <p:pic>
        <p:nvPicPr>
          <p:cNvPr id="16" name="Image 2" descr="/home/claude/icons/server_navy.png"/>
          <p:cNvPicPr>
            <a:picLocks noChangeAspect="1"/>
          </p:cNvPicPr>
          <p:nvPr/>
        </p:nvPicPr>
        <p:blipFill>
          <a:blip r:embed="rId3"/>
          <a:stretch>
            <a:fillRect/>
          </a:stretch>
        </p:blipFill>
        <p:spPr>
          <a:xfrm>
            <a:off x="6029554" y="2527402"/>
            <a:ext cx="285293" cy="285293"/>
          </a:xfrm>
          <a:prstGeom prst="rect">
            <a:avLst/>
          </a:prstGeom>
        </p:spPr>
      </p:pic>
      <p:sp>
        <p:nvSpPr>
          <p:cNvPr id="17" name="Text 12"/>
          <p:cNvSpPr/>
          <p:nvPr/>
        </p:nvSpPr>
        <p:spPr>
          <a:xfrm>
            <a:off x="5577840" y="2999232"/>
            <a:ext cx="2011680" cy="27432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EC2 Instances</a:t>
            </a:r>
            <a:endParaRPr lang="en-US" sz="1100" dirty="0"/>
          </a:p>
        </p:txBody>
      </p:sp>
      <p:sp>
        <p:nvSpPr>
          <p:cNvPr id="18" name="Text 13"/>
          <p:cNvSpPr/>
          <p:nvPr/>
        </p:nvSpPr>
        <p:spPr>
          <a:xfrm>
            <a:off x="6309360" y="3246120"/>
            <a:ext cx="548640"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9" name="Shape 14"/>
          <p:cNvSpPr/>
          <p:nvPr/>
        </p:nvSpPr>
        <p:spPr>
          <a:xfrm>
            <a:off x="5577840" y="3794760"/>
            <a:ext cx="2011680" cy="914400"/>
          </a:xfrm>
          <a:prstGeom prst="roundRect">
            <a:avLst>
              <a:gd name="adj" fmla="val 8000"/>
            </a:avLst>
          </a:prstGeom>
          <a:solidFill>
            <a:srgbClr val="37475A"/>
          </a:solidFill>
        </p:spPr>
      </p:sp>
      <p:sp>
        <p:nvSpPr>
          <p:cNvPr id="20" name="Shape 15"/>
          <p:cNvSpPr/>
          <p:nvPr/>
        </p:nvSpPr>
        <p:spPr>
          <a:xfrm>
            <a:off x="5897880" y="3904488"/>
            <a:ext cx="548640" cy="548640"/>
          </a:xfrm>
          <a:prstGeom prst="ellipse">
            <a:avLst/>
          </a:prstGeom>
          <a:solidFill>
            <a:srgbClr val="FF9900"/>
          </a:solidFill>
        </p:spPr>
      </p:sp>
      <p:pic>
        <p:nvPicPr>
          <p:cNvPr id="21" name="Image 3" descr="/home/claude/icons/database_navy.png"/>
          <p:cNvPicPr>
            <a:picLocks noChangeAspect="1"/>
          </p:cNvPicPr>
          <p:nvPr/>
        </p:nvPicPr>
        <p:blipFill>
          <a:blip r:embed="rId4"/>
          <a:stretch>
            <a:fillRect/>
          </a:stretch>
        </p:blipFill>
        <p:spPr>
          <a:xfrm>
            <a:off x="6029554" y="4036162"/>
            <a:ext cx="285293" cy="285293"/>
          </a:xfrm>
          <a:prstGeom prst="rect">
            <a:avLst/>
          </a:prstGeom>
        </p:spPr>
      </p:pic>
      <p:sp>
        <p:nvSpPr>
          <p:cNvPr id="22" name="Text 16"/>
          <p:cNvSpPr/>
          <p:nvPr/>
        </p:nvSpPr>
        <p:spPr>
          <a:xfrm>
            <a:off x="5577840" y="4507992"/>
            <a:ext cx="2011680" cy="27432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S3 (Storage)</a:t>
            </a:r>
            <a:endParaRPr lang="en-US" sz="1100" dirty="0"/>
          </a:p>
        </p:txBody>
      </p:sp>
      <p:sp>
        <p:nvSpPr>
          <p:cNvPr id="23" name="Text 17"/>
          <p:cNvSpPr/>
          <p:nvPr/>
        </p:nvSpPr>
        <p:spPr>
          <a:xfrm>
            <a:off x="7680960" y="2606040"/>
            <a:ext cx="502920"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4" name="Shape 18"/>
          <p:cNvSpPr/>
          <p:nvPr/>
        </p:nvSpPr>
        <p:spPr>
          <a:xfrm>
            <a:off x="8229600" y="2286000"/>
            <a:ext cx="1920240" cy="914400"/>
          </a:xfrm>
          <a:prstGeom prst="roundRect">
            <a:avLst>
              <a:gd name="adj" fmla="val 8000"/>
            </a:avLst>
          </a:prstGeom>
          <a:solidFill>
            <a:srgbClr val="37475A"/>
          </a:solidFill>
        </p:spPr>
      </p:sp>
      <p:sp>
        <p:nvSpPr>
          <p:cNvPr id="25" name="Shape 19"/>
          <p:cNvSpPr/>
          <p:nvPr/>
        </p:nvSpPr>
        <p:spPr>
          <a:xfrm>
            <a:off x="8549640" y="2395728"/>
            <a:ext cx="548640" cy="548640"/>
          </a:xfrm>
          <a:prstGeom prst="ellipse">
            <a:avLst/>
          </a:prstGeom>
          <a:solidFill>
            <a:srgbClr val="FF9900"/>
          </a:solidFill>
        </p:spPr>
      </p:sp>
      <p:pic>
        <p:nvPicPr>
          <p:cNvPr id="26" name="Image 4" descr="/home/claude/icons/bell_navy.png"/>
          <p:cNvPicPr>
            <a:picLocks noChangeAspect="1"/>
          </p:cNvPicPr>
          <p:nvPr/>
        </p:nvPicPr>
        <p:blipFill>
          <a:blip r:embed="rId5"/>
          <a:stretch>
            <a:fillRect/>
          </a:stretch>
        </p:blipFill>
        <p:spPr>
          <a:xfrm>
            <a:off x="8681314" y="2527402"/>
            <a:ext cx="285293" cy="285293"/>
          </a:xfrm>
          <a:prstGeom prst="rect">
            <a:avLst/>
          </a:prstGeom>
        </p:spPr>
      </p:pic>
      <p:sp>
        <p:nvSpPr>
          <p:cNvPr id="27" name="Text 20"/>
          <p:cNvSpPr/>
          <p:nvPr/>
        </p:nvSpPr>
        <p:spPr>
          <a:xfrm>
            <a:off x="8229600" y="2999232"/>
            <a:ext cx="1920240" cy="27432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SNS Topic</a:t>
            </a:r>
            <a:endParaRPr lang="en-US" sz="1150" dirty="0"/>
          </a:p>
        </p:txBody>
      </p:sp>
      <p:sp>
        <p:nvSpPr>
          <p:cNvPr id="28" name="Text 21"/>
          <p:cNvSpPr/>
          <p:nvPr/>
        </p:nvSpPr>
        <p:spPr>
          <a:xfrm>
            <a:off x="10195560" y="2606040"/>
            <a:ext cx="502920" cy="457200"/>
          </a:xfrm>
          <a:prstGeom prst="rect">
            <a:avLst/>
          </a:prstGeom>
          <a:noFill/>
        </p:spPr>
        <p:txBody>
          <a:bodyPr wrap="square" lIns="0" tIns="0" rIns="0" bIns="0" rtlCol="0" anchor="ctr"/>
          <a:lstStyle/>
          <a:p>
            <a:pPr marL="0" indent="0" algn="ctr">
              <a:buNone/>
            </a:pPr>
            <a:r>
              <a:rPr lang="en-US" sz="2000" b="1" dirty="0">
                <a:solidFill>
                  <a:srgbClr val="FF990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9" name="Shape 22"/>
          <p:cNvSpPr/>
          <p:nvPr/>
        </p:nvSpPr>
        <p:spPr>
          <a:xfrm>
            <a:off x="10744200" y="2286000"/>
            <a:ext cx="960120" cy="914400"/>
          </a:xfrm>
          <a:prstGeom prst="roundRect">
            <a:avLst>
              <a:gd name="adj" fmla="val 8000"/>
            </a:avLst>
          </a:prstGeom>
          <a:solidFill>
            <a:srgbClr val="37475A"/>
          </a:solidFill>
        </p:spPr>
      </p:sp>
      <p:sp>
        <p:nvSpPr>
          <p:cNvPr id="30" name="Shape 23"/>
          <p:cNvSpPr/>
          <p:nvPr/>
        </p:nvSpPr>
        <p:spPr>
          <a:xfrm>
            <a:off x="10881360" y="2395728"/>
            <a:ext cx="548640" cy="548640"/>
          </a:xfrm>
          <a:prstGeom prst="ellipse">
            <a:avLst/>
          </a:prstGeom>
          <a:solidFill>
            <a:srgbClr val="FF9900"/>
          </a:solidFill>
        </p:spPr>
      </p:sp>
      <p:pic>
        <p:nvPicPr>
          <p:cNvPr id="31" name="Image 5" descr="/home/claude/icons/users_navy.png"/>
          <p:cNvPicPr>
            <a:picLocks noChangeAspect="1"/>
          </p:cNvPicPr>
          <p:nvPr/>
        </p:nvPicPr>
        <p:blipFill>
          <a:blip r:embed="rId1"/>
          <a:stretch>
            <a:fillRect/>
          </a:stretch>
        </p:blipFill>
        <p:spPr>
          <a:xfrm>
            <a:off x="11013034" y="2527402"/>
            <a:ext cx="285293" cy="285293"/>
          </a:xfrm>
          <a:prstGeom prst="rect">
            <a:avLst/>
          </a:prstGeom>
        </p:spPr>
      </p:pic>
      <p:sp>
        <p:nvSpPr>
          <p:cNvPr id="32" name="Text 24"/>
          <p:cNvSpPr/>
          <p:nvPr/>
        </p:nvSpPr>
        <p:spPr>
          <a:xfrm>
            <a:off x="10744200" y="2999232"/>
            <a:ext cx="96012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Admins</a:t>
            </a:r>
            <a:endParaRPr lang="en-US" sz="950" dirty="0"/>
          </a:p>
        </p:txBody>
      </p:sp>
      <p:sp>
        <p:nvSpPr>
          <p:cNvPr id="33" name="Shape 25"/>
          <p:cNvSpPr/>
          <p:nvPr/>
        </p:nvSpPr>
        <p:spPr>
          <a:xfrm>
            <a:off x="548640" y="5257800"/>
            <a:ext cx="11064240" cy="1051560"/>
          </a:xfrm>
          <a:prstGeom prst="roundRect">
            <a:avLst>
              <a:gd name="adj" fmla="val 6957"/>
            </a:avLst>
          </a:prstGeom>
          <a:solidFill>
            <a:srgbClr val="37475A"/>
          </a:solidFill>
        </p:spPr>
      </p:sp>
      <p:sp>
        <p:nvSpPr>
          <p:cNvPr id="34" name="Text 26"/>
          <p:cNvSpPr/>
          <p:nvPr/>
        </p:nvSpPr>
        <p:spPr>
          <a:xfrm>
            <a:off x="822960" y="5257800"/>
            <a:ext cx="10515600" cy="1051560"/>
          </a:xfrm>
          <a:prstGeom prst="rect">
            <a:avLst/>
          </a:prstGeom>
          <a:noFill/>
        </p:spPr>
        <p:txBody>
          <a:bodyPr wrap="square" lIns="0" tIns="0" rIns="0" bIns="0" rtlCol="0" anchor="ctr"/>
          <a:lstStyle/>
          <a:p>
            <a:pPr marL="0" indent="0">
              <a:lnSpc>
                <a:spcPct val="120000"/>
              </a:lnSpc>
              <a:buNone/>
            </a:pPr>
            <a:r>
              <a:rPr lang="en-US" sz="1250" i="1" dirty="0">
                <a:solidFill>
                  <a:srgbClr val="FFFFFF"/>
                </a:solidFill>
                <a:latin typeface="Calibri" panose="020F0502020204030204" pitchFamily="34" charset="0"/>
                <a:ea typeface="Calibri" panose="020F0502020204030204" pitchFamily="34" charset="-122"/>
                <a:cs typeface="Calibri" panose="020F0502020204030204" pitchFamily="34" charset="-120"/>
              </a:rPr>
              <a:t>Flow: Beanstalk deploys the app onto EC2 → the app reads/writes files to S3 → on key events (e.g., new order), EC2 publishes to an SNS topic → subscribed admins/services are notified instantly.</a:t>
            </a:r>
            <a:endParaRPr lang="en-US" sz="1250" dirty="0"/>
          </a:p>
        </p:txBody>
      </p:sp>
      <p:sp>
        <p:nvSpPr>
          <p:cNvPr id="35" name="Text 27"/>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36" name="Text 28"/>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53</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37475A"/>
          </a:solidFill>
        </p:spPr>
      </p:sp>
      <p:sp>
        <p:nvSpPr>
          <p:cNvPr id="3" name="Shape 1"/>
          <p:cNvSpPr/>
          <p:nvPr/>
        </p:nvSpPr>
        <p:spPr>
          <a:xfrm>
            <a:off x="-1280160" y="4937760"/>
            <a:ext cx="3291840" cy="3291840"/>
          </a:xfrm>
          <a:prstGeom prst="ellipse">
            <a:avLst/>
          </a:prstGeom>
          <a:solidFill>
            <a:srgbClr val="37475A"/>
          </a:solidFill>
        </p:spPr>
      </p:sp>
      <p:sp>
        <p:nvSpPr>
          <p:cNvPr id="4" name="Shape 2"/>
          <p:cNvSpPr/>
          <p:nvPr/>
        </p:nvSpPr>
        <p:spPr>
          <a:xfrm>
            <a:off x="822960" y="1965960"/>
            <a:ext cx="1051560" cy="1051560"/>
          </a:xfrm>
          <a:prstGeom prst="ellipse">
            <a:avLst/>
          </a:prstGeom>
          <a:solidFill>
            <a:srgbClr val="FF9900"/>
          </a:solidFill>
        </p:spPr>
      </p:sp>
      <p:pic>
        <p:nvPicPr>
          <p:cNvPr id="5" name="Image 0" descr="/home/claude/icons/handshake_navy.png"/>
          <p:cNvPicPr>
            <a:picLocks noChangeAspect="1"/>
          </p:cNvPicPr>
          <p:nvPr/>
        </p:nvPicPr>
        <p:blipFill>
          <a:blip r:embed="rId1"/>
          <a:stretch>
            <a:fillRect/>
          </a:stretch>
        </p:blipFill>
        <p:spPr>
          <a:xfrm>
            <a:off x="1075334" y="2218334"/>
            <a:ext cx="546811" cy="546811"/>
          </a:xfrm>
          <a:prstGeom prst="rect">
            <a:avLst/>
          </a:prstGeom>
        </p:spPr>
      </p:pic>
      <p:sp>
        <p:nvSpPr>
          <p:cNvPr id="6" name="Text 3"/>
          <p:cNvSpPr/>
          <p:nvPr/>
        </p:nvSpPr>
        <p:spPr>
          <a:xfrm>
            <a:off x="822960" y="3200400"/>
            <a:ext cx="7315200" cy="365760"/>
          </a:xfrm>
          <a:prstGeom prst="rect">
            <a:avLst/>
          </a:prstGeom>
          <a:noFill/>
        </p:spPr>
        <p:txBody>
          <a:bodyPr wrap="square" lIns="0" tIns="0" rIns="0" bIns="0" rtlCol="0" anchor="ctr"/>
          <a:lstStyle/>
          <a:p>
            <a:pPr marL="0" indent="0">
              <a:buNone/>
            </a:pPr>
            <a:r>
              <a:rPr lang="en-US" sz="1500" b="1" kern="0" spc="3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8</a:t>
            </a:r>
            <a:endParaRPr lang="en-US" sz="1500" dirty="0"/>
          </a:p>
        </p:txBody>
      </p:sp>
      <p:sp>
        <p:nvSpPr>
          <p:cNvPr id="7" name="Text 4"/>
          <p:cNvSpPr/>
          <p:nvPr/>
        </p:nvSpPr>
        <p:spPr>
          <a:xfrm>
            <a:off x="777240" y="3566160"/>
            <a:ext cx="9601200" cy="1188720"/>
          </a:xfrm>
          <a:prstGeom prst="rect">
            <a:avLst/>
          </a:prstGeom>
          <a:noFill/>
        </p:spPr>
        <p:txBody>
          <a:bodyPr wrap="square" lIns="0" tIns="0" rIns="0" bIns="0" rtlCol="0" anchor="ctr"/>
          <a:lstStyle/>
          <a:p>
            <a:pPr marL="0" indent="0">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Wrap-Up</a:t>
            </a:r>
            <a:endParaRPr lang="en-US" sz="4200" dirty="0"/>
          </a:p>
        </p:txBody>
      </p:sp>
      <p:sp>
        <p:nvSpPr>
          <p:cNvPr id="8" name="Text 5"/>
          <p:cNvSpPr/>
          <p:nvPr/>
        </p:nvSpPr>
        <p:spPr>
          <a:xfrm>
            <a:off x="822960" y="4709160"/>
            <a:ext cx="8686800" cy="548640"/>
          </a:xfrm>
          <a:prstGeom prst="rect">
            <a:avLst/>
          </a:prstGeom>
          <a:noFill/>
        </p:spPr>
        <p:txBody>
          <a:bodyPr wrap="square" lIns="0" tIns="0" rIns="0" bIns="0"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Case studies, careers, takeaways, and open discussion</a:t>
            </a:r>
            <a:endParaRPr lang="en-US" sz="1600" dirty="0"/>
          </a:p>
        </p:txBody>
      </p:sp>
      <p:sp>
        <p:nvSpPr>
          <p:cNvPr id="9" name="Text 6"/>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0" name="Text 7"/>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54</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8 · WRAP-UP</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Real-World Case Studies on AWS</a:t>
            </a:r>
            <a:endParaRPr lang="en-US" sz="3000" dirty="0"/>
          </a:p>
        </p:txBody>
      </p:sp>
      <p:sp>
        <p:nvSpPr>
          <p:cNvPr id="4" name="Shape 2"/>
          <p:cNvSpPr/>
          <p:nvPr/>
        </p:nvSpPr>
        <p:spPr>
          <a:xfrm>
            <a:off x="548640" y="1737360"/>
            <a:ext cx="5349240" cy="1920240"/>
          </a:xfrm>
          <a:prstGeom prst="roundRect">
            <a:avLst>
              <a:gd name="adj" fmla="val 4762"/>
            </a:avLst>
          </a:prstGeom>
          <a:solidFill>
            <a:srgbClr val="F5F7FA"/>
          </a:solidFill>
        </p:spPr>
      </p:sp>
      <p:sp>
        <p:nvSpPr>
          <p:cNvPr id="5" name="Shape 3"/>
          <p:cNvSpPr/>
          <p:nvPr/>
        </p:nvSpPr>
        <p:spPr>
          <a:xfrm>
            <a:off x="822960" y="1993392"/>
            <a:ext cx="731520" cy="731520"/>
          </a:xfrm>
          <a:prstGeom prst="ellipse">
            <a:avLst/>
          </a:prstGeom>
          <a:solidFill>
            <a:srgbClr val="232F3E"/>
          </a:solidFill>
        </p:spPr>
      </p:sp>
      <p:pic>
        <p:nvPicPr>
          <p:cNvPr id="6" name="Image 0" descr="/home/claude/icons/laptop_orange.png"/>
          <p:cNvPicPr>
            <a:picLocks noChangeAspect="1"/>
          </p:cNvPicPr>
          <p:nvPr/>
        </p:nvPicPr>
        <p:blipFill>
          <a:blip r:embed="rId1"/>
          <a:stretch>
            <a:fillRect/>
          </a:stretch>
        </p:blipFill>
        <p:spPr>
          <a:xfrm>
            <a:off x="998525" y="2168957"/>
            <a:ext cx="380390" cy="380390"/>
          </a:xfrm>
          <a:prstGeom prst="rect">
            <a:avLst/>
          </a:prstGeom>
        </p:spPr>
      </p:pic>
      <p:sp>
        <p:nvSpPr>
          <p:cNvPr id="7" name="Text 4"/>
          <p:cNvSpPr/>
          <p:nvPr/>
        </p:nvSpPr>
        <p:spPr>
          <a:xfrm>
            <a:off x="1737360" y="2011680"/>
            <a:ext cx="393192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Netflix</a:t>
            </a:r>
            <a:endParaRPr lang="en-US" sz="1550" dirty="0"/>
          </a:p>
        </p:txBody>
      </p:sp>
      <p:sp>
        <p:nvSpPr>
          <p:cNvPr id="8" name="Text 5"/>
          <p:cNvSpPr/>
          <p:nvPr/>
        </p:nvSpPr>
        <p:spPr>
          <a:xfrm>
            <a:off x="1737360" y="2395728"/>
            <a:ext cx="3931920" cy="1143000"/>
          </a:xfrm>
          <a:prstGeom prst="rect">
            <a:avLst/>
          </a:prstGeom>
          <a:noFill/>
        </p:spPr>
        <p:txBody>
          <a:bodyPr wrap="square" lIns="0" tIns="0" rIns="0" bIns="0" rtlCol="0" anchor="ctr"/>
          <a:lstStyle/>
          <a:p>
            <a:pPr marL="0" indent="0">
              <a:lnSpc>
                <a:spcPct val="115000"/>
              </a:lnSpc>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Streams to 260M+ subscribers using EC2, S3 and hundreds of AWS services for global delivery</a:t>
            </a:r>
            <a:endParaRPr lang="en-US" sz="1150" dirty="0"/>
          </a:p>
        </p:txBody>
      </p:sp>
      <p:sp>
        <p:nvSpPr>
          <p:cNvPr id="9" name="Shape 6"/>
          <p:cNvSpPr/>
          <p:nvPr/>
        </p:nvSpPr>
        <p:spPr>
          <a:xfrm>
            <a:off x="6172200" y="1737360"/>
            <a:ext cx="5349240" cy="1920240"/>
          </a:xfrm>
          <a:prstGeom prst="roundRect">
            <a:avLst>
              <a:gd name="adj" fmla="val 4762"/>
            </a:avLst>
          </a:prstGeom>
          <a:solidFill>
            <a:srgbClr val="F5F7FA"/>
          </a:solidFill>
        </p:spPr>
      </p:sp>
      <p:sp>
        <p:nvSpPr>
          <p:cNvPr id="10" name="Shape 7"/>
          <p:cNvSpPr/>
          <p:nvPr/>
        </p:nvSpPr>
        <p:spPr>
          <a:xfrm>
            <a:off x="6446520" y="1993392"/>
            <a:ext cx="731520" cy="731520"/>
          </a:xfrm>
          <a:prstGeom prst="ellipse">
            <a:avLst/>
          </a:prstGeom>
          <a:solidFill>
            <a:srgbClr val="232F3E"/>
          </a:solidFill>
        </p:spPr>
      </p:sp>
      <p:pic>
        <p:nvPicPr>
          <p:cNvPr id="11" name="Image 1" descr="/home/claude/icons/chart_orange.png"/>
          <p:cNvPicPr>
            <a:picLocks noChangeAspect="1"/>
          </p:cNvPicPr>
          <p:nvPr/>
        </p:nvPicPr>
        <p:blipFill>
          <a:blip r:embed="rId2"/>
          <a:stretch>
            <a:fillRect/>
          </a:stretch>
        </p:blipFill>
        <p:spPr>
          <a:xfrm>
            <a:off x="6622085" y="2168957"/>
            <a:ext cx="380390" cy="380390"/>
          </a:xfrm>
          <a:prstGeom prst="rect">
            <a:avLst/>
          </a:prstGeom>
        </p:spPr>
      </p:pic>
      <p:sp>
        <p:nvSpPr>
          <p:cNvPr id="12" name="Text 8"/>
          <p:cNvSpPr/>
          <p:nvPr/>
        </p:nvSpPr>
        <p:spPr>
          <a:xfrm>
            <a:off x="7360920" y="2011680"/>
            <a:ext cx="393192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Airbnb</a:t>
            </a:r>
            <a:endParaRPr lang="en-US" sz="1550" dirty="0"/>
          </a:p>
        </p:txBody>
      </p:sp>
      <p:sp>
        <p:nvSpPr>
          <p:cNvPr id="13" name="Text 9"/>
          <p:cNvSpPr/>
          <p:nvPr/>
        </p:nvSpPr>
        <p:spPr>
          <a:xfrm>
            <a:off x="7360920" y="2395728"/>
            <a:ext cx="3931920" cy="1143000"/>
          </a:xfrm>
          <a:prstGeom prst="rect">
            <a:avLst/>
          </a:prstGeom>
          <a:noFill/>
        </p:spPr>
        <p:txBody>
          <a:bodyPr wrap="square" lIns="0" tIns="0" rIns="0" bIns="0" rtlCol="0" anchor="ctr"/>
          <a:lstStyle/>
          <a:p>
            <a:pPr marL="0" indent="0">
              <a:lnSpc>
                <a:spcPct val="115000"/>
              </a:lnSpc>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Runs its entire booking platform on AWS, scaling instantly during demand spikes</a:t>
            </a:r>
            <a:endParaRPr lang="en-US" sz="1150" dirty="0"/>
          </a:p>
        </p:txBody>
      </p:sp>
      <p:sp>
        <p:nvSpPr>
          <p:cNvPr id="14" name="Shape 10"/>
          <p:cNvSpPr/>
          <p:nvPr/>
        </p:nvSpPr>
        <p:spPr>
          <a:xfrm>
            <a:off x="548640" y="3886200"/>
            <a:ext cx="5349240" cy="1920240"/>
          </a:xfrm>
          <a:prstGeom prst="roundRect">
            <a:avLst>
              <a:gd name="adj" fmla="val 4762"/>
            </a:avLst>
          </a:prstGeom>
          <a:solidFill>
            <a:srgbClr val="F5F7FA"/>
          </a:solidFill>
        </p:spPr>
      </p:sp>
      <p:sp>
        <p:nvSpPr>
          <p:cNvPr id="15" name="Shape 11"/>
          <p:cNvSpPr/>
          <p:nvPr/>
        </p:nvSpPr>
        <p:spPr>
          <a:xfrm>
            <a:off x="822960" y="4142232"/>
            <a:ext cx="731520" cy="731520"/>
          </a:xfrm>
          <a:prstGeom prst="ellipse">
            <a:avLst/>
          </a:prstGeom>
          <a:solidFill>
            <a:srgbClr val="232F3E"/>
          </a:solidFill>
        </p:spPr>
      </p:sp>
      <p:pic>
        <p:nvPicPr>
          <p:cNvPr id="16" name="Image 2" descr="/home/claude/icons/cogs_orange.png"/>
          <p:cNvPicPr>
            <a:picLocks noChangeAspect="1"/>
          </p:cNvPicPr>
          <p:nvPr/>
        </p:nvPicPr>
        <p:blipFill>
          <a:blip r:embed="rId3"/>
          <a:stretch>
            <a:fillRect/>
          </a:stretch>
        </p:blipFill>
        <p:spPr>
          <a:xfrm>
            <a:off x="998525" y="4317797"/>
            <a:ext cx="380390" cy="380390"/>
          </a:xfrm>
          <a:prstGeom prst="rect">
            <a:avLst/>
          </a:prstGeom>
        </p:spPr>
      </p:pic>
      <p:sp>
        <p:nvSpPr>
          <p:cNvPr id="17" name="Text 12"/>
          <p:cNvSpPr/>
          <p:nvPr/>
        </p:nvSpPr>
        <p:spPr>
          <a:xfrm>
            <a:off x="1737360" y="4160520"/>
            <a:ext cx="393192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NASA JPL</a:t>
            </a:r>
            <a:endParaRPr lang="en-US" sz="1550" dirty="0"/>
          </a:p>
        </p:txBody>
      </p:sp>
      <p:sp>
        <p:nvSpPr>
          <p:cNvPr id="18" name="Text 13"/>
          <p:cNvSpPr/>
          <p:nvPr/>
        </p:nvSpPr>
        <p:spPr>
          <a:xfrm>
            <a:off x="1737360" y="4544568"/>
            <a:ext cx="3931920" cy="1143000"/>
          </a:xfrm>
          <a:prstGeom prst="rect">
            <a:avLst/>
          </a:prstGeom>
          <a:noFill/>
        </p:spPr>
        <p:txBody>
          <a:bodyPr wrap="square" lIns="0" tIns="0" rIns="0" bIns="0" rtlCol="0" anchor="ctr"/>
          <a:lstStyle/>
          <a:p>
            <a:pPr marL="0" indent="0">
              <a:lnSpc>
                <a:spcPct val="115000"/>
              </a:lnSpc>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Used S3 and EC2 to handle massive image traffic during the Mars rover landings</a:t>
            </a:r>
            <a:endParaRPr lang="en-US" sz="1150" dirty="0"/>
          </a:p>
        </p:txBody>
      </p:sp>
      <p:sp>
        <p:nvSpPr>
          <p:cNvPr id="19" name="Shape 14"/>
          <p:cNvSpPr/>
          <p:nvPr/>
        </p:nvSpPr>
        <p:spPr>
          <a:xfrm>
            <a:off x="6172200" y="3886200"/>
            <a:ext cx="5349240" cy="1920240"/>
          </a:xfrm>
          <a:prstGeom prst="roundRect">
            <a:avLst>
              <a:gd name="adj" fmla="val 4762"/>
            </a:avLst>
          </a:prstGeom>
          <a:solidFill>
            <a:srgbClr val="F5F7FA"/>
          </a:solidFill>
        </p:spPr>
      </p:sp>
      <p:sp>
        <p:nvSpPr>
          <p:cNvPr id="20" name="Shape 15"/>
          <p:cNvSpPr/>
          <p:nvPr/>
        </p:nvSpPr>
        <p:spPr>
          <a:xfrm>
            <a:off x="6446520" y="4142232"/>
            <a:ext cx="731520" cy="731520"/>
          </a:xfrm>
          <a:prstGeom prst="ellipse">
            <a:avLst/>
          </a:prstGeom>
          <a:solidFill>
            <a:srgbClr val="232F3E"/>
          </a:solidFill>
        </p:spPr>
      </p:sp>
      <p:pic>
        <p:nvPicPr>
          <p:cNvPr id="21" name="Image 3" descr="/home/claude/icons/users_orange.png"/>
          <p:cNvPicPr>
            <a:picLocks noChangeAspect="1"/>
          </p:cNvPicPr>
          <p:nvPr/>
        </p:nvPicPr>
        <p:blipFill>
          <a:blip r:embed="rId4"/>
          <a:stretch>
            <a:fillRect/>
          </a:stretch>
        </p:blipFill>
        <p:spPr>
          <a:xfrm>
            <a:off x="6622085" y="4317797"/>
            <a:ext cx="380390" cy="380390"/>
          </a:xfrm>
          <a:prstGeom prst="rect">
            <a:avLst/>
          </a:prstGeom>
        </p:spPr>
      </p:pic>
      <p:sp>
        <p:nvSpPr>
          <p:cNvPr id="22" name="Text 16"/>
          <p:cNvSpPr/>
          <p:nvPr/>
        </p:nvSpPr>
        <p:spPr>
          <a:xfrm>
            <a:off x="7360920" y="4160520"/>
            <a:ext cx="3931920" cy="365760"/>
          </a:xfrm>
          <a:prstGeom prst="rect">
            <a:avLst/>
          </a:prstGeom>
          <a:noFill/>
        </p:spPr>
        <p:txBody>
          <a:bodyPr wrap="square" lIns="0" tIns="0" rIns="0" bIns="0" rtlCol="0" anchor="ctr"/>
          <a:lstStyle/>
          <a:p>
            <a:pPr marL="0" indent="0">
              <a:buNone/>
            </a:pPr>
            <a:r>
              <a:rPr lang="en-US" sz="1550" b="1" dirty="0">
                <a:solidFill>
                  <a:srgbClr val="232F3E"/>
                </a:solidFill>
                <a:latin typeface="Calibri" panose="020F0502020204030204" pitchFamily="34" charset="0"/>
                <a:ea typeface="Calibri" panose="020F0502020204030204" pitchFamily="34" charset="-122"/>
                <a:cs typeface="Calibri" panose="020F0502020204030204" pitchFamily="34" charset="-120"/>
              </a:rPr>
              <a:t>Zomato / Swiggy-scale apps</a:t>
            </a:r>
            <a:endParaRPr lang="en-US" sz="1550" dirty="0"/>
          </a:p>
        </p:txBody>
      </p:sp>
      <p:sp>
        <p:nvSpPr>
          <p:cNvPr id="23" name="Text 17"/>
          <p:cNvSpPr/>
          <p:nvPr/>
        </p:nvSpPr>
        <p:spPr>
          <a:xfrm>
            <a:off x="7360920" y="4544568"/>
            <a:ext cx="3931920" cy="1143000"/>
          </a:xfrm>
          <a:prstGeom prst="rect">
            <a:avLst/>
          </a:prstGeom>
          <a:noFill/>
        </p:spPr>
        <p:txBody>
          <a:bodyPr wrap="square" lIns="0" tIns="0" rIns="0" bIns="0" rtlCol="0" anchor="ctr"/>
          <a:lstStyle/>
          <a:p>
            <a:pPr marL="0" indent="0">
              <a:lnSpc>
                <a:spcPct val="115000"/>
              </a:lnSpc>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Typical food-delivery platforms rely on EC2 + S3 + SNS for order alerts and storage</a:t>
            </a:r>
            <a:endParaRPr lang="en-US" sz="1150" dirty="0"/>
          </a:p>
        </p:txBody>
      </p:sp>
      <p:sp>
        <p:nvSpPr>
          <p:cNvPr id="24" name="Text 1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5" name="Text 1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55</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8 · WRAP-UP</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Career Opportunities &amp; Certifications</a:t>
            </a:r>
            <a:endParaRPr lang="en-US" sz="3000" dirty="0"/>
          </a:p>
        </p:txBody>
      </p:sp>
      <p:sp>
        <p:nvSpPr>
          <p:cNvPr id="4" name="Text 2"/>
          <p:cNvSpPr/>
          <p:nvPr/>
        </p:nvSpPr>
        <p:spPr>
          <a:xfrm>
            <a:off x="548640" y="1691640"/>
            <a:ext cx="5212080" cy="365760"/>
          </a:xfrm>
          <a:prstGeom prst="rect">
            <a:avLst/>
          </a:prstGeom>
          <a:noFill/>
        </p:spPr>
        <p:txBody>
          <a:bodyPr wrap="square" lIns="0" tIns="0" rIns="0" bIns="0" rtlCol="0" anchor="ctr"/>
          <a:lstStyle/>
          <a:p>
            <a:pPr marL="0" indent="0">
              <a:buNone/>
            </a:pPr>
            <a:r>
              <a:rPr lang="en-US" sz="1500" b="1" dirty="0">
                <a:solidFill>
                  <a:srgbClr val="FF9900"/>
                </a:solidFill>
                <a:latin typeface="Calibri" panose="020F0502020204030204" pitchFamily="34" charset="0"/>
                <a:ea typeface="Calibri" panose="020F0502020204030204" pitchFamily="34" charset="-122"/>
                <a:cs typeface="Calibri" panose="020F0502020204030204" pitchFamily="34" charset="-120"/>
              </a:rPr>
              <a:t>In-Demand Career Roles</a:t>
            </a:r>
            <a:endParaRPr lang="en-US" sz="1500" dirty="0"/>
          </a:p>
        </p:txBody>
      </p:sp>
      <p:sp>
        <p:nvSpPr>
          <p:cNvPr id="5" name="Text 3"/>
          <p:cNvSpPr/>
          <p:nvPr/>
        </p:nvSpPr>
        <p:spPr>
          <a:xfrm>
            <a:off x="548640" y="2103120"/>
            <a:ext cx="5212080" cy="365760"/>
          </a:xfrm>
          <a:prstGeom prst="rect">
            <a:avLst/>
          </a:prstGeom>
          <a:noFill/>
        </p:spPr>
        <p:txBody>
          <a:bodyPr wrap="square" lIns="0" tIns="0" rIns="0" bIns="0" rtlCol="0" anchor="ctr"/>
          <a:lstStyle/>
          <a:p>
            <a:pPr marL="0" indent="0">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  Cloud Support Associate</a:t>
            </a:r>
            <a:endParaRPr lang="en-US" sz="1350" dirty="0"/>
          </a:p>
        </p:txBody>
      </p:sp>
      <p:sp>
        <p:nvSpPr>
          <p:cNvPr id="6" name="Text 4"/>
          <p:cNvSpPr/>
          <p:nvPr/>
        </p:nvSpPr>
        <p:spPr>
          <a:xfrm>
            <a:off x="548640" y="2514600"/>
            <a:ext cx="5212080" cy="365760"/>
          </a:xfrm>
          <a:prstGeom prst="rect">
            <a:avLst/>
          </a:prstGeom>
          <a:noFill/>
        </p:spPr>
        <p:txBody>
          <a:bodyPr wrap="square" lIns="0" tIns="0" rIns="0" bIns="0" rtlCol="0" anchor="ctr"/>
          <a:lstStyle/>
          <a:p>
            <a:pPr marL="0" indent="0">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  Cloud/DevOps Engineer</a:t>
            </a:r>
            <a:endParaRPr lang="en-US" sz="1350" dirty="0"/>
          </a:p>
        </p:txBody>
      </p:sp>
      <p:sp>
        <p:nvSpPr>
          <p:cNvPr id="7" name="Text 5"/>
          <p:cNvSpPr/>
          <p:nvPr/>
        </p:nvSpPr>
        <p:spPr>
          <a:xfrm>
            <a:off x="548640" y="2926080"/>
            <a:ext cx="5212080" cy="365760"/>
          </a:xfrm>
          <a:prstGeom prst="rect">
            <a:avLst/>
          </a:prstGeom>
          <a:noFill/>
        </p:spPr>
        <p:txBody>
          <a:bodyPr wrap="square" lIns="0" tIns="0" rIns="0" bIns="0" rtlCol="0" anchor="ctr"/>
          <a:lstStyle/>
          <a:p>
            <a:pPr marL="0" indent="0">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  Solutions Architect</a:t>
            </a:r>
            <a:endParaRPr lang="en-US" sz="1350" dirty="0"/>
          </a:p>
        </p:txBody>
      </p:sp>
      <p:sp>
        <p:nvSpPr>
          <p:cNvPr id="8" name="Text 6"/>
          <p:cNvSpPr/>
          <p:nvPr/>
        </p:nvSpPr>
        <p:spPr>
          <a:xfrm>
            <a:off x="548640" y="3337560"/>
            <a:ext cx="5212080" cy="365760"/>
          </a:xfrm>
          <a:prstGeom prst="rect">
            <a:avLst/>
          </a:prstGeom>
          <a:noFill/>
        </p:spPr>
        <p:txBody>
          <a:bodyPr wrap="square" lIns="0" tIns="0" rIns="0" bIns="0" rtlCol="0" anchor="ctr"/>
          <a:lstStyle/>
          <a:p>
            <a:pPr marL="0" indent="0">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  Site Reliability Engineer (SRE)</a:t>
            </a:r>
            <a:endParaRPr lang="en-US" sz="1350" dirty="0"/>
          </a:p>
        </p:txBody>
      </p:sp>
      <p:sp>
        <p:nvSpPr>
          <p:cNvPr id="9" name="Text 7"/>
          <p:cNvSpPr/>
          <p:nvPr/>
        </p:nvSpPr>
        <p:spPr>
          <a:xfrm>
            <a:off x="548640" y="3749040"/>
            <a:ext cx="5212080" cy="365760"/>
          </a:xfrm>
          <a:prstGeom prst="rect">
            <a:avLst/>
          </a:prstGeom>
          <a:noFill/>
        </p:spPr>
        <p:txBody>
          <a:bodyPr wrap="square" lIns="0" tIns="0" rIns="0" bIns="0" rtlCol="0" anchor="ctr"/>
          <a:lstStyle/>
          <a:p>
            <a:pPr marL="0" indent="0">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  Cloud Security Specialist</a:t>
            </a:r>
            <a:endParaRPr lang="en-US" sz="1350" dirty="0"/>
          </a:p>
        </p:txBody>
      </p:sp>
      <p:sp>
        <p:nvSpPr>
          <p:cNvPr id="10" name="Shape 8"/>
          <p:cNvSpPr/>
          <p:nvPr/>
        </p:nvSpPr>
        <p:spPr>
          <a:xfrm>
            <a:off x="6263640" y="1691640"/>
            <a:ext cx="5349240" cy="4160520"/>
          </a:xfrm>
          <a:prstGeom prst="roundRect">
            <a:avLst>
              <a:gd name="adj" fmla="val 2198"/>
            </a:avLst>
          </a:prstGeom>
          <a:solidFill>
            <a:srgbClr val="37475A"/>
          </a:solidFill>
        </p:spPr>
      </p:sp>
      <p:sp>
        <p:nvSpPr>
          <p:cNvPr id="11" name="Shape 9"/>
          <p:cNvSpPr/>
          <p:nvPr/>
        </p:nvSpPr>
        <p:spPr>
          <a:xfrm>
            <a:off x="6537960" y="1920240"/>
            <a:ext cx="640080" cy="640080"/>
          </a:xfrm>
          <a:prstGeom prst="ellipse">
            <a:avLst/>
          </a:prstGeom>
          <a:solidFill>
            <a:srgbClr val="FF9900"/>
          </a:solidFill>
        </p:spPr>
      </p:sp>
      <p:pic>
        <p:nvPicPr>
          <p:cNvPr id="12" name="Image 0" descr="/home/claude/icons/grad_navy.png"/>
          <p:cNvPicPr>
            <a:picLocks noChangeAspect="1"/>
          </p:cNvPicPr>
          <p:nvPr/>
        </p:nvPicPr>
        <p:blipFill>
          <a:blip r:embed="rId1"/>
          <a:stretch>
            <a:fillRect/>
          </a:stretch>
        </p:blipFill>
        <p:spPr>
          <a:xfrm>
            <a:off x="6691579" y="2073859"/>
            <a:ext cx="332842" cy="332842"/>
          </a:xfrm>
          <a:prstGeom prst="rect">
            <a:avLst/>
          </a:prstGeom>
        </p:spPr>
      </p:pic>
      <p:sp>
        <p:nvSpPr>
          <p:cNvPr id="13" name="Text 10"/>
          <p:cNvSpPr/>
          <p:nvPr/>
        </p:nvSpPr>
        <p:spPr>
          <a:xfrm>
            <a:off x="7315200" y="2057400"/>
            <a:ext cx="4114800" cy="36576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Recommended AWS Certifications</a:t>
            </a:r>
            <a:endParaRPr lang="en-US" sz="1400" dirty="0"/>
          </a:p>
        </p:txBody>
      </p:sp>
      <p:sp>
        <p:nvSpPr>
          <p:cNvPr id="14" name="Text 11"/>
          <p:cNvSpPr/>
          <p:nvPr/>
        </p:nvSpPr>
        <p:spPr>
          <a:xfrm>
            <a:off x="6537960" y="2651760"/>
            <a:ext cx="4846320" cy="320040"/>
          </a:xfrm>
          <a:prstGeom prst="rect">
            <a:avLst/>
          </a:prstGeom>
          <a:noFill/>
        </p:spPr>
        <p:txBody>
          <a:bodyPr wrap="square" lIns="0" tIns="0" rIns="0" bIns="0" rtlCol="0" anchor="ctr"/>
          <a:lstStyle/>
          <a:p>
            <a:pPr marL="0" indent="0">
              <a:buNone/>
            </a:pPr>
            <a:r>
              <a:rPr lang="en-US" sz="1300" b="1" dirty="0">
                <a:solidFill>
                  <a:srgbClr val="FF9900"/>
                </a:solidFill>
                <a:latin typeface="Calibri" panose="020F0502020204030204" pitchFamily="34" charset="0"/>
                <a:ea typeface="Calibri" panose="020F0502020204030204" pitchFamily="34" charset="-122"/>
                <a:cs typeface="Calibri" panose="020F0502020204030204" pitchFamily="34" charset="-120"/>
              </a:rPr>
              <a:t>AWS Cloud Practitioner</a:t>
            </a:r>
            <a:endParaRPr lang="en-US" sz="1300" dirty="0"/>
          </a:p>
        </p:txBody>
      </p:sp>
      <p:sp>
        <p:nvSpPr>
          <p:cNvPr id="15" name="Text 12"/>
          <p:cNvSpPr/>
          <p:nvPr/>
        </p:nvSpPr>
        <p:spPr>
          <a:xfrm>
            <a:off x="6537960" y="2944368"/>
            <a:ext cx="4846320" cy="32004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Beginner — foundational cloud knowledge</a:t>
            </a:r>
            <a:endParaRPr lang="en-US" sz="1100" dirty="0"/>
          </a:p>
        </p:txBody>
      </p:sp>
      <p:sp>
        <p:nvSpPr>
          <p:cNvPr id="16" name="Text 13"/>
          <p:cNvSpPr/>
          <p:nvPr/>
        </p:nvSpPr>
        <p:spPr>
          <a:xfrm>
            <a:off x="6537960" y="3474720"/>
            <a:ext cx="4846320" cy="320040"/>
          </a:xfrm>
          <a:prstGeom prst="rect">
            <a:avLst/>
          </a:prstGeom>
          <a:noFill/>
        </p:spPr>
        <p:txBody>
          <a:bodyPr wrap="square" lIns="0" tIns="0" rIns="0" bIns="0" rtlCol="0" anchor="ctr"/>
          <a:lstStyle/>
          <a:p>
            <a:pPr marL="0" indent="0">
              <a:buNone/>
            </a:pPr>
            <a:r>
              <a:rPr lang="en-US" sz="1300" b="1" dirty="0">
                <a:solidFill>
                  <a:srgbClr val="FF9900"/>
                </a:solidFill>
                <a:latin typeface="Calibri" panose="020F0502020204030204" pitchFamily="34" charset="0"/>
                <a:ea typeface="Calibri" panose="020F0502020204030204" pitchFamily="34" charset="-122"/>
                <a:cs typeface="Calibri" panose="020F0502020204030204" pitchFamily="34" charset="-120"/>
              </a:rPr>
              <a:t>AWS Solutions Architect – Associate</a:t>
            </a:r>
            <a:endParaRPr lang="en-US" sz="1300" dirty="0"/>
          </a:p>
        </p:txBody>
      </p:sp>
      <p:sp>
        <p:nvSpPr>
          <p:cNvPr id="17" name="Text 14"/>
          <p:cNvSpPr/>
          <p:nvPr/>
        </p:nvSpPr>
        <p:spPr>
          <a:xfrm>
            <a:off x="6537960" y="3767328"/>
            <a:ext cx="4846320" cy="32004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Intermediate — designing systems on AWS</a:t>
            </a:r>
            <a:endParaRPr lang="en-US" sz="1100" dirty="0"/>
          </a:p>
        </p:txBody>
      </p:sp>
      <p:sp>
        <p:nvSpPr>
          <p:cNvPr id="18" name="Text 15"/>
          <p:cNvSpPr/>
          <p:nvPr/>
        </p:nvSpPr>
        <p:spPr>
          <a:xfrm>
            <a:off x="6537960" y="4297680"/>
            <a:ext cx="4846320" cy="320040"/>
          </a:xfrm>
          <a:prstGeom prst="rect">
            <a:avLst/>
          </a:prstGeom>
          <a:noFill/>
        </p:spPr>
        <p:txBody>
          <a:bodyPr wrap="square" lIns="0" tIns="0" rIns="0" bIns="0" rtlCol="0" anchor="ctr"/>
          <a:lstStyle/>
          <a:p>
            <a:pPr marL="0" indent="0">
              <a:buNone/>
            </a:pPr>
            <a:r>
              <a:rPr lang="en-US" sz="1300" b="1" dirty="0">
                <a:solidFill>
                  <a:srgbClr val="FF9900"/>
                </a:solidFill>
                <a:latin typeface="Calibri" panose="020F0502020204030204" pitchFamily="34" charset="0"/>
                <a:ea typeface="Calibri" panose="020F0502020204030204" pitchFamily="34" charset="-122"/>
                <a:cs typeface="Calibri" panose="020F0502020204030204" pitchFamily="34" charset="-120"/>
              </a:rPr>
              <a:t>AWS Developer – Associate</a:t>
            </a:r>
            <a:endParaRPr lang="en-US" sz="1300" dirty="0"/>
          </a:p>
        </p:txBody>
      </p:sp>
      <p:sp>
        <p:nvSpPr>
          <p:cNvPr id="19" name="Text 16"/>
          <p:cNvSpPr/>
          <p:nvPr/>
        </p:nvSpPr>
        <p:spPr>
          <a:xfrm>
            <a:off x="6537960" y="4590288"/>
            <a:ext cx="4846320" cy="32004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Intermediate — building &amp; deploying apps</a:t>
            </a:r>
            <a:endParaRPr lang="en-US" sz="1100" dirty="0"/>
          </a:p>
        </p:txBody>
      </p:sp>
      <p:sp>
        <p:nvSpPr>
          <p:cNvPr id="20" name="Text 17"/>
          <p:cNvSpPr/>
          <p:nvPr/>
        </p:nvSpPr>
        <p:spPr>
          <a:xfrm>
            <a:off x="6537960" y="5120640"/>
            <a:ext cx="4846320" cy="320040"/>
          </a:xfrm>
          <a:prstGeom prst="rect">
            <a:avLst/>
          </a:prstGeom>
          <a:noFill/>
        </p:spPr>
        <p:txBody>
          <a:bodyPr wrap="square" lIns="0" tIns="0" rIns="0" bIns="0" rtlCol="0" anchor="ctr"/>
          <a:lstStyle/>
          <a:p>
            <a:pPr marL="0" indent="0">
              <a:buNone/>
            </a:pPr>
            <a:r>
              <a:rPr lang="en-US" sz="1300" b="1" dirty="0">
                <a:solidFill>
                  <a:srgbClr val="FF9900"/>
                </a:solidFill>
                <a:latin typeface="Calibri" panose="020F0502020204030204" pitchFamily="34" charset="0"/>
                <a:ea typeface="Calibri" panose="020F0502020204030204" pitchFamily="34" charset="-122"/>
                <a:cs typeface="Calibri" panose="020F0502020204030204" pitchFamily="34" charset="-120"/>
              </a:rPr>
              <a:t>AWS SysOps Administrator</a:t>
            </a:r>
            <a:endParaRPr lang="en-US" sz="1300" dirty="0"/>
          </a:p>
        </p:txBody>
      </p:sp>
      <p:sp>
        <p:nvSpPr>
          <p:cNvPr id="21" name="Text 18"/>
          <p:cNvSpPr/>
          <p:nvPr/>
        </p:nvSpPr>
        <p:spPr>
          <a:xfrm>
            <a:off x="6537960" y="5413248"/>
            <a:ext cx="4846320" cy="320040"/>
          </a:xfrm>
          <a:prstGeom prst="rect">
            <a:avLst/>
          </a:prstGeom>
          <a:noFill/>
        </p:spPr>
        <p:txBody>
          <a:bodyPr wrap="square" lIns="0" tIns="0" rIns="0" bIns="0" rtlCol="0" anchor="ctr"/>
          <a:lstStyle/>
          <a:p>
            <a:pPr marL="0" indent="0">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Intermediate — operating AWS workloads</a:t>
            </a:r>
            <a:endParaRPr lang="en-US" sz="1100" dirty="0"/>
          </a:p>
        </p:txBody>
      </p:sp>
      <p:sp>
        <p:nvSpPr>
          <p:cNvPr id="22" name="Text 19"/>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3" name="Text 20"/>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56</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8 · WRAP-UP</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Hands-On Lab: Today's Demo Agenda</a:t>
            </a:r>
            <a:endParaRPr lang="en-US" sz="3000" dirty="0"/>
          </a:p>
        </p:txBody>
      </p:sp>
      <p:sp>
        <p:nvSpPr>
          <p:cNvPr id="4" name="Shape 2"/>
          <p:cNvSpPr/>
          <p:nvPr/>
        </p:nvSpPr>
        <p:spPr>
          <a:xfrm>
            <a:off x="548640" y="1737360"/>
            <a:ext cx="11064240" cy="914400"/>
          </a:xfrm>
          <a:prstGeom prst="roundRect">
            <a:avLst>
              <a:gd name="adj" fmla="val 8000"/>
            </a:avLst>
          </a:prstGeom>
          <a:solidFill>
            <a:srgbClr val="F5F7FA"/>
          </a:solidFill>
          <a:ln w="12700">
            <a:solidFill>
              <a:srgbClr val="E3E7ED"/>
            </a:solidFill>
            <a:prstDash val="solid"/>
          </a:ln>
        </p:spPr>
      </p:sp>
      <p:sp>
        <p:nvSpPr>
          <p:cNvPr id="5" name="Shape 3"/>
          <p:cNvSpPr/>
          <p:nvPr/>
        </p:nvSpPr>
        <p:spPr>
          <a:xfrm>
            <a:off x="777240" y="1874520"/>
            <a:ext cx="640080" cy="640080"/>
          </a:xfrm>
          <a:prstGeom prst="ellipse">
            <a:avLst/>
          </a:prstGeom>
          <a:solidFill>
            <a:srgbClr val="232F3E"/>
          </a:solidFill>
        </p:spPr>
      </p:sp>
      <p:pic>
        <p:nvPicPr>
          <p:cNvPr id="6" name="Image 0" descr="/home/claude/icons/server_orange.png"/>
          <p:cNvPicPr>
            <a:picLocks noChangeAspect="1"/>
          </p:cNvPicPr>
          <p:nvPr/>
        </p:nvPicPr>
        <p:blipFill>
          <a:blip r:embed="rId1"/>
          <a:stretch>
            <a:fillRect/>
          </a:stretch>
        </p:blipFill>
        <p:spPr>
          <a:xfrm>
            <a:off x="930859" y="2028139"/>
            <a:ext cx="332842" cy="332842"/>
          </a:xfrm>
          <a:prstGeom prst="rect">
            <a:avLst/>
          </a:prstGeom>
        </p:spPr>
      </p:pic>
      <p:sp>
        <p:nvSpPr>
          <p:cNvPr id="7" name="Text 4"/>
          <p:cNvSpPr/>
          <p:nvPr/>
        </p:nvSpPr>
        <p:spPr>
          <a:xfrm>
            <a:off x="1645920" y="1828800"/>
            <a:ext cx="4572000" cy="36576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Lab 1: Launch an EC2 Instance</a:t>
            </a:r>
            <a:endParaRPr lang="en-US" sz="1400" dirty="0"/>
          </a:p>
        </p:txBody>
      </p:sp>
      <p:sp>
        <p:nvSpPr>
          <p:cNvPr id="8" name="Text 5"/>
          <p:cNvSpPr/>
          <p:nvPr/>
        </p:nvSpPr>
        <p:spPr>
          <a:xfrm>
            <a:off x="1645920" y="2194560"/>
            <a:ext cx="9144000" cy="384048"/>
          </a:xfrm>
          <a:prstGeom prst="rect">
            <a:avLst/>
          </a:prstGeom>
          <a:noFill/>
        </p:spPr>
        <p:txBody>
          <a:bodyPr wrap="square" lIns="0" tIns="0" rIns="0" bIns="0" rtlCol="0" anchor="ctr"/>
          <a:lstStyle/>
          <a:p>
            <a:pPr marL="0" indent="0">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Create a key pair, configure a security group, and launch a Linux instance</a:t>
            </a:r>
            <a:endParaRPr lang="en-US" sz="1150" dirty="0"/>
          </a:p>
        </p:txBody>
      </p:sp>
      <p:sp>
        <p:nvSpPr>
          <p:cNvPr id="9" name="Shape 6"/>
          <p:cNvSpPr/>
          <p:nvPr/>
        </p:nvSpPr>
        <p:spPr>
          <a:xfrm>
            <a:off x="548640" y="2816352"/>
            <a:ext cx="11064240" cy="914400"/>
          </a:xfrm>
          <a:prstGeom prst="roundRect">
            <a:avLst>
              <a:gd name="adj" fmla="val 8000"/>
            </a:avLst>
          </a:prstGeom>
          <a:solidFill>
            <a:srgbClr val="FFFFFF"/>
          </a:solidFill>
          <a:ln w="12700">
            <a:solidFill>
              <a:srgbClr val="E3E7ED"/>
            </a:solidFill>
            <a:prstDash val="solid"/>
          </a:ln>
        </p:spPr>
      </p:sp>
      <p:sp>
        <p:nvSpPr>
          <p:cNvPr id="10" name="Shape 7"/>
          <p:cNvSpPr/>
          <p:nvPr/>
        </p:nvSpPr>
        <p:spPr>
          <a:xfrm>
            <a:off x="777240" y="2953512"/>
            <a:ext cx="640080" cy="640080"/>
          </a:xfrm>
          <a:prstGeom prst="ellipse">
            <a:avLst/>
          </a:prstGeom>
          <a:solidFill>
            <a:srgbClr val="232F3E"/>
          </a:solidFill>
        </p:spPr>
      </p:sp>
      <p:pic>
        <p:nvPicPr>
          <p:cNvPr id="11" name="Image 1" descr="/home/claude/icons/database_orange.png"/>
          <p:cNvPicPr>
            <a:picLocks noChangeAspect="1"/>
          </p:cNvPicPr>
          <p:nvPr/>
        </p:nvPicPr>
        <p:blipFill>
          <a:blip r:embed="rId2"/>
          <a:stretch>
            <a:fillRect/>
          </a:stretch>
        </p:blipFill>
        <p:spPr>
          <a:xfrm>
            <a:off x="930859" y="3107131"/>
            <a:ext cx="332842" cy="332842"/>
          </a:xfrm>
          <a:prstGeom prst="rect">
            <a:avLst/>
          </a:prstGeom>
        </p:spPr>
      </p:pic>
      <p:sp>
        <p:nvSpPr>
          <p:cNvPr id="12" name="Text 8"/>
          <p:cNvSpPr/>
          <p:nvPr/>
        </p:nvSpPr>
        <p:spPr>
          <a:xfrm>
            <a:off x="1645920" y="2907792"/>
            <a:ext cx="4572000" cy="36576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Lab 2: Create &amp; Use an S3 Bucket</a:t>
            </a:r>
            <a:endParaRPr lang="en-US" sz="1400" dirty="0"/>
          </a:p>
        </p:txBody>
      </p:sp>
      <p:sp>
        <p:nvSpPr>
          <p:cNvPr id="13" name="Text 9"/>
          <p:cNvSpPr/>
          <p:nvPr/>
        </p:nvSpPr>
        <p:spPr>
          <a:xfrm>
            <a:off x="1645920" y="3273552"/>
            <a:ext cx="9144000" cy="384048"/>
          </a:xfrm>
          <a:prstGeom prst="rect">
            <a:avLst/>
          </a:prstGeom>
          <a:noFill/>
        </p:spPr>
        <p:txBody>
          <a:bodyPr wrap="square" lIns="0" tIns="0" rIns="0" bIns="0" rtlCol="0" anchor="ctr"/>
          <a:lstStyle/>
          <a:p>
            <a:pPr marL="0" indent="0">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Upload files, set permissions, and host a simple static webpage</a:t>
            </a:r>
            <a:endParaRPr lang="en-US" sz="1150" dirty="0"/>
          </a:p>
        </p:txBody>
      </p:sp>
      <p:sp>
        <p:nvSpPr>
          <p:cNvPr id="14" name="Shape 10"/>
          <p:cNvSpPr/>
          <p:nvPr/>
        </p:nvSpPr>
        <p:spPr>
          <a:xfrm>
            <a:off x="548640" y="3895344"/>
            <a:ext cx="11064240" cy="914400"/>
          </a:xfrm>
          <a:prstGeom prst="roundRect">
            <a:avLst>
              <a:gd name="adj" fmla="val 8000"/>
            </a:avLst>
          </a:prstGeom>
          <a:solidFill>
            <a:srgbClr val="F5F7FA"/>
          </a:solidFill>
          <a:ln w="12700">
            <a:solidFill>
              <a:srgbClr val="E3E7ED"/>
            </a:solidFill>
            <a:prstDash val="solid"/>
          </a:ln>
        </p:spPr>
      </p:sp>
      <p:sp>
        <p:nvSpPr>
          <p:cNvPr id="15" name="Shape 11"/>
          <p:cNvSpPr/>
          <p:nvPr/>
        </p:nvSpPr>
        <p:spPr>
          <a:xfrm>
            <a:off x="777240" y="4032504"/>
            <a:ext cx="640080" cy="640080"/>
          </a:xfrm>
          <a:prstGeom prst="ellipse">
            <a:avLst/>
          </a:prstGeom>
          <a:solidFill>
            <a:srgbClr val="232F3E"/>
          </a:solidFill>
        </p:spPr>
      </p:sp>
      <p:pic>
        <p:nvPicPr>
          <p:cNvPr id="16" name="Image 2" descr="/home/claude/icons/bell_orange.png"/>
          <p:cNvPicPr>
            <a:picLocks noChangeAspect="1"/>
          </p:cNvPicPr>
          <p:nvPr/>
        </p:nvPicPr>
        <p:blipFill>
          <a:blip r:embed="rId3"/>
          <a:stretch>
            <a:fillRect/>
          </a:stretch>
        </p:blipFill>
        <p:spPr>
          <a:xfrm>
            <a:off x="930859" y="4186123"/>
            <a:ext cx="332842" cy="332842"/>
          </a:xfrm>
          <a:prstGeom prst="rect">
            <a:avLst/>
          </a:prstGeom>
        </p:spPr>
      </p:pic>
      <p:sp>
        <p:nvSpPr>
          <p:cNvPr id="17" name="Text 12"/>
          <p:cNvSpPr/>
          <p:nvPr/>
        </p:nvSpPr>
        <p:spPr>
          <a:xfrm>
            <a:off x="1645920" y="3986784"/>
            <a:ext cx="4572000" cy="36576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Lab 3: Set Up an SNS Topic</a:t>
            </a:r>
            <a:endParaRPr lang="en-US" sz="1400" dirty="0"/>
          </a:p>
        </p:txBody>
      </p:sp>
      <p:sp>
        <p:nvSpPr>
          <p:cNvPr id="18" name="Text 13"/>
          <p:cNvSpPr/>
          <p:nvPr/>
        </p:nvSpPr>
        <p:spPr>
          <a:xfrm>
            <a:off x="1645920" y="4352544"/>
            <a:ext cx="9144000" cy="384048"/>
          </a:xfrm>
          <a:prstGeom prst="rect">
            <a:avLst/>
          </a:prstGeom>
          <a:noFill/>
        </p:spPr>
        <p:txBody>
          <a:bodyPr wrap="square" lIns="0" tIns="0" rIns="0" bIns="0" rtlCol="0" anchor="ctr"/>
          <a:lstStyle/>
          <a:p>
            <a:pPr marL="0" indent="0">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Create a topic, subscribe an email address, and publish a test message</a:t>
            </a:r>
            <a:endParaRPr lang="en-US" sz="1150" dirty="0"/>
          </a:p>
        </p:txBody>
      </p:sp>
      <p:sp>
        <p:nvSpPr>
          <p:cNvPr id="19" name="Shape 14"/>
          <p:cNvSpPr/>
          <p:nvPr/>
        </p:nvSpPr>
        <p:spPr>
          <a:xfrm>
            <a:off x="548640" y="4974336"/>
            <a:ext cx="11064240" cy="914400"/>
          </a:xfrm>
          <a:prstGeom prst="roundRect">
            <a:avLst>
              <a:gd name="adj" fmla="val 8000"/>
            </a:avLst>
          </a:prstGeom>
          <a:solidFill>
            <a:srgbClr val="FFFFFF"/>
          </a:solidFill>
          <a:ln w="12700">
            <a:solidFill>
              <a:srgbClr val="E3E7ED"/>
            </a:solidFill>
            <a:prstDash val="solid"/>
          </a:ln>
        </p:spPr>
      </p:sp>
      <p:sp>
        <p:nvSpPr>
          <p:cNvPr id="20" name="Shape 15"/>
          <p:cNvSpPr/>
          <p:nvPr/>
        </p:nvSpPr>
        <p:spPr>
          <a:xfrm>
            <a:off x="777240" y="5111496"/>
            <a:ext cx="640080" cy="640080"/>
          </a:xfrm>
          <a:prstGeom prst="ellipse">
            <a:avLst/>
          </a:prstGeom>
          <a:solidFill>
            <a:srgbClr val="232F3E"/>
          </a:solidFill>
        </p:spPr>
      </p:sp>
      <p:pic>
        <p:nvPicPr>
          <p:cNvPr id="21" name="Image 3" descr="/home/claude/icons/rocket_orange.png"/>
          <p:cNvPicPr>
            <a:picLocks noChangeAspect="1"/>
          </p:cNvPicPr>
          <p:nvPr/>
        </p:nvPicPr>
        <p:blipFill>
          <a:blip r:embed="rId4"/>
          <a:stretch>
            <a:fillRect/>
          </a:stretch>
        </p:blipFill>
        <p:spPr>
          <a:xfrm>
            <a:off x="930859" y="5265115"/>
            <a:ext cx="332842" cy="332842"/>
          </a:xfrm>
          <a:prstGeom prst="rect">
            <a:avLst/>
          </a:prstGeom>
        </p:spPr>
      </p:pic>
      <p:sp>
        <p:nvSpPr>
          <p:cNvPr id="22" name="Text 16"/>
          <p:cNvSpPr/>
          <p:nvPr/>
        </p:nvSpPr>
        <p:spPr>
          <a:xfrm>
            <a:off x="1645920" y="5065776"/>
            <a:ext cx="4572000" cy="36576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Lab 4: Deploy with Elastic Beanstalk</a:t>
            </a:r>
            <a:endParaRPr lang="en-US" sz="1400" dirty="0"/>
          </a:p>
        </p:txBody>
      </p:sp>
      <p:sp>
        <p:nvSpPr>
          <p:cNvPr id="23" name="Text 17"/>
          <p:cNvSpPr/>
          <p:nvPr/>
        </p:nvSpPr>
        <p:spPr>
          <a:xfrm>
            <a:off x="1645920" y="5431536"/>
            <a:ext cx="9144000" cy="384048"/>
          </a:xfrm>
          <a:prstGeom prst="rect">
            <a:avLst/>
          </a:prstGeom>
          <a:noFill/>
        </p:spPr>
        <p:txBody>
          <a:bodyPr wrap="square" lIns="0" tIns="0" rIns="0" bIns="0" rtlCol="0" anchor="ctr"/>
          <a:lstStyle/>
          <a:p>
            <a:pPr marL="0" indent="0">
              <a:buNone/>
            </a:pPr>
            <a:r>
              <a:rPr lang="en-US" sz="1150" dirty="0">
                <a:solidFill>
                  <a:srgbClr val="5F6B7A"/>
                </a:solidFill>
                <a:latin typeface="Calibri" panose="020F0502020204030204" pitchFamily="34" charset="0"/>
                <a:ea typeface="Calibri" panose="020F0502020204030204" pitchFamily="34" charset="-122"/>
                <a:cs typeface="Calibri" panose="020F0502020204030204" pitchFamily="34" charset="-120"/>
              </a:rPr>
              <a:t>Deploy a sample app and observe automatic provisioning &amp; scaling</a:t>
            </a:r>
            <a:endParaRPr lang="en-US" sz="1150" dirty="0"/>
          </a:p>
        </p:txBody>
      </p:sp>
      <p:sp>
        <p:nvSpPr>
          <p:cNvPr id="24" name="Text 1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5" name="Text 1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57</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lIns="0" tIns="0" rIns="0" bIns="0" rtlCol="0" anchor="ctr"/>
          <a:lstStyle/>
          <a:p>
            <a:pPr marL="0" indent="0">
              <a:buNone/>
            </a:pPr>
            <a:r>
              <a:rPr lang="en-US" sz="1300" b="1" kern="0" spc="200" dirty="0">
                <a:solidFill>
                  <a:srgbClr val="FF9900"/>
                </a:solidFill>
                <a:latin typeface="Calibri" panose="020F0502020204030204" pitchFamily="34" charset="0"/>
                <a:ea typeface="Calibri" panose="020F0502020204030204" pitchFamily="34" charset="-122"/>
                <a:cs typeface="Calibri" panose="020F0502020204030204" pitchFamily="34" charset="-120"/>
              </a:rPr>
              <a:t>SECTION 8 · WRAP-UP</a:t>
            </a:r>
            <a:endParaRPr lang="en-US" sz="1300" dirty="0"/>
          </a:p>
        </p:txBody>
      </p:sp>
      <p:sp>
        <p:nvSpPr>
          <p:cNvPr id="3" name="Text 1"/>
          <p:cNvSpPr/>
          <p:nvPr/>
        </p:nvSpPr>
        <p:spPr>
          <a:xfrm>
            <a:off x="548640" y="658368"/>
            <a:ext cx="11064240" cy="777240"/>
          </a:xfrm>
          <a:prstGeom prst="rect">
            <a:avLst/>
          </a:prstGeom>
          <a:noFill/>
        </p:spPr>
        <p:txBody>
          <a:bodyPr wrap="square" lIns="0" tIns="0" rIns="0" bIns="0" rtlCol="0" anchor="t"/>
          <a:lstStyle/>
          <a:p>
            <a:pPr marL="0" indent="0">
              <a:buNone/>
            </a:pPr>
            <a:r>
              <a:rPr lang="en-US" sz="3000" b="1" dirty="0">
                <a:solidFill>
                  <a:srgbClr val="232F3E"/>
                </a:solidFill>
                <a:latin typeface="Cambria" panose="02040503050406030204" pitchFamily="34" charset="0"/>
                <a:ea typeface="Cambria" panose="02040503050406030204" pitchFamily="34" charset="-122"/>
                <a:cs typeface="Cambria" panose="02040503050406030204" pitchFamily="34" charset="-120"/>
              </a:rPr>
              <a:t>Key Takeaways</a:t>
            </a:r>
            <a:endParaRPr lang="en-US" sz="3000" dirty="0"/>
          </a:p>
        </p:txBody>
      </p:sp>
      <p:sp>
        <p:nvSpPr>
          <p:cNvPr id="4" name="Shape 2"/>
          <p:cNvSpPr/>
          <p:nvPr/>
        </p:nvSpPr>
        <p:spPr>
          <a:xfrm>
            <a:off x="548640" y="1691640"/>
            <a:ext cx="594360" cy="594360"/>
          </a:xfrm>
          <a:prstGeom prst="ellipse">
            <a:avLst/>
          </a:prstGeom>
          <a:solidFill>
            <a:srgbClr val="232F3E"/>
          </a:solidFill>
        </p:spPr>
      </p:sp>
      <p:pic>
        <p:nvPicPr>
          <p:cNvPr id="5" name="Image 0" descr="/home/claude/icons/cloud_orange.png"/>
          <p:cNvPicPr>
            <a:picLocks noChangeAspect="1"/>
          </p:cNvPicPr>
          <p:nvPr/>
        </p:nvPicPr>
        <p:blipFill>
          <a:blip r:embed="rId1"/>
          <a:stretch>
            <a:fillRect/>
          </a:stretch>
        </p:blipFill>
        <p:spPr>
          <a:xfrm>
            <a:off x="691286" y="1834286"/>
            <a:ext cx="309067" cy="309067"/>
          </a:xfrm>
          <a:prstGeom prst="rect">
            <a:avLst/>
          </a:prstGeom>
        </p:spPr>
      </p:pic>
      <p:sp>
        <p:nvSpPr>
          <p:cNvPr id="6" name="Text 3"/>
          <p:cNvSpPr/>
          <p:nvPr/>
        </p:nvSpPr>
        <p:spPr>
          <a:xfrm>
            <a:off x="1325880" y="1673352"/>
            <a:ext cx="3931920" cy="36576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Cloud = On-Demand Resources</a:t>
            </a:r>
            <a:endParaRPr lang="en-US" sz="1400" dirty="0"/>
          </a:p>
        </p:txBody>
      </p:sp>
      <p:sp>
        <p:nvSpPr>
          <p:cNvPr id="7" name="Text 4"/>
          <p:cNvSpPr/>
          <p:nvPr/>
        </p:nvSpPr>
        <p:spPr>
          <a:xfrm>
            <a:off x="5486400" y="1691640"/>
            <a:ext cx="6035040" cy="59436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Compute, storage &amp; networking delivered over the internet, billed by use</a:t>
            </a:r>
            <a:endParaRPr lang="en-US" sz="1250" dirty="0"/>
          </a:p>
        </p:txBody>
      </p:sp>
      <p:sp>
        <p:nvSpPr>
          <p:cNvPr id="8" name="Shape 5"/>
          <p:cNvSpPr/>
          <p:nvPr/>
        </p:nvSpPr>
        <p:spPr>
          <a:xfrm>
            <a:off x="548640" y="2532888"/>
            <a:ext cx="594360" cy="594360"/>
          </a:xfrm>
          <a:prstGeom prst="ellipse">
            <a:avLst/>
          </a:prstGeom>
          <a:solidFill>
            <a:srgbClr val="232F3E"/>
          </a:solidFill>
        </p:spPr>
      </p:sp>
      <p:pic>
        <p:nvPicPr>
          <p:cNvPr id="9" name="Image 1" descr="/home/claude/icons/expand_orange.png"/>
          <p:cNvPicPr>
            <a:picLocks noChangeAspect="1"/>
          </p:cNvPicPr>
          <p:nvPr/>
        </p:nvPicPr>
        <p:blipFill>
          <a:blip r:embed="rId2"/>
          <a:stretch>
            <a:fillRect/>
          </a:stretch>
        </p:blipFill>
        <p:spPr>
          <a:xfrm>
            <a:off x="691286" y="2675534"/>
            <a:ext cx="309067" cy="309067"/>
          </a:xfrm>
          <a:prstGeom prst="rect">
            <a:avLst/>
          </a:prstGeom>
        </p:spPr>
      </p:pic>
      <p:sp>
        <p:nvSpPr>
          <p:cNvPr id="10" name="Text 6"/>
          <p:cNvSpPr/>
          <p:nvPr/>
        </p:nvSpPr>
        <p:spPr>
          <a:xfrm>
            <a:off x="1325880" y="2514600"/>
            <a:ext cx="3931920" cy="36576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Elasticity is the Core Value</a:t>
            </a:r>
            <a:endParaRPr lang="en-US" sz="1400" dirty="0"/>
          </a:p>
        </p:txBody>
      </p:sp>
      <p:sp>
        <p:nvSpPr>
          <p:cNvPr id="11" name="Text 7"/>
          <p:cNvSpPr/>
          <p:nvPr/>
        </p:nvSpPr>
        <p:spPr>
          <a:xfrm>
            <a:off x="5486400" y="2532888"/>
            <a:ext cx="6035040" cy="59436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Scale up or down instantly to match real demand, avoiding waste</a:t>
            </a:r>
            <a:endParaRPr lang="en-US" sz="1250" dirty="0"/>
          </a:p>
        </p:txBody>
      </p:sp>
      <p:sp>
        <p:nvSpPr>
          <p:cNvPr id="12" name="Shape 8"/>
          <p:cNvSpPr/>
          <p:nvPr/>
        </p:nvSpPr>
        <p:spPr>
          <a:xfrm>
            <a:off x="548640" y="3374136"/>
            <a:ext cx="594360" cy="594360"/>
          </a:xfrm>
          <a:prstGeom prst="ellipse">
            <a:avLst/>
          </a:prstGeom>
          <a:solidFill>
            <a:srgbClr val="232F3E"/>
          </a:solidFill>
        </p:spPr>
      </p:sp>
      <p:pic>
        <p:nvPicPr>
          <p:cNvPr id="13" name="Image 2" descr="/home/claude/icons/cubes_orange.png"/>
          <p:cNvPicPr>
            <a:picLocks noChangeAspect="1"/>
          </p:cNvPicPr>
          <p:nvPr/>
        </p:nvPicPr>
        <p:blipFill>
          <a:blip r:embed="rId3"/>
          <a:stretch>
            <a:fillRect/>
          </a:stretch>
        </p:blipFill>
        <p:spPr>
          <a:xfrm>
            <a:off x="691286" y="3516782"/>
            <a:ext cx="309067" cy="309067"/>
          </a:xfrm>
          <a:prstGeom prst="rect">
            <a:avLst/>
          </a:prstGeom>
        </p:spPr>
      </p:pic>
      <p:sp>
        <p:nvSpPr>
          <p:cNvPr id="14" name="Text 9"/>
          <p:cNvSpPr/>
          <p:nvPr/>
        </p:nvSpPr>
        <p:spPr>
          <a:xfrm>
            <a:off x="1325880" y="3355848"/>
            <a:ext cx="3931920" cy="36576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Know the Service Models</a:t>
            </a:r>
            <a:endParaRPr lang="en-US" sz="1400" dirty="0"/>
          </a:p>
        </p:txBody>
      </p:sp>
      <p:sp>
        <p:nvSpPr>
          <p:cNvPr id="15" name="Text 10"/>
          <p:cNvSpPr/>
          <p:nvPr/>
        </p:nvSpPr>
        <p:spPr>
          <a:xfrm>
            <a:off x="5486400" y="3374136"/>
            <a:ext cx="6035040" cy="59436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IaaS, PaaS &amp; SaaS trade off control for convenience</a:t>
            </a:r>
            <a:endParaRPr lang="en-US" sz="1250" dirty="0"/>
          </a:p>
        </p:txBody>
      </p:sp>
      <p:sp>
        <p:nvSpPr>
          <p:cNvPr id="16" name="Shape 11"/>
          <p:cNvSpPr/>
          <p:nvPr/>
        </p:nvSpPr>
        <p:spPr>
          <a:xfrm>
            <a:off x="548640" y="4215384"/>
            <a:ext cx="594360" cy="594360"/>
          </a:xfrm>
          <a:prstGeom prst="ellipse">
            <a:avLst/>
          </a:prstGeom>
          <a:solidFill>
            <a:srgbClr val="232F3E"/>
          </a:solidFill>
        </p:spPr>
      </p:sp>
      <p:pic>
        <p:nvPicPr>
          <p:cNvPr id="17" name="Image 3" descr="/home/claude/icons/server_orange.png"/>
          <p:cNvPicPr>
            <a:picLocks noChangeAspect="1"/>
          </p:cNvPicPr>
          <p:nvPr/>
        </p:nvPicPr>
        <p:blipFill>
          <a:blip r:embed="rId4"/>
          <a:stretch>
            <a:fillRect/>
          </a:stretch>
        </p:blipFill>
        <p:spPr>
          <a:xfrm>
            <a:off x="691286" y="4358030"/>
            <a:ext cx="309067" cy="309067"/>
          </a:xfrm>
          <a:prstGeom prst="rect">
            <a:avLst/>
          </a:prstGeom>
        </p:spPr>
      </p:pic>
      <p:sp>
        <p:nvSpPr>
          <p:cNvPr id="18" name="Text 12"/>
          <p:cNvSpPr/>
          <p:nvPr/>
        </p:nvSpPr>
        <p:spPr>
          <a:xfrm>
            <a:off x="1325880" y="4197096"/>
            <a:ext cx="3931920" cy="36576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AWS Powers It All</a:t>
            </a:r>
            <a:endParaRPr lang="en-US" sz="1400" dirty="0"/>
          </a:p>
        </p:txBody>
      </p:sp>
      <p:sp>
        <p:nvSpPr>
          <p:cNvPr id="19" name="Text 13"/>
          <p:cNvSpPr/>
          <p:nvPr/>
        </p:nvSpPr>
        <p:spPr>
          <a:xfrm>
            <a:off x="5486400" y="4215384"/>
            <a:ext cx="6035040" cy="59436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EC2, S3, SNS &amp; Elastic Beanstalk form a practical foundation to build on</a:t>
            </a:r>
            <a:endParaRPr lang="en-US" sz="1250" dirty="0"/>
          </a:p>
        </p:txBody>
      </p:sp>
      <p:sp>
        <p:nvSpPr>
          <p:cNvPr id="20" name="Shape 14"/>
          <p:cNvSpPr/>
          <p:nvPr/>
        </p:nvSpPr>
        <p:spPr>
          <a:xfrm>
            <a:off x="548640" y="5056632"/>
            <a:ext cx="594360" cy="594360"/>
          </a:xfrm>
          <a:prstGeom prst="ellipse">
            <a:avLst/>
          </a:prstGeom>
          <a:solidFill>
            <a:srgbClr val="232F3E"/>
          </a:solidFill>
        </p:spPr>
      </p:sp>
      <p:pic>
        <p:nvPicPr>
          <p:cNvPr id="21" name="Image 4" descr="/home/claude/icons/grad_orange.png"/>
          <p:cNvPicPr>
            <a:picLocks noChangeAspect="1"/>
          </p:cNvPicPr>
          <p:nvPr/>
        </p:nvPicPr>
        <p:blipFill>
          <a:blip r:embed="rId5"/>
          <a:stretch>
            <a:fillRect/>
          </a:stretch>
        </p:blipFill>
        <p:spPr>
          <a:xfrm>
            <a:off x="691286" y="5199278"/>
            <a:ext cx="309067" cy="309067"/>
          </a:xfrm>
          <a:prstGeom prst="rect">
            <a:avLst/>
          </a:prstGeom>
        </p:spPr>
      </p:pic>
      <p:sp>
        <p:nvSpPr>
          <p:cNvPr id="22" name="Text 15"/>
          <p:cNvSpPr/>
          <p:nvPr/>
        </p:nvSpPr>
        <p:spPr>
          <a:xfrm>
            <a:off x="1325880" y="5038344"/>
            <a:ext cx="3931920" cy="365760"/>
          </a:xfrm>
          <a:prstGeom prst="rect">
            <a:avLst/>
          </a:prstGeom>
          <a:noFill/>
        </p:spPr>
        <p:txBody>
          <a:bodyPr wrap="square" lIns="0" tIns="0" rIns="0" bIns="0" rtlCol="0" anchor="ctr"/>
          <a:lstStyle/>
          <a:p>
            <a:pPr marL="0" indent="0">
              <a:buNone/>
            </a:pPr>
            <a:r>
              <a:rPr lang="en-US" sz="1400" b="1" dirty="0">
                <a:solidFill>
                  <a:srgbClr val="232F3E"/>
                </a:solidFill>
                <a:latin typeface="Calibri" panose="020F0502020204030204" pitchFamily="34" charset="0"/>
                <a:ea typeface="Calibri" panose="020F0502020204030204" pitchFamily="34" charset="-122"/>
                <a:cs typeface="Calibri" panose="020F0502020204030204" pitchFamily="34" charset="-120"/>
              </a:rPr>
              <a:t>Certifications Open Doors</a:t>
            </a:r>
            <a:endParaRPr lang="en-US" sz="1400" dirty="0"/>
          </a:p>
        </p:txBody>
      </p:sp>
      <p:sp>
        <p:nvSpPr>
          <p:cNvPr id="23" name="Text 16"/>
          <p:cNvSpPr/>
          <p:nvPr/>
        </p:nvSpPr>
        <p:spPr>
          <a:xfrm>
            <a:off x="5486400" y="5056632"/>
            <a:ext cx="6035040" cy="594360"/>
          </a:xfrm>
          <a:prstGeom prst="rect">
            <a:avLst/>
          </a:prstGeom>
          <a:noFill/>
        </p:spPr>
        <p:txBody>
          <a:bodyPr wrap="square" lIns="0" tIns="0" rIns="0" bIns="0" rtlCol="0" anchor="ctr"/>
          <a:lstStyle/>
          <a:p>
            <a:pPr marL="0" indent="0">
              <a:lnSpc>
                <a:spcPct val="110000"/>
              </a:lnSpc>
              <a:buNone/>
            </a:pPr>
            <a:r>
              <a:rPr lang="en-US" sz="1250" dirty="0">
                <a:solidFill>
                  <a:srgbClr val="5F6B7A"/>
                </a:solidFill>
                <a:latin typeface="Calibri" panose="020F0502020204030204" pitchFamily="34" charset="0"/>
                <a:ea typeface="Calibri" panose="020F0502020204030204" pitchFamily="34" charset="-122"/>
                <a:cs typeface="Calibri" panose="020F0502020204030204" pitchFamily="34" charset="-120"/>
              </a:rPr>
              <a:t>AWS certifications are a strong, recognized career differentiator</a:t>
            </a:r>
            <a:endParaRPr lang="en-US" sz="1250" dirty="0"/>
          </a:p>
        </p:txBody>
      </p:sp>
      <p:sp>
        <p:nvSpPr>
          <p:cNvPr id="24" name="Text 17"/>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25" name="Text 18"/>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5F6B7A"/>
                </a:solidFill>
                <a:latin typeface="Calibri" panose="020F0502020204030204" pitchFamily="34" charset="0"/>
                <a:ea typeface="Calibri" panose="020F0502020204030204" pitchFamily="34" charset="-122"/>
                <a:cs typeface="Calibri" panose="020F0502020204030204" pitchFamily="34" charset="-120"/>
              </a:rPr>
              <a:t>58</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8869680" y="-2103120"/>
            <a:ext cx="5943600" cy="5943600"/>
          </a:xfrm>
          <a:prstGeom prst="ellipse">
            <a:avLst/>
          </a:prstGeom>
          <a:solidFill>
            <a:srgbClr val="37475A"/>
          </a:solidFill>
        </p:spPr>
      </p:sp>
      <p:sp>
        <p:nvSpPr>
          <p:cNvPr id="3" name="Shape 1"/>
          <p:cNvSpPr/>
          <p:nvPr/>
        </p:nvSpPr>
        <p:spPr>
          <a:xfrm>
            <a:off x="-2011680" y="4389120"/>
            <a:ext cx="4114800" cy="4114800"/>
          </a:xfrm>
          <a:prstGeom prst="ellipse">
            <a:avLst/>
          </a:prstGeom>
          <a:solidFill>
            <a:srgbClr val="37475A"/>
          </a:solidFill>
        </p:spPr>
      </p:sp>
      <p:sp>
        <p:nvSpPr>
          <p:cNvPr id="4" name="Shape 2"/>
          <p:cNvSpPr/>
          <p:nvPr/>
        </p:nvSpPr>
        <p:spPr>
          <a:xfrm>
            <a:off x="822960" y="731520"/>
            <a:ext cx="914400" cy="914400"/>
          </a:xfrm>
          <a:prstGeom prst="ellipse">
            <a:avLst/>
          </a:prstGeom>
          <a:solidFill>
            <a:srgbClr val="FF9900"/>
          </a:solidFill>
        </p:spPr>
      </p:sp>
      <p:pic>
        <p:nvPicPr>
          <p:cNvPr id="5" name="Image 0" descr="/home/claude/icons/question_navy.png"/>
          <p:cNvPicPr>
            <a:picLocks noChangeAspect="1"/>
          </p:cNvPicPr>
          <p:nvPr/>
        </p:nvPicPr>
        <p:blipFill>
          <a:blip r:embed="rId1"/>
          <a:stretch>
            <a:fillRect/>
          </a:stretch>
        </p:blipFill>
        <p:spPr>
          <a:xfrm>
            <a:off x="1042416" y="950976"/>
            <a:ext cx="475488" cy="475488"/>
          </a:xfrm>
          <a:prstGeom prst="rect">
            <a:avLst/>
          </a:prstGeom>
        </p:spPr>
      </p:pic>
      <p:sp>
        <p:nvSpPr>
          <p:cNvPr id="6" name="Text 3"/>
          <p:cNvSpPr/>
          <p:nvPr/>
        </p:nvSpPr>
        <p:spPr>
          <a:xfrm>
            <a:off x="822960" y="2377440"/>
            <a:ext cx="8229600" cy="365760"/>
          </a:xfrm>
          <a:prstGeom prst="rect">
            <a:avLst/>
          </a:prstGeom>
          <a:noFill/>
        </p:spPr>
        <p:txBody>
          <a:bodyPr wrap="square" lIns="0" tIns="0" rIns="0" bIns="0" rtlCol="0" anchor="ctr"/>
          <a:lstStyle/>
          <a:p>
            <a:pPr marL="0" indent="0">
              <a:buNone/>
            </a:pPr>
            <a:r>
              <a:rPr lang="en-US" sz="1500" b="1" kern="0" spc="300" dirty="0">
                <a:solidFill>
                  <a:srgbClr val="FF9900"/>
                </a:solidFill>
                <a:latin typeface="Calibri" panose="020F0502020204030204" pitchFamily="34" charset="0"/>
                <a:ea typeface="Calibri" panose="020F0502020204030204" pitchFamily="34" charset="-122"/>
                <a:cs typeface="Calibri" panose="020F0502020204030204" pitchFamily="34" charset="-120"/>
              </a:rPr>
              <a:t>QUESTIONS &amp; DISCUSSION</a:t>
            </a:r>
            <a:endParaRPr lang="en-US" sz="1500" dirty="0"/>
          </a:p>
        </p:txBody>
      </p:sp>
      <p:sp>
        <p:nvSpPr>
          <p:cNvPr id="7" name="Text 4"/>
          <p:cNvSpPr/>
          <p:nvPr/>
        </p:nvSpPr>
        <p:spPr>
          <a:xfrm>
            <a:off x="777240" y="2743200"/>
            <a:ext cx="9144000" cy="1097280"/>
          </a:xfrm>
          <a:prstGeom prst="rect">
            <a:avLst/>
          </a:prstGeom>
          <a:noFill/>
        </p:spPr>
        <p:txBody>
          <a:bodyPr wrap="square" lIns="0" tIns="0" rIns="0" bIns="0" rtlCol="0" anchor="ctr"/>
          <a:lstStyle/>
          <a:p>
            <a:pPr marL="0" indent="0">
              <a:buNone/>
            </a:pPr>
            <a:r>
              <a:rPr lang="en-US" sz="5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5000" dirty="0"/>
          </a:p>
        </p:txBody>
      </p:sp>
      <p:sp>
        <p:nvSpPr>
          <p:cNvPr id="8" name="Text 5"/>
          <p:cNvSpPr/>
          <p:nvPr/>
        </p:nvSpPr>
        <p:spPr>
          <a:xfrm>
            <a:off x="822960" y="3794760"/>
            <a:ext cx="9144000" cy="457200"/>
          </a:xfrm>
          <a:prstGeom prst="rect">
            <a:avLst/>
          </a:prstGeom>
          <a:noFill/>
        </p:spPr>
        <p:txBody>
          <a:bodyPr wrap="square" lIns="0" tIns="0" rIns="0" bIns="0" rtlCol="0" anchor="ctr"/>
          <a:lstStyle/>
          <a:p>
            <a:pPr marL="0" indent="0">
              <a:buNone/>
            </a:pPr>
            <a:r>
              <a:rPr lang="en-US" sz="1700" i="1" dirty="0">
                <a:solidFill>
                  <a:srgbClr val="CADCFC"/>
                </a:solidFill>
                <a:latin typeface="Calibri" panose="020F0502020204030204" pitchFamily="34" charset="0"/>
                <a:ea typeface="Calibri" panose="020F0502020204030204" pitchFamily="34" charset="-122"/>
                <a:cs typeface="Calibri" panose="020F0502020204030204" pitchFamily="34" charset="-120"/>
              </a:rPr>
              <a:t>Let's discuss your questions on Cloud Computing &amp; AWS</a:t>
            </a:r>
            <a:endParaRPr lang="en-US" sz="1700" dirty="0"/>
          </a:p>
        </p:txBody>
      </p:sp>
      <p:sp>
        <p:nvSpPr>
          <p:cNvPr id="9" name="Shape 6"/>
          <p:cNvSpPr/>
          <p:nvPr/>
        </p:nvSpPr>
        <p:spPr>
          <a:xfrm>
            <a:off x="822960" y="4434840"/>
            <a:ext cx="2011680" cy="0"/>
          </a:xfrm>
          <a:prstGeom prst="line">
            <a:avLst/>
          </a:prstGeom>
          <a:noFill/>
          <a:ln w="31750">
            <a:solidFill>
              <a:srgbClr val="FF9900"/>
            </a:solidFill>
            <a:prstDash val="solid"/>
          </a:ln>
        </p:spPr>
      </p:sp>
      <p:sp>
        <p:nvSpPr>
          <p:cNvPr id="10" name="Text 7"/>
          <p:cNvSpPr/>
          <p:nvPr/>
        </p:nvSpPr>
        <p:spPr>
          <a:xfrm>
            <a:off x="822960" y="4617720"/>
            <a:ext cx="9601200" cy="365760"/>
          </a:xfrm>
          <a:prstGeom prst="rect">
            <a:avLst/>
          </a:prstGeom>
          <a:noFill/>
        </p:spPr>
        <p:txBody>
          <a:bodyPr wrap="square" lIns="0" tIns="0" rIns="0" bIns="0" rtlCol="0" anchor="ctr"/>
          <a:lstStyle/>
          <a:p>
            <a:pPr marL="0" indent="0">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Department of Computer Science &amp; Engineering  |  Cloud Computing Workshop 2026</a:t>
            </a:r>
            <a:endParaRPr lang="en-US" sz="1250" dirty="0"/>
          </a:p>
        </p:txBody>
      </p:sp>
      <p:sp>
        <p:nvSpPr>
          <p:cNvPr id="11" name="Text 8"/>
          <p:cNvSpPr/>
          <p:nvPr/>
        </p:nvSpPr>
        <p:spPr>
          <a:xfrm>
            <a:off x="457200" y="6473952"/>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Cloud Computing Workshop  |  AWS Edition</a:t>
            </a:r>
            <a:endParaRPr lang="en-US" sz="900" dirty="0"/>
          </a:p>
        </p:txBody>
      </p:sp>
      <p:sp>
        <p:nvSpPr>
          <p:cNvPr id="12" name="Text 9"/>
          <p:cNvSpPr/>
          <p:nvPr/>
        </p:nvSpPr>
        <p:spPr>
          <a:xfrm>
            <a:off x="11277295" y="6473952"/>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59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25986</Words>
  <Application>WPS Presentation</Application>
  <PresentationFormat>On-screen Show (16:9)</PresentationFormat>
  <Paragraphs>1603</Paragraphs>
  <Slides>70</Slides>
  <Notes>59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70</vt:i4>
      </vt:variant>
    </vt:vector>
  </HeadingPairs>
  <TitlesOfParts>
    <vt:vector size="82"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BHARATH</cp:lastModifiedBy>
  <cp:revision>2</cp:revision>
  <dcterms:created xsi:type="dcterms:W3CDTF">2026-07-28T11:38:00Z</dcterms:created>
  <dcterms:modified xsi:type="dcterms:W3CDTF">2026-09-15T10:07:30Z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E7BCA20E62F04C21984FD409D38849D5_12</vt:lpwstr>
  </property>
</Properties>
</file>
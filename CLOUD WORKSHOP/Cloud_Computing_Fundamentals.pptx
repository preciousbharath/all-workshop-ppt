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96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5" r:id="rId4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Welcome students. Set expectations: this is an interactive session, hands up for polls, and no prior tech background is needed.
REAL-WORLD ANALOGY: Think of the cloud like electricity from a power plant — you use it without owning the generator.
ASK THE CLASS: Show of hands — who has used Gmail, Instagram, or Netflix today?
COMMON MISCONCEPTION: Students often think 'cloud computing' is a brand-new invention rather than an evolution of older ideas.
APPROX. TIME: 2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Every app students use daily stores data somewhere. Today's session explains exactly where and how.
REAL-WORLD ANALOGY: Your data isn't 'in the sky' — it lives on real physical computers in giant warehouses called data centers.
ASK THE CLASS: Where do you think all this data is stored?
COMMON MISCONCEPTION: Many beginners literally believe 'the cloud' means data floats in the sky or the internet itself.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Traditionally, any company that needed computing power had to physically buy, install, and maintain servers on-site.
REAL-WORLD ANALOGY: It's like every restaurant having to build its own power plant just to have electricity.
ASK THE CLASS: Would a small startup want to buy and manage its own server room?
COMMON MISCONCEPTION: Students may not realize software used to require buying physical hardware first.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In the 1960s, mainframe computers were shared by many people at once, taking turns in tiny time slices — the earliest idea behind 'renting' computing power.
REAL-WORLD ANALOGY: Like sharing one classroom computer where each student gets 2 minutes, then the next student takes over.
ASK THE CLASS: Why do you think sharing one computer was necessary back then?
COMMON MISCONCEPTION: Students may assume each user had their own dedicated computer even in the 1960s.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Virtualization software (a hypervisor) splits one physical machine into multiple independent virtual machines, massively improving hardware utilization.
REAL-WORLD ANALOGY: Like dividing one large apartment building into separate flats — each tenant has their own space, but they share the same building structure.
ASK THE CLASS: Why would splitting one server into several virtual ones save money?
COMMON MISCONCEPTION: Students may confuse a Virtual Machine with a totally separate physical computer.
APPROX. TIME: 4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The growth of the internet in the 1990s allowed users to reach powerful remote computers instantly — without it, 'renting' computing over a network wouldn't be possible.
REAL-WORLD ANALOGY: Like a delivery road system being built before online shopping could ever work.
ASK THE CLASS: Why couldn't cloud computing exist without a fast, reliable internet?
COMMON MISCONCEPTION: Some think cloud computing began the moment the internet existed — really, more pieces were still needed.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By the 2000s, companies began offering computing resources as an on-demand service instead of something you had to buy and manage yourself.
REAL-WORLD ANALOGY: Like the shift from owning a car to using a ride-hailing app — the outcome (going somewhere) is the same, but you no longer own or maintain the vehicle.
ASK THE CLASS: Which approach sounds faster to get started with: buying or requesting?
COMMON MISCONCEPTION: Students might think 'cloud' just means 'the internet' rather than an on-demand delivery model.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AWS launched S3 (storage) in March 2006 and EC2 (compute) in August 2006, offering infrastructure as a pay-as-you-go service for the first time at scale.
REAL-WORLD ANALOGY: AWS is like the first company to open a 24/7 rental store for computers — the idea of renting existed before, but AWS made it simple and available to anyone with a credit card.
ASK THE CLASS: Why was it a big deal that anyone — even a student — could rent a server for a few cents an hour?
COMMON MISCONCEPTION: A very common myth: 'AWS invented the cloud.' Clarify it was a major milestone, not the origin.
APPROX. TIME: 4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Walk left to right across the timeline, reinforcing each milestone briefly before moving to definitions.
REAL-WORLD ANALOGY: Like a river formed by many small streams joining together over time, not from a single source.
ASK THE CLASS: Which milestone do you think mattered the most, and why?
COMMON MISCONCEPTION: That cloud computing is a single invention rather than a gradual evolution.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Let students vote by show of hands for A, B, or C before revealing. Reinforce that cloud computing evolved from time-sharing and virtualization long before AWS.
REAL-WORLD ANALOGY: AWS is like the first company to build a highway system for computing — the cars (data and applications) already existed, but AWS made travel much easier.
ASK THE CLASS: Was Cloud Computing created by AWS?
COMMON MISCONCEPTION: This is the single most common beginner misconception about cloud history.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Cloud computing means using computing power (servers, storage, databases, networking) that lives elsewhere and is accessed over the internet, paid for as you use it.
REAL-WORLD ANALOGY: Like using electricity from the grid instead of running your own power generator — you just plug in and pay for what you use.
ASK THE CLASS: Does 'cloud computing' mean your data is literally stored in the sky?
COMMON MISCONCEPTION: The word 'cloud' makes many beginners think data is stored somewhere abstract or non-physical.
APPROX. TIME: 4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The cloud is not magic — it's real physical infrastructure: rooms full of servers, storage drives, networking equipment, backup power, cooling systems, and layers of security.
REAL-WORLD ANALOGY: Like a giant factory that runs 24/7 to keep websites and apps working, with power backups and security guards.
ASK THE CLASS: Which of these seven parts do you think a cloud provider spends the most money on?
COMMON MISCONCEPTION: Believing the cloud has no physical form at all.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A data center is a purpose-built facility packed with racks of servers, plus networking, cooling, power backup, and security to keep everything running non-stop.
REAL-WORLD ANALOGY: Like a massive library, except instead of books on shelves, it's servers in racks, each one storing and processing data.
ASK THE CLASS: Why do you think cooling is just as important as the servers themselves?
COMMON MISCONCEPTION: Assuming a data center is just 'a room with computers' rather than a highly engineered facility.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These five benefits explain why organizations of every size moved to the cloud: elastic scale, pay-as-you-go cost, high availability, worldwide reach, and speed of launching new services.
REAL-WORLD ANALOGY: Like renting a moving van only on the weekend you actually move, instead of buying a truck you use once a year.
ASK THE CLASS: Which of these five benefits do you think matters most to a small startup?
COMMON MISCONCEPTION: Thinking cloud computing is always cheaper in every situation — it depends on usage patterns.
APPROX. TIME: 4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A sudden 100x jump in users can overwhelm fixed infrastructure. Cloud computing solves this by adding resources automatically when demand spikes, then removing them afterward.
REAL-WORLD ANALOGY: Like a restaurant that can instantly add 20 extra tables and staff only on its busiest night, then scale back down the next day.
ASK THE CLASS: What problem might happen when traffic jumps from 1,000 to 100,000 users?
COMMON MISCONCEPTION: Assuming a website automatically handles any amount of traffic without extra resources.
APPROX. TIME: 4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Scalability is about designing systems that CAN grow; elasticity is the automatic, on-demand stretching and shrinking of resources to match real-time traffic.
REAL-WORLD ANALOGY: Scalability is like a stretchy waistband designed to fit different sizes. Elasticity is like that waistband automatically tightening and loosening as you breathe in and out.
ASK THE CLASS: After the festival sale ends, what should happen to the extra 8 servers?
COMMON MISCONCEPTION: Treating 'scalability' and 'elasticity' as identical terms — they are related but distinct.
APPROX. TIME: 4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Buying new hardware takes too long, and shutting down loses customers. Cloud resources can be added within minutes — this is elasticity in action.
REAL-WORLD ANALOGY: Like calling in extra delivery drivers for one busy night instead of buying a new delivery van you'll rarely use.
ASK THE CLASS: How would you handle a sudden traffic spike?
COMMON MISCONCEPTION: Assuming buying more hardware is always the fastest fix.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IaaS gives you raw infrastructure, PaaS gives you a ready platform for building apps, and SaaS gives you fully finished software to use directly.
REAL-WORLD ANALOGY: IaaS is renting an empty plot of land, PaaS is renting a fully built kitchen, and SaaS is ordering a finished meal.
ASK THE CLASS: Which of these three would need the LEAST technical setup from the customer?
COMMON MISCONCEPTION: Mixing up the responsibility split between the provider and the customer across the three models.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With IaaS, the provider gives you raw virtual infrastructure (servers, storage, networking) but you install and manage the operating system and everything above it.
REAL-WORLD ANALOGY: Like renting an empty apartment with plumbing and electricity already connected — you still bring and arrange your own furniture.
ASK THE CLASS: If you rent a virtual machine, who is responsible for installing the operating system?
COMMON MISCONCEPTION: Assuming the cloud provider manages your operating system and applications too in IaaS.
APPROX. TIME: 4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PaaS removes the need to manage servers or operating systems at all — developers simply push their application code and the platform runs it.
REAL-WORLD ANALOGY: Like renting a fully equipped kitchen — you just bring your recipe (code) and start cooking; the stove, oven, and utensils are already there.
ASK THE CLASS: Would a developer using PaaS need to install an operating system?
COMMON MISCONCEPTION: Confusing PaaS with simply 'a website builder' — PaaS is a platform for running custom application code.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SaaS is the model most students already use daily. The provider manages absolutely everything — you just log in and use the app.
REAL-WORLD ANALOGY: Like ordering a finished meal at a restaurant — you don't cook, clean, or manage the kitchen at all.
ASK THE CLASS: Which cloud service model requires the LEAST work from the customer?
COMMON MISCONCEPTION: Not realizing that everyday apps like Gmail are themselves examples of cloud computing (SaaS).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Read each scenario aloud, pause for student answers, then reveal the pill showing the correct classification.
REAL-WORLD ANALOGY: Recall: IaaS = empty plot of land, PaaS = ready kitchen, SaaS = finished meal.
ASK THE CLASS: Which model does each scenario describe?
COMMON MISCONCEPTION: Confusing 'using an app' (SaaS) with 'building an app on a platform' (PaaS).
APPROX. TIME: 4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Deployment models describe where cloud infrastructure is hosted and who has access to it — a separate concept from service models (IaaS/PaaS/SaaS).
REAL-WORLD ANALOGY: Public cloud is like a shared co-working space; private cloud is like your own private office; hybrid is using both depending on the need.
ASK THE CLASS: Why might a bank prefer more control over its infrastructure than a small blog would need?
COMMON MISCONCEPTION: Mixing up deployment models (public/private/hybrid) with service models (IaaS/PaaS/SaaS) — they answer different questions.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Public cloud infrastructure is owned by the provider (like AWS) and shared among many customers, though each customer's data is kept logically separate and secure.
REAL-WORLD ANALOGY: Like an apartment building — many tenants share the building, but each has their own locked, private unit.
ASK THE CLASS: Why is public cloud usually the cheapest option to get started with?
COMMON MISCONCEPTION: Thinking 'shared infrastructure' means other companies can see your data — isolation keeps it separate and secure.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A private cloud is built and used exclusively by one organization, offering more control and security but at a higher cost than shared public cloud infrastructure.
REAL-WORLD ANALOGY: Like owning your own private house instead of renting an apartment — more control, but more responsibility and cost.
ASK THE CLASS: Why might a hospital choose private cloud over public cloud for patient records?
COMMON MISCONCEPTION: Assuming private cloud always means 'on-premises' — it can also be hosted by a provider but dedicated to one customer.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Hybrid cloud connects private infrastructure and public cloud so organizations can choose the best environment for each workload.
REAL-WORLD ANALOGY: Like keeping valuables in a home safe (private) but using a public storage unit (public cloud) for seasonal items.
ASK THE CLASS: Why might a company keep customer data on-premises but run its website on public cloud?
COMMON MISCONCEPTION: Assuming hybrid cloud means everything is duplicated everywhere, rather than intentionally split by workload.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AWS, Microsoft Azure, and Google Cloud are the 'big three' cloud providers, with Oracle Cloud and IBM Cloud serving more specialized markets.
REAL-WORLD ANALOGY: Like the major airlines of the cloud world — different providers, similar destination (getting your workload running).
ASK THE CLASS: Have you heard of any of these providers before today?
COMMON MISCONCEPTION: Thinking AWS is the only cloud provider that exists.
APPROX. TIME: 2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AWS organizes its global infrastructure into Regions (large geographic areas), which contain multiple Availability Zones, which each contain one or more physical Data Centers.
REAL-WORLD ANALOGY: A Region is like a country, an Availability Zone is like a city within it, and a Data Center is like one specific building in that city.
ASK THE CLASS: Why would AWS build multiple isolated Availability Zones instead of just one giant data center?
COMMON MISCONCEPTION: Assuming a 'Region' is a single building rather than a broad geographic cluster of multiple independent facilities.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This map previews the core AWS services we'll explore next: EC2 for compute, S3 for storage, VPC for networking, plus RDS, IAM, and CloudWatch supporting the full picture.
REAL-WORLD ANALOGY: Like a toolbox — each AWS service is a specific tool for a specific job.
ASK THE CLASS: Based on the names, which service do you think handles security and permissions?
COMMON MISCONCEPTION: Assuming all AWS services do the same thing, rather than each serving a distinct purpose.
APPROX. TIME: 2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EC2 (Elastic Compute Cloud) lets you rent a virtual server with the CPU, RAM, OS, and storage you choose, and pay only while it's running.
REAL-WORLD ANALOGY: Like renting a fully equipped computer that lives in AWS's data center instead of on your desk.
ASK THE CLASS: If your website suddenly gets more visitors, could you switch to a bigger EC2 server easily?
COMMON MISCONCEPTION: Confusing EC2 (a virtual server) with S3 (storage for files) — they serve very different purposes.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S3 stores files (objects) such as images, videos, and documents in organized containers called buckets, and can scale to virtually unlimited storage.
REAL-WORLD ANALOGY: Like an enormous, endlessly expandable digital filing cabinet accessible from anywhere in the world.
ASK THE CLASS: Which service would you choose to store millions of user-uploaded photos: EC2 or S3?
COMMON MISCONCEPTION: Thinking S3 is a virtual computer like EC2, rather than a storage-only service.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A VPC lets you create your own logically isolated network inside AWS, defining subnets, gateways, and security rules — keep this beginner-friendly, avoid deep networking detail.
REAL-WORLD ANALOGY: Like having your own private, gated community inside a large city (AWS) — you decide who can enter and how.
ASK THE CLASS: Why might a company want to control exactly who can access their EC2 servers?
COMMON MISCONCEPTION: Assuming all AWS resources are open to the public internet by default.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Reinforce the three AWS services covered: EC2 for compute, S3 for storage, VPC for networking.
REAL-WORLD ANALOGY: Match each scenario to the right 'tool in the toolbox.'
ASK THE CLASS: Which AWS service fits each scenario?
COMMON MISCONCEPTION: Mixing up which service handles compute vs. storage vs. networking.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Nearly every modern digital service students use daily — streaming, social media, banking, shopping, gaming, and online learning — runs on cloud infrastructure.
REAL-WORLD ANALOGY: The cloud is the invisible engine running behind almost every app icon on your phone.
ASK THE CLASS: Which of these apps do you personally use most? What might happen if its cloud servers went down?
COMMON MISCONCEPTION: Not connecting familiar everyday apps to the abstract concept of 'cloud computing.'
APPROX. TIME: 3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Students apply everything learned so far by mapping each application layer to a service category (EC2 for compute, S3 for storage, VPC for network, RDS for database, CloudWatch for monitoring).
REAL-WORLD ANALOGY: Like assembling a recipe by picking the right ingredient for each course.
ASK THE CLASS: Which service would you pick for each layer, and why?
COMMON MISCONCEPTION: Trying to use one single service to do everything, instead of combining specialized services.
APPROX. TIME: 5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Go through each question with the class, taking answers verbally before revealing the correct explanation for each.
REAL-WORLD ANALOGY: A quick recap relay — each question maps to one major concept from today's session.
ASK THE CLASS: Cold-call or ask for volunteers for each of the 5 questions.
COMMON MISCONCEPTION: Students may still mix up service models or history milestones — use this quiz to catch and correct that.
APPROX. TIME: 6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This roadmap shows a natural next-step learning path: fundamentals first, then networking and Linux basics, then AWS services, then advanced operations topics like DevOps, containers, and serverless.
REAL-WORLD ANALOGY: Like a video game skill tree — each stage unlocks the next.
ASK THE CLASS: Which topic on this roadmap are you most excited to learn next?
COMMON MISCONCEPTION: Feeling like you must master everything at once — this is a gradual, long-term path.
APPROX. TIME: 2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Recap the five most important ideas from the session before moving to the exit question.
REAL-WORLD ANALOGY: A short highlight reel of everything covered today.
ASK THE CLASS: Which of these five takeaways surprised you the most?
COMMON MISCONCEPTION: N/A — recap slide.
APPROX. TIME: 2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EXPLAIN: Close the session, invite final questions, and thank students for their participation.
REAL-WORLD ANALOGY: N/A
ASK THE CLASS: Any final questions before we wrap up?
COMMON MISCONCEPTION: N/A
APPROX. TIME: 2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.png"/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5.png"/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Relationship Id="rId3" Type="http://schemas.openxmlformats.org/officeDocument/2006/relationships/image" Target="../media/image25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17.png"/><Relationship Id="rId3" Type="http://schemas.openxmlformats.org/officeDocument/2006/relationships/image" Target="../media/image8.png"/><Relationship Id="rId2" Type="http://schemas.openxmlformats.org/officeDocument/2006/relationships/image" Target="../media/image35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7" Type="http://schemas.openxmlformats.org/officeDocument/2006/relationships/image" Target="../media/image13.png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0" Type="http://schemas.openxmlformats.org/officeDocument/2006/relationships/notesSlide" Target="../notesSlides/notesSlide21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7.png"/><Relationship Id="rId2" Type="http://schemas.openxmlformats.org/officeDocument/2006/relationships/image" Target="../media/image44.png"/><Relationship Id="rId1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25.png"/><Relationship Id="rId2" Type="http://schemas.openxmlformats.org/officeDocument/2006/relationships/image" Target="../media/image51.png"/><Relationship Id="rId1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7" Type="http://schemas.openxmlformats.org/officeDocument/2006/relationships/image" Target="../media/image53.png"/><Relationship Id="rId6" Type="http://schemas.openxmlformats.org/officeDocument/2006/relationships/image" Target="../media/image52.png"/><Relationship Id="rId5" Type="http://schemas.openxmlformats.org/officeDocument/2006/relationships/image" Target="../media/image31.png"/><Relationship Id="rId4" Type="http://schemas.openxmlformats.org/officeDocument/2006/relationships/image" Target="../media/image42.png"/><Relationship Id="rId3" Type="http://schemas.openxmlformats.org/officeDocument/2006/relationships/image" Target="../media/image4.png"/><Relationship Id="rId2" Type="http://schemas.openxmlformats.org/officeDocument/2006/relationships/image" Target="../media/image43.png"/><Relationship Id="rId10" Type="http://schemas.openxmlformats.org/officeDocument/2006/relationships/notesSlide" Target="../notesSlides/notesSlide34.xml"/><Relationship Id="rId1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6" Type="http://schemas.openxmlformats.org/officeDocument/2006/relationships/image" Target="../media/image47.png"/><Relationship Id="rId5" Type="http://schemas.openxmlformats.org/officeDocument/2006/relationships/image" Target="../media/image45.png"/><Relationship Id="rId4" Type="http://schemas.openxmlformats.org/officeDocument/2006/relationships/image" Target="../media/image22.png"/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8.png"/><Relationship Id="rId3" Type="http://schemas.openxmlformats.org/officeDocument/2006/relationships/image" Target="../media/image29.png"/><Relationship Id="rId2" Type="http://schemas.openxmlformats.org/officeDocument/2006/relationships/image" Target="../media/image55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0" y="1920240"/>
            <a:ext cx="4572000" cy="4572000"/>
          </a:xfrm>
          <a:prstGeom prst="ellipse">
            <a:avLst/>
          </a:prstGeom>
          <a:solidFill>
            <a:srgbClr val="12335A"/>
          </a:solidFill>
        </p:spPr>
      </p:sp>
      <p:sp>
        <p:nvSpPr>
          <p:cNvPr id="3" name="Shape 1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0F2D50"/>
          </a:solidFill>
        </p:spPr>
      </p:sp>
      <p:sp>
        <p:nvSpPr>
          <p:cNvPr id="4" name="Shape 2"/>
          <p:cNvSpPr/>
          <p:nvPr/>
        </p:nvSpPr>
        <p:spPr>
          <a:xfrm>
            <a:off x="5408676" y="914400"/>
            <a:ext cx="1371600" cy="13716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5" name="Image 0" descr="/home/claude/cloud_deck/icons/cloud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124358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10725912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CLOUD COMPUTING FUNDAMENTALS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3657600"/>
            <a:ext cx="1072591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F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Time-Sharing to AWS and Modern Cloud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717036" y="443484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12335A"/>
          </a:solidFill>
        </p:spPr>
      </p:sp>
      <p:sp>
        <p:nvSpPr>
          <p:cNvPr id="9" name="Text 6"/>
          <p:cNvSpPr/>
          <p:nvPr/>
        </p:nvSpPr>
        <p:spPr>
          <a:xfrm>
            <a:off x="3717036" y="443484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D1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60-MINUTE CLASSROOM SESSION  •  BEGINNER LEVEL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B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Instructor-Led  ·  Interactive  ·  Beginner Friendly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16" name="Rectangle: Rounded Corners 15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4" name="Picture 13" descr="PANTECH SOLUTION HOME - Pantech.A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LET'S GET CURIOUS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Does Your Data Live?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36676" y="1920240"/>
            <a:ext cx="1920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5316" y="214884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cloud_deck/icons/envelop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826" y="23463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6676" y="315468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Gmail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985516" y="1920240"/>
            <a:ext cx="1920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34156" y="214884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0" name="Image 1" descr="/home/claude/cloud_deck/icons/clou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666" y="234635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85516" y="315468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Drive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134356" y="1920240"/>
            <a:ext cx="1920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82996" y="214884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4" name="Image 2" descr="/home/claude/cloud_deck/icons/camer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506" y="234635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34356" y="315468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Instagram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283196" y="1920240"/>
            <a:ext cx="1920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831836" y="214884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3" descr="/home/claude/cloud_deck/icons/vide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346" y="2346350"/>
            <a:ext cx="427939" cy="4279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83196" y="315468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Netflix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9432036" y="1920240"/>
            <a:ext cx="1920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980676" y="214884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2" name="Image 4" descr="/home/claude/cloud_deck/icons/whatsap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8186" y="2346350"/>
            <a:ext cx="427939" cy="42793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432036" y="315468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WhatsApp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1828800" y="4617720"/>
            <a:ext cx="822960" cy="82296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28" name="Text 20"/>
          <p:cNvSpPr/>
          <p:nvPr/>
        </p:nvSpPr>
        <p:spPr>
          <a:xfrm>
            <a:off x="2926080" y="5394960"/>
            <a:ext cx="74340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32" name="Rectangle: Rounded Corners 31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4" name="Picture 33" descr="PANTECH SOLUTION HOME - Pantech.A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SETTING THE SCENE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Before the Cloud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Companies had to own, run, and maintain every piece of hardware themselves.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8096" y="2651760"/>
            <a:ext cx="22860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53896" y="292608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7" name="Image 0" descr="/home/claude/cloud_deck/icons/buildin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314553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402336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054096" y="338328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557016" y="2651760"/>
            <a:ext cx="22860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42816" y="292608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2" name="Image 1" descr="/home/claude/cloud_deck/icons/layer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314553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57016" y="402336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 Room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843016" y="338328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6345936" y="2651760"/>
            <a:ext cx="22860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31736" y="292608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7" name="Image 2" descr="/home/claude/cloud_deck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314553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402336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Servers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631936" y="338328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9134856" y="2651760"/>
            <a:ext cx="22860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820656" y="292608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2" name="Image 3" descr="/home/claude/cloud_deck/icons/deskto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112" y="3145536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34856" y="4023360"/>
            <a:ext cx="22860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1371600" y="5074920"/>
            <a:ext cx="9445752" cy="1005840"/>
          </a:xfrm>
          <a:prstGeom prst="roundRect">
            <a:avLst>
              <a:gd name="adj" fmla="val 8182"/>
            </a:avLst>
          </a:prstGeom>
          <a:solidFill>
            <a:srgbClr val="FFEFE2"/>
          </a:solidFill>
        </p:spPr>
      </p:sp>
      <p:sp>
        <p:nvSpPr>
          <p:cNvPr id="25" name="Text 19"/>
          <p:cNvSpPr/>
          <p:nvPr/>
        </p:nvSpPr>
        <p:spPr>
          <a:xfrm>
            <a:off x="1737360" y="5074920"/>
            <a:ext cx="8714232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4B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meant huge upfront cost, long setup times, and constant maintenance — even for a small project.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9" name="Rectangle: Rounded Corners 28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1" name="Picture 30" descr="PANTECH SOLUTION HOME - Pantech.A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HISTORY  ·  1960S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Time-Sharing: Many Users, One Computer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Computers were huge and expensive, so people shared time on the same machine.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606040" y="2423160"/>
            <a:ext cx="1371600" cy="1371600"/>
          </a:xfrm>
          <a:prstGeom prst="ellipse">
            <a:avLst/>
          </a:prstGeom>
          <a:solidFill>
            <a:srgbClr val="0A2540"/>
          </a:solidFill>
        </p:spPr>
      </p:sp>
      <p:pic>
        <p:nvPicPr>
          <p:cNvPr id="6" name="Image 0" descr="/home/claude/cloud_deck/icons/serv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5224" y="275234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39319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Computer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06240" y="219456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863840" y="196596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0" name="Image 1" descr="/home/claude/cloud_deck/icons/us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350" y="216347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823960" y="2148840"/>
            <a:ext cx="1280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206240" y="272034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7863840" y="301752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4" name="Image 2" descr="/home/claude/cloud_deck/icons/us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350" y="321503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23960" y="3200400"/>
            <a:ext cx="1280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2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206240" y="32461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7863840" y="406908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3" descr="/home/claude/cloud_deck/icons/us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350" y="4266590"/>
            <a:ext cx="427939" cy="4279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23960" y="4251960"/>
            <a:ext cx="1280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3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539496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E4EEF3"/>
          </a:solidFill>
        </p:spPr>
      </p:sp>
      <p:sp>
        <p:nvSpPr>
          <p:cNvPr id="21" name="Text 15"/>
          <p:cNvSpPr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user got a small slice of computer time, one after another — so fast it felt instant.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HISTORY  ·  1970S–1990S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Virtualization: One Machine, Many Virtual Machines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377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971800"/>
            <a:ext cx="914400" cy="914400"/>
          </a:xfrm>
          <a:prstGeom prst="ellipse">
            <a:avLst/>
          </a:prstGeom>
          <a:solidFill>
            <a:srgbClr val="0A2540"/>
          </a:solidFill>
        </p:spPr>
      </p:sp>
      <p:pic>
        <p:nvPicPr>
          <p:cNvPr id="6" name="Image 0" descr="/home/claude/cloud_deck/icons/serv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31912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9319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Server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063240" y="3246120"/>
            <a:ext cx="685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794760" y="2743200"/>
            <a:ext cx="2377440" cy="1554480"/>
          </a:xfrm>
          <a:prstGeom prst="roundRect">
            <a:avLst>
              <a:gd name="adj" fmla="val 5294"/>
            </a:avLst>
          </a:prstGeom>
          <a:solidFill>
            <a:srgbClr val="0A2540"/>
          </a:solidFill>
        </p:spPr>
      </p:sp>
      <p:sp>
        <p:nvSpPr>
          <p:cNvPr id="10" name="Shape 7"/>
          <p:cNvSpPr/>
          <p:nvPr/>
        </p:nvSpPr>
        <p:spPr>
          <a:xfrm>
            <a:off x="4526280" y="2971800"/>
            <a:ext cx="914400" cy="91440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11" name="Image 1" descr="/home/claude/cloud_deck/icons/cog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319125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39319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Hypervisor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217920" y="3246120"/>
            <a:ext cx="685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6949440" y="2743200"/>
            <a:ext cx="1417320" cy="1554480"/>
          </a:xfrm>
          <a:prstGeom prst="roundRect">
            <a:avLst>
              <a:gd name="adj" fmla="val 5806"/>
            </a:avLst>
          </a:prstGeom>
          <a:solidFill>
            <a:srgbClr val="E4EEF3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92340" y="292608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2" descr="/home/claude/cloud_deck/icons/windowresto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905" y="310164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3794760"/>
            <a:ext cx="1417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 1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549640" y="2743200"/>
            <a:ext cx="1417320" cy="1554480"/>
          </a:xfrm>
          <a:prstGeom prst="roundRect">
            <a:avLst>
              <a:gd name="adj" fmla="val 5806"/>
            </a:avLst>
          </a:prstGeom>
          <a:solidFill>
            <a:srgbClr val="E4EEF3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892540" y="292608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0" name="Image 3" descr="/home/claude/cloud_deck/icons/windowresto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8105" y="310164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49640" y="3794760"/>
            <a:ext cx="1417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 2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10149840" y="2743200"/>
            <a:ext cx="1417320" cy="1554480"/>
          </a:xfrm>
          <a:prstGeom prst="roundRect">
            <a:avLst>
              <a:gd name="adj" fmla="val 5806"/>
            </a:avLst>
          </a:prstGeom>
          <a:solidFill>
            <a:srgbClr val="E4EEF3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492740" y="292608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4" name="Image 4" descr="/home/claude/cloud_deck/icons/windowresto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05" y="3101645"/>
            <a:ext cx="380390" cy="38039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149840" y="3794760"/>
            <a:ext cx="1417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 3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FF8F0"/>
          </a:solidFill>
        </p:spPr>
      </p:sp>
      <p:sp>
        <p:nvSpPr>
          <p:cNvPr id="27" name="Text 20"/>
          <p:cNvSpPr/>
          <p:nvPr/>
        </p:nvSpPr>
        <p:spPr>
          <a:xfrm>
            <a:off x="914400" y="4846320"/>
            <a:ext cx="10360152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hypervisor lets one physical server pretend to be several independent computers.
</a:t>
            </a:r>
            <a:r>
              <a:rPr lang="en-US" sz="14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Virtual Machine (VM) has its own OS and apps, but they all share the same physical hardware underneath.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HISTORY  ·  1990S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Internet Connects the World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Fast, widespread internet meant computing power no longer had to be next to the user.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508760" y="2697480"/>
            <a:ext cx="1188720" cy="11887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cloud_deck/icons/deskto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4053" y="2982773"/>
            <a:ext cx="618134" cy="6181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0690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User's Computer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0" y="3017520"/>
            <a:ext cx="2697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0" y="2697480"/>
            <a:ext cx="1188720" cy="1188720"/>
          </a:xfrm>
          <a:prstGeom prst="ellipse">
            <a:avLst/>
          </a:prstGeom>
          <a:solidFill>
            <a:srgbClr val="0A2540"/>
          </a:solidFill>
        </p:spPr>
      </p:sp>
      <p:pic>
        <p:nvPicPr>
          <p:cNvPr id="10" name="Image 1" descr="/home/claude/cloud_deck/icons/glob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693" y="2982773"/>
            <a:ext cx="618134" cy="6181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0600" y="40690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Internet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720840" y="3017520"/>
            <a:ext cx="2697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9464040" y="2697480"/>
            <a:ext cx="1188720" cy="11887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4" name="Image 2" descr="/home/claude/cloud_deck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9333" y="2982773"/>
            <a:ext cx="618134" cy="6181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78240" y="40690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Remote Server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E4EEF3"/>
          </a:solidFill>
        </p:spPr>
      </p:sp>
      <p:sp>
        <p:nvSpPr>
          <p:cNvPr id="17" name="Text 12"/>
          <p:cNvSpPr/>
          <p:nvPr/>
        </p:nvSpPr>
        <p:spPr>
          <a:xfrm>
            <a:off x="914400" y="5074920"/>
            <a:ext cx="10360152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the first time, people could access computing resources far away — this is the missing piece that made real cloud computing possible.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1" name="Rectangle: Rounded Corners 20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3" name="Picture 22" descr="PANTECH SOLUTION HOME - Pantech.A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HISTORY  ·  2000S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2000s: Modern Cloud Emerges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28116" y="1737360"/>
            <a:ext cx="4937760" cy="4206240"/>
          </a:xfrm>
          <a:prstGeom prst="roundRect">
            <a:avLst>
              <a:gd name="adj" fmla="val 1957"/>
            </a:avLst>
          </a:prstGeom>
          <a:solidFill>
            <a:srgbClr val="F3EFEA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28116" y="205740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85316" y="2788920"/>
            <a:ext cx="457200" cy="457200"/>
          </a:xfrm>
          <a:prstGeom prst="ellipse">
            <a:avLst/>
          </a:prstGeom>
          <a:solidFill>
            <a:srgbClr val="D64545"/>
          </a:solidFill>
        </p:spPr>
      </p:sp>
      <p:pic>
        <p:nvPicPr>
          <p:cNvPr id="7" name="Image 0" descr="/home/claude/cloud_deck/icons/xmar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" y="28986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79676" y="278892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 physical servers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385316" y="3410712"/>
            <a:ext cx="457200" cy="457200"/>
          </a:xfrm>
          <a:prstGeom prst="ellipse">
            <a:avLst/>
          </a:prstGeom>
          <a:solidFill>
            <a:srgbClr val="D64545"/>
          </a:solidFill>
        </p:spPr>
      </p:sp>
      <p:pic>
        <p:nvPicPr>
          <p:cNvPr id="10" name="Image 1" descr="/home/claude/cloud_deck/icons/xmar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" y="352044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79676" y="3410712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 operating systems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1385316" y="4032504"/>
            <a:ext cx="457200" cy="457200"/>
          </a:xfrm>
          <a:prstGeom prst="ellipse">
            <a:avLst/>
          </a:prstGeom>
          <a:solidFill>
            <a:srgbClr val="D64545"/>
          </a:solidFill>
        </p:spPr>
      </p:sp>
      <p:pic>
        <p:nvPicPr>
          <p:cNvPr id="13" name="Image 2" descr="/home/claude/cloud_deck/icons/xmar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" y="41422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79676" y="4032504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 networking manually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1385316" y="4654296"/>
            <a:ext cx="457200" cy="457200"/>
          </a:xfrm>
          <a:prstGeom prst="ellipse">
            <a:avLst/>
          </a:prstGeom>
          <a:solidFill>
            <a:srgbClr val="D64545"/>
          </a:solidFill>
        </p:spPr>
      </p:sp>
      <p:pic>
        <p:nvPicPr>
          <p:cNvPr id="16" name="Image 3" descr="/home/claude/cloud_deck/icons/xmar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" y="476402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979676" y="4654296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 hardware forever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1385316" y="5276088"/>
            <a:ext cx="457200" cy="457200"/>
          </a:xfrm>
          <a:prstGeom prst="ellipse">
            <a:avLst/>
          </a:prstGeom>
          <a:solidFill>
            <a:srgbClr val="D64545"/>
          </a:solidFill>
        </p:spPr>
      </p:sp>
      <p:pic>
        <p:nvPicPr>
          <p:cNvPr id="19" name="Image 4" descr="/home/claude/cloud_deck/icons/xmar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" y="5385816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979676" y="5276088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 weeks to scale up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323076" y="1737360"/>
            <a:ext cx="4937760" cy="4206240"/>
          </a:xfrm>
          <a:prstGeom prst="roundRect">
            <a:avLst>
              <a:gd name="adj" fmla="val 1957"/>
            </a:avLst>
          </a:prstGeom>
          <a:solidFill>
            <a:srgbClr val="0A2540"/>
          </a:solidFill>
        </p:spPr>
      </p:sp>
      <p:sp>
        <p:nvSpPr>
          <p:cNvPr id="22" name="Text 15"/>
          <p:cNvSpPr/>
          <p:nvPr/>
        </p:nvSpPr>
        <p:spPr>
          <a:xfrm>
            <a:off x="6323076" y="205740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</a:t>
            </a:r>
            <a:endParaRPr lang="en-US" sz="2000" dirty="0"/>
          </a:p>
        </p:txBody>
      </p:sp>
      <p:sp>
        <p:nvSpPr>
          <p:cNvPr id="23" name="Shape 16"/>
          <p:cNvSpPr/>
          <p:nvPr/>
        </p:nvSpPr>
        <p:spPr>
          <a:xfrm>
            <a:off x="6780276" y="2788920"/>
            <a:ext cx="457200" cy="457200"/>
          </a:xfrm>
          <a:prstGeom prst="ellipse">
            <a:avLst/>
          </a:prstGeom>
          <a:solidFill>
            <a:srgbClr val="2E9E5B"/>
          </a:solidFill>
        </p:spPr>
      </p:sp>
      <p:pic>
        <p:nvPicPr>
          <p:cNvPr id="24" name="Image 5" descr="/home/claude/cloud_deck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004" y="2898648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74636" y="2788920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resources online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6780276" y="3410712"/>
            <a:ext cx="457200" cy="457200"/>
          </a:xfrm>
          <a:prstGeom prst="ellipse">
            <a:avLst/>
          </a:prstGeom>
          <a:solidFill>
            <a:srgbClr val="2E9E5B"/>
          </a:solidFill>
        </p:spPr>
      </p:sp>
      <p:pic>
        <p:nvPicPr>
          <p:cNvPr id="27" name="Image 6" descr="/home/claude/cloud_deck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004" y="3520440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374636" y="3410712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 in minutes</a:t>
            </a:r>
            <a:endParaRPr 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6780276" y="4032504"/>
            <a:ext cx="457200" cy="457200"/>
          </a:xfrm>
          <a:prstGeom prst="ellipse">
            <a:avLst/>
          </a:prstGeom>
          <a:solidFill>
            <a:srgbClr val="2E9E5B"/>
          </a:solidFill>
        </p:spPr>
      </p:sp>
      <p:pic>
        <p:nvPicPr>
          <p:cNvPr id="30" name="Image 7" descr="/home/claude/cloud_deck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004" y="4142232"/>
            <a:ext cx="237744" cy="23774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374636" y="4032504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Networking is automated</a:t>
            </a:r>
            <a:endParaRPr lang="en-US" sz="1350" dirty="0"/>
          </a:p>
        </p:txBody>
      </p:sp>
      <p:sp>
        <p:nvSpPr>
          <p:cNvPr id="32" name="Shape 22"/>
          <p:cNvSpPr/>
          <p:nvPr/>
        </p:nvSpPr>
        <p:spPr>
          <a:xfrm>
            <a:off x="6780276" y="4654296"/>
            <a:ext cx="457200" cy="457200"/>
          </a:xfrm>
          <a:prstGeom prst="ellipse">
            <a:avLst/>
          </a:prstGeom>
          <a:solidFill>
            <a:srgbClr val="2E9E5B"/>
          </a:solidFill>
        </p:spPr>
      </p:sp>
      <p:pic>
        <p:nvPicPr>
          <p:cNvPr id="33" name="Image 8" descr="/home/claude/cloud_deck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004" y="4764024"/>
            <a:ext cx="237744" cy="23774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374636" y="4654296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Provider maintains hardware</a:t>
            </a:r>
            <a:endParaRPr lang="en-US" sz="1350" dirty="0"/>
          </a:p>
        </p:txBody>
      </p:sp>
      <p:sp>
        <p:nvSpPr>
          <p:cNvPr id="35" name="Shape 24"/>
          <p:cNvSpPr/>
          <p:nvPr/>
        </p:nvSpPr>
        <p:spPr>
          <a:xfrm>
            <a:off x="6780276" y="5276088"/>
            <a:ext cx="457200" cy="457200"/>
          </a:xfrm>
          <a:prstGeom prst="ellipse">
            <a:avLst/>
          </a:prstGeom>
          <a:solidFill>
            <a:srgbClr val="2E9E5B"/>
          </a:solidFill>
        </p:spPr>
      </p:sp>
      <p:pic>
        <p:nvPicPr>
          <p:cNvPr id="36" name="Image 9" descr="/home/claude/cloud_deck/icons/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004" y="5385816"/>
            <a:ext cx="237744" cy="23774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374636" y="5276088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up or down instantly</a:t>
            </a:r>
            <a:endParaRPr lang="en-US" sz="1350" dirty="0"/>
          </a:p>
        </p:txBody>
      </p:sp>
      <p:sp>
        <p:nvSpPr>
          <p:cNvPr id="39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Text 2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HISTORY  ·  2006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AWS: A Major Milestone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Amazon Web Services launched core infrastructure services, making cloud computing practical and affordable for everyone.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613916" y="2468880"/>
            <a:ext cx="4206240" cy="2286000"/>
          </a:xfrm>
          <a:prstGeom prst="roundRect">
            <a:avLst>
              <a:gd name="adj" fmla="val 3600"/>
            </a:avLst>
          </a:prstGeom>
          <a:solidFill>
            <a:srgbClr val="12335A"/>
          </a:solidFill>
        </p:spPr>
      </p:sp>
      <p:sp>
        <p:nvSpPr>
          <p:cNvPr id="6" name="Shape 4"/>
          <p:cNvSpPr/>
          <p:nvPr/>
        </p:nvSpPr>
        <p:spPr>
          <a:xfrm>
            <a:off x="3214116" y="2788920"/>
            <a:ext cx="1005840" cy="100584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7" name="Image 0" descr="/home/claude/cloud_deck/icons/serv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5518" y="3030322"/>
            <a:ext cx="523037" cy="5230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13916" y="3931920"/>
            <a:ext cx="4206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EC2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888236" y="43434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F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Rent virtual servers by the hour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68796" y="2468880"/>
            <a:ext cx="4206240" cy="2286000"/>
          </a:xfrm>
          <a:prstGeom prst="roundRect">
            <a:avLst>
              <a:gd name="adj" fmla="val 3600"/>
            </a:avLst>
          </a:prstGeom>
          <a:solidFill>
            <a:srgbClr val="12335A"/>
          </a:solidFill>
        </p:spPr>
      </p:sp>
      <p:sp>
        <p:nvSpPr>
          <p:cNvPr id="11" name="Shape 8"/>
          <p:cNvSpPr/>
          <p:nvPr/>
        </p:nvSpPr>
        <p:spPr>
          <a:xfrm>
            <a:off x="7968996" y="2788920"/>
            <a:ext cx="1005840" cy="100584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12" name="Image 1" descr="/home/claude/cloud_deck/icons/hd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398" y="3030322"/>
            <a:ext cx="523037" cy="5230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68796" y="3931920"/>
            <a:ext cx="4206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S3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643116" y="43434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F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unlimited files in the cloud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1097280" y="5074920"/>
            <a:ext cx="9994392" cy="1234440"/>
          </a:xfrm>
          <a:prstGeom prst="roundRect">
            <a:avLst>
              <a:gd name="adj" fmla="val 6667"/>
            </a:avLst>
          </a:prstGeom>
          <a:solidFill>
            <a:srgbClr val="0F2D50"/>
          </a:solidFill>
        </p:spPr>
      </p:sp>
      <p:sp>
        <p:nvSpPr>
          <p:cNvPr id="16" name="Text 12"/>
          <p:cNvSpPr/>
          <p:nvPr/>
        </p:nvSpPr>
        <p:spPr>
          <a:xfrm>
            <a:off x="1463040" y="5074920"/>
            <a:ext cx="9262872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5D6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Important: AWS did NOT invent cloud computing by itself. It built on decades of time-sharing, virtualization, and internet growth — then made it easy to buy.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0" name="Rectangle: Rounded Corners 19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2" name="Picture 21" descr="PANTECH SOLUTION HOME - Pantech.A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HISTORY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Cloud Computing Evolution: A 60-Year Journey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3703320"/>
            <a:ext cx="10360152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4612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cloud_deck/icons/us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3465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" y="246888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1960s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" y="429768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29230" y="324612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0" name="Image 1" descr="/home/claude/cloud_deck/icons/cog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686" y="3465576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63470" y="246888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1970s–90s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163470" y="429768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Virtual-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ization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01261" y="324612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4" name="Image 2" descr="/home/claude/cloud_deck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717" y="3465576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35501" y="246888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1990s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235501" y="429768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673291" y="324612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3" descr="/home/claude/cloud_deck/icons/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747" y="3465576"/>
            <a:ext cx="475488" cy="4754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07531" y="246888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2000s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307531" y="429768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745322" y="324612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2" name="Image 4" descr="/home/claude/cloud_deck/icons/amaz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4778" y="3465576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79562" y="246888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2006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379562" y="429768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Services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10817352" y="3246120"/>
            <a:ext cx="914400" cy="91440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26" name="Image 5" descr="/home/claude/cloud_deck/icons/rock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6808" y="3465576"/>
            <a:ext cx="475488" cy="4754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451592" y="246888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10451592" y="429768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914400" y="5303520"/>
            <a:ext cx="10360152" cy="1005840"/>
          </a:xfrm>
          <a:prstGeom prst="roundRect">
            <a:avLst>
              <a:gd name="adj" fmla="val 8182"/>
            </a:avLst>
          </a:prstGeom>
          <a:solidFill>
            <a:srgbClr val="E4EEF3"/>
          </a:solidFill>
        </p:spPr>
      </p:sp>
      <p:sp>
        <p:nvSpPr>
          <p:cNvPr id="30" name="Text 22"/>
          <p:cNvSpPr/>
          <p:nvPr/>
        </p:nvSpPr>
        <p:spPr>
          <a:xfrm>
            <a:off x="1280160" y="5303520"/>
            <a:ext cx="9628632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was not invented in one moment — it evolved gradually from many technologies over 60 years.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3" name="Image 0" descr="/home/claude/cloud_deck/icons/questio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724205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THE CLASS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Was Cloud Computing Created by AWS?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468880"/>
            <a:ext cx="10360152" cy="868680"/>
          </a:xfrm>
          <a:prstGeom prst="roundRect">
            <a:avLst>
              <a:gd name="adj" fmla="val 9474"/>
            </a:avLst>
          </a:prstGeom>
          <a:solidFill>
            <a:srgbClr val="12335A"/>
          </a:solidFill>
        </p:spPr>
      </p:sp>
      <p:sp>
        <p:nvSpPr>
          <p:cNvPr id="7" name="Shape 4"/>
          <p:cNvSpPr/>
          <p:nvPr/>
        </p:nvSpPr>
        <p:spPr>
          <a:xfrm>
            <a:off x="1188720" y="26289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</p:sp>
      <p:sp>
        <p:nvSpPr>
          <p:cNvPr id="8" name="Text 5"/>
          <p:cNvSpPr/>
          <p:nvPr/>
        </p:nvSpPr>
        <p:spPr>
          <a:xfrm>
            <a:off x="1188720" y="26289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011680" y="2468880"/>
            <a:ext cx="8531352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Yes, AWS invented it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9474"/>
            </a:avLst>
          </a:prstGeom>
          <a:solidFill>
            <a:srgbClr val="12335A"/>
          </a:solidFill>
        </p:spPr>
      </p:sp>
      <p:sp>
        <p:nvSpPr>
          <p:cNvPr id="11" name="Shape 8"/>
          <p:cNvSpPr/>
          <p:nvPr/>
        </p:nvSpPr>
        <p:spPr>
          <a:xfrm>
            <a:off x="1188720" y="36804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</p:sp>
      <p:sp>
        <p:nvSpPr>
          <p:cNvPr id="12" name="Text 9"/>
          <p:cNvSpPr/>
          <p:nvPr/>
        </p:nvSpPr>
        <p:spPr>
          <a:xfrm>
            <a:off x="1188720" y="36804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011680" y="3520440"/>
            <a:ext cx="8531352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No, it already existed before AWS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14400" y="4572000"/>
            <a:ext cx="10360152" cy="868680"/>
          </a:xfrm>
          <a:prstGeom prst="roundRect">
            <a:avLst>
              <a:gd name="adj" fmla="val 9474"/>
            </a:avLst>
          </a:prstGeom>
          <a:solidFill>
            <a:srgbClr val="1B4D3E"/>
          </a:solidFill>
        </p:spPr>
      </p:sp>
      <p:sp>
        <p:nvSpPr>
          <p:cNvPr id="15" name="Shape 12"/>
          <p:cNvSpPr/>
          <p:nvPr/>
        </p:nvSpPr>
        <p:spPr>
          <a:xfrm>
            <a:off x="1188720" y="47320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E9E5B"/>
          </a:solidFill>
        </p:spPr>
      </p:sp>
      <p:sp>
        <p:nvSpPr>
          <p:cNvPr id="16" name="Text 13"/>
          <p:cNvSpPr/>
          <p:nvPr/>
        </p:nvSpPr>
        <p:spPr>
          <a:xfrm>
            <a:off x="1188720" y="473202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011680" y="4572000"/>
            <a:ext cx="8531352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Partially — AWS built on decades of earlier tech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537192" y="4572000"/>
            <a:ext cx="15544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CORRECT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14400" y="5989320"/>
            <a:ext cx="10360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Reveal: Option C is correct — AWS was a milestone, not the origin.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3" name="Rectangle: Rounded Corners 22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5" name="Picture 24" descr="PANTECH SOLUTION HOME - Pantech.A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Cloud Computing?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0A2540"/>
          </a:solidFill>
        </p:spPr>
      </p:sp>
      <p:sp>
        <p:nvSpPr>
          <p:cNvPr id="5" name="Text 3"/>
          <p:cNvSpPr/>
          <p:nvPr/>
        </p:nvSpPr>
        <p:spPr>
          <a:xfrm>
            <a:off x="914400" y="1554480"/>
            <a:ext cx="10360152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“Cloud Computing is the delivery of computing resources over the Internet, on demand.”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3794760"/>
            <a:ext cx="1005840" cy="10058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7" name="Image 0" descr="/home/claude/cloud_deck/icons/us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82" y="4036162"/>
            <a:ext cx="523037" cy="5230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89204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965960" y="402336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063240" y="3794760"/>
            <a:ext cx="1005840" cy="10058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/home/claude/cloud_deck/icons/glob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642" y="4036162"/>
            <a:ext cx="523037" cy="5230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489204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60520" y="4023360"/>
            <a:ext cx="1051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5212080" y="3749040"/>
            <a:ext cx="1097280" cy="1097280"/>
          </a:xfrm>
          <a:prstGeom prst="ellipse">
            <a:avLst/>
          </a:prstGeom>
          <a:solidFill>
            <a:srgbClr val="0A2540"/>
          </a:solidFill>
        </p:spPr>
      </p:sp>
      <p:pic>
        <p:nvPicPr>
          <p:cNvPr id="15" name="Image 2" descr="/home/claude/cloud_deck/icons/clou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427" y="4012387"/>
            <a:ext cx="570586" cy="5705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37760" y="493776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Cloud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00800" y="4023360"/>
            <a:ext cx="822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7452360" y="3520440"/>
            <a:ext cx="17373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452360" y="416052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372600" y="3520440"/>
            <a:ext cx="17373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9372600" y="416052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11292840" y="3520440"/>
            <a:ext cx="17373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11292840" y="416052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13213080" y="3520440"/>
            <a:ext cx="17373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13213080" y="416052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9" name="Rectangle: Rounded Corners 28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1" name="Picture 30" descr="PANTECH SOLUTION HOME - Pantech.A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BEHIND THE SCENES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Inside “The Cloud”?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90956" y="173736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36776" y="196596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cloud_deck/icons/buildin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4286" y="21634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0956" y="292608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Centers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488436" y="173736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34256" y="196596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0" name="Image 1" descr="/home/claude/cloud_deck/icons/serv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766" y="216347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88436" y="292608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185916" y="173736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31736" y="196596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4" name="Image 2" descr="/home/claude/cloud_deck/icons/hd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246" y="216347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85916" y="292608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883396" y="173736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729216" y="196596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3" descr="/home/claude/cloud_deck/icons/netwo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726" y="2163470"/>
            <a:ext cx="427939" cy="4279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83396" y="292608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Networking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790956" y="374904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636776" y="397764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2" name="Image 4" descr="/home/claude/cloud_deck/icons/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4286" y="4175150"/>
            <a:ext cx="427939" cy="42793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90956" y="493776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3488436" y="374904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334256" y="397764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6" name="Image 5" descr="/home/claude/cloud_deck/icons/wi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1766" y="4175150"/>
            <a:ext cx="427939" cy="42793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88436" y="493776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Cooling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6185916" y="374904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031736" y="397764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0" name="Image 6" descr="/home/claude/cloud_deck/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9246" y="4175150"/>
            <a:ext cx="427939" cy="42793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185916" y="493776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350" dirty="0"/>
          </a:p>
        </p:txBody>
      </p:sp>
      <p:sp>
        <p:nvSpPr>
          <p:cNvPr id="33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sp>
        <p:nvSpPr>
          <p:cNvPr id="34" name="Text 2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35" name="Rectangle: Rounded Corners 34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7" name="Picture 36" descr="PANTECH SOLUTION HOME - Pantech.A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VISUALIZE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Inside a Cloud Data Center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F2D50"/>
          </a:solidFill>
        </p:spPr>
      </p:sp>
      <p:sp>
        <p:nvSpPr>
          <p:cNvPr id="5" name="Shape 3"/>
          <p:cNvSpPr/>
          <p:nvPr/>
        </p:nvSpPr>
        <p:spPr>
          <a:xfrm>
            <a:off x="1188720" y="2011680"/>
            <a:ext cx="1463040" cy="3566160"/>
          </a:xfrm>
          <a:prstGeom prst="roundRect">
            <a:avLst>
              <a:gd name="adj" fmla="val 3750"/>
            </a:avLst>
          </a:prstGeom>
          <a:solidFill>
            <a:srgbClr val="12335A"/>
          </a:solidFill>
          <a:ln w="12700">
            <a:solidFill>
              <a:srgbClr val="2A5B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2176272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7" name="Shape 5"/>
          <p:cNvSpPr/>
          <p:nvPr/>
        </p:nvSpPr>
        <p:spPr>
          <a:xfrm>
            <a:off x="2340864" y="2286000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8" name="Shape 6"/>
          <p:cNvSpPr/>
          <p:nvPr/>
        </p:nvSpPr>
        <p:spPr>
          <a:xfrm>
            <a:off x="1298448" y="2651760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9" name="Shape 7"/>
          <p:cNvSpPr/>
          <p:nvPr/>
        </p:nvSpPr>
        <p:spPr>
          <a:xfrm>
            <a:off x="2340864" y="2761488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10" name="Shape 8"/>
          <p:cNvSpPr/>
          <p:nvPr/>
        </p:nvSpPr>
        <p:spPr>
          <a:xfrm>
            <a:off x="1298448" y="3127248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1" name="Shape 9"/>
          <p:cNvSpPr/>
          <p:nvPr/>
        </p:nvSpPr>
        <p:spPr>
          <a:xfrm>
            <a:off x="2340864" y="3236976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12" name="Shape 10"/>
          <p:cNvSpPr/>
          <p:nvPr/>
        </p:nvSpPr>
        <p:spPr>
          <a:xfrm>
            <a:off x="1298448" y="3602736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3" name="Shape 11"/>
          <p:cNvSpPr/>
          <p:nvPr/>
        </p:nvSpPr>
        <p:spPr>
          <a:xfrm>
            <a:off x="2340864" y="3712464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14" name="Shape 12"/>
          <p:cNvSpPr/>
          <p:nvPr/>
        </p:nvSpPr>
        <p:spPr>
          <a:xfrm>
            <a:off x="1298448" y="4078224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5" name="Shape 13"/>
          <p:cNvSpPr/>
          <p:nvPr/>
        </p:nvSpPr>
        <p:spPr>
          <a:xfrm>
            <a:off x="2340864" y="4187952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16" name="Shape 14"/>
          <p:cNvSpPr/>
          <p:nvPr/>
        </p:nvSpPr>
        <p:spPr>
          <a:xfrm>
            <a:off x="1298448" y="4553712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7" name="Shape 15"/>
          <p:cNvSpPr/>
          <p:nvPr/>
        </p:nvSpPr>
        <p:spPr>
          <a:xfrm>
            <a:off x="2340864" y="4663440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18" name="Shape 16"/>
          <p:cNvSpPr/>
          <p:nvPr/>
        </p:nvSpPr>
        <p:spPr>
          <a:xfrm>
            <a:off x="1298448" y="5029200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9" name="Shape 17"/>
          <p:cNvSpPr/>
          <p:nvPr/>
        </p:nvSpPr>
        <p:spPr>
          <a:xfrm>
            <a:off x="2340864" y="5138928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20" name="Shape 18"/>
          <p:cNvSpPr/>
          <p:nvPr/>
        </p:nvSpPr>
        <p:spPr>
          <a:xfrm>
            <a:off x="2971800" y="2011680"/>
            <a:ext cx="1463040" cy="3566160"/>
          </a:xfrm>
          <a:prstGeom prst="roundRect">
            <a:avLst>
              <a:gd name="adj" fmla="val 3750"/>
            </a:avLst>
          </a:prstGeom>
          <a:solidFill>
            <a:srgbClr val="12335A"/>
          </a:solidFill>
          <a:ln w="12700">
            <a:solidFill>
              <a:srgbClr val="2A5B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81528" y="2176272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2" name="Shape 20"/>
          <p:cNvSpPr/>
          <p:nvPr/>
        </p:nvSpPr>
        <p:spPr>
          <a:xfrm>
            <a:off x="4123944" y="2286000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23" name="Shape 21"/>
          <p:cNvSpPr/>
          <p:nvPr/>
        </p:nvSpPr>
        <p:spPr>
          <a:xfrm>
            <a:off x="3081528" y="2651760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4" name="Shape 22"/>
          <p:cNvSpPr/>
          <p:nvPr/>
        </p:nvSpPr>
        <p:spPr>
          <a:xfrm>
            <a:off x="4123944" y="2761488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25" name="Shape 23"/>
          <p:cNvSpPr/>
          <p:nvPr/>
        </p:nvSpPr>
        <p:spPr>
          <a:xfrm>
            <a:off x="3081528" y="3127248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6" name="Shape 24"/>
          <p:cNvSpPr/>
          <p:nvPr/>
        </p:nvSpPr>
        <p:spPr>
          <a:xfrm>
            <a:off x="4123944" y="3236976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27" name="Shape 25"/>
          <p:cNvSpPr/>
          <p:nvPr/>
        </p:nvSpPr>
        <p:spPr>
          <a:xfrm>
            <a:off x="3081528" y="3602736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8" name="Shape 26"/>
          <p:cNvSpPr/>
          <p:nvPr/>
        </p:nvSpPr>
        <p:spPr>
          <a:xfrm>
            <a:off x="4123944" y="3712464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29" name="Shape 27"/>
          <p:cNvSpPr/>
          <p:nvPr/>
        </p:nvSpPr>
        <p:spPr>
          <a:xfrm>
            <a:off x="3081528" y="4078224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30" name="Shape 28"/>
          <p:cNvSpPr/>
          <p:nvPr/>
        </p:nvSpPr>
        <p:spPr>
          <a:xfrm>
            <a:off x="4123944" y="4187952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31" name="Shape 29"/>
          <p:cNvSpPr/>
          <p:nvPr/>
        </p:nvSpPr>
        <p:spPr>
          <a:xfrm>
            <a:off x="3081528" y="4553712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32" name="Shape 30"/>
          <p:cNvSpPr/>
          <p:nvPr/>
        </p:nvSpPr>
        <p:spPr>
          <a:xfrm>
            <a:off x="4123944" y="4663440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33" name="Shape 31"/>
          <p:cNvSpPr/>
          <p:nvPr/>
        </p:nvSpPr>
        <p:spPr>
          <a:xfrm>
            <a:off x="3081528" y="5029200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34" name="Shape 32"/>
          <p:cNvSpPr/>
          <p:nvPr/>
        </p:nvSpPr>
        <p:spPr>
          <a:xfrm>
            <a:off x="4123944" y="5138928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35" name="Shape 33"/>
          <p:cNvSpPr/>
          <p:nvPr/>
        </p:nvSpPr>
        <p:spPr>
          <a:xfrm>
            <a:off x="4754880" y="2011680"/>
            <a:ext cx="1463040" cy="3566160"/>
          </a:xfrm>
          <a:prstGeom prst="roundRect">
            <a:avLst>
              <a:gd name="adj" fmla="val 3750"/>
            </a:avLst>
          </a:prstGeom>
          <a:solidFill>
            <a:srgbClr val="12335A"/>
          </a:solidFill>
          <a:ln w="12700">
            <a:solidFill>
              <a:srgbClr val="2A5B8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64608" y="2176272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37" name="Shape 35"/>
          <p:cNvSpPr/>
          <p:nvPr/>
        </p:nvSpPr>
        <p:spPr>
          <a:xfrm>
            <a:off x="5907024" y="2286000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38" name="Shape 36"/>
          <p:cNvSpPr/>
          <p:nvPr/>
        </p:nvSpPr>
        <p:spPr>
          <a:xfrm>
            <a:off x="4864608" y="2651760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39" name="Shape 37"/>
          <p:cNvSpPr/>
          <p:nvPr/>
        </p:nvSpPr>
        <p:spPr>
          <a:xfrm>
            <a:off x="5907024" y="2761488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40" name="Shape 38"/>
          <p:cNvSpPr/>
          <p:nvPr/>
        </p:nvSpPr>
        <p:spPr>
          <a:xfrm>
            <a:off x="4864608" y="3127248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1" name="Shape 39"/>
          <p:cNvSpPr/>
          <p:nvPr/>
        </p:nvSpPr>
        <p:spPr>
          <a:xfrm>
            <a:off x="5907024" y="3236976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42" name="Shape 40"/>
          <p:cNvSpPr/>
          <p:nvPr/>
        </p:nvSpPr>
        <p:spPr>
          <a:xfrm>
            <a:off x="4864608" y="3602736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3" name="Shape 41"/>
          <p:cNvSpPr/>
          <p:nvPr/>
        </p:nvSpPr>
        <p:spPr>
          <a:xfrm>
            <a:off x="5907024" y="3712464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44" name="Shape 42"/>
          <p:cNvSpPr/>
          <p:nvPr/>
        </p:nvSpPr>
        <p:spPr>
          <a:xfrm>
            <a:off x="4864608" y="4078224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5" name="Shape 43"/>
          <p:cNvSpPr/>
          <p:nvPr/>
        </p:nvSpPr>
        <p:spPr>
          <a:xfrm>
            <a:off x="5907024" y="4187952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46" name="Shape 44"/>
          <p:cNvSpPr/>
          <p:nvPr/>
        </p:nvSpPr>
        <p:spPr>
          <a:xfrm>
            <a:off x="4864608" y="4553712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7" name="Shape 45"/>
          <p:cNvSpPr/>
          <p:nvPr/>
        </p:nvSpPr>
        <p:spPr>
          <a:xfrm>
            <a:off x="5907024" y="4663440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48" name="Shape 46"/>
          <p:cNvSpPr/>
          <p:nvPr/>
        </p:nvSpPr>
        <p:spPr>
          <a:xfrm>
            <a:off x="4864608" y="5029200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9" name="Shape 47"/>
          <p:cNvSpPr/>
          <p:nvPr/>
        </p:nvSpPr>
        <p:spPr>
          <a:xfrm>
            <a:off x="5907024" y="5138928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50" name="Shape 48"/>
          <p:cNvSpPr/>
          <p:nvPr/>
        </p:nvSpPr>
        <p:spPr>
          <a:xfrm>
            <a:off x="6537960" y="2011680"/>
            <a:ext cx="1463040" cy="3566160"/>
          </a:xfrm>
          <a:prstGeom prst="roundRect">
            <a:avLst>
              <a:gd name="adj" fmla="val 3750"/>
            </a:avLst>
          </a:prstGeom>
          <a:solidFill>
            <a:srgbClr val="12335A"/>
          </a:solidFill>
          <a:ln w="12700">
            <a:solidFill>
              <a:srgbClr val="2A5B8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47688" y="2176272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52" name="Shape 50"/>
          <p:cNvSpPr/>
          <p:nvPr/>
        </p:nvSpPr>
        <p:spPr>
          <a:xfrm>
            <a:off x="7690104" y="2286000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53" name="Shape 51"/>
          <p:cNvSpPr/>
          <p:nvPr/>
        </p:nvSpPr>
        <p:spPr>
          <a:xfrm>
            <a:off x="6647688" y="2651760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54" name="Shape 52"/>
          <p:cNvSpPr/>
          <p:nvPr/>
        </p:nvSpPr>
        <p:spPr>
          <a:xfrm>
            <a:off x="7690104" y="2761488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55" name="Shape 53"/>
          <p:cNvSpPr/>
          <p:nvPr/>
        </p:nvSpPr>
        <p:spPr>
          <a:xfrm>
            <a:off x="6647688" y="3127248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56" name="Shape 54"/>
          <p:cNvSpPr/>
          <p:nvPr/>
        </p:nvSpPr>
        <p:spPr>
          <a:xfrm>
            <a:off x="7690104" y="3236976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57" name="Shape 55"/>
          <p:cNvSpPr/>
          <p:nvPr/>
        </p:nvSpPr>
        <p:spPr>
          <a:xfrm>
            <a:off x="6647688" y="3602736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58" name="Shape 56"/>
          <p:cNvSpPr/>
          <p:nvPr/>
        </p:nvSpPr>
        <p:spPr>
          <a:xfrm>
            <a:off x="7690104" y="3712464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59" name="Shape 57"/>
          <p:cNvSpPr/>
          <p:nvPr/>
        </p:nvSpPr>
        <p:spPr>
          <a:xfrm>
            <a:off x="6647688" y="4078224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60" name="Shape 58"/>
          <p:cNvSpPr/>
          <p:nvPr/>
        </p:nvSpPr>
        <p:spPr>
          <a:xfrm>
            <a:off x="7690104" y="4187952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61" name="Shape 59"/>
          <p:cNvSpPr/>
          <p:nvPr/>
        </p:nvSpPr>
        <p:spPr>
          <a:xfrm>
            <a:off x="6647688" y="4553712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62" name="Shape 60"/>
          <p:cNvSpPr/>
          <p:nvPr/>
        </p:nvSpPr>
        <p:spPr>
          <a:xfrm>
            <a:off x="7690104" y="4663440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63" name="Shape 61"/>
          <p:cNvSpPr/>
          <p:nvPr/>
        </p:nvSpPr>
        <p:spPr>
          <a:xfrm>
            <a:off x="6647688" y="5029200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64" name="Shape 62"/>
          <p:cNvSpPr/>
          <p:nvPr/>
        </p:nvSpPr>
        <p:spPr>
          <a:xfrm>
            <a:off x="7690104" y="5138928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65" name="Shape 63"/>
          <p:cNvSpPr/>
          <p:nvPr/>
        </p:nvSpPr>
        <p:spPr>
          <a:xfrm>
            <a:off x="8321040" y="2011680"/>
            <a:ext cx="1463040" cy="3566160"/>
          </a:xfrm>
          <a:prstGeom prst="roundRect">
            <a:avLst>
              <a:gd name="adj" fmla="val 3750"/>
            </a:avLst>
          </a:prstGeom>
          <a:solidFill>
            <a:srgbClr val="12335A"/>
          </a:solidFill>
          <a:ln w="12700">
            <a:solidFill>
              <a:srgbClr val="2A5B8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30768" y="2176272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67" name="Shape 65"/>
          <p:cNvSpPr/>
          <p:nvPr/>
        </p:nvSpPr>
        <p:spPr>
          <a:xfrm>
            <a:off x="9473184" y="2286000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68" name="Shape 66"/>
          <p:cNvSpPr/>
          <p:nvPr/>
        </p:nvSpPr>
        <p:spPr>
          <a:xfrm>
            <a:off x="8430768" y="2651760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69" name="Shape 67"/>
          <p:cNvSpPr/>
          <p:nvPr/>
        </p:nvSpPr>
        <p:spPr>
          <a:xfrm>
            <a:off x="9473184" y="2761488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70" name="Shape 68"/>
          <p:cNvSpPr/>
          <p:nvPr/>
        </p:nvSpPr>
        <p:spPr>
          <a:xfrm>
            <a:off x="8430768" y="3127248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71" name="Shape 69"/>
          <p:cNvSpPr/>
          <p:nvPr/>
        </p:nvSpPr>
        <p:spPr>
          <a:xfrm>
            <a:off x="9473184" y="3236976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72" name="Shape 70"/>
          <p:cNvSpPr/>
          <p:nvPr/>
        </p:nvSpPr>
        <p:spPr>
          <a:xfrm>
            <a:off x="8430768" y="3602736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73" name="Shape 71"/>
          <p:cNvSpPr/>
          <p:nvPr/>
        </p:nvSpPr>
        <p:spPr>
          <a:xfrm>
            <a:off x="9473184" y="3712464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74" name="Shape 72"/>
          <p:cNvSpPr/>
          <p:nvPr/>
        </p:nvSpPr>
        <p:spPr>
          <a:xfrm>
            <a:off x="8430768" y="4078224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75" name="Shape 73"/>
          <p:cNvSpPr/>
          <p:nvPr/>
        </p:nvSpPr>
        <p:spPr>
          <a:xfrm>
            <a:off x="9473184" y="4187952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76" name="Shape 74"/>
          <p:cNvSpPr/>
          <p:nvPr/>
        </p:nvSpPr>
        <p:spPr>
          <a:xfrm>
            <a:off x="8430768" y="4553712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77" name="Shape 75"/>
          <p:cNvSpPr/>
          <p:nvPr/>
        </p:nvSpPr>
        <p:spPr>
          <a:xfrm>
            <a:off x="9473184" y="4663440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78" name="Shape 76"/>
          <p:cNvSpPr/>
          <p:nvPr/>
        </p:nvSpPr>
        <p:spPr>
          <a:xfrm>
            <a:off x="8430768" y="5029200"/>
            <a:ext cx="1243584" cy="329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79" name="Shape 77"/>
          <p:cNvSpPr/>
          <p:nvPr/>
        </p:nvSpPr>
        <p:spPr>
          <a:xfrm>
            <a:off x="9473184" y="5138928"/>
            <a:ext cx="91440" cy="91440"/>
          </a:xfrm>
          <a:prstGeom prst="ellipse">
            <a:avLst/>
          </a:prstGeom>
          <a:solidFill>
            <a:srgbClr val="2E9E5B"/>
          </a:solidFill>
        </p:spPr>
      </p:sp>
      <p:sp>
        <p:nvSpPr>
          <p:cNvPr id="80" name="Text 78"/>
          <p:cNvSpPr/>
          <p:nvPr/>
        </p:nvSpPr>
        <p:spPr>
          <a:xfrm>
            <a:off x="1188720" y="566928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FD1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 RACKS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686800" y="1965960"/>
            <a:ext cx="548640" cy="54864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82" name="Image 0" descr="/home/claude/cloud_deck/icons/networ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8474" y="2097634"/>
            <a:ext cx="285293" cy="285293"/>
          </a:xfrm>
          <a:prstGeom prst="rect">
            <a:avLst/>
          </a:prstGeom>
        </p:spPr>
      </p:pic>
      <p:sp>
        <p:nvSpPr>
          <p:cNvPr id="83" name="Text 80"/>
          <p:cNvSpPr/>
          <p:nvPr/>
        </p:nvSpPr>
        <p:spPr>
          <a:xfrm>
            <a:off x="9372600" y="1874520"/>
            <a:ext cx="21945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Equipment — connects everything together</a:t>
            </a:r>
            <a:endParaRPr lang="en-US" sz="1150" dirty="0"/>
          </a:p>
        </p:txBody>
      </p:sp>
      <p:sp>
        <p:nvSpPr>
          <p:cNvPr id="84" name="Shape 81"/>
          <p:cNvSpPr/>
          <p:nvPr/>
        </p:nvSpPr>
        <p:spPr>
          <a:xfrm>
            <a:off x="8686800" y="2926080"/>
            <a:ext cx="548640" cy="54864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85" name="Image 1" descr="/home/claude/cloud_deck/icons/win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474" y="3057754"/>
            <a:ext cx="285293" cy="285293"/>
          </a:xfrm>
          <a:prstGeom prst="rect">
            <a:avLst/>
          </a:prstGeom>
        </p:spPr>
      </p:pic>
      <p:sp>
        <p:nvSpPr>
          <p:cNvPr id="86" name="Text 82"/>
          <p:cNvSpPr/>
          <p:nvPr/>
        </p:nvSpPr>
        <p:spPr>
          <a:xfrm>
            <a:off x="9372600" y="2834640"/>
            <a:ext cx="21945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Cooling Systems — prevent overheating</a:t>
            </a:r>
            <a:endParaRPr lang="en-US" sz="1150" dirty="0"/>
          </a:p>
        </p:txBody>
      </p:sp>
      <p:sp>
        <p:nvSpPr>
          <p:cNvPr id="87" name="Shape 83"/>
          <p:cNvSpPr/>
          <p:nvPr/>
        </p:nvSpPr>
        <p:spPr>
          <a:xfrm>
            <a:off x="8686800" y="3886200"/>
            <a:ext cx="548640" cy="54864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88" name="Image 2" descr="/home/claude/cloud_deck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474" y="4017874"/>
            <a:ext cx="285293" cy="285293"/>
          </a:xfrm>
          <a:prstGeom prst="rect">
            <a:avLst/>
          </a:prstGeom>
        </p:spPr>
      </p:pic>
      <p:sp>
        <p:nvSpPr>
          <p:cNvPr id="89" name="Text 84"/>
          <p:cNvSpPr/>
          <p:nvPr/>
        </p:nvSpPr>
        <p:spPr>
          <a:xfrm>
            <a:off x="9372600" y="3794760"/>
            <a:ext cx="21945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Power — keeps servers running 24/7</a:t>
            </a:r>
            <a:endParaRPr lang="en-US" sz="1150" dirty="0"/>
          </a:p>
        </p:txBody>
      </p:sp>
      <p:sp>
        <p:nvSpPr>
          <p:cNvPr id="90" name="Shape 85"/>
          <p:cNvSpPr/>
          <p:nvPr/>
        </p:nvSpPr>
        <p:spPr>
          <a:xfrm>
            <a:off x="8686800" y="4846320"/>
            <a:ext cx="548640" cy="54864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91" name="Image 3" descr="/home/claude/cloud_deck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474" y="4977994"/>
            <a:ext cx="285293" cy="285293"/>
          </a:xfrm>
          <a:prstGeom prst="rect">
            <a:avLst/>
          </a:prstGeom>
        </p:spPr>
      </p:pic>
      <p:sp>
        <p:nvSpPr>
          <p:cNvPr id="92" name="Text 86"/>
          <p:cNvSpPr/>
          <p:nvPr/>
        </p:nvSpPr>
        <p:spPr>
          <a:xfrm>
            <a:off x="9372600" y="4754880"/>
            <a:ext cx="21945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— physical &amp; digital protection</a:t>
            </a:r>
            <a:endParaRPr lang="en-US" sz="1150" dirty="0"/>
          </a:p>
        </p:txBody>
      </p:sp>
      <p:sp>
        <p:nvSpPr>
          <p:cNvPr id="94" name="Text 8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sp>
        <p:nvSpPr>
          <p:cNvPr id="95" name="Text 8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96" name="Rectangle: Rounded Corners 95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8" name="Picture 97" descr="PANTECH SOLUTION HOME - Pantech.A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WS Says It's Never Seen a Whole Data Center Go Dow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020" y="540647"/>
            <a:ext cx="3121152" cy="2081784"/>
          </a:xfrm>
          <a:prstGeom prst="rect">
            <a:avLst/>
          </a:prstGeom>
        </p:spPr>
      </p:pic>
      <p:pic>
        <p:nvPicPr>
          <p:cNvPr id="3" name="Picture 2" descr="Amazon Web Services says Dublin data centre plan will not have 'significant  impact on climate' | VINCENT KELLY MB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492" y="1805792"/>
            <a:ext cx="5346324" cy="2806820"/>
          </a:xfrm>
          <a:prstGeom prst="rect">
            <a:avLst/>
          </a:prstGeom>
        </p:spPr>
      </p:pic>
      <p:pic>
        <p:nvPicPr>
          <p:cNvPr id="4" name="Picture 3" descr="Amazon's first Indian AWS data centers launch in Mumbai | VentureBe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506" y="3603171"/>
            <a:ext cx="3048000" cy="2133600"/>
          </a:xfrm>
          <a:prstGeom prst="rect">
            <a:avLst/>
          </a:prstGeom>
        </p:spPr>
      </p:pic>
      <p:sp>
        <p:nvSpPr>
          <p:cNvPr id="6" name="Rectangle: Rounded Corners 5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 descr="PANTECH SOLUTION HOME - Pantech.A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Do We Need Cloud Computing?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1792" y="2011680"/>
            <a:ext cx="20574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93292" y="233172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cloud_deck/icons/expand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748" y="25511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429000"/>
            <a:ext cx="18745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4160520"/>
            <a:ext cx="17830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 resources as you grow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43784" y="2011680"/>
            <a:ext cx="20574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5284" y="233172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/home/claude/cloud_deck/icons/chartba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255117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5224" y="3429000"/>
            <a:ext cx="18745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Efficiency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980944" y="4160520"/>
            <a:ext cx="17830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 only for what you use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65776" y="2011680"/>
            <a:ext cx="20574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37276" y="233172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2" descr="/home/claude/cloud_deck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255117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57216" y="3429000"/>
            <a:ext cx="18745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202936" y="4160520"/>
            <a:ext cx="17830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Stay online, even during failures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287768" y="2011680"/>
            <a:ext cx="20574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59268" y="233172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1" name="Image 3" descr="/home/claude/cloud_deck/icons/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4" y="255117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9208" y="3429000"/>
            <a:ext cx="18745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Access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24928" y="4160520"/>
            <a:ext cx="17830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 users anywhere on Earth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509760" y="2011680"/>
            <a:ext cx="20574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81260" y="233172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6" name="Image 4" descr="/home/claude/cloud_deck/icons/rock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0716" y="2551176"/>
            <a:ext cx="475488" cy="4754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1200" y="3429000"/>
            <a:ext cx="18745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Deployment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646920" y="4160520"/>
            <a:ext cx="17830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in minutes, not months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32" name="Rectangle: Rounded Corners 31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4" name="Picture 33" descr="PANTECH SOLUTION HOME - Pantech.A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3" name="Image 0" descr="/home/claude/cloud_deck/icons/car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724205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SCENARIO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Festival Sale Traffic Spike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08792" cy="1188720"/>
          </a:xfrm>
          <a:prstGeom prst="roundRect">
            <a:avLst>
              <a:gd name="adj" fmla="val 6923"/>
            </a:avLst>
          </a:prstGeom>
          <a:solidFill>
            <a:srgbClr val="12335A"/>
          </a:solidFill>
        </p:spPr>
      </p:sp>
      <p:sp>
        <p:nvSpPr>
          <p:cNvPr id="7" name="Text 4"/>
          <p:cNvSpPr/>
          <p:nvPr/>
        </p:nvSpPr>
        <p:spPr>
          <a:xfrm>
            <a:off x="1005840" y="2103120"/>
            <a:ext cx="10177272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online shopping website normally has 1,000 users — but gets 100,000 users during a festival sale.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0F2D50"/>
          </a:solidFill>
        </p:spPr>
      </p:sp>
      <p:sp>
        <p:nvSpPr>
          <p:cNvPr id="9" name="Text 6"/>
          <p:cNvSpPr/>
          <p:nvPr/>
        </p:nvSpPr>
        <p:spPr>
          <a:xfrm>
            <a:off x="1005840" y="3520440"/>
            <a:ext cx="1017727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ASK: What problem might happen?  (Think for 15 seconds)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8076" y="45262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B4D3E"/>
          </a:solidFill>
        </p:spPr>
      </p:sp>
      <p:sp>
        <p:nvSpPr>
          <p:cNvPr id="11" name="Shape 8"/>
          <p:cNvSpPr/>
          <p:nvPr/>
        </p:nvSpPr>
        <p:spPr>
          <a:xfrm>
            <a:off x="1591056" y="4709160"/>
            <a:ext cx="640080" cy="640080"/>
          </a:xfrm>
          <a:prstGeom prst="ellipse">
            <a:avLst/>
          </a:prstGeom>
          <a:solidFill>
            <a:srgbClr val="D64545"/>
          </a:solidFill>
        </p:spPr>
      </p:sp>
      <p:pic>
        <p:nvPicPr>
          <p:cNvPr id="12" name="Image 1" descr="/home/claude/cloud_deck/icons/x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675" y="48627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" y="5440680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CPU usage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396996" y="45262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B4D3E"/>
          </a:solidFill>
        </p:spPr>
      </p:sp>
      <p:sp>
        <p:nvSpPr>
          <p:cNvPr id="15" name="Shape 11"/>
          <p:cNvSpPr/>
          <p:nvPr/>
        </p:nvSpPr>
        <p:spPr>
          <a:xfrm>
            <a:off x="4379976" y="4709160"/>
            <a:ext cx="640080" cy="640080"/>
          </a:xfrm>
          <a:prstGeom prst="ellipse">
            <a:avLst/>
          </a:prstGeom>
          <a:solidFill>
            <a:srgbClr val="D64545"/>
          </a:solidFill>
        </p:spPr>
      </p:sp>
      <p:pic>
        <p:nvPicPr>
          <p:cNvPr id="16" name="Image 2" descr="/home/claude/cloud_deck/icons/x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595" y="48627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88436" y="5440680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Increased traffic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85916" y="45262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B4D3E"/>
          </a:solidFill>
        </p:spPr>
      </p:sp>
      <p:sp>
        <p:nvSpPr>
          <p:cNvPr id="19" name="Shape 14"/>
          <p:cNvSpPr/>
          <p:nvPr/>
        </p:nvSpPr>
        <p:spPr>
          <a:xfrm>
            <a:off x="7168896" y="4709160"/>
            <a:ext cx="640080" cy="640080"/>
          </a:xfrm>
          <a:prstGeom prst="ellipse">
            <a:avLst/>
          </a:prstGeom>
          <a:solidFill>
            <a:srgbClr val="D64545"/>
          </a:solidFill>
        </p:spPr>
      </p:sp>
      <p:pic>
        <p:nvPicPr>
          <p:cNvPr id="20" name="Image 3" descr="/home/claude/cloud_deck/icons/x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15" y="486277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77356" y="5440680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resource demand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974836" y="45262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B4D3E"/>
          </a:solidFill>
        </p:spPr>
      </p:sp>
      <p:sp>
        <p:nvSpPr>
          <p:cNvPr id="23" name="Shape 17"/>
          <p:cNvSpPr/>
          <p:nvPr/>
        </p:nvSpPr>
        <p:spPr>
          <a:xfrm>
            <a:off x="9957816" y="4709160"/>
            <a:ext cx="640080" cy="640080"/>
          </a:xfrm>
          <a:prstGeom prst="ellipse">
            <a:avLst/>
          </a:prstGeom>
          <a:solidFill>
            <a:srgbClr val="D64545"/>
          </a:solidFill>
        </p:spPr>
      </p:sp>
      <p:pic>
        <p:nvPicPr>
          <p:cNvPr id="24" name="Image 4" descr="/home/claude/cloud_deck/icons/x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1435" y="4862779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066276" y="5440680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Possible slowdowns / crashes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9" name="Rectangle: Rounded Corners 28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1" name="Picture 30" descr="PANTECH SOLUTION HOME - Pantech.A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Scalability vs. Elasticity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82880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5216" y="196596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 Traffic</a:t>
            </a:r>
            <a:endParaRPr lang="en-US" sz="1300" dirty="0"/>
          </a:p>
        </p:txBody>
      </p:sp>
      <p:pic>
        <p:nvPicPr>
          <p:cNvPr id="6" name="Image 0" descr="/home/claude/cloud_deck/icons/server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" y="2606040"/>
            <a:ext cx="384048" cy="384048"/>
          </a:xfrm>
          <a:prstGeom prst="rect">
            <a:avLst/>
          </a:prstGeom>
        </p:spPr>
      </p:pic>
      <p:pic>
        <p:nvPicPr>
          <p:cNvPr id="7" name="Image 1" descr="/home/claude/cloud_deck/icons/server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772" y="260604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" y="4343400"/>
            <a:ext cx="3520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Servers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014216" y="3200400"/>
            <a:ext cx="320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334256" y="182880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425696" y="196596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Festival Sale (High Traffic)</a:t>
            </a:r>
            <a:endParaRPr lang="en-US" sz="1300" dirty="0"/>
          </a:p>
        </p:txBody>
      </p:sp>
      <p:pic>
        <p:nvPicPr>
          <p:cNvPr id="12" name="Image 2" descr="/home/claude/cloud_deck/icons/server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8052" y="2606040"/>
            <a:ext cx="384048" cy="384048"/>
          </a:xfrm>
          <a:prstGeom prst="rect">
            <a:avLst/>
          </a:prstGeom>
        </p:spPr>
      </p:pic>
      <p:pic>
        <p:nvPicPr>
          <p:cNvPr id="13" name="Image 3" descr="/home/claude/cloud_deck/icons/server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5252" y="2606040"/>
            <a:ext cx="384048" cy="384048"/>
          </a:xfrm>
          <a:prstGeom prst="rect">
            <a:avLst/>
          </a:prstGeom>
        </p:spPr>
      </p:pic>
      <p:pic>
        <p:nvPicPr>
          <p:cNvPr id="14" name="Image 4" descr="/home/claude/cloud_deck/icons/server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2452" y="2606040"/>
            <a:ext cx="384048" cy="384048"/>
          </a:xfrm>
          <a:prstGeom prst="rect">
            <a:avLst/>
          </a:prstGeom>
        </p:spPr>
      </p:pic>
      <p:pic>
        <p:nvPicPr>
          <p:cNvPr id="15" name="Image 5" descr="/home/claude/cloud_deck/icons/server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9652" y="2606040"/>
            <a:ext cx="384048" cy="384048"/>
          </a:xfrm>
          <a:prstGeom prst="rect">
            <a:avLst/>
          </a:prstGeom>
        </p:spPr>
      </p:pic>
      <p:pic>
        <p:nvPicPr>
          <p:cNvPr id="16" name="Image 6" descr="/home/claude/cloud_deck/icons/server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6852" y="2606040"/>
            <a:ext cx="384048" cy="384048"/>
          </a:xfrm>
          <a:prstGeom prst="rect">
            <a:avLst/>
          </a:prstGeom>
        </p:spPr>
      </p:pic>
      <p:pic>
        <p:nvPicPr>
          <p:cNvPr id="17" name="Image 7" descr="/home/claude/cloud_deck/icons/server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8052" y="3063240"/>
            <a:ext cx="384048" cy="384048"/>
          </a:xfrm>
          <a:prstGeom prst="rect">
            <a:avLst/>
          </a:prstGeom>
        </p:spPr>
      </p:pic>
      <p:pic>
        <p:nvPicPr>
          <p:cNvPr id="18" name="Image 8" descr="/home/claude/cloud_deck/icons/server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5252" y="3063240"/>
            <a:ext cx="384048" cy="384048"/>
          </a:xfrm>
          <a:prstGeom prst="rect">
            <a:avLst/>
          </a:prstGeom>
        </p:spPr>
      </p:pic>
      <p:pic>
        <p:nvPicPr>
          <p:cNvPr id="19" name="Image 9" descr="/home/claude/cloud_deck/icons/server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2452" y="3063240"/>
            <a:ext cx="384048" cy="384048"/>
          </a:xfrm>
          <a:prstGeom prst="rect">
            <a:avLst/>
          </a:prstGeom>
        </p:spPr>
      </p:pic>
      <p:pic>
        <p:nvPicPr>
          <p:cNvPr id="20" name="Image 10" descr="/home/claude/cloud_deck/icons/server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9652" y="3063240"/>
            <a:ext cx="384048" cy="384048"/>
          </a:xfrm>
          <a:prstGeom prst="rect">
            <a:avLst/>
          </a:prstGeom>
        </p:spPr>
      </p:pic>
      <p:pic>
        <p:nvPicPr>
          <p:cNvPr id="21" name="Image 11" descr="/home/claude/cloud_deck/icons/server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6852" y="3063240"/>
            <a:ext cx="384048" cy="384048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4334256" y="4343400"/>
            <a:ext cx="3520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Servers</a:t>
            </a:r>
            <a:endParaRPr lang="en-US" sz="1600" dirty="0"/>
          </a:p>
        </p:txBody>
      </p:sp>
      <p:sp>
        <p:nvSpPr>
          <p:cNvPr id="23" name="Text 9"/>
          <p:cNvSpPr/>
          <p:nvPr/>
        </p:nvSpPr>
        <p:spPr>
          <a:xfrm>
            <a:off x="7854696" y="3200400"/>
            <a:ext cx="320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0"/>
          <p:cNvSpPr/>
          <p:nvPr/>
        </p:nvSpPr>
        <p:spPr>
          <a:xfrm>
            <a:off x="8174736" y="182880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5" name="Text 11"/>
          <p:cNvSpPr/>
          <p:nvPr/>
        </p:nvSpPr>
        <p:spPr>
          <a:xfrm>
            <a:off x="8266176" y="196596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Sale (Low Traffic)</a:t>
            </a:r>
            <a:endParaRPr lang="en-US" sz="1300" dirty="0"/>
          </a:p>
        </p:txBody>
      </p:sp>
      <p:pic>
        <p:nvPicPr>
          <p:cNvPr id="26" name="Image 12" descr="/home/claude/cloud_deck/icons/server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8532" y="2606040"/>
            <a:ext cx="384048" cy="384048"/>
          </a:xfrm>
          <a:prstGeom prst="rect">
            <a:avLst/>
          </a:prstGeom>
        </p:spPr>
      </p:pic>
      <p:pic>
        <p:nvPicPr>
          <p:cNvPr id="27" name="Image 13" descr="/home/claude/cloud_deck/icons/server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5732" y="2606040"/>
            <a:ext cx="384048" cy="384048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8174736" y="4343400"/>
            <a:ext cx="3520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Servers</a:t>
            </a:r>
            <a:endParaRPr lang="en-US" sz="1600" dirty="0"/>
          </a:p>
        </p:txBody>
      </p:sp>
      <p:sp>
        <p:nvSpPr>
          <p:cNvPr id="29" name="Shape 13"/>
          <p:cNvSpPr/>
          <p:nvPr/>
        </p:nvSpPr>
        <p:spPr>
          <a:xfrm>
            <a:off x="548640" y="507492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E4EEF3"/>
          </a:solidFill>
        </p:spPr>
      </p:sp>
      <p:sp>
        <p:nvSpPr>
          <p:cNvPr id="30" name="Text 14"/>
          <p:cNvSpPr/>
          <p:nvPr/>
        </p:nvSpPr>
        <p:spPr>
          <a:xfrm>
            <a:off x="914400" y="5074920"/>
            <a:ext cx="10360152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</a:t>
            </a:r>
            <a:r>
              <a:rPr lang="en-US" sz="14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the ability to handle growth (add more resources permanently as you grow).
</a:t>
            </a: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Elasticity</a:t>
            </a:r>
            <a:r>
              <a:rPr lang="en-US" sz="14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the ability to automatically add or remove resources based on demand, in real time.</a:t>
            </a:r>
            <a:endParaRPr lang="en-US" sz="1400" dirty="0"/>
          </a:p>
        </p:txBody>
      </p:sp>
      <p:sp>
        <p:nvSpPr>
          <p:cNvPr id="32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  <p:sp>
        <p:nvSpPr>
          <p:cNvPr id="33" name="Text 1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34" name="Rectangle: Rounded Corners 33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6" name="Picture 35" descr="PANTECH SOLUTION HOME - Pantech.A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3" name="Image 0" descr="/home/claude/cloud_deck/icons/questio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724205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VOTE NOW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Would You Handle a Traffic Spike?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468880"/>
            <a:ext cx="10360152" cy="868680"/>
          </a:xfrm>
          <a:prstGeom prst="roundRect">
            <a:avLst>
              <a:gd name="adj" fmla="val 9474"/>
            </a:avLst>
          </a:prstGeom>
          <a:solidFill>
            <a:srgbClr val="12335A"/>
          </a:solidFill>
        </p:spPr>
      </p:sp>
      <p:sp>
        <p:nvSpPr>
          <p:cNvPr id="7" name="Shape 4"/>
          <p:cNvSpPr/>
          <p:nvPr/>
        </p:nvSpPr>
        <p:spPr>
          <a:xfrm>
            <a:off x="1188720" y="26289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</p:sp>
      <p:sp>
        <p:nvSpPr>
          <p:cNvPr id="8" name="Text 5"/>
          <p:cNvSpPr/>
          <p:nvPr/>
        </p:nvSpPr>
        <p:spPr>
          <a:xfrm>
            <a:off x="1188720" y="26289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011680" y="2468880"/>
            <a:ext cx="8531352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 a new physical server immediately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9474"/>
            </a:avLst>
          </a:prstGeom>
          <a:solidFill>
            <a:srgbClr val="1B4D3E"/>
          </a:solidFill>
        </p:spPr>
      </p:sp>
      <p:sp>
        <p:nvSpPr>
          <p:cNvPr id="11" name="Shape 8"/>
          <p:cNvSpPr/>
          <p:nvPr/>
        </p:nvSpPr>
        <p:spPr>
          <a:xfrm>
            <a:off x="1188720" y="36804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E9E5B"/>
          </a:solidFill>
        </p:spPr>
      </p:sp>
      <p:sp>
        <p:nvSpPr>
          <p:cNvPr id="12" name="Text 9"/>
          <p:cNvSpPr/>
          <p:nvPr/>
        </p:nvSpPr>
        <p:spPr>
          <a:xfrm>
            <a:off x="1188720" y="36804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011680" y="3520440"/>
            <a:ext cx="8531352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Increase cloud resources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354312" y="3520440"/>
            <a:ext cx="17373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BEST CHOICE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4572000"/>
            <a:ext cx="10360152" cy="868680"/>
          </a:xfrm>
          <a:prstGeom prst="roundRect">
            <a:avLst>
              <a:gd name="adj" fmla="val 9474"/>
            </a:avLst>
          </a:prstGeom>
          <a:solidFill>
            <a:srgbClr val="12335A"/>
          </a:solidFill>
        </p:spPr>
      </p:sp>
      <p:sp>
        <p:nvSpPr>
          <p:cNvPr id="16" name="Shape 13"/>
          <p:cNvSpPr/>
          <p:nvPr/>
        </p:nvSpPr>
        <p:spPr>
          <a:xfrm>
            <a:off x="1188720" y="47320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</p:sp>
      <p:sp>
        <p:nvSpPr>
          <p:cNvPr id="17" name="Text 14"/>
          <p:cNvSpPr/>
          <p:nvPr/>
        </p:nvSpPr>
        <p:spPr>
          <a:xfrm>
            <a:off x="1188720" y="473202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011680" y="4572000"/>
            <a:ext cx="8531352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Shut down the application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14400" y="5989320"/>
            <a:ext cx="10360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Raise your hand for A, B, or C — then we reveal the best answer together.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3" name="Rectangle: Rounded Corners 22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5" name="Picture 24" descr="PANTECH SOLUTION HOME - Pantech.A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Cloud Service Models: IaaS, PaaS, SaaS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you move from IaaS to SaaS, the provider manages more — and you manage less.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65276" y="4114800"/>
            <a:ext cx="3108960" cy="1920240"/>
          </a:xfrm>
          <a:prstGeom prst="roundRect">
            <a:avLst>
              <a:gd name="adj" fmla="val 4286"/>
            </a:avLst>
          </a:prstGeom>
          <a:solidFill>
            <a:srgbClr val="E4EEF3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08276" y="4343400"/>
            <a:ext cx="822960" cy="8229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7" name="Image 0" descr="/home/claude/cloud_deck/icons/server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5786" y="454091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5276" y="525780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IaaS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56716" y="5742432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Infrastructure as a Service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39996" y="3474720"/>
            <a:ext cx="3108960" cy="2560320"/>
          </a:xfrm>
          <a:prstGeom prst="roundRect">
            <a:avLst>
              <a:gd name="adj" fmla="val 3214"/>
            </a:avLst>
          </a:prstGeom>
          <a:solidFill>
            <a:srgbClr val="1C7293"/>
          </a:solidFill>
        </p:spPr>
      </p:sp>
      <p:sp>
        <p:nvSpPr>
          <p:cNvPr id="11" name="Shape 8"/>
          <p:cNvSpPr/>
          <p:nvPr/>
        </p:nvSpPr>
        <p:spPr>
          <a:xfrm>
            <a:off x="5682996" y="3703320"/>
            <a:ext cx="822960" cy="8229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2" name="Image 1" descr="/home/claude/cloud_deck/icons/code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506" y="390083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9996" y="461772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PaaS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631436" y="5102352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as a Service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14716" y="2834640"/>
            <a:ext cx="3108960" cy="3200400"/>
          </a:xfrm>
          <a:prstGeom prst="roundRect">
            <a:avLst>
              <a:gd name="adj" fmla="val 2647"/>
            </a:avLst>
          </a:prstGeom>
          <a:solidFill>
            <a:srgbClr val="0A2540"/>
          </a:solidFill>
        </p:spPr>
      </p:sp>
      <p:sp>
        <p:nvSpPr>
          <p:cNvPr id="16" name="Shape 12"/>
          <p:cNvSpPr/>
          <p:nvPr/>
        </p:nvSpPr>
        <p:spPr>
          <a:xfrm>
            <a:off x="9157716" y="3063240"/>
            <a:ext cx="822960" cy="82296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17" name="Image 2" descr="/home/claude/cloud_deck/icons/windowrestor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5226" y="326075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14716" y="397764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SaaS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106156" y="4462272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4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as a Service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065276" y="617220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Manage More → ← Provider Manages More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MODEL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IaaS — Infrastructure as a Service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4EEF3"/>
          </a:solidFill>
        </p:spPr>
      </p:sp>
      <p:sp>
        <p:nvSpPr>
          <p:cNvPr id="5" name="Text 3"/>
          <p:cNvSpPr/>
          <p:nvPr/>
        </p:nvSpPr>
        <p:spPr>
          <a:xfrm>
            <a:off x="548640" y="14630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Analogy: Renting a Computer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" y="214884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22476" y="233172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8" name="Image 0" descr="/home/claude/cloud_deck/icons/deskto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041" y="2507285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05256" y="320040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Virtual Machine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008376" y="214884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25596" y="233172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2" name="Image 1" descr="/home/claude/cloud_deck/icons/cpu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161" y="250728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08376" y="320040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111496" y="214884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28716" y="233172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2" descr="/home/claude/cloud_deck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281" y="250728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11496" y="320040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214616" y="214884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831836" y="233172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0" name="Image 3" descr="/home/claude/cloud_deck/icons/hd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401" y="250728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14616" y="320040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17736" y="214884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934956" y="233172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4" name="Image 4" descr="/home/claude/cloud_deck/icons/netwo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0521" y="2507285"/>
            <a:ext cx="380390" cy="38039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317736" y="3200400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Networking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836676" y="42062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FFEFE2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36676" y="434340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4B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Manages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202436" y="4800600"/>
            <a:ext cx="438912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Operating System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Applications &amp; data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Runtime &amp; middleware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231636" y="42062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E4EEF3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231636" y="434340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Provider Manages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6597396" y="4800600"/>
            <a:ext cx="438912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servers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 hardware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Networking &amp; data centers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35" name="Rectangle: Rounded Corners 34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7" name="Picture 36" descr="PANTECH SOLUTION HOME - Pantech.A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MODEL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PaaS — Platform as a Service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E4EEF3"/>
          </a:solidFill>
        </p:spPr>
      </p:sp>
      <p:sp>
        <p:nvSpPr>
          <p:cNvPr id="5" name="Text 3"/>
          <p:cNvSpPr/>
          <p:nvPr/>
        </p:nvSpPr>
        <p:spPr>
          <a:xfrm>
            <a:off x="548640" y="146304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Analogy: Renting a Ready-to-Use Kitchen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0607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Everything is already set up — the OS, servers, and runtime — so developers can focus purely on writing and running code.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51760" y="3566160"/>
            <a:ext cx="1280160" cy="1280160"/>
          </a:xfrm>
          <a:prstGeom prst="ellipse">
            <a:avLst/>
          </a:prstGeom>
          <a:solidFill>
            <a:srgbClr val="0A2540"/>
          </a:solidFill>
        </p:spPr>
      </p:sp>
      <p:pic>
        <p:nvPicPr>
          <p:cNvPr id="8" name="Image 0" descr="/home/claude/cloud_deck/icons/cod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8998" y="3873398"/>
            <a:ext cx="665683" cy="6656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498348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You: Write &amp; Deploy Code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77640" y="3931920"/>
            <a:ext cx="1188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6035040" y="2926080"/>
            <a:ext cx="3657600" cy="2560320"/>
          </a:xfrm>
          <a:prstGeom prst="roundRect">
            <a:avLst>
              <a:gd name="adj" fmla="val 3214"/>
            </a:avLst>
          </a:prstGeom>
          <a:solidFill>
            <a:srgbClr val="E4EEF3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0" y="310896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PaaS Handles: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17920" y="3611880"/>
            <a:ext cx="329184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Operating system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Servers &amp; storage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Runtime environment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Scaling infrastructure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17" name="Rectangle: Rounded Corners 16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9" name="Picture 18" descr="PANTECH SOLUTION HOME - Pantech.A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MODEL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SaaS — Software as a Service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finished software, ready to use instantly through a browser — no installation, no setup.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88136" y="2194560"/>
            <a:ext cx="2331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42516" y="242316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7" name="Image 0" descr="/home/claude/cloud_deck/icons/envelop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0026" y="262067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" y="3474720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Gmail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48456" y="2194560"/>
            <a:ext cx="2331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02836" y="242316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/home/claude/cloud_deck/icons/fileal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346" y="262067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8456" y="3474720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Docs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08776" y="2194560"/>
            <a:ext cx="2331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963156" y="242316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5" name="Image 2" descr="/home/claude/cloud_deck/icons/microsof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666" y="262067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08776" y="3474720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Microsoft 365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769096" y="2194560"/>
            <a:ext cx="2331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523476" y="2423160"/>
            <a:ext cx="822960" cy="8229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9" name="Image 3" descr="/home/claude/cloud_deck/icons/chartpi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986" y="2620670"/>
            <a:ext cx="427939" cy="42793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69096" y="3474720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Salesforce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2377440" y="448056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2" name="Image 4" descr="/home/claude/cloud_deck/icons/us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6896" y="4700016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45920" y="544068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291840" y="4754880"/>
            <a:ext cx="1280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18"/>
          <p:cNvSpPr/>
          <p:nvPr/>
        </p:nvSpPr>
        <p:spPr>
          <a:xfrm>
            <a:off x="4937760" y="448056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6" name="Image 5" descr="/home/claude/cloud_deck/icons/glob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216" y="4700016"/>
            <a:ext cx="475488" cy="4754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206240" y="544068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852160" y="4754880"/>
            <a:ext cx="1280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1"/>
          <p:cNvSpPr/>
          <p:nvPr/>
        </p:nvSpPr>
        <p:spPr>
          <a:xfrm>
            <a:off x="7498080" y="4480560"/>
            <a:ext cx="914400" cy="914400"/>
          </a:xfrm>
          <a:prstGeom prst="ellipse">
            <a:avLst/>
          </a:prstGeom>
          <a:solidFill>
            <a:srgbClr val="0A2540"/>
          </a:solidFill>
        </p:spPr>
      </p:sp>
      <p:pic>
        <p:nvPicPr>
          <p:cNvPr id="30" name="Image 6" descr="/home/claude/cloud_deck/icons/windowrestor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7536" y="4700016"/>
            <a:ext cx="475488" cy="4754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583680" y="544068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(SaaS)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000" dirty="0"/>
          </a:p>
        </p:txBody>
      </p:sp>
      <p:sp>
        <p:nvSpPr>
          <p:cNvPr id="34" name="Text 2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35" name="Rectangle: Rounded Corners 34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7" name="Picture 36" descr="PANTECH SOLUTION HOME - Pantech.A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3" name="Image 0" descr="/home/claude/cloud_deck/icons/questio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0292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IT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You Identify IaaS, PaaS, or SaaS?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31520" y="2286000"/>
            <a:ext cx="10725912" cy="1143000"/>
          </a:xfrm>
          <a:prstGeom prst="roundRect">
            <a:avLst>
              <a:gd name="adj" fmla="val 7200"/>
            </a:avLst>
          </a:prstGeom>
          <a:solidFill>
            <a:srgbClr val="12335A"/>
          </a:solidFill>
        </p:spPr>
      </p:sp>
      <p:sp>
        <p:nvSpPr>
          <p:cNvPr id="7" name="Text 4"/>
          <p:cNvSpPr/>
          <p:nvPr/>
        </p:nvSpPr>
        <p:spPr>
          <a:xfrm>
            <a:off x="1005840" y="2286000"/>
            <a:ext cx="5486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00200" y="2286000"/>
            <a:ext cx="70408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Renting a virtual server and installing your own OS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720072" y="2564892"/>
            <a:ext cx="1463040" cy="585216"/>
          </a:xfrm>
          <a:prstGeom prst="roundRect">
            <a:avLst>
              <a:gd name="adj" fmla="val 50000"/>
            </a:avLst>
          </a:prstGeom>
          <a:solidFill>
            <a:srgbClr val="2E9E5B"/>
          </a:solidFill>
        </p:spPr>
      </p:sp>
      <p:sp>
        <p:nvSpPr>
          <p:cNvPr id="10" name="Text 7"/>
          <p:cNvSpPr/>
          <p:nvPr/>
        </p:nvSpPr>
        <p:spPr>
          <a:xfrm>
            <a:off x="9720072" y="2564892"/>
            <a:ext cx="14630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IaaS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3611880"/>
            <a:ext cx="10725912" cy="1143000"/>
          </a:xfrm>
          <a:prstGeom prst="roundRect">
            <a:avLst>
              <a:gd name="adj" fmla="val 7200"/>
            </a:avLst>
          </a:prstGeom>
          <a:solidFill>
            <a:srgbClr val="12335A"/>
          </a:solidFill>
        </p:spPr>
      </p:sp>
      <p:sp>
        <p:nvSpPr>
          <p:cNvPr id="12" name="Text 9"/>
          <p:cNvSpPr/>
          <p:nvPr/>
        </p:nvSpPr>
        <p:spPr>
          <a:xfrm>
            <a:off x="1005840" y="3611880"/>
            <a:ext cx="5486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600200" y="3611880"/>
            <a:ext cx="70408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a platform to deploy your app without managing servers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720072" y="3890772"/>
            <a:ext cx="1463040" cy="585216"/>
          </a:xfrm>
          <a:prstGeom prst="roundRect">
            <a:avLst>
              <a:gd name="adj" fmla="val 50000"/>
            </a:avLst>
          </a:prstGeom>
          <a:solidFill>
            <a:srgbClr val="2E9E5B"/>
          </a:solidFill>
        </p:spPr>
      </p:sp>
      <p:sp>
        <p:nvSpPr>
          <p:cNvPr id="15" name="Text 12"/>
          <p:cNvSpPr/>
          <p:nvPr/>
        </p:nvSpPr>
        <p:spPr>
          <a:xfrm>
            <a:off x="9720072" y="3890772"/>
            <a:ext cx="14630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PaaS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" y="4937760"/>
            <a:ext cx="10725912" cy="1143000"/>
          </a:xfrm>
          <a:prstGeom prst="roundRect">
            <a:avLst>
              <a:gd name="adj" fmla="val 7200"/>
            </a:avLst>
          </a:prstGeom>
          <a:solidFill>
            <a:srgbClr val="12335A"/>
          </a:solidFill>
        </p:spPr>
      </p:sp>
      <p:sp>
        <p:nvSpPr>
          <p:cNvPr id="17" name="Text 14"/>
          <p:cNvSpPr/>
          <p:nvPr/>
        </p:nvSpPr>
        <p:spPr>
          <a:xfrm>
            <a:off x="1005840" y="4937760"/>
            <a:ext cx="5486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3.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600200" y="4937760"/>
            <a:ext cx="70408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Logging into Gmail to check your email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720072" y="5216652"/>
            <a:ext cx="1463040" cy="585216"/>
          </a:xfrm>
          <a:prstGeom prst="roundRect">
            <a:avLst>
              <a:gd name="adj" fmla="val 50000"/>
            </a:avLst>
          </a:prstGeom>
          <a:solidFill>
            <a:srgbClr val="2E9E5B"/>
          </a:solidFill>
        </p:spPr>
      </p:sp>
      <p:sp>
        <p:nvSpPr>
          <p:cNvPr id="20" name="Text 17"/>
          <p:cNvSpPr/>
          <p:nvPr/>
        </p:nvSpPr>
        <p:spPr>
          <a:xfrm>
            <a:off x="9720072" y="5216652"/>
            <a:ext cx="146304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SaaS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4" name="Rectangle: Rounded Corners 23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6" name="Picture 25" descr="PANTECH SOLUTION HOME - Pantech.A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Cloud Deployment Models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just HOW you use the cloud — but WHERE that cloud infrastructure lives and who it serves.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0956" y="2377440"/>
            <a:ext cx="32918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33956" y="2743200"/>
            <a:ext cx="1005840" cy="10058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7" name="Image 0" descr="/home/claude/cloud_deck/icons/glob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5358" y="2984602"/>
            <a:ext cx="523037" cy="5230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0956" y="39776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Public Cloud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65276" y="4480560"/>
            <a:ext cx="2743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infrastructure, open to any customer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48556" y="2377440"/>
            <a:ext cx="32918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91556" y="2743200"/>
            <a:ext cx="1005840" cy="10058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2" name="Image 1" descr="/home/claude/cloud_deck/icons/lo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958" y="2984602"/>
            <a:ext cx="523037" cy="5230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48556" y="39776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Private Cloud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22876" y="4480560"/>
            <a:ext cx="2743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Dedicated infrastructure for one organization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06156" y="2377440"/>
            <a:ext cx="32918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249156" y="2743200"/>
            <a:ext cx="1005840" cy="10058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7" name="Image 2" descr="/home/claude/cloud_deck/icons/syn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558" y="2984602"/>
            <a:ext cx="523037" cy="5230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06156" y="39776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Hybrid Cloud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380476" y="4480560"/>
            <a:ext cx="2743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mix of public and private, connected together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3" name="Rectangle: Rounded Corners 22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5" name="Picture 24" descr="PANTECH SOLUTION HOME - Pantech.A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 MODEL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Public Cloud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331720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7" name="Image 0" descr="/home/claude/cloud_deck/icons/buildin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49631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063240"/>
            <a:ext cx="1143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 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97280" y="338328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743200" y="2331720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/home/claude/cloud_deck/icons/buildin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2" y="24963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14600" y="3063240"/>
            <a:ext cx="1143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 B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834640" y="338328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480560" y="2331720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5" name="Image 2" descr="/home/claude/cloud_deck/icons/buildin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152" y="24963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51960" y="3063240"/>
            <a:ext cx="1143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 C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72000" y="338328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1188720" y="3977640"/>
            <a:ext cx="4937760" cy="914400"/>
          </a:xfrm>
          <a:prstGeom prst="roundRect">
            <a:avLst>
              <a:gd name="adj" fmla="val 9000"/>
            </a:avLst>
          </a:prstGeom>
          <a:solidFill>
            <a:srgbClr val="0A2540"/>
          </a:solidFill>
        </p:spPr>
      </p:sp>
      <p:sp>
        <p:nvSpPr>
          <p:cNvPr id="19" name="Text 14"/>
          <p:cNvSpPr/>
          <p:nvPr/>
        </p:nvSpPr>
        <p:spPr>
          <a:xfrm>
            <a:off x="1371600" y="3977640"/>
            <a:ext cx="4572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Cloud Provider Infrastructure (logically isolated per customer)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858000" y="173736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Benefits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858000" y="2194560"/>
            <a:ext cx="475488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cost — pay-as-you-go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hardware to maintain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Scales instantly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Great for startups &amp; general apps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858000" y="4023360"/>
            <a:ext cx="4754880" cy="1051560"/>
          </a:xfrm>
          <a:prstGeom prst="roundRect">
            <a:avLst>
              <a:gd name="adj" fmla="val 7826"/>
            </a:avLst>
          </a:prstGeom>
          <a:solidFill>
            <a:srgbClr val="E4EEF3"/>
          </a:solidFill>
        </p:spPr>
      </p:sp>
      <p:sp>
        <p:nvSpPr>
          <p:cNvPr id="23" name="Text 18"/>
          <p:cNvSpPr/>
          <p:nvPr/>
        </p:nvSpPr>
        <p:spPr>
          <a:xfrm>
            <a:off x="7132320" y="4023360"/>
            <a:ext cx="42062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Typical use case: Websites, mobile apps, dev/test environments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7" name="Rectangle: Rounded Corners 26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9" name="Picture 28" descr="PANTECH SOLUTION HOME - Pantech.A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 MODEL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Private Cloud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Dedicated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71800" y="2331720"/>
            <a:ext cx="868680" cy="8686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7" name="Image 0" descr="/home/claude/cloud_deck/icons/ban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0283" y="254020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33756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Organization (e.g. a Bank)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0" y="3703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88720" y="4114800"/>
            <a:ext cx="4937760" cy="822960"/>
          </a:xfrm>
          <a:prstGeom prst="roundRect">
            <a:avLst>
              <a:gd name="adj" fmla="val 10000"/>
            </a:avLst>
          </a:prstGeom>
          <a:solidFill>
            <a:srgbClr val="0A2540"/>
          </a:solidFill>
        </p:spPr>
      </p:sp>
      <p:sp>
        <p:nvSpPr>
          <p:cNvPr id="11" name="Text 8"/>
          <p:cNvSpPr/>
          <p:nvPr/>
        </p:nvSpPr>
        <p:spPr>
          <a:xfrm>
            <a:off x="1371600" y="411480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Dedicated Infrastructure — used by ONLY this organization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858000" y="173736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Benefits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58000" y="2194560"/>
            <a:ext cx="475488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control over infrastructure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security &amp; compliance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Customizable to strict requirements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cost than public cloud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858000" y="4023360"/>
            <a:ext cx="4754880" cy="1051560"/>
          </a:xfrm>
          <a:prstGeom prst="roundRect">
            <a:avLst>
              <a:gd name="adj" fmla="val 7826"/>
            </a:avLst>
          </a:prstGeom>
          <a:solidFill>
            <a:srgbClr val="E4EEF3"/>
          </a:solidFill>
        </p:spPr>
      </p:sp>
      <p:sp>
        <p:nvSpPr>
          <p:cNvPr id="15" name="Text 12"/>
          <p:cNvSpPr/>
          <p:nvPr/>
        </p:nvSpPr>
        <p:spPr>
          <a:xfrm>
            <a:off x="7132320" y="4023360"/>
            <a:ext cx="42062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Typical use case: Banks, hospitals, government agencies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19" name="Rectangle: Rounded Corners 18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1" name="Picture 20" descr="PANTECH SOLUTION HOME - Pantech.A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 MODEL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Hybrid Cloud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Organizations combine private and public cloud, connected securely, to get the best of both.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3657600" cy="2377440"/>
          </a:xfrm>
          <a:prstGeom prst="roundRect">
            <a:avLst>
              <a:gd name="adj" fmla="val 3462"/>
            </a:avLst>
          </a:prstGeom>
          <a:solidFill>
            <a:srgbClr val="0A2540"/>
          </a:solidFill>
        </p:spPr>
      </p:sp>
      <p:sp>
        <p:nvSpPr>
          <p:cNvPr id="6" name="Shape 4"/>
          <p:cNvSpPr/>
          <p:nvPr/>
        </p:nvSpPr>
        <p:spPr>
          <a:xfrm>
            <a:off x="2286000" y="2697480"/>
            <a:ext cx="914400" cy="91440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7" name="Image 0" descr="/home/claude/cloud_deck/icons/buildin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5456" y="291693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7490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Data Center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1605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 / on-premises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74920" y="3154680"/>
            <a:ext cx="2011680" cy="822960"/>
          </a:xfrm>
          <a:prstGeom prst="roundRect">
            <a:avLst>
              <a:gd name="adj" fmla="val 10000"/>
            </a:avLst>
          </a:prstGeom>
          <a:solidFill>
            <a:srgbClr val="E4EEF3"/>
          </a:solidFill>
        </p:spPr>
      </p:sp>
      <p:sp>
        <p:nvSpPr>
          <p:cNvPr id="11" name="Shape 8"/>
          <p:cNvSpPr/>
          <p:nvPr/>
        </p:nvSpPr>
        <p:spPr>
          <a:xfrm>
            <a:off x="5349240" y="3291840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2" name="Image 1" descr="/home/claude/cloud_deck/icons/shiel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941" y="341254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97880" y="3200400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Connection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0" y="329184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086600" y="329184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7589520" y="2377440"/>
            <a:ext cx="3657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61120" y="269748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2" descr="/home/claude/cloud_deck/icons/clou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76" y="291693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89520" y="37490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Cloud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589520" y="41605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 &amp; flexible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E4EEF3"/>
          </a:solidFill>
        </p:spPr>
      </p:sp>
      <p:sp>
        <p:nvSpPr>
          <p:cNvPr id="22" name="Text 17"/>
          <p:cNvSpPr/>
          <p:nvPr/>
        </p:nvSpPr>
        <p:spPr>
          <a:xfrm>
            <a:off x="914400" y="5120640"/>
            <a:ext cx="10360152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combine? Keep sensitive data private on-premises, while using public cloud for scalable, less-sensitive workloads like websites or testing.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6" name="Rectangle: Rounded Corners 25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8" name="Picture 27" descr="PANTECH SOLUTION HOME - Pantech.A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Major Cloud Providers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90956" y="1783080"/>
            <a:ext cx="32918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3956" y="2103120"/>
            <a:ext cx="1005840" cy="10058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cloud_deck/icons/amazo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5358" y="23445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0956" y="329184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65276" y="374904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Amazon Web Services — market leader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48556" y="1783080"/>
            <a:ext cx="32918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91556" y="2103120"/>
            <a:ext cx="1005840" cy="10058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/home/claude/cloud_deck/icons/microsof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958" y="2344522"/>
            <a:ext cx="523037" cy="5230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48556" y="329184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Microsoft Azure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22876" y="374904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in enterprise &amp; hybrid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6156" y="1783080"/>
            <a:ext cx="32918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49156" y="2103120"/>
            <a:ext cx="1005840" cy="10058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2" descr="/home/claude/cloud_deck/icons/goog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558" y="2344522"/>
            <a:ext cx="523037" cy="5230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06156" y="329184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Cloud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80476" y="374904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in data &amp; AI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534156" y="4892040"/>
            <a:ext cx="2377440" cy="1051560"/>
          </a:xfrm>
          <a:prstGeom prst="roundRect">
            <a:avLst>
              <a:gd name="adj" fmla="val 7826"/>
            </a:avLst>
          </a:prstGeom>
          <a:solidFill>
            <a:srgbClr val="E4EEF3"/>
          </a:solidFill>
        </p:spPr>
      </p:sp>
      <p:sp>
        <p:nvSpPr>
          <p:cNvPr id="20" name="Text 15"/>
          <p:cNvSpPr/>
          <p:nvPr/>
        </p:nvSpPr>
        <p:spPr>
          <a:xfrm>
            <a:off x="3534156" y="4892040"/>
            <a:ext cx="23774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Oracle Cloud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277356" y="4892040"/>
            <a:ext cx="2377440" cy="1051560"/>
          </a:xfrm>
          <a:prstGeom prst="roundRect">
            <a:avLst>
              <a:gd name="adj" fmla="val 7826"/>
            </a:avLst>
          </a:prstGeom>
          <a:solidFill>
            <a:srgbClr val="E4EEF3"/>
          </a:solidFill>
        </p:spPr>
      </p:sp>
      <p:sp>
        <p:nvSpPr>
          <p:cNvPr id="22" name="Text 17"/>
          <p:cNvSpPr/>
          <p:nvPr/>
        </p:nvSpPr>
        <p:spPr>
          <a:xfrm>
            <a:off x="6277356" y="4892040"/>
            <a:ext cx="23774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IBM Cloud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6" name="Rectangle: Rounded Corners 25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8" name="Picture 27" descr="PANTECH SOLUTION HOME - Pantech.A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GOING GLOBAL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AWS Global Infrastructure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0A2540"/>
          </a:solidFill>
        </p:spPr>
      </p:sp>
      <p:sp>
        <p:nvSpPr>
          <p:cNvPr id="5" name="Shape 3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6" name="Image 0" descr="/home/claude/cloud_deck/icons/glob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1872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74520"/>
            <a:ext cx="8686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Region
</a:t>
            </a:r>
            <a:r>
              <a:rPr lang="en-US" sz="1250" dirty="0">
                <a:solidFill>
                  <a:srgbClr val="AFCBE0"/>
                </a:solidFill>
              </a:rPr>
              <a:t>A geographic area (e.g. Mumbai, Frankfurt, Virginia) containing multiple data centers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88720" y="3246120"/>
            <a:ext cx="9811512" cy="1280160"/>
          </a:xfrm>
          <a:prstGeom prst="roundRect">
            <a:avLst>
              <a:gd name="adj" fmla="val 6429"/>
            </a:avLst>
          </a:prstGeom>
          <a:solidFill>
            <a:srgbClr val="1C7293"/>
          </a:solidFill>
        </p:spPr>
      </p:sp>
      <p:sp>
        <p:nvSpPr>
          <p:cNvPr id="9" name="Shape 6"/>
          <p:cNvSpPr/>
          <p:nvPr/>
        </p:nvSpPr>
        <p:spPr>
          <a:xfrm>
            <a:off x="1554480" y="3520440"/>
            <a:ext cx="731520" cy="7315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0" name="Image 1" descr="/home/claude/cloud_deck/icons/mapmarker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45" y="369600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68880" y="3383280"/>
            <a:ext cx="7772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Availability Zone
</a:t>
            </a:r>
            <a:r>
              <a:rPr lang="en-US" sz="1250" dirty="0">
                <a:solidFill>
                  <a:srgbClr val="E4EEF3"/>
                </a:solidFill>
              </a:rPr>
              <a:t>One or more isolated data centers within a Region, each with independent power &amp; networking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1828800" y="4754880"/>
            <a:ext cx="853135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194560" y="502920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4" name="Image 2" descr="/home/claude/cloud_deck/icons/buil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125" y="520476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4892040"/>
            <a:ext cx="6400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</a:rPr>
              <a:t>Data Center
</a:t>
            </a:r>
            <a:r>
              <a:rPr lang="en-US" sz="1250" dirty="0">
                <a:solidFill>
                  <a:srgbClr val="5A7184"/>
                </a:solidFill>
              </a:rPr>
              <a:t>The physical building full of servers, storage, and networking hardware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19" name="Rectangle: Rounded Corners 18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1" name="Picture 20" descr="PANTECH SOLUTION HOME - Pantech.A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 to AWS Services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28116" y="1783080"/>
            <a:ext cx="32918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2436" y="226314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cloud_deck/icons/serv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892" y="248259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99716" y="210312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299716" y="265176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48556" y="1783080"/>
            <a:ext cx="32918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22876" y="226314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/home/claude/cloud_deck/icons/hd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32" y="248259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20156" y="210312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S3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820156" y="265176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68996" y="1783080"/>
            <a:ext cx="32918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3316" y="226314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2" descr="/home/claude/cloud_deck/icons/netwo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248259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40596" y="210312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VPC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340596" y="265176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28116" y="3931920"/>
            <a:ext cx="32918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202436" y="441198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1" name="Image 3" descr="/home/claude/cloud_deck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892" y="463143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99716" y="425196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RDS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2299716" y="480060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448556" y="3931920"/>
            <a:ext cx="32918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22876" y="441198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6" name="Image 4" descr="/home/claude/cloud_deck/icons/k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332" y="4631436"/>
            <a:ext cx="475488" cy="4754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820156" y="425196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IAM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5820156" y="480060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Identity &amp; Access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7968996" y="3931920"/>
            <a:ext cx="32918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43316" y="441198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1" name="Image 5" descr="/home/claude/cloud_deck/icons/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2772" y="4631436"/>
            <a:ext cx="475488" cy="4754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40596" y="425196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CloudWatch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9340596" y="4800600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37" name="Rectangle: Rounded Corners 36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9" name="Picture 38" descr="PANTECH SOLUTION HOME - Pantech.A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SERVICE  ·  COMPUTE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EC2 — Your Virtual Server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82880" y="219456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5" name="Image 0" descr="/home/claude/cloud_deck/icons/us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24140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-182880" y="324612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43000" y="2395728"/>
            <a:ext cx="172135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910078" y="219456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9" name="Image 1" descr="/home/claude/cloud_deck/icons/glob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534" y="241401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44318" y="324612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870198" y="2395728"/>
            <a:ext cx="172135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637276" y="219456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3" name="Image 2" descr="/home/claude/cloud_deck/icons/amaz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241401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71516" y="324612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597396" y="2395728"/>
            <a:ext cx="172135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8364474" y="2194560"/>
            <a:ext cx="914400" cy="91440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17" name="Image 3" descr="/home/claude/cloud_deck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930" y="241401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98714" y="324612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EC2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9324594" y="2395728"/>
            <a:ext cx="172135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11091672" y="219456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1" name="Image 4" descr="/home/claude/cloud_deck/icons/deskto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1128" y="2414016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725912" y="324612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1097280" y="4206240"/>
            <a:ext cx="9994392" cy="2011680"/>
          </a:xfrm>
          <a:prstGeom prst="roundRect">
            <a:avLst>
              <a:gd name="adj" fmla="val 4091"/>
            </a:avLst>
          </a:prstGeom>
          <a:solidFill>
            <a:srgbClr val="E4EEF3"/>
          </a:solidFill>
        </p:spPr>
      </p:sp>
      <p:sp>
        <p:nvSpPr>
          <p:cNvPr id="24" name="Text 17"/>
          <p:cNvSpPr/>
          <p:nvPr/>
        </p:nvSpPr>
        <p:spPr>
          <a:xfrm>
            <a:off x="1463040" y="4343400"/>
            <a:ext cx="92628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EC2 is a virtual server you can turn on, configure, and use in minutes.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1463040" y="4754880"/>
            <a:ext cx="9262872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/ vCPU — processing power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 — temporary working memory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Operating System — Windows or Linux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 — attached disk space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9" name="Rectangle: Rounded Corners 28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1" name="Picture 30" descr="PANTECH SOLUTION HOME - Pantech.A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SERVICE  ·  STORAGE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S3 — Object Storage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63040" y="2194560"/>
            <a:ext cx="1097280" cy="10972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5" name="Image 0" descr="/home/claude/cloud_deck/icons/us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387" y="245790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4290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651760" y="2514600"/>
            <a:ext cx="1005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794760" y="2194560"/>
            <a:ext cx="1097280" cy="10972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9" name="Image 1" descr="/home/claude/cloud_deck/icons/glob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107" y="2457907"/>
            <a:ext cx="570586" cy="57058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54680" y="342900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983480" y="2514600"/>
            <a:ext cx="1005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6126480" y="2194560"/>
            <a:ext cx="1097280" cy="1097280"/>
          </a:xfrm>
          <a:prstGeom prst="ellipse">
            <a:avLst/>
          </a:prstGeom>
          <a:solidFill>
            <a:srgbClr val="0A2540"/>
          </a:solidFill>
        </p:spPr>
      </p:sp>
      <p:pic>
        <p:nvPicPr>
          <p:cNvPr id="13" name="Image 2" descr="/home/claude/cloud_deck/icons/hd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27" y="2457907"/>
            <a:ext cx="570586" cy="57058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94960" y="342900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S3 Bucket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315200" y="2514600"/>
            <a:ext cx="822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8412480" y="1920240"/>
            <a:ext cx="640080" cy="640080"/>
          </a:xfrm>
          <a:prstGeom prst="ellipse">
            <a:avLst/>
          </a:prstGeom>
          <a:solidFill>
            <a:srgbClr val="E4EEF3"/>
          </a:solidFill>
        </p:spPr>
      </p:sp>
      <p:pic>
        <p:nvPicPr>
          <p:cNvPr id="17" name="Image 3" descr="/home/claude/cloud_deck/icons/camera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099" y="207385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89720" y="192024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8412480" y="2834640"/>
            <a:ext cx="640080" cy="640080"/>
          </a:xfrm>
          <a:prstGeom prst="ellipse">
            <a:avLst/>
          </a:prstGeom>
          <a:solidFill>
            <a:srgbClr val="E4EEF3"/>
          </a:solidFill>
        </p:spPr>
      </p:sp>
      <p:pic>
        <p:nvPicPr>
          <p:cNvPr id="20" name="Image 4" descr="/home/claude/cloud_deck/icons/video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099" y="2988259"/>
            <a:ext cx="332842" cy="33284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89720" y="283464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8412480" y="3749040"/>
            <a:ext cx="640080" cy="640080"/>
          </a:xfrm>
          <a:prstGeom prst="ellipse">
            <a:avLst/>
          </a:prstGeom>
          <a:solidFill>
            <a:srgbClr val="E4EEF3"/>
          </a:solidFill>
        </p:spPr>
      </p:sp>
      <p:pic>
        <p:nvPicPr>
          <p:cNvPr id="23" name="Image 5" descr="/home/claude/cloud_deck/icons/filealt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099" y="3902659"/>
            <a:ext cx="332842" cy="33284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189720" y="374904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Documents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1097280" y="4572000"/>
            <a:ext cx="9994392" cy="1645920"/>
          </a:xfrm>
          <a:prstGeom prst="roundRect">
            <a:avLst>
              <a:gd name="adj" fmla="val 5000"/>
            </a:avLst>
          </a:prstGeom>
          <a:solidFill>
            <a:srgbClr val="E4EEF3"/>
          </a:solidFill>
        </p:spPr>
      </p:sp>
      <p:sp>
        <p:nvSpPr>
          <p:cNvPr id="26" name="Text 18"/>
          <p:cNvSpPr/>
          <p:nvPr/>
        </p:nvSpPr>
        <p:spPr>
          <a:xfrm>
            <a:off x="1463040" y="4572000"/>
            <a:ext cx="9262872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S3 (Simple Storage Service) stores files as “objects” in containers called buckets — built for durability, unlimited scale, and easy access from anywhere.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30" name="Rectangle: Rounded Corners 29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2" name="Picture 31" descr="PANTECH SOLUTION HOME - Pantech.A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SERVICE  ·  NETWORKING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VPC — Your Private Network in AWS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10360152" cy="4297680"/>
          </a:xfrm>
          <a:prstGeom prst="roundRect">
            <a:avLst>
              <a:gd name="adj" fmla="val 1915"/>
            </a:avLst>
          </a:prstGeom>
          <a:solidFill>
            <a:srgbClr val="0A2540"/>
          </a:solidFill>
        </p:spPr>
      </p:sp>
      <p:sp>
        <p:nvSpPr>
          <p:cNvPr id="5" name="Text 3"/>
          <p:cNvSpPr/>
          <p:nvPr/>
        </p:nvSpPr>
        <p:spPr>
          <a:xfrm>
            <a:off x="1280160" y="192024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VPC (Virtual Private Cloud)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80160" y="2560320"/>
            <a:ext cx="9628632" cy="3200400"/>
          </a:xfrm>
          <a:prstGeom prst="roundRect">
            <a:avLst>
              <a:gd name="adj" fmla="val 2571"/>
            </a:avLst>
          </a:prstGeom>
          <a:solidFill>
            <a:srgbClr val="12335A"/>
          </a:solidFill>
          <a:ln w="12700">
            <a:solidFill>
              <a:srgbClr val="2A5B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7432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1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Subnet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320040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9" name="Image 0" descr="/home/claude/cloud_deck/icons/serv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8256" y="3419856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420624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EC2 Instance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0" y="3200400"/>
            <a:ext cx="914400" cy="91440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12" name="Image 1" descr="/home/claude/cloud_deck/icons/rout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341985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06240" y="420624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 Gateway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863840" y="320040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5" name="Image 2" descr="/home/claude/cloud_deck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296" y="341985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3760" y="420624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Controls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743200" y="342900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FD1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5760720" y="342900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FD1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1554480" y="4892040"/>
            <a:ext cx="9079992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F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VPC is an isolated section of the AWS cloud where you control your own network — who can connect, and how.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3" name="Rectangle: Rounded Corners 22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5" name="Picture 24" descr="PANTECH SOLUTION HOME - Pantech.A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3" name="Image 0" descr="/home/claude/cloud_deck/icons/questio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0292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THE SERVICE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Choose the Right AWS Service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31520" y="2286000"/>
            <a:ext cx="10725912" cy="1143000"/>
          </a:xfrm>
          <a:prstGeom prst="roundRect">
            <a:avLst>
              <a:gd name="adj" fmla="val 7200"/>
            </a:avLst>
          </a:prstGeom>
          <a:solidFill>
            <a:srgbClr val="12335A"/>
          </a:solidFill>
        </p:spPr>
      </p:sp>
      <p:sp>
        <p:nvSpPr>
          <p:cNvPr id="7" name="Text 4"/>
          <p:cNvSpPr/>
          <p:nvPr/>
        </p:nvSpPr>
        <p:spPr>
          <a:xfrm>
            <a:off x="1005840" y="2286000"/>
            <a:ext cx="5486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00200" y="2286000"/>
            <a:ext cx="70408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a web application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811512" y="2564892"/>
            <a:ext cx="1371600" cy="585216"/>
          </a:xfrm>
          <a:prstGeom prst="roundRect">
            <a:avLst>
              <a:gd name="adj" fmla="val 50000"/>
            </a:avLst>
          </a:prstGeom>
          <a:solidFill>
            <a:srgbClr val="2E9E5B"/>
          </a:solidFill>
        </p:spPr>
      </p:sp>
      <p:sp>
        <p:nvSpPr>
          <p:cNvPr id="10" name="Text 7"/>
          <p:cNvSpPr/>
          <p:nvPr/>
        </p:nvSpPr>
        <p:spPr>
          <a:xfrm>
            <a:off x="9811512" y="2564892"/>
            <a:ext cx="13716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3611880"/>
            <a:ext cx="10725912" cy="1143000"/>
          </a:xfrm>
          <a:prstGeom prst="roundRect">
            <a:avLst>
              <a:gd name="adj" fmla="val 7200"/>
            </a:avLst>
          </a:prstGeom>
          <a:solidFill>
            <a:srgbClr val="12335A"/>
          </a:solidFill>
        </p:spPr>
      </p:sp>
      <p:sp>
        <p:nvSpPr>
          <p:cNvPr id="12" name="Text 9"/>
          <p:cNvSpPr/>
          <p:nvPr/>
        </p:nvSpPr>
        <p:spPr>
          <a:xfrm>
            <a:off x="1005840" y="3611880"/>
            <a:ext cx="5486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600200" y="3611880"/>
            <a:ext cx="70408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images and files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811512" y="3890772"/>
            <a:ext cx="1371600" cy="585216"/>
          </a:xfrm>
          <a:prstGeom prst="roundRect">
            <a:avLst>
              <a:gd name="adj" fmla="val 50000"/>
            </a:avLst>
          </a:prstGeom>
          <a:solidFill>
            <a:srgbClr val="2E9E5B"/>
          </a:solidFill>
        </p:spPr>
      </p:sp>
      <p:sp>
        <p:nvSpPr>
          <p:cNvPr id="15" name="Text 12"/>
          <p:cNvSpPr/>
          <p:nvPr/>
        </p:nvSpPr>
        <p:spPr>
          <a:xfrm>
            <a:off x="9811512" y="3890772"/>
            <a:ext cx="13716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" y="4937760"/>
            <a:ext cx="10725912" cy="1143000"/>
          </a:xfrm>
          <a:prstGeom prst="roundRect">
            <a:avLst>
              <a:gd name="adj" fmla="val 7200"/>
            </a:avLst>
          </a:prstGeom>
          <a:solidFill>
            <a:srgbClr val="12335A"/>
          </a:solidFill>
        </p:spPr>
      </p:sp>
      <p:sp>
        <p:nvSpPr>
          <p:cNvPr id="17" name="Text 14"/>
          <p:cNvSpPr/>
          <p:nvPr/>
        </p:nvSpPr>
        <p:spPr>
          <a:xfrm>
            <a:off x="1005840" y="4937760"/>
            <a:ext cx="5486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3.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600200" y="4937760"/>
            <a:ext cx="70408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virtual network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9811512" y="5216652"/>
            <a:ext cx="1371600" cy="585216"/>
          </a:xfrm>
          <a:prstGeom prst="roundRect">
            <a:avLst>
              <a:gd name="adj" fmla="val 50000"/>
            </a:avLst>
          </a:prstGeom>
          <a:solidFill>
            <a:srgbClr val="2E9E5B"/>
          </a:solidFill>
        </p:spPr>
      </p:sp>
      <p:sp>
        <p:nvSpPr>
          <p:cNvPr id="20" name="Text 17"/>
          <p:cNvSpPr/>
          <p:nvPr/>
        </p:nvSpPr>
        <p:spPr>
          <a:xfrm>
            <a:off x="9811512" y="5216652"/>
            <a:ext cx="13716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VPC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4" name="Rectangle: Rounded Corners 23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6" name="Picture 25" descr="PANTECH SOLUTION HOME - Pantech.A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IT'S EVERYWHERE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Cloud Computing in Real Life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90956" y="173736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64208" y="1938528"/>
            <a:ext cx="768096" cy="76809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cloud_deck/icons/video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8551" y="2122871"/>
            <a:ext cx="399410" cy="3994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0956" y="283464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Netflix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88436" y="173736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61688" y="1938528"/>
            <a:ext cx="768096" cy="76809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0" name="Image 1" descr="/home/claude/cloud_deck/icons/goog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031" y="2122871"/>
            <a:ext cx="399410" cy="3994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88436" y="283464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85916" y="173736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59168" y="1938528"/>
            <a:ext cx="768096" cy="76809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4" name="Image 2" descr="/home/claude/cloud_deck/icons/camer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511" y="2122871"/>
            <a:ext cx="399410" cy="3994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85916" y="283464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883396" y="173736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756648" y="1938528"/>
            <a:ext cx="768096" cy="76809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3" descr="/home/claude/cloud_deck/icons/ba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0991" y="2122871"/>
            <a:ext cx="399410" cy="3994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83396" y="283464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Banking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90956" y="365760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664208" y="3858768"/>
            <a:ext cx="768096" cy="76809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2" name="Image 4" descr="/home/claude/cloud_deck/icons/c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8551" y="4043111"/>
            <a:ext cx="399410" cy="39941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90956" y="475488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488436" y="365760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361688" y="3858768"/>
            <a:ext cx="768096" cy="76809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6" name="Image 5" descr="/home/claude/cloud_deck/icons/gamepa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6031" y="4043111"/>
            <a:ext cx="399410" cy="39941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88436" y="475488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Gaming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185916" y="365760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059168" y="3858768"/>
            <a:ext cx="768096" cy="76809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0" name="Image 6" descr="/home/claude/cloud_deck/icons/gra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3511" y="4043111"/>
            <a:ext cx="399410" cy="39941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185916" y="475488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33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1000" dirty="0"/>
          </a:p>
        </p:txBody>
      </p:sp>
      <p:sp>
        <p:nvSpPr>
          <p:cNvPr id="34" name="Text 2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35" name="Rectangle: Rounded Corners 34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7" name="Picture 36" descr="PANTECH SOLUTION HOME - Pantech.A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3" name="Image 0" descr="/home/claude/cloud_deck/icons/lightbulb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029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 CHALLENGE  ·  30–45 SECONDS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Design a Cloud Application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10607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Scenario: You are building an online shopping application. In pairs, choose a service for each layer.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2044598" cy="2377440"/>
          </a:xfrm>
          <a:prstGeom prst="roundRect">
            <a:avLst>
              <a:gd name="adj" fmla="val 4025"/>
            </a:avLst>
          </a:prstGeom>
          <a:solidFill>
            <a:srgbClr val="12335A"/>
          </a:solidFill>
        </p:spPr>
      </p:sp>
      <p:sp>
        <p:nvSpPr>
          <p:cNvPr id="8" name="Shape 5"/>
          <p:cNvSpPr/>
          <p:nvPr/>
        </p:nvSpPr>
        <p:spPr>
          <a:xfrm>
            <a:off x="1296619" y="292608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9" name="Image 1" descr="/home/claude/cloud_deck/icons/serv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84" y="310164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3794760"/>
            <a:ext cx="204459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4251960"/>
            <a:ext cx="204459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?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2858414" y="2651760"/>
            <a:ext cx="2044598" cy="2377440"/>
          </a:xfrm>
          <a:prstGeom prst="roundRect">
            <a:avLst>
              <a:gd name="adj" fmla="val 4025"/>
            </a:avLst>
          </a:prstGeom>
          <a:solidFill>
            <a:srgbClr val="12335A"/>
          </a:solidFill>
        </p:spPr>
      </p:sp>
      <p:sp>
        <p:nvSpPr>
          <p:cNvPr id="13" name="Shape 9"/>
          <p:cNvSpPr/>
          <p:nvPr/>
        </p:nvSpPr>
        <p:spPr>
          <a:xfrm>
            <a:off x="3514954" y="292608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4" name="Image 2" descr="/home/claude/cloud_deck/icons/hd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518" y="310164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58414" y="3794760"/>
            <a:ext cx="204459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858414" y="4251960"/>
            <a:ext cx="204459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?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5076749" y="2651760"/>
            <a:ext cx="2044598" cy="2377440"/>
          </a:xfrm>
          <a:prstGeom prst="roundRect">
            <a:avLst>
              <a:gd name="adj" fmla="val 4025"/>
            </a:avLst>
          </a:prstGeom>
          <a:solidFill>
            <a:srgbClr val="12335A"/>
          </a:solidFill>
        </p:spPr>
      </p:sp>
      <p:sp>
        <p:nvSpPr>
          <p:cNvPr id="18" name="Shape 13"/>
          <p:cNvSpPr/>
          <p:nvPr/>
        </p:nvSpPr>
        <p:spPr>
          <a:xfrm>
            <a:off x="5733288" y="292608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9" name="Image 3" descr="/home/claude/cloud_deck/icons/netwo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853" y="3101645"/>
            <a:ext cx="380390" cy="38039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76749" y="3794760"/>
            <a:ext cx="204459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076749" y="4251960"/>
            <a:ext cx="204459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?</a:t>
            </a:r>
            <a:endParaRPr lang="en-US" sz="2000" dirty="0"/>
          </a:p>
        </p:txBody>
      </p:sp>
      <p:sp>
        <p:nvSpPr>
          <p:cNvPr id="22" name="Shape 16"/>
          <p:cNvSpPr/>
          <p:nvPr/>
        </p:nvSpPr>
        <p:spPr>
          <a:xfrm>
            <a:off x="7295083" y="2651760"/>
            <a:ext cx="2044598" cy="2377440"/>
          </a:xfrm>
          <a:prstGeom prst="roundRect">
            <a:avLst>
              <a:gd name="adj" fmla="val 4025"/>
            </a:avLst>
          </a:prstGeom>
          <a:solidFill>
            <a:srgbClr val="12335A"/>
          </a:solidFill>
        </p:spPr>
      </p:sp>
      <p:sp>
        <p:nvSpPr>
          <p:cNvPr id="23" name="Shape 17"/>
          <p:cNvSpPr/>
          <p:nvPr/>
        </p:nvSpPr>
        <p:spPr>
          <a:xfrm>
            <a:off x="7951622" y="292608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4" name="Image 4" descr="/home/claude/cloud_deck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187" y="3101645"/>
            <a:ext cx="380390" cy="38039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95083" y="3794760"/>
            <a:ext cx="204459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7295083" y="4251960"/>
            <a:ext cx="204459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?</a:t>
            </a:r>
            <a:endParaRPr lang="en-US" sz="2000" dirty="0"/>
          </a:p>
        </p:txBody>
      </p:sp>
      <p:sp>
        <p:nvSpPr>
          <p:cNvPr id="27" name="Shape 20"/>
          <p:cNvSpPr/>
          <p:nvPr/>
        </p:nvSpPr>
        <p:spPr>
          <a:xfrm>
            <a:off x="9513418" y="2651760"/>
            <a:ext cx="2044598" cy="2377440"/>
          </a:xfrm>
          <a:prstGeom prst="roundRect">
            <a:avLst>
              <a:gd name="adj" fmla="val 4025"/>
            </a:avLst>
          </a:prstGeom>
          <a:solidFill>
            <a:srgbClr val="12335A"/>
          </a:solidFill>
        </p:spPr>
      </p:sp>
      <p:sp>
        <p:nvSpPr>
          <p:cNvPr id="28" name="Shape 21"/>
          <p:cNvSpPr/>
          <p:nvPr/>
        </p:nvSpPr>
        <p:spPr>
          <a:xfrm>
            <a:off x="10169957" y="292608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9" name="Image 5" descr="/home/claude/cloud_deck/icons/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5522" y="3101645"/>
            <a:ext cx="380390" cy="38039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513418" y="3794760"/>
            <a:ext cx="204459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9513418" y="4251960"/>
            <a:ext cx="204459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?</a:t>
            </a:r>
            <a:endParaRPr lang="en-US" sz="2000" dirty="0"/>
          </a:p>
        </p:txBody>
      </p:sp>
      <p:sp>
        <p:nvSpPr>
          <p:cNvPr id="32" name="Text 24"/>
          <p:cNvSpPr/>
          <p:nvPr/>
        </p:nvSpPr>
        <p:spPr>
          <a:xfrm>
            <a:off x="548640" y="5486400"/>
            <a:ext cx="10607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6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 with a partner, then we'll share answers as a class.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36" name="Rectangle: Rounded Corners 35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8" name="Picture 37" descr="PANTECH SOLUTION HOME - Pantech.A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KNOWLEDGE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5-Question Quiz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37944"/>
            <a:ext cx="685800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</p:sp>
      <p:sp>
        <p:nvSpPr>
          <p:cNvPr id="6" name="Text 4"/>
          <p:cNvSpPr/>
          <p:nvPr/>
        </p:nvSpPr>
        <p:spPr>
          <a:xfrm>
            <a:off x="914400" y="1837944"/>
            <a:ext cx="6858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1691640"/>
            <a:ext cx="9171432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Cloud Computing?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0817352" y="1837944"/>
            <a:ext cx="512064" cy="512064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9" name="Image 0" descr="/home/claude/cloud_deck/icons/questio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0247" y="1960839"/>
            <a:ext cx="266273" cy="26627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2660904"/>
            <a:ext cx="10908792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2807208"/>
            <a:ext cx="685800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</p:sp>
      <p:sp>
        <p:nvSpPr>
          <p:cNvPr id="12" name="Text 9"/>
          <p:cNvSpPr/>
          <p:nvPr/>
        </p:nvSpPr>
        <p:spPr>
          <a:xfrm>
            <a:off x="914400" y="2807208"/>
            <a:ext cx="6858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828800" y="2660904"/>
            <a:ext cx="9171432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virtualization?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10817352" y="2807208"/>
            <a:ext cx="512064" cy="512064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15" name="Image 1" descr="/home/claude/cloud_deck/icons/questio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0247" y="2930103"/>
            <a:ext cx="266273" cy="266273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40080" y="3630168"/>
            <a:ext cx="10908792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3776472"/>
            <a:ext cx="685800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</p:sp>
      <p:sp>
        <p:nvSpPr>
          <p:cNvPr id="18" name="Text 14"/>
          <p:cNvSpPr/>
          <p:nvPr/>
        </p:nvSpPr>
        <p:spPr>
          <a:xfrm>
            <a:off x="914400" y="3776472"/>
            <a:ext cx="6858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828800" y="3630168"/>
            <a:ext cx="9171432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IaaS?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10817352" y="3776472"/>
            <a:ext cx="512064" cy="512064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21" name="Image 2" descr="/home/claude/cloud_deck/icons/questio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0247" y="3899367"/>
            <a:ext cx="266273" cy="266273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40080" y="4599432"/>
            <a:ext cx="10908792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4400" y="4745736"/>
            <a:ext cx="685800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</p:sp>
      <p:sp>
        <p:nvSpPr>
          <p:cNvPr id="24" name="Text 19"/>
          <p:cNvSpPr/>
          <p:nvPr/>
        </p:nvSpPr>
        <p:spPr>
          <a:xfrm>
            <a:off x="914400" y="4745736"/>
            <a:ext cx="6858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828800" y="4599432"/>
            <a:ext cx="9171432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difference between public and private cloud?</a:t>
            </a:r>
            <a:endParaRPr lang="en-US" sz="1550" dirty="0"/>
          </a:p>
        </p:txBody>
      </p:sp>
      <p:sp>
        <p:nvSpPr>
          <p:cNvPr id="26" name="Shape 21"/>
          <p:cNvSpPr/>
          <p:nvPr/>
        </p:nvSpPr>
        <p:spPr>
          <a:xfrm>
            <a:off x="10817352" y="4745736"/>
            <a:ext cx="512064" cy="512064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27" name="Image 3" descr="/home/claude/cloud_deck/icons/questio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0247" y="4868631"/>
            <a:ext cx="266273" cy="266273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40080" y="5568696"/>
            <a:ext cx="10908792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14400" y="5715000"/>
            <a:ext cx="685800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</p:sp>
      <p:sp>
        <p:nvSpPr>
          <p:cNvPr id="30" name="Text 24"/>
          <p:cNvSpPr/>
          <p:nvPr/>
        </p:nvSpPr>
        <p:spPr>
          <a:xfrm>
            <a:off x="914400" y="5715000"/>
            <a:ext cx="6858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828800" y="5568696"/>
            <a:ext cx="9171432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EC2 used for?</a:t>
            </a:r>
            <a:endParaRPr lang="en-US" sz="1550" dirty="0"/>
          </a:p>
        </p:txBody>
      </p:sp>
      <p:sp>
        <p:nvSpPr>
          <p:cNvPr id="32" name="Shape 26"/>
          <p:cNvSpPr/>
          <p:nvPr/>
        </p:nvSpPr>
        <p:spPr>
          <a:xfrm>
            <a:off x="10817352" y="5715000"/>
            <a:ext cx="512064" cy="512064"/>
          </a:xfrm>
          <a:prstGeom prst="ellipse">
            <a:avLst/>
          </a:prstGeom>
          <a:solidFill>
            <a:srgbClr val="FF8C42"/>
          </a:solidFill>
        </p:spPr>
      </p:sp>
      <p:pic>
        <p:nvPicPr>
          <p:cNvPr id="33" name="Image 4" descr="/home/claude/cloud_deck/icons/questio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0247" y="5837895"/>
            <a:ext cx="266273" cy="266273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37" name="Rectangle: Rounded Corners 36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9" name="Picture 38" descr="PANTECH SOLUTION HOME - Pantech.A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25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Cloud Computing Learning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85216" y="210312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</p:spPr>
      </p:sp>
      <p:sp>
        <p:nvSpPr>
          <p:cNvPr id="5" name="Text 3"/>
          <p:cNvSpPr/>
          <p:nvPr/>
        </p:nvSpPr>
        <p:spPr>
          <a:xfrm>
            <a:off x="676656" y="2103120"/>
            <a:ext cx="1874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Fundamentals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642616" y="2427732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25496" y="210312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16936" y="2103120"/>
            <a:ext cx="1874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82896" y="2427732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65776" y="210312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57216" y="2103120"/>
            <a:ext cx="1874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23176" y="2427732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06056" y="210312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97496" y="2103120"/>
            <a:ext cx="1874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Basics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63456" y="2427732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46336" y="210312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37776" y="2103120"/>
            <a:ext cx="1874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" y="347472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" y="3474720"/>
            <a:ext cx="1874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42616" y="3799332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25496" y="347472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16936" y="3474720"/>
            <a:ext cx="1874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VPC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82896" y="3799332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65776" y="347472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57216" y="3474720"/>
            <a:ext cx="1874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IAM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23176" y="3799332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06056" y="347472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97496" y="3474720"/>
            <a:ext cx="1874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RDS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363456" y="3799332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546336" y="347472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B2A41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637776" y="3474720"/>
            <a:ext cx="1874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Balancing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85216" y="484632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0A2540"/>
          </a:solidFill>
        </p:spPr>
      </p:sp>
      <p:sp>
        <p:nvSpPr>
          <p:cNvPr id="33" name="Text 31"/>
          <p:cNvSpPr/>
          <p:nvPr/>
        </p:nvSpPr>
        <p:spPr>
          <a:xfrm>
            <a:off x="676656" y="4846320"/>
            <a:ext cx="1874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 Scaling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642616" y="5170932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825496" y="484632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0A2540"/>
          </a:solidFill>
        </p:spPr>
      </p:sp>
      <p:sp>
        <p:nvSpPr>
          <p:cNvPr id="36" name="Text 34"/>
          <p:cNvSpPr/>
          <p:nvPr/>
        </p:nvSpPr>
        <p:spPr>
          <a:xfrm>
            <a:off x="2916936" y="4846320"/>
            <a:ext cx="1874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82896" y="5170932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65776" y="484632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0A2540"/>
          </a:solidFill>
        </p:spPr>
      </p:sp>
      <p:sp>
        <p:nvSpPr>
          <p:cNvPr id="39" name="Text 37"/>
          <p:cNvSpPr/>
          <p:nvPr/>
        </p:nvSpPr>
        <p:spPr>
          <a:xfrm>
            <a:off x="5157216" y="4846320"/>
            <a:ext cx="1874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DevOps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123176" y="5170932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306056" y="484632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0A2540"/>
          </a:solidFill>
        </p:spPr>
      </p:sp>
      <p:sp>
        <p:nvSpPr>
          <p:cNvPr id="42" name="Text 40"/>
          <p:cNvSpPr/>
          <p:nvPr/>
        </p:nvSpPr>
        <p:spPr>
          <a:xfrm>
            <a:off x="7397496" y="4846320"/>
            <a:ext cx="1874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Containers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363456" y="5170932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546336" y="484632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0A2540"/>
          </a:solidFill>
        </p:spPr>
      </p:sp>
      <p:sp>
        <p:nvSpPr>
          <p:cNvPr id="45" name="Text 43"/>
          <p:cNvSpPr/>
          <p:nvPr/>
        </p:nvSpPr>
        <p:spPr>
          <a:xfrm>
            <a:off x="9637776" y="4846320"/>
            <a:ext cx="18745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Serverless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1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49" name="Rectangle: Rounded Corners 48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1" name="Picture 50" descr="PANTECH SOLUTION HOME - Pantech.A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5" name="Image 0" descr="/home/claude/cloud_deck/icons/cloud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19824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828800"/>
            <a:ext cx="944575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provides computing resources over the Internet.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274320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8" name="Image 1" descr="/home/claude/cloud_deck/icons/clo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" y="289681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743200"/>
            <a:ext cx="944575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evolved from earlier technologies such as time-sharing and virtualization.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4400" y="365760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2" descr="/home/claude/cloud_deck/icons/expan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381121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28800" y="3657600"/>
            <a:ext cx="944575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provides scalable and elastic infrastructure.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914400" y="457200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4" name="Image 3" descr="/home/claude/cloud_deck/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" y="4725619"/>
            <a:ext cx="332842" cy="3328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828800" y="4572000"/>
            <a:ext cx="944575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IaaS, PaaS, and SaaS represent different service models.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914400" y="548640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7" name="Image 4" descr="/home/claude/cloud_deck/icons/amaz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19" y="5640019"/>
            <a:ext cx="332842" cy="33284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828800" y="5486400"/>
            <a:ext cx="944575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AWS, Azure, and Google Cloud are major cloud platforms.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22" name="Rectangle: Rounded Corners 21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4" name="Picture 23" descr="PANTECH SOLUTION HOME - Pantech.A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2335A"/>
          </a:solidFill>
        </p:spPr>
      </p:sp>
      <p:sp>
        <p:nvSpPr>
          <p:cNvPr id="3" name="Shape 1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0F2D50"/>
          </a:solidFill>
        </p:spPr>
      </p:sp>
      <p:sp>
        <p:nvSpPr>
          <p:cNvPr id="4" name="Shape 2"/>
          <p:cNvSpPr/>
          <p:nvPr/>
        </p:nvSpPr>
        <p:spPr>
          <a:xfrm>
            <a:off x="5454396" y="1371600"/>
            <a:ext cx="1280160" cy="12801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5" name="Image 0" descr="/home/claude/cloud_deck/icons/cloud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1634" y="167883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017520"/>
            <a:ext cx="1072591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1072591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FCB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59836" y="4937760"/>
            <a:ext cx="5669280" cy="502920"/>
          </a:xfrm>
          <a:prstGeom prst="roundRect">
            <a:avLst>
              <a:gd name="adj" fmla="val 50000"/>
            </a:avLst>
          </a:prstGeom>
          <a:solidFill>
            <a:srgbClr val="12335A"/>
          </a:solidFill>
        </p:spPr>
      </p:sp>
      <p:sp>
        <p:nvSpPr>
          <p:cNvPr id="9" name="Text 6"/>
          <p:cNvSpPr/>
          <p:nvPr/>
        </p:nvSpPr>
        <p:spPr>
          <a:xfrm>
            <a:off x="3259836" y="4937760"/>
            <a:ext cx="5669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D1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THINK CLOUD.  BUILD CLOUD.  SCALE CLOUD.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Fundamentals</a:t>
            </a:r>
            <a:endParaRPr lang="en-US" sz="900" dirty="0"/>
          </a:p>
        </p:txBody>
      </p:sp>
      <p:sp>
        <p:nvSpPr>
          <p:cNvPr id="13" name="Rectangle: Rounded Corners 12"/>
          <p:cNvSpPr/>
          <p:nvPr/>
        </p:nvSpPr>
        <p:spPr>
          <a:xfrm>
            <a:off x="7980309" y="178690"/>
            <a:ext cx="3963355" cy="1091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PANTECH SOLUTION HOME - Pantech.A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214" y="265140"/>
            <a:ext cx="3667546" cy="9186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10471</Words>
  <Application>WPS Presentation</Application>
  <PresentationFormat>Custom</PresentationFormat>
  <Paragraphs>1005</Paragraphs>
  <Slides>40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4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Arial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BHARATH</cp:lastModifiedBy>
  <cp:revision>3</cp:revision>
  <dcterms:created xsi:type="dcterms:W3CDTF">2026-08-17T07:52:00Z</dcterms:created>
  <dcterms:modified xsi:type="dcterms:W3CDTF">2026-09-15T07:25:17Z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A085F265170F47C085F449A38A1A442E_12</vt:lpwstr>
  </property>
</Properties>
</file>
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DM Sans" charset="1" panose="00000000000000000000"/>
      <p:regular r:id="rId36"/>
    </p:embeddedFont>
    <p:embeddedFont>
      <p:font typeface="Inter Medium" charset="1" panose="02000503000000020004"/>
      <p:regular r:id="rId38"/>
    </p:embeddedFont>
    <p:embeddedFont>
      <p:font typeface="Inter Bold" charset="1" panose="02000503000000020004"/>
      <p:regular r:id="rId39"/>
    </p:embeddedFont>
    <p:embeddedFont>
      <p:font typeface="Inter Medium Italics" charset="1" panose="02000503000000020004"/>
      <p:regular r:id="rId41"/>
    </p:embeddedFont>
    <p:embeddedFont>
      <p:font typeface="Inter" charset="1" panose="02000503000000020004"/>
      <p:regular r:id="rId43"/>
    </p:embeddedFont>
    <p:embeddedFont>
      <p:font typeface="Consolas" charset="1" panose="020B060902020403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0.jpeg" Type="http://schemas.openxmlformats.org/officeDocument/2006/relationships/image"/><Relationship Id="rId4" Target="../media/image2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10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.pn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0.jpeg" Type="http://schemas.openxmlformats.org/officeDocument/2006/relationships/image"/><Relationship Id="rId4" Target="../media/image2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0.jpeg" Type="http://schemas.openxmlformats.org/officeDocument/2006/relationships/image"/><Relationship Id="rId4" Target="../media/image3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4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0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43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https://www.kaggle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3825773"/>
            <a:ext cx="4598794" cy="1429350"/>
            <a:chOff x="0" y="0"/>
            <a:chExt cx="6131725" cy="190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31814" cy="1905762"/>
            </a:xfrm>
            <a:custGeom>
              <a:avLst/>
              <a:gdLst/>
              <a:ahLst/>
              <a:cxnLst/>
              <a:rect r="r" b="b" t="t" l="l"/>
              <a:pathLst>
                <a:path h="1905762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1856105"/>
                  </a:lnTo>
                  <a:cubicBezTo>
                    <a:pt x="6131814" y="1883537"/>
                    <a:pt x="6109589" y="1905762"/>
                    <a:pt x="6082157" y="1905762"/>
                  </a:cubicBezTo>
                  <a:lnTo>
                    <a:pt x="49657" y="1905762"/>
                  </a:lnTo>
                  <a:cubicBezTo>
                    <a:pt x="22225" y="1905762"/>
                    <a:pt x="0" y="1883537"/>
                    <a:pt x="0" y="185610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96977" y="3825773"/>
            <a:ext cx="4598794" cy="1429350"/>
            <a:chOff x="0" y="0"/>
            <a:chExt cx="6131725" cy="1905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31814" cy="1905762"/>
            </a:xfrm>
            <a:custGeom>
              <a:avLst/>
              <a:gdLst/>
              <a:ahLst/>
              <a:cxnLst/>
              <a:rect r="r" b="b" t="t" l="l"/>
              <a:pathLst>
                <a:path h="1905762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1856105"/>
                  </a:lnTo>
                  <a:cubicBezTo>
                    <a:pt x="6131814" y="1883537"/>
                    <a:pt x="6109589" y="1905762"/>
                    <a:pt x="6082157" y="1905762"/>
                  </a:cubicBezTo>
                  <a:lnTo>
                    <a:pt x="49657" y="1905762"/>
                  </a:lnTo>
                  <a:cubicBezTo>
                    <a:pt x="22225" y="1905762"/>
                    <a:pt x="0" y="1883537"/>
                    <a:pt x="0" y="185610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9635" y="5677047"/>
            <a:ext cx="4846744" cy="1081394"/>
            <a:chOff x="0" y="0"/>
            <a:chExt cx="8541685" cy="1905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41735" cy="1905762"/>
            </a:xfrm>
            <a:custGeom>
              <a:avLst/>
              <a:gdLst/>
              <a:ahLst/>
              <a:cxnLst/>
              <a:rect r="r" b="b" t="t" l="l"/>
              <a:pathLst>
                <a:path h="1905762" w="8541735">
                  <a:moveTo>
                    <a:pt x="0" y="49657"/>
                  </a:moveTo>
                  <a:cubicBezTo>
                    <a:pt x="0" y="22225"/>
                    <a:pt x="15074" y="0"/>
                    <a:pt x="33679" y="0"/>
                  </a:cubicBezTo>
                  <a:lnTo>
                    <a:pt x="8508040" y="0"/>
                  </a:lnTo>
                  <a:cubicBezTo>
                    <a:pt x="8526645" y="0"/>
                    <a:pt x="8541735" y="22225"/>
                    <a:pt x="8541735" y="49657"/>
                  </a:cubicBezTo>
                  <a:lnTo>
                    <a:pt x="8541735" y="1856105"/>
                  </a:lnTo>
                  <a:cubicBezTo>
                    <a:pt x="8541735" y="1883537"/>
                    <a:pt x="8526645" y="1905762"/>
                    <a:pt x="8508040" y="1905762"/>
                  </a:cubicBezTo>
                  <a:lnTo>
                    <a:pt x="33679" y="1905762"/>
                  </a:lnTo>
                  <a:cubicBezTo>
                    <a:pt x="15074" y="1905762"/>
                    <a:pt x="0" y="1883537"/>
                    <a:pt x="0" y="185610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32087" y="6878340"/>
            <a:ext cx="3590416" cy="3016738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8098184" y="4064203"/>
            <a:ext cx="410289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🧹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Data Wrangling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44923" y="4064203"/>
            <a:ext cx="410289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❓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Missing Values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1553" y="6014371"/>
            <a:ext cx="8949633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🔄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Data Transformation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1364161"/>
            <a:ext cx="3412484" cy="377133"/>
            <a:chOff x="0" y="0"/>
            <a:chExt cx="4549978" cy="502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50029" cy="502920"/>
            </a:xfrm>
            <a:custGeom>
              <a:avLst/>
              <a:gdLst/>
              <a:ahLst/>
              <a:cxnLst/>
              <a:rect r="r" b="b" t="t" l="l"/>
              <a:pathLst>
                <a:path h="502920" w="4550029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510278" y="0"/>
                  </a:lnTo>
                  <a:cubicBezTo>
                    <a:pt x="4532249" y="0"/>
                    <a:pt x="4550029" y="17780"/>
                    <a:pt x="4550029" y="39751"/>
                  </a:cubicBezTo>
                  <a:lnTo>
                    <a:pt x="4550029" y="463169"/>
                  </a:lnTo>
                  <a:cubicBezTo>
                    <a:pt x="4550029" y="485140"/>
                    <a:pt x="4532249" y="502920"/>
                    <a:pt x="4510278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99066" y="1438570"/>
            <a:ext cx="4029227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1 — DATA WRANGLING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1821361"/>
            <a:ext cx="9445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 Is Data Wrangling?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2911373"/>
            <a:ext cx="9445523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Data Wrangling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means cleaning and preparing raw, messy data so it's ready for analysis or machine learning. Think of it like washing vegetables before cooking — you can't skip it!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50238" y="4457405"/>
            <a:ext cx="1240336" cy="1488434"/>
            <a:chOff x="0" y="0"/>
            <a:chExt cx="1653781" cy="198457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4" t="0" r="-63" b="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38520" y="4695825"/>
            <a:ext cx="7957242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Raw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8520" y="5165674"/>
            <a:ext cx="7957242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values, wrong formats, errors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0238" y="5945829"/>
            <a:ext cx="1240336" cy="1488434"/>
            <a:chOff x="0" y="0"/>
            <a:chExt cx="1653781" cy="198457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" t="0" r="-63" b="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338520" y="6184259"/>
            <a:ext cx="7957242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Clean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8520" y="6654108"/>
            <a:ext cx="7957242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Complete, consistent, correct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0238" y="7434262"/>
            <a:ext cx="1240336" cy="1488434"/>
            <a:chOff x="0" y="0"/>
            <a:chExt cx="1653781" cy="198457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" t="0" r="-63" b="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38520" y="7672683"/>
            <a:ext cx="7957242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Useful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38520" y="8142532"/>
            <a:ext cx="7957242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Ready for analysis or ML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697706"/>
            <a:ext cx="3358753" cy="371027"/>
            <a:chOff x="0" y="0"/>
            <a:chExt cx="4478338" cy="4947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78401" cy="494792"/>
            </a:xfrm>
            <a:custGeom>
              <a:avLst/>
              <a:gdLst/>
              <a:ahLst/>
              <a:cxnLst/>
              <a:rect r="r" b="b" t="t" l="l"/>
              <a:pathLst>
                <a:path h="494792" w="4478401">
                  <a:moveTo>
                    <a:pt x="0" y="39116"/>
                  </a:moveTo>
                  <a:cubicBezTo>
                    <a:pt x="0" y="17526"/>
                    <a:pt x="17526" y="0"/>
                    <a:pt x="39116" y="0"/>
                  </a:cubicBezTo>
                  <a:lnTo>
                    <a:pt x="4439285" y="0"/>
                  </a:lnTo>
                  <a:cubicBezTo>
                    <a:pt x="4460875" y="0"/>
                    <a:pt x="4478401" y="17526"/>
                    <a:pt x="4478401" y="39116"/>
                  </a:cubicBezTo>
                  <a:lnTo>
                    <a:pt x="4478401" y="455676"/>
                  </a:lnTo>
                  <a:cubicBezTo>
                    <a:pt x="4478401" y="477266"/>
                    <a:pt x="4460875" y="494792"/>
                    <a:pt x="4439285" y="494792"/>
                  </a:cubicBezTo>
                  <a:lnTo>
                    <a:pt x="39116" y="494792"/>
                  </a:lnTo>
                  <a:cubicBezTo>
                    <a:pt x="17526" y="494665"/>
                    <a:pt x="0" y="477266"/>
                    <a:pt x="0" y="455676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8685" y="770934"/>
            <a:ext cx="3980259" cy="22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1 — DATA WRANGLING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45829"/>
            <a:ext cx="16303523" cy="78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Why Do We Need Data Wrangling?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212181"/>
            <a:ext cx="17217923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Real-world data is almost never perfect. Before we can trust our analysis, we must fix common problems that sneak into every dataset.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6473" y="2946502"/>
            <a:ext cx="8205492" cy="6642792"/>
            <a:chOff x="0" y="0"/>
            <a:chExt cx="10940656" cy="8857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0669" cy="8856980"/>
            </a:xfrm>
            <a:custGeom>
              <a:avLst/>
              <a:gdLst/>
              <a:ahLst/>
              <a:cxnLst/>
              <a:rect r="r" b="b" t="t" l="l"/>
              <a:pathLst>
                <a:path h="8856980" w="10940669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10891901" y="0"/>
                  </a:lnTo>
                  <a:cubicBezTo>
                    <a:pt x="10918825" y="0"/>
                    <a:pt x="10940669" y="21844"/>
                    <a:pt x="10940669" y="48768"/>
                  </a:cubicBezTo>
                  <a:lnTo>
                    <a:pt x="10940669" y="8808212"/>
                  </a:lnTo>
                  <a:cubicBezTo>
                    <a:pt x="10940669" y="8835136"/>
                    <a:pt x="10918825" y="8856980"/>
                    <a:pt x="10891901" y="8856980"/>
                  </a:cubicBezTo>
                  <a:lnTo>
                    <a:pt x="48768" y="8856980"/>
                  </a:lnTo>
                  <a:cubicBezTo>
                    <a:pt x="21844" y="8856980"/>
                    <a:pt x="0" y="8835136"/>
                    <a:pt x="0" y="8808212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60552" y="3177330"/>
            <a:ext cx="7717336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Common Problems in Raw Data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152077" y="3846166"/>
            <a:ext cx="366265" cy="366265"/>
          </a:xfrm>
          <a:custGeom>
            <a:avLst/>
            <a:gdLst/>
            <a:ahLst/>
            <a:cxnLst/>
            <a:rect r="r" b="b" t="t" l="l"/>
            <a:pathLst>
              <a:path h="366265" w="366265">
                <a:moveTo>
                  <a:pt x="0" y="0"/>
                </a:moveTo>
                <a:lnTo>
                  <a:pt x="366265" y="0"/>
                </a:lnTo>
                <a:lnTo>
                  <a:pt x="366265" y="366265"/>
                </a:lnTo>
                <a:lnTo>
                  <a:pt x="0" y="36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2" t="0" r="-769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54098" y="3829202"/>
            <a:ext cx="6923780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Missing Values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4098" y="4384329"/>
            <a:ext cx="6923780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Some cells are blank or NaN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152077" y="5336381"/>
            <a:ext cx="366265" cy="366265"/>
          </a:xfrm>
          <a:custGeom>
            <a:avLst/>
            <a:gdLst/>
            <a:ahLst/>
            <a:cxnLst/>
            <a:rect r="r" b="b" t="t" l="l"/>
            <a:pathLst>
              <a:path h="366265" w="366265">
                <a:moveTo>
                  <a:pt x="0" y="0"/>
                </a:moveTo>
                <a:lnTo>
                  <a:pt x="366265" y="0"/>
                </a:lnTo>
                <a:lnTo>
                  <a:pt x="366265" y="366265"/>
                </a:lnTo>
                <a:lnTo>
                  <a:pt x="0" y="36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2" t="0" r="-769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54098" y="5319417"/>
            <a:ext cx="6923780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Incorrect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54098" y="5874544"/>
            <a:ext cx="6923780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Ages like 999, negative marks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152077" y="6826596"/>
            <a:ext cx="366265" cy="366265"/>
          </a:xfrm>
          <a:custGeom>
            <a:avLst/>
            <a:gdLst/>
            <a:ahLst/>
            <a:cxnLst/>
            <a:rect r="r" b="b" t="t" l="l"/>
            <a:pathLst>
              <a:path h="366265" w="366265">
                <a:moveTo>
                  <a:pt x="0" y="0"/>
                </a:moveTo>
                <a:lnTo>
                  <a:pt x="366265" y="0"/>
                </a:lnTo>
                <a:lnTo>
                  <a:pt x="366265" y="366265"/>
                </a:lnTo>
                <a:lnTo>
                  <a:pt x="0" y="36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2" t="0" r="-7692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54098" y="6809632"/>
            <a:ext cx="6923780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Duplicate Rows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4098" y="7364759"/>
            <a:ext cx="6923780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Same student recorded twice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1152077" y="8316811"/>
            <a:ext cx="366265" cy="366265"/>
          </a:xfrm>
          <a:custGeom>
            <a:avLst/>
            <a:gdLst/>
            <a:ahLst/>
            <a:cxnLst/>
            <a:rect r="r" b="b" t="t" l="l"/>
            <a:pathLst>
              <a:path h="366265" w="366265">
                <a:moveTo>
                  <a:pt x="0" y="0"/>
                </a:moveTo>
                <a:lnTo>
                  <a:pt x="366265" y="0"/>
                </a:lnTo>
                <a:lnTo>
                  <a:pt x="366265" y="366265"/>
                </a:lnTo>
                <a:lnTo>
                  <a:pt x="0" y="36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2" t="0" r="-7692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54098" y="8299847"/>
            <a:ext cx="6923780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Wrong Formats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4098" y="8854973"/>
            <a:ext cx="6923780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Numbers stored as 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51334" y="3177330"/>
            <a:ext cx="7853963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Example: Raw Student Table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46571" y="3833965"/>
            <a:ext cx="7863488" cy="2837859"/>
            <a:chOff x="0" y="0"/>
            <a:chExt cx="10484650" cy="37838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4612" cy="3783838"/>
            </a:xfrm>
            <a:custGeom>
              <a:avLst/>
              <a:gdLst/>
              <a:ahLst/>
              <a:cxnLst/>
              <a:rect r="r" b="b" t="t" l="l"/>
              <a:pathLst>
                <a:path h="3783838" w="10484612">
                  <a:moveTo>
                    <a:pt x="0" y="49022"/>
                  </a:moveTo>
                  <a:cubicBezTo>
                    <a:pt x="0" y="21971"/>
                    <a:pt x="21971" y="0"/>
                    <a:pt x="49022" y="0"/>
                  </a:cubicBezTo>
                  <a:lnTo>
                    <a:pt x="10435590" y="0"/>
                  </a:lnTo>
                  <a:cubicBezTo>
                    <a:pt x="10462641" y="0"/>
                    <a:pt x="10484612" y="21971"/>
                    <a:pt x="10484612" y="49022"/>
                  </a:cubicBezTo>
                  <a:lnTo>
                    <a:pt x="10484612" y="3734816"/>
                  </a:lnTo>
                  <a:cubicBezTo>
                    <a:pt x="10484612" y="3761867"/>
                    <a:pt x="10462641" y="3783838"/>
                    <a:pt x="10435590" y="3783838"/>
                  </a:cubicBezTo>
                  <a:lnTo>
                    <a:pt x="49022" y="3783838"/>
                  </a:lnTo>
                  <a:cubicBezTo>
                    <a:pt x="21971" y="3783838"/>
                    <a:pt x="0" y="3761867"/>
                    <a:pt x="0" y="3734816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1" r="0" b="-399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51334" y="4548188"/>
            <a:ext cx="7853963" cy="15269"/>
            <a:chOff x="0" y="0"/>
            <a:chExt cx="10471950" cy="203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71912" cy="20320"/>
            </a:xfrm>
            <a:custGeom>
              <a:avLst/>
              <a:gdLst/>
              <a:ahLst/>
              <a:cxnLst/>
              <a:rect r="r" b="b" t="t" l="l"/>
              <a:pathLst>
                <a:path h="20320" w="10471912">
                  <a:moveTo>
                    <a:pt x="0" y="0"/>
                  </a:moveTo>
                  <a:lnTo>
                    <a:pt x="10471912" y="0"/>
                  </a:lnTo>
                  <a:lnTo>
                    <a:pt x="10471912" y="2032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51334" y="5252885"/>
            <a:ext cx="7853963" cy="15269"/>
            <a:chOff x="0" y="0"/>
            <a:chExt cx="10471950" cy="203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71912" cy="20320"/>
            </a:xfrm>
            <a:custGeom>
              <a:avLst/>
              <a:gdLst/>
              <a:ahLst/>
              <a:cxnLst/>
              <a:rect r="r" b="b" t="t" l="l"/>
              <a:pathLst>
                <a:path h="20320" w="10471912">
                  <a:moveTo>
                    <a:pt x="0" y="0"/>
                  </a:moveTo>
                  <a:lnTo>
                    <a:pt x="10471912" y="0"/>
                  </a:lnTo>
                  <a:lnTo>
                    <a:pt x="10471912" y="2032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51334" y="5957592"/>
            <a:ext cx="7853963" cy="15269"/>
            <a:chOff x="0" y="0"/>
            <a:chExt cx="10471950" cy="203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71912" cy="20320"/>
            </a:xfrm>
            <a:custGeom>
              <a:avLst/>
              <a:gdLst/>
              <a:ahLst/>
              <a:cxnLst/>
              <a:rect r="r" b="b" t="t" l="l"/>
              <a:pathLst>
                <a:path h="20320" w="10471912">
                  <a:moveTo>
                    <a:pt x="0" y="0"/>
                  </a:moveTo>
                  <a:lnTo>
                    <a:pt x="10471912" y="0"/>
                  </a:lnTo>
                  <a:lnTo>
                    <a:pt x="10471912" y="2032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072785" y="3838727"/>
            <a:ext cx="15269" cy="2828334"/>
            <a:chOff x="0" y="0"/>
            <a:chExt cx="20358" cy="37711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320" cy="3771138"/>
            </a:xfrm>
            <a:custGeom>
              <a:avLst/>
              <a:gdLst/>
              <a:ahLst/>
              <a:cxnLst/>
              <a:rect r="r" b="b" t="t" l="l"/>
              <a:pathLst>
                <a:path h="3771138" w="20320">
                  <a:moveTo>
                    <a:pt x="0" y="0"/>
                  </a:moveTo>
                  <a:lnTo>
                    <a:pt x="20320" y="0"/>
                  </a:lnTo>
                  <a:lnTo>
                    <a:pt x="20320" y="3771138"/>
                  </a:lnTo>
                  <a:lnTo>
                    <a:pt x="0" y="377113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683826" y="3838727"/>
            <a:ext cx="15269" cy="2828334"/>
            <a:chOff x="0" y="0"/>
            <a:chExt cx="20358" cy="37711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320" cy="3771138"/>
            </a:xfrm>
            <a:custGeom>
              <a:avLst/>
              <a:gdLst/>
              <a:ahLst/>
              <a:cxnLst/>
              <a:rect r="r" b="b" t="t" l="l"/>
              <a:pathLst>
                <a:path h="3771138" w="20320">
                  <a:moveTo>
                    <a:pt x="0" y="0"/>
                  </a:moveTo>
                  <a:lnTo>
                    <a:pt x="20320" y="0"/>
                  </a:lnTo>
                  <a:lnTo>
                    <a:pt x="20320" y="3771138"/>
                  </a:lnTo>
                  <a:lnTo>
                    <a:pt x="0" y="377113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05823" y="3925786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21626" y="3925786"/>
            <a:ext cx="3027759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32666" y="3925786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05823" y="4630493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21626" y="4630493"/>
            <a:ext cx="3027759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932666" y="4630493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05823" y="5335191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21626" y="5335191"/>
            <a:ext cx="3027759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932666" y="5335191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b="true" sz="1899" i="true">
                <a:solidFill>
                  <a:srgbClr val="464646"/>
                </a:solidFill>
                <a:latin typeface="Inter Medium Italics"/>
                <a:ea typeface="Inter Medium Italics"/>
                <a:cs typeface="Inter Medium Italics"/>
                <a:sym typeface="Inter Medium Italics"/>
              </a:rPr>
              <a:t>Missing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05823" y="6039888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Kumar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21626" y="6039888"/>
            <a:ext cx="3027759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b="true" sz="1899" i="true">
                <a:solidFill>
                  <a:srgbClr val="464646"/>
                </a:solidFill>
                <a:latin typeface="Inter Medium Italics"/>
                <a:ea typeface="Inter Medium Italics"/>
                <a:cs typeface="Inter Medium Italics"/>
                <a:sym typeface="Inter Medium Italics"/>
              </a:rPr>
              <a:t>Missing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32666" y="6039888"/>
            <a:ext cx="3032522" cy="4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451334" y="6861277"/>
            <a:ext cx="7853963" cy="85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Before analysis, we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must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clean this data — otherwise our results will be unreliable.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01431"/>
            <a:ext cx="2665066" cy="294380"/>
            <a:chOff x="0" y="0"/>
            <a:chExt cx="3553422" cy="392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3460" cy="392431"/>
            </a:xfrm>
            <a:custGeom>
              <a:avLst/>
              <a:gdLst/>
              <a:ahLst/>
              <a:cxnLst/>
              <a:rect r="r" b="b" t="t" l="l"/>
              <a:pathLst>
                <a:path h="392431" w="3553460">
                  <a:moveTo>
                    <a:pt x="0" y="30988"/>
                  </a:moveTo>
                  <a:cubicBezTo>
                    <a:pt x="0" y="13843"/>
                    <a:pt x="13843" y="0"/>
                    <a:pt x="30988" y="0"/>
                  </a:cubicBezTo>
                  <a:lnTo>
                    <a:pt x="3522472" y="0"/>
                  </a:lnTo>
                  <a:cubicBezTo>
                    <a:pt x="3539617" y="0"/>
                    <a:pt x="3553460" y="13843"/>
                    <a:pt x="3553460" y="30988"/>
                  </a:cubicBezTo>
                  <a:lnTo>
                    <a:pt x="3553460" y="361442"/>
                  </a:lnTo>
                  <a:cubicBezTo>
                    <a:pt x="3553460" y="378587"/>
                    <a:pt x="3539617" y="392430"/>
                    <a:pt x="3522472" y="392430"/>
                  </a:cubicBezTo>
                  <a:lnTo>
                    <a:pt x="30988" y="392430"/>
                  </a:lnTo>
                  <a:cubicBezTo>
                    <a:pt x="13843" y="392557"/>
                    <a:pt x="0" y="378587"/>
                    <a:pt x="0" y="361442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8472" y="759466"/>
            <a:ext cx="3346999" cy="17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1 — DATA WRANGLING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037187"/>
            <a:ext cx="16303523" cy="62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The Data Wrangling Process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850974"/>
            <a:ext cx="17217923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Data Wrangling follows a clear, repeatable workflow. Master these five steps and you'll be able to handle almost any messy dataset you encounter.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6015" y="2626071"/>
            <a:ext cx="193777" cy="871985"/>
            <a:chOff x="0" y="0"/>
            <a:chExt cx="258369" cy="1162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318" cy="1162559"/>
            </a:xfrm>
            <a:custGeom>
              <a:avLst/>
              <a:gdLst/>
              <a:ahLst/>
              <a:cxnLst/>
              <a:rect r="r" b="b" t="t" l="l"/>
              <a:pathLst>
                <a:path h="1162559" w="258318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9583" y="0"/>
                  </a:lnTo>
                  <a:cubicBezTo>
                    <a:pt x="241046" y="0"/>
                    <a:pt x="258318" y="17399"/>
                    <a:pt x="258318" y="38735"/>
                  </a:cubicBezTo>
                  <a:lnTo>
                    <a:pt x="258318" y="1123823"/>
                  </a:lnTo>
                  <a:cubicBezTo>
                    <a:pt x="258318" y="1145286"/>
                    <a:pt x="240919" y="1162558"/>
                    <a:pt x="219583" y="1162558"/>
                  </a:cubicBezTo>
                  <a:lnTo>
                    <a:pt x="38735" y="1162558"/>
                  </a:lnTo>
                  <a:cubicBezTo>
                    <a:pt x="17399" y="1162685"/>
                    <a:pt x="0" y="1145286"/>
                    <a:pt x="0" y="112382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238" y="2498827"/>
            <a:ext cx="581320" cy="581320"/>
            <a:chOff x="0" y="0"/>
            <a:chExt cx="775094" cy="775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5081" cy="775081"/>
            </a:xfrm>
            <a:custGeom>
              <a:avLst/>
              <a:gdLst/>
              <a:ahLst/>
              <a:cxnLst/>
              <a:rect r="r" b="b" t="t" l="l"/>
              <a:pathLst>
                <a:path h="775081" w="775081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604" y="775081"/>
                  </a:cubicBezTo>
                  <a:cubicBezTo>
                    <a:pt x="173609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137495" y="2644226"/>
            <a:ext cx="290665" cy="290665"/>
          </a:xfrm>
          <a:custGeom>
            <a:avLst/>
            <a:gdLst/>
            <a:ahLst/>
            <a:cxnLst/>
            <a:rect r="r" b="b" t="t" l="l"/>
            <a:pathLst>
              <a:path h="290665" w="290665">
                <a:moveTo>
                  <a:pt x="0" y="0"/>
                </a:moveTo>
                <a:lnTo>
                  <a:pt x="290664" y="0"/>
                </a:lnTo>
                <a:lnTo>
                  <a:pt x="290664" y="290665"/>
                </a:lnTo>
                <a:lnTo>
                  <a:pt x="0" y="290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064" r="0" b="-806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24920" y="2519658"/>
            <a:ext cx="15570841" cy="31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Raw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4920" y="2884732"/>
            <a:ext cx="15570841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Load your messy, unprocessed dataset into Pandas.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76670" y="3940226"/>
            <a:ext cx="193777" cy="871985"/>
            <a:chOff x="0" y="0"/>
            <a:chExt cx="258369" cy="11626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8318" cy="1162559"/>
            </a:xfrm>
            <a:custGeom>
              <a:avLst/>
              <a:gdLst/>
              <a:ahLst/>
              <a:cxnLst/>
              <a:rect r="r" b="b" t="t" l="l"/>
              <a:pathLst>
                <a:path h="1162559" w="258318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9583" y="0"/>
                  </a:lnTo>
                  <a:cubicBezTo>
                    <a:pt x="241046" y="0"/>
                    <a:pt x="258318" y="17399"/>
                    <a:pt x="258318" y="38735"/>
                  </a:cubicBezTo>
                  <a:lnTo>
                    <a:pt x="258318" y="1123823"/>
                  </a:lnTo>
                  <a:cubicBezTo>
                    <a:pt x="258318" y="1145286"/>
                    <a:pt x="240919" y="1162558"/>
                    <a:pt x="219583" y="1162558"/>
                  </a:cubicBezTo>
                  <a:lnTo>
                    <a:pt x="38735" y="1162558"/>
                  </a:lnTo>
                  <a:cubicBezTo>
                    <a:pt x="17399" y="1162685"/>
                    <a:pt x="0" y="1145286"/>
                    <a:pt x="0" y="112382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2894" y="3812972"/>
            <a:ext cx="581320" cy="581320"/>
            <a:chOff x="0" y="0"/>
            <a:chExt cx="775094" cy="7750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5081" cy="775081"/>
            </a:xfrm>
            <a:custGeom>
              <a:avLst/>
              <a:gdLst/>
              <a:ahLst/>
              <a:cxnLst/>
              <a:rect r="r" b="b" t="t" l="l"/>
              <a:pathLst>
                <a:path h="775081" w="775081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604" y="775081"/>
                  </a:cubicBezTo>
                  <a:cubicBezTo>
                    <a:pt x="173609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428150" y="3958380"/>
            <a:ext cx="290665" cy="290665"/>
          </a:xfrm>
          <a:custGeom>
            <a:avLst/>
            <a:gdLst/>
            <a:ahLst/>
            <a:cxnLst/>
            <a:rect r="r" b="b" t="t" l="l"/>
            <a:pathLst>
              <a:path h="290665" w="290665">
                <a:moveTo>
                  <a:pt x="0" y="0"/>
                </a:moveTo>
                <a:lnTo>
                  <a:pt x="290665" y="0"/>
                </a:lnTo>
                <a:lnTo>
                  <a:pt x="290665" y="290665"/>
                </a:lnTo>
                <a:lnTo>
                  <a:pt x="0" y="290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15576" y="3833813"/>
            <a:ext cx="15280186" cy="31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Inspect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5576" y="4198887"/>
            <a:ext cx="15280186" cy="32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15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df.head()</a:t>
            </a: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15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df.info()</a:t>
            </a: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and </a:t>
            </a:r>
            <a:r>
              <a:rPr lang="en-US" sz="15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df.describe()</a:t>
            </a: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understand the shape of your data.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67335" y="5254381"/>
            <a:ext cx="193777" cy="871985"/>
            <a:chOff x="0" y="0"/>
            <a:chExt cx="258369" cy="11626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318" cy="1162559"/>
            </a:xfrm>
            <a:custGeom>
              <a:avLst/>
              <a:gdLst/>
              <a:ahLst/>
              <a:cxnLst/>
              <a:rect r="r" b="b" t="t" l="l"/>
              <a:pathLst>
                <a:path h="1162559" w="258318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9583" y="0"/>
                  </a:lnTo>
                  <a:cubicBezTo>
                    <a:pt x="241046" y="0"/>
                    <a:pt x="258318" y="17399"/>
                    <a:pt x="258318" y="38735"/>
                  </a:cubicBezTo>
                  <a:lnTo>
                    <a:pt x="258318" y="1123823"/>
                  </a:lnTo>
                  <a:cubicBezTo>
                    <a:pt x="258318" y="1145286"/>
                    <a:pt x="240919" y="1162558"/>
                    <a:pt x="219583" y="1162558"/>
                  </a:cubicBezTo>
                  <a:lnTo>
                    <a:pt x="38735" y="1162558"/>
                  </a:lnTo>
                  <a:cubicBezTo>
                    <a:pt x="17399" y="1162685"/>
                    <a:pt x="0" y="1145286"/>
                    <a:pt x="0" y="112382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73559" y="5127127"/>
            <a:ext cx="581320" cy="581320"/>
            <a:chOff x="0" y="0"/>
            <a:chExt cx="775094" cy="7750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5081" cy="775081"/>
            </a:xfrm>
            <a:custGeom>
              <a:avLst/>
              <a:gdLst/>
              <a:ahLst/>
              <a:cxnLst/>
              <a:rect r="r" b="b" t="t" l="l"/>
              <a:pathLst>
                <a:path h="775081" w="775081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604" y="775081"/>
                  </a:cubicBezTo>
                  <a:cubicBezTo>
                    <a:pt x="173609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718815" y="5272535"/>
            <a:ext cx="290665" cy="290665"/>
          </a:xfrm>
          <a:custGeom>
            <a:avLst/>
            <a:gdLst/>
            <a:ahLst/>
            <a:cxnLst/>
            <a:rect r="r" b="b" t="t" l="l"/>
            <a:pathLst>
              <a:path h="290665" w="290665">
                <a:moveTo>
                  <a:pt x="0" y="0"/>
                </a:moveTo>
                <a:lnTo>
                  <a:pt x="290665" y="0"/>
                </a:lnTo>
                <a:lnTo>
                  <a:pt x="290665" y="290665"/>
                </a:lnTo>
                <a:lnTo>
                  <a:pt x="0" y="2906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40" t="0" r="-4836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306241" y="5147967"/>
            <a:ext cx="14989521" cy="31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Find Problems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06241" y="5513041"/>
            <a:ext cx="14989521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Spot missing values, incorrect entries, and inconsistencies.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058143" y="6568526"/>
            <a:ext cx="193777" cy="871985"/>
            <a:chOff x="0" y="0"/>
            <a:chExt cx="258369" cy="11626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8318" cy="1162559"/>
            </a:xfrm>
            <a:custGeom>
              <a:avLst/>
              <a:gdLst/>
              <a:ahLst/>
              <a:cxnLst/>
              <a:rect r="r" b="b" t="t" l="l"/>
              <a:pathLst>
                <a:path h="1162559" w="258318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9583" y="0"/>
                  </a:lnTo>
                  <a:cubicBezTo>
                    <a:pt x="241046" y="0"/>
                    <a:pt x="258318" y="17399"/>
                    <a:pt x="258318" y="38735"/>
                  </a:cubicBezTo>
                  <a:lnTo>
                    <a:pt x="258318" y="1123823"/>
                  </a:lnTo>
                  <a:cubicBezTo>
                    <a:pt x="258318" y="1145286"/>
                    <a:pt x="240919" y="1162558"/>
                    <a:pt x="219583" y="1162558"/>
                  </a:cubicBezTo>
                  <a:lnTo>
                    <a:pt x="38735" y="1162558"/>
                  </a:lnTo>
                  <a:cubicBezTo>
                    <a:pt x="17399" y="1162685"/>
                    <a:pt x="0" y="1145286"/>
                    <a:pt x="0" y="112382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64366" y="6441281"/>
            <a:ext cx="581320" cy="581320"/>
            <a:chOff x="0" y="0"/>
            <a:chExt cx="775094" cy="7750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5081" cy="775081"/>
            </a:xfrm>
            <a:custGeom>
              <a:avLst/>
              <a:gdLst/>
              <a:ahLst/>
              <a:cxnLst/>
              <a:rect r="r" b="b" t="t" l="l"/>
              <a:pathLst>
                <a:path h="775081" w="775081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604" y="775081"/>
                  </a:cubicBezTo>
                  <a:cubicBezTo>
                    <a:pt x="173609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2009623" y="6586690"/>
            <a:ext cx="290665" cy="290665"/>
          </a:xfrm>
          <a:custGeom>
            <a:avLst/>
            <a:gdLst/>
            <a:ahLst/>
            <a:cxnLst/>
            <a:rect r="r" b="b" t="t" l="l"/>
            <a:pathLst>
              <a:path h="290665" w="290665">
                <a:moveTo>
                  <a:pt x="0" y="0"/>
                </a:moveTo>
                <a:lnTo>
                  <a:pt x="290665" y="0"/>
                </a:lnTo>
                <a:lnTo>
                  <a:pt x="290665" y="290665"/>
                </a:lnTo>
                <a:lnTo>
                  <a:pt x="0" y="290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224" r="0" b="-3224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597048" y="6462112"/>
            <a:ext cx="14698713" cy="31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Clean &amp; Transform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97048" y="6827196"/>
            <a:ext cx="14698713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Remove or fill missing values, fix types, create new columns.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767335" y="7882680"/>
            <a:ext cx="193777" cy="871985"/>
            <a:chOff x="0" y="0"/>
            <a:chExt cx="258369" cy="11626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8318" cy="1162559"/>
            </a:xfrm>
            <a:custGeom>
              <a:avLst/>
              <a:gdLst/>
              <a:ahLst/>
              <a:cxnLst/>
              <a:rect r="r" b="b" t="t" l="l"/>
              <a:pathLst>
                <a:path h="1162559" w="258318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9583" y="0"/>
                  </a:lnTo>
                  <a:cubicBezTo>
                    <a:pt x="241046" y="0"/>
                    <a:pt x="258318" y="17399"/>
                    <a:pt x="258318" y="38735"/>
                  </a:cubicBezTo>
                  <a:lnTo>
                    <a:pt x="258318" y="1123823"/>
                  </a:lnTo>
                  <a:cubicBezTo>
                    <a:pt x="258318" y="1145286"/>
                    <a:pt x="240919" y="1162558"/>
                    <a:pt x="219583" y="1162558"/>
                  </a:cubicBezTo>
                  <a:lnTo>
                    <a:pt x="38735" y="1162558"/>
                  </a:lnTo>
                  <a:cubicBezTo>
                    <a:pt x="17399" y="1162685"/>
                    <a:pt x="0" y="1145286"/>
                    <a:pt x="0" y="112382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3559" y="7755436"/>
            <a:ext cx="581320" cy="581320"/>
            <a:chOff x="0" y="0"/>
            <a:chExt cx="775094" cy="7750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5081" cy="775081"/>
            </a:xfrm>
            <a:custGeom>
              <a:avLst/>
              <a:gdLst/>
              <a:ahLst/>
              <a:cxnLst/>
              <a:rect r="r" b="b" t="t" l="l"/>
              <a:pathLst>
                <a:path h="775081" w="775081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604" y="775081"/>
                  </a:cubicBezTo>
                  <a:cubicBezTo>
                    <a:pt x="173609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Freeform 43" id="43" descr="preencoded.png"/>
          <p:cNvSpPr/>
          <p:nvPr/>
        </p:nvSpPr>
        <p:spPr>
          <a:xfrm flipH="false" flipV="false" rot="0">
            <a:off x="1718815" y="7900835"/>
            <a:ext cx="290665" cy="290665"/>
          </a:xfrm>
          <a:custGeom>
            <a:avLst/>
            <a:gdLst/>
            <a:ahLst/>
            <a:cxnLst/>
            <a:rect r="r" b="b" t="t" l="l"/>
            <a:pathLst>
              <a:path h="290665" w="290665">
                <a:moveTo>
                  <a:pt x="0" y="0"/>
                </a:moveTo>
                <a:lnTo>
                  <a:pt x="290665" y="0"/>
                </a:lnTo>
                <a:lnTo>
                  <a:pt x="290665" y="290665"/>
                </a:lnTo>
                <a:lnTo>
                  <a:pt x="0" y="290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306241" y="7776267"/>
            <a:ext cx="14989521" cy="31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Ready for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06241" y="8141341"/>
            <a:ext cx="14989521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Your clean data is now ready for visualization or machine learning.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92238" y="8925077"/>
            <a:ext cx="16303523" cy="660349"/>
            <a:chOff x="0" y="0"/>
            <a:chExt cx="21738031" cy="8804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737955" cy="880491"/>
            </a:xfrm>
            <a:custGeom>
              <a:avLst/>
              <a:gdLst/>
              <a:ahLst/>
              <a:cxnLst/>
              <a:rect r="r" b="b" t="t" l="l"/>
              <a:pathLst>
                <a:path h="880491" w="21737955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21699220" y="0"/>
                  </a:lnTo>
                  <a:cubicBezTo>
                    <a:pt x="21720683" y="0"/>
                    <a:pt x="21737955" y="17399"/>
                    <a:pt x="21737955" y="38735"/>
                  </a:cubicBezTo>
                  <a:lnTo>
                    <a:pt x="21737955" y="841756"/>
                  </a:lnTo>
                  <a:cubicBezTo>
                    <a:pt x="21737955" y="863219"/>
                    <a:pt x="21720556" y="880491"/>
                    <a:pt x="21699220" y="880491"/>
                  </a:cubicBezTo>
                  <a:lnTo>
                    <a:pt x="38735" y="880491"/>
                  </a:lnTo>
                  <a:cubicBezTo>
                    <a:pt x="17399" y="880491"/>
                    <a:pt x="0" y="863092"/>
                    <a:pt x="0" y="841756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6015" y="9136113"/>
            <a:ext cx="242145" cy="193777"/>
            <a:chOff x="0" y="0"/>
            <a:chExt cx="322859" cy="258369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22834" cy="258318"/>
            </a:xfrm>
            <a:custGeom>
              <a:avLst/>
              <a:gdLst/>
              <a:ahLst/>
              <a:cxnLst/>
              <a:rect r="r" b="b" t="t" l="l"/>
              <a:pathLst>
                <a:path h="258318" w="322834">
                  <a:moveTo>
                    <a:pt x="0" y="0"/>
                  </a:moveTo>
                  <a:lnTo>
                    <a:pt x="322834" y="0"/>
                  </a:lnTo>
                  <a:lnTo>
                    <a:pt x="322834" y="258318"/>
                  </a:lnTo>
                  <a:lnTo>
                    <a:pt x="0" y="258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67" r="-7" b="-481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621927" y="9086698"/>
            <a:ext cx="16394459" cy="3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Idea:</a:t>
            </a:r>
            <a:r>
              <a:rPr lang="en-US" sz="15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Wrangling = making messy data useful.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15787" y="2466651"/>
            <a:ext cx="12772686" cy="6791649"/>
            <a:chOff x="0" y="0"/>
            <a:chExt cx="21236267" cy="112920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36267" cy="11292008"/>
            </a:xfrm>
            <a:custGeom>
              <a:avLst/>
              <a:gdLst/>
              <a:ahLst/>
              <a:cxnLst/>
              <a:rect r="r" b="b" t="t" l="l"/>
              <a:pathLst>
                <a:path h="11292008" w="21236267">
                  <a:moveTo>
                    <a:pt x="0" y="0"/>
                  </a:moveTo>
                  <a:lnTo>
                    <a:pt x="21236267" y="0"/>
                  </a:lnTo>
                  <a:lnTo>
                    <a:pt x="21236267" y="11292008"/>
                  </a:lnTo>
                  <a:lnTo>
                    <a:pt x="0" y="11292008"/>
                  </a:lnTo>
                  <a:close/>
                </a:path>
              </a:pathLst>
            </a:custGeom>
            <a:blipFill>
              <a:blip r:embed="rId3"/>
              <a:stretch>
                <a:fillRect l="-4258" t="0" r="-425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211197"/>
            <a:ext cx="6204496" cy="5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The Data Wrangling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337520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411929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794720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 Is a Missing Value?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927709"/>
            <a:ext cx="16303523" cy="164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b="true" sz="2400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 Missing Value means that a particular piece of data was not recorded, not collected, or simply unavailable.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b="true" sz="2400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 In Pandas, missing values appear as </a:t>
            </a:r>
            <a:r>
              <a:rPr lang="en-US" sz="24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b="true" sz="2400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 — which stands for Not a Number.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645" y="4853435"/>
            <a:ext cx="8206378" cy="4095902"/>
            <a:chOff x="0" y="0"/>
            <a:chExt cx="10941837" cy="5461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1812" cy="5461254"/>
            </a:xfrm>
            <a:custGeom>
              <a:avLst/>
              <a:gdLst/>
              <a:ahLst/>
              <a:cxnLst/>
              <a:rect r="r" b="b" t="t" l="l"/>
              <a:pathLst>
                <a:path h="5461254" w="1094181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92155" y="0"/>
                  </a:lnTo>
                  <a:cubicBezTo>
                    <a:pt x="10919587" y="0"/>
                    <a:pt x="10941812" y="22225"/>
                    <a:pt x="10941812" y="49657"/>
                  </a:cubicBezTo>
                  <a:lnTo>
                    <a:pt x="10941812" y="5411597"/>
                  </a:lnTo>
                  <a:cubicBezTo>
                    <a:pt x="10941812" y="5439029"/>
                    <a:pt x="10919587" y="5461254"/>
                    <a:pt x="10892155" y="5461254"/>
                  </a:cubicBezTo>
                  <a:lnTo>
                    <a:pt x="49657" y="5461254"/>
                  </a:lnTo>
                  <a:cubicBezTo>
                    <a:pt x="22225" y="5461254"/>
                    <a:pt x="0" y="5439029"/>
                    <a:pt x="0" y="54115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61590" y="5091855"/>
            <a:ext cx="7710488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Example Dataset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6827" y="5763368"/>
            <a:ext cx="7720012" cy="2911678"/>
            <a:chOff x="0" y="0"/>
            <a:chExt cx="10293350" cy="38822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3350" cy="3882263"/>
            </a:xfrm>
            <a:custGeom>
              <a:avLst/>
              <a:gdLst/>
              <a:ahLst/>
              <a:cxnLst/>
              <a:rect r="r" b="b" t="t" l="l"/>
              <a:pathLst>
                <a:path h="3882263" w="10293350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10243566" y="0"/>
                  </a:lnTo>
                  <a:cubicBezTo>
                    <a:pt x="10270998" y="0"/>
                    <a:pt x="10293350" y="22225"/>
                    <a:pt x="10293350" y="49784"/>
                  </a:cubicBezTo>
                  <a:lnTo>
                    <a:pt x="10293350" y="3832479"/>
                  </a:lnTo>
                  <a:cubicBezTo>
                    <a:pt x="10293350" y="3859911"/>
                    <a:pt x="10271125" y="3882263"/>
                    <a:pt x="10243566" y="3882263"/>
                  </a:cubicBezTo>
                  <a:lnTo>
                    <a:pt x="49784" y="3882263"/>
                  </a:lnTo>
                  <a:cubicBezTo>
                    <a:pt x="22352" y="3882263"/>
                    <a:pt x="0" y="3860038"/>
                    <a:pt x="0" y="383247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" r="0" b="-166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61590" y="6496050"/>
            <a:ext cx="7710488" cy="15507"/>
            <a:chOff x="0" y="0"/>
            <a:chExt cx="10280650" cy="206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80650" cy="20701"/>
            </a:xfrm>
            <a:custGeom>
              <a:avLst/>
              <a:gdLst/>
              <a:ahLst/>
              <a:cxnLst/>
              <a:rect r="r" b="b" t="t" l="l"/>
              <a:pathLst>
                <a:path h="20701" w="10280650">
                  <a:moveTo>
                    <a:pt x="0" y="0"/>
                  </a:moveTo>
                  <a:lnTo>
                    <a:pt x="10280650" y="0"/>
                  </a:lnTo>
                  <a:lnTo>
                    <a:pt x="10280650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61590" y="7219207"/>
            <a:ext cx="7710488" cy="15507"/>
            <a:chOff x="0" y="0"/>
            <a:chExt cx="10280650" cy="206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80650" cy="20701"/>
            </a:xfrm>
            <a:custGeom>
              <a:avLst/>
              <a:gdLst/>
              <a:ahLst/>
              <a:cxnLst/>
              <a:rect r="r" b="b" t="t" l="l"/>
              <a:pathLst>
                <a:path h="20701" w="10280650">
                  <a:moveTo>
                    <a:pt x="0" y="0"/>
                  </a:moveTo>
                  <a:lnTo>
                    <a:pt x="10280650" y="0"/>
                  </a:lnTo>
                  <a:lnTo>
                    <a:pt x="10280650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1590" y="7942364"/>
            <a:ext cx="7710488" cy="15507"/>
            <a:chOff x="0" y="0"/>
            <a:chExt cx="10280650" cy="20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80650" cy="20701"/>
            </a:xfrm>
            <a:custGeom>
              <a:avLst/>
              <a:gdLst/>
              <a:ahLst/>
              <a:cxnLst/>
              <a:rect r="r" b="b" t="t" l="l"/>
              <a:pathLst>
                <a:path h="20701" w="10280650">
                  <a:moveTo>
                    <a:pt x="0" y="0"/>
                  </a:moveTo>
                  <a:lnTo>
                    <a:pt x="10280650" y="0"/>
                  </a:lnTo>
                  <a:lnTo>
                    <a:pt x="10280650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20251" y="5859809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83371" y="5859809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46491" y="5859809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0251" y="6582966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83371" y="6582966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46491" y="6582966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0251" y="7306123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83371" y="7306123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46491" y="7306123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0251" y="8029280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Kumar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83371" y="8029280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46491" y="8029280"/>
            <a:ext cx="298162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56096" y="5091855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 Does NaN Mean?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441809" y="5753843"/>
            <a:ext cx="3829202" cy="2804960"/>
            <a:chOff x="0" y="0"/>
            <a:chExt cx="5105603" cy="37399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05654" cy="3740023"/>
            </a:xfrm>
            <a:custGeom>
              <a:avLst/>
              <a:gdLst/>
              <a:ahLst/>
              <a:cxnLst/>
              <a:rect r="r" b="b" t="t" l="l"/>
              <a:pathLst>
                <a:path h="3740023" w="5105654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5055489" y="0"/>
                  </a:lnTo>
                  <a:cubicBezTo>
                    <a:pt x="5083175" y="0"/>
                    <a:pt x="5105654" y="22479"/>
                    <a:pt x="5105654" y="50165"/>
                  </a:cubicBezTo>
                  <a:lnTo>
                    <a:pt x="5105654" y="3689858"/>
                  </a:lnTo>
                  <a:cubicBezTo>
                    <a:pt x="5105654" y="3717544"/>
                    <a:pt x="5083175" y="3740023"/>
                    <a:pt x="5055489" y="3740023"/>
                  </a:cubicBezTo>
                  <a:lnTo>
                    <a:pt x="50165" y="3740023"/>
                  </a:lnTo>
                  <a:cubicBezTo>
                    <a:pt x="22479" y="3740023"/>
                    <a:pt x="0" y="3717544"/>
                    <a:pt x="0" y="3689858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732616" y="6035126"/>
            <a:ext cx="3247577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NaN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32616" y="6604102"/>
            <a:ext cx="3247577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Not a Number — Pandas' way of saying "this value is missing."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490372" y="5753843"/>
            <a:ext cx="3829202" cy="2804960"/>
            <a:chOff x="0" y="0"/>
            <a:chExt cx="5105603" cy="37399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05654" cy="3740023"/>
            </a:xfrm>
            <a:custGeom>
              <a:avLst/>
              <a:gdLst/>
              <a:ahLst/>
              <a:cxnLst/>
              <a:rect r="r" b="b" t="t" l="l"/>
              <a:pathLst>
                <a:path h="3740023" w="5105654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5055489" y="0"/>
                  </a:lnTo>
                  <a:cubicBezTo>
                    <a:pt x="5083175" y="0"/>
                    <a:pt x="5105654" y="22479"/>
                    <a:pt x="5105654" y="50165"/>
                  </a:cubicBezTo>
                  <a:lnTo>
                    <a:pt x="5105654" y="3689858"/>
                  </a:lnTo>
                  <a:cubicBezTo>
                    <a:pt x="5105654" y="3717544"/>
                    <a:pt x="5083175" y="3740023"/>
                    <a:pt x="5055489" y="3740023"/>
                  </a:cubicBezTo>
                  <a:lnTo>
                    <a:pt x="50165" y="3740023"/>
                  </a:lnTo>
                  <a:cubicBezTo>
                    <a:pt x="22479" y="3740023"/>
                    <a:pt x="0" y="3717544"/>
                    <a:pt x="0" y="3689858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3781189" y="6035126"/>
            <a:ext cx="3247577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Why It Matters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81189" y="6604102"/>
            <a:ext cx="3247577" cy="166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Operations on NaN produce unreliable results. Always handle missing data first!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421006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495425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78206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Creating Our Student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968228"/>
            <a:ext cx="16303523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Let's create the CSV file and load it into Pandas. This dataset will be used throughout the entire session. Notice that some cells are intentionally left blank — these become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in Pandas.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384329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students.csv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5060604"/>
            <a:ext cx="7849200" cy="2877445"/>
            <a:chOff x="0" y="0"/>
            <a:chExt cx="10465600" cy="38365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5688" cy="3836670"/>
            </a:xfrm>
            <a:custGeom>
              <a:avLst/>
              <a:gdLst/>
              <a:ahLst/>
              <a:cxnLst/>
              <a:rect r="r" b="b" t="t" l="l"/>
              <a:pathLst>
                <a:path h="3836670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3787013"/>
                  </a:lnTo>
                  <a:cubicBezTo>
                    <a:pt x="10465688" y="3814445"/>
                    <a:pt x="10443463" y="3836670"/>
                    <a:pt x="10416032" y="3836670"/>
                  </a:cubicBezTo>
                  <a:lnTo>
                    <a:pt x="49657" y="3836670"/>
                  </a:lnTo>
                  <a:cubicBezTo>
                    <a:pt x="22225" y="3836670"/>
                    <a:pt x="0" y="3814445"/>
                    <a:pt x="0" y="378701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9895" y="5194249"/>
            <a:ext cx="7253878" cy="249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Name,Age,Marks,City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Arun,20,85,Chennai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Ravi,21,,Chennai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Kumar,,72,Vellore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Priya,20,90,Chennai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Anu,22,,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6096" y="4384329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Load with Pandas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56096" y="5060604"/>
            <a:ext cx="7849200" cy="2480520"/>
            <a:chOff x="0" y="0"/>
            <a:chExt cx="10465600" cy="33073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65688" cy="3307461"/>
            </a:xfrm>
            <a:custGeom>
              <a:avLst/>
              <a:gdLst/>
              <a:ahLst/>
              <a:cxnLst/>
              <a:rect r="r" b="b" t="t" l="l"/>
              <a:pathLst>
                <a:path h="3307461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3257804"/>
                  </a:lnTo>
                  <a:cubicBezTo>
                    <a:pt x="10465688" y="3285236"/>
                    <a:pt x="10443463" y="3307461"/>
                    <a:pt x="10416032" y="3307461"/>
                  </a:cubicBezTo>
                  <a:lnTo>
                    <a:pt x="49657" y="3307461"/>
                  </a:lnTo>
                  <a:cubicBezTo>
                    <a:pt x="22225" y="3307461"/>
                    <a:pt x="0" y="3285236"/>
                    <a:pt x="0" y="325780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53752" y="5194249"/>
            <a:ext cx="7253878" cy="20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</a:p>
          <a:p>
            <a:pPr algn="l">
              <a:lnSpc>
                <a:spcPts val="3032"/>
              </a:lnSpc>
            </a:pP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 = pd.read_csv("students.csv")</a:t>
            </a:r>
          </a:p>
          <a:p>
            <a:pPr algn="l">
              <a:lnSpc>
                <a:spcPts val="3032"/>
              </a:lnSpc>
            </a:pP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6096" y="7743977"/>
            <a:ext cx="7849200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Run this in Jupyter Notebook or Google Colab. The blank cells in the CSV become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automatically when loaded.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033758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108177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90958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Our Dataset Output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580980"/>
            <a:ext cx="16303523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After loading the CSV, this is what Pandas shows us. Notice the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values — these are the missing data points we need to deal with before any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997081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DataFrame Output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4668593"/>
            <a:ext cx="7858725" cy="4310358"/>
            <a:chOff x="0" y="0"/>
            <a:chExt cx="10478300" cy="5747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8262" cy="5747004"/>
            </a:xfrm>
            <a:custGeom>
              <a:avLst/>
              <a:gdLst/>
              <a:ahLst/>
              <a:cxnLst/>
              <a:rect r="r" b="b" t="t" l="l"/>
              <a:pathLst>
                <a:path h="5747004" w="1047826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28605" y="0"/>
                  </a:lnTo>
                  <a:cubicBezTo>
                    <a:pt x="10456037" y="0"/>
                    <a:pt x="10478262" y="22225"/>
                    <a:pt x="10478262" y="49657"/>
                  </a:cubicBezTo>
                  <a:lnTo>
                    <a:pt x="10478262" y="5697347"/>
                  </a:lnTo>
                  <a:cubicBezTo>
                    <a:pt x="10478262" y="5724779"/>
                    <a:pt x="10456037" y="5747004"/>
                    <a:pt x="10428605" y="5747004"/>
                  </a:cubicBezTo>
                  <a:lnTo>
                    <a:pt x="49657" y="5747004"/>
                  </a:lnTo>
                  <a:cubicBezTo>
                    <a:pt x="22225" y="5747004"/>
                    <a:pt x="0" y="5724779"/>
                    <a:pt x="0" y="569734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72" t="0" r="-20372" b="-2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1763" y="4682881"/>
            <a:ext cx="7830150" cy="713632"/>
            <a:chOff x="0" y="0"/>
            <a:chExt cx="10440200" cy="9515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9709" y="4765034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12011" y="4765034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69541" y="4765034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27081" y="4765034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1763" y="5396513"/>
            <a:ext cx="7830150" cy="713632"/>
            <a:chOff x="0" y="0"/>
            <a:chExt cx="10440200" cy="9515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9709" y="5478656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12011" y="5478656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20.0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69541" y="5478656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85.0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27081" y="5478656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6110135"/>
            <a:ext cx="7830150" cy="713632"/>
            <a:chOff x="0" y="0"/>
            <a:chExt cx="10440200" cy="9515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9709" y="6192288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12011" y="6192288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21.0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69541" y="6192288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27081" y="6192288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1763" y="6823767"/>
            <a:ext cx="7830150" cy="713632"/>
            <a:chOff x="0" y="0"/>
            <a:chExt cx="10440200" cy="9515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49709" y="6905920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Kumar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212011" y="6905920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69541" y="6905920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72.0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27081" y="6905920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Vellore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01763" y="7537399"/>
            <a:ext cx="7830150" cy="713632"/>
            <a:chOff x="0" y="0"/>
            <a:chExt cx="10440200" cy="9515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49709" y="7619552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12011" y="7619552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20.0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69541" y="7619552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90.0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27081" y="7619552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01763" y="8251031"/>
            <a:ext cx="7830150" cy="713632"/>
            <a:chOff x="0" y="0"/>
            <a:chExt cx="10440200" cy="9515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249709" y="8333184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12011" y="8333184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22.0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169541" y="8333184"/>
            <a:ext cx="236651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27081" y="8333184"/>
            <a:ext cx="23712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56096" y="3997081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What's Missing?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456096" y="4673356"/>
            <a:ext cx="3800627" cy="1925393"/>
            <a:chOff x="0" y="0"/>
            <a:chExt cx="5067503" cy="25671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67554" cy="2567178"/>
            </a:xfrm>
            <a:custGeom>
              <a:avLst/>
              <a:gdLst/>
              <a:ahLst/>
              <a:cxnLst/>
              <a:rect r="r" b="b" t="t" l="l"/>
              <a:pathLst>
                <a:path h="2567178" w="506755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017897" y="0"/>
                  </a:lnTo>
                  <a:cubicBezTo>
                    <a:pt x="5045329" y="0"/>
                    <a:pt x="5067554" y="22225"/>
                    <a:pt x="5067554" y="49657"/>
                  </a:cubicBezTo>
                  <a:lnTo>
                    <a:pt x="5067554" y="2517521"/>
                  </a:lnTo>
                  <a:cubicBezTo>
                    <a:pt x="5067554" y="2544953"/>
                    <a:pt x="5045329" y="2567178"/>
                    <a:pt x="5017897" y="2567178"/>
                  </a:cubicBezTo>
                  <a:lnTo>
                    <a:pt x="49657" y="2567178"/>
                  </a:lnTo>
                  <a:cubicBezTo>
                    <a:pt x="22225" y="2567178"/>
                    <a:pt x="0" y="2544953"/>
                    <a:pt x="0" y="251752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704041" y="4911776"/>
            <a:ext cx="3304727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04041" y="5480742"/>
            <a:ext cx="330472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Kumar's age is missing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504659" y="4673356"/>
            <a:ext cx="3800627" cy="1925393"/>
            <a:chOff x="0" y="0"/>
            <a:chExt cx="5067503" cy="25671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67554" cy="2567178"/>
            </a:xfrm>
            <a:custGeom>
              <a:avLst/>
              <a:gdLst/>
              <a:ahLst/>
              <a:cxnLst/>
              <a:rect r="r" b="b" t="t" l="l"/>
              <a:pathLst>
                <a:path h="2567178" w="506755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017897" y="0"/>
                  </a:lnTo>
                  <a:cubicBezTo>
                    <a:pt x="5045329" y="0"/>
                    <a:pt x="5067554" y="22225"/>
                    <a:pt x="5067554" y="49657"/>
                  </a:cubicBezTo>
                  <a:lnTo>
                    <a:pt x="5067554" y="2517521"/>
                  </a:lnTo>
                  <a:cubicBezTo>
                    <a:pt x="5067554" y="2544953"/>
                    <a:pt x="5045329" y="2567178"/>
                    <a:pt x="5017897" y="2567178"/>
                  </a:cubicBezTo>
                  <a:lnTo>
                    <a:pt x="49657" y="2567178"/>
                  </a:lnTo>
                  <a:cubicBezTo>
                    <a:pt x="22225" y="2567178"/>
                    <a:pt x="0" y="2544953"/>
                    <a:pt x="0" y="251752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3752614" y="4911776"/>
            <a:ext cx="3304727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Marks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752614" y="5480742"/>
            <a:ext cx="3304727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 and Anu have no marks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456096" y="6846694"/>
            <a:ext cx="7849200" cy="1528467"/>
            <a:chOff x="0" y="0"/>
            <a:chExt cx="10465600" cy="20379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65688" cy="2037969"/>
            </a:xfrm>
            <a:custGeom>
              <a:avLst/>
              <a:gdLst/>
              <a:ahLst/>
              <a:cxnLst/>
              <a:rect r="r" b="b" t="t" l="l"/>
              <a:pathLst>
                <a:path h="2037969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988312"/>
                  </a:lnTo>
                  <a:cubicBezTo>
                    <a:pt x="10465688" y="2015744"/>
                    <a:pt x="10443463" y="2037969"/>
                    <a:pt x="10416032" y="2037969"/>
                  </a:cubicBezTo>
                  <a:lnTo>
                    <a:pt x="49657" y="2037969"/>
                  </a:lnTo>
                  <a:cubicBezTo>
                    <a:pt x="22225" y="2037969"/>
                    <a:pt x="0" y="2015744"/>
                    <a:pt x="0" y="198831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704041" y="7085114"/>
            <a:ext cx="73533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04041" y="7654080"/>
            <a:ext cx="735330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Anu's city is not recorded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68544"/>
            <a:ext cx="3014662" cy="341709"/>
            <a:chOff x="0" y="0"/>
            <a:chExt cx="4019550" cy="455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19550" cy="455550"/>
            </a:xfrm>
            <a:custGeom>
              <a:avLst/>
              <a:gdLst/>
              <a:ahLst/>
              <a:cxnLst/>
              <a:rect r="r" b="b" t="t" l="l"/>
              <a:pathLst>
                <a:path h="455550" w="4019550">
                  <a:moveTo>
                    <a:pt x="0" y="35941"/>
                  </a:moveTo>
                  <a:cubicBezTo>
                    <a:pt x="0" y="16129"/>
                    <a:pt x="16129" y="0"/>
                    <a:pt x="35941" y="0"/>
                  </a:cubicBezTo>
                  <a:lnTo>
                    <a:pt x="3983609" y="0"/>
                  </a:lnTo>
                  <a:cubicBezTo>
                    <a:pt x="4003421" y="0"/>
                    <a:pt x="4019550" y="16129"/>
                    <a:pt x="4019550" y="35941"/>
                  </a:cubicBezTo>
                  <a:lnTo>
                    <a:pt x="4019550" y="419608"/>
                  </a:lnTo>
                  <a:cubicBezTo>
                    <a:pt x="4019550" y="439420"/>
                    <a:pt x="4003421" y="455549"/>
                    <a:pt x="3983609" y="455549"/>
                  </a:cubicBezTo>
                  <a:lnTo>
                    <a:pt x="35941" y="455549"/>
                  </a:lnTo>
                  <a:cubicBezTo>
                    <a:pt x="16129" y="455676"/>
                    <a:pt x="0" y="439547"/>
                    <a:pt x="0" y="419608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7074" y="835971"/>
            <a:ext cx="3659391" cy="2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4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72613"/>
            <a:ext cx="16303523" cy="76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Finding Missing Values: </a:t>
            </a:r>
            <a:r>
              <a:rPr lang="en-US" sz="4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isnull()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199827"/>
            <a:ext cx="1630352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</a:t>
            </a: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df.isnull()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function scans every cell in your DataFrame and returns </a:t>
            </a: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where data is missing and </a:t>
            </a: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where data is present. It's your first diagnostic tool.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366192"/>
            <a:ext cx="7877470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965677"/>
            <a:ext cx="7877470" cy="809177"/>
            <a:chOff x="0" y="0"/>
            <a:chExt cx="10503294" cy="107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03281" cy="1078865"/>
            </a:xfrm>
            <a:custGeom>
              <a:avLst/>
              <a:gdLst/>
              <a:ahLst/>
              <a:cxnLst/>
              <a:rect r="r" b="b" t="t" l="l"/>
              <a:pathLst>
                <a:path h="1078865" w="10503281">
                  <a:moveTo>
                    <a:pt x="0" y="44958"/>
                  </a:moveTo>
                  <a:cubicBezTo>
                    <a:pt x="0" y="20193"/>
                    <a:pt x="20193" y="0"/>
                    <a:pt x="44958" y="0"/>
                  </a:cubicBezTo>
                  <a:lnTo>
                    <a:pt x="10458323" y="0"/>
                  </a:lnTo>
                  <a:cubicBezTo>
                    <a:pt x="10483215" y="0"/>
                    <a:pt x="10503281" y="20193"/>
                    <a:pt x="10503281" y="44958"/>
                  </a:cubicBezTo>
                  <a:lnTo>
                    <a:pt x="10503281" y="1033907"/>
                  </a:lnTo>
                  <a:cubicBezTo>
                    <a:pt x="10503281" y="1058799"/>
                    <a:pt x="10483088" y="1078865"/>
                    <a:pt x="10458323" y="1078865"/>
                  </a:cubicBezTo>
                  <a:lnTo>
                    <a:pt x="44958" y="1078865"/>
                  </a:lnTo>
                  <a:cubicBezTo>
                    <a:pt x="20193" y="1078865"/>
                    <a:pt x="0" y="1058799"/>
                    <a:pt x="0" y="10339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1910" y="4085625"/>
            <a:ext cx="8252517" cy="4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print(df.isnull())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4984994"/>
            <a:ext cx="7877470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Output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76" y="5579716"/>
            <a:ext cx="7886995" cy="3714159"/>
            <a:chOff x="0" y="0"/>
            <a:chExt cx="10515994" cy="49522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15981" cy="4952238"/>
            </a:xfrm>
            <a:custGeom>
              <a:avLst/>
              <a:gdLst/>
              <a:ahLst/>
              <a:cxnLst/>
              <a:rect r="r" b="b" t="t" l="l"/>
              <a:pathLst>
                <a:path h="4952238" w="10515981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10470896" y="0"/>
                  </a:lnTo>
                  <a:cubicBezTo>
                    <a:pt x="10495788" y="0"/>
                    <a:pt x="10515981" y="20193"/>
                    <a:pt x="10515981" y="45085"/>
                  </a:cubicBezTo>
                  <a:lnTo>
                    <a:pt x="10515981" y="4907153"/>
                  </a:lnTo>
                  <a:cubicBezTo>
                    <a:pt x="10515981" y="4932045"/>
                    <a:pt x="10495788" y="4952238"/>
                    <a:pt x="10470896" y="4952238"/>
                  </a:cubicBezTo>
                  <a:lnTo>
                    <a:pt x="45085" y="4952238"/>
                  </a:lnTo>
                  <a:cubicBezTo>
                    <a:pt x="20193" y="4952238"/>
                    <a:pt x="0" y="4932045"/>
                    <a:pt x="0" y="490715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20" t="0" r="-10421" b="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6205090"/>
            <a:ext cx="7877470" cy="14049"/>
            <a:chOff x="0" y="0"/>
            <a:chExt cx="10503294" cy="18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03281" cy="18796"/>
            </a:xfrm>
            <a:custGeom>
              <a:avLst/>
              <a:gdLst/>
              <a:ahLst/>
              <a:cxnLst/>
              <a:rect r="r" b="b" t="t" l="l"/>
              <a:pathLst>
                <a:path h="18796" w="10503281">
                  <a:moveTo>
                    <a:pt x="0" y="0"/>
                  </a:moveTo>
                  <a:lnTo>
                    <a:pt x="10503281" y="0"/>
                  </a:lnTo>
                  <a:lnTo>
                    <a:pt x="10503281" y="18796"/>
                  </a:lnTo>
                  <a:lnTo>
                    <a:pt x="0" y="187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238" y="6820938"/>
            <a:ext cx="7877470" cy="14049"/>
            <a:chOff x="0" y="0"/>
            <a:chExt cx="10503294" cy="187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03281" cy="18796"/>
            </a:xfrm>
            <a:custGeom>
              <a:avLst/>
              <a:gdLst/>
              <a:ahLst/>
              <a:cxnLst/>
              <a:rect r="r" b="b" t="t" l="l"/>
              <a:pathLst>
                <a:path h="18796" w="10503281">
                  <a:moveTo>
                    <a:pt x="0" y="0"/>
                  </a:moveTo>
                  <a:lnTo>
                    <a:pt x="10503281" y="0"/>
                  </a:lnTo>
                  <a:lnTo>
                    <a:pt x="10503281" y="18796"/>
                  </a:lnTo>
                  <a:lnTo>
                    <a:pt x="0" y="187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238" y="7436796"/>
            <a:ext cx="7877470" cy="14049"/>
            <a:chOff x="0" y="0"/>
            <a:chExt cx="10503294" cy="187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03281" cy="18796"/>
            </a:xfrm>
            <a:custGeom>
              <a:avLst/>
              <a:gdLst/>
              <a:ahLst/>
              <a:cxnLst/>
              <a:rect r="r" b="b" t="t" l="l"/>
              <a:pathLst>
                <a:path h="18796" w="10503281">
                  <a:moveTo>
                    <a:pt x="0" y="0"/>
                  </a:moveTo>
                  <a:lnTo>
                    <a:pt x="10503281" y="0"/>
                  </a:lnTo>
                  <a:lnTo>
                    <a:pt x="10503281" y="18796"/>
                  </a:lnTo>
                  <a:lnTo>
                    <a:pt x="0" y="187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238" y="8052645"/>
            <a:ext cx="7877470" cy="14049"/>
            <a:chOff x="0" y="0"/>
            <a:chExt cx="10503294" cy="18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03281" cy="18796"/>
            </a:xfrm>
            <a:custGeom>
              <a:avLst/>
              <a:gdLst/>
              <a:ahLst/>
              <a:cxnLst/>
              <a:rect r="r" b="b" t="t" l="l"/>
              <a:pathLst>
                <a:path h="18796" w="10503281">
                  <a:moveTo>
                    <a:pt x="0" y="0"/>
                  </a:moveTo>
                  <a:lnTo>
                    <a:pt x="10503281" y="0"/>
                  </a:lnTo>
                  <a:lnTo>
                    <a:pt x="10503281" y="18796"/>
                  </a:lnTo>
                  <a:lnTo>
                    <a:pt x="0" y="187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2238" y="8668493"/>
            <a:ext cx="7877470" cy="14049"/>
            <a:chOff x="0" y="0"/>
            <a:chExt cx="10503294" cy="187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03281" cy="18796"/>
            </a:xfrm>
            <a:custGeom>
              <a:avLst/>
              <a:gdLst/>
              <a:ahLst/>
              <a:cxnLst/>
              <a:rect r="r" b="b" t="t" l="l"/>
              <a:pathLst>
                <a:path h="18796" w="10503281">
                  <a:moveTo>
                    <a:pt x="0" y="0"/>
                  </a:moveTo>
                  <a:lnTo>
                    <a:pt x="10503281" y="0"/>
                  </a:lnTo>
                  <a:lnTo>
                    <a:pt x="10503281" y="18796"/>
                  </a:lnTo>
                  <a:lnTo>
                    <a:pt x="0" y="187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966590" y="5584479"/>
            <a:ext cx="14049" cy="3704634"/>
            <a:chOff x="0" y="0"/>
            <a:chExt cx="18732" cy="49395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796" cy="4939538"/>
            </a:xfrm>
            <a:custGeom>
              <a:avLst/>
              <a:gdLst/>
              <a:ahLst/>
              <a:cxnLst/>
              <a:rect r="r" b="b" t="t" l="l"/>
              <a:pathLst>
                <a:path h="4939538" w="18796">
                  <a:moveTo>
                    <a:pt x="0" y="0"/>
                  </a:moveTo>
                  <a:lnTo>
                    <a:pt x="18796" y="0"/>
                  </a:lnTo>
                  <a:lnTo>
                    <a:pt x="18796" y="4939538"/>
                  </a:lnTo>
                  <a:lnTo>
                    <a:pt x="0" y="493953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31121" y="5584479"/>
            <a:ext cx="14049" cy="3704634"/>
            <a:chOff x="0" y="0"/>
            <a:chExt cx="18732" cy="49395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96" cy="4939538"/>
            </a:xfrm>
            <a:custGeom>
              <a:avLst/>
              <a:gdLst/>
              <a:ahLst/>
              <a:cxnLst/>
              <a:rect r="r" b="b" t="t" l="l"/>
              <a:pathLst>
                <a:path h="4939538" w="18796">
                  <a:moveTo>
                    <a:pt x="0" y="0"/>
                  </a:moveTo>
                  <a:lnTo>
                    <a:pt x="18796" y="0"/>
                  </a:lnTo>
                  <a:lnTo>
                    <a:pt x="18796" y="4939538"/>
                  </a:lnTo>
                  <a:lnTo>
                    <a:pt x="0" y="493953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95652" y="5584479"/>
            <a:ext cx="14049" cy="3704634"/>
            <a:chOff x="0" y="0"/>
            <a:chExt cx="18732" cy="49395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796" cy="4939538"/>
            </a:xfrm>
            <a:custGeom>
              <a:avLst/>
              <a:gdLst/>
              <a:ahLst/>
              <a:cxnLst/>
              <a:rect r="r" b="b" t="t" l="l"/>
              <a:pathLst>
                <a:path h="4939538" w="18796">
                  <a:moveTo>
                    <a:pt x="0" y="0"/>
                  </a:moveTo>
                  <a:lnTo>
                    <a:pt x="18796" y="0"/>
                  </a:lnTo>
                  <a:lnTo>
                    <a:pt x="18796" y="4939538"/>
                  </a:lnTo>
                  <a:lnTo>
                    <a:pt x="0" y="493953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26791" y="5678091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96085" y="5678091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60616" y="5678091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25148" y="5678091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6791" y="6293939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96085" y="6293939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60616" y="6293939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25148" y="6293939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6791" y="6909797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96085" y="6909797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60616" y="6909797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True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25148" y="6909797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6791" y="7525645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196085" y="7525645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True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160616" y="7525645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25148" y="7525645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6791" y="8141494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196085" y="8141494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160616" y="8141494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125148" y="8141494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6791" y="8757342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96085" y="8757342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False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160616" y="8757342"/>
            <a:ext cx="24199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True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125148" y="8757342"/>
            <a:ext cx="242471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True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27816" y="3366192"/>
            <a:ext cx="7877470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How to Read the Output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413529" y="3951389"/>
            <a:ext cx="3865369" cy="1775965"/>
            <a:chOff x="0" y="0"/>
            <a:chExt cx="5153825" cy="236795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3787" cy="2367915"/>
            </a:xfrm>
            <a:custGeom>
              <a:avLst/>
              <a:gdLst/>
              <a:ahLst/>
              <a:cxnLst/>
              <a:rect r="r" b="b" t="t" l="l"/>
              <a:pathLst>
                <a:path h="2367915" w="5153787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5108067" y="0"/>
                  </a:lnTo>
                  <a:cubicBezTo>
                    <a:pt x="5133340" y="0"/>
                    <a:pt x="5153787" y="20447"/>
                    <a:pt x="5153787" y="45720"/>
                  </a:cubicBezTo>
                  <a:lnTo>
                    <a:pt x="5153787" y="2322195"/>
                  </a:lnTo>
                  <a:cubicBezTo>
                    <a:pt x="5153787" y="2347468"/>
                    <a:pt x="5133340" y="2367915"/>
                    <a:pt x="5108067" y="2367915"/>
                  </a:cubicBezTo>
                  <a:lnTo>
                    <a:pt x="45720" y="2367915"/>
                  </a:lnTo>
                  <a:cubicBezTo>
                    <a:pt x="20447" y="2367915"/>
                    <a:pt x="0" y="2347468"/>
                    <a:pt x="0" y="2322195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9681124" y="4199934"/>
            <a:ext cx="3330178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835E54"/>
                </a:solidFill>
                <a:latin typeface="DM Sans"/>
                <a:ea typeface="DM Sans"/>
                <a:cs typeface="DM Sans"/>
                <a:sym typeface="DM Sans"/>
              </a:rPr>
              <a:t>True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81124" y="4726334"/>
            <a:ext cx="333017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Value is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missing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needs attention.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3454062" y="3951389"/>
            <a:ext cx="3865512" cy="1775965"/>
            <a:chOff x="0" y="0"/>
            <a:chExt cx="5154016" cy="236795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54041" cy="2367915"/>
            </a:xfrm>
            <a:custGeom>
              <a:avLst/>
              <a:gdLst/>
              <a:ahLst/>
              <a:cxnLst/>
              <a:rect r="r" b="b" t="t" l="l"/>
              <a:pathLst>
                <a:path h="2367915" w="5154041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5108321" y="0"/>
                  </a:lnTo>
                  <a:cubicBezTo>
                    <a:pt x="5133594" y="0"/>
                    <a:pt x="5154041" y="20447"/>
                    <a:pt x="5154041" y="45720"/>
                  </a:cubicBezTo>
                  <a:lnTo>
                    <a:pt x="5154041" y="2322195"/>
                  </a:lnTo>
                  <a:cubicBezTo>
                    <a:pt x="5154041" y="2347468"/>
                    <a:pt x="5133594" y="2367915"/>
                    <a:pt x="5108321" y="2367915"/>
                  </a:cubicBezTo>
                  <a:lnTo>
                    <a:pt x="45720" y="2367915"/>
                  </a:lnTo>
                  <a:cubicBezTo>
                    <a:pt x="20447" y="2367915"/>
                    <a:pt x="0" y="2347468"/>
                    <a:pt x="0" y="2322195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3721658" y="4199934"/>
            <a:ext cx="3330331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False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721658" y="4726334"/>
            <a:ext cx="333033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Value is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available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no action needed.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27816" y="5894632"/>
            <a:ext cx="87918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isnull()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get a bird's-eye view of where your data has gaps.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46369"/>
            <a:ext cx="1714348" cy="194224"/>
            <a:chOff x="0" y="0"/>
            <a:chExt cx="2285797" cy="2589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5746" cy="258953"/>
            </a:xfrm>
            <a:custGeom>
              <a:avLst/>
              <a:gdLst/>
              <a:ahLst/>
              <a:cxnLst/>
              <a:rect r="r" b="b" t="t" l="l"/>
              <a:pathLst>
                <a:path h="258953" w="2285746">
                  <a:moveTo>
                    <a:pt x="0" y="20447"/>
                  </a:moveTo>
                  <a:cubicBezTo>
                    <a:pt x="0" y="9144"/>
                    <a:pt x="9144" y="0"/>
                    <a:pt x="20447" y="0"/>
                  </a:cubicBezTo>
                  <a:lnTo>
                    <a:pt x="2265299" y="0"/>
                  </a:lnTo>
                  <a:cubicBezTo>
                    <a:pt x="2276602" y="0"/>
                    <a:pt x="2285746" y="9144"/>
                    <a:pt x="2285746" y="20447"/>
                  </a:cubicBezTo>
                  <a:lnTo>
                    <a:pt x="2285746" y="238506"/>
                  </a:lnTo>
                  <a:cubicBezTo>
                    <a:pt x="2285746" y="249809"/>
                    <a:pt x="2276602" y="258953"/>
                    <a:pt x="2265299" y="258953"/>
                  </a:cubicBezTo>
                  <a:lnTo>
                    <a:pt x="20447" y="258953"/>
                  </a:lnTo>
                  <a:cubicBezTo>
                    <a:pt x="9144" y="258953"/>
                    <a:pt x="0" y="249809"/>
                    <a:pt x="0" y="238506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8886" y="775097"/>
            <a:ext cx="2475462" cy="12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"/>
              </a:lnSpc>
            </a:pPr>
            <a:r>
              <a:rPr lang="en-US" sz="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13234"/>
            <a:ext cx="16303523" cy="44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Counting Missing Values: </a:t>
            </a:r>
            <a:r>
              <a:rPr lang="en-US" sz="24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isnull().sum()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234" y="1760639"/>
            <a:ext cx="6935670" cy="155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21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While </a:t>
            </a:r>
            <a:r>
              <a:rPr lang="en-US" sz="221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isnull()</a:t>
            </a:r>
            <a:r>
              <a:rPr lang="en-US" sz="221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shows a full table of True/False values, </a:t>
            </a:r>
            <a:r>
              <a:rPr lang="en-US" sz="221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isnull().sum()</a:t>
            </a:r>
            <a:r>
              <a:rPr lang="en-US" sz="221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gives you a quick count of missing values </a:t>
            </a:r>
            <a:r>
              <a:rPr lang="en-US" sz="221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per column</a:t>
            </a:r>
            <a:r>
              <a:rPr lang="en-US" sz="221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much easier to read at a glance.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14932"/>
            <a:ext cx="9199324" cy="36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45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238807"/>
            <a:ext cx="9199324" cy="940154"/>
            <a:chOff x="0" y="0"/>
            <a:chExt cx="6007629" cy="6139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07607" cy="613918"/>
            </a:xfrm>
            <a:custGeom>
              <a:avLst/>
              <a:gdLst/>
              <a:ahLst/>
              <a:cxnLst/>
              <a:rect r="r" b="b" t="t" l="l"/>
              <a:pathLst>
                <a:path h="613918" w="6007607">
                  <a:moveTo>
                    <a:pt x="0" y="25527"/>
                  </a:moveTo>
                  <a:cubicBezTo>
                    <a:pt x="0" y="11430"/>
                    <a:pt x="6441" y="0"/>
                    <a:pt x="14385" y="0"/>
                  </a:cubicBezTo>
                  <a:lnTo>
                    <a:pt x="5993222" y="0"/>
                  </a:lnTo>
                  <a:cubicBezTo>
                    <a:pt x="6001166" y="0"/>
                    <a:pt x="6007607" y="11430"/>
                    <a:pt x="6007607" y="25527"/>
                  </a:cubicBezTo>
                  <a:lnTo>
                    <a:pt x="6007607" y="588391"/>
                  </a:lnTo>
                  <a:cubicBezTo>
                    <a:pt x="6007607" y="602488"/>
                    <a:pt x="6001166" y="613918"/>
                    <a:pt x="5993222" y="613918"/>
                  </a:cubicBezTo>
                  <a:lnTo>
                    <a:pt x="14385" y="613918"/>
                  </a:lnTo>
                  <a:cubicBezTo>
                    <a:pt x="6441" y="613918"/>
                    <a:pt x="0" y="602488"/>
                    <a:pt x="0" y="58839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5234" y="4385527"/>
            <a:ext cx="9898281" cy="42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041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print(df.isnull().sum())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720" y="6097795"/>
            <a:ext cx="7219115" cy="3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86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Output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45420" y="6709789"/>
            <a:ext cx="7227715" cy="2981698"/>
            <a:chOff x="0" y="0"/>
            <a:chExt cx="4304163" cy="17756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04252" cy="1775587"/>
            </a:xfrm>
            <a:custGeom>
              <a:avLst/>
              <a:gdLst/>
              <a:ahLst/>
              <a:cxnLst/>
              <a:rect r="r" b="b" t="t" l="l"/>
              <a:pathLst>
                <a:path h="1775587" w="4304252">
                  <a:moveTo>
                    <a:pt x="0" y="25781"/>
                  </a:moveTo>
                  <a:cubicBezTo>
                    <a:pt x="0" y="11557"/>
                    <a:pt x="4660" y="0"/>
                    <a:pt x="10396" y="0"/>
                  </a:cubicBezTo>
                  <a:lnTo>
                    <a:pt x="4293803" y="0"/>
                  </a:lnTo>
                  <a:cubicBezTo>
                    <a:pt x="4299539" y="0"/>
                    <a:pt x="4304252" y="11557"/>
                    <a:pt x="4304252" y="25781"/>
                  </a:cubicBezTo>
                  <a:lnTo>
                    <a:pt x="4304252" y="1749806"/>
                  </a:lnTo>
                  <a:cubicBezTo>
                    <a:pt x="4304252" y="1764030"/>
                    <a:pt x="4299539" y="1775587"/>
                    <a:pt x="4293803" y="1775587"/>
                  </a:cubicBezTo>
                  <a:lnTo>
                    <a:pt x="10396" y="1775587"/>
                  </a:lnTo>
                  <a:cubicBezTo>
                    <a:pt x="4660" y="1775587"/>
                    <a:pt x="0" y="1764030"/>
                    <a:pt x="0" y="174980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131" r="-147981" b="-67133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49720" y="7318911"/>
            <a:ext cx="7219115" cy="21326"/>
            <a:chOff x="0" y="0"/>
            <a:chExt cx="4299042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9026" cy="12700"/>
            </a:xfrm>
            <a:custGeom>
              <a:avLst/>
              <a:gdLst/>
              <a:ahLst/>
              <a:cxnLst/>
              <a:rect r="r" b="b" t="t" l="l"/>
              <a:pathLst>
                <a:path h="12700" w="4299026">
                  <a:moveTo>
                    <a:pt x="0" y="0"/>
                  </a:moveTo>
                  <a:lnTo>
                    <a:pt x="4299026" y="0"/>
                  </a:lnTo>
                  <a:lnTo>
                    <a:pt x="42990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49720" y="7906729"/>
            <a:ext cx="7219115" cy="21326"/>
            <a:chOff x="0" y="0"/>
            <a:chExt cx="4299042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9026" cy="12700"/>
            </a:xfrm>
            <a:custGeom>
              <a:avLst/>
              <a:gdLst/>
              <a:ahLst/>
              <a:cxnLst/>
              <a:rect r="r" b="b" t="t" l="l"/>
              <a:pathLst>
                <a:path h="12700" w="4299026">
                  <a:moveTo>
                    <a:pt x="0" y="0"/>
                  </a:moveTo>
                  <a:lnTo>
                    <a:pt x="4299026" y="0"/>
                  </a:lnTo>
                  <a:lnTo>
                    <a:pt x="42990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9720" y="8494525"/>
            <a:ext cx="7219115" cy="21326"/>
            <a:chOff x="0" y="0"/>
            <a:chExt cx="4299042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9026" cy="12700"/>
            </a:xfrm>
            <a:custGeom>
              <a:avLst/>
              <a:gdLst/>
              <a:ahLst/>
              <a:cxnLst/>
              <a:rect r="r" b="b" t="t" l="l"/>
              <a:pathLst>
                <a:path h="12700" w="4299026">
                  <a:moveTo>
                    <a:pt x="0" y="0"/>
                  </a:moveTo>
                  <a:lnTo>
                    <a:pt x="4299026" y="0"/>
                  </a:lnTo>
                  <a:lnTo>
                    <a:pt x="42990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9720" y="9082343"/>
            <a:ext cx="7219115" cy="21326"/>
            <a:chOff x="0" y="0"/>
            <a:chExt cx="4299042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9026" cy="12700"/>
            </a:xfrm>
            <a:custGeom>
              <a:avLst/>
              <a:gdLst/>
              <a:ahLst/>
              <a:cxnLst/>
              <a:rect r="r" b="b" t="t" l="l"/>
              <a:pathLst>
                <a:path h="12700" w="4299026">
                  <a:moveTo>
                    <a:pt x="0" y="0"/>
                  </a:moveTo>
                  <a:lnTo>
                    <a:pt x="4299026" y="0"/>
                  </a:lnTo>
                  <a:lnTo>
                    <a:pt x="42990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3875" y="6841871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Column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59277" y="6847752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Missing Count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3875" y="7429688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Name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48380" y="7426045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3875" y="8017484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48380" y="8023366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3875" y="8605302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Marks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48380" y="8601576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875" y="9193098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948380" y="9198919"/>
            <a:ext cx="4195620" cy="3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38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88978" y="1164094"/>
            <a:ext cx="4805040" cy="34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256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Why This Matters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09497" y="1728210"/>
            <a:ext cx="8043884" cy="90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7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This single command tells you </a:t>
            </a:r>
            <a:r>
              <a:rPr lang="en-US" sz="1978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exactly where to focus</a:t>
            </a:r>
            <a:r>
              <a:rPr lang="en-US" sz="1978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your cleaning efforts. Marks has the most missing values (2), so it needs the most attention.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44660" y="4152839"/>
            <a:ext cx="1573406" cy="27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4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72019" y="3305857"/>
            <a:ext cx="1918840" cy="1918840"/>
            <a:chOff x="0" y="0"/>
            <a:chExt cx="2558453" cy="2558453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2558415" cy="2558415"/>
            </a:xfrm>
            <a:custGeom>
              <a:avLst/>
              <a:gdLst/>
              <a:ahLst/>
              <a:cxnLst/>
              <a:rect r="r" b="b" t="t" l="l"/>
              <a:pathLst>
                <a:path h="2558415" w="2558415">
                  <a:moveTo>
                    <a:pt x="0" y="0"/>
                  </a:moveTo>
                  <a:lnTo>
                    <a:pt x="2558415" y="0"/>
                  </a:lnTo>
                  <a:lnTo>
                    <a:pt x="2558415" y="2558415"/>
                  </a:lnTo>
                  <a:lnTo>
                    <a:pt x="0" y="255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333544" y="5312955"/>
            <a:ext cx="7995790" cy="20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44660" y="6532898"/>
            <a:ext cx="1573406" cy="27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4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372019" y="5685916"/>
            <a:ext cx="1918840" cy="1918840"/>
            <a:chOff x="0" y="0"/>
            <a:chExt cx="2558453" cy="2558453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2558415" cy="2558415"/>
            </a:xfrm>
            <a:custGeom>
              <a:avLst/>
              <a:gdLst/>
              <a:ahLst/>
              <a:cxnLst/>
              <a:rect r="r" b="b" t="t" l="l"/>
              <a:pathLst>
                <a:path h="2558415" w="2558415">
                  <a:moveTo>
                    <a:pt x="0" y="0"/>
                  </a:moveTo>
                  <a:lnTo>
                    <a:pt x="2558415" y="0"/>
                  </a:lnTo>
                  <a:lnTo>
                    <a:pt x="2558415" y="2558415"/>
                  </a:lnTo>
                  <a:lnTo>
                    <a:pt x="0" y="255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333544" y="7693015"/>
            <a:ext cx="7995790" cy="20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Marks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44660" y="8912958"/>
            <a:ext cx="1573406" cy="27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4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72019" y="8065976"/>
            <a:ext cx="1918840" cy="1918840"/>
            <a:chOff x="0" y="0"/>
            <a:chExt cx="2558453" cy="2558453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2558415" cy="2558415"/>
            </a:xfrm>
            <a:custGeom>
              <a:avLst/>
              <a:gdLst/>
              <a:ahLst/>
              <a:cxnLst/>
              <a:rect r="r" b="b" t="t" l="l"/>
              <a:pathLst>
                <a:path h="2558415" w="2558415">
                  <a:moveTo>
                    <a:pt x="0" y="0"/>
                  </a:moveTo>
                  <a:lnTo>
                    <a:pt x="2558415" y="0"/>
                  </a:lnTo>
                  <a:lnTo>
                    <a:pt x="2558415" y="2558415"/>
                  </a:lnTo>
                  <a:lnTo>
                    <a:pt x="0" y="255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309497" y="9257262"/>
            <a:ext cx="7995790" cy="20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City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19750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894159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276950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Two Ways to Handle Missing Values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366962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Once you've found missing values, you have two fundamental strategies. Your choice depends on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how much data is missing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how important that row is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your analysis.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645" y="3516068"/>
            <a:ext cx="8206378" cy="4680052"/>
            <a:chOff x="0" y="0"/>
            <a:chExt cx="10941837" cy="62400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1938" cy="6240145"/>
            </a:xfrm>
            <a:custGeom>
              <a:avLst/>
              <a:gdLst/>
              <a:ahLst/>
              <a:cxnLst/>
              <a:rect r="r" b="b" t="t" l="l"/>
              <a:pathLst>
                <a:path h="6240145" w="1094193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92282" y="0"/>
                  </a:lnTo>
                  <a:cubicBezTo>
                    <a:pt x="10919713" y="0"/>
                    <a:pt x="10941938" y="22225"/>
                    <a:pt x="10941938" y="49657"/>
                  </a:cubicBezTo>
                  <a:lnTo>
                    <a:pt x="10941938" y="6190488"/>
                  </a:lnTo>
                  <a:cubicBezTo>
                    <a:pt x="10941938" y="6217920"/>
                    <a:pt x="10919713" y="6240145"/>
                    <a:pt x="10892282" y="6240145"/>
                  </a:cubicBezTo>
                  <a:lnTo>
                    <a:pt x="49657" y="6240145"/>
                  </a:lnTo>
                  <a:cubicBezTo>
                    <a:pt x="22225" y="6240145"/>
                    <a:pt x="0" y="6217920"/>
                    <a:pt x="0" y="6190488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61590" y="3754488"/>
            <a:ext cx="7710488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Option 1: Remove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590" y="4146052"/>
            <a:ext cx="7710488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dropna()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1590" y="5254828"/>
            <a:ext cx="771048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Delete any row that has at least one missing value. Best when you have plenty of data and missing rows are few.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1590" y="6321533"/>
            <a:ext cx="7710488" cy="139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and fast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May lose important data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Use when missing % is small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6096" y="3754488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Option 2: Fill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6096" y="4146052"/>
            <a:ext cx="7849200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fillna()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6096" y="5254828"/>
            <a:ext cx="7849200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Replace missing values with a meaningful substitute — like "Unknown" for text or the column mean for numbers. Best when you want to keep all rows.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6096" y="6718459"/>
            <a:ext cx="7849200" cy="139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Keeps all your data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Requires a good fill strategy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when data is hard to collect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8475164"/>
            <a:ext cx="16303523" cy="991943"/>
            <a:chOff x="0" y="0"/>
            <a:chExt cx="21738031" cy="1322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82" cy="1322705"/>
            </a:xfrm>
            <a:custGeom>
              <a:avLst/>
              <a:gdLst/>
              <a:ahLst/>
              <a:cxnLst/>
              <a:rect r="r" b="b" t="t" l="l"/>
              <a:pathLst>
                <a:path h="1322705" w="2173808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1688425" y="0"/>
                  </a:lnTo>
                  <a:cubicBezTo>
                    <a:pt x="21715857" y="0"/>
                    <a:pt x="21738082" y="22225"/>
                    <a:pt x="21738082" y="49657"/>
                  </a:cubicBezTo>
                  <a:lnTo>
                    <a:pt x="21738082" y="1273048"/>
                  </a:lnTo>
                  <a:cubicBezTo>
                    <a:pt x="21738082" y="1300480"/>
                    <a:pt x="21715857" y="1322705"/>
                    <a:pt x="21688425" y="1322705"/>
                  </a:cubicBezTo>
                  <a:lnTo>
                    <a:pt x="49657" y="1322705"/>
                  </a:lnTo>
                  <a:cubicBezTo>
                    <a:pt x="22225" y="1322705"/>
                    <a:pt x="0" y="1300480"/>
                    <a:pt x="0" y="1273048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0184" y="8834733"/>
            <a:ext cx="310010" cy="247945"/>
            <a:chOff x="0" y="0"/>
            <a:chExt cx="413347" cy="33059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48" r="9" b="-115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98139" y="8708822"/>
            <a:ext cx="1616407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Rule of thumb: If less than 5% of data is missing, dropping is fine. Otherwise, prefer filling.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81945"/>
            <a:ext cx="2909888" cy="329803"/>
            <a:chOff x="0" y="0"/>
            <a:chExt cx="3879850" cy="4397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9977" cy="439801"/>
            </a:xfrm>
            <a:custGeom>
              <a:avLst/>
              <a:gdLst/>
              <a:ahLst/>
              <a:cxnLst/>
              <a:rect r="r" b="b" t="t" l="l"/>
              <a:pathLst>
                <a:path h="439801" w="3879977">
                  <a:moveTo>
                    <a:pt x="0" y="34798"/>
                  </a:moveTo>
                  <a:cubicBezTo>
                    <a:pt x="0" y="15494"/>
                    <a:pt x="15494" y="0"/>
                    <a:pt x="34798" y="0"/>
                  </a:cubicBezTo>
                  <a:lnTo>
                    <a:pt x="3845179" y="0"/>
                  </a:lnTo>
                  <a:cubicBezTo>
                    <a:pt x="3864356" y="0"/>
                    <a:pt x="3879977" y="15494"/>
                    <a:pt x="3879977" y="34798"/>
                  </a:cubicBezTo>
                  <a:lnTo>
                    <a:pt x="3879977" y="405003"/>
                  </a:lnTo>
                  <a:cubicBezTo>
                    <a:pt x="3879977" y="424180"/>
                    <a:pt x="3864483" y="439801"/>
                    <a:pt x="3845179" y="439801"/>
                  </a:cubicBezTo>
                  <a:lnTo>
                    <a:pt x="34798" y="439801"/>
                  </a:lnTo>
                  <a:cubicBezTo>
                    <a:pt x="15494" y="439801"/>
                    <a:pt x="0" y="424180"/>
                    <a:pt x="0" y="405003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2464" y="856507"/>
            <a:ext cx="3563836" cy="19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68594"/>
            <a:ext cx="16303523" cy="74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Removing Missing Rows: </a:t>
            </a:r>
            <a:r>
              <a:rPr lang="en-US" sz="42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dropna()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150869"/>
            <a:ext cx="17217923" cy="39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dropna()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removes every row where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any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column has a missing value. It's the quickest fix — but use it carefully, because you permanently lose those rows.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927594"/>
            <a:ext cx="78869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499247"/>
            <a:ext cx="7886995" cy="1128712"/>
            <a:chOff x="0" y="0"/>
            <a:chExt cx="10515994" cy="1504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5981" cy="1504950"/>
            </a:xfrm>
            <a:custGeom>
              <a:avLst/>
              <a:gdLst/>
              <a:ahLst/>
              <a:cxnLst/>
              <a:rect r="r" b="b" t="t" l="l"/>
              <a:pathLst>
                <a:path h="1504950" w="10515981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472547" y="0"/>
                  </a:lnTo>
                  <a:cubicBezTo>
                    <a:pt x="10496550" y="0"/>
                    <a:pt x="10515981" y="19431"/>
                    <a:pt x="10515981" y="43434"/>
                  </a:cubicBezTo>
                  <a:lnTo>
                    <a:pt x="10515981" y="1461516"/>
                  </a:lnTo>
                  <a:cubicBezTo>
                    <a:pt x="10515981" y="1485519"/>
                    <a:pt x="10496550" y="1504950"/>
                    <a:pt x="10472547" y="1504950"/>
                  </a:cubicBezTo>
                  <a:lnTo>
                    <a:pt x="43434" y="1504950"/>
                  </a:lnTo>
                  <a:cubicBezTo>
                    <a:pt x="19431" y="1504950"/>
                    <a:pt x="0" y="1485519"/>
                    <a:pt x="0" y="14615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2690" y="3611461"/>
            <a:ext cx="7366102" cy="79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df_clean = df.dropna()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print(df_clean)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4822479"/>
            <a:ext cx="78869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Result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76" y="5389359"/>
            <a:ext cx="7896520" cy="1745752"/>
            <a:chOff x="0" y="0"/>
            <a:chExt cx="10528694" cy="23276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28681" cy="2327656"/>
            </a:xfrm>
            <a:custGeom>
              <a:avLst/>
              <a:gdLst/>
              <a:ahLst/>
              <a:cxnLst/>
              <a:rect r="r" b="b" t="t" l="l"/>
              <a:pathLst>
                <a:path h="2327656" w="10528681">
                  <a:moveTo>
                    <a:pt x="0" y="43688"/>
                  </a:moveTo>
                  <a:cubicBezTo>
                    <a:pt x="0" y="19558"/>
                    <a:pt x="19558" y="0"/>
                    <a:pt x="43688" y="0"/>
                  </a:cubicBezTo>
                  <a:lnTo>
                    <a:pt x="10484993" y="0"/>
                  </a:lnTo>
                  <a:cubicBezTo>
                    <a:pt x="10509124" y="0"/>
                    <a:pt x="10528681" y="19558"/>
                    <a:pt x="10528681" y="43688"/>
                  </a:cubicBezTo>
                  <a:lnTo>
                    <a:pt x="10528681" y="2283968"/>
                  </a:lnTo>
                  <a:cubicBezTo>
                    <a:pt x="10528681" y="2308098"/>
                    <a:pt x="10509124" y="2327656"/>
                    <a:pt x="10484993" y="2327656"/>
                  </a:cubicBezTo>
                  <a:lnTo>
                    <a:pt x="43688" y="2327656"/>
                  </a:lnTo>
                  <a:cubicBezTo>
                    <a:pt x="19558" y="2327656"/>
                    <a:pt x="0" y="2308098"/>
                    <a:pt x="0" y="22839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36" r="0" b="-38137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1763" y="5403656"/>
            <a:ext cx="7867945" cy="572395"/>
            <a:chOff x="0" y="0"/>
            <a:chExt cx="10490594" cy="7631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90581" cy="763143"/>
            </a:xfrm>
            <a:custGeom>
              <a:avLst/>
              <a:gdLst/>
              <a:ahLst/>
              <a:cxnLst/>
              <a:rect r="r" b="b" t="t" l="l"/>
              <a:pathLst>
                <a:path h="763143" w="10490581">
                  <a:moveTo>
                    <a:pt x="0" y="0"/>
                  </a:moveTo>
                  <a:lnTo>
                    <a:pt x="10490581" y="0"/>
                  </a:lnTo>
                  <a:lnTo>
                    <a:pt x="10490581" y="763143"/>
                  </a:lnTo>
                  <a:lnTo>
                    <a:pt x="0" y="7631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19048" y="5479409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90723" y="5479409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7635" y="5479409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24548" y="5479409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City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1763" y="5976042"/>
            <a:ext cx="7867945" cy="572395"/>
            <a:chOff x="0" y="0"/>
            <a:chExt cx="10490594" cy="7631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90581" cy="763143"/>
            </a:xfrm>
            <a:custGeom>
              <a:avLst/>
              <a:gdLst/>
              <a:ahLst/>
              <a:cxnLst/>
              <a:rect r="r" b="b" t="t" l="l"/>
              <a:pathLst>
                <a:path h="763143" w="10490581">
                  <a:moveTo>
                    <a:pt x="0" y="0"/>
                  </a:moveTo>
                  <a:lnTo>
                    <a:pt x="10490581" y="0"/>
                  </a:lnTo>
                  <a:lnTo>
                    <a:pt x="10490581" y="763143"/>
                  </a:lnTo>
                  <a:lnTo>
                    <a:pt x="0" y="7631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19048" y="6051794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90723" y="6051794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7635" y="6051794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24548" y="6051794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763" y="6548438"/>
            <a:ext cx="7867945" cy="572395"/>
            <a:chOff x="0" y="0"/>
            <a:chExt cx="10490594" cy="7631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90581" cy="763143"/>
            </a:xfrm>
            <a:custGeom>
              <a:avLst/>
              <a:gdLst/>
              <a:ahLst/>
              <a:cxnLst/>
              <a:rect r="r" b="b" t="t" l="l"/>
              <a:pathLst>
                <a:path h="763143" w="10490581">
                  <a:moveTo>
                    <a:pt x="0" y="0"/>
                  </a:moveTo>
                  <a:lnTo>
                    <a:pt x="10490581" y="0"/>
                  </a:lnTo>
                  <a:lnTo>
                    <a:pt x="10490581" y="763143"/>
                  </a:lnTo>
                  <a:lnTo>
                    <a:pt x="0" y="7631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19048" y="6624190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90723" y="6624190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7635" y="6624190"/>
            <a:ext cx="2437800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24548" y="6624190"/>
            <a:ext cx="2442572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18291" y="2927594"/>
            <a:ext cx="78869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 Happened?</a:t>
            </a:r>
          </a:p>
        </p:txBody>
      </p:sp>
      <p:sp>
        <p:nvSpPr>
          <p:cNvPr name="Freeform 37" id="37" descr="preencoded.png"/>
          <p:cNvSpPr/>
          <p:nvPr/>
        </p:nvSpPr>
        <p:spPr>
          <a:xfrm flipH="false" flipV="false" rot="0">
            <a:off x="9499702" y="3505867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8" y="0"/>
                </a:lnTo>
                <a:lnTo>
                  <a:pt x="325488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123589" y="3480197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Arun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Kept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23589" y="3980555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All values are complete.</a:t>
            </a:r>
          </a:p>
        </p:txBody>
      </p:sp>
      <p:sp>
        <p:nvSpPr>
          <p:cNvPr name="Freeform 40" id="40" descr="preencoded.png"/>
          <p:cNvSpPr/>
          <p:nvPr/>
        </p:nvSpPr>
        <p:spPr>
          <a:xfrm flipH="false" flipV="false" rot="0">
            <a:off x="9499702" y="4740250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8" y="0"/>
                </a:lnTo>
                <a:lnTo>
                  <a:pt x="325488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123589" y="4714580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Ravi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❌</a:t>
            </a: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Removed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23589" y="5214937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Marks.</a:t>
            </a:r>
          </a:p>
        </p:txBody>
      </p:sp>
      <p:sp>
        <p:nvSpPr>
          <p:cNvPr name="Freeform 43" id="43" descr="preencoded.png"/>
          <p:cNvSpPr/>
          <p:nvPr/>
        </p:nvSpPr>
        <p:spPr>
          <a:xfrm flipH="false" flipV="false" rot="0">
            <a:off x="9499702" y="5974632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8" y="0"/>
                </a:lnTo>
                <a:lnTo>
                  <a:pt x="325488" y="325489"/>
                </a:lnTo>
                <a:lnTo>
                  <a:pt x="0" y="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123589" y="5948963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Kumar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❌</a:t>
            </a: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Removed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23589" y="6449320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Age.</a:t>
            </a:r>
          </a:p>
        </p:txBody>
      </p:sp>
      <p:sp>
        <p:nvSpPr>
          <p:cNvPr name="Freeform 46" id="46" descr="preencoded.png"/>
          <p:cNvSpPr/>
          <p:nvPr/>
        </p:nvSpPr>
        <p:spPr>
          <a:xfrm flipH="false" flipV="false" rot="0">
            <a:off x="9499702" y="7209015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8" y="0"/>
                </a:lnTo>
                <a:lnTo>
                  <a:pt x="325488" y="325489"/>
                </a:lnTo>
                <a:lnTo>
                  <a:pt x="0" y="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123589" y="7183336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Priya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Kept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23589" y="7683703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All values are complete.</a:t>
            </a:r>
          </a:p>
        </p:txBody>
      </p:sp>
      <p:sp>
        <p:nvSpPr>
          <p:cNvPr name="Freeform 49" id="49" descr="preencoded.png"/>
          <p:cNvSpPr/>
          <p:nvPr/>
        </p:nvSpPr>
        <p:spPr>
          <a:xfrm flipH="false" flipV="false" rot="0">
            <a:off x="9499702" y="8443389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8" y="0"/>
                </a:lnTo>
                <a:lnTo>
                  <a:pt x="325488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0123589" y="8417719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Anu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❌</a:t>
            </a:r>
            <a:r>
              <a:rPr lang="en-US" sz="21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Removed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23589" y="8918077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Marks and City.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934050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008459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91250"/>
            <a:ext cx="16303523" cy="85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Filling Missing Text: </a:t>
            </a:r>
            <a:r>
              <a:rPr lang="en-US" sz="48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fillna()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538412"/>
            <a:ext cx="16303523" cy="9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Instead of deleting rows, we can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fill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missing values with a sensible default. For text columns like City, we replace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with a placeholder like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"Unknown"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983088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659363"/>
            <a:ext cx="7849200" cy="1289742"/>
            <a:chOff x="0" y="0"/>
            <a:chExt cx="10465600" cy="17196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5688" cy="1719707"/>
            </a:xfrm>
            <a:custGeom>
              <a:avLst/>
              <a:gdLst/>
              <a:ahLst/>
              <a:cxnLst/>
              <a:rect r="r" b="b" t="t" l="l"/>
              <a:pathLst>
                <a:path h="1719707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670050"/>
                  </a:lnTo>
                  <a:cubicBezTo>
                    <a:pt x="10465688" y="1697482"/>
                    <a:pt x="10443463" y="1719707"/>
                    <a:pt x="10416032" y="1719707"/>
                  </a:cubicBezTo>
                  <a:lnTo>
                    <a:pt x="49657" y="1719707"/>
                  </a:lnTo>
                  <a:cubicBezTo>
                    <a:pt x="22225" y="1719707"/>
                    <a:pt x="0" y="1697482"/>
                    <a:pt x="0" y="16700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9895" y="4793009"/>
            <a:ext cx="7253878" cy="90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df["City"] = df["City"].fillna("Unknown")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print(df[["Name", "City"]])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218634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Before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76" y="6890147"/>
            <a:ext cx="7858725" cy="2188521"/>
            <a:chOff x="0" y="0"/>
            <a:chExt cx="10478300" cy="29180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78262" cy="2917952"/>
            </a:xfrm>
            <a:custGeom>
              <a:avLst/>
              <a:gdLst/>
              <a:ahLst/>
              <a:cxnLst/>
              <a:rect r="r" b="b" t="t" l="l"/>
              <a:pathLst>
                <a:path h="29179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68168"/>
                  </a:lnTo>
                  <a:cubicBezTo>
                    <a:pt x="10478262" y="2895727"/>
                    <a:pt x="10455910" y="2917952"/>
                    <a:pt x="10428478" y="2917952"/>
                  </a:cubicBezTo>
                  <a:lnTo>
                    <a:pt x="49784" y="2917952"/>
                  </a:lnTo>
                  <a:cubicBezTo>
                    <a:pt x="22225" y="2917952"/>
                    <a:pt x="0" y="2895600"/>
                    <a:pt x="0" y="28681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9" r="0" b="-1997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7622829"/>
            <a:ext cx="7849200" cy="15507"/>
            <a:chOff x="0" y="0"/>
            <a:chExt cx="10465600" cy="206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238" y="8345986"/>
            <a:ext cx="7849200" cy="15507"/>
            <a:chOff x="0" y="0"/>
            <a:chExt cx="10465600" cy="20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9709" y="69865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64779" y="69865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9709" y="77097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64779" y="77097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9709" y="84329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64779" y="84329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NaN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6096" y="3983088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After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51334" y="4654601"/>
            <a:ext cx="7858725" cy="2188521"/>
            <a:chOff x="0" y="0"/>
            <a:chExt cx="10478300" cy="29180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78262" cy="2917952"/>
            </a:xfrm>
            <a:custGeom>
              <a:avLst/>
              <a:gdLst/>
              <a:ahLst/>
              <a:cxnLst/>
              <a:rect r="r" b="b" t="t" l="l"/>
              <a:pathLst>
                <a:path h="29179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68168"/>
                  </a:lnTo>
                  <a:cubicBezTo>
                    <a:pt x="10478262" y="2895727"/>
                    <a:pt x="10455910" y="2917952"/>
                    <a:pt x="10428478" y="2917952"/>
                  </a:cubicBezTo>
                  <a:lnTo>
                    <a:pt x="49784" y="2917952"/>
                  </a:lnTo>
                  <a:cubicBezTo>
                    <a:pt x="22225" y="2917952"/>
                    <a:pt x="0" y="2895600"/>
                    <a:pt x="0" y="28681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9" r="0" b="-1997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56096" y="5387283"/>
            <a:ext cx="7849200" cy="15507"/>
            <a:chOff x="0" y="0"/>
            <a:chExt cx="10465600" cy="206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56096" y="6110440"/>
            <a:ext cx="7849200" cy="15507"/>
            <a:chOff x="0" y="0"/>
            <a:chExt cx="10465600" cy="206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713566" y="4751041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28637" y="4751041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13566" y="547419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28637" y="547419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13566" y="6197356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28637" y="6197356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C9907C"/>
                </a:solidFill>
                <a:latin typeface="Inter Bold"/>
                <a:ea typeface="Inter Bold"/>
                <a:cs typeface="Inter Bold"/>
                <a:sym typeface="Inter Bold"/>
              </a:rPr>
              <a:t>Unknown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56096" y="7107879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How It Works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56096" y="7676855"/>
            <a:ext cx="7849200" cy="132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fillna("Unknown")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function scans the City column and replaces every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it finds with the text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"Unknown"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. The original rows are preserved — nothing is deleted.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27227"/>
            <a:ext cx="3326606" cy="377133"/>
            <a:chOff x="0" y="0"/>
            <a:chExt cx="4435475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502920"/>
            </a:xfrm>
            <a:custGeom>
              <a:avLst/>
              <a:gdLst/>
              <a:ahLst/>
              <a:cxnLst/>
              <a:rect r="r" b="b" t="t" l="l"/>
              <a:pathLst>
                <a:path h="502920" w="443560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4395851" y="0"/>
                  </a:lnTo>
                  <a:cubicBezTo>
                    <a:pt x="4417822" y="0"/>
                    <a:pt x="4435602" y="17780"/>
                    <a:pt x="4435602" y="39751"/>
                  </a:cubicBezTo>
                  <a:lnTo>
                    <a:pt x="4435602" y="463169"/>
                  </a:lnTo>
                  <a:cubicBezTo>
                    <a:pt x="4435602" y="485140"/>
                    <a:pt x="4417822" y="502920"/>
                    <a:pt x="4395851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201636"/>
            <a:ext cx="3943350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584427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Filling Missing Numbers with the Mean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674439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For numeric columns like Marks, filling with the column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mean (average)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is a smart strategy — it replaces missing data with the most representative value from the rest of the column.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61965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How the Mean Is Calculated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4733477"/>
            <a:ext cx="7858725" cy="2883103"/>
            <a:chOff x="0" y="0"/>
            <a:chExt cx="10478300" cy="3844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8262" cy="3844163"/>
            </a:xfrm>
            <a:custGeom>
              <a:avLst/>
              <a:gdLst/>
              <a:ahLst/>
              <a:cxnLst/>
              <a:rect r="r" b="b" t="t" l="l"/>
              <a:pathLst>
                <a:path h="3844163" w="10478262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10428478" y="0"/>
                  </a:lnTo>
                  <a:cubicBezTo>
                    <a:pt x="10455910" y="0"/>
                    <a:pt x="10478262" y="22225"/>
                    <a:pt x="10478262" y="49784"/>
                  </a:cubicBezTo>
                  <a:lnTo>
                    <a:pt x="10478262" y="3794379"/>
                  </a:lnTo>
                  <a:cubicBezTo>
                    <a:pt x="10478262" y="3821811"/>
                    <a:pt x="10456037" y="3844163"/>
                    <a:pt x="10428478" y="3844163"/>
                  </a:cubicBezTo>
                  <a:lnTo>
                    <a:pt x="49784" y="3844163"/>
                  </a:lnTo>
                  <a:cubicBezTo>
                    <a:pt x="22352" y="3844163"/>
                    <a:pt x="0" y="3821938"/>
                    <a:pt x="0" y="379437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" r="0" b="-311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1763" y="4747765"/>
            <a:ext cx="7830150" cy="713632"/>
            <a:chOff x="0" y="0"/>
            <a:chExt cx="10440200" cy="9515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9709" y="4829918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Student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69541" y="4829918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763" y="5461397"/>
            <a:ext cx="7830150" cy="713632"/>
            <a:chOff x="0" y="0"/>
            <a:chExt cx="10440200" cy="9515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9709" y="5543550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69541" y="5543550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763" y="6175029"/>
            <a:ext cx="7830150" cy="713632"/>
            <a:chOff x="0" y="0"/>
            <a:chExt cx="10440200" cy="9515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9709" y="6257182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Kumar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69541" y="6257182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6888661"/>
            <a:ext cx="7830150" cy="713632"/>
            <a:chOff x="0" y="0"/>
            <a:chExt cx="10440200" cy="9515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9709" y="6970814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69541" y="6970814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238" y="7814672"/>
            <a:ext cx="7849200" cy="112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Mean = (85 + 72 + 90) / 3 = 82.33</a:t>
            </a:r>
          </a:p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 and Anu (missing marks) will be filled with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82.33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56096" y="4061965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56096" y="4738240"/>
            <a:ext cx="7849200" cy="2083594"/>
            <a:chOff x="0" y="0"/>
            <a:chExt cx="10465600" cy="2778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65688" cy="2778125"/>
            </a:xfrm>
            <a:custGeom>
              <a:avLst/>
              <a:gdLst/>
              <a:ahLst/>
              <a:cxnLst/>
              <a:rect r="r" b="b" t="t" l="l"/>
              <a:pathLst>
                <a:path h="2778125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2728468"/>
                  </a:lnTo>
                  <a:cubicBezTo>
                    <a:pt x="10465688" y="2755900"/>
                    <a:pt x="10443463" y="2778125"/>
                    <a:pt x="10416032" y="2778125"/>
                  </a:cubicBezTo>
                  <a:lnTo>
                    <a:pt x="49657" y="2778125"/>
                  </a:lnTo>
                  <a:cubicBezTo>
                    <a:pt x="22225" y="2778125"/>
                    <a:pt x="0" y="2755900"/>
                    <a:pt x="0" y="272846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53752" y="4871885"/>
            <a:ext cx="7253878" cy="170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df["Marks"] = df["Marks"].fillna(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    df["Marks"].mean()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print(df[["Name", "Marks"]])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456096" y="7100888"/>
            <a:ext cx="7849200" cy="1364161"/>
            <a:chOff x="0" y="0"/>
            <a:chExt cx="10465600" cy="18188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65688" cy="1818894"/>
            </a:xfrm>
            <a:custGeom>
              <a:avLst/>
              <a:gdLst/>
              <a:ahLst/>
              <a:cxnLst/>
              <a:rect r="r" b="b" t="t" l="l"/>
              <a:pathLst>
                <a:path h="1818894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769237"/>
                  </a:lnTo>
                  <a:cubicBezTo>
                    <a:pt x="10465688" y="1796669"/>
                    <a:pt x="10443463" y="1818894"/>
                    <a:pt x="10416032" y="1818894"/>
                  </a:cubicBezTo>
                  <a:lnTo>
                    <a:pt x="49657" y="1818894"/>
                  </a:lnTo>
                  <a:cubicBezTo>
                    <a:pt x="22225" y="1818894"/>
                    <a:pt x="0" y="1796669"/>
                    <a:pt x="0" y="1769237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04041" y="7479506"/>
            <a:ext cx="310010" cy="247945"/>
            <a:chOff x="0" y="0"/>
            <a:chExt cx="413347" cy="330594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8" r="9" b="-1152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261997" y="7309837"/>
            <a:ext cx="679534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mean?</a:t>
            </a:r>
            <a:r>
              <a:rPr lang="en-US" sz="18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It's the least disruptive fill — it doesn't skew the overall column average up or down.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43102"/>
            <a:ext cx="2807341" cy="317744"/>
            <a:chOff x="0" y="0"/>
            <a:chExt cx="3743122" cy="423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43198" cy="423672"/>
            </a:xfrm>
            <a:custGeom>
              <a:avLst/>
              <a:gdLst/>
              <a:ahLst/>
              <a:cxnLst/>
              <a:rect r="r" b="b" t="t" l="l"/>
              <a:pathLst>
                <a:path h="423672" w="3743198">
                  <a:moveTo>
                    <a:pt x="0" y="33528"/>
                  </a:moveTo>
                  <a:cubicBezTo>
                    <a:pt x="0" y="14986"/>
                    <a:pt x="14986" y="0"/>
                    <a:pt x="33528" y="0"/>
                  </a:cubicBezTo>
                  <a:lnTo>
                    <a:pt x="3709670" y="0"/>
                  </a:lnTo>
                  <a:cubicBezTo>
                    <a:pt x="3728212" y="0"/>
                    <a:pt x="3743198" y="14986"/>
                    <a:pt x="3743198" y="33528"/>
                  </a:cubicBezTo>
                  <a:lnTo>
                    <a:pt x="3743198" y="390144"/>
                  </a:lnTo>
                  <a:cubicBezTo>
                    <a:pt x="3743198" y="408686"/>
                    <a:pt x="3728212" y="423672"/>
                    <a:pt x="3709670" y="423672"/>
                  </a:cubicBezTo>
                  <a:lnTo>
                    <a:pt x="33528" y="423672"/>
                  </a:lnTo>
                  <a:cubicBezTo>
                    <a:pt x="14986" y="423672"/>
                    <a:pt x="0" y="408686"/>
                    <a:pt x="0" y="390144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7702" y="815283"/>
            <a:ext cx="3470824" cy="18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2 —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02814"/>
            <a:ext cx="16303523" cy="68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Missing Values: 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002784"/>
            <a:ext cx="17217923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Here's a quick reference card for all five essential missing-value functions. Bookmark this — you'll use these commands in almost every real-world project.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2557910"/>
            <a:ext cx="16303523" cy="1255957"/>
          </a:xfrm>
          <a:custGeom>
            <a:avLst/>
            <a:gdLst/>
            <a:ahLst/>
            <a:cxnLst/>
            <a:rect r="r" b="b" t="t" l="l"/>
            <a:pathLst>
              <a:path h="1255957" w="16303523">
                <a:moveTo>
                  <a:pt x="0" y="0"/>
                </a:moveTo>
                <a:lnTo>
                  <a:pt x="16303524" y="0"/>
                </a:lnTo>
                <a:lnTo>
                  <a:pt x="16303524" y="1255957"/>
                </a:lnTo>
                <a:lnTo>
                  <a:pt x="0" y="125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" r="0" b="-43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82456" y="2989659"/>
            <a:ext cx="313877" cy="392459"/>
            <a:chOff x="0" y="0"/>
            <a:chExt cx="418503" cy="5232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18503" cy="523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34626" y="2748115"/>
            <a:ext cx="15023306" cy="3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isnull()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4626" y="3200105"/>
            <a:ext cx="15023306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Returns True/False for every cell — shows </a:t>
            </a:r>
            <a:r>
              <a:rPr lang="en-US" sz="1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where</a:t>
            </a: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values are missing.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3990384"/>
            <a:ext cx="16303523" cy="1255957"/>
          </a:xfrm>
          <a:custGeom>
            <a:avLst/>
            <a:gdLst/>
            <a:ahLst/>
            <a:cxnLst/>
            <a:rect r="r" b="b" t="t" l="l"/>
            <a:pathLst>
              <a:path h="1255957" w="16303523">
                <a:moveTo>
                  <a:pt x="0" y="0"/>
                </a:moveTo>
                <a:lnTo>
                  <a:pt x="16303524" y="0"/>
                </a:lnTo>
                <a:lnTo>
                  <a:pt x="16303524" y="1255957"/>
                </a:lnTo>
                <a:lnTo>
                  <a:pt x="0" y="125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" r="0" b="-43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2456" y="4422134"/>
            <a:ext cx="313877" cy="392459"/>
            <a:chOff x="0" y="0"/>
            <a:chExt cx="418503" cy="5232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18503" cy="523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034626" y="4180580"/>
            <a:ext cx="15023306" cy="3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isnull().sum()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34626" y="4632569"/>
            <a:ext cx="15023306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Counts missing values per column — shows </a:t>
            </a:r>
            <a:r>
              <a:rPr lang="en-US" sz="1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how many</a:t>
            </a: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are missing.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92238" y="5422849"/>
            <a:ext cx="16303523" cy="1255957"/>
          </a:xfrm>
          <a:custGeom>
            <a:avLst/>
            <a:gdLst/>
            <a:ahLst/>
            <a:cxnLst/>
            <a:rect r="r" b="b" t="t" l="l"/>
            <a:pathLst>
              <a:path h="1255957" w="16303523">
                <a:moveTo>
                  <a:pt x="0" y="0"/>
                </a:moveTo>
                <a:lnTo>
                  <a:pt x="16303524" y="0"/>
                </a:lnTo>
                <a:lnTo>
                  <a:pt x="16303524" y="1255957"/>
                </a:lnTo>
                <a:lnTo>
                  <a:pt x="0" y="125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" r="0" b="-43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82456" y="5854598"/>
            <a:ext cx="313877" cy="392459"/>
            <a:chOff x="0" y="0"/>
            <a:chExt cx="418503" cy="5232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18503" cy="523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034626" y="5613054"/>
            <a:ext cx="15023306" cy="3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dropna()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34626" y="6065044"/>
            <a:ext cx="15023306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Removes rows with any missing value — </a:t>
            </a:r>
            <a:r>
              <a:rPr lang="en-US" sz="1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delete</a:t>
            </a: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the problem rows.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92238" y="6855323"/>
            <a:ext cx="16303523" cy="1255957"/>
          </a:xfrm>
          <a:custGeom>
            <a:avLst/>
            <a:gdLst/>
            <a:ahLst/>
            <a:cxnLst/>
            <a:rect r="r" b="b" t="t" l="l"/>
            <a:pathLst>
              <a:path h="1255957" w="16303523">
                <a:moveTo>
                  <a:pt x="0" y="0"/>
                </a:moveTo>
                <a:lnTo>
                  <a:pt x="16303524" y="0"/>
                </a:lnTo>
                <a:lnTo>
                  <a:pt x="16303524" y="1255957"/>
                </a:lnTo>
                <a:lnTo>
                  <a:pt x="0" y="125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" r="0" b="-43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82456" y="7287073"/>
            <a:ext cx="313877" cy="392459"/>
            <a:chOff x="0" y="0"/>
            <a:chExt cx="418503" cy="5232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18503" cy="523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034626" y="7045519"/>
            <a:ext cx="15023306" cy="3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fillna()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34626" y="7497518"/>
            <a:ext cx="15023306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Fills missing values with a specified value — </a:t>
            </a:r>
            <a:r>
              <a:rPr lang="en-US" sz="1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replace</a:t>
            </a: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NaN intelligently.</a:t>
            </a:r>
          </a:p>
        </p:txBody>
      </p:sp>
      <p:sp>
        <p:nvSpPr>
          <p:cNvPr name="Freeform 35" id="35" descr="preencoded.png"/>
          <p:cNvSpPr/>
          <p:nvPr/>
        </p:nvSpPr>
        <p:spPr>
          <a:xfrm flipH="false" flipV="false" rot="0">
            <a:off x="992238" y="8287788"/>
            <a:ext cx="16303523" cy="1255957"/>
          </a:xfrm>
          <a:custGeom>
            <a:avLst/>
            <a:gdLst/>
            <a:ahLst/>
            <a:cxnLst/>
            <a:rect r="r" b="b" t="t" l="l"/>
            <a:pathLst>
              <a:path h="1255957" w="16303523">
                <a:moveTo>
                  <a:pt x="0" y="0"/>
                </a:moveTo>
                <a:lnTo>
                  <a:pt x="16303524" y="0"/>
                </a:lnTo>
                <a:lnTo>
                  <a:pt x="16303524" y="1255957"/>
                </a:lnTo>
                <a:lnTo>
                  <a:pt x="0" y="125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" r="0" b="-43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282456" y="8719537"/>
            <a:ext cx="313877" cy="392459"/>
            <a:chOff x="0" y="0"/>
            <a:chExt cx="418503" cy="5232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8503" cy="523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034626" y="8477993"/>
            <a:ext cx="15023306" cy="3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.mean()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34626" y="8929983"/>
            <a:ext cx="15023306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5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Calculates the column average — use as fill value for numeric columns.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738483"/>
            <a:ext cx="3830536" cy="353168"/>
            <a:chOff x="0" y="0"/>
            <a:chExt cx="5107381" cy="470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7432" cy="470916"/>
            </a:xfrm>
            <a:custGeom>
              <a:avLst/>
              <a:gdLst/>
              <a:ahLst/>
              <a:cxnLst/>
              <a:rect r="r" b="b" t="t" l="l"/>
              <a:pathLst>
                <a:path h="470916" w="5107432">
                  <a:moveTo>
                    <a:pt x="0" y="37211"/>
                  </a:moveTo>
                  <a:cubicBezTo>
                    <a:pt x="0" y="16637"/>
                    <a:pt x="16637" y="0"/>
                    <a:pt x="37211" y="0"/>
                  </a:cubicBezTo>
                  <a:lnTo>
                    <a:pt x="5070221" y="0"/>
                  </a:lnTo>
                  <a:cubicBezTo>
                    <a:pt x="5090795" y="0"/>
                    <a:pt x="5107432" y="16637"/>
                    <a:pt x="5107432" y="37211"/>
                  </a:cubicBezTo>
                  <a:lnTo>
                    <a:pt x="5107432" y="433705"/>
                  </a:lnTo>
                  <a:cubicBezTo>
                    <a:pt x="5107432" y="454279"/>
                    <a:pt x="5090795" y="470916"/>
                    <a:pt x="5070221" y="470916"/>
                  </a:cubicBezTo>
                  <a:lnTo>
                    <a:pt x="37211" y="470916"/>
                  </a:lnTo>
                  <a:cubicBezTo>
                    <a:pt x="16637" y="470916"/>
                    <a:pt x="0" y="454279"/>
                    <a:pt x="0" y="433705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89694" y="808139"/>
            <a:ext cx="4466034" cy="21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4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1150296"/>
            <a:ext cx="9445523" cy="75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 Is Data Transformation?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2175424"/>
            <a:ext cx="9445523" cy="113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Data Transformation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means changing the format, structure, or values of your data to make it more useful for analysis or machine learning. You keep the same data — you just make it better.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50238" y="3559226"/>
            <a:ext cx="9445523" cy="1338558"/>
            <a:chOff x="0" y="0"/>
            <a:chExt cx="12594031" cy="17847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55" cy="1784731"/>
            </a:xfrm>
            <a:custGeom>
              <a:avLst/>
              <a:gdLst/>
              <a:ahLst/>
              <a:cxnLst/>
              <a:rect r="r" b="b" t="t" l="l"/>
              <a:pathLst>
                <a:path h="1784731" w="1259395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2547473" y="0"/>
                  </a:lnTo>
                  <a:cubicBezTo>
                    <a:pt x="12573127" y="0"/>
                    <a:pt x="12593955" y="20828"/>
                    <a:pt x="12593955" y="46482"/>
                  </a:cubicBezTo>
                  <a:lnTo>
                    <a:pt x="12593955" y="1738249"/>
                  </a:lnTo>
                  <a:cubicBezTo>
                    <a:pt x="12593955" y="1763903"/>
                    <a:pt x="12573127" y="1784731"/>
                    <a:pt x="12547473" y="1784731"/>
                  </a:cubicBezTo>
                  <a:lnTo>
                    <a:pt x="46482" y="1784731"/>
                  </a:lnTo>
                  <a:cubicBezTo>
                    <a:pt x="20828" y="1784731"/>
                    <a:pt x="0" y="1763903"/>
                    <a:pt x="0" y="173824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82705" y="3772643"/>
            <a:ext cx="8980589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Add New Columns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82705" y="4228652"/>
            <a:ext cx="8980589" cy="43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Create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Bonus_Marks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by adding 5 to existing Marks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0238" y="5115820"/>
            <a:ext cx="9445523" cy="1338558"/>
            <a:chOff x="0" y="0"/>
            <a:chExt cx="12594031" cy="17847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93955" cy="1784731"/>
            </a:xfrm>
            <a:custGeom>
              <a:avLst/>
              <a:gdLst/>
              <a:ahLst/>
              <a:cxnLst/>
              <a:rect r="r" b="b" t="t" l="l"/>
              <a:pathLst>
                <a:path h="1784731" w="1259395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2547473" y="0"/>
                  </a:lnTo>
                  <a:cubicBezTo>
                    <a:pt x="12573127" y="0"/>
                    <a:pt x="12593955" y="20828"/>
                    <a:pt x="12593955" y="46482"/>
                  </a:cubicBezTo>
                  <a:lnTo>
                    <a:pt x="12593955" y="1738249"/>
                  </a:lnTo>
                  <a:cubicBezTo>
                    <a:pt x="12593955" y="1763903"/>
                    <a:pt x="12573127" y="1784731"/>
                    <a:pt x="12547473" y="1784731"/>
                  </a:cubicBezTo>
                  <a:lnTo>
                    <a:pt x="46482" y="1784731"/>
                  </a:lnTo>
                  <a:cubicBezTo>
                    <a:pt x="20828" y="1784731"/>
                    <a:pt x="0" y="1763903"/>
                    <a:pt x="0" y="173824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082705" y="5329238"/>
            <a:ext cx="8980589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Standardize Text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2705" y="5785247"/>
            <a:ext cx="8980589" cy="43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→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for consistency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0238" y="6672415"/>
            <a:ext cx="9445523" cy="1338558"/>
            <a:chOff x="0" y="0"/>
            <a:chExt cx="12594031" cy="17847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93955" cy="1784731"/>
            </a:xfrm>
            <a:custGeom>
              <a:avLst/>
              <a:gdLst/>
              <a:ahLst/>
              <a:cxnLst/>
              <a:rect r="r" b="b" t="t" l="l"/>
              <a:pathLst>
                <a:path h="1784731" w="1259395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2547473" y="0"/>
                  </a:lnTo>
                  <a:cubicBezTo>
                    <a:pt x="12573127" y="0"/>
                    <a:pt x="12593955" y="20828"/>
                    <a:pt x="12593955" y="46482"/>
                  </a:cubicBezTo>
                  <a:lnTo>
                    <a:pt x="12593955" y="1738249"/>
                  </a:lnTo>
                  <a:cubicBezTo>
                    <a:pt x="12593955" y="1763903"/>
                    <a:pt x="12573127" y="1784731"/>
                    <a:pt x="12547473" y="1784731"/>
                  </a:cubicBezTo>
                  <a:lnTo>
                    <a:pt x="46482" y="1784731"/>
                  </a:lnTo>
                  <a:cubicBezTo>
                    <a:pt x="20828" y="1784731"/>
                    <a:pt x="0" y="1763903"/>
                    <a:pt x="0" y="173824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2705" y="6885832"/>
            <a:ext cx="8980589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Change Data Types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2705" y="7341841"/>
            <a:ext cx="8980589" cy="43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 float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integer with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astype()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0238" y="8229000"/>
            <a:ext cx="9445523" cy="1319508"/>
            <a:chOff x="0" y="0"/>
            <a:chExt cx="12594031" cy="17593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93955" cy="1759331"/>
            </a:xfrm>
            <a:custGeom>
              <a:avLst/>
              <a:gdLst/>
              <a:ahLst/>
              <a:cxnLst/>
              <a:rect r="r" b="b" t="t" l="l"/>
              <a:pathLst>
                <a:path h="1759331" w="1259395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2547473" y="0"/>
                  </a:lnTo>
                  <a:cubicBezTo>
                    <a:pt x="12573127" y="0"/>
                    <a:pt x="12593955" y="20828"/>
                    <a:pt x="12593955" y="46482"/>
                  </a:cubicBezTo>
                  <a:lnTo>
                    <a:pt x="12593955" y="1712849"/>
                  </a:lnTo>
                  <a:cubicBezTo>
                    <a:pt x="12593955" y="1738503"/>
                    <a:pt x="12573127" y="1759331"/>
                    <a:pt x="12547473" y="1759331"/>
                  </a:cubicBezTo>
                  <a:lnTo>
                    <a:pt x="46482" y="1759331"/>
                  </a:lnTo>
                  <a:cubicBezTo>
                    <a:pt x="20828" y="1759331"/>
                    <a:pt x="0" y="1738503"/>
                    <a:pt x="0" y="171284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082705" y="8442427"/>
            <a:ext cx="8980589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Apply Custom Logic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82705" y="8898436"/>
            <a:ext cx="898058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Label students Pass/Fail based on their marks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286770"/>
            <a:ext cx="4088159" cy="377133"/>
            <a:chOff x="0" y="0"/>
            <a:chExt cx="5450878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0967" cy="502920"/>
            </a:xfrm>
            <a:custGeom>
              <a:avLst/>
              <a:gdLst/>
              <a:ahLst/>
              <a:cxnLst/>
              <a:rect r="r" b="b" t="t" l="l"/>
              <a:pathLst>
                <a:path h="502920" w="5450967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5411216" y="0"/>
                  </a:lnTo>
                  <a:cubicBezTo>
                    <a:pt x="5433187" y="0"/>
                    <a:pt x="5450967" y="17780"/>
                    <a:pt x="5450967" y="39751"/>
                  </a:cubicBezTo>
                  <a:lnTo>
                    <a:pt x="5450967" y="463169"/>
                  </a:lnTo>
                  <a:cubicBezTo>
                    <a:pt x="5450967" y="485140"/>
                    <a:pt x="5433187" y="502920"/>
                    <a:pt x="5411216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361180"/>
            <a:ext cx="4704902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743970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Why Transform Data?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833983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Raw data answers the question "What happened?" — but transformed data answers "What does it mean?" Transformation bridges the gap between collected data and actionable insights.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3983088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4" y="0"/>
                </a:lnTo>
                <a:lnTo>
                  <a:pt x="620164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0303" t="0" r="-3030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2238" y="4903737"/>
            <a:ext cx="7996685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Easier to Understand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373586"/>
            <a:ext cx="799668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Labels like "Pass" and "Fail" are clearer than raw numbers like 85 and 32.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298934" y="3983088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298934" y="4903737"/>
            <a:ext cx="7996828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Standardize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98934" y="5373586"/>
            <a:ext cx="7996828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Consistent casing, types, and formats prevent errors in analysis.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6739680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4" y="0"/>
                </a:lnTo>
                <a:lnTo>
                  <a:pt x="620164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57" t="0" r="-75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238" y="7660329"/>
            <a:ext cx="7996685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Create Useful Columns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130178"/>
            <a:ext cx="799668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Derived columns like Bonus_Marks add value without changing source data.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298934" y="6739680"/>
            <a:ext cx="620163" cy="620163"/>
          </a:xfrm>
          <a:custGeom>
            <a:avLst/>
            <a:gdLst/>
            <a:ahLst/>
            <a:cxnLst/>
            <a:rect r="r" b="b" t="t" l="l"/>
            <a:pathLst>
              <a:path h="620163" w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969" r="0" b="-2197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298934" y="7660329"/>
            <a:ext cx="7996828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Prepare for ML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8934" y="8130178"/>
            <a:ext cx="799682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Machine learning models require clean, numeric, consistently formatted data.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99112"/>
            <a:ext cx="4088159" cy="377133"/>
            <a:chOff x="0" y="0"/>
            <a:chExt cx="5450878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0967" cy="502920"/>
            </a:xfrm>
            <a:custGeom>
              <a:avLst/>
              <a:gdLst/>
              <a:ahLst/>
              <a:cxnLst/>
              <a:rect r="r" b="b" t="t" l="l"/>
              <a:pathLst>
                <a:path h="502920" w="5450967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5411216" y="0"/>
                  </a:lnTo>
                  <a:cubicBezTo>
                    <a:pt x="5433187" y="0"/>
                    <a:pt x="5450967" y="17780"/>
                    <a:pt x="5450967" y="39751"/>
                  </a:cubicBezTo>
                  <a:lnTo>
                    <a:pt x="5450967" y="463169"/>
                  </a:lnTo>
                  <a:cubicBezTo>
                    <a:pt x="5450967" y="485140"/>
                    <a:pt x="5433187" y="502920"/>
                    <a:pt x="5411216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1273521"/>
            <a:ext cx="4704902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56312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Creating a New Column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746324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One of the most common transformations is creating a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derived column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a new column whose values are calculated from an existing one. Here, we add 5 bonus marks to every student.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133850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810125"/>
            <a:ext cx="7849200" cy="892816"/>
            <a:chOff x="0" y="0"/>
            <a:chExt cx="10465600" cy="11904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5688" cy="1190498"/>
            </a:xfrm>
            <a:custGeom>
              <a:avLst/>
              <a:gdLst/>
              <a:ahLst/>
              <a:cxnLst/>
              <a:rect r="r" b="b" t="t" l="l"/>
              <a:pathLst>
                <a:path h="1190498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140841"/>
                  </a:lnTo>
                  <a:cubicBezTo>
                    <a:pt x="10465688" y="1168273"/>
                    <a:pt x="10443463" y="1190498"/>
                    <a:pt x="10416032" y="1190498"/>
                  </a:cubicBezTo>
                  <a:lnTo>
                    <a:pt x="49657" y="1190498"/>
                  </a:lnTo>
                  <a:cubicBezTo>
                    <a:pt x="22225" y="1190371"/>
                    <a:pt x="0" y="1168273"/>
                    <a:pt x="0" y="114084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9895" y="4943770"/>
            <a:ext cx="8168278" cy="5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df["Bonus_Marks"] = df["Marks"] + 5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5972470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Before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76" y="6643983"/>
            <a:ext cx="7858725" cy="2169471"/>
            <a:chOff x="0" y="0"/>
            <a:chExt cx="10478300" cy="28926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78262" cy="2892552"/>
            </a:xfrm>
            <a:custGeom>
              <a:avLst/>
              <a:gdLst/>
              <a:ahLst/>
              <a:cxnLst/>
              <a:rect r="r" b="b" t="t" l="l"/>
              <a:pathLst>
                <a:path h="28925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42768"/>
                  </a:lnTo>
                  <a:cubicBezTo>
                    <a:pt x="10478262" y="2870327"/>
                    <a:pt x="10455910" y="2892552"/>
                    <a:pt x="10428478" y="2892552"/>
                  </a:cubicBezTo>
                  <a:lnTo>
                    <a:pt x="49784" y="2892552"/>
                  </a:lnTo>
                  <a:cubicBezTo>
                    <a:pt x="22225" y="2892552"/>
                    <a:pt x="0" y="2870200"/>
                    <a:pt x="0" y="28427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3" r="0" b="-20586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1763" y="6658270"/>
            <a:ext cx="7830150" cy="713632"/>
            <a:chOff x="0" y="0"/>
            <a:chExt cx="10440200" cy="9515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9709" y="6740423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69541" y="6740423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763" y="7371902"/>
            <a:ext cx="7830150" cy="713632"/>
            <a:chOff x="0" y="0"/>
            <a:chExt cx="10440200" cy="9515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9709" y="7454055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69541" y="7454055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8085534"/>
            <a:ext cx="7830150" cy="713632"/>
            <a:chOff x="0" y="0"/>
            <a:chExt cx="10440200" cy="9515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9709" y="8167688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69541" y="8167688"/>
            <a:ext cx="432881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56096" y="4133850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After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51334" y="4805362"/>
            <a:ext cx="7858725" cy="2169471"/>
            <a:chOff x="0" y="0"/>
            <a:chExt cx="10478300" cy="28926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78262" cy="2892552"/>
            </a:xfrm>
            <a:custGeom>
              <a:avLst/>
              <a:gdLst/>
              <a:ahLst/>
              <a:cxnLst/>
              <a:rect r="r" b="b" t="t" l="l"/>
              <a:pathLst>
                <a:path h="28925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42768"/>
                  </a:lnTo>
                  <a:cubicBezTo>
                    <a:pt x="10478262" y="2870327"/>
                    <a:pt x="10455910" y="2892552"/>
                    <a:pt x="10428478" y="2892552"/>
                  </a:cubicBezTo>
                  <a:lnTo>
                    <a:pt x="49784" y="2892552"/>
                  </a:lnTo>
                  <a:cubicBezTo>
                    <a:pt x="22225" y="2892552"/>
                    <a:pt x="0" y="2870200"/>
                    <a:pt x="0" y="28427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3" r="0" b="-20586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65621" y="4819650"/>
            <a:ext cx="7829255" cy="713632"/>
            <a:chOff x="0" y="0"/>
            <a:chExt cx="10439006" cy="9515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714605" y="4901803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28769" y="4901803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38172" y="4901803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Bonus_Marks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65621" y="5533282"/>
            <a:ext cx="7829255" cy="713632"/>
            <a:chOff x="0" y="0"/>
            <a:chExt cx="10439006" cy="9515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714605" y="5615435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28769" y="5615435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938172" y="5615435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90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65621" y="6246914"/>
            <a:ext cx="7829255" cy="713632"/>
            <a:chOff x="0" y="0"/>
            <a:chExt cx="10439006" cy="9515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714605" y="6329067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28769" y="6329067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70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938172" y="6329067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75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56096" y="7172916"/>
            <a:ext cx="7849200" cy="129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Pandas applies the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+ 5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operation to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every row at once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no loops needed. This is called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vectorized operation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and it's one of Pandas' superpowers.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82844"/>
            <a:ext cx="4088159" cy="377133"/>
            <a:chOff x="0" y="0"/>
            <a:chExt cx="5450878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0967" cy="502920"/>
            </a:xfrm>
            <a:custGeom>
              <a:avLst/>
              <a:gdLst/>
              <a:ahLst/>
              <a:cxnLst/>
              <a:rect r="r" b="b" t="t" l="l"/>
              <a:pathLst>
                <a:path h="502920" w="5450967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5411216" y="0"/>
                  </a:lnTo>
                  <a:cubicBezTo>
                    <a:pt x="5433187" y="0"/>
                    <a:pt x="5450967" y="17780"/>
                    <a:pt x="5450967" y="39751"/>
                  </a:cubicBezTo>
                  <a:lnTo>
                    <a:pt x="5450967" y="463169"/>
                  </a:lnTo>
                  <a:cubicBezTo>
                    <a:pt x="5450967" y="485140"/>
                    <a:pt x="5433187" y="502920"/>
                    <a:pt x="5411216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957262"/>
            <a:ext cx="4704902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40044"/>
            <a:ext cx="16303523" cy="85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Creating a Pass/Fail Column with </a:t>
            </a:r>
            <a:r>
              <a:rPr lang="en-US" sz="48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apply()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87216"/>
            <a:ext cx="16303523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apply()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function lets you run a custom rule on every row of a column. Combined with a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lambda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function, it's a powerful way to create category labels from numeric data.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903316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579591"/>
            <a:ext cx="7849200" cy="1686668"/>
            <a:chOff x="0" y="0"/>
            <a:chExt cx="10465600" cy="22488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5688" cy="2248916"/>
            </a:xfrm>
            <a:custGeom>
              <a:avLst/>
              <a:gdLst/>
              <a:ahLst/>
              <a:cxnLst/>
              <a:rect r="r" b="b" t="t" l="l"/>
              <a:pathLst>
                <a:path h="2248916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2199259"/>
                  </a:lnTo>
                  <a:cubicBezTo>
                    <a:pt x="10465688" y="2226691"/>
                    <a:pt x="10443463" y="2248916"/>
                    <a:pt x="10416032" y="2248916"/>
                  </a:cubicBezTo>
                  <a:lnTo>
                    <a:pt x="49657" y="2248916"/>
                  </a:lnTo>
                  <a:cubicBezTo>
                    <a:pt x="22225" y="2248916"/>
                    <a:pt x="0" y="2226691"/>
                    <a:pt x="0" y="219925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9895" y="4713237"/>
            <a:ext cx="7253878" cy="130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df["Result"] = df["Marks"].apply(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    lambda x: "Pass" if x &gt;= 40 else "Fail"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535788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The Rule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7212063"/>
            <a:ext cx="7849200" cy="1528467"/>
            <a:chOff x="0" y="0"/>
            <a:chExt cx="10465600" cy="2037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65688" cy="2037969"/>
            </a:xfrm>
            <a:custGeom>
              <a:avLst/>
              <a:gdLst/>
              <a:ahLst/>
              <a:cxnLst/>
              <a:rect r="r" b="b" t="t" l="l"/>
              <a:pathLst>
                <a:path h="2037969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988312"/>
                  </a:lnTo>
                  <a:cubicBezTo>
                    <a:pt x="10465688" y="2015744"/>
                    <a:pt x="10443463" y="2037969"/>
                    <a:pt x="10416032" y="2037969"/>
                  </a:cubicBezTo>
                  <a:lnTo>
                    <a:pt x="49657" y="2037969"/>
                  </a:lnTo>
                  <a:cubicBezTo>
                    <a:pt x="22225" y="2037969"/>
                    <a:pt x="0" y="2015744"/>
                    <a:pt x="0" y="198831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7212063"/>
            <a:ext cx="3924595" cy="1528467"/>
            <a:chOff x="0" y="0"/>
            <a:chExt cx="5232794" cy="20379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2781" cy="2037969"/>
            </a:xfrm>
            <a:custGeom>
              <a:avLst/>
              <a:gdLst/>
              <a:ahLst/>
              <a:cxnLst/>
              <a:rect r="r" b="b" t="t" l="l"/>
              <a:pathLst>
                <a:path h="2037969" w="5232781">
                  <a:moveTo>
                    <a:pt x="41402" y="0"/>
                  </a:moveTo>
                  <a:lnTo>
                    <a:pt x="5232781" y="0"/>
                  </a:lnTo>
                  <a:lnTo>
                    <a:pt x="5232781" y="2037969"/>
                  </a:lnTo>
                  <a:lnTo>
                    <a:pt x="41402" y="2037969"/>
                  </a:lnTo>
                  <a:cubicBezTo>
                    <a:pt x="18542" y="2037969"/>
                    <a:pt x="0" y="2019427"/>
                    <a:pt x="0" y="1996567"/>
                  </a:cubicBezTo>
                  <a:lnTo>
                    <a:pt x="0" y="41402"/>
                  </a:lnTo>
                  <a:cubicBezTo>
                    <a:pt x="0" y="18542"/>
                    <a:pt x="18542" y="0"/>
                    <a:pt x="41402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0184" y="7450484"/>
            <a:ext cx="3428705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Marks ≥ 40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184" y="8019450"/>
            <a:ext cx="342870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→ "Pass"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16834" y="7212063"/>
            <a:ext cx="3924595" cy="1528467"/>
            <a:chOff x="0" y="0"/>
            <a:chExt cx="5232794" cy="20379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2908" cy="2037969"/>
            </a:xfrm>
            <a:custGeom>
              <a:avLst/>
              <a:gdLst/>
              <a:ahLst/>
              <a:cxnLst/>
              <a:rect r="r" b="b" t="t" l="l"/>
              <a:pathLst>
                <a:path h="2037969" w="5232908">
                  <a:moveTo>
                    <a:pt x="0" y="0"/>
                  </a:moveTo>
                  <a:lnTo>
                    <a:pt x="5191506" y="0"/>
                  </a:lnTo>
                  <a:cubicBezTo>
                    <a:pt x="5214366" y="0"/>
                    <a:pt x="5232908" y="18542"/>
                    <a:pt x="5232908" y="41402"/>
                  </a:cubicBezTo>
                  <a:lnTo>
                    <a:pt x="5232908" y="1996567"/>
                  </a:lnTo>
                  <a:cubicBezTo>
                    <a:pt x="5232908" y="2019427"/>
                    <a:pt x="5214366" y="2037969"/>
                    <a:pt x="5191506" y="2037969"/>
                  </a:cubicBez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16834" y="7212063"/>
            <a:ext cx="28575" cy="1528467"/>
            <a:chOff x="0" y="0"/>
            <a:chExt cx="38100" cy="2037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2037969"/>
            </a:xfrm>
            <a:custGeom>
              <a:avLst/>
              <a:gdLst/>
              <a:ahLst/>
              <a:cxnLst/>
              <a:rect r="r" b="b" t="t" l="l"/>
              <a:pathLst>
                <a:path h="203796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018919"/>
                  </a:lnTo>
                  <a:cubicBezTo>
                    <a:pt x="38100" y="2029460"/>
                    <a:pt x="29591" y="2037969"/>
                    <a:pt x="19050" y="2037969"/>
                  </a:cubicBezTo>
                  <a:cubicBezTo>
                    <a:pt x="8509" y="2037969"/>
                    <a:pt x="0" y="2029460"/>
                    <a:pt x="0" y="2018919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164779" y="7450484"/>
            <a:ext cx="3428705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Marks &lt; 40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64779" y="8019450"/>
            <a:ext cx="342870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→ "Fail"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6096" y="3903316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Output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51334" y="4574829"/>
            <a:ext cx="7858725" cy="2883103"/>
            <a:chOff x="0" y="0"/>
            <a:chExt cx="10478300" cy="38441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78262" cy="3844163"/>
            </a:xfrm>
            <a:custGeom>
              <a:avLst/>
              <a:gdLst/>
              <a:ahLst/>
              <a:cxnLst/>
              <a:rect r="r" b="b" t="t" l="l"/>
              <a:pathLst>
                <a:path h="3844163" w="10478262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10428478" y="0"/>
                  </a:lnTo>
                  <a:cubicBezTo>
                    <a:pt x="10455910" y="0"/>
                    <a:pt x="10478262" y="22225"/>
                    <a:pt x="10478262" y="49784"/>
                  </a:cubicBezTo>
                  <a:lnTo>
                    <a:pt x="10478262" y="3794379"/>
                  </a:lnTo>
                  <a:cubicBezTo>
                    <a:pt x="10478262" y="3821811"/>
                    <a:pt x="10456037" y="3844163"/>
                    <a:pt x="10428478" y="3844163"/>
                  </a:cubicBezTo>
                  <a:lnTo>
                    <a:pt x="49784" y="3844163"/>
                  </a:lnTo>
                  <a:cubicBezTo>
                    <a:pt x="22352" y="3844163"/>
                    <a:pt x="0" y="3821938"/>
                    <a:pt x="0" y="379437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" r="0" b="-311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65621" y="4589116"/>
            <a:ext cx="7829255" cy="713632"/>
            <a:chOff x="0" y="0"/>
            <a:chExt cx="10439006" cy="9515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14605" y="4671270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8769" y="4671270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38172" y="4671270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Result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65621" y="5302748"/>
            <a:ext cx="7829255" cy="713632"/>
            <a:chOff x="0" y="0"/>
            <a:chExt cx="10439006" cy="9515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714605" y="5384902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28769" y="5384902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938172" y="5384902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Pass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65621" y="6016381"/>
            <a:ext cx="7829255" cy="713632"/>
            <a:chOff x="0" y="0"/>
            <a:chExt cx="10439006" cy="9515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714605" y="6098534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Ravi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28769" y="6098534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32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938172" y="6098534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C9907C"/>
                </a:solidFill>
                <a:latin typeface="Inter Bold"/>
                <a:ea typeface="Inter Bold"/>
                <a:cs typeface="Inter Bold"/>
                <a:sym typeface="Inter Bold"/>
              </a:rPr>
              <a:t>Fail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65621" y="6730013"/>
            <a:ext cx="7829255" cy="713632"/>
            <a:chOff x="0" y="0"/>
            <a:chExt cx="10439006" cy="9515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39019" cy="951484"/>
            </a:xfrm>
            <a:custGeom>
              <a:avLst/>
              <a:gdLst/>
              <a:ahLst/>
              <a:cxnLst/>
              <a:rect r="r" b="b" t="t" l="l"/>
              <a:pathLst>
                <a:path h="951484" w="10439019">
                  <a:moveTo>
                    <a:pt x="0" y="0"/>
                  </a:moveTo>
                  <a:lnTo>
                    <a:pt x="10439019" y="0"/>
                  </a:lnTo>
                  <a:lnTo>
                    <a:pt x="10439019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714605" y="6812156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28769" y="6812156"/>
            <a:ext cx="3018387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38172" y="6812156"/>
            <a:ext cx="3023149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Pass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456096" y="7732214"/>
            <a:ext cx="7849200" cy="1392736"/>
            <a:chOff x="0" y="0"/>
            <a:chExt cx="10465600" cy="185698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65688" cy="1856994"/>
            </a:xfrm>
            <a:custGeom>
              <a:avLst/>
              <a:gdLst/>
              <a:ahLst/>
              <a:cxnLst/>
              <a:rect r="r" b="b" t="t" l="l"/>
              <a:pathLst>
                <a:path h="1856994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807337"/>
                  </a:lnTo>
                  <a:cubicBezTo>
                    <a:pt x="10465688" y="1834769"/>
                    <a:pt x="10443463" y="1856994"/>
                    <a:pt x="10416032" y="1856994"/>
                  </a:cubicBezTo>
                  <a:lnTo>
                    <a:pt x="49657" y="1856994"/>
                  </a:lnTo>
                  <a:cubicBezTo>
                    <a:pt x="22225" y="1856994"/>
                    <a:pt x="0" y="1834769"/>
                    <a:pt x="0" y="1807337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04041" y="8110833"/>
            <a:ext cx="310010" cy="247945"/>
            <a:chOff x="0" y="0"/>
            <a:chExt cx="413347" cy="330594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8" r="9" b="-1152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261997" y="7941173"/>
            <a:ext cx="6795345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lambda</a:t>
            </a:r>
            <a:r>
              <a:rPr lang="en-US" sz="18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is just a small, one-line function. </a:t>
            </a: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lambda x: ...</a:t>
            </a:r>
            <a:r>
              <a:rPr lang="en-US" sz="18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means "for each value x, do this."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58876"/>
            <a:ext cx="4088159" cy="377133"/>
            <a:chOff x="0" y="0"/>
            <a:chExt cx="5450878" cy="502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0967" cy="502920"/>
            </a:xfrm>
            <a:custGeom>
              <a:avLst/>
              <a:gdLst/>
              <a:ahLst/>
              <a:cxnLst/>
              <a:rect r="r" b="b" t="t" l="l"/>
              <a:pathLst>
                <a:path h="502920" w="5450967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5411216" y="0"/>
                  </a:lnTo>
                  <a:cubicBezTo>
                    <a:pt x="5433187" y="0"/>
                    <a:pt x="5450967" y="17780"/>
                    <a:pt x="5450967" y="39751"/>
                  </a:cubicBezTo>
                  <a:lnTo>
                    <a:pt x="5450967" y="463169"/>
                  </a:lnTo>
                  <a:cubicBezTo>
                    <a:pt x="5450967" y="485140"/>
                    <a:pt x="5433187" y="502920"/>
                    <a:pt x="5411216" y="502920"/>
                  </a:cubicBezTo>
                  <a:lnTo>
                    <a:pt x="39751" y="502920"/>
                  </a:lnTo>
                  <a:cubicBezTo>
                    <a:pt x="17780" y="502793"/>
                    <a:pt x="0" y="485013"/>
                    <a:pt x="0" y="463169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833285"/>
            <a:ext cx="4704902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216076"/>
            <a:ext cx="16303523" cy="85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Changing Text Format: </a:t>
            </a:r>
            <a:r>
              <a:rPr lang="en-US" sz="48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str.upper()</a:t>
            </a: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lang="en-US" sz="48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str.lower()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363238"/>
            <a:ext cx="16303523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Inconsistent casing is a sneaky data quality problem.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"Chennai"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"CHENNAI"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look different to Python, even though they mean the same thing. Standardizing text prevents this issue.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779339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Convert to UPPERCASE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455614"/>
            <a:ext cx="7849200" cy="1289742"/>
            <a:chOff x="0" y="0"/>
            <a:chExt cx="10465600" cy="17196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5688" cy="1719707"/>
            </a:xfrm>
            <a:custGeom>
              <a:avLst/>
              <a:gdLst/>
              <a:ahLst/>
              <a:cxnLst/>
              <a:rect r="r" b="b" t="t" l="l"/>
              <a:pathLst>
                <a:path h="1719707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670050"/>
                  </a:lnTo>
                  <a:cubicBezTo>
                    <a:pt x="10465688" y="1697482"/>
                    <a:pt x="10443463" y="1719707"/>
                    <a:pt x="10416032" y="1719707"/>
                  </a:cubicBezTo>
                  <a:lnTo>
                    <a:pt x="49657" y="1719707"/>
                  </a:lnTo>
                  <a:cubicBezTo>
                    <a:pt x="22225" y="1719707"/>
                    <a:pt x="0" y="1697482"/>
                    <a:pt x="0" y="16700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9895" y="4589259"/>
            <a:ext cx="7253878" cy="90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df["City"] = df["City"].str.upper()</a:t>
            </a:r>
          </a:p>
          <a:p>
            <a:pPr algn="l">
              <a:lnSpc>
                <a:spcPts val="3032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87476" y="6019648"/>
            <a:ext cx="7858725" cy="2188521"/>
            <a:chOff x="0" y="0"/>
            <a:chExt cx="10478300" cy="2918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78262" cy="2917952"/>
            </a:xfrm>
            <a:custGeom>
              <a:avLst/>
              <a:gdLst/>
              <a:ahLst/>
              <a:cxnLst/>
              <a:rect r="r" b="b" t="t" l="l"/>
              <a:pathLst>
                <a:path h="29179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68168"/>
                  </a:lnTo>
                  <a:cubicBezTo>
                    <a:pt x="10478262" y="2895727"/>
                    <a:pt x="10455910" y="2917952"/>
                    <a:pt x="10428478" y="2917952"/>
                  </a:cubicBezTo>
                  <a:lnTo>
                    <a:pt x="49784" y="2917952"/>
                  </a:lnTo>
                  <a:cubicBezTo>
                    <a:pt x="22225" y="2917952"/>
                    <a:pt x="0" y="2895600"/>
                    <a:pt x="0" y="28681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9" r="0" b="-1997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2238" y="6752330"/>
            <a:ext cx="7849200" cy="15507"/>
            <a:chOff x="0" y="0"/>
            <a:chExt cx="10465600" cy="20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238" y="7475487"/>
            <a:ext cx="7849200" cy="15507"/>
            <a:chOff x="0" y="0"/>
            <a:chExt cx="10465600" cy="206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9709" y="61160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Before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4779" y="61160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After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709" y="68392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64779" y="68392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CHENNAI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9709" y="75624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Vellore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64779" y="75624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VELLORE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56096" y="3779339"/>
            <a:ext cx="784920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Convert to lowercase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56096" y="4455614"/>
            <a:ext cx="7849200" cy="1289742"/>
            <a:chOff x="0" y="0"/>
            <a:chExt cx="10465600" cy="17196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65688" cy="1719707"/>
            </a:xfrm>
            <a:custGeom>
              <a:avLst/>
              <a:gdLst/>
              <a:ahLst/>
              <a:cxnLst/>
              <a:rect r="r" b="b" t="t" l="l"/>
              <a:pathLst>
                <a:path h="1719707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1670050"/>
                  </a:lnTo>
                  <a:cubicBezTo>
                    <a:pt x="10465688" y="1697482"/>
                    <a:pt x="10443463" y="1719707"/>
                    <a:pt x="10416032" y="1719707"/>
                  </a:cubicBezTo>
                  <a:lnTo>
                    <a:pt x="49657" y="1719707"/>
                  </a:lnTo>
                  <a:cubicBezTo>
                    <a:pt x="22225" y="1719707"/>
                    <a:pt x="0" y="1697482"/>
                    <a:pt x="0" y="16700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53752" y="4589259"/>
            <a:ext cx="7253878" cy="90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df["City"] = df["City"].str.lower()</a:t>
            </a:r>
          </a:p>
          <a:p>
            <a:pPr algn="l">
              <a:lnSpc>
                <a:spcPts val="3032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9451334" y="6019648"/>
            <a:ext cx="7858725" cy="2188521"/>
            <a:chOff x="0" y="0"/>
            <a:chExt cx="10478300" cy="29180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78262" cy="2917952"/>
            </a:xfrm>
            <a:custGeom>
              <a:avLst/>
              <a:gdLst/>
              <a:ahLst/>
              <a:cxnLst/>
              <a:rect r="r" b="b" t="t" l="l"/>
              <a:pathLst>
                <a:path h="2917952" w="10478262">
                  <a:moveTo>
                    <a:pt x="0" y="49784"/>
                  </a:moveTo>
                  <a:cubicBezTo>
                    <a:pt x="0" y="22352"/>
                    <a:pt x="22352" y="0"/>
                    <a:pt x="49784" y="0"/>
                  </a:cubicBezTo>
                  <a:lnTo>
                    <a:pt x="10428478" y="0"/>
                  </a:lnTo>
                  <a:cubicBezTo>
                    <a:pt x="10456037" y="0"/>
                    <a:pt x="10478262" y="22352"/>
                    <a:pt x="10478262" y="49784"/>
                  </a:cubicBezTo>
                  <a:lnTo>
                    <a:pt x="10478262" y="2868168"/>
                  </a:lnTo>
                  <a:cubicBezTo>
                    <a:pt x="10478262" y="2895727"/>
                    <a:pt x="10455910" y="2917952"/>
                    <a:pt x="10428478" y="2917952"/>
                  </a:cubicBezTo>
                  <a:lnTo>
                    <a:pt x="49784" y="2917952"/>
                  </a:lnTo>
                  <a:cubicBezTo>
                    <a:pt x="22225" y="2917952"/>
                    <a:pt x="0" y="2895600"/>
                    <a:pt x="0" y="28681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9" r="0" b="-1997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56096" y="6752330"/>
            <a:ext cx="7849200" cy="15507"/>
            <a:chOff x="0" y="0"/>
            <a:chExt cx="10465600" cy="206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56096" y="7475487"/>
            <a:ext cx="7849200" cy="15507"/>
            <a:chOff x="0" y="0"/>
            <a:chExt cx="10465600" cy="206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65562" cy="20701"/>
            </a:xfrm>
            <a:custGeom>
              <a:avLst/>
              <a:gdLst/>
              <a:ahLst/>
              <a:cxnLst/>
              <a:rect r="r" b="b" t="t" l="l"/>
              <a:pathLst>
                <a:path h="2070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20701"/>
                  </a:lnTo>
                  <a:lnTo>
                    <a:pt x="0" y="2070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13566" y="61160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Before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28637" y="6116088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After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13566" y="68392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CHENNAI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28637" y="6839245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C9907C"/>
                </a:solidFill>
                <a:latin typeface="Inter Bold"/>
                <a:ea typeface="Inter Bold"/>
                <a:cs typeface="Inter Bold"/>
                <a:sym typeface="Inter Bold"/>
              </a:rPr>
              <a:t>chennai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13566" y="75624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VELLORE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628637" y="7562402"/>
            <a:ext cx="4333580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C9907C"/>
                </a:solidFill>
                <a:latin typeface="Inter Bold"/>
                <a:ea typeface="Inter Bold"/>
                <a:cs typeface="Inter Bold"/>
                <a:sym typeface="Inter Bold"/>
              </a:rPr>
              <a:t>vellore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56096" y="8406260"/>
            <a:ext cx="7849200" cy="8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str.upper()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when loading into databases, or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str.lower()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when comparing and grouping text values.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910380"/>
            <a:ext cx="3830536" cy="353168"/>
            <a:chOff x="0" y="0"/>
            <a:chExt cx="5107381" cy="4708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07432" cy="470916"/>
            </a:xfrm>
            <a:custGeom>
              <a:avLst/>
              <a:gdLst/>
              <a:ahLst/>
              <a:cxnLst/>
              <a:rect r="r" b="b" t="t" l="l"/>
              <a:pathLst>
                <a:path h="470916" w="5107432">
                  <a:moveTo>
                    <a:pt x="0" y="37211"/>
                  </a:moveTo>
                  <a:cubicBezTo>
                    <a:pt x="0" y="16637"/>
                    <a:pt x="16637" y="0"/>
                    <a:pt x="37211" y="0"/>
                  </a:cubicBezTo>
                  <a:lnTo>
                    <a:pt x="5070221" y="0"/>
                  </a:lnTo>
                  <a:cubicBezTo>
                    <a:pt x="5090795" y="0"/>
                    <a:pt x="5107432" y="16637"/>
                    <a:pt x="5107432" y="37211"/>
                  </a:cubicBezTo>
                  <a:lnTo>
                    <a:pt x="5107432" y="433705"/>
                  </a:lnTo>
                  <a:cubicBezTo>
                    <a:pt x="5107432" y="454279"/>
                    <a:pt x="5090795" y="470916"/>
                    <a:pt x="5070221" y="470916"/>
                  </a:cubicBezTo>
                  <a:lnTo>
                    <a:pt x="37211" y="470916"/>
                  </a:lnTo>
                  <a:cubicBezTo>
                    <a:pt x="16637" y="470916"/>
                    <a:pt x="0" y="454279"/>
                    <a:pt x="0" y="433705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1694" y="980037"/>
            <a:ext cx="4466034" cy="21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4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22184"/>
            <a:ext cx="16303523" cy="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Changing Data Types: </a:t>
            </a:r>
            <a:r>
              <a:rPr lang="en-US" sz="45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astype()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394937"/>
            <a:ext cx="16303523" cy="79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When Pandas reads a CSV with missing values in a numeric column, it often stores those numbers as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float64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(decimal) instead of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. After filling missing values, we can convert back to the correct type.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636321"/>
            <a:ext cx="7868098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Check Current Types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263923"/>
            <a:ext cx="7868098" cy="837009"/>
            <a:chOff x="0" y="0"/>
            <a:chExt cx="10490797" cy="11160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0708" cy="1115950"/>
            </a:xfrm>
            <a:custGeom>
              <a:avLst/>
              <a:gdLst/>
              <a:ahLst/>
              <a:cxnLst/>
              <a:rect r="r" b="b" t="t" l="l"/>
              <a:pathLst>
                <a:path h="1115950" w="10490708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0444226" y="0"/>
                  </a:lnTo>
                  <a:cubicBezTo>
                    <a:pt x="10469880" y="0"/>
                    <a:pt x="10490708" y="20828"/>
                    <a:pt x="10490708" y="46482"/>
                  </a:cubicBezTo>
                  <a:lnTo>
                    <a:pt x="10490708" y="1069467"/>
                  </a:lnTo>
                  <a:cubicBezTo>
                    <a:pt x="10490708" y="1095121"/>
                    <a:pt x="10469880" y="1115949"/>
                    <a:pt x="10444226" y="1115949"/>
                  </a:cubicBezTo>
                  <a:lnTo>
                    <a:pt x="46482" y="1115949"/>
                  </a:lnTo>
                  <a:cubicBezTo>
                    <a:pt x="20828" y="1116076"/>
                    <a:pt x="0" y="1095248"/>
                    <a:pt x="0" y="106946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1292" y="4391625"/>
            <a:ext cx="8224390" cy="47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print(df.dtypes)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7476" y="5341439"/>
            <a:ext cx="7877623" cy="3272438"/>
            <a:chOff x="0" y="0"/>
            <a:chExt cx="10503497" cy="4363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03408" cy="4363212"/>
            </a:xfrm>
            <a:custGeom>
              <a:avLst/>
              <a:gdLst/>
              <a:ahLst/>
              <a:cxnLst/>
              <a:rect r="r" b="b" t="t" l="l"/>
              <a:pathLst>
                <a:path h="4363212" w="10503408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10456799" y="0"/>
                  </a:lnTo>
                  <a:cubicBezTo>
                    <a:pt x="10482580" y="0"/>
                    <a:pt x="10503408" y="20828"/>
                    <a:pt x="10503408" y="46609"/>
                  </a:cubicBezTo>
                  <a:lnTo>
                    <a:pt x="10503408" y="4316603"/>
                  </a:lnTo>
                  <a:cubicBezTo>
                    <a:pt x="10503408" y="4342384"/>
                    <a:pt x="10482580" y="4363212"/>
                    <a:pt x="10456799" y="4363212"/>
                  </a:cubicBezTo>
                  <a:lnTo>
                    <a:pt x="46609" y="4363212"/>
                  </a:lnTo>
                  <a:cubicBezTo>
                    <a:pt x="20828" y="4363212"/>
                    <a:pt x="0" y="4342384"/>
                    <a:pt x="0" y="43166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98" t="0" r="-3299" b="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2238" y="6001645"/>
            <a:ext cx="7868098" cy="14535"/>
            <a:chOff x="0" y="0"/>
            <a:chExt cx="10490797" cy="193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90835" cy="19431"/>
            </a:xfrm>
            <a:custGeom>
              <a:avLst/>
              <a:gdLst/>
              <a:ahLst/>
              <a:cxnLst/>
              <a:rect r="r" b="b" t="t" l="l"/>
              <a:pathLst>
                <a:path h="19431" w="10490835">
                  <a:moveTo>
                    <a:pt x="0" y="0"/>
                  </a:moveTo>
                  <a:lnTo>
                    <a:pt x="10490835" y="0"/>
                  </a:lnTo>
                  <a:lnTo>
                    <a:pt x="10490835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238" y="6652317"/>
            <a:ext cx="7868098" cy="14535"/>
            <a:chOff x="0" y="0"/>
            <a:chExt cx="10490797" cy="193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90835" cy="19431"/>
            </a:xfrm>
            <a:custGeom>
              <a:avLst/>
              <a:gdLst/>
              <a:ahLst/>
              <a:cxnLst/>
              <a:rect r="r" b="b" t="t" l="l"/>
              <a:pathLst>
                <a:path h="19431" w="10490835">
                  <a:moveTo>
                    <a:pt x="0" y="0"/>
                  </a:moveTo>
                  <a:lnTo>
                    <a:pt x="10490835" y="0"/>
                  </a:lnTo>
                  <a:lnTo>
                    <a:pt x="10490835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2238" y="7302998"/>
            <a:ext cx="7868098" cy="14535"/>
            <a:chOff x="0" y="0"/>
            <a:chExt cx="10490797" cy="193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90835" cy="19431"/>
            </a:xfrm>
            <a:custGeom>
              <a:avLst/>
              <a:gdLst/>
              <a:ahLst/>
              <a:cxnLst/>
              <a:rect r="r" b="b" t="t" l="l"/>
              <a:pathLst>
                <a:path h="19431" w="10490835">
                  <a:moveTo>
                    <a:pt x="0" y="0"/>
                  </a:moveTo>
                  <a:lnTo>
                    <a:pt x="10490835" y="0"/>
                  </a:lnTo>
                  <a:lnTo>
                    <a:pt x="10490835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8" y="7953670"/>
            <a:ext cx="7868098" cy="14535"/>
            <a:chOff x="0" y="0"/>
            <a:chExt cx="10490797" cy="193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90835" cy="19431"/>
            </a:xfrm>
            <a:custGeom>
              <a:avLst/>
              <a:gdLst/>
              <a:ahLst/>
              <a:cxnLst/>
              <a:rect r="r" b="b" t="t" l="l"/>
              <a:pathLst>
                <a:path h="19431" w="10490835">
                  <a:moveTo>
                    <a:pt x="0" y="0"/>
                  </a:moveTo>
                  <a:lnTo>
                    <a:pt x="10490835" y="0"/>
                  </a:lnTo>
                  <a:lnTo>
                    <a:pt x="10490835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4383" y="5438927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Column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8826" y="5438927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Type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383" y="6089599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Name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8826" y="6089599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object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4383" y="6740281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8826" y="6740281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835E54"/>
                </a:solidFill>
                <a:latin typeface="Inter Medium"/>
                <a:ea typeface="Inter Medium"/>
                <a:cs typeface="Inter Medium"/>
                <a:sym typeface="Inter Medium"/>
              </a:rPr>
              <a:t>float64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383" y="7390952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Marks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8826" y="7390952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835E54"/>
                </a:solidFill>
                <a:latin typeface="Inter Medium"/>
                <a:ea typeface="Inter Medium"/>
                <a:cs typeface="Inter Medium"/>
                <a:sym typeface="Inter Medium"/>
              </a:rPr>
              <a:t>float64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383" y="8041634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8826" y="8041634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object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37189" y="3636321"/>
            <a:ext cx="7868098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Convert Age to Integer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37189" y="4263923"/>
            <a:ext cx="7868098" cy="1209084"/>
            <a:chOff x="0" y="0"/>
            <a:chExt cx="10490797" cy="161211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90708" cy="1612011"/>
            </a:xfrm>
            <a:custGeom>
              <a:avLst/>
              <a:gdLst/>
              <a:ahLst/>
              <a:cxnLst/>
              <a:rect r="r" b="b" t="t" l="l"/>
              <a:pathLst>
                <a:path h="1612011" w="10490708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0444226" y="0"/>
                  </a:lnTo>
                  <a:cubicBezTo>
                    <a:pt x="10469880" y="0"/>
                    <a:pt x="10490708" y="20828"/>
                    <a:pt x="10490708" y="46482"/>
                  </a:cubicBezTo>
                  <a:lnTo>
                    <a:pt x="10490708" y="1565529"/>
                  </a:lnTo>
                  <a:cubicBezTo>
                    <a:pt x="10490708" y="1591183"/>
                    <a:pt x="10469880" y="1612011"/>
                    <a:pt x="10444226" y="1612011"/>
                  </a:cubicBezTo>
                  <a:lnTo>
                    <a:pt x="46482" y="1612011"/>
                  </a:lnTo>
                  <a:cubicBezTo>
                    <a:pt x="20828" y="1612011"/>
                    <a:pt x="0" y="1591183"/>
                    <a:pt x="0" y="156552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716243" y="4391625"/>
            <a:ext cx="7309990" cy="84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df["Age"] = df["Age"].astype(int)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print(df.dtypes)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37189" y="5699227"/>
            <a:ext cx="7868098" cy="3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Result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432427" y="6322066"/>
            <a:ext cx="7877623" cy="1320403"/>
            <a:chOff x="0" y="0"/>
            <a:chExt cx="10503497" cy="17605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03535" cy="1760601"/>
            </a:xfrm>
            <a:custGeom>
              <a:avLst/>
              <a:gdLst/>
              <a:ahLst/>
              <a:cxnLst/>
              <a:rect r="r" b="b" t="t" l="l"/>
              <a:pathLst>
                <a:path h="1760601" w="10503535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456672" y="0"/>
                  </a:lnTo>
                  <a:cubicBezTo>
                    <a:pt x="10482580" y="0"/>
                    <a:pt x="10503535" y="20955"/>
                    <a:pt x="10503535" y="46863"/>
                  </a:cubicBezTo>
                  <a:lnTo>
                    <a:pt x="10503535" y="1713738"/>
                  </a:lnTo>
                  <a:cubicBezTo>
                    <a:pt x="10503535" y="1739646"/>
                    <a:pt x="10482580" y="1760601"/>
                    <a:pt x="10456672" y="1760601"/>
                  </a:cubicBezTo>
                  <a:lnTo>
                    <a:pt x="46863" y="1760601"/>
                  </a:lnTo>
                  <a:cubicBezTo>
                    <a:pt x="20955" y="1760601"/>
                    <a:pt x="0" y="1739646"/>
                    <a:pt x="0" y="171373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46" r="0" b="-66243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437189" y="6982273"/>
            <a:ext cx="7868098" cy="14535"/>
            <a:chOff x="0" y="0"/>
            <a:chExt cx="10490797" cy="193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90835" cy="19431"/>
            </a:xfrm>
            <a:custGeom>
              <a:avLst/>
              <a:gdLst/>
              <a:ahLst/>
              <a:cxnLst/>
              <a:rect r="r" b="b" t="t" l="l"/>
              <a:pathLst>
                <a:path h="19431" w="10490835">
                  <a:moveTo>
                    <a:pt x="0" y="0"/>
                  </a:moveTo>
                  <a:lnTo>
                    <a:pt x="10490835" y="0"/>
                  </a:lnTo>
                  <a:lnTo>
                    <a:pt x="10490835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79334" y="6419555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Column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03786" y="6419555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Type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79334" y="7070227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603786" y="7070227"/>
            <a:ext cx="437390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int64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437189" y="7882976"/>
            <a:ext cx="7868098" cy="1248366"/>
            <a:chOff x="0" y="0"/>
            <a:chExt cx="10490797" cy="166448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90708" cy="1664462"/>
            </a:xfrm>
            <a:custGeom>
              <a:avLst/>
              <a:gdLst/>
              <a:ahLst/>
              <a:cxnLst/>
              <a:rect r="r" b="b" t="t" l="l"/>
              <a:pathLst>
                <a:path h="1664462" w="10490708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0444226" y="0"/>
                  </a:lnTo>
                  <a:cubicBezTo>
                    <a:pt x="10469880" y="0"/>
                    <a:pt x="10490708" y="20828"/>
                    <a:pt x="10490708" y="46482"/>
                  </a:cubicBezTo>
                  <a:lnTo>
                    <a:pt x="10490708" y="1617980"/>
                  </a:lnTo>
                  <a:cubicBezTo>
                    <a:pt x="10490708" y="1643634"/>
                    <a:pt x="10469880" y="1664462"/>
                    <a:pt x="10444226" y="1664462"/>
                  </a:cubicBezTo>
                  <a:lnTo>
                    <a:pt x="46482" y="1664462"/>
                  </a:lnTo>
                  <a:cubicBezTo>
                    <a:pt x="20828" y="1664462"/>
                    <a:pt x="0" y="1643634"/>
                    <a:pt x="0" y="1617980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656" y="8212779"/>
            <a:ext cx="290665" cy="232467"/>
            <a:chOff x="0" y="0"/>
            <a:chExt cx="387553" cy="309956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387604" cy="310007"/>
            </a:xfrm>
            <a:custGeom>
              <a:avLst/>
              <a:gdLst/>
              <a:ahLst/>
              <a:cxnLst/>
              <a:rect r="r" b="b" t="t" l="l"/>
              <a:pathLst>
                <a:path h="310007" w="387604">
                  <a:moveTo>
                    <a:pt x="0" y="0"/>
                  </a:moveTo>
                  <a:lnTo>
                    <a:pt x="387604" y="0"/>
                  </a:lnTo>
                  <a:lnTo>
                    <a:pt x="387604" y="310007"/>
                  </a:lnTo>
                  <a:lnTo>
                    <a:pt x="0" y="31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7" r="13" b="-39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192788" y="8080029"/>
            <a:ext cx="6880022" cy="79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Important:</a:t>
            </a:r>
            <a:r>
              <a:rPr lang="en-US" sz="18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Always fill missing values </a:t>
            </a:r>
            <a:r>
              <a:rPr lang="en-US" b="true" sz="1800" i="true">
                <a:solidFill>
                  <a:srgbClr val="000000"/>
                </a:solidFill>
                <a:latin typeface="Inter Medium Italics"/>
                <a:ea typeface="Inter Medium Italics"/>
                <a:cs typeface="Inter Medium Italics"/>
                <a:sym typeface="Inter Medium Italics"/>
              </a:rPr>
              <a:t>before</a:t>
            </a:r>
            <a:r>
              <a:rPr lang="en-US" sz="18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using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astype(int)</a:t>
            </a:r>
            <a:r>
              <a:rPr lang="en-US" sz="18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— converting a column with NaN to int will cause an error.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33873"/>
            <a:ext cx="3897954" cy="359121"/>
            <a:chOff x="0" y="0"/>
            <a:chExt cx="5197272" cy="478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348" cy="478790"/>
            </a:xfrm>
            <a:custGeom>
              <a:avLst/>
              <a:gdLst/>
              <a:ahLst/>
              <a:cxnLst/>
              <a:rect r="r" b="b" t="t" l="l"/>
              <a:pathLst>
                <a:path h="478790" w="5197348">
                  <a:moveTo>
                    <a:pt x="0" y="37846"/>
                  </a:moveTo>
                  <a:cubicBezTo>
                    <a:pt x="0" y="16891"/>
                    <a:pt x="16891" y="0"/>
                    <a:pt x="37846" y="0"/>
                  </a:cubicBezTo>
                  <a:lnTo>
                    <a:pt x="5159502" y="0"/>
                  </a:lnTo>
                  <a:cubicBezTo>
                    <a:pt x="5180457" y="0"/>
                    <a:pt x="5197348" y="16891"/>
                    <a:pt x="5197348" y="37846"/>
                  </a:cubicBezTo>
                  <a:lnTo>
                    <a:pt x="5197348" y="440944"/>
                  </a:lnTo>
                  <a:cubicBezTo>
                    <a:pt x="5197348" y="461899"/>
                    <a:pt x="5180457" y="478790"/>
                    <a:pt x="5159502" y="478790"/>
                  </a:cubicBezTo>
                  <a:lnTo>
                    <a:pt x="37846" y="478790"/>
                  </a:lnTo>
                  <a:cubicBezTo>
                    <a:pt x="16891" y="478790"/>
                    <a:pt x="0" y="461899"/>
                    <a:pt x="0" y="440944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4066" y="804710"/>
            <a:ext cx="4528690" cy="21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4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3 — DATA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63984"/>
            <a:ext cx="16303523" cy="80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599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Renaming Columns: </a:t>
            </a:r>
            <a:r>
              <a:rPr lang="en-US" sz="45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rename()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240909"/>
            <a:ext cx="16303523" cy="83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Column names in raw data are often unclear, abbreviated, or inconsistent. The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rename()</a:t>
            </a: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function lets you give columns better names without changing any of the actual data inside them.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544195"/>
            <a:ext cx="7863335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176560"/>
            <a:ext cx="7863335" cy="2364286"/>
            <a:chOff x="0" y="0"/>
            <a:chExt cx="10484447" cy="3152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4358" cy="3152394"/>
            </a:xfrm>
            <a:custGeom>
              <a:avLst/>
              <a:gdLst/>
              <a:ahLst/>
              <a:cxnLst/>
              <a:rect r="r" b="b" t="t" l="l"/>
              <a:pathLst>
                <a:path h="3152394" w="10484358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0437113" y="0"/>
                  </a:lnTo>
                  <a:cubicBezTo>
                    <a:pt x="10463276" y="0"/>
                    <a:pt x="10484358" y="21209"/>
                    <a:pt x="10484358" y="47244"/>
                  </a:cubicBezTo>
                  <a:lnTo>
                    <a:pt x="10484358" y="3105150"/>
                  </a:lnTo>
                  <a:cubicBezTo>
                    <a:pt x="10484358" y="3131312"/>
                    <a:pt x="10463149" y="3152394"/>
                    <a:pt x="10437113" y="3152394"/>
                  </a:cubicBezTo>
                  <a:lnTo>
                    <a:pt x="47244" y="3152394"/>
                  </a:lnTo>
                  <a:cubicBezTo>
                    <a:pt x="21082" y="3152394"/>
                    <a:pt x="0" y="3131185"/>
                    <a:pt x="0" y="31051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5902" y="4308129"/>
            <a:ext cx="7295998" cy="199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df.rename(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columns={"Marks": "Score"},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inplace=True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print(df.head())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784781"/>
            <a:ext cx="7863335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Key Parameter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7951" y="7402859"/>
            <a:ext cx="7891910" cy="1910953"/>
            <a:chOff x="0" y="0"/>
            <a:chExt cx="10522547" cy="25479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22586" cy="2548001"/>
            </a:xfrm>
            <a:custGeom>
              <a:avLst/>
              <a:gdLst/>
              <a:ahLst/>
              <a:cxnLst/>
              <a:rect r="r" b="b" t="t" l="l"/>
              <a:pathLst>
                <a:path h="2548001" w="10522586">
                  <a:moveTo>
                    <a:pt x="0" y="48006"/>
                  </a:moveTo>
                  <a:cubicBezTo>
                    <a:pt x="0" y="21463"/>
                    <a:pt x="21463" y="0"/>
                    <a:pt x="48006" y="0"/>
                  </a:cubicBezTo>
                  <a:lnTo>
                    <a:pt x="10474579" y="0"/>
                  </a:lnTo>
                  <a:cubicBezTo>
                    <a:pt x="10501123" y="0"/>
                    <a:pt x="10522586" y="21463"/>
                    <a:pt x="10522586" y="48006"/>
                  </a:cubicBezTo>
                  <a:lnTo>
                    <a:pt x="10522586" y="2499995"/>
                  </a:lnTo>
                  <a:cubicBezTo>
                    <a:pt x="10522586" y="2526538"/>
                    <a:pt x="10501123" y="2548001"/>
                    <a:pt x="10474579" y="2548001"/>
                  </a:cubicBezTo>
                  <a:lnTo>
                    <a:pt x="48006" y="2548001"/>
                  </a:lnTo>
                  <a:cubicBezTo>
                    <a:pt x="21463" y="2548001"/>
                    <a:pt x="0" y="2526538"/>
                    <a:pt x="0" y="2499995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148" y="7624915"/>
            <a:ext cx="7333507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inplace=True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148" y="8229152"/>
            <a:ext cx="7333507" cy="80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Modifies the original DataFrame directly. Without it, rename returns a new copy and the original is unchanged.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1952" y="3544195"/>
            <a:ext cx="7863335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Before → After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37189" y="4171798"/>
            <a:ext cx="7872860" cy="2004717"/>
            <a:chOff x="0" y="0"/>
            <a:chExt cx="10497147" cy="26729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97058" cy="2672969"/>
            </a:xfrm>
            <a:custGeom>
              <a:avLst/>
              <a:gdLst/>
              <a:ahLst/>
              <a:cxnLst/>
              <a:rect r="r" b="b" t="t" l="l"/>
              <a:pathLst>
                <a:path h="2672969" w="10497058">
                  <a:moveTo>
                    <a:pt x="0" y="47498"/>
                  </a:moveTo>
                  <a:cubicBezTo>
                    <a:pt x="0" y="21336"/>
                    <a:pt x="21336" y="0"/>
                    <a:pt x="47498" y="0"/>
                  </a:cubicBezTo>
                  <a:lnTo>
                    <a:pt x="10449560" y="0"/>
                  </a:lnTo>
                  <a:cubicBezTo>
                    <a:pt x="10475849" y="0"/>
                    <a:pt x="10497058" y="21336"/>
                    <a:pt x="10497058" y="47498"/>
                  </a:cubicBezTo>
                  <a:lnTo>
                    <a:pt x="10497058" y="2625471"/>
                  </a:lnTo>
                  <a:cubicBezTo>
                    <a:pt x="10497058" y="2651760"/>
                    <a:pt x="10475722" y="2672969"/>
                    <a:pt x="10449560" y="2672969"/>
                  </a:cubicBezTo>
                  <a:lnTo>
                    <a:pt x="47498" y="2672969"/>
                  </a:lnTo>
                  <a:cubicBezTo>
                    <a:pt x="21209" y="2672969"/>
                    <a:pt x="0" y="2651633"/>
                    <a:pt x="0" y="262547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20" r="0" b="-2652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51477" y="4186085"/>
            <a:ext cx="7844285" cy="658711"/>
            <a:chOff x="0" y="0"/>
            <a:chExt cx="10459047" cy="8782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87963" y="4264076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14797" y="4264076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Marks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51477" y="4844806"/>
            <a:ext cx="7844285" cy="658711"/>
            <a:chOff x="0" y="0"/>
            <a:chExt cx="10459047" cy="8782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87963" y="4922787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4797" y="4922787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51477" y="5503516"/>
            <a:ext cx="7844285" cy="658711"/>
            <a:chOff x="0" y="0"/>
            <a:chExt cx="10459047" cy="8782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87963" y="5581498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14797" y="5581498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41952" y="6358538"/>
            <a:ext cx="8777735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↓ After </a:t>
            </a:r>
            <a:r>
              <a:rPr lang="en-US" sz="18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rename()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37189" y="7071865"/>
            <a:ext cx="7872860" cy="2004717"/>
            <a:chOff x="0" y="0"/>
            <a:chExt cx="10497147" cy="26729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97058" cy="2672969"/>
            </a:xfrm>
            <a:custGeom>
              <a:avLst/>
              <a:gdLst/>
              <a:ahLst/>
              <a:cxnLst/>
              <a:rect r="r" b="b" t="t" l="l"/>
              <a:pathLst>
                <a:path h="2672969" w="10497058">
                  <a:moveTo>
                    <a:pt x="0" y="47498"/>
                  </a:moveTo>
                  <a:cubicBezTo>
                    <a:pt x="0" y="21336"/>
                    <a:pt x="21336" y="0"/>
                    <a:pt x="47498" y="0"/>
                  </a:cubicBezTo>
                  <a:lnTo>
                    <a:pt x="10449560" y="0"/>
                  </a:lnTo>
                  <a:cubicBezTo>
                    <a:pt x="10475849" y="0"/>
                    <a:pt x="10497058" y="21336"/>
                    <a:pt x="10497058" y="47498"/>
                  </a:cubicBezTo>
                  <a:lnTo>
                    <a:pt x="10497058" y="2625471"/>
                  </a:lnTo>
                  <a:cubicBezTo>
                    <a:pt x="10497058" y="2651760"/>
                    <a:pt x="10475722" y="2672969"/>
                    <a:pt x="10449560" y="2672969"/>
                  </a:cubicBezTo>
                  <a:lnTo>
                    <a:pt x="47498" y="2672969"/>
                  </a:lnTo>
                  <a:cubicBezTo>
                    <a:pt x="21209" y="2672969"/>
                    <a:pt x="0" y="2651633"/>
                    <a:pt x="0" y="262547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20" r="0" b="-2652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451477" y="7086152"/>
            <a:ext cx="7844285" cy="658711"/>
            <a:chOff x="0" y="0"/>
            <a:chExt cx="10459047" cy="8782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687963" y="7164143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14797" y="7164143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835E54"/>
                </a:solidFill>
                <a:latin typeface="Inter Bold"/>
                <a:ea typeface="Inter Bold"/>
                <a:cs typeface="Inter Bold"/>
                <a:sym typeface="Inter Bold"/>
              </a:rPr>
              <a:t>Score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51477" y="7744863"/>
            <a:ext cx="7844285" cy="658711"/>
            <a:chOff x="0" y="0"/>
            <a:chExt cx="10459047" cy="87828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87963" y="7822854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Arun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14797" y="7822854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51477" y="8403584"/>
            <a:ext cx="7844285" cy="658711"/>
            <a:chOff x="0" y="0"/>
            <a:chExt cx="10459047" cy="8782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59085" cy="878332"/>
            </a:xfrm>
            <a:custGeom>
              <a:avLst/>
              <a:gdLst/>
              <a:ahLst/>
              <a:cxnLst/>
              <a:rect r="r" b="b" t="t" l="l"/>
              <a:pathLst>
                <a:path h="878332" w="10459085">
                  <a:moveTo>
                    <a:pt x="0" y="0"/>
                  </a:moveTo>
                  <a:lnTo>
                    <a:pt x="10459085" y="0"/>
                  </a:lnTo>
                  <a:lnTo>
                    <a:pt x="10459085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687963" y="8481565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Priya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14797" y="8481565"/>
            <a:ext cx="4359031" cy="43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90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01120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Data Transformation: Full Command Reference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15110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complete reference of all transformation functions covered in this session — organized by category for quick lookup during your own projects.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164206"/>
            <a:ext cx="8027794" cy="2027339"/>
          </a:xfrm>
          <a:custGeom>
            <a:avLst/>
            <a:gdLst/>
            <a:ahLst/>
            <a:cxnLst/>
            <a:rect r="r" b="b" t="t" l="l"/>
            <a:pathLst>
              <a:path h="2027339" w="8027794">
                <a:moveTo>
                  <a:pt x="0" y="0"/>
                </a:moveTo>
                <a:lnTo>
                  <a:pt x="8027794" y="0"/>
                </a:lnTo>
                <a:lnTo>
                  <a:pt x="8027794" y="2027339"/>
                </a:lnTo>
                <a:lnTo>
                  <a:pt x="0" y="202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" r="0" b="-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3059" y="4431211"/>
            <a:ext cx="736044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Column Operations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3059" y="4912576"/>
            <a:ext cx="7360444" cy="100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df["new"] = df["col"] + 5</a:t>
            </a:r>
            <a:r>
              <a:rPr lang="en-US" sz="1899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 — Create derived column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df.rename(columns={...})</a:t>
            </a:r>
            <a:r>
              <a:rPr lang="en-US" sz="1899">
                <a:solidFill>
                  <a:srgbClr val="464646"/>
                </a:solidFill>
                <a:latin typeface="Consolas"/>
                <a:ea typeface="Consolas"/>
                <a:cs typeface="Consolas"/>
                <a:sym typeface="Consolas"/>
              </a:rPr>
              <a:t> — Rename columns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67977" y="4164206"/>
            <a:ext cx="8027794" cy="2027339"/>
          </a:xfrm>
          <a:custGeom>
            <a:avLst/>
            <a:gdLst/>
            <a:ahLst/>
            <a:cxnLst/>
            <a:rect r="r" b="b" t="t" l="l"/>
            <a:pathLst>
              <a:path h="2027339" w="8027794">
                <a:moveTo>
                  <a:pt x="0" y="0"/>
                </a:moveTo>
                <a:lnTo>
                  <a:pt x="8027794" y="0"/>
                </a:lnTo>
                <a:lnTo>
                  <a:pt x="8027794" y="2027339"/>
                </a:lnTo>
                <a:lnTo>
                  <a:pt x="0" y="202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" r="0" b="-2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58798" y="4431211"/>
            <a:ext cx="736044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Custom Logic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8798" y="4950676"/>
            <a:ext cx="7360444" cy="84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df["col"].apply(lambda x: ...)</a:t>
            </a: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Apply custom function row by row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6439500"/>
            <a:ext cx="8027794" cy="2027339"/>
          </a:xfrm>
          <a:custGeom>
            <a:avLst/>
            <a:gdLst/>
            <a:ahLst/>
            <a:cxnLst/>
            <a:rect r="r" b="b" t="t" l="l"/>
            <a:pathLst>
              <a:path h="2027339" w="8027794">
                <a:moveTo>
                  <a:pt x="0" y="0"/>
                </a:moveTo>
                <a:lnTo>
                  <a:pt x="8027794" y="0"/>
                </a:lnTo>
                <a:lnTo>
                  <a:pt x="8027794" y="2027339"/>
                </a:lnTo>
                <a:lnTo>
                  <a:pt x="0" y="202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" r="0" b="-2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3059" y="6706495"/>
            <a:ext cx="736044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Text Transformation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059" y="7225960"/>
            <a:ext cx="7360444" cy="96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df["col"].str.upper()</a:t>
            </a: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Convert to UPPERCASE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df["col"].str.lower()</a:t>
            </a: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Convert to lowercase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67977" y="6439500"/>
            <a:ext cx="8027794" cy="2027339"/>
          </a:xfrm>
          <a:custGeom>
            <a:avLst/>
            <a:gdLst/>
            <a:ahLst/>
            <a:cxnLst/>
            <a:rect r="r" b="b" t="t" l="l"/>
            <a:pathLst>
              <a:path h="2027339" w="8027794">
                <a:moveTo>
                  <a:pt x="0" y="0"/>
                </a:moveTo>
                <a:lnTo>
                  <a:pt x="8027794" y="0"/>
                </a:lnTo>
                <a:lnTo>
                  <a:pt x="8027794" y="2027339"/>
                </a:lnTo>
                <a:lnTo>
                  <a:pt x="0" y="202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" r="0" b="-2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58798" y="6706495"/>
            <a:ext cx="736044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Type Conversion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798" y="7225960"/>
            <a:ext cx="7360444" cy="96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df["col"].astype(int)</a:t>
            </a: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Change data type to integer</a:t>
            </a:r>
          </a:p>
          <a:p>
            <a:pPr algn="l" marL="458469" indent="-229235" lvl="1">
              <a:lnSpc>
                <a:spcPts val="3032"/>
              </a:lnSpc>
              <a:buFont typeface="Arial"/>
              <a:buChar char="•"/>
            </a:pP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df.dtypes</a:t>
            </a:r>
            <a:r>
              <a:rPr lang="en-US" b="true" sz="189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Check current data types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3391"/>
            <a:ext cx="16303523" cy="72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The Complete Data Wrangling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74927"/>
            <a:ext cx="1630352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This is the end-to-end pipeline you've built across this entire session. Every step maps to the functions you've now practiced — this is your repeatable template for any future dataset.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3280" y="2737542"/>
            <a:ext cx="15781287" cy="5921873"/>
            <a:chOff x="0" y="0"/>
            <a:chExt cx="21041716" cy="78958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04417" y="7212301"/>
            <a:ext cx="238029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Transform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04594" y="6983035"/>
            <a:ext cx="2380288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Handle Missing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079" y="7212301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Find Missing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3" y="7212301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Inspect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830" y="7212301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Load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840981"/>
            <a:ext cx="1630352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Follow this pipeline every time you start a new data project. The order matters — always handle missing values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before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transformation, and always inspect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before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cleaning.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39478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Teaching Pattern: How to Use This Material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53468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For instructors and self-learners: the most effective way to teach these concepts is with a structured </a:t>
            </a: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5-step micro-loop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for each function. Don't just read slides — engage with each command interactively.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902573"/>
            <a:ext cx="496043" cy="310010"/>
            <a:chOff x="0" y="0"/>
            <a:chExt cx="661391" cy="413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392" cy="413344"/>
            </a:xfrm>
            <a:custGeom>
              <a:avLst/>
              <a:gdLst/>
              <a:ahLst/>
              <a:cxnLst/>
              <a:rect r="r" b="b" t="t" l="l"/>
              <a:pathLst>
                <a:path h="413344" w="661392">
                  <a:moveTo>
                    <a:pt x="0" y="0"/>
                  </a:moveTo>
                  <a:lnTo>
                    <a:pt x="661392" y="0"/>
                  </a:lnTo>
                  <a:lnTo>
                    <a:pt x="661392" y="413344"/>
                  </a:lnTo>
                  <a:lnTo>
                    <a:pt x="0" y="41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61391" cy="41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4295480"/>
            <a:ext cx="5269106" cy="28575"/>
            <a:chOff x="0" y="0"/>
            <a:chExt cx="7025475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4467073"/>
            <a:ext cx="5269106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Explain in Simple Words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936922"/>
            <a:ext cx="5269106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"What happens if Ravi has no marks?" — connect the concept to a real scenario before touching code.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09299" y="3902573"/>
            <a:ext cx="496043" cy="310010"/>
            <a:chOff x="0" y="0"/>
            <a:chExt cx="661391" cy="413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1392" cy="413344"/>
            </a:xfrm>
            <a:custGeom>
              <a:avLst/>
              <a:gdLst/>
              <a:ahLst/>
              <a:cxnLst/>
              <a:rect r="r" b="b" t="t" l="l"/>
              <a:pathLst>
                <a:path h="413344" w="661392">
                  <a:moveTo>
                    <a:pt x="0" y="0"/>
                  </a:moveTo>
                  <a:lnTo>
                    <a:pt x="661392" y="0"/>
                  </a:lnTo>
                  <a:lnTo>
                    <a:pt x="661392" y="413344"/>
                  </a:lnTo>
                  <a:lnTo>
                    <a:pt x="0" y="41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61391" cy="41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09299" y="4295480"/>
            <a:ext cx="5269259" cy="28575"/>
            <a:chOff x="0" y="0"/>
            <a:chExt cx="7025678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5640" cy="38100"/>
            </a:xfrm>
            <a:custGeom>
              <a:avLst/>
              <a:gdLst/>
              <a:ahLst/>
              <a:cxnLst/>
              <a:rect r="r" b="b" t="t" l="l"/>
              <a:pathLst>
                <a:path h="38100" w="7025640">
                  <a:moveTo>
                    <a:pt x="0" y="0"/>
                  </a:moveTo>
                  <a:lnTo>
                    <a:pt x="7025640" y="0"/>
                  </a:lnTo>
                  <a:lnTo>
                    <a:pt x="70256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509299" y="4467073"/>
            <a:ext cx="5269259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Show a Small Table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09299" y="4936922"/>
            <a:ext cx="5269259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Display a 3–5 row example with the problem visible. Make it concrete and visual.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26503" y="3902573"/>
            <a:ext cx="496043" cy="310010"/>
            <a:chOff x="0" y="0"/>
            <a:chExt cx="661391" cy="4133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392" cy="413344"/>
            </a:xfrm>
            <a:custGeom>
              <a:avLst/>
              <a:gdLst/>
              <a:ahLst/>
              <a:cxnLst/>
              <a:rect r="r" b="b" t="t" l="l"/>
              <a:pathLst>
                <a:path h="413344" w="661392">
                  <a:moveTo>
                    <a:pt x="0" y="0"/>
                  </a:moveTo>
                  <a:lnTo>
                    <a:pt x="661392" y="0"/>
                  </a:lnTo>
                  <a:lnTo>
                    <a:pt x="661392" y="413344"/>
                  </a:lnTo>
                  <a:lnTo>
                    <a:pt x="0" y="41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61391" cy="41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26503" y="4295480"/>
            <a:ext cx="5269106" cy="28575"/>
            <a:chOff x="0" y="0"/>
            <a:chExt cx="7025475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026503" y="4467073"/>
            <a:ext cx="5269106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Write the Code Together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26503" y="4936922"/>
            <a:ext cx="5269106" cy="9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Type the command live. Show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df.isnull()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→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df.isnull().sum()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→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fillna()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as a progression.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6637887"/>
            <a:ext cx="496043" cy="310010"/>
            <a:chOff x="0" y="0"/>
            <a:chExt cx="661391" cy="4133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1392" cy="413344"/>
            </a:xfrm>
            <a:custGeom>
              <a:avLst/>
              <a:gdLst/>
              <a:ahLst/>
              <a:cxnLst/>
              <a:rect r="r" b="b" t="t" l="l"/>
              <a:pathLst>
                <a:path h="413344" w="661392">
                  <a:moveTo>
                    <a:pt x="0" y="0"/>
                  </a:moveTo>
                  <a:lnTo>
                    <a:pt x="661392" y="0"/>
                  </a:lnTo>
                  <a:lnTo>
                    <a:pt x="661392" y="413344"/>
                  </a:lnTo>
                  <a:lnTo>
                    <a:pt x="0" y="41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61391" cy="41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2238" y="7030793"/>
            <a:ext cx="8027641" cy="28575"/>
            <a:chOff x="0" y="0"/>
            <a:chExt cx="10703522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03560" cy="38100"/>
            </a:xfrm>
            <a:custGeom>
              <a:avLst/>
              <a:gdLst/>
              <a:ahLst/>
              <a:cxnLst/>
              <a:rect r="r" b="b" t="t" l="l"/>
              <a:pathLst>
                <a:path h="38100" w="10703560">
                  <a:moveTo>
                    <a:pt x="0" y="0"/>
                  </a:moveTo>
                  <a:lnTo>
                    <a:pt x="10703560" y="0"/>
                  </a:lnTo>
                  <a:lnTo>
                    <a:pt x="107035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92238" y="7202386"/>
            <a:ext cx="8027641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Show the Output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7672235"/>
            <a:ext cx="8027641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Run it and observe. Ask: "What changed? What stayed the same?"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67825" y="6637887"/>
            <a:ext cx="496043" cy="310010"/>
            <a:chOff x="0" y="0"/>
            <a:chExt cx="661391" cy="4133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392" cy="413344"/>
            </a:xfrm>
            <a:custGeom>
              <a:avLst/>
              <a:gdLst/>
              <a:ahLst/>
              <a:cxnLst/>
              <a:rect r="r" b="b" t="t" l="l"/>
              <a:pathLst>
                <a:path h="413344" w="661392">
                  <a:moveTo>
                    <a:pt x="0" y="0"/>
                  </a:moveTo>
                  <a:lnTo>
                    <a:pt x="661392" y="0"/>
                  </a:lnTo>
                  <a:lnTo>
                    <a:pt x="661392" y="413344"/>
                  </a:lnTo>
                  <a:lnTo>
                    <a:pt x="0" y="41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61391" cy="41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67825" y="7030793"/>
            <a:ext cx="8027794" cy="28575"/>
            <a:chOff x="0" y="0"/>
            <a:chExt cx="10703725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03687" cy="38100"/>
            </a:xfrm>
            <a:custGeom>
              <a:avLst/>
              <a:gdLst/>
              <a:ahLst/>
              <a:cxnLst/>
              <a:rect r="r" b="b" t="t" l="l"/>
              <a:pathLst>
                <a:path h="38100" w="10703687">
                  <a:moveTo>
                    <a:pt x="0" y="0"/>
                  </a:moveTo>
                  <a:lnTo>
                    <a:pt x="10703687" y="0"/>
                  </a:lnTo>
                  <a:lnTo>
                    <a:pt x="1070368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267825" y="7202386"/>
            <a:ext cx="802779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Ask Students to Modify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67825" y="7672235"/>
            <a:ext cx="8027794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"What if we fill City with 'Not Recorded' instead?" — one small change builds deep understanding.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751705"/>
            <a:ext cx="9445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0238" y="2917927"/>
            <a:ext cx="4598794" cy="2280342"/>
            <a:chOff x="0" y="0"/>
            <a:chExt cx="6131725" cy="30404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31814" cy="3040507"/>
            </a:xfrm>
            <a:custGeom>
              <a:avLst/>
              <a:gdLst/>
              <a:ahLst/>
              <a:cxnLst/>
              <a:rect r="r" b="b" t="t" l="l"/>
              <a:pathLst>
                <a:path h="3040507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2990850"/>
                  </a:lnTo>
                  <a:cubicBezTo>
                    <a:pt x="6131814" y="3018282"/>
                    <a:pt x="6109589" y="3040507"/>
                    <a:pt x="6082157" y="3040507"/>
                  </a:cubicBezTo>
                  <a:lnTo>
                    <a:pt x="49657" y="3040507"/>
                  </a:lnTo>
                  <a:cubicBezTo>
                    <a:pt x="22225" y="3040507"/>
                    <a:pt x="0" y="3018282"/>
                    <a:pt x="0" y="29908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98184" y="3156347"/>
            <a:ext cx="410289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🧹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Data Wrangling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98184" y="3626196"/>
            <a:ext cx="4102894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Clean and prepare raw data before any analysis. Messy data = unreliable results.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96977" y="2917927"/>
            <a:ext cx="4598794" cy="2280342"/>
            <a:chOff x="0" y="0"/>
            <a:chExt cx="6131725" cy="3040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31814" cy="3040507"/>
            </a:xfrm>
            <a:custGeom>
              <a:avLst/>
              <a:gdLst/>
              <a:ahLst/>
              <a:cxnLst/>
              <a:rect r="r" b="b" t="t" l="l"/>
              <a:pathLst>
                <a:path h="3040507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2990850"/>
                  </a:lnTo>
                  <a:cubicBezTo>
                    <a:pt x="6131814" y="3018282"/>
                    <a:pt x="6109589" y="3040507"/>
                    <a:pt x="6082157" y="3040507"/>
                  </a:cubicBezTo>
                  <a:lnTo>
                    <a:pt x="49657" y="3040507"/>
                  </a:lnTo>
                  <a:cubicBezTo>
                    <a:pt x="22225" y="3040507"/>
                    <a:pt x="0" y="3018282"/>
                    <a:pt x="0" y="29908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944923" y="3156347"/>
            <a:ext cx="410289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❓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Missing Values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44923" y="3626196"/>
            <a:ext cx="4102894" cy="132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isnull()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find,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sum()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count,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dropna()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remove,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fillna()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replace.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0238" y="5446214"/>
            <a:ext cx="9445523" cy="1826266"/>
            <a:chOff x="0" y="0"/>
            <a:chExt cx="12594031" cy="24350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94082" cy="2435098"/>
            </a:xfrm>
            <a:custGeom>
              <a:avLst/>
              <a:gdLst/>
              <a:ahLst/>
              <a:cxnLst/>
              <a:rect r="r" b="b" t="t" l="l"/>
              <a:pathLst>
                <a:path h="2435098" w="1259408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2544425" y="0"/>
                  </a:lnTo>
                  <a:cubicBezTo>
                    <a:pt x="12571857" y="0"/>
                    <a:pt x="12594082" y="22225"/>
                    <a:pt x="12594082" y="49657"/>
                  </a:cubicBezTo>
                  <a:lnTo>
                    <a:pt x="12594082" y="2385441"/>
                  </a:lnTo>
                  <a:cubicBezTo>
                    <a:pt x="12594082" y="2412873"/>
                    <a:pt x="12571857" y="2435098"/>
                    <a:pt x="12544425" y="2435098"/>
                  </a:cubicBezTo>
                  <a:lnTo>
                    <a:pt x="49657" y="2435098"/>
                  </a:lnTo>
                  <a:cubicBezTo>
                    <a:pt x="22225" y="2435098"/>
                    <a:pt x="0" y="2412873"/>
                    <a:pt x="0" y="238544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098184" y="5684634"/>
            <a:ext cx="8949633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🔄</a:t>
            </a: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Transformation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98184" y="6154493"/>
            <a:ext cx="894963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Create columns, apply logic, fix types, rename headers — all with simple Pandas commands.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2304" y="7754388"/>
            <a:ext cx="9987858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Clean Data → Better Analysis → Better Machine Learning </a:t>
            </a: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🚀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0238" y="7551544"/>
            <a:ext cx="28575" cy="964559"/>
            <a:chOff x="0" y="0"/>
            <a:chExt cx="38100" cy="12860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" cy="1286129"/>
            </a:xfrm>
            <a:custGeom>
              <a:avLst/>
              <a:gdLst/>
              <a:ahLst/>
              <a:cxnLst/>
              <a:rect r="r" b="b" t="t" l="l"/>
              <a:pathLst>
                <a:path h="128612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67079"/>
                  </a:lnTo>
                  <a:cubicBezTo>
                    <a:pt x="38100" y="1277620"/>
                    <a:pt x="29591" y="1286129"/>
                    <a:pt x="19050" y="1286129"/>
                  </a:cubicBezTo>
                  <a:cubicBezTo>
                    <a:pt x="8509" y="1286129"/>
                    <a:pt x="0" y="1277620"/>
                    <a:pt x="0" y="1267079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37965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What's Next?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51955"/>
            <a:ext cx="17217923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You've mastered the fundamentals of Data Wrangling. Here's a roadmap of what to explore next as you level up your Pandas skills.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504134"/>
            <a:ext cx="1149991" cy="1149991"/>
            <a:chOff x="0" y="0"/>
            <a:chExt cx="1533322" cy="153332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533271" cy="1533271"/>
            </a:xfrm>
            <a:custGeom>
              <a:avLst/>
              <a:gdLst/>
              <a:ahLst/>
              <a:cxnLst/>
              <a:rect r="r" b="b" t="t" l="l"/>
              <a:pathLst>
                <a:path h="1533271" w="1533271">
                  <a:moveTo>
                    <a:pt x="0" y="0"/>
                  </a:moveTo>
                  <a:lnTo>
                    <a:pt x="1533271" y="0"/>
                  </a:lnTo>
                  <a:lnTo>
                    <a:pt x="1533271" y="1533271"/>
                  </a:lnTo>
                  <a:lnTo>
                    <a:pt x="0" y="153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52240" y="4494609"/>
            <a:ext cx="3767728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Data 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52240" y="4964459"/>
            <a:ext cx="3767728" cy="208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matplotlib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seaborn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create charts and graphs from your clean data. Seeing your data is the next step after cleaning 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9978" y="4504134"/>
            <a:ext cx="1149991" cy="1149991"/>
            <a:chOff x="0" y="0"/>
            <a:chExt cx="1533322" cy="153332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33271" cy="1533271"/>
            </a:xfrm>
            <a:custGeom>
              <a:avLst/>
              <a:gdLst/>
              <a:ahLst/>
              <a:cxnLst/>
              <a:rect r="r" b="b" t="t" l="l"/>
              <a:pathLst>
                <a:path h="1533271" w="1533271">
                  <a:moveTo>
                    <a:pt x="0" y="0"/>
                  </a:moveTo>
                  <a:lnTo>
                    <a:pt x="1533271" y="0"/>
                  </a:lnTo>
                  <a:lnTo>
                    <a:pt x="1533271" y="1533271"/>
                  </a:lnTo>
                  <a:lnTo>
                    <a:pt x="0" y="153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989989" y="4494609"/>
            <a:ext cx="376788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Merging &amp; Grouping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89989" y="4964459"/>
            <a:ext cx="3767880" cy="172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Learn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groupby()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merge()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and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pivot_table()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to combine datasets and summarize data by category.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7880" y="4504134"/>
            <a:ext cx="1149991" cy="1149991"/>
            <a:chOff x="0" y="0"/>
            <a:chExt cx="1533322" cy="153332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533271" cy="1533271"/>
            </a:xfrm>
            <a:custGeom>
              <a:avLst/>
              <a:gdLst/>
              <a:ahLst/>
              <a:cxnLst/>
              <a:rect r="r" b="b" t="t" l="l"/>
              <a:pathLst>
                <a:path h="1533271" w="1533271">
                  <a:moveTo>
                    <a:pt x="0" y="0"/>
                  </a:moveTo>
                  <a:lnTo>
                    <a:pt x="1533271" y="0"/>
                  </a:lnTo>
                  <a:lnTo>
                    <a:pt x="1533271" y="1533271"/>
                  </a:lnTo>
                  <a:lnTo>
                    <a:pt x="0" y="153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527881" y="4494609"/>
            <a:ext cx="376788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Machine Learning Prep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27881" y="4964459"/>
            <a:ext cx="3767880" cy="208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Explore feature engineering with </a:t>
            </a:r>
            <a:r>
              <a:rPr lang="en-US" sz="18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sklearn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— encoding categorical variables, scaling features, and building your first model.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5038" y="7256707"/>
            <a:ext cx="17217923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8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Practice Tip: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Find a free dataset on </a:t>
            </a:r>
            <a:r>
              <a:rPr lang="en-US" b="true" sz="1899" u="sng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  <a:hlinkClick r:id="rId6" tooltip="https://www.kaggle.com"/>
              </a:rPr>
              <a:t>Kaggle</a:t>
            </a:r>
            <a:r>
              <a:rPr lang="en-US" sz="189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and apply today's full pipeline from scratch!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DAHShYnh0KA</dc:identifier>
  <dcterms:modified xsi:type="dcterms:W3CDTF">2011-08-01T06:04:30Z</dcterms:modified>
  <cp:revision>1</cp:revision>
  <dc:title>Understand Data Wranndgling ,</dc:title>
</cp:coreProperties>
</file>
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4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note: Slide 1. Keep the explanation beginner-friendly. Emphasize one primary idea and use the diagram/example only to reinforce that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note: Slide 2. Keep the explanation beginner-friendly. Emphasize one primary idea and use the diagram/example only to reinforce that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note: Slide 3. Keep the explanation beginner-friendly. Emphasize one primary idea and use the diagram/example only to reinforce that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note: Slide 4. Keep the explanation beginner-friendly. Emphasize one primary idea and use the diagram/example only to reinforce that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note: Slide 5. Keep the explanation beginner-friendly. Emphasize one primary idea and use the diagram/example only to reinforce that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note: Slide 6. Keep the explanation beginner-friendly. Emphasize one primary idea and use the diagram/example only to reinforce that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note: Slide 7. Keep the explanation beginner-friendly. Emphasize one primary idea and use the diagram/example only to reinforce that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note: Slide 8. Keep the explanation beginner-friendly. Emphasize one primary idea and use the diagram/example only to reinforce that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note: Slide 9. Keep the explanation beginner-friendly. Emphasize one primary idea and use the diagram/example only to reinforce that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note: Slide 10. Keep the explanation beginner-friendly. Emphasize one primary idea and use the diagram/example only to reinforce that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note: Slide 11. Keep the explanation beginner-friendly. Emphasize one primary idea and use the diagram/example only to reinforce that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note: Slide 12. Keep the explanation beginner-friendly. Emphasize one primary idea and use the diagram/example only to reinforce that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note: Slide 13. Keep the explanation beginner-friendly. Emphasize one primary idea and use the diagram/example only to reinforce that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note: Slide 14. Keep the explanation beginner-friendly. Emphasize one primary idea and use the diagram/example only to reinforce that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note: Slide 15. Keep the explanation beginner-friendly. Emphasize one primary idea and use the diagram/example only to reinforce that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note: Slide 16. Keep the explanation beginner-friendly. Emphasize one primary idea and use the diagram/example only to reinforce that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note: Slide 17. Keep the explanation beginner-friendly. Emphasize one primary idea and use the diagram/example only to reinforce that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note: Slide 18. Keep the explanation beginner-friendly. Emphasize one primary idea and use the diagram/example only to reinforce that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note: Slide 19. Keep the explanation beginner-friendly. Emphasize one primary idea and use the diagram/example only to reinforce that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note: Slide 20. Keep the explanation beginner-friendly. Emphasize one primary idea and use the diagram/example only to reinforce that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note: Slide 21. Keep the explanation beginner-friendly. Emphasize one primary idea and use the diagram/example only to reinforce that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note: Slide 22. Keep the explanation beginner-friendly. Emphasize one primary idea and use the diagram/example only to reinforce that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note: Slide 23. Keep the explanation beginner-friendly. Emphasize one primary idea and use the diagram/example only to reinforce that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note: Slide 24. Keep the explanation beginner-friendly. Emphasize one primary idea and use the diagram/example only to reinforce that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note: Slide 25. Keep the explanation beginner-friendly. Emphasize one primary idea and use the diagram/example only to reinforce that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note: Slide 26. Keep the explanation beginner-friendly. Emphasize one primary idea and use the diagram/example only to reinforce that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note: Slide 27. Keep the explanation beginner-friendly. Emphasize one primary idea and use the diagram/example only to reinforce that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note: Slide 28. Keep the explanation beginner-friendly. Emphasize one primary idea and use the diagram/example only to reinforce that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note: Slide 29. Keep the explanation beginner-friendly. Emphasize one primary idea and use the diagram/example only to reinforce that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note: Slide 30. Keep the explanation beginner-friendly. Emphasize one primary idea and use the diagram/example only to reinforce that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note: Slide 31. Keep the explanation beginner-friendly. Emphasize one primary idea and use the diagram/example only to reinforce that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note: Slide 32. Keep the explanation beginner-friendly. Emphasize one primary idea and use the diagram/example only to reinforce that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note: Slide 33. Keep the explanation beginner-friendly. Emphasize one primary idea and use the diagram/example only to reinforce that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note: Slide 34. Keep the explanation beginner-friendly. Emphasize one primary idea and use the diagram/example only to reinforce that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note: Slide 35. Keep the explanation beginner-friendly. Emphasize one primary idea and use the diagram/example only to reinforce that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note: Slide 36. Keep the explanation beginner-friendly. Emphasize one primary idea and use the diagram/example only to reinforce that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note: Slide 37. Keep the explanation beginner-friendly. Emphasize one primary idea and use the diagram/example only to reinforce that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note: Slide 38. Keep the explanation beginner-friendly. Emphasize one primary idea and use the diagram/example only to reinforce that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note: Slide 39. Keep the explanation beginner-friendly. Emphasize one primary idea and use the diagram/example only to reinforce that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note: Slide 40. Keep the explanation beginner-friendly. Emphasize one primary idea and use the diagram/example only to reinforce that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note: Slide 41. Keep the explanation beginner-friendly. Emphasize one primary idea and use the diagram/example only to reinforce that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note: Slide 42. Keep the explanation beginner-friendly. Emphasize one primary idea and use the diagram/example only to reinforce that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note: Slide 43. Keep the explanation beginner-friendly. Emphasize one primary idea and use the diagram/example only to reinforce that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note: Slide 44. Keep the explanation beginner-friendly. Emphasize one primary idea and use the diagram/example only to reinforce that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note: Slide 45. Keep the explanation beginner-friendly. Emphasize one primary idea and use the diagram/example only to reinforce that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note: Slide 46. Keep the explanation beginner-friendly. Emphasize one primary idea and use the diagram/example only to reinforce that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note: Slide 47. Keep the explanation beginner-friendly. Emphasize one primary idea and use the diagram/example only to reinforce that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note: Slide 48. Keep the explanation beginner-friendly. Emphasize one primary idea and use the diagram/example only to reinforce that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57232" y="1828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3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PANTECH SOLUTIONS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857232" y="457200"/>
            <a:ext cx="182880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005840"/>
            <a:ext cx="6492240" cy="19659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CLASSICAL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ENCRYPTION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TECHNIQUES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94944" y="3246120"/>
            <a:ext cx="658368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5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Substitution and Transposition Techniques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694944" y="3977640"/>
            <a:ext cx="6126480" cy="8046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D8E6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professional classroom guide to classical ciphers, worked examples, cryptanalysis, and key concepts.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94944" y="5166360"/>
            <a:ext cx="2240280" cy="310896"/>
          </a:xfrm>
          <a:prstGeom prst="roundRect">
            <a:avLst>
              <a:gd name="adj" fmla="val 35294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" y="5175504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PANTECH SOLUTIONS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26680" y="1005840"/>
            <a:ext cx="3611880" cy="4251960"/>
          </a:xfrm>
          <a:prstGeom prst="roundRect">
            <a:avLst>
              <a:gd name="adj" fmla="val 3038"/>
            </a:avLst>
          </a:prstGeom>
          <a:solidFill>
            <a:srgbClr val="112B44"/>
          </a:solidFill>
          <a:ln w="12700">
            <a:solidFill>
              <a:srgbClr val="2A4B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65008" y="1755648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564624" y="1481328"/>
            <a:ext cx="1325880" cy="8412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332720" y="1417320"/>
            <a:ext cx="795655" cy="24828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332720" y="1755775"/>
            <a:ext cx="795655" cy="47180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8275320" y="2788920"/>
            <a:ext cx="2331720" cy="1600200"/>
          </a:xfrm>
          <a:prstGeom prst="roundRect">
            <a:avLst>
              <a:gd name="adj" fmla="val 6857"/>
            </a:avLst>
          </a:prstGeom>
          <a:solidFill>
            <a:srgbClr val="163A56"/>
          </a:solidFill>
          <a:ln w="12700">
            <a:solidFill>
              <a:srgbClr val="2C5A7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0" y="3246120"/>
            <a:ext cx="566928" cy="56692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27464" y="3813048"/>
            <a:ext cx="0" cy="347472"/>
          </a:xfrm>
          <a:prstGeom prst="line">
            <a:avLst/>
          </a:prstGeom>
          <a:noFill/>
          <a:ln w="50800">
            <a:solidFill>
              <a:srgbClr val="00A6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65008" y="452628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SUBSTITUTION = REPLACE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82128" y="4818888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TRANSPOSITION = REARRANGE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045952" y="636422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2880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9202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0068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Objectives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857232" y="1828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3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PANTECH SOLUTIONS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857232" y="457200"/>
            <a:ext cx="182880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2700">
            <a:solidFill>
              <a:srgbClr val="C8D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382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6364224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should leave with a clear mental model of “replace” vs “rearrange”.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45952" y="636422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1261872"/>
            <a:ext cx="109728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1481328"/>
            <a:ext cx="365760" cy="365760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1536192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17320" y="1472184"/>
            <a:ext cx="941832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core cryptography terms and the role of a key.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68680" y="2267712"/>
            <a:ext cx="365760" cy="36576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322576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17320" y="2258568"/>
            <a:ext cx="941832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substitution ciphers, from Caesar to Vigenère.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68680" y="3054096"/>
            <a:ext cx="365760" cy="365760"/>
          </a:xfrm>
          <a:prstGeom prst="ellipse">
            <a:avLst/>
          </a:prstGeom>
          <a:solidFill>
            <a:srgbClr val="6F4FB3"/>
          </a:solidFill>
          <a:ln w="12700">
            <a:solidFill>
              <a:srgbClr val="6F4FB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10896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17320" y="3044952"/>
            <a:ext cx="941832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transposition ciphers, including Rail Fence and Columnar.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68680" y="3840480"/>
            <a:ext cx="365760" cy="365760"/>
          </a:xfrm>
          <a:prstGeom prst="ellipse">
            <a:avLst/>
          </a:prstGeom>
          <a:solidFill>
            <a:srgbClr val="D98C00"/>
          </a:solidFill>
          <a:ln w="12700">
            <a:solidFill>
              <a:srgbClr val="D98C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895344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17320" y="3831336"/>
            <a:ext cx="941832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 encryption and decryption examples step by step.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68680" y="4626864"/>
            <a:ext cx="365760" cy="365760"/>
          </a:xfrm>
          <a:prstGeom prst="ellipse">
            <a:avLst/>
          </a:prstGeom>
          <a:solidFill>
            <a:srgbClr val="C83C3C"/>
          </a:solidFill>
          <a:ln w="12700">
            <a:solidFill>
              <a:srgbClr val="C83C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68172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417320" y="4617720"/>
            <a:ext cx="941832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 common classical cryptanalysis ideas and limitations.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68680" y="5413248"/>
            <a:ext cx="9966960" cy="585216"/>
          </a:xfrm>
          <a:prstGeom prst="roundRect">
            <a:avLst>
              <a:gd name="adj" fmla="val 18750"/>
            </a:avLst>
          </a:prstGeom>
          <a:solidFill>
            <a:srgbClr val="E6F8F8"/>
          </a:solidFill>
          <a:ln w="12700">
            <a:solidFill>
              <a:srgbClr val="E6F8F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680" y="5413248"/>
            <a:ext cx="73152" cy="585216"/>
          </a:xfrm>
          <a:prstGeom prst="roundRect">
            <a:avLst>
              <a:gd name="adj" fmla="val 150000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33272" y="5495544"/>
            <a:ext cx="9710928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Teaching lens: watch for two questions — “Did the symbols change?” and “Did their positions change?”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2880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9202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0068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Cryptography?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857232" y="1828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3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PANTECH SOLUTIONS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857232" y="457200"/>
            <a:ext cx="182880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2700">
            <a:solidFill>
              <a:srgbClr val="C8D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382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6364224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Cryptography protects information by transforming it so unintended readers cannot understand it directly.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45952" y="636422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1325880"/>
            <a:ext cx="11018520" cy="1051560"/>
          </a:xfrm>
          <a:prstGeom prst="roundRect">
            <a:avLst>
              <a:gd name="adj" fmla="val 10435"/>
            </a:avLst>
          </a:prstGeom>
          <a:solidFill>
            <a:srgbClr val="EAF1FF"/>
          </a:solidFill>
          <a:ln w="12700">
            <a:solidFill>
              <a:srgbClr val="D2D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1572768"/>
            <a:ext cx="1042416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Cryptography is the study of techniques for protecting information during storage or communication.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1143000" y="2788920"/>
            <a:ext cx="3157728" cy="658368"/>
          </a:xfrm>
          <a:prstGeom prst="roundRect">
            <a:avLst>
              <a:gd name="adj" fmla="val 16667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16152" y="2862072"/>
            <a:ext cx="301142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PLAINTEXT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136136" y="3118104"/>
            <a:ext cx="256032" cy="0"/>
          </a:xfrm>
          <a:prstGeom prst="line">
            <a:avLst/>
          </a:prstGeom>
          <a:noFill/>
          <a:ln w="25400">
            <a:solidFill>
              <a:srgbClr val="8798A7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01896" y="2788920"/>
            <a:ext cx="3157728" cy="658368"/>
          </a:xfrm>
          <a:prstGeom prst="roundRect">
            <a:avLst>
              <a:gd name="adj" fmla="val 16667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5048" y="2862072"/>
            <a:ext cx="301142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495032" y="3118104"/>
            <a:ext cx="256032" cy="0"/>
          </a:xfrm>
          <a:prstGeom prst="line">
            <a:avLst/>
          </a:prstGeom>
          <a:noFill/>
          <a:ln w="25400">
            <a:solidFill>
              <a:srgbClr val="8798A7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860792" y="2788920"/>
            <a:ext cx="3157728" cy="658368"/>
          </a:xfrm>
          <a:prstGeom prst="roundRect">
            <a:avLst>
              <a:gd name="adj" fmla="val 16667"/>
            </a:avLst>
          </a:prstGeom>
          <a:solidFill>
            <a:srgbClr val="6F4FB3"/>
          </a:solidFill>
          <a:ln w="12700">
            <a:solidFill>
              <a:srgbClr val="6F4FB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33944" y="2862072"/>
            <a:ext cx="301142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CIPHERTEXT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4069080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real-world idea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4370832"/>
            <a:ext cx="973836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Alice writes a message. Encryption changes how it looks in transit. Bob uses the correct method and key to recover the original message.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60120" y="5285232"/>
            <a:ext cx="9738360" cy="585216"/>
          </a:xfrm>
          <a:prstGeom prst="roundRect">
            <a:avLst>
              <a:gd name="adj" fmla="val 18750"/>
            </a:avLst>
          </a:prstGeom>
          <a:solidFill>
            <a:srgbClr val="E6F8F8"/>
          </a:solidFill>
          <a:ln w="12700">
            <a:solidFill>
              <a:srgbClr val="E6F8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0120" y="5285232"/>
            <a:ext cx="73152" cy="585216"/>
          </a:xfrm>
          <a:prstGeom prst="roundRect">
            <a:avLst>
              <a:gd name="adj" fmla="val 150000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24712" y="5367528"/>
            <a:ext cx="9482328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Encryption protects meaning; the ciphertext is intended to be unreadable without the right way to decrypt it.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2880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9202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0068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Basic Cryptography Terminology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857232" y="1828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3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PANTECH SOLUTIONS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857232" y="457200"/>
            <a:ext cx="182880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2700">
            <a:solidFill>
              <a:srgbClr val="C8D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382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6364224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 the vocabulary before learning the ciphers.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45952" y="636422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1261872"/>
            <a:ext cx="11109960" cy="420624"/>
          </a:xfrm>
          <a:prstGeom prst="roundRect">
            <a:avLst>
              <a:gd name="adj" fmla="val 26087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1362456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31720" y="1362456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589520" y="1362456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1719072"/>
            <a:ext cx="11109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1810512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Plaintext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331720" y="1792224"/>
            <a:ext cx="475488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readable message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89520" y="1792224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HELLO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2276856"/>
            <a:ext cx="11109960" cy="530352"/>
          </a:xfrm>
          <a:prstGeom prst="rect">
            <a:avLst/>
          </a:prstGeom>
          <a:solidFill>
            <a:srgbClr val="E6F8F8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2368296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Ciphertext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331720" y="2350008"/>
            <a:ext cx="475488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Encrypted / transformed message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89520" y="2350008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KHOOR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2834640"/>
            <a:ext cx="11109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926080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331720" y="2907792"/>
            <a:ext cx="475488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that produces ciphertext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589520" y="2907792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HELLO → KHOOR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3392424"/>
            <a:ext cx="11109960" cy="530352"/>
          </a:xfrm>
          <a:prstGeom prst="rect">
            <a:avLst/>
          </a:prstGeom>
          <a:solidFill>
            <a:srgbClr val="E6F8F8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3483864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Decryption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331720" y="3465576"/>
            <a:ext cx="475488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that recovers plaintext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589520" y="3465576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KHOOR → HELLO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3950208"/>
            <a:ext cx="11109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" y="4041648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331720" y="4023360"/>
            <a:ext cx="475488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 or agreed value controlling the transformation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589520" y="4023360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Shift = 3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4507992"/>
            <a:ext cx="11109960" cy="530352"/>
          </a:xfrm>
          <a:prstGeom prst="rect">
            <a:avLst/>
          </a:prstGeom>
          <a:solidFill>
            <a:srgbClr val="E6F8F8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9808" y="4599432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Cipher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331720" y="4581144"/>
            <a:ext cx="475488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Algorithm/rule used to transform text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589520" y="4581144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Caesar Cipher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48640" y="5065776"/>
            <a:ext cx="11109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9808" y="5157216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Cryptanalysis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2331720" y="5138928"/>
            <a:ext cx="475488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of breaking or analyzing ciphers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589520" y="5138928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Frequency analysis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2880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9202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0068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Do We Need Encryption?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857232" y="1828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3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PANTECH SOLUTIONS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857232" y="457200"/>
            <a:ext cx="182880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2700">
            <a:solidFill>
              <a:srgbClr val="C8D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382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6364224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Encryption helps keep the content of communication private from unintended readers.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45952" y="636422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1298448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Alice sends a message over an untrusted channel.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60120" y="1993392"/>
            <a:ext cx="713232" cy="713232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148840"/>
            <a:ext cx="713232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841248" y="2743200"/>
            <a:ext cx="95097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378440" y="1993392"/>
            <a:ext cx="713232" cy="713232"/>
          </a:xfrm>
          <a:prstGeom prst="ellipse">
            <a:avLst/>
          </a:prstGeom>
          <a:solidFill>
            <a:srgbClr val="6F4FB3"/>
          </a:solidFill>
          <a:ln w="12700">
            <a:solidFill>
              <a:srgbClr val="6F4FB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78440" y="2148840"/>
            <a:ext cx="713232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10314432" y="2743200"/>
            <a:ext cx="841248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BOB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0" y="2011680"/>
            <a:ext cx="1600200" cy="658368"/>
          </a:xfrm>
          <a:prstGeom prst="roundRect">
            <a:avLst>
              <a:gd name="adj" fmla="val 16667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16352" y="2084832"/>
            <a:ext cx="1453896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983480" y="2011680"/>
            <a:ext cx="1828800" cy="658368"/>
          </a:xfrm>
          <a:prstGeom prst="roundRect">
            <a:avLst>
              <a:gd name="adj" fmla="val 16667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56505" y="2084705"/>
            <a:ext cx="1555750" cy="22923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98080" y="2011680"/>
            <a:ext cx="1600200" cy="658368"/>
          </a:xfrm>
          <a:prstGeom prst="roundRect">
            <a:avLst>
              <a:gd name="adj" fmla="val 16667"/>
            </a:avLst>
          </a:prstGeom>
          <a:solidFill>
            <a:srgbClr val="6F4FB3"/>
          </a:solidFill>
          <a:ln w="12700">
            <a:solidFill>
              <a:srgbClr val="6F4FB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71232" y="2084832"/>
            <a:ext cx="1453896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DECRYPTION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764792" y="2340864"/>
            <a:ext cx="822960" cy="0"/>
          </a:xfrm>
          <a:prstGeom prst="line">
            <a:avLst/>
          </a:prstGeom>
          <a:noFill/>
          <a:ln w="25400">
            <a:solidFill>
              <a:srgbClr val="8798A7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361688" y="2340864"/>
            <a:ext cx="484632" cy="0"/>
          </a:xfrm>
          <a:prstGeom prst="line">
            <a:avLst/>
          </a:prstGeom>
          <a:noFill/>
          <a:ln w="25400">
            <a:solidFill>
              <a:srgbClr val="8798A7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885432" y="2340864"/>
            <a:ext cx="475488" cy="0"/>
          </a:xfrm>
          <a:prstGeom prst="line">
            <a:avLst/>
          </a:prstGeom>
          <a:noFill/>
          <a:ln w="25400">
            <a:solidFill>
              <a:srgbClr val="8798A7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125712" y="2340864"/>
            <a:ext cx="1115568" cy="0"/>
          </a:xfrm>
          <a:prstGeom prst="line">
            <a:avLst/>
          </a:prstGeom>
          <a:noFill/>
          <a:ln w="25400">
            <a:solidFill>
              <a:srgbClr val="8798A7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170432" y="3675888"/>
            <a:ext cx="9784080" cy="585216"/>
          </a:xfrm>
          <a:prstGeom prst="roundRect">
            <a:avLst>
              <a:gd name="adj" fmla="val 18750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70432" y="3675888"/>
            <a:ext cx="73152" cy="585216"/>
          </a:xfrm>
          <a:prstGeom prst="roundRect">
            <a:avLst>
              <a:gd name="adj" fmla="val 150000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35024" y="3758184"/>
            <a:ext cx="9528048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channel may be observable. The goal is that the intercepted message does not reveal the original meaning.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34440" y="4590288"/>
            <a:ext cx="128016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PLAINTEXT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234440" y="4882896"/>
            <a:ext cx="178308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“MEET AT 5”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144000" y="4590288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CIPHERTEXT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034272" y="4882896"/>
            <a:ext cx="187452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“PHHW DW 5”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2880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9202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0068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Classical vs Modern Cryptography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857232" y="1828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3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PANTECH SOLUTIONS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857232" y="457200"/>
            <a:ext cx="182880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2700">
            <a:solidFill>
              <a:srgbClr val="C8D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382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6364224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Classical ciphers are historically important and educational, but modern security relies on much stronger designs.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45952" y="636422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1325880"/>
            <a:ext cx="5303520" cy="502920"/>
          </a:xfrm>
          <a:prstGeom prst="roundRect">
            <a:avLst>
              <a:gd name="adj" fmla="val 21818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426464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CLASSICAL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45352" y="1325880"/>
            <a:ext cx="5303520" cy="502920"/>
          </a:xfrm>
          <a:prstGeom prst="roundRect">
            <a:avLst>
              <a:gd name="adj" fmla="val 21818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45352" y="1426464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68680" y="2084832"/>
            <a:ext cx="73152" cy="73152"/>
          </a:xfrm>
          <a:prstGeom prst="ellipse">
            <a:avLst/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1993392"/>
            <a:ext cx="455371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Often uses letters, simple keys, or manual patterns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68680" y="2432304"/>
            <a:ext cx="73152" cy="73152"/>
          </a:xfrm>
          <a:prstGeom prst="ellipse">
            <a:avLst/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2340864"/>
            <a:ext cx="455371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Caesar, Vigenère, Rail Fence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68680" y="2779776"/>
            <a:ext cx="73152" cy="73152"/>
          </a:xfrm>
          <a:prstGeom prst="ellipse">
            <a:avLst/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" y="2688336"/>
            <a:ext cx="455371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or structured key spaces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68680" y="3127248"/>
            <a:ext cx="73152" cy="73152"/>
          </a:xfrm>
          <a:prstGeom prst="ellipse">
            <a:avLst/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" y="3035808"/>
            <a:ext cx="455371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Great for learning cryptographic ideas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73952" y="2084832"/>
            <a:ext cx="73152" cy="7315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1993392"/>
            <a:ext cx="455371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mathematically stronger constructions </a:t>
            </a:r>
            <a:endParaRPr lang="en-US" sz="1500" dirty="0">
              <a:solidFill>
                <a:srgbClr val="203040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473952" y="2432304"/>
            <a:ext cx="73152" cy="7315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2340864"/>
            <a:ext cx="455371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AES, RSA, modern public-key / symmetric systems</a:t>
            </a:r>
            <a:endParaRPr lang="en-US" sz="1500" dirty="0">
              <a:solidFill>
                <a:srgbClr val="203040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73952" y="2779776"/>
            <a:ext cx="73152" cy="7315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2688336"/>
            <a:ext cx="455371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against practical attacks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473952" y="3127248"/>
            <a:ext cx="73152" cy="7315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3035808"/>
            <a:ext cx="455371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for real-world security systems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60120" y="5029200"/>
            <a:ext cx="9966960" cy="585216"/>
          </a:xfrm>
          <a:prstGeom prst="roundRect">
            <a:avLst>
              <a:gd name="adj" fmla="val 1875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0120" y="5029200"/>
            <a:ext cx="73152" cy="585216"/>
          </a:xfrm>
          <a:prstGeom prst="roundRect">
            <a:avLst>
              <a:gd name="adj" fmla="val 150000"/>
            </a:avLst>
          </a:prstGeom>
          <a:solidFill>
            <a:srgbClr val="C83C3C"/>
          </a:solidFill>
          <a:ln w="12700">
            <a:solidFill>
              <a:srgbClr val="C83C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24712" y="5111496"/>
            <a:ext cx="9710928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Important: classical ciphers should generally be treated as learning and historical tools, not as modern secure communication.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2880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9202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SUBSTITUTION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0068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Substitution Technique?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857232" y="1828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3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PANTECH SOLUTIONS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857232" y="457200"/>
            <a:ext cx="182880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2700">
            <a:solidFill>
              <a:srgbClr val="C8D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382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6364224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Substitution changes the symbol itself while following a mapping rule.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45952" y="636422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129844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principle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9808" y="1618488"/>
            <a:ext cx="41605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SUBSTITUTION = REPLACE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504688" y="1234440"/>
            <a:ext cx="5650992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06440" y="1517904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CHARACTER FLOW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0" y="196596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PLAINTEXT CHARACTER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059168" y="2331720"/>
            <a:ext cx="0" cy="50292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897880" y="2907792"/>
            <a:ext cx="2331720" cy="658368"/>
          </a:xfrm>
          <a:prstGeom prst="roundRect">
            <a:avLst>
              <a:gd name="adj" fmla="val 16667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71032" y="2980944"/>
            <a:ext cx="2185416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SUBSTITUTION RULE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059168" y="3566160"/>
            <a:ext cx="0" cy="41148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5943600" y="404164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F4F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CIPHERTEXT CHARACTER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9808" y="2852928"/>
            <a:ext cx="434340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H → K when the key is a shift of 3.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49808" y="4005072"/>
            <a:ext cx="4315968" cy="585216"/>
          </a:xfrm>
          <a:prstGeom prst="roundRect">
            <a:avLst>
              <a:gd name="adj" fmla="val 18750"/>
            </a:avLst>
          </a:prstGeom>
          <a:solidFill>
            <a:srgbClr val="E6F8F8"/>
          </a:solidFill>
          <a:ln w="12700">
            <a:solidFill>
              <a:srgbClr val="E6F8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4005072"/>
            <a:ext cx="73152" cy="585216"/>
          </a:xfrm>
          <a:prstGeom prst="roundRect">
            <a:avLst>
              <a:gd name="adj" fmla="val 150000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087368"/>
            <a:ext cx="4059936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Positions are not the primary change. The character value is replaced.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2880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9202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SUBSTITUTION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0068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 Substitution Process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857232" y="1828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3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PANTECH SOLUTIONS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857232" y="457200"/>
            <a:ext cx="182880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2700">
            <a:solidFill>
              <a:srgbClr val="C8D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382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6364224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key or mapping tells the algorithm which replacement to apply to each plaintext symbol.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45952" y="636422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9808" y="1828800"/>
            <a:ext cx="2512314" cy="658368"/>
          </a:xfrm>
          <a:prstGeom prst="roundRect">
            <a:avLst>
              <a:gd name="adj" fmla="val 16667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901952"/>
            <a:ext cx="236601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PLAINTEXT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097530" y="2157984"/>
            <a:ext cx="256032" cy="0"/>
          </a:xfrm>
          <a:prstGeom prst="line">
            <a:avLst/>
          </a:prstGeom>
          <a:noFill/>
          <a:ln w="25400">
            <a:solidFill>
              <a:srgbClr val="8798A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463290" y="1828800"/>
            <a:ext cx="2512314" cy="658368"/>
          </a:xfrm>
          <a:prstGeom prst="roundRect">
            <a:avLst>
              <a:gd name="adj" fmla="val 16667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36442" y="1901952"/>
            <a:ext cx="236601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/ MAPPING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11012" y="2157984"/>
            <a:ext cx="256032" cy="0"/>
          </a:xfrm>
          <a:prstGeom prst="line">
            <a:avLst/>
          </a:prstGeom>
          <a:noFill/>
          <a:ln w="25400">
            <a:solidFill>
              <a:srgbClr val="8798A7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176772" y="1828800"/>
            <a:ext cx="2512314" cy="658368"/>
          </a:xfrm>
          <a:prstGeom prst="roundRect">
            <a:avLst>
              <a:gd name="adj" fmla="val 16667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49670" y="1947545"/>
            <a:ext cx="2381250" cy="4413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SUBSTITUTION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524494" y="2157984"/>
            <a:ext cx="256032" cy="0"/>
          </a:xfrm>
          <a:prstGeom prst="line">
            <a:avLst/>
          </a:prstGeom>
          <a:noFill/>
          <a:ln w="25400">
            <a:solidFill>
              <a:srgbClr val="8798A7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890254" y="1828800"/>
            <a:ext cx="2512314" cy="658368"/>
          </a:xfrm>
          <a:prstGeom prst="roundRect">
            <a:avLst>
              <a:gd name="adj" fmla="val 16667"/>
            </a:avLst>
          </a:prstGeom>
          <a:solidFill>
            <a:srgbClr val="6F4FB3"/>
          </a:solidFill>
          <a:ln w="12700">
            <a:solidFill>
              <a:srgbClr val="6F4FB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3406" y="1901952"/>
            <a:ext cx="236601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CIPHERTEXT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2960" y="3163824"/>
            <a:ext cx="274320" cy="274320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200400"/>
            <a:ext cx="274320" cy="1737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34440" y="3154680"/>
            <a:ext cx="95097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text is available to the algorithm.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22960" y="3666744"/>
            <a:ext cx="274320" cy="274320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3703320"/>
            <a:ext cx="274320" cy="1737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34440" y="3657600"/>
            <a:ext cx="95097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key or mapping defines the replacement rule.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22960" y="4169664"/>
            <a:ext cx="274320" cy="27432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206240"/>
            <a:ext cx="274320" cy="1737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34440" y="4160520"/>
            <a:ext cx="95097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algorithm applies that rule character by character.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22960" y="4672584"/>
            <a:ext cx="274320" cy="27432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4709160"/>
            <a:ext cx="274320" cy="1737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234440" y="4663440"/>
            <a:ext cx="95097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transformed characters form ciphertext.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914400" y="5303520"/>
            <a:ext cx="9601200" cy="585216"/>
          </a:xfrm>
          <a:prstGeom prst="roundRect">
            <a:avLst>
              <a:gd name="adj" fmla="val 18750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4400" y="5303520"/>
            <a:ext cx="73152" cy="585216"/>
          </a:xfrm>
          <a:prstGeom prst="roundRect">
            <a:avLst>
              <a:gd name="adj" fmla="val 150000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78992" y="5385816"/>
            <a:ext cx="9345168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plaintext symbol + same mapping → same ciphertext symbol in a monoalphabetic system.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2880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9202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SUBSTITUTION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0068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Caesar Cipher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857232" y="1828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3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PANTECH SOLUTIONS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857232" y="457200"/>
            <a:ext cx="182880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2700">
            <a:solidFill>
              <a:srgbClr val="C8D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382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6364224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Caesar cipher uses a fixed shift applied to every alphabetic character.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45952" y="636422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1298448"/>
            <a:ext cx="484632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572768"/>
            <a:ext cx="118872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1901952"/>
            <a:ext cx="434340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letter is shifted by a fixed number of positions in the alphabet.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14400" y="2971800"/>
            <a:ext cx="1078992" cy="310896"/>
          </a:xfrm>
          <a:prstGeom prst="roundRect">
            <a:avLst>
              <a:gd name="adj" fmla="val 35294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2980944"/>
            <a:ext cx="98755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= 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3547872"/>
            <a:ext cx="73152" cy="7315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3456432"/>
            <a:ext cx="400507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substitution cipher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4400" y="3895344"/>
            <a:ext cx="73152" cy="7315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9848" y="3803904"/>
            <a:ext cx="400507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shift is used for every letter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14400" y="4242816"/>
            <a:ext cx="73152" cy="7315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4151376"/>
            <a:ext cx="400507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Wrap around after Z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14400" y="4590288"/>
            <a:ext cx="73152" cy="7315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9848" y="4498848"/>
            <a:ext cx="400507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example: Caesar’s military correspondence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897880" y="1298448"/>
            <a:ext cx="5440680" cy="1874520"/>
          </a:xfrm>
          <a:prstGeom prst="roundRect">
            <a:avLst>
              <a:gd name="adj" fmla="val 585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1828800"/>
            <a:ext cx="47091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 B  C  D  E  F  G  H  I  J  K  L  M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6217920" y="2267712"/>
            <a:ext cx="47091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5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  E  F  G  H  I  J  K  L  M  N  O  P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6080760" y="3657600"/>
            <a:ext cx="5074920" cy="585216"/>
          </a:xfrm>
          <a:prstGeom prst="roundRect">
            <a:avLst>
              <a:gd name="adj" fmla="val 18750"/>
            </a:avLst>
          </a:prstGeom>
          <a:solidFill>
            <a:srgbClr val="E6F8F8"/>
          </a:solidFill>
          <a:ln w="12700">
            <a:solidFill>
              <a:srgbClr val="E6F8F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80760" y="3657600"/>
            <a:ext cx="73152" cy="585216"/>
          </a:xfrm>
          <a:prstGeom prst="roundRect">
            <a:avLst>
              <a:gd name="adj" fmla="val 150000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45352" y="3739896"/>
            <a:ext cx="4818888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Encryption adds 3; decryption subtracts 3.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80760" y="4526280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080760" y="4828032"/>
            <a:ext cx="425196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HELLO → KHOOR</a:t>
            </a:r>
            <a:endParaRPr lang="en-US" sz="2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2880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9202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SUBSTITUTION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0068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Caesar Cipher Alphabet Diagram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857232" y="1828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3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PANTECH SOLUTIONS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857232" y="457200"/>
            <a:ext cx="182880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2700">
            <a:solidFill>
              <a:srgbClr val="C8D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382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6364224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key 3, A maps to D, B maps to E, and so on.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45952" y="636422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1371600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 ALPHABET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508760" y="1307592"/>
            <a:ext cx="357319" cy="402336"/>
          </a:xfrm>
          <a:prstGeom prst="roundRect">
            <a:avLst>
              <a:gd name="adj" fmla="val 30709"/>
            </a:avLst>
          </a:prstGeom>
          <a:solidFill>
            <a:srgbClr val="FFF5E2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08760" y="1344168"/>
            <a:ext cx="35731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79795" y="1307592"/>
            <a:ext cx="357319" cy="402336"/>
          </a:xfrm>
          <a:prstGeom prst="roundRect">
            <a:avLst>
              <a:gd name="adj" fmla="val 30709"/>
            </a:avLst>
          </a:prstGeom>
          <a:solidFill>
            <a:srgbClr val="FFF5E2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79795" y="1344168"/>
            <a:ext cx="35731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50831" y="1307592"/>
            <a:ext cx="357319" cy="402336"/>
          </a:xfrm>
          <a:prstGeom prst="roundRect">
            <a:avLst>
              <a:gd name="adj" fmla="val 30709"/>
            </a:avLst>
          </a:prstGeom>
          <a:solidFill>
            <a:srgbClr val="FFF5E2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50831" y="1344168"/>
            <a:ext cx="35731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21866" y="1307592"/>
            <a:ext cx="357319" cy="402336"/>
          </a:xfrm>
          <a:prstGeom prst="roundRect">
            <a:avLst>
              <a:gd name="adj" fmla="val 30709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21866" y="1344168"/>
            <a:ext cx="35731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992902" y="1307592"/>
            <a:ext cx="357319" cy="402336"/>
          </a:xfrm>
          <a:prstGeom prst="roundRect">
            <a:avLst>
              <a:gd name="adj" fmla="val 30709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92902" y="1344168"/>
            <a:ext cx="35731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63937" y="1307592"/>
            <a:ext cx="357319" cy="402336"/>
          </a:xfrm>
          <a:prstGeom prst="roundRect">
            <a:avLst>
              <a:gd name="adj" fmla="val 30709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63937" y="1344168"/>
            <a:ext cx="35731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734972" y="1307592"/>
            <a:ext cx="357319" cy="402336"/>
          </a:xfrm>
          <a:prstGeom prst="roundRect">
            <a:avLst>
              <a:gd name="adj" fmla="val 30709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34972" y="1344168"/>
            <a:ext cx="35731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06008" y="1307592"/>
            <a:ext cx="357319" cy="402336"/>
          </a:xfrm>
          <a:prstGeom prst="roundRect">
            <a:avLst>
              <a:gd name="adj" fmla="val 30709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06008" y="1344168"/>
            <a:ext cx="35731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477043" y="1307592"/>
            <a:ext cx="357319" cy="402336"/>
          </a:xfrm>
          <a:prstGeom prst="roundRect">
            <a:avLst>
              <a:gd name="adj" fmla="val 30709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77043" y="1344168"/>
            <a:ext cx="35731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8078" y="1307592"/>
            <a:ext cx="357319" cy="402336"/>
          </a:xfrm>
          <a:prstGeom prst="roundRect">
            <a:avLst>
              <a:gd name="adj" fmla="val 30709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8078" y="1344168"/>
            <a:ext cx="35731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219114" y="1307592"/>
            <a:ext cx="357319" cy="402336"/>
          </a:xfrm>
          <a:prstGeom prst="roundRect">
            <a:avLst>
              <a:gd name="adj" fmla="val 30709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9114" y="1344168"/>
            <a:ext cx="35731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590149" y="1307592"/>
            <a:ext cx="357319" cy="402336"/>
          </a:xfrm>
          <a:prstGeom prst="roundRect">
            <a:avLst>
              <a:gd name="adj" fmla="val 30709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90149" y="1344168"/>
            <a:ext cx="35731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961185" y="1307592"/>
            <a:ext cx="357319" cy="402336"/>
          </a:xfrm>
          <a:prstGeom prst="roundRect">
            <a:avLst>
              <a:gd name="adj" fmla="val 30709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61185" y="1344168"/>
            <a:ext cx="35731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32220" y="1307592"/>
            <a:ext cx="357319" cy="402336"/>
          </a:xfrm>
          <a:prstGeom prst="roundRect">
            <a:avLst>
              <a:gd name="adj" fmla="val 30709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32220" y="1344168"/>
            <a:ext cx="35731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703255" y="1307592"/>
            <a:ext cx="357319" cy="402336"/>
          </a:xfrm>
          <a:prstGeom prst="roundRect">
            <a:avLst>
              <a:gd name="adj" fmla="val 30709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03255" y="1344168"/>
            <a:ext cx="35731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074291" y="1307592"/>
            <a:ext cx="357319" cy="402336"/>
          </a:xfrm>
          <a:prstGeom prst="roundRect">
            <a:avLst>
              <a:gd name="adj" fmla="val 30709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74291" y="1344168"/>
            <a:ext cx="35731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445326" y="1307592"/>
            <a:ext cx="357319" cy="402336"/>
          </a:xfrm>
          <a:prstGeom prst="roundRect">
            <a:avLst>
              <a:gd name="adj" fmla="val 30709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45326" y="1344168"/>
            <a:ext cx="35731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816362" y="1307592"/>
            <a:ext cx="357319" cy="402336"/>
          </a:xfrm>
          <a:prstGeom prst="roundRect">
            <a:avLst>
              <a:gd name="adj" fmla="val 30709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816362" y="1344168"/>
            <a:ext cx="35731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187397" y="1307592"/>
            <a:ext cx="357319" cy="402336"/>
          </a:xfrm>
          <a:prstGeom prst="roundRect">
            <a:avLst>
              <a:gd name="adj" fmla="val 30709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87397" y="1344168"/>
            <a:ext cx="35731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558432" y="1307592"/>
            <a:ext cx="357319" cy="402336"/>
          </a:xfrm>
          <a:prstGeom prst="roundRect">
            <a:avLst>
              <a:gd name="adj" fmla="val 30709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558432" y="1344168"/>
            <a:ext cx="35731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929468" y="1307592"/>
            <a:ext cx="357319" cy="402336"/>
          </a:xfrm>
          <a:prstGeom prst="roundRect">
            <a:avLst>
              <a:gd name="adj" fmla="val 30709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929468" y="1344168"/>
            <a:ext cx="35731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9300503" y="1307592"/>
            <a:ext cx="357319" cy="402336"/>
          </a:xfrm>
          <a:prstGeom prst="roundRect">
            <a:avLst>
              <a:gd name="adj" fmla="val 30709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300503" y="1344168"/>
            <a:ext cx="35731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9671538" y="1307592"/>
            <a:ext cx="357319" cy="402336"/>
          </a:xfrm>
          <a:prstGeom prst="roundRect">
            <a:avLst>
              <a:gd name="adj" fmla="val 30709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671538" y="1344168"/>
            <a:ext cx="35731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10042574" y="1307592"/>
            <a:ext cx="357319" cy="402336"/>
          </a:xfrm>
          <a:prstGeom prst="roundRect">
            <a:avLst>
              <a:gd name="adj" fmla="val 30709"/>
            </a:avLst>
          </a:prstGeom>
          <a:solidFill>
            <a:srgbClr val="FFF5E2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042574" y="1344168"/>
            <a:ext cx="35731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0413609" y="1307592"/>
            <a:ext cx="357319" cy="402336"/>
          </a:xfrm>
          <a:prstGeom prst="roundRect">
            <a:avLst>
              <a:gd name="adj" fmla="val 30709"/>
            </a:avLst>
          </a:prstGeom>
          <a:solidFill>
            <a:srgbClr val="FFF5E2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413609" y="1344168"/>
            <a:ext cx="35731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10784645" y="1307592"/>
            <a:ext cx="357319" cy="402336"/>
          </a:xfrm>
          <a:prstGeom prst="roundRect">
            <a:avLst>
              <a:gd name="adj" fmla="val 30709"/>
            </a:avLst>
          </a:prstGeom>
          <a:solidFill>
            <a:srgbClr val="FFF5E2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784645" y="1344168"/>
            <a:ext cx="35731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1508760" y="1755648"/>
            <a:ext cx="357319" cy="402336"/>
          </a:xfrm>
          <a:prstGeom prst="roundRect">
            <a:avLst>
              <a:gd name="adj" fmla="val 30709"/>
            </a:avLst>
          </a:prstGeom>
          <a:solidFill>
            <a:srgbClr val="E6F8F8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508760" y="1792224"/>
            <a:ext cx="35731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1879795" y="1755648"/>
            <a:ext cx="357319" cy="402336"/>
          </a:xfrm>
          <a:prstGeom prst="roundRect">
            <a:avLst>
              <a:gd name="adj" fmla="val 30709"/>
            </a:avLst>
          </a:prstGeom>
          <a:solidFill>
            <a:srgbClr val="E6F8F8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879795" y="1792224"/>
            <a:ext cx="35731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2250831" y="1755648"/>
            <a:ext cx="357319" cy="402336"/>
          </a:xfrm>
          <a:prstGeom prst="roundRect">
            <a:avLst>
              <a:gd name="adj" fmla="val 30709"/>
            </a:avLst>
          </a:prstGeom>
          <a:solidFill>
            <a:srgbClr val="E6F8F8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250831" y="1792224"/>
            <a:ext cx="35731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2621866" y="1755648"/>
            <a:ext cx="357319" cy="402336"/>
          </a:xfrm>
          <a:prstGeom prst="roundRect">
            <a:avLst>
              <a:gd name="adj" fmla="val 30709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621866" y="1792224"/>
            <a:ext cx="35731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2992902" y="1755648"/>
            <a:ext cx="357319" cy="402336"/>
          </a:xfrm>
          <a:prstGeom prst="roundRect">
            <a:avLst>
              <a:gd name="adj" fmla="val 30709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992902" y="1792224"/>
            <a:ext cx="35731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363937" y="1755648"/>
            <a:ext cx="357319" cy="402336"/>
          </a:xfrm>
          <a:prstGeom prst="roundRect">
            <a:avLst>
              <a:gd name="adj" fmla="val 30709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363937" y="1792224"/>
            <a:ext cx="35731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3734972" y="1755648"/>
            <a:ext cx="357319" cy="402336"/>
          </a:xfrm>
          <a:prstGeom prst="roundRect">
            <a:avLst>
              <a:gd name="adj" fmla="val 30709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734972" y="1792224"/>
            <a:ext cx="35731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4106008" y="1755648"/>
            <a:ext cx="357319" cy="402336"/>
          </a:xfrm>
          <a:prstGeom prst="roundRect">
            <a:avLst>
              <a:gd name="adj" fmla="val 30709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106008" y="1792224"/>
            <a:ext cx="35731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4477043" y="1755648"/>
            <a:ext cx="357319" cy="402336"/>
          </a:xfrm>
          <a:prstGeom prst="roundRect">
            <a:avLst>
              <a:gd name="adj" fmla="val 30709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477043" y="1792224"/>
            <a:ext cx="35731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4848078" y="1755648"/>
            <a:ext cx="357319" cy="402336"/>
          </a:xfrm>
          <a:prstGeom prst="roundRect">
            <a:avLst>
              <a:gd name="adj" fmla="val 30709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848078" y="1792224"/>
            <a:ext cx="35731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5219114" y="1755648"/>
            <a:ext cx="357319" cy="402336"/>
          </a:xfrm>
          <a:prstGeom prst="roundRect">
            <a:avLst>
              <a:gd name="adj" fmla="val 30709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219114" y="1792224"/>
            <a:ext cx="35731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5590149" y="1755648"/>
            <a:ext cx="357319" cy="402336"/>
          </a:xfrm>
          <a:prstGeom prst="roundRect">
            <a:avLst>
              <a:gd name="adj" fmla="val 30709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590149" y="1792224"/>
            <a:ext cx="35731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5961185" y="1755648"/>
            <a:ext cx="357319" cy="402336"/>
          </a:xfrm>
          <a:prstGeom prst="roundRect">
            <a:avLst>
              <a:gd name="adj" fmla="val 30709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961185" y="1792224"/>
            <a:ext cx="35731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6332220" y="1755648"/>
            <a:ext cx="357319" cy="402336"/>
          </a:xfrm>
          <a:prstGeom prst="roundRect">
            <a:avLst>
              <a:gd name="adj" fmla="val 30709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332220" y="1792224"/>
            <a:ext cx="35731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6703255" y="1755648"/>
            <a:ext cx="357319" cy="402336"/>
          </a:xfrm>
          <a:prstGeom prst="roundRect">
            <a:avLst>
              <a:gd name="adj" fmla="val 30709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703255" y="1792224"/>
            <a:ext cx="35731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7074291" y="1755648"/>
            <a:ext cx="357319" cy="402336"/>
          </a:xfrm>
          <a:prstGeom prst="roundRect">
            <a:avLst>
              <a:gd name="adj" fmla="val 30709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074291" y="1792224"/>
            <a:ext cx="35731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7445326" y="1755648"/>
            <a:ext cx="357319" cy="402336"/>
          </a:xfrm>
          <a:prstGeom prst="roundRect">
            <a:avLst>
              <a:gd name="adj" fmla="val 30709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445326" y="1792224"/>
            <a:ext cx="35731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7816362" y="1755648"/>
            <a:ext cx="357319" cy="402336"/>
          </a:xfrm>
          <a:prstGeom prst="roundRect">
            <a:avLst>
              <a:gd name="adj" fmla="val 30709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816362" y="1792224"/>
            <a:ext cx="35731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8187397" y="1755648"/>
            <a:ext cx="357319" cy="402336"/>
          </a:xfrm>
          <a:prstGeom prst="roundRect">
            <a:avLst>
              <a:gd name="adj" fmla="val 30709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187397" y="1792224"/>
            <a:ext cx="35731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8558432" y="1755648"/>
            <a:ext cx="357319" cy="402336"/>
          </a:xfrm>
          <a:prstGeom prst="roundRect">
            <a:avLst>
              <a:gd name="adj" fmla="val 30709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558432" y="1792224"/>
            <a:ext cx="35731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8929468" y="1755648"/>
            <a:ext cx="357319" cy="402336"/>
          </a:xfrm>
          <a:prstGeom prst="roundRect">
            <a:avLst>
              <a:gd name="adj" fmla="val 30709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8929468" y="1792224"/>
            <a:ext cx="35731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9300503" y="1755648"/>
            <a:ext cx="357319" cy="402336"/>
          </a:xfrm>
          <a:prstGeom prst="roundRect">
            <a:avLst>
              <a:gd name="adj" fmla="val 30709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9300503" y="1792224"/>
            <a:ext cx="35731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9671538" y="1755648"/>
            <a:ext cx="357319" cy="402336"/>
          </a:xfrm>
          <a:prstGeom prst="roundRect">
            <a:avLst>
              <a:gd name="adj" fmla="val 30709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9671538" y="1792224"/>
            <a:ext cx="35731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10042574" y="1755648"/>
            <a:ext cx="357319" cy="402336"/>
          </a:xfrm>
          <a:prstGeom prst="roundRect">
            <a:avLst>
              <a:gd name="adj" fmla="val 30709"/>
            </a:avLst>
          </a:prstGeom>
          <a:solidFill>
            <a:srgbClr val="E6F8F8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0042574" y="1792224"/>
            <a:ext cx="35731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10413609" y="1755648"/>
            <a:ext cx="357319" cy="402336"/>
          </a:xfrm>
          <a:prstGeom prst="roundRect">
            <a:avLst>
              <a:gd name="adj" fmla="val 30709"/>
            </a:avLst>
          </a:prstGeom>
          <a:solidFill>
            <a:srgbClr val="E6F8F8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0413609" y="1792224"/>
            <a:ext cx="35731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10784645" y="1755648"/>
            <a:ext cx="357319" cy="402336"/>
          </a:xfrm>
          <a:prstGeom prst="roundRect">
            <a:avLst>
              <a:gd name="adj" fmla="val 30709"/>
            </a:avLst>
          </a:prstGeom>
          <a:solidFill>
            <a:srgbClr val="E6F8F8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0784645" y="1792224"/>
            <a:ext cx="357319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000" dirty="0"/>
          </a:p>
        </p:txBody>
      </p:sp>
      <p:sp>
        <p:nvSpPr>
          <p:cNvPr id="116" name="Text 114"/>
          <p:cNvSpPr/>
          <p:nvPr/>
        </p:nvSpPr>
        <p:spPr>
          <a:xfrm>
            <a:off x="1069848" y="1344168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</a:t>
            </a:r>
            <a:endParaRPr lang="en-US" sz="900" dirty="0"/>
          </a:p>
        </p:txBody>
      </p:sp>
      <p:sp>
        <p:nvSpPr>
          <p:cNvPr id="117" name="Text 115"/>
          <p:cNvSpPr/>
          <p:nvPr/>
        </p:nvSpPr>
        <p:spPr>
          <a:xfrm>
            <a:off x="1069848" y="1792224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3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841248" y="2322576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CIPHER ALPHABET</a:t>
            </a:r>
            <a:endParaRPr lang="en-US" sz="1100" dirty="0"/>
          </a:p>
        </p:txBody>
      </p:sp>
      <p:sp>
        <p:nvSpPr>
          <p:cNvPr id="119" name="Shape 117"/>
          <p:cNvSpPr/>
          <p:nvPr/>
        </p:nvSpPr>
        <p:spPr>
          <a:xfrm>
            <a:off x="822960" y="2880360"/>
            <a:ext cx="105613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143000" y="3145536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mapping</a:t>
            </a:r>
            <a:endParaRPr lang="en-US" sz="1100" dirty="0"/>
          </a:p>
        </p:txBody>
      </p:sp>
      <p:sp>
        <p:nvSpPr>
          <p:cNvPr id="121" name="Shape 119"/>
          <p:cNvSpPr/>
          <p:nvPr/>
        </p:nvSpPr>
        <p:spPr>
          <a:xfrm>
            <a:off x="1143000" y="3584448"/>
            <a:ext cx="2057400" cy="384048"/>
          </a:xfrm>
          <a:prstGeom prst="roundRect">
            <a:avLst>
              <a:gd name="adj" fmla="val 28571"/>
            </a:avLst>
          </a:prstGeom>
          <a:solidFill>
            <a:srgbClr val="E6F8F8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1143000" y="3639312"/>
            <a:ext cx="205740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→ D</a:t>
            </a:r>
            <a:endParaRPr lang="en-US" sz="1500" dirty="0"/>
          </a:p>
        </p:txBody>
      </p:sp>
      <p:sp>
        <p:nvSpPr>
          <p:cNvPr id="123" name="Shape 121"/>
          <p:cNvSpPr/>
          <p:nvPr/>
        </p:nvSpPr>
        <p:spPr>
          <a:xfrm>
            <a:off x="3566160" y="3584448"/>
            <a:ext cx="2057400" cy="384048"/>
          </a:xfrm>
          <a:prstGeom prst="roundRect">
            <a:avLst>
              <a:gd name="adj" fmla="val 28571"/>
            </a:avLst>
          </a:prstGeom>
          <a:solidFill>
            <a:srgbClr val="E6F8F8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3566160" y="3639312"/>
            <a:ext cx="205740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→ E</a:t>
            </a:r>
            <a:endParaRPr lang="en-US" sz="1500" dirty="0"/>
          </a:p>
        </p:txBody>
      </p:sp>
      <p:sp>
        <p:nvSpPr>
          <p:cNvPr id="125" name="Shape 123"/>
          <p:cNvSpPr/>
          <p:nvPr/>
        </p:nvSpPr>
        <p:spPr>
          <a:xfrm>
            <a:off x="5989320" y="3584448"/>
            <a:ext cx="2057400" cy="384048"/>
          </a:xfrm>
          <a:prstGeom prst="roundRect">
            <a:avLst>
              <a:gd name="adj" fmla="val 28571"/>
            </a:avLst>
          </a:prstGeom>
          <a:solidFill>
            <a:srgbClr val="E6F8F8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989320" y="3639312"/>
            <a:ext cx="205740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→ F</a:t>
            </a:r>
            <a:endParaRPr lang="en-US" sz="1500" dirty="0"/>
          </a:p>
        </p:txBody>
      </p:sp>
      <p:sp>
        <p:nvSpPr>
          <p:cNvPr id="127" name="Shape 125"/>
          <p:cNvSpPr/>
          <p:nvPr/>
        </p:nvSpPr>
        <p:spPr>
          <a:xfrm>
            <a:off x="8412480" y="3584448"/>
            <a:ext cx="2057400" cy="384048"/>
          </a:xfrm>
          <a:prstGeom prst="roundRect">
            <a:avLst>
              <a:gd name="adj" fmla="val 28571"/>
            </a:avLst>
          </a:prstGeom>
          <a:solidFill>
            <a:srgbClr val="E6F8F8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8412480" y="3639312"/>
            <a:ext cx="205740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 → G</a:t>
            </a:r>
            <a:endParaRPr lang="en-US" sz="1500" dirty="0"/>
          </a:p>
        </p:txBody>
      </p:sp>
      <p:sp>
        <p:nvSpPr>
          <p:cNvPr id="129" name="Shape 127"/>
          <p:cNvSpPr/>
          <p:nvPr/>
        </p:nvSpPr>
        <p:spPr>
          <a:xfrm>
            <a:off x="1143000" y="4096512"/>
            <a:ext cx="2057400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143000" y="4151376"/>
            <a:ext cx="205740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…</a:t>
            </a:r>
            <a:endParaRPr lang="en-US" sz="1500" dirty="0"/>
          </a:p>
        </p:txBody>
      </p:sp>
      <p:sp>
        <p:nvSpPr>
          <p:cNvPr id="131" name="Shape 129"/>
          <p:cNvSpPr/>
          <p:nvPr/>
        </p:nvSpPr>
        <p:spPr>
          <a:xfrm>
            <a:off x="3566160" y="4096512"/>
            <a:ext cx="2057400" cy="384048"/>
          </a:xfrm>
          <a:prstGeom prst="roundRect">
            <a:avLst>
              <a:gd name="adj" fmla="val 28571"/>
            </a:avLst>
          </a:prstGeom>
          <a:solidFill>
            <a:srgbClr val="E6F8F8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3566160" y="4151376"/>
            <a:ext cx="205740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→ A</a:t>
            </a:r>
            <a:endParaRPr lang="en-US" sz="1500" dirty="0"/>
          </a:p>
        </p:txBody>
      </p:sp>
      <p:sp>
        <p:nvSpPr>
          <p:cNvPr id="133" name="Shape 131"/>
          <p:cNvSpPr/>
          <p:nvPr/>
        </p:nvSpPr>
        <p:spPr>
          <a:xfrm>
            <a:off x="5989320" y="4096512"/>
            <a:ext cx="2057400" cy="384048"/>
          </a:xfrm>
          <a:prstGeom prst="roundRect">
            <a:avLst>
              <a:gd name="adj" fmla="val 28571"/>
            </a:avLst>
          </a:prstGeom>
          <a:solidFill>
            <a:srgbClr val="E6F8F8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5989320" y="4151376"/>
            <a:ext cx="205740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→ B</a:t>
            </a:r>
            <a:endParaRPr lang="en-US" sz="1500" dirty="0"/>
          </a:p>
        </p:txBody>
      </p:sp>
      <p:sp>
        <p:nvSpPr>
          <p:cNvPr id="135" name="Shape 133"/>
          <p:cNvSpPr/>
          <p:nvPr/>
        </p:nvSpPr>
        <p:spPr>
          <a:xfrm>
            <a:off x="8412480" y="4096512"/>
            <a:ext cx="2057400" cy="384048"/>
          </a:xfrm>
          <a:prstGeom prst="roundRect">
            <a:avLst>
              <a:gd name="adj" fmla="val 28571"/>
            </a:avLst>
          </a:prstGeom>
          <a:solidFill>
            <a:srgbClr val="E6F8F8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8412480" y="4151376"/>
            <a:ext cx="205740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 → C</a:t>
            </a:r>
            <a:endParaRPr lang="en-US" sz="1500" dirty="0"/>
          </a:p>
        </p:txBody>
      </p:sp>
      <p:sp>
        <p:nvSpPr>
          <p:cNvPr id="137" name="Shape 135"/>
          <p:cNvSpPr/>
          <p:nvPr/>
        </p:nvSpPr>
        <p:spPr>
          <a:xfrm>
            <a:off x="1143000" y="5010912"/>
            <a:ext cx="9509760" cy="585216"/>
          </a:xfrm>
          <a:prstGeom prst="roundRect">
            <a:avLst>
              <a:gd name="adj" fmla="val 18750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143000" y="5010912"/>
            <a:ext cx="73152" cy="585216"/>
          </a:xfrm>
          <a:prstGeom prst="roundRect">
            <a:avLst>
              <a:gd name="adj" fmla="val 150000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1307592" y="5093208"/>
            <a:ext cx="9253728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wrap-around from X → A, Y → B, Z → C is what “mod 26” captures mathematically.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2880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9202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SUBSTITUTION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0068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Caesar Encryption Step-by-Step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857232" y="1828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3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PANTECH SOLUTIONS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857232" y="457200"/>
            <a:ext cx="182880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2700">
            <a:solidFill>
              <a:srgbClr val="C8D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382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6364224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example: HELLO with key 3 produces KHOOR.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45952" y="636422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1280160"/>
            <a:ext cx="2011680" cy="310896"/>
          </a:xfrm>
          <a:prstGeom prst="roundRect">
            <a:avLst>
              <a:gd name="adj" fmla="val 3529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289304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PLAINTEXT = HELLO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63240" y="1280160"/>
            <a:ext cx="1188720" cy="310896"/>
          </a:xfrm>
          <a:prstGeom prst="roundRect">
            <a:avLst>
              <a:gd name="adj" fmla="val 35294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1289304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= 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60120" y="2011680"/>
            <a:ext cx="1005840" cy="621792"/>
          </a:xfrm>
          <a:prstGeom prst="roundRect">
            <a:avLst>
              <a:gd name="adj" fmla="val 17647"/>
            </a:avLst>
          </a:prstGeom>
          <a:solidFill>
            <a:srgbClr val="EAF1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213969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463040" y="2670048"/>
            <a:ext cx="0" cy="329184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60120" y="2770632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60120" y="3090672"/>
            <a:ext cx="1005840" cy="621792"/>
          </a:xfrm>
          <a:prstGeom prst="roundRect">
            <a:avLst>
              <a:gd name="adj" fmla="val 17647"/>
            </a:avLst>
          </a:prstGeom>
          <a:solidFill>
            <a:srgbClr val="E6F8F8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218688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3108960" y="2011680"/>
            <a:ext cx="1005840" cy="621792"/>
          </a:xfrm>
          <a:prstGeom prst="roundRect">
            <a:avLst>
              <a:gd name="adj" fmla="val 17647"/>
            </a:avLst>
          </a:prstGeom>
          <a:solidFill>
            <a:srgbClr val="EAF1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0" y="213969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3611880" y="2670048"/>
            <a:ext cx="0" cy="329184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3108960" y="2770632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108960" y="3090672"/>
            <a:ext cx="1005840" cy="621792"/>
          </a:xfrm>
          <a:prstGeom prst="roundRect">
            <a:avLst>
              <a:gd name="adj" fmla="val 17647"/>
            </a:avLst>
          </a:prstGeom>
          <a:solidFill>
            <a:srgbClr val="E6F8F8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8960" y="3218688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5257800" y="2011680"/>
            <a:ext cx="1005840" cy="621792"/>
          </a:xfrm>
          <a:prstGeom prst="roundRect">
            <a:avLst>
              <a:gd name="adj" fmla="val 17647"/>
            </a:avLst>
          </a:prstGeom>
          <a:solidFill>
            <a:srgbClr val="EAF1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57800" y="213969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5760720" y="2670048"/>
            <a:ext cx="0" cy="329184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5257800" y="2770632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257800" y="3090672"/>
            <a:ext cx="1005840" cy="621792"/>
          </a:xfrm>
          <a:prstGeom prst="roundRect">
            <a:avLst>
              <a:gd name="adj" fmla="val 17647"/>
            </a:avLst>
          </a:prstGeom>
          <a:solidFill>
            <a:srgbClr val="E6F8F8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57800" y="3218688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7406640" y="2011680"/>
            <a:ext cx="1005840" cy="621792"/>
          </a:xfrm>
          <a:prstGeom prst="roundRect">
            <a:avLst>
              <a:gd name="adj" fmla="val 17647"/>
            </a:avLst>
          </a:prstGeom>
          <a:solidFill>
            <a:srgbClr val="EAF1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06640" y="213969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7909560" y="2670048"/>
            <a:ext cx="0" cy="329184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7406640" y="2770632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406640" y="3090672"/>
            <a:ext cx="1005840" cy="621792"/>
          </a:xfrm>
          <a:prstGeom prst="roundRect">
            <a:avLst>
              <a:gd name="adj" fmla="val 17647"/>
            </a:avLst>
          </a:prstGeom>
          <a:solidFill>
            <a:srgbClr val="E6F8F8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06640" y="3218688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9555480" y="2011680"/>
            <a:ext cx="1005840" cy="621792"/>
          </a:xfrm>
          <a:prstGeom prst="roundRect">
            <a:avLst>
              <a:gd name="adj" fmla="val 17647"/>
            </a:avLst>
          </a:prstGeom>
          <a:solidFill>
            <a:srgbClr val="EAF1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555480" y="213969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10058400" y="2670048"/>
            <a:ext cx="0" cy="329184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9555480" y="2770632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555480" y="3090672"/>
            <a:ext cx="1005840" cy="621792"/>
          </a:xfrm>
          <a:prstGeom prst="roundRect">
            <a:avLst>
              <a:gd name="adj" fmla="val 17647"/>
            </a:avLst>
          </a:prstGeom>
          <a:solidFill>
            <a:srgbClr val="E6F8F8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555480" y="3218688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960120" y="4096512"/>
            <a:ext cx="992124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 → K   E → H   L → O   L → O   O → R</a:t>
            </a:r>
            <a:endParaRPr lang="en-US" sz="1900" dirty="0"/>
          </a:p>
        </p:txBody>
      </p:sp>
      <p:sp>
        <p:nvSpPr>
          <p:cNvPr id="46" name="Shape 44"/>
          <p:cNvSpPr/>
          <p:nvPr/>
        </p:nvSpPr>
        <p:spPr>
          <a:xfrm>
            <a:off x="1965960" y="4828032"/>
            <a:ext cx="7818120" cy="585216"/>
          </a:xfrm>
          <a:prstGeom prst="roundRect">
            <a:avLst>
              <a:gd name="adj" fmla="val 18750"/>
            </a:avLst>
          </a:prstGeom>
          <a:solidFill>
            <a:srgbClr val="E6F8F8"/>
          </a:solidFill>
          <a:ln w="12700">
            <a:solidFill>
              <a:srgbClr val="E6F8F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65960" y="4828032"/>
            <a:ext cx="73152" cy="585216"/>
          </a:xfrm>
          <a:prstGeom prst="roundRect">
            <a:avLst>
              <a:gd name="adj" fmla="val 150000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30552" y="4910328"/>
            <a:ext cx="7562088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CIPHERTEXT: KHOOR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2880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9202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SUBSTITUTION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0068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Caesar Decryption Step-by-Step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857232" y="1828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3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PANTECH SOLUTIONS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857232" y="457200"/>
            <a:ext cx="182880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2700">
            <a:solidFill>
              <a:srgbClr val="C8D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382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6364224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Decryption reverses the shift: subtract 3 from each ciphertext letter.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45952" y="636422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1280160"/>
            <a:ext cx="2194560" cy="310896"/>
          </a:xfrm>
          <a:prstGeom prst="roundRect">
            <a:avLst>
              <a:gd name="adj" fmla="val 35294"/>
            </a:avLst>
          </a:prstGeom>
          <a:solidFill>
            <a:srgbClr val="6F4FB3"/>
          </a:solidFill>
          <a:ln w="12700">
            <a:solidFill>
              <a:srgbClr val="6F4FB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289304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CIPHERTEXT = KHOOR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1280160"/>
            <a:ext cx="1188720" cy="310896"/>
          </a:xfrm>
          <a:prstGeom prst="roundRect">
            <a:avLst>
              <a:gd name="adj" fmla="val 35294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89304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= 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60120" y="2011680"/>
            <a:ext cx="1005840" cy="621792"/>
          </a:xfrm>
          <a:prstGeom prst="roundRect">
            <a:avLst>
              <a:gd name="adj" fmla="val 17647"/>
            </a:avLst>
          </a:prstGeom>
          <a:solidFill>
            <a:srgbClr val="F0EAFE"/>
          </a:solidFill>
          <a:ln w="12700">
            <a:solidFill>
              <a:srgbClr val="6F4FB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213969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463040" y="2670048"/>
            <a:ext cx="0" cy="329184"/>
          </a:xfrm>
          <a:prstGeom prst="line">
            <a:avLst/>
          </a:prstGeom>
          <a:noFill/>
          <a:ln w="25400">
            <a:solidFill>
              <a:srgbClr val="6F4FB3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60120" y="2770632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F4F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60120" y="3090672"/>
            <a:ext cx="1005840" cy="621792"/>
          </a:xfrm>
          <a:prstGeom prst="roundRect">
            <a:avLst>
              <a:gd name="adj" fmla="val 17647"/>
            </a:avLst>
          </a:prstGeom>
          <a:solidFill>
            <a:srgbClr val="E6F8F8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218688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3108960" y="2011680"/>
            <a:ext cx="1005840" cy="621792"/>
          </a:xfrm>
          <a:prstGeom prst="roundRect">
            <a:avLst>
              <a:gd name="adj" fmla="val 17647"/>
            </a:avLst>
          </a:prstGeom>
          <a:solidFill>
            <a:srgbClr val="F0EAFE"/>
          </a:solidFill>
          <a:ln w="12700">
            <a:solidFill>
              <a:srgbClr val="6F4FB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0" y="213969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3611880" y="2670048"/>
            <a:ext cx="0" cy="329184"/>
          </a:xfrm>
          <a:prstGeom prst="line">
            <a:avLst/>
          </a:prstGeom>
          <a:noFill/>
          <a:ln w="25400">
            <a:solidFill>
              <a:srgbClr val="6F4FB3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3108960" y="2770632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F4F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108960" y="3090672"/>
            <a:ext cx="1005840" cy="621792"/>
          </a:xfrm>
          <a:prstGeom prst="roundRect">
            <a:avLst>
              <a:gd name="adj" fmla="val 17647"/>
            </a:avLst>
          </a:prstGeom>
          <a:solidFill>
            <a:srgbClr val="E6F8F8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8960" y="3218688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5257800" y="2011680"/>
            <a:ext cx="1005840" cy="621792"/>
          </a:xfrm>
          <a:prstGeom prst="roundRect">
            <a:avLst>
              <a:gd name="adj" fmla="val 17647"/>
            </a:avLst>
          </a:prstGeom>
          <a:solidFill>
            <a:srgbClr val="F0EAFE"/>
          </a:solidFill>
          <a:ln w="12700">
            <a:solidFill>
              <a:srgbClr val="6F4FB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57800" y="213969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5760720" y="2670048"/>
            <a:ext cx="0" cy="329184"/>
          </a:xfrm>
          <a:prstGeom prst="line">
            <a:avLst/>
          </a:prstGeom>
          <a:noFill/>
          <a:ln w="25400">
            <a:solidFill>
              <a:srgbClr val="6F4FB3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5257800" y="2770632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F4F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−3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257800" y="3090672"/>
            <a:ext cx="1005840" cy="621792"/>
          </a:xfrm>
          <a:prstGeom prst="roundRect">
            <a:avLst>
              <a:gd name="adj" fmla="val 17647"/>
            </a:avLst>
          </a:prstGeom>
          <a:solidFill>
            <a:srgbClr val="E6F8F8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57800" y="3218688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7406640" y="2011680"/>
            <a:ext cx="1005840" cy="621792"/>
          </a:xfrm>
          <a:prstGeom prst="roundRect">
            <a:avLst>
              <a:gd name="adj" fmla="val 17647"/>
            </a:avLst>
          </a:prstGeom>
          <a:solidFill>
            <a:srgbClr val="F0EAFE"/>
          </a:solidFill>
          <a:ln w="12700">
            <a:solidFill>
              <a:srgbClr val="6F4FB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06640" y="213969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7909560" y="2670048"/>
            <a:ext cx="0" cy="329184"/>
          </a:xfrm>
          <a:prstGeom prst="line">
            <a:avLst/>
          </a:prstGeom>
          <a:noFill/>
          <a:ln w="25400">
            <a:solidFill>
              <a:srgbClr val="6F4FB3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7406640" y="2770632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F4F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406640" y="3090672"/>
            <a:ext cx="1005840" cy="621792"/>
          </a:xfrm>
          <a:prstGeom prst="roundRect">
            <a:avLst>
              <a:gd name="adj" fmla="val 17647"/>
            </a:avLst>
          </a:prstGeom>
          <a:solidFill>
            <a:srgbClr val="E6F8F8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06640" y="3218688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9555480" y="2011680"/>
            <a:ext cx="1005840" cy="621792"/>
          </a:xfrm>
          <a:prstGeom prst="roundRect">
            <a:avLst>
              <a:gd name="adj" fmla="val 17647"/>
            </a:avLst>
          </a:prstGeom>
          <a:solidFill>
            <a:srgbClr val="F0EAFE"/>
          </a:solidFill>
          <a:ln w="12700">
            <a:solidFill>
              <a:srgbClr val="6F4FB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555480" y="213969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10058400" y="2670048"/>
            <a:ext cx="0" cy="329184"/>
          </a:xfrm>
          <a:prstGeom prst="line">
            <a:avLst/>
          </a:prstGeom>
          <a:noFill/>
          <a:ln w="25400">
            <a:solidFill>
              <a:srgbClr val="6F4FB3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9555480" y="2770632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F4F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−3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555480" y="3090672"/>
            <a:ext cx="1005840" cy="621792"/>
          </a:xfrm>
          <a:prstGeom prst="roundRect">
            <a:avLst>
              <a:gd name="adj" fmla="val 17647"/>
            </a:avLst>
          </a:prstGeom>
          <a:solidFill>
            <a:srgbClr val="E6F8F8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555480" y="3218688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960120" y="4096512"/>
            <a:ext cx="992124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 → H   H → E   O → L   O → L   R → O</a:t>
            </a:r>
            <a:endParaRPr lang="en-US" sz="1900" dirty="0"/>
          </a:p>
        </p:txBody>
      </p:sp>
      <p:sp>
        <p:nvSpPr>
          <p:cNvPr id="46" name="Shape 44"/>
          <p:cNvSpPr/>
          <p:nvPr/>
        </p:nvSpPr>
        <p:spPr>
          <a:xfrm>
            <a:off x="2331720" y="4828032"/>
            <a:ext cx="7086600" cy="585216"/>
          </a:xfrm>
          <a:prstGeom prst="roundRect">
            <a:avLst>
              <a:gd name="adj" fmla="val 18750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331720" y="4828032"/>
            <a:ext cx="73152" cy="585216"/>
          </a:xfrm>
          <a:prstGeom prst="roundRect">
            <a:avLst>
              <a:gd name="adj" fmla="val 150000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96312" y="4910328"/>
            <a:ext cx="6830568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RESULT: HELLO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2880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9202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SUBSTITUTION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0068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Caesar Mathematical Formula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857232" y="1828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3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PANTECH SOLUTIONS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857232" y="457200"/>
            <a:ext cx="182880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2700">
            <a:solidFill>
              <a:srgbClr val="C8D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382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6364224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 26 keeps the shift inside the 26-letter alphabet.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45952" y="636422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9808" y="1325880"/>
            <a:ext cx="5074920" cy="1828800"/>
          </a:xfrm>
          <a:prstGeom prst="roundRect">
            <a:avLst>
              <a:gd name="adj" fmla="val 6000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1627632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5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011680"/>
            <a:ext cx="443484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 = (P + K) mod 26</a:t>
            </a:r>
            <a:endParaRPr lang="en-US" sz="2500" dirty="0"/>
          </a:p>
        </p:txBody>
      </p:sp>
      <p:sp>
        <p:nvSpPr>
          <p:cNvPr id="14" name="Shape 12"/>
          <p:cNvSpPr/>
          <p:nvPr/>
        </p:nvSpPr>
        <p:spPr>
          <a:xfrm>
            <a:off x="6199632" y="1325880"/>
            <a:ext cx="50749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664" y="1627632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F4F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Decryption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55664" y="2011680"/>
            <a:ext cx="443484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B1F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 = (C − K) mod 26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868680" y="352958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Numerical example using A=0, B=1, …, Z=25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388620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 = 7,   K = 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68680" y="4416552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= (7 + 3) mod 26 = 10 = K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355080" y="3886200"/>
            <a:ext cx="4617720" cy="585216"/>
          </a:xfrm>
          <a:prstGeom prst="roundRect">
            <a:avLst>
              <a:gd name="adj" fmla="val 18750"/>
            </a:avLst>
          </a:prstGeom>
          <a:solidFill>
            <a:srgbClr val="E6F8F8"/>
          </a:solidFill>
          <a:ln w="12700">
            <a:solidFill>
              <a:srgbClr val="E6F8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3886200"/>
            <a:ext cx="73152" cy="585216"/>
          </a:xfrm>
          <a:prstGeom prst="roundRect">
            <a:avLst>
              <a:gd name="adj" fmla="val 150000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9672" y="3968496"/>
            <a:ext cx="4361688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“mod 26” operation wraps values back to A–Z.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2880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9202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SUBSTITUTION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0068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Caesar Advantages and Limitations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857232" y="1828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3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PANTECH SOLUTIONS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857232" y="457200"/>
            <a:ext cx="182880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2700">
            <a:solidFill>
              <a:srgbClr val="C8D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382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6364224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Caesar is excellent for teaching substitution, but its key space is tiny.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45952" y="636422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3232" y="1325880"/>
            <a:ext cx="5212080" cy="4389120"/>
          </a:xfrm>
          <a:prstGeom prst="roundRect">
            <a:avLst>
              <a:gd name="adj" fmla="val 2500"/>
            </a:avLst>
          </a:prstGeom>
          <a:solidFill>
            <a:srgbClr val="E7F5EE"/>
          </a:solidFill>
          <a:ln w="12700">
            <a:solidFill>
              <a:srgbClr val="C9EA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162763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ADVANTAGES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50976" y="2176272"/>
            <a:ext cx="73152" cy="7315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06424" y="2084832"/>
            <a:ext cx="432511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50976" y="2523744"/>
            <a:ext cx="73152" cy="7315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06424" y="2432304"/>
            <a:ext cx="432511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to understand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50976" y="2871216"/>
            <a:ext cx="73152" cy="7315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06424" y="2779776"/>
            <a:ext cx="432511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to implement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950976" y="3218688"/>
            <a:ext cx="73152" cy="7315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06424" y="3127248"/>
            <a:ext cx="432511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for learning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199632" y="1325880"/>
            <a:ext cx="5212080" cy="4389120"/>
          </a:xfrm>
          <a:prstGeom prst="roundRect">
            <a:avLst>
              <a:gd name="adj" fmla="val 2500"/>
            </a:avLst>
          </a:prstGeom>
          <a:solidFill>
            <a:srgbClr val="FDECEC"/>
          </a:solidFill>
          <a:ln w="12700">
            <a:solidFill>
              <a:srgbClr val="F1CF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9088" y="162763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83C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28232" y="2176272"/>
            <a:ext cx="73152" cy="73152"/>
          </a:xfrm>
          <a:prstGeom prst="ellipse">
            <a:avLst/>
          </a:prstGeom>
          <a:solidFill>
            <a:srgbClr val="C83C3C"/>
          </a:solidFill>
          <a:ln w="12700">
            <a:solidFill>
              <a:srgbClr val="C83C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2084832"/>
            <a:ext cx="441655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Very small key space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28232" y="2523744"/>
            <a:ext cx="73152" cy="73152"/>
          </a:xfrm>
          <a:prstGeom prst="ellipse">
            <a:avLst/>
          </a:prstGeom>
          <a:solidFill>
            <a:srgbClr val="C83C3C"/>
          </a:solidFill>
          <a:ln w="12700">
            <a:solidFill>
              <a:srgbClr val="C83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2432304"/>
            <a:ext cx="441655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brute-force attack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28232" y="2871216"/>
            <a:ext cx="73152" cy="73152"/>
          </a:xfrm>
          <a:prstGeom prst="ellipse">
            <a:avLst/>
          </a:prstGeom>
          <a:solidFill>
            <a:srgbClr val="C83C3C"/>
          </a:solidFill>
          <a:ln w="12700">
            <a:solidFill>
              <a:srgbClr val="C83C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2779776"/>
            <a:ext cx="441655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secure for modern communication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28232" y="3218688"/>
            <a:ext cx="73152" cy="73152"/>
          </a:xfrm>
          <a:prstGeom prst="ellipse">
            <a:avLst/>
          </a:prstGeom>
          <a:solidFill>
            <a:srgbClr val="C83C3C"/>
          </a:solidFill>
          <a:ln w="12700">
            <a:solidFill>
              <a:srgbClr val="C83C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3127248"/>
            <a:ext cx="441655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 patterns remain visible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28232" y="4498848"/>
            <a:ext cx="452628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83C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practical non-trivial shifts are enough to try every possibility in a basic alphabet model.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2880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9202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SUBSTITUTION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0068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Monoalphabetic Substitution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857232" y="1828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3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PANTECH SOLUTIONS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857232" y="457200"/>
            <a:ext cx="182880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2700">
            <a:solidFill>
              <a:srgbClr val="C8D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382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6364224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monoalphabetic cipher uses one fixed substitution alphabet for the entire message.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45952" y="636422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86384" y="1371600"/>
            <a:ext cx="306324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substitution alphabet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786384" y="1892808"/>
            <a:ext cx="4434840" cy="914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Unlike Caesar, the replacement alphabet can be a scrambled permutation rather than a simple shift.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577840" y="1234440"/>
            <a:ext cx="5650992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70448" y="1517904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full mapping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2057400"/>
            <a:ext cx="167406" cy="402336"/>
          </a:xfrm>
          <a:prstGeom prst="roundRect">
            <a:avLst>
              <a:gd name="adj" fmla="val 65546"/>
            </a:avLst>
          </a:prstGeom>
          <a:solidFill>
            <a:srgbClr val="FFF5E2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2093976"/>
            <a:ext cx="1674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6162" y="2057400"/>
            <a:ext cx="167406" cy="402336"/>
          </a:xfrm>
          <a:prstGeom prst="roundRect">
            <a:avLst>
              <a:gd name="adj" fmla="val 65546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6162" y="2093976"/>
            <a:ext cx="1674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97283" y="2057400"/>
            <a:ext cx="167406" cy="402336"/>
          </a:xfrm>
          <a:prstGeom prst="roundRect">
            <a:avLst>
              <a:gd name="adj" fmla="val 65546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97283" y="2093976"/>
            <a:ext cx="1674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78405" y="2057400"/>
            <a:ext cx="167406" cy="402336"/>
          </a:xfrm>
          <a:prstGeom prst="roundRect">
            <a:avLst>
              <a:gd name="adj" fmla="val 65546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78405" y="2093976"/>
            <a:ext cx="1674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59526" y="2057400"/>
            <a:ext cx="167406" cy="402336"/>
          </a:xfrm>
          <a:prstGeom prst="roundRect">
            <a:avLst>
              <a:gd name="adj" fmla="val 65546"/>
            </a:avLst>
          </a:prstGeom>
          <a:solidFill>
            <a:srgbClr val="FFF5E2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59526" y="2093976"/>
            <a:ext cx="1674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40648" y="2057400"/>
            <a:ext cx="167406" cy="402336"/>
          </a:xfrm>
          <a:prstGeom prst="roundRect">
            <a:avLst>
              <a:gd name="adj" fmla="val 65546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0648" y="2093976"/>
            <a:ext cx="1674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121769" y="2057400"/>
            <a:ext cx="167406" cy="402336"/>
          </a:xfrm>
          <a:prstGeom prst="roundRect">
            <a:avLst>
              <a:gd name="adj" fmla="val 65546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21769" y="2093976"/>
            <a:ext cx="1674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02891" y="2057400"/>
            <a:ext cx="167406" cy="402336"/>
          </a:xfrm>
          <a:prstGeom prst="roundRect">
            <a:avLst>
              <a:gd name="adj" fmla="val 65546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02891" y="2093976"/>
            <a:ext cx="1674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484012" y="2057400"/>
            <a:ext cx="167406" cy="402336"/>
          </a:xfrm>
          <a:prstGeom prst="roundRect">
            <a:avLst>
              <a:gd name="adj" fmla="val 65546"/>
            </a:avLst>
          </a:prstGeom>
          <a:solidFill>
            <a:srgbClr val="FFF5E2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84012" y="2093976"/>
            <a:ext cx="1674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665134" y="2057400"/>
            <a:ext cx="167406" cy="402336"/>
          </a:xfrm>
          <a:prstGeom prst="roundRect">
            <a:avLst>
              <a:gd name="adj" fmla="val 65546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65134" y="2093976"/>
            <a:ext cx="1674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846255" y="2057400"/>
            <a:ext cx="167406" cy="402336"/>
          </a:xfrm>
          <a:prstGeom prst="roundRect">
            <a:avLst>
              <a:gd name="adj" fmla="val 65546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46255" y="2093976"/>
            <a:ext cx="1674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027377" y="2057400"/>
            <a:ext cx="167406" cy="402336"/>
          </a:xfrm>
          <a:prstGeom prst="roundRect">
            <a:avLst>
              <a:gd name="adj" fmla="val 65546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27377" y="2093976"/>
            <a:ext cx="1674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208498" y="2057400"/>
            <a:ext cx="167406" cy="402336"/>
          </a:xfrm>
          <a:prstGeom prst="roundRect">
            <a:avLst>
              <a:gd name="adj" fmla="val 65546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08498" y="2093976"/>
            <a:ext cx="1674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389620" y="2057400"/>
            <a:ext cx="167406" cy="402336"/>
          </a:xfrm>
          <a:prstGeom prst="roundRect">
            <a:avLst>
              <a:gd name="adj" fmla="val 65546"/>
            </a:avLst>
          </a:prstGeom>
          <a:solidFill>
            <a:srgbClr val="FFF5E2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89620" y="2093976"/>
            <a:ext cx="1674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570742" y="2057400"/>
            <a:ext cx="167406" cy="402336"/>
          </a:xfrm>
          <a:prstGeom prst="roundRect">
            <a:avLst>
              <a:gd name="adj" fmla="val 65546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70742" y="2093976"/>
            <a:ext cx="1674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751863" y="2057400"/>
            <a:ext cx="167406" cy="402336"/>
          </a:xfrm>
          <a:prstGeom prst="roundRect">
            <a:avLst>
              <a:gd name="adj" fmla="val 65546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51863" y="2093976"/>
            <a:ext cx="1674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932985" y="2057400"/>
            <a:ext cx="167406" cy="402336"/>
          </a:xfrm>
          <a:prstGeom prst="roundRect">
            <a:avLst>
              <a:gd name="adj" fmla="val 65546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932985" y="2093976"/>
            <a:ext cx="1674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9114106" y="2057400"/>
            <a:ext cx="167406" cy="402336"/>
          </a:xfrm>
          <a:prstGeom prst="roundRect">
            <a:avLst>
              <a:gd name="adj" fmla="val 65546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14106" y="2093976"/>
            <a:ext cx="1674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9295228" y="2057400"/>
            <a:ext cx="167406" cy="402336"/>
          </a:xfrm>
          <a:prstGeom prst="roundRect">
            <a:avLst>
              <a:gd name="adj" fmla="val 65546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295228" y="2093976"/>
            <a:ext cx="1674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9476349" y="2057400"/>
            <a:ext cx="167406" cy="402336"/>
          </a:xfrm>
          <a:prstGeom prst="roundRect">
            <a:avLst>
              <a:gd name="adj" fmla="val 65546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476349" y="2093976"/>
            <a:ext cx="1674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9657471" y="2057400"/>
            <a:ext cx="167406" cy="402336"/>
          </a:xfrm>
          <a:prstGeom prst="roundRect">
            <a:avLst>
              <a:gd name="adj" fmla="val 65546"/>
            </a:avLst>
          </a:prstGeom>
          <a:solidFill>
            <a:srgbClr val="FFF5E2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657471" y="2093976"/>
            <a:ext cx="1674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9838592" y="2057400"/>
            <a:ext cx="167406" cy="402336"/>
          </a:xfrm>
          <a:prstGeom prst="roundRect">
            <a:avLst>
              <a:gd name="adj" fmla="val 65546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838592" y="2093976"/>
            <a:ext cx="1674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10019714" y="2057400"/>
            <a:ext cx="167406" cy="402336"/>
          </a:xfrm>
          <a:prstGeom prst="roundRect">
            <a:avLst>
              <a:gd name="adj" fmla="val 65546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019714" y="2093976"/>
            <a:ext cx="1674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10200835" y="2057400"/>
            <a:ext cx="167406" cy="402336"/>
          </a:xfrm>
          <a:prstGeom prst="roundRect">
            <a:avLst>
              <a:gd name="adj" fmla="val 65546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200835" y="2093976"/>
            <a:ext cx="1674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10381957" y="2057400"/>
            <a:ext cx="167406" cy="402336"/>
          </a:xfrm>
          <a:prstGeom prst="roundRect">
            <a:avLst>
              <a:gd name="adj" fmla="val 65546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381957" y="2093976"/>
            <a:ext cx="1674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10563078" y="2057400"/>
            <a:ext cx="167406" cy="402336"/>
          </a:xfrm>
          <a:prstGeom prst="roundRect">
            <a:avLst>
              <a:gd name="adj" fmla="val 65546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563078" y="2093976"/>
            <a:ext cx="1674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035040" y="2505456"/>
            <a:ext cx="167406" cy="402336"/>
          </a:xfrm>
          <a:prstGeom prst="roundRect">
            <a:avLst>
              <a:gd name="adj" fmla="val 65546"/>
            </a:avLst>
          </a:prstGeom>
          <a:solidFill>
            <a:srgbClr val="E6F8F8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035040" y="2542032"/>
            <a:ext cx="1674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216162" y="2505456"/>
            <a:ext cx="167406" cy="402336"/>
          </a:xfrm>
          <a:prstGeom prst="roundRect">
            <a:avLst>
              <a:gd name="adj" fmla="val 65546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216162" y="2542032"/>
            <a:ext cx="1674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397283" y="2505456"/>
            <a:ext cx="167406" cy="402336"/>
          </a:xfrm>
          <a:prstGeom prst="roundRect">
            <a:avLst>
              <a:gd name="adj" fmla="val 65546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397283" y="2542032"/>
            <a:ext cx="1674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578405" y="2505456"/>
            <a:ext cx="167406" cy="402336"/>
          </a:xfrm>
          <a:prstGeom prst="roundRect">
            <a:avLst>
              <a:gd name="adj" fmla="val 65546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578405" y="2542032"/>
            <a:ext cx="1674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759526" y="2505456"/>
            <a:ext cx="167406" cy="402336"/>
          </a:xfrm>
          <a:prstGeom prst="roundRect">
            <a:avLst>
              <a:gd name="adj" fmla="val 65546"/>
            </a:avLst>
          </a:prstGeom>
          <a:solidFill>
            <a:srgbClr val="E6F8F8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759526" y="2542032"/>
            <a:ext cx="1674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6940648" y="2505456"/>
            <a:ext cx="167406" cy="402336"/>
          </a:xfrm>
          <a:prstGeom prst="roundRect">
            <a:avLst>
              <a:gd name="adj" fmla="val 65546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940648" y="2542032"/>
            <a:ext cx="1674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7121769" y="2505456"/>
            <a:ext cx="167406" cy="402336"/>
          </a:xfrm>
          <a:prstGeom prst="roundRect">
            <a:avLst>
              <a:gd name="adj" fmla="val 65546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121769" y="2542032"/>
            <a:ext cx="1674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7302891" y="2505456"/>
            <a:ext cx="167406" cy="402336"/>
          </a:xfrm>
          <a:prstGeom prst="roundRect">
            <a:avLst>
              <a:gd name="adj" fmla="val 65546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302891" y="2542032"/>
            <a:ext cx="1674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7484012" y="2505456"/>
            <a:ext cx="167406" cy="402336"/>
          </a:xfrm>
          <a:prstGeom prst="roundRect">
            <a:avLst>
              <a:gd name="adj" fmla="val 65546"/>
            </a:avLst>
          </a:prstGeom>
          <a:solidFill>
            <a:srgbClr val="E6F8F8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484012" y="2542032"/>
            <a:ext cx="1674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7665134" y="2505456"/>
            <a:ext cx="167406" cy="402336"/>
          </a:xfrm>
          <a:prstGeom prst="roundRect">
            <a:avLst>
              <a:gd name="adj" fmla="val 65546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665134" y="2542032"/>
            <a:ext cx="1674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7846255" y="2505456"/>
            <a:ext cx="167406" cy="402336"/>
          </a:xfrm>
          <a:prstGeom prst="roundRect">
            <a:avLst>
              <a:gd name="adj" fmla="val 65546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846255" y="2542032"/>
            <a:ext cx="1674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8027377" y="2505456"/>
            <a:ext cx="167406" cy="402336"/>
          </a:xfrm>
          <a:prstGeom prst="roundRect">
            <a:avLst>
              <a:gd name="adj" fmla="val 65546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027377" y="2542032"/>
            <a:ext cx="1674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8208498" y="2505456"/>
            <a:ext cx="167406" cy="402336"/>
          </a:xfrm>
          <a:prstGeom prst="roundRect">
            <a:avLst>
              <a:gd name="adj" fmla="val 65546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208498" y="2542032"/>
            <a:ext cx="1674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8389620" y="2505456"/>
            <a:ext cx="167406" cy="402336"/>
          </a:xfrm>
          <a:prstGeom prst="roundRect">
            <a:avLst>
              <a:gd name="adj" fmla="val 65546"/>
            </a:avLst>
          </a:prstGeom>
          <a:solidFill>
            <a:srgbClr val="E6F8F8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389620" y="2542032"/>
            <a:ext cx="1674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8570742" y="2505456"/>
            <a:ext cx="167406" cy="402336"/>
          </a:xfrm>
          <a:prstGeom prst="roundRect">
            <a:avLst>
              <a:gd name="adj" fmla="val 65546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570742" y="2542032"/>
            <a:ext cx="1674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8751863" y="2505456"/>
            <a:ext cx="167406" cy="402336"/>
          </a:xfrm>
          <a:prstGeom prst="roundRect">
            <a:avLst>
              <a:gd name="adj" fmla="val 65546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751863" y="2542032"/>
            <a:ext cx="1674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8932985" y="2505456"/>
            <a:ext cx="167406" cy="402336"/>
          </a:xfrm>
          <a:prstGeom prst="roundRect">
            <a:avLst>
              <a:gd name="adj" fmla="val 65546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932985" y="2542032"/>
            <a:ext cx="1674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9114106" y="2505456"/>
            <a:ext cx="167406" cy="402336"/>
          </a:xfrm>
          <a:prstGeom prst="roundRect">
            <a:avLst>
              <a:gd name="adj" fmla="val 65546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114106" y="2542032"/>
            <a:ext cx="1674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9295228" y="2505456"/>
            <a:ext cx="167406" cy="402336"/>
          </a:xfrm>
          <a:prstGeom prst="roundRect">
            <a:avLst>
              <a:gd name="adj" fmla="val 65546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9295228" y="2542032"/>
            <a:ext cx="1674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9476349" y="2505456"/>
            <a:ext cx="167406" cy="402336"/>
          </a:xfrm>
          <a:prstGeom prst="roundRect">
            <a:avLst>
              <a:gd name="adj" fmla="val 65546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9476349" y="2542032"/>
            <a:ext cx="1674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9657471" y="2505456"/>
            <a:ext cx="167406" cy="402336"/>
          </a:xfrm>
          <a:prstGeom prst="roundRect">
            <a:avLst>
              <a:gd name="adj" fmla="val 65546"/>
            </a:avLst>
          </a:prstGeom>
          <a:solidFill>
            <a:srgbClr val="E6F8F8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9657471" y="2542032"/>
            <a:ext cx="1674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9838592" y="2505456"/>
            <a:ext cx="167406" cy="402336"/>
          </a:xfrm>
          <a:prstGeom prst="roundRect">
            <a:avLst>
              <a:gd name="adj" fmla="val 65546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9838592" y="2542032"/>
            <a:ext cx="1674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10019714" y="2505456"/>
            <a:ext cx="167406" cy="402336"/>
          </a:xfrm>
          <a:prstGeom prst="roundRect">
            <a:avLst>
              <a:gd name="adj" fmla="val 65546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10019714" y="2542032"/>
            <a:ext cx="1674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10200835" y="2505456"/>
            <a:ext cx="167406" cy="402336"/>
          </a:xfrm>
          <a:prstGeom prst="roundRect">
            <a:avLst>
              <a:gd name="adj" fmla="val 65546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0200835" y="2542032"/>
            <a:ext cx="1674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10381957" y="2505456"/>
            <a:ext cx="167406" cy="402336"/>
          </a:xfrm>
          <a:prstGeom prst="roundRect">
            <a:avLst>
              <a:gd name="adj" fmla="val 65546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0381957" y="2542032"/>
            <a:ext cx="1674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10563078" y="2505456"/>
            <a:ext cx="167406" cy="402336"/>
          </a:xfrm>
          <a:prstGeom prst="roundRect">
            <a:avLst>
              <a:gd name="adj" fmla="val 65546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10563078" y="2542032"/>
            <a:ext cx="16740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</a:t>
            </a:r>
            <a:endParaRPr lang="en-US" sz="1000" dirty="0"/>
          </a:p>
        </p:txBody>
      </p:sp>
      <p:sp>
        <p:nvSpPr>
          <p:cNvPr id="119" name="Text 117"/>
          <p:cNvSpPr/>
          <p:nvPr/>
        </p:nvSpPr>
        <p:spPr>
          <a:xfrm>
            <a:off x="5596128" y="2093976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</a:t>
            </a:r>
            <a:endParaRPr lang="en-US" sz="900" dirty="0"/>
          </a:p>
        </p:txBody>
      </p:sp>
      <p:sp>
        <p:nvSpPr>
          <p:cNvPr id="120" name="Text 118"/>
          <p:cNvSpPr/>
          <p:nvPr/>
        </p:nvSpPr>
        <p:spPr>
          <a:xfrm>
            <a:off x="5596128" y="2542032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3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5989320" y="3886200"/>
            <a:ext cx="475488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A→Q   E→T   I→O   N→S   U→Z</a:t>
            </a:r>
            <a:endParaRPr lang="en-US" sz="1800" dirty="0"/>
          </a:p>
        </p:txBody>
      </p:sp>
      <p:sp>
        <p:nvSpPr>
          <p:cNvPr id="122" name="Shape 120"/>
          <p:cNvSpPr/>
          <p:nvPr/>
        </p:nvSpPr>
        <p:spPr>
          <a:xfrm>
            <a:off x="5943600" y="4645152"/>
            <a:ext cx="4663440" cy="585216"/>
          </a:xfrm>
          <a:prstGeom prst="roundRect">
            <a:avLst>
              <a:gd name="adj" fmla="val 18750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943600" y="4645152"/>
            <a:ext cx="73152" cy="585216"/>
          </a:xfrm>
          <a:prstGeom prst="roundRect">
            <a:avLst>
              <a:gd name="adj" fmla="val 150000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6108192" y="4727448"/>
            <a:ext cx="4407408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plaintext letter always maps to the same ciphertext letter.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2880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9202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SUBSTITUTION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0068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Monoalphabetic Encryption Example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857232" y="1828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3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PANTECH SOLUTIONS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857232" y="457200"/>
            <a:ext cx="182880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2700">
            <a:solidFill>
              <a:srgbClr val="C8D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382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6364224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complete mapping so the example can be reproduced character by character.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45952" y="636422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7512" y="1252728"/>
            <a:ext cx="10972800" cy="960120"/>
          </a:xfrm>
          <a:prstGeom prst="roundRect">
            <a:avLst>
              <a:gd name="adj" fmla="val 11429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1481328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KEY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47088" y="1426464"/>
            <a:ext cx="69951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ABCDEFGHIJKLMNOPQRSTUVWXYZ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847088" y="1755648"/>
            <a:ext cx="69951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QWERTYUIOPASDFGHJKLZXCVBNM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49808" y="2578608"/>
            <a:ext cx="1188720" cy="310896"/>
          </a:xfrm>
          <a:prstGeom prst="roundRect">
            <a:avLst>
              <a:gd name="adj" fmla="val 3529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258775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PLAINTEXT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40280" y="2606040"/>
            <a:ext cx="150876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HELLO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3840480" y="2770632"/>
            <a:ext cx="868680" cy="0"/>
          </a:xfrm>
          <a:prstGeom prst="line">
            <a:avLst/>
          </a:prstGeom>
          <a:noFill/>
          <a:ln w="25400">
            <a:solidFill>
              <a:srgbClr val="8798A7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828032" y="2578608"/>
            <a:ext cx="1097280" cy="310896"/>
          </a:xfrm>
          <a:prstGeom prst="roundRect">
            <a:avLst>
              <a:gd name="adj" fmla="val 35294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3752" y="2587752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 UP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98464" y="2770632"/>
            <a:ext cx="585216" cy="0"/>
          </a:xfrm>
          <a:prstGeom prst="line">
            <a:avLst/>
          </a:prstGeom>
          <a:noFill/>
          <a:ln w="25400">
            <a:solidFill>
              <a:srgbClr val="8798A7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720840" y="2578608"/>
            <a:ext cx="960120" cy="310896"/>
          </a:xfrm>
          <a:prstGeom prst="roundRect">
            <a:avLst>
              <a:gd name="adj" fmla="val 35294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2587752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909560" y="2606040"/>
            <a:ext cx="150876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ITSSG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822960" y="3474720"/>
            <a:ext cx="16916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Character check: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0120" y="3886200"/>
            <a:ext cx="1051560" cy="512064"/>
          </a:xfrm>
          <a:prstGeom prst="roundRect">
            <a:avLst>
              <a:gd name="adj" fmla="val 21429"/>
            </a:avLst>
          </a:prstGeom>
          <a:solidFill>
            <a:srgbClr val="EAF1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3986784"/>
            <a:ext cx="10515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 → 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2990088" y="3886200"/>
            <a:ext cx="1051560" cy="512064"/>
          </a:xfrm>
          <a:prstGeom prst="roundRect">
            <a:avLst>
              <a:gd name="adj" fmla="val 21429"/>
            </a:avLst>
          </a:prstGeom>
          <a:solidFill>
            <a:srgbClr val="EAF1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0088" y="3986784"/>
            <a:ext cx="10515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→ T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020056" y="3886200"/>
            <a:ext cx="1051560" cy="512064"/>
          </a:xfrm>
          <a:prstGeom prst="roundRect">
            <a:avLst>
              <a:gd name="adj" fmla="val 21429"/>
            </a:avLst>
          </a:prstGeom>
          <a:solidFill>
            <a:srgbClr val="EAF1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0056" y="3986784"/>
            <a:ext cx="10515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 → 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050024" y="3886200"/>
            <a:ext cx="1051560" cy="512064"/>
          </a:xfrm>
          <a:prstGeom prst="roundRect">
            <a:avLst>
              <a:gd name="adj" fmla="val 21429"/>
            </a:avLst>
          </a:prstGeom>
          <a:solidFill>
            <a:srgbClr val="EAF1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50024" y="3986784"/>
            <a:ext cx="10515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 → S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9079992" y="3886200"/>
            <a:ext cx="1051560" cy="512064"/>
          </a:xfrm>
          <a:prstGeom prst="roundRect">
            <a:avLst>
              <a:gd name="adj" fmla="val 21429"/>
            </a:avLst>
          </a:prstGeom>
          <a:solidFill>
            <a:srgbClr val="EAF1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79992" y="3986784"/>
            <a:ext cx="10515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→ G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1097280" y="4864608"/>
            <a:ext cx="9646920" cy="585216"/>
          </a:xfrm>
          <a:prstGeom prst="roundRect">
            <a:avLst>
              <a:gd name="adj" fmla="val 18750"/>
            </a:avLst>
          </a:prstGeom>
          <a:solidFill>
            <a:srgbClr val="E6F8F8"/>
          </a:solidFill>
          <a:ln w="12700">
            <a:solidFill>
              <a:srgbClr val="E6F8F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97280" y="4864608"/>
            <a:ext cx="73152" cy="585216"/>
          </a:xfrm>
          <a:prstGeom prst="roundRect">
            <a:avLst>
              <a:gd name="adj" fmla="val 150000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61872" y="4946904"/>
            <a:ext cx="9390888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mapping + consistent lookup = reproducible encryption.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2880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9202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SUBSTITUTION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0068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Frequency Analysis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857232" y="1828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3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PANTECH SOLUTIONS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857232" y="457200"/>
            <a:ext cx="182880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2700">
            <a:solidFill>
              <a:srgbClr val="C8D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382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6364224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Monoalphabetic ciphers preserve many language statistics, which creates clues for cryptanalysts.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45952" y="636422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129844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attackers look for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1792224"/>
            <a:ext cx="73152" cy="7315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1700784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Letter frequency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2139696"/>
            <a:ext cx="73152" cy="7315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2048256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 letters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2487168"/>
            <a:ext cx="73152" cy="7315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2395728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 words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2834640"/>
            <a:ext cx="73152" cy="7315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8408" y="2743200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 patterns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17720" y="1307592"/>
            <a:ext cx="658368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0328" y="1536192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English frequency pattern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19472" y="1956816"/>
            <a:ext cx="256032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276088" y="1965960"/>
            <a:ext cx="3556000" cy="182880"/>
          </a:xfrm>
          <a:prstGeom prst="roundRect">
            <a:avLst>
              <a:gd name="adj" fmla="val 60000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2267712"/>
            <a:ext cx="256032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276088" y="2276856"/>
            <a:ext cx="2794000" cy="182880"/>
          </a:xfrm>
          <a:prstGeom prst="roundRect">
            <a:avLst>
              <a:gd name="adj" fmla="val 60000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2578608"/>
            <a:ext cx="256032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276088" y="2587752"/>
            <a:ext cx="2540000" cy="182880"/>
          </a:xfrm>
          <a:prstGeom prst="roundRect">
            <a:avLst>
              <a:gd name="adj" fmla="val 60000"/>
            </a:avLst>
          </a:prstGeom>
          <a:solidFill>
            <a:srgbClr val="2D6CDF"/>
          </a:solidFill>
          <a:ln w="12700">
            <a:solidFill>
              <a:srgbClr val="2D6CD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2889504"/>
            <a:ext cx="256032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276088" y="2898648"/>
            <a:ext cx="2286000" cy="182880"/>
          </a:xfrm>
          <a:prstGeom prst="roundRect">
            <a:avLst>
              <a:gd name="adj" fmla="val 60000"/>
            </a:avLst>
          </a:prstGeom>
          <a:solidFill>
            <a:srgbClr val="2D6CDF"/>
          </a:solidFill>
          <a:ln w="12700">
            <a:solidFill>
              <a:srgbClr val="2D6CD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3200400"/>
            <a:ext cx="256032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276088" y="3209544"/>
            <a:ext cx="2133600" cy="182880"/>
          </a:xfrm>
          <a:prstGeom prst="roundRect">
            <a:avLst>
              <a:gd name="adj" fmla="val 60000"/>
            </a:avLst>
          </a:prstGeom>
          <a:solidFill>
            <a:srgbClr val="2D6CDF"/>
          </a:solidFill>
          <a:ln w="12700">
            <a:solidFill>
              <a:srgbClr val="2D6CD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3511296"/>
            <a:ext cx="256032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276088" y="3520440"/>
            <a:ext cx="2032000" cy="182880"/>
          </a:xfrm>
          <a:prstGeom prst="roundRect">
            <a:avLst>
              <a:gd name="adj" fmla="val 60000"/>
            </a:avLst>
          </a:prstGeom>
          <a:solidFill>
            <a:srgbClr val="2D6CDF"/>
          </a:solidFill>
          <a:ln w="12700">
            <a:solidFill>
              <a:srgbClr val="2D6CD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3822192"/>
            <a:ext cx="256032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276088" y="3831336"/>
            <a:ext cx="1930400" cy="182880"/>
          </a:xfrm>
          <a:prstGeom prst="roundRect">
            <a:avLst>
              <a:gd name="adj" fmla="val 60000"/>
            </a:avLst>
          </a:prstGeom>
          <a:solidFill>
            <a:srgbClr val="2D6CDF"/>
          </a:solidFill>
          <a:ln w="12700">
            <a:solidFill>
              <a:srgbClr val="2D6CD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9472" y="4133088"/>
            <a:ext cx="256032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276088" y="4142232"/>
            <a:ext cx="1727200" cy="182880"/>
          </a:xfrm>
          <a:prstGeom prst="roundRect">
            <a:avLst>
              <a:gd name="adj" fmla="val 60000"/>
            </a:avLst>
          </a:prstGeom>
          <a:solidFill>
            <a:srgbClr val="2D6CDF"/>
          </a:solidFill>
          <a:ln w="12700">
            <a:solidFill>
              <a:srgbClr val="2D6CD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56048" y="4526280"/>
            <a:ext cx="397764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Longer text gives stronger statistical evidence.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914400" y="5148072"/>
            <a:ext cx="10058400" cy="585216"/>
          </a:xfrm>
          <a:prstGeom prst="roundRect">
            <a:avLst>
              <a:gd name="adj" fmla="val 18750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4400" y="5148072"/>
            <a:ext cx="73152" cy="585216"/>
          </a:xfrm>
          <a:prstGeom prst="roundRect">
            <a:avLst>
              <a:gd name="adj" fmla="val 150000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78992" y="5230368"/>
            <a:ext cx="9802368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Frequency analysis does not “read” the message directly; it helps test hypotheses about the substitution key.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2880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9202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SUBSTITUTION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0068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Polyalphabetic Substitution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857232" y="1828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3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PANTECH SOLUTIONS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857232" y="457200"/>
            <a:ext cx="182880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2700">
            <a:solidFill>
              <a:srgbClr val="C8D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382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6364224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Polyalphabetic systems switch among multiple substitution alphabets instead of using one fixed mapping.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45952" y="636422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9808" y="1325880"/>
            <a:ext cx="5074920" cy="4315968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162763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MONOALPHABETIC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87552" y="2011680"/>
            <a:ext cx="342900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substitution alphabet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87552" y="2697480"/>
            <a:ext cx="2148840" cy="1143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→ Q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→ W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→ E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…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126480" y="1325880"/>
            <a:ext cx="5074920" cy="4315968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64224" y="162763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POLYALPHABETIC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64224" y="2011680"/>
            <a:ext cx="420624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substitution alphabets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364224" y="2697480"/>
            <a:ext cx="2148840" cy="12344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Alphabet 1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Alphabet 2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Alphabet 3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…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41832" y="5212080"/>
            <a:ext cx="10104120" cy="585216"/>
          </a:xfrm>
          <a:prstGeom prst="roundRect">
            <a:avLst>
              <a:gd name="adj" fmla="val 18750"/>
            </a:avLst>
          </a:prstGeom>
          <a:solidFill>
            <a:srgbClr val="E6F8F8"/>
          </a:solidFill>
          <a:ln w="12700">
            <a:solidFill>
              <a:srgbClr val="E6F8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1832" y="5212080"/>
            <a:ext cx="73152" cy="585216"/>
          </a:xfrm>
          <a:prstGeom prst="roundRect">
            <a:avLst>
              <a:gd name="adj" fmla="val 150000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06424" y="5294376"/>
            <a:ext cx="9848088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Changing substitutions can hide simple frequency relationships more effectively than a single alphabet.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2880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9202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SUBSTITUTION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0068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Vigenère Cipher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857232" y="1828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3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PANTECH SOLUTIONS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857232" y="457200"/>
            <a:ext cx="182880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2700">
            <a:solidFill>
              <a:srgbClr val="C8D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382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6364224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Vigenère applies a sequence of Caesar-like shifts controlled by a keyword.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45952" y="636422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4944" y="1298448"/>
            <a:ext cx="5623560" cy="4526280"/>
          </a:xfrm>
          <a:prstGeom prst="roundRect">
            <a:avLst>
              <a:gd name="adj" fmla="val 242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645920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5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KEYWORD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2011680"/>
            <a:ext cx="192024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LEMON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960120" y="2788920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FC4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 keyword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163824"/>
            <a:ext cx="443484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LEMONLEMONLE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960120" y="3913632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D6E6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keyword letter supplies a different shift.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537960" y="1600200"/>
            <a:ext cx="4343400" cy="585216"/>
          </a:xfrm>
          <a:prstGeom prst="roundRect">
            <a:avLst>
              <a:gd name="adj" fmla="val 18750"/>
            </a:avLst>
          </a:prstGeom>
          <a:solidFill>
            <a:srgbClr val="E6F8F8"/>
          </a:solidFill>
          <a:ln w="12700">
            <a:solidFill>
              <a:srgbClr val="E6F8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37960" y="1600200"/>
            <a:ext cx="73152" cy="585216"/>
          </a:xfrm>
          <a:prstGeom prst="roundRect">
            <a:avLst>
              <a:gd name="adj" fmla="val 150000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02552" y="1682496"/>
            <a:ext cx="4087368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Think: Caesar shift, but the shift changes from position to position.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37960" y="2834640"/>
            <a:ext cx="934974" cy="658368"/>
          </a:xfrm>
          <a:prstGeom prst="roundRect">
            <a:avLst>
              <a:gd name="adj" fmla="val 16667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11112" y="2907792"/>
            <a:ext cx="78867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PLAINTEXT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08342" y="3163824"/>
            <a:ext cx="256032" cy="0"/>
          </a:xfrm>
          <a:prstGeom prst="line">
            <a:avLst/>
          </a:prstGeom>
          <a:noFill/>
          <a:ln w="25400">
            <a:solidFill>
              <a:srgbClr val="8798A7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674102" y="2834640"/>
            <a:ext cx="934974" cy="658368"/>
          </a:xfrm>
          <a:prstGeom prst="roundRect">
            <a:avLst>
              <a:gd name="adj" fmla="val 16667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47254" y="2907792"/>
            <a:ext cx="78867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KEYWORD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444484" y="3163824"/>
            <a:ext cx="256032" cy="0"/>
          </a:xfrm>
          <a:prstGeom prst="line">
            <a:avLst/>
          </a:prstGeom>
          <a:noFill/>
          <a:ln w="25400">
            <a:solidFill>
              <a:srgbClr val="8798A7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810244" y="2834640"/>
            <a:ext cx="934974" cy="658368"/>
          </a:xfrm>
          <a:prstGeom prst="roundRect">
            <a:avLst>
              <a:gd name="adj" fmla="val 16667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83396" y="2907792"/>
            <a:ext cx="78867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CHANGING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SHIFT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580626" y="3163824"/>
            <a:ext cx="256032" cy="0"/>
          </a:xfrm>
          <a:prstGeom prst="line">
            <a:avLst/>
          </a:prstGeom>
          <a:noFill/>
          <a:ln w="25400">
            <a:solidFill>
              <a:srgbClr val="8798A7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946386" y="2834640"/>
            <a:ext cx="934974" cy="658368"/>
          </a:xfrm>
          <a:prstGeom prst="roundRect">
            <a:avLst>
              <a:gd name="adj" fmla="val 16667"/>
            </a:avLst>
          </a:prstGeom>
          <a:solidFill>
            <a:srgbClr val="6F4FB3"/>
          </a:solidFill>
          <a:ln w="12700">
            <a:solidFill>
              <a:srgbClr val="6F4FB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19538" y="2907792"/>
            <a:ext cx="78867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CIPHERTEXT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2880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9202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SUBSTITUTION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0068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Vigenère Step-by-Step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857232" y="1828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3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PANTECH SOLUTIONS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857232" y="457200"/>
            <a:ext cx="182880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2700">
            <a:solidFill>
              <a:srgbClr val="C8D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382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6364224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 the plaintext with the repeated keyword before calculating the shifts.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45952" y="636422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9808" y="1353312"/>
            <a:ext cx="1051560" cy="310896"/>
          </a:xfrm>
          <a:prstGeom prst="roundRect">
            <a:avLst>
              <a:gd name="adj" fmla="val 3529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1362456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PLAINTEXT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11680" y="1362456"/>
            <a:ext cx="438912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ATTACKATDAWN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49808" y="1965960"/>
            <a:ext cx="594360" cy="310896"/>
          </a:xfrm>
          <a:prstGeom prst="roundRect">
            <a:avLst>
              <a:gd name="adj" fmla="val 35294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1975104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1975104"/>
            <a:ext cx="438912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LEMONLEMONLE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828800" y="2743200"/>
            <a:ext cx="566928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0" y="2843784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828800" y="3273552"/>
            <a:ext cx="566928" cy="475488"/>
          </a:xfrm>
          <a:prstGeom prst="roundRect">
            <a:avLst>
              <a:gd name="adj" fmla="val 23077"/>
            </a:avLst>
          </a:prstGeom>
          <a:solidFill>
            <a:srgbClr val="E6F8F8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3374136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487168" y="2743200"/>
            <a:ext cx="566928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87168" y="2843784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487168" y="3273552"/>
            <a:ext cx="566928" cy="475488"/>
          </a:xfrm>
          <a:prstGeom prst="roundRect">
            <a:avLst>
              <a:gd name="adj" fmla="val 23077"/>
            </a:avLst>
          </a:prstGeom>
          <a:solidFill>
            <a:srgbClr val="E6F8F8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87168" y="3374136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145536" y="2743200"/>
            <a:ext cx="566928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45536" y="2843784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145536" y="3273552"/>
            <a:ext cx="566928" cy="475488"/>
          </a:xfrm>
          <a:prstGeom prst="roundRect">
            <a:avLst>
              <a:gd name="adj" fmla="val 23077"/>
            </a:avLst>
          </a:prstGeom>
          <a:solidFill>
            <a:srgbClr val="E6F8F8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45536" y="3374136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803904" y="2743200"/>
            <a:ext cx="566928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03904" y="2843784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803904" y="3273552"/>
            <a:ext cx="566928" cy="475488"/>
          </a:xfrm>
          <a:prstGeom prst="roundRect">
            <a:avLst>
              <a:gd name="adj" fmla="val 23077"/>
            </a:avLst>
          </a:prstGeom>
          <a:solidFill>
            <a:srgbClr val="E6F8F8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03904" y="3374136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462272" y="2743200"/>
            <a:ext cx="566928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62272" y="2843784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462272" y="3273552"/>
            <a:ext cx="566928" cy="475488"/>
          </a:xfrm>
          <a:prstGeom prst="roundRect">
            <a:avLst>
              <a:gd name="adj" fmla="val 23077"/>
            </a:avLst>
          </a:prstGeom>
          <a:solidFill>
            <a:srgbClr val="E6F8F8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62272" y="3374136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120640" y="2743200"/>
            <a:ext cx="566928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20640" y="2843784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120640" y="3273552"/>
            <a:ext cx="566928" cy="475488"/>
          </a:xfrm>
          <a:prstGeom prst="roundRect">
            <a:avLst>
              <a:gd name="adj" fmla="val 23077"/>
            </a:avLst>
          </a:prstGeom>
          <a:solidFill>
            <a:srgbClr val="E6F8F8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20640" y="3374136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779008" y="2743200"/>
            <a:ext cx="566928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79008" y="2843784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779008" y="3273552"/>
            <a:ext cx="566928" cy="475488"/>
          </a:xfrm>
          <a:prstGeom prst="roundRect">
            <a:avLst>
              <a:gd name="adj" fmla="val 23077"/>
            </a:avLst>
          </a:prstGeom>
          <a:solidFill>
            <a:srgbClr val="E6F8F8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79008" y="3374136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437376" y="2743200"/>
            <a:ext cx="566928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37376" y="2843784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437376" y="3273552"/>
            <a:ext cx="566928" cy="475488"/>
          </a:xfrm>
          <a:prstGeom prst="roundRect">
            <a:avLst>
              <a:gd name="adj" fmla="val 23077"/>
            </a:avLst>
          </a:prstGeom>
          <a:solidFill>
            <a:srgbClr val="E6F8F8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37376" y="3374136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7095744" y="2743200"/>
            <a:ext cx="566928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95744" y="2843784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7095744" y="3273552"/>
            <a:ext cx="566928" cy="475488"/>
          </a:xfrm>
          <a:prstGeom prst="roundRect">
            <a:avLst>
              <a:gd name="adj" fmla="val 23077"/>
            </a:avLst>
          </a:prstGeom>
          <a:solidFill>
            <a:srgbClr val="E6F8F8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95744" y="3374136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7754112" y="2743200"/>
            <a:ext cx="566928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754112" y="2843784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7754112" y="3273552"/>
            <a:ext cx="566928" cy="475488"/>
          </a:xfrm>
          <a:prstGeom prst="roundRect">
            <a:avLst>
              <a:gd name="adj" fmla="val 23077"/>
            </a:avLst>
          </a:prstGeom>
          <a:solidFill>
            <a:srgbClr val="E6F8F8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4112" y="3374136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8412480" y="2743200"/>
            <a:ext cx="566928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412480" y="2843784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8412480" y="3273552"/>
            <a:ext cx="566928" cy="475488"/>
          </a:xfrm>
          <a:prstGeom prst="roundRect">
            <a:avLst>
              <a:gd name="adj" fmla="val 23077"/>
            </a:avLst>
          </a:prstGeom>
          <a:solidFill>
            <a:srgbClr val="E6F8F8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412480" y="3374136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9070848" y="2743200"/>
            <a:ext cx="566928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070848" y="2843784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9070848" y="3273552"/>
            <a:ext cx="566928" cy="475488"/>
          </a:xfrm>
          <a:prstGeom prst="roundRect">
            <a:avLst>
              <a:gd name="adj" fmla="val 23077"/>
            </a:avLst>
          </a:prstGeom>
          <a:solidFill>
            <a:srgbClr val="E6F8F8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070848" y="3374136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1828800" y="3877056"/>
            <a:ext cx="77266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 T  T  A  C  K  A  T  D  A  W  N</a:t>
            </a:r>
            <a:endParaRPr lang="en-US" sz="1700" dirty="0"/>
          </a:p>
        </p:txBody>
      </p:sp>
      <p:sp>
        <p:nvSpPr>
          <p:cNvPr id="66" name="Text 64"/>
          <p:cNvSpPr/>
          <p:nvPr/>
        </p:nvSpPr>
        <p:spPr>
          <a:xfrm>
            <a:off x="1828800" y="4197096"/>
            <a:ext cx="77266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  E  M  O  N  L  E  M  O  N  L  E</a:t>
            </a:r>
            <a:endParaRPr lang="en-US" sz="1700" dirty="0"/>
          </a:p>
        </p:txBody>
      </p:sp>
      <p:sp>
        <p:nvSpPr>
          <p:cNvPr id="67" name="Shape 65"/>
          <p:cNvSpPr/>
          <p:nvPr/>
        </p:nvSpPr>
        <p:spPr>
          <a:xfrm>
            <a:off x="914400" y="4892040"/>
            <a:ext cx="9966960" cy="585216"/>
          </a:xfrm>
          <a:prstGeom prst="roundRect">
            <a:avLst>
              <a:gd name="adj" fmla="val 18750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14400" y="4892040"/>
            <a:ext cx="73152" cy="585216"/>
          </a:xfrm>
          <a:prstGeom prst="roundRect">
            <a:avLst>
              <a:gd name="adj" fmla="val 150000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78992" y="4974336"/>
            <a:ext cx="9710928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keyword repeats until it aligns with the entire plaintext.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2880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9202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SUBSTITUTION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0068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Vigenère Encryption Example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857232" y="1828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3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PANTECH SOLUTIONS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857232" y="457200"/>
            <a:ext cx="182880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2700">
            <a:solidFill>
              <a:srgbClr val="C8D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382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6364224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calculation: C = (P + K) mod 26 using A=0, …, Z=25.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45952" y="636422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12801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ATTACKATDAWN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2960" y="1664208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LEMONLEMONLE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41248" y="2304288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Several character calculations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2706624"/>
            <a:ext cx="406908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" y="2779776"/>
            <a:ext cx="224028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(0) + L (11)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46120" y="2779776"/>
            <a:ext cx="123444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98848" y="2779776"/>
            <a:ext cx="2743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" y="3191256"/>
            <a:ext cx="4069080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" y="3264408"/>
            <a:ext cx="224028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 (19) + E (4)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46120" y="3264408"/>
            <a:ext cx="123444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98848" y="3264408"/>
            <a:ext cx="2743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2960" y="3675888"/>
            <a:ext cx="406908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" y="3749040"/>
            <a:ext cx="224028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 (19) + M (12)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46120" y="3749040"/>
            <a:ext cx="123444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 mod 26 = 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498848" y="3749040"/>
            <a:ext cx="2743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22960" y="4160520"/>
            <a:ext cx="4069080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1832" y="4233672"/>
            <a:ext cx="224028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(0) + O (14)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46120" y="4233672"/>
            <a:ext cx="123444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498848" y="4233672"/>
            <a:ext cx="2743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22960" y="4645152"/>
            <a:ext cx="406908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1832" y="4718304"/>
            <a:ext cx="224028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(2) + N (13)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246120" y="4718304"/>
            <a:ext cx="123444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498848" y="4718304"/>
            <a:ext cx="2743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349240" y="2011680"/>
            <a:ext cx="5897880" cy="2103120"/>
          </a:xfrm>
          <a:prstGeom prst="roundRect">
            <a:avLst>
              <a:gd name="adj" fmla="val 5217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0" y="2359152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CIPHERTEXT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623560" y="2926080"/>
            <a:ext cx="525780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100" b="1" kern="0" spc="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LXFOPVEFRNHR</a:t>
            </a:r>
            <a:endParaRPr lang="en-US" sz="3100" dirty="0"/>
          </a:p>
        </p:txBody>
      </p:sp>
      <p:sp>
        <p:nvSpPr>
          <p:cNvPr id="37" name="Text 35"/>
          <p:cNvSpPr/>
          <p:nvPr/>
        </p:nvSpPr>
        <p:spPr>
          <a:xfrm>
            <a:off x="5687568" y="3703320"/>
            <a:ext cx="513892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D6E6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Intermediate arithmetic and final result agree.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960120" y="4828032"/>
            <a:ext cx="9784080" cy="585216"/>
          </a:xfrm>
          <a:prstGeom prst="roundRect">
            <a:avLst>
              <a:gd name="adj" fmla="val 18750"/>
            </a:avLst>
          </a:prstGeom>
          <a:solidFill>
            <a:srgbClr val="E6F8F8"/>
          </a:solidFill>
          <a:ln w="12700">
            <a:solidFill>
              <a:srgbClr val="E6F8F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0120" y="4828032"/>
            <a:ext cx="73152" cy="585216"/>
          </a:xfrm>
          <a:prstGeom prst="roundRect">
            <a:avLst>
              <a:gd name="adj" fmla="val 150000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24712" y="4910328"/>
            <a:ext cx="9528048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Result: ATTACKATDAWN → LXFOPVEFRNHR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2880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9202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SUBSTITUTION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0068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Vigenère Tabula Recta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857232" y="1828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3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PANTECH SOLUTIONS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857232" y="457200"/>
            <a:ext cx="182880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2700">
            <a:solidFill>
              <a:srgbClr val="C8D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382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6364224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Tabula Recta is a grid of shifted alphabets; the full table continues through Z.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45952" y="636422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" y="1261872"/>
            <a:ext cx="740664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1554480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READING THE TABLE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4672" y="20116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→ rows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017520" y="1581912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 → columns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517904" y="1554480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17904" y="1645920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956816" y="1554480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56816" y="1645920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395728" y="1554480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95728" y="1645920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834640" y="1554480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34640" y="1645920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73552" y="1554480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73552" y="1645920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712464" y="1554480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12464" y="1645920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151376" y="1554480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51376" y="1645920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90288" y="1554480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90288" y="1645920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77824" y="2011680"/>
            <a:ext cx="512064" cy="384048"/>
          </a:xfrm>
          <a:prstGeom prst="roundRect">
            <a:avLst>
              <a:gd name="adj" fmla="val 28571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7824" y="2103120"/>
            <a:ext cx="51206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517904" y="2011680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517904" y="2103120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956816" y="2011680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56816" y="2103120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395728" y="2011680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95728" y="2103120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834640" y="2011680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34640" y="2103120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273552" y="2011680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73552" y="2103120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712464" y="2011680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712464" y="2103120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151376" y="2011680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51376" y="2103120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590288" y="2011680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90288" y="2103120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77824" y="2450592"/>
            <a:ext cx="512064" cy="384048"/>
          </a:xfrm>
          <a:prstGeom prst="roundRect">
            <a:avLst>
              <a:gd name="adj" fmla="val 28571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77824" y="2542032"/>
            <a:ext cx="51206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1517904" y="2450592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517904" y="2542032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1956816" y="2450592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956816" y="2542032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2395728" y="2450592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395728" y="2542032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2834640" y="2450592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834640" y="2542032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273552" y="2450592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73552" y="2542032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3712464" y="2450592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712464" y="2542032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4151376" y="2450592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151376" y="2542032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4590288" y="2450592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90288" y="2542032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877824" y="2889504"/>
            <a:ext cx="512064" cy="384048"/>
          </a:xfrm>
          <a:prstGeom prst="roundRect">
            <a:avLst>
              <a:gd name="adj" fmla="val 28571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77824" y="2980944"/>
            <a:ext cx="51206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1517904" y="2889504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517904" y="298094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1956816" y="2889504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956816" y="298094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2395728" y="2889504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395728" y="298094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2834640" y="2889504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834640" y="298094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3273552" y="2889504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273552" y="298094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3712464" y="2889504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712464" y="298094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4151376" y="2889504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151376" y="298094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4590288" y="2889504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590288" y="298094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877824" y="3328416"/>
            <a:ext cx="512064" cy="384048"/>
          </a:xfrm>
          <a:prstGeom prst="roundRect">
            <a:avLst>
              <a:gd name="adj" fmla="val 28571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77824" y="3419856"/>
            <a:ext cx="51206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1517904" y="3328416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517904" y="3419856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1956816" y="3328416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956816" y="3419856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2395728" y="3328416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395728" y="3419856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2834640" y="3328416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834640" y="3419856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3273552" y="3328416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273552" y="3419856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3712464" y="3328416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712464" y="3419856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1200" dirty="0"/>
          </a:p>
        </p:txBody>
      </p:sp>
      <p:sp>
        <p:nvSpPr>
          <p:cNvPr id="99" name="Shape 97"/>
          <p:cNvSpPr/>
          <p:nvPr/>
        </p:nvSpPr>
        <p:spPr>
          <a:xfrm>
            <a:off x="4151376" y="3328416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151376" y="3419856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</a:t>
            </a:r>
            <a:endParaRPr lang="en-US" sz="1200" dirty="0"/>
          </a:p>
        </p:txBody>
      </p:sp>
      <p:sp>
        <p:nvSpPr>
          <p:cNvPr id="101" name="Shape 99"/>
          <p:cNvSpPr/>
          <p:nvPr/>
        </p:nvSpPr>
        <p:spPr>
          <a:xfrm>
            <a:off x="4590288" y="3328416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590288" y="3419856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</a:t>
            </a:r>
            <a:endParaRPr lang="en-US" sz="1200" dirty="0"/>
          </a:p>
        </p:txBody>
      </p:sp>
      <p:sp>
        <p:nvSpPr>
          <p:cNvPr id="103" name="Shape 101"/>
          <p:cNvSpPr/>
          <p:nvPr/>
        </p:nvSpPr>
        <p:spPr>
          <a:xfrm>
            <a:off x="877824" y="3767328"/>
            <a:ext cx="512064" cy="384048"/>
          </a:xfrm>
          <a:prstGeom prst="roundRect">
            <a:avLst>
              <a:gd name="adj" fmla="val 28571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77824" y="3858768"/>
            <a:ext cx="51206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200" dirty="0"/>
          </a:p>
        </p:txBody>
      </p:sp>
      <p:sp>
        <p:nvSpPr>
          <p:cNvPr id="105" name="Shape 103"/>
          <p:cNvSpPr/>
          <p:nvPr/>
        </p:nvSpPr>
        <p:spPr>
          <a:xfrm>
            <a:off x="1517904" y="3767328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517904" y="3858768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200" dirty="0"/>
          </a:p>
        </p:txBody>
      </p:sp>
      <p:sp>
        <p:nvSpPr>
          <p:cNvPr id="107" name="Shape 105"/>
          <p:cNvSpPr/>
          <p:nvPr/>
        </p:nvSpPr>
        <p:spPr>
          <a:xfrm>
            <a:off x="1956816" y="3767328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956816" y="3858768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200" dirty="0"/>
          </a:p>
        </p:txBody>
      </p:sp>
      <p:sp>
        <p:nvSpPr>
          <p:cNvPr id="109" name="Shape 107"/>
          <p:cNvSpPr/>
          <p:nvPr/>
        </p:nvSpPr>
        <p:spPr>
          <a:xfrm>
            <a:off x="2395728" y="3767328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2395728" y="3858768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1200" dirty="0"/>
          </a:p>
        </p:txBody>
      </p:sp>
      <p:sp>
        <p:nvSpPr>
          <p:cNvPr id="111" name="Shape 109"/>
          <p:cNvSpPr/>
          <p:nvPr/>
        </p:nvSpPr>
        <p:spPr>
          <a:xfrm>
            <a:off x="2834640" y="3767328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2834640" y="3858768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1200" dirty="0"/>
          </a:p>
        </p:txBody>
      </p:sp>
      <p:sp>
        <p:nvSpPr>
          <p:cNvPr id="113" name="Shape 111"/>
          <p:cNvSpPr/>
          <p:nvPr/>
        </p:nvSpPr>
        <p:spPr>
          <a:xfrm>
            <a:off x="3273552" y="3767328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3273552" y="3858768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1200" dirty="0"/>
          </a:p>
        </p:txBody>
      </p:sp>
      <p:sp>
        <p:nvSpPr>
          <p:cNvPr id="115" name="Shape 113"/>
          <p:cNvSpPr/>
          <p:nvPr/>
        </p:nvSpPr>
        <p:spPr>
          <a:xfrm>
            <a:off x="3712464" y="3767328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3712464" y="3858768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</a:t>
            </a:r>
            <a:endParaRPr lang="en-US" sz="1200" dirty="0"/>
          </a:p>
        </p:txBody>
      </p:sp>
      <p:sp>
        <p:nvSpPr>
          <p:cNvPr id="117" name="Shape 115"/>
          <p:cNvSpPr/>
          <p:nvPr/>
        </p:nvSpPr>
        <p:spPr>
          <a:xfrm>
            <a:off x="4151376" y="3767328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4151376" y="3858768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</a:t>
            </a:r>
            <a:endParaRPr lang="en-US" sz="1200" dirty="0"/>
          </a:p>
        </p:txBody>
      </p:sp>
      <p:sp>
        <p:nvSpPr>
          <p:cNvPr id="119" name="Shape 117"/>
          <p:cNvSpPr/>
          <p:nvPr/>
        </p:nvSpPr>
        <p:spPr>
          <a:xfrm>
            <a:off x="4590288" y="3767328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4590288" y="3858768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1200" dirty="0"/>
          </a:p>
        </p:txBody>
      </p:sp>
      <p:sp>
        <p:nvSpPr>
          <p:cNvPr id="121" name="Shape 119"/>
          <p:cNvSpPr/>
          <p:nvPr/>
        </p:nvSpPr>
        <p:spPr>
          <a:xfrm>
            <a:off x="877824" y="4206240"/>
            <a:ext cx="512064" cy="384048"/>
          </a:xfrm>
          <a:prstGeom prst="roundRect">
            <a:avLst>
              <a:gd name="adj" fmla="val 28571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877824" y="4297680"/>
            <a:ext cx="51206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200" dirty="0"/>
          </a:p>
        </p:txBody>
      </p:sp>
      <p:sp>
        <p:nvSpPr>
          <p:cNvPr id="123" name="Shape 121"/>
          <p:cNvSpPr/>
          <p:nvPr/>
        </p:nvSpPr>
        <p:spPr>
          <a:xfrm>
            <a:off x="1517904" y="4206240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FFF5E2"/>
          </a:solidFill>
          <a:ln w="12700">
            <a:solidFill>
              <a:srgbClr val="D98C0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1517904" y="4297680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200" dirty="0"/>
          </a:p>
        </p:txBody>
      </p:sp>
      <p:sp>
        <p:nvSpPr>
          <p:cNvPr id="125" name="Shape 123"/>
          <p:cNvSpPr/>
          <p:nvPr/>
        </p:nvSpPr>
        <p:spPr>
          <a:xfrm>
            <a:off x="1956816" y="4206240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956816" y="4297680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1200" dirty="0"/>
          </a:p>
        </p:txBody>
      </p:sp>
      <p:sp>
        <p:nvSpPr>
          <p:cNvPr id="127" name="Shape 125"/>
          <p:cNvSpPr/>
          <p:nvPr/>
        </p:nvSpPr>
        <p:spPr>
          <a:xfrm>
            <a:off x="2395728" y="4206240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2395728" y="4297680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1200" dirty="0"/>
          </a:p>
        </p:txBody>
      </p:sp>
      <p:sp>
        <p:nvSpPr>
          <p:cNvPr id="129" name="Shape 127"/>
          <p:cNvSpPr/>
          <p:nvPr/>
        </p:nvSpPr>
        <p:spPr>
          <a:xfrm>
            <a:off x="2834640" y="4206240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2834640" y="4297680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1200" dirty="0"/>
          </a:p>
        </p:txBody>
      </p:sp>
      <p:sp>
        <p:nvSpPr>
          <p:cNvPr id="131" name="Shape 129"/>
          <p:cNvSpPr/>
          <p:nvPr/>
        </p:nvSpPr>
        <p:spPr>
          <a:xfrm>
            <a:off x="3273552" y="4206240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3273552" y="4297680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</a:t>
            </a:r>
            <a:endParaRPr lang="en-US" sz="1200" dirty="0"/>
          </a:p>
        </p:txBody>
      </p:sp>
      <p:sp>
        <p:nvSpPr>
          <p:cNvPr id="133" name="Shape 131"/>
          <p:cNvSpPr/>
          <p:nvPr/>
        </p:nvSpPr>
        <p:spPr>
          <a:xfrm>
            <a:off x="3712464" y="4206240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3712464" y="4297680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</a:t>
            </a:r>
            <a:endParaRPr lang="en-US" sz="1200" dirty="0"/>
          </a:p>
        </p:txBody>
      </p:sp>
      <p:sp>
        <p:nvSpPr>
          <p:cNvPr id="135" name="Shape 133"/>
          <p:cNvSpPr/>
          <p:nvPr/>
        </p:nvSpPr>
        <p:spPr>
          <a:xfrm>
            <a:off x="4151376" y="4206240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4151376" y="4297680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1200" dirty="0"/>
          </a:p>
        </p:txBody>
      </p:sp>
      <p:sp>
        <p:nvSpPr>
          <p:cNvPr id="137" name="Shape 135"/>
          <p:cNvSpPr/>
          <p:nvPr/>
        </p:nvSpPr>
        <p:spPr>
          <a:xfrm>
            <a:off x="4590288" y="4206240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4590288" y="4297680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</a:t>
            </a:r>
            <a:endParaRPr lang="en-US" sz="1200" dirty="0"/>
          </a:p>
        </p:txBody>
      </p:sp>
      <p:sp>
        <p:nvSpPr>
          <p:cNvPr id="139" name="Shape 137"/>
          <p:cNvSpPr/>
          <p:nvPr/>
        </p:nvSpPr>
        <p:spPr>
          <a:xfrm>
            <a:off x="877824" y="4645152"/>
            <a:ext cx="512064" cy="384048"/>
          </a:xfrm>
          <a:prstGeom prst="roundRect">
            <a:avLst>
              <a:gd name="adj" fmla="val 28571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877824" y="4736592"/>
            <a:ext cx="51206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1200" dirty="0"/>
          </a:p>
        </p:txBody>
      </p:sp>
      <p:sp>
        <p:nvSpPr>
          <p:cNvPr id="141" name="Shape 139"/>
          <p:cNvSpPr/>
          <p:nvPr/>
        </p:nvSpPr>
        <p:spPr>
          <a:xfrm>
            <a:off x="1517904" y="4645152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517904" y="4736592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1200" dirty="0"/>
          </a:p>
        </p:txBody>
      </p:sp>
      <p:sp>
        <p:nvSpPr>
          <p:cNvPr id="143" name="Shape 141"/>
          <p:cNvSpPr/>
          <p:nvPr/>
        </p:nvSpPr>
        <p:spPr>
          <a:xfrm>
            <a:off x="1956816" y="4645152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1956816" y="4736592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1200" dirty="0"/>
          </a:p>
        </p:txBody>
      </p:sp>
      <p:sp>
        <p:nvSpPr>
          <p:cNvPr id="145" name="Shape 143"/>
          <p:cNvSpPr/>
          <p:nvPr/>
        </p:nvSpPr>
        <p:spPr>
          <a:xfrm>
            <a:off x="2395728" y="4645152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2395728" y="4736592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1200" dirty="0"/>
          </a:p>
        </p:txBody>
      </p:sp>
      <p:sp>
        <p:nvSpPr>
          <p:cNvPr id="147" name="Shape 145"/>
          <p:cNvSpPr/>
          <p:nvPr/>
        </p:nvSpPr>
        <p:spPr>
          <a:xfrm>
            <a:off x="2834640" y="4645152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2834640" y="4736592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</a:t>
            </a:r>
            <a:endParaRPr lang="en-US" sz="1200" dirty="0"/>
          </a:p>
        </p:txBody>
      </p:sp>
      <p:sp>
        <p:nvSpPr>
          <p:cNvPr id="149" name="Shape 147"/>
          <p:cNvSpPr/>
          <p:nvPr/>
        </p:nvSpPr>
        <p:spPr>
          <a:xfrm>
            <a:off x="3273552" y="4645152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3273552" y="4736592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</a:t>
            </a:r>
            <a:endParaRPr lang="en-US" sz="1200" dirty="0"/>
          </a:p>
        </p:txBody>
      </p:sp>
      <p:sp>
        <p:nvSpPr>
          <p:cNvPr id="151" name="Shape 149"/>
          <p:cNvSpPr/>
          <p:nvPr/>
        </p:nvSpPr>
        <p:spPr>
          <a:xfrm>
            <a:off x="3712464" y="4645152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3712464" y="4736592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1200" dirty="0"/>
          </a:p>
        </p:txBody>
      </p:sp>
      <p:sp>
        <p:nvSpPr>
          <p:cNvPr id="153" name="Shape 151"/>
          <p:cNvSpPr/>
          <p:nvPr/>
        </p:nvSpPr>
        <p:spPr>
          <a:xfrm>
            <a:off x="4151376" y="4645152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4151376" y="4736592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</a:t>
            </a:r>
            <a:endParaRPr lang="en-US" sz="1200" dirty="0"/>
          </a:p>
        </p:txBody>
      </p:sp>
      <p:sp>
        <p:nvSpPr>
          <p:cNvPr id="155" name="Shape 153"/>
          <p:cNvSpPr/>
          <p:nvPr/>
        </p:nvSpPr>
        <p:spPr>
          <a:xfrm>
            <a:off x="4590288" y="4645152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4590288" y="4736592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1200" dirty="0"/>
          </a:p>
        </p:txBody>
      </p:sp>
      <p:sp>
        <p:nvSpPr>
          <p:cNvPr id="157" name="Shape 155"/>
          <p:cNvSpPr/>
          <p:nvPr/>
        </p:nvSpPr>
        <p:spPr>
          <a:xfrm>
            <a:off x="877824" y="5084064"/>
            <a:ext cx="512064" cy="384048"/>
          </a:xfrm>
          <a:prstGeom prst="roundRect">
            <a:avLst>
              <a:gd name="adj" fmla="val 28571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877824" y="5175504"/>
            <a:ext cx="51206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1200" dirty="0"/>
          </a:p>
        </p:txBody>
      </p:sp>
      <p:sp>
        <p:nvSpPr>
          <p:cNvPr id="159" name="Shape 157"/>
          <p:cNvSpPr/>
          <p:nvPr/>
        </p:nvSpPr>
        <p:spPr>
          <a:xfrm>
            <a:off x="1517904" y="5084064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1517904" y="517550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1200" dirty="0"/>
          </a:p>
        </p:txBody>
      </p:sp>
      <p:sp>
        <p:nvSpPr>
          <p:cNvPr id="161" name="Shape 159"/>
          <p:cNvSpPr/>
          <p:nvPr/>
        </p:nvSpPr>
        <p:spPr>
          <a:xfrm>
            <a:off x="1956816" y="5084064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1956816" y="517550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1200" dirty="0"/>
          </a:p>
        </p:txBody>
      </p:sp>
      <p:sp>
        <p:nvSpPr>
          <p:cNvPr id="163" name="Shape 161"/>
          <p:cNvSpPr/>
          <p:nvPr/>
        </p:nvSpPr>
        <p:spPr>
          <a:xfrm>
            <a:off x="2395728" y="5084064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2395728" y="517550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</a:t>
            </a:r>
            <a:endParaRPr lang="en-US" sz="1200" dirty="0"/>
          </a:p>
        </p:txBody>
      </p:sp>
      <p:sp>
        <p:nvSpPr>
          <p:cNvPr id="165" name="Shape 163"/>
          <p:cNvSpPr/>
          <p:nvPr/>
        </p:nvSpPr>
        <p:spPr>
          <a:xfrm>
            <a:off x="2834640" y="5084064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2834640" y="517550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</a:t>
            </a:r>
            <a:endParaRPr lang="en-US" sz="1200" dirty="0"/>
          </a:p>
        </p:txBody>
      </p:sp>
      <p:sp>
        <p:nvSpPr>
          <p:cNvPr id="167" name="Shape 165"/>
          <p:cNvSpPr/>
          <p:nvPr/>
        </p:nvSpPr>
        <p:spPr>
          <a:xfrm>
            <a:off x="3273552" y="5084064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3273552" y="517550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1200" dirty="0"/>
          </a:p>
        </p:txBody>
      </p:sp>
      <p:sp>
        <p:nvSpPr>
          <p:cNvPr id="169" name="Shape 167"/>
          <p:cNvSpPr/>
          <p:nvPr/>
        </p:nvSpPr>
        <p:spPr>
          <a:xfrm>
            <a:off x="3712464" y="5084064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3712464" y="517550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</a:t>
            </a:r>
            <a:endParaRPr lang="en-US" sz="1200" dirty="0"/>
          </a:p>
        </p:txBody>
      </p:sp>
      <p:sp>
        <p:nvSpPr>
          <p:cNvPr id="171" name="Shape 169"/>
          <p:cNvSpPr/>
          <p:nvPr/>
        </p:nvSpPr>
        <p:spPr>
          <a:xfrm>
            <a:off x="4151376" y="5084064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4151376" y="517550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1200" dirty="0"/>
          </a:p>
        </p:txBody>
      </p:sp>
      <p:sp>
        <p:nvSpPr>
          <p:cNvPr id="173" name="Shape 171"/>
          <p:cNvSpPr/>
          <p:nvPr/>
        </p:nvSpPr>
        <p:spPr>
          <a:xfrm>
            <a:off x="4590288" y="5084064"/>
            <a:ext cx="420624" cy="384048"/>
          </a:xfrm>
          <a:prstGeom prst="roundRect">
            <a:avLst>
              <a:gd name="adj" fmla="val 28571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4590288" y="5175504"/>
            <a:ext cx="42062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</a:t>
            </a:r>
            <a:endParaRPr lang="en-US" sz="1200" dirty="0"/>
          </a:p>
        </p:txBody>
      </p:sp>
      <p:sp>
        <p:nvSpPr>
          <p:cNvPr id="175" name="Text 173"/>
          <p:cNvSpPr/>
          <p:nvPr/>
        </p:nvSpPr>
        <p:spPr>
          <a:xfrm>
            <a:off x="5138928" y="3200400"/>
            <a:ext cx="29260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…</a:t>
            </a:r>
            <a:endParaRPr lang="en-US" sz="1800" dirty="0"/>
          </a:p>
        </p:txBody>
      </p:sp>
      <p:sp>
        <p:nvSpPr>
          <p:cNvPr id="176" name="Text 174"/>
          <p:cNvSpPr/>
          <p:nvPr/>
        </p:nvSpPr>
        <p:spPr>
          <a:xfrm>
            <a:off x="877824" y="5687568"/>
            <a:ext cx="512064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100" dirty="0"/>
          </a:p>
        </p:txBody>
      </p:sp>
      <p:sp>
        <p:nvSpPr>
          <p:cNvPr id="177" name="Text 175"/>
          <p:cNvSpPr/>
          <p:nvPr/>
        </p:nvSpPr>
        <p:spPr>
          <a:xfrm>
            <a:off x="1517904" y="5687568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… through Z</a:t>
            </a:r>
            <a:endParaRPr lang="en-US" sz="1100" dirty="0"/>
          </a:p>
        </p:txBody>
      </p:sp>
      <p:sp>
        <p:nvSpPr>
          <p:cNvPr id="178" name="Shape 176"/>
          <p:cNvSpPr/>
          <p:nvPr/>
        </p:nvSpPr>
        <p:spPr>
          <a:xfrm>
            <a:off x="8339328" y="1261872"/>
            <a:ext cx="3182112" cy="4526280"/>
          </a:xfrm>
          <a:prstGeom prst="roundRect">
            <a:avLst>
              <a:gd name="adj" fmla="val 3448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8668512" y="1600200"/>
            <a:ext cx="2542032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CELL, ONE CALCULATION</a:t>
            </a:r>
            <a:endParaRPr lang="en-US" sz="1400" dirty="0"/>
          </a:p>
        </p:txBody>
      </p:sp>
      <p:sp>
        <p:nvSpPr>
          <p:cNvPr id="180" name="Shape 178"/>
          <p:cNvSpPr/>
          <p:nvPr/>
        </p:nvSpPr>
        <p:spPr>
          <a:xfrm>
            <a:off x="8887968" y="2331720"/>
            <a:ext cx="1024128" cy="310896"/>
          </a:xfrm>
          <a:prstGeom prst="roundRect">
            <a:avLst>
              <a:gd name="adj" fmla="val 35294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8933688" y="2340864"/>
            <a:ext cx="9326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= F</a:t>
            </a:r>
            <a:endParaRPr lang="en-US" sz="1100" dirty="0"/>
          </a:p>
        </p:txBody>
      </p:sp>
      <p:sp>
        <p:nvSpPr>
          <p:cNvPr id="182" name="Shape 180"/>
          <p:cNvSpPr/>
          <p:nvPr/>
        </p:nvSpPr>
        <p:spPr>
          <a:xfrm>
            <a:off x="10058400" y="2331720"/>
            <a:ext cx="1024128" cy="310896"/>
          </a:xfrm>
          <a:prstGeom prst="roundRect">
            <a:avLst>
              <a:gd name="adj" fmla="val 35294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10104120" y="2340864"/>
            <a:ext cx="9326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 = C</a:t>
            </a:r>
            <a:endParaRPr lang="en-US" sz="1100" dirty="0"/>
          </a:p>
        </p:txBody>
      </p:sp>
      <p:sp>
        <p:nvSpPr>
          <p:cNvPr id="184" name="Shape 182"/>
          <p:cNvSpPr/>
          <p:nvPr/>
        </p:nvSpPr>
        <p:spPr>
          <a:xfrm>
            <a:off x="9372600" y="2788920"/>
            <a:ext cx="0" cy="393192"/>
          </a:xfrm>
          <a:prstGeom prst="line">
            <a:avLst/>
          </a:prstGeom>
          <a:noFill/>
          <a:ln w="25400">
            <a:solidFill>
              <a:srgbClr val="8798A7"/>
            </a:solidFill>
            <a:prstDash val="solid"/>
            <a:tailEnd type="triangle"/>
          </a:ln>
        </p:spPr>
      </p:sp>
      <p:sp>
        <p:nvSpPr>
          <p:cNvPr id="185" name="Text 183"/>
          <p:cNvSpPr/>
          <p:nvPr/>
        </p:nvSpPr>
        <p:spPr>
          <a:xfrm>
            <a:off x="8668512" y="3255264"/>
            <a:ext cx="254203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 F</a:t>
            </a:r>
            <a:endParaRPr lang="en-US" sz="1600" dirty="0"/>
          </a:p>
        </p:txBody>
      </p:sp>
      <p:sp>
        <p:nvSpPr>
          <p:cNvPr id="186" name="Text 184"/>
          <p:cNvSpPr/>
          <p:nvPr/>
        </p:nvSpPr>
        <p:spPr>
          <a:xfrm>
            <a:off x="8668512" y="3611880"/>
            <a:ext cx="254203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 C</a:t>
            </a:r>
            <a:endParaRPr lang="en-US" sz="1600" dirty="0"/>
          </a:p>
        </p:txBody>
      </p:sp>
      <p:sp>
        <p:nvSpPr>
          <p:cNvPr id="187" name="Shape 185"/>
          <p:cNvSpPr/>
          <p:nvPr/>
        </p:nvSpPr>
        <p:spPr>
          <a:xfrm>
            <a:off x="8979408" y="4160520"/>
            <a:ext cx="1874520" cy="585216"/>
          </a:xfrm>
          <a:prstGeom prst="roundRect">
            <a:avLst>
              <a:gd name="adj" fmla="val 18750"/>
            </a:avLst>
          </a:prstGeom>
          <a:solidFill>
            <a:srgbClr val="FFF5E2"/>
          </a:solidFill>
          <a:ln w="12700">
            <a:solidFill>
              <a:srgbClr val="FFF5E2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8979408" y="4160520"/>
            <a:ext cx="73152" cy="585216"/>
          </a:xfrm>
          <a:prstGeom prst="roundRect">
            <a:avLst>
              <a:gd name="adj" fmla="val 150000"/>
            </a:avLst>
          </a:prstGeom>
          <a:solidFill>
            <a:srgbClr val="D98C00"/>
          </a:solidFill>
          <a:ln w="12700">
            <a:solidFill>
              <a:srgbClr val="D98C00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9144000" y="4242816"/>
            <a:ext cx="1618488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H</a:t>
            </a:r>
            <a:endParaRPr lang="en-US" sz="1400" dirty="0"/>
          </a:p>
        </p:txBody>
      </p:sp>
      <p:sp>
        <p:nvSpPr>
          <p:cNvPr id="190" name="Text 188"/>
          <p:cNvSpPr/>
          <p:nvPr/>
        </p:nvSpPr>
        <p:spPr>
          <a:xfrm>
            <a:off x="8613648" y="4709160"/>
            <a:ext cx="2670048" cy="6035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D9E8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full 26×26 table follows the same shifting pattern.</a:t>
            </a:r>
            <a:endParaRPr lang="en-US" sz="1300" dirty="0"/>
          </a:p>
        </p:txBody>
      </p:sp>
      <p:sp>
        <p:nvSpPr>
          <p:cNvPr id="191" name="Shape 189"/>
          <p:cNvSpPr/>
          <p:nvPr/>
        </p:nvSpPr>
        <p:spPr>
          <a:xfrm>
            <a:off x="914400" y="5577840"/>
            <a:ext cx="9738360" cy="585216"/>
          </a:xfrm>
          <a:prstGeom prst="roundRect">
            <a:avLst>
              <a:gd name="adj" fmla="val 18750"/>
            </a:avLst>
          </a:prstGeom>
          <a:solidFill>
            <a:srgbClr val="FFF5E2"/>
          </a:solidFill>
          <a:ln w="12700">
            <a:solidFill>
              <a:srgbClr val="FFF5E2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914400" y="5577840"/>
            <a:ext cx="73152" cy="585216"/>
          </a:xfrm>
          <a:prstGeom prst="roundRect">
            <a:avLst>
              <a:gd name="adj" fmla="val 150000"/>
            </a:avLst>
          </a:prstGeom>
          <a:solidFill>
            <a:srgbClr val="D98C00"/>
          </a:solidFill>
          <a:ln w="12700">
            <a:solidFill>
              <a:srgbClr val="D98C00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1078992" y="5660136"/>
            <a:ext cx="9482328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highlight: key F + plaintext C = H.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2880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9202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SUBSTITUTION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0068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Classical Substitution Techniques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857232" y="1828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3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PANTECH SOLUTIONS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857232" y="457200"/>
            <a:ext cx="182880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2700">
            <a:solidFill>
              <a:srgbClr val="C8D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382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6364224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techniques extend the same “replace a symbol” idea in different ways.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45952" y="636422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3232" y="1371600"/>
            <a:ext cx="507492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9264" y="1609344"/>
            <a:ext cx="2148840" cy="310896"/>
          </a:xfrm>
          <a:prstGeom prst="roundRect">
            <a:avLst>
              <a:gd name="adj" fmla="val 35294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4984" y="1618488"/>
            <a:ext cx="20574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HOMOPHONIC SUBSTITUTION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87552" y="2121408"/>
            <a:ext cx="4443984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plaintext letter may map to several ciphertext symbols.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45352" y="1371600"/>
            <a:ext cx="507492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01384" y="1609344"/>
            <a:ext cx="2148840" cy="310896"/>
          </a:xfrm>
          <a:prstGeom prst="roundRect">
            <a:avLst>
              <a:gd name="adj" fmla="val 35294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47104" y="1618488"/>
            <a:ext cx="20574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PLAYFAIR CIPHER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19672" y="2121408"/>
            <a:ext cx="4443984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Encrypts pairs of letters using a 5×5 key square.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13232" y="3383280"/>
            <a:ext cx="507492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9264" y="3621024"/>
            <a:ext cx="2148840" cy="310896"/>
          </a:xfrm>
          <a:prstGeom prst="roundRect">
            <a:avLst>
              <a:gd name="adj" fmla="val 35294"/>
            </a:avLst>
          </a:prstGeom>
          <a:solidFill>
            <a:srgbClr val="6F4FB3"/>
          </a:solidFill>
          <a:ln w="12700">
            <a:solidFill>
              <a:srgbClr val="6F4FB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4984" y="3630168"/>
            <a:ext cx="20574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POLYALPHABETIC SUBSTITUTION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87552" y="4133088"/>
            <a:ext cx="4443984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Cycles through multiple substitution alphabets.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45352" y="3383280"/>
            <a:ext cx="507492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01384" y="3621024"/>
            <a:ext cx="2148840" cy="310896"/>
          </a:xfrm>
          <a:prstGeom prst="roundRect">
            <a:avLst>
              <a:gd name="adj" fmla="val 35294"/>
            </a:avLst>
          </a:prstGeom>
          <a:solidFill>
            <a:srgbClr val="D98C00"/>
          </a:solidFill>
          <a:ln w="12700">
            <a:solidFill>
              <a:srgbClr val="D98C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47104" y="3630168"/>
            <a:ext cx="20574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VARIANTS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19672" y="4133088"/>
            <a:ext cx="4443984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Bifid, trifid, digraph and historical variants explore richer mappings.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32688" y="5513832"/>
            <a:ext cx="10012680" cy="585216"/>
          </a:xfrm>
          <a:prstGeom prst="roundRect">
            <a:avLst>
              <a:gd name="adj" fmla="val 18750"/>
            </a:avLst>
          </a:prstGeom>
          <a:solidFill>
            <a:srgbClr val="E6F8F8"/>
          </a:solidFill>
          <a:ln w="12700">
            <a:solidFill>
              <a:srgbClr val="E6F8F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32688" y="5513832"/>
            <a:ext cx="73152" cy="585216"/>
          </a:xfrm>
          <a:prstGeom prst="roundRect">
            <a:avLst>
              <a:gd name="adj" fmla="val 150000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5596128"/>
            <a:ext cx="9756648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big idea in view: substitution changes the symbols, even when the rule becomes more sophisticated.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2880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9202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TRANSPOSITION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0068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Transposition Technique?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857232" y="1828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3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PANTECH SOLUTIONS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857232" y="457200"/>
            <a:ext cx="182880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2700">
            <a:solidFill>
              <a:srgbClr val="C8D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382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6364224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Transposition keeps the same characters but rearranges their positions.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45952" y="636422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1389888"/>
            <a:ext cx="507492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6F4F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TRANSPOSITION = REARRANGE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795528" y="1993392"/>
            <a:ext cx="4663440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letter values remain the same; only their positions change.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715000" y="1298448"/>
            <a:ext cx="544068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618488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202996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EAF1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157984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876288" y="202996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EAF1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76288" y="2157984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626096" y="202996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EAF1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26096" y="2157984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375904" y="202996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EAF1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75904" y="2157984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125712" y="202996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EAF1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25712" y="2157984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126480" y="298094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REARRANGED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3392424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0EAFE"/>
          </a:solidFill>
          <a:ln w="12700">
            <a:solidFill>
              <a:srgbClr val="6F4FB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3520440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876288" y="3392424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0EAFE"/>
          </a:solidFill>
          <a:ln w="12700">
            <a:solidFill>
              <a:srgbClr val="6F4FB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76288" y="3520440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7626096" y="3392424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0EAFE"/>
          </a:solidFill>
          <a:ln w="12700">
            <a:solidFill>
              <a:srgbClr val="6F4FB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26096" y="3520440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8375904" y="3392424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0EAFE"/>
          </a:solidFill>
          <a:ln w="12700">
            <a:solidFill>
              <a:srgbClr val="6F4FB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75904" y="3520440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9125712" y="3392424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0EAFE"/>
          </a:solidFill>
          <a:ln w="12700">
            <a:solidFill>
              <a:srgbClr val="6F4FB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3520440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6638544" y="2670048"/>
            <a:ext cx="0" cy="594360"/>
          </a:xfrm>
          <a:prstGeom prst="line">
            <a:avLst/>
          </a:prstGeom>
          <a:noFill/>
          <a:ln w="25400">
            <a:solidFill>
              <a:srgbClr val="6F4FB3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68680" y="5047488"/>
            <a:ext cx="9692640" cy="585216"/>
          </a:xfrm>
          <a:prstGeom prst="roundRect">
            <a:avLst>
              <a:gd name="adj" fmla="val 18750"/>
            </a:avLst>
          </a:prstGeom>
          <a:solidFill>
            <a:srgbClr val="F0EAFE"/>
          </a:solidFill>
          <a:ln w="12700">
            <a:solidFill>
              <a:srgbClr val="F0EAF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68680" y="5047488"/>
            <a:ext cx="73152" cy="585216"/>
          </a:xfrm>
          <a:prstGeom prst="roundRect">
            <a:avLst>
              <a:gd name="adj" fmla="val 150000"/>
            </a:avLst>
          </a:prstGeom>
          <a:solidFill>
            <a:srgbClr val="6F4FB3"/>
          </a:solidFill>
          <a:ln w="12700">
            <a:solidFill>
              <a:srgbClr val="6F4FB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33272" y="5129784"/>
            <a:ext cx="9436608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letters. New order.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2880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9202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TRANSPOSITION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0068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Substitution vs Transposition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857232" y="1828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3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PANTECH SOLUTIONS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857232" y="457200"/>
            <a:ext cx="182880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2700">
            <a:solidFill>
              <a:srgbClr val="C8D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382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6364224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simplest distinction is: substitution changes symbols; transposition changes positions.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45952" y="636422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1335024"/>
            <a:ext cx="5321808" cy="4443984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1581912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591056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SUBSTITUTION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176272"/>
            <a:ext cx="21488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Characters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63240" y="2157984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2788920"/>
            <a:ext cx="21488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Character values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63240" y="2770632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401568"/>
            <a:ext cx="21488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63240" y="3383280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generally remain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4014216"/>
            <a:ext cx="21488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063240" y="3995928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Caesar, Vigenère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17920" y="1335024"/>
            <a:ext cx="5321808" cy="4443984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46520" y="1581912"/>
            <a:ext cx="1627632" cy="310896"/>
          </a:xfrm>
          <a:prstGeom prst="roundRect">
            <a:avLst>
              <a:gd name="adj" fmla="val 35294"/>
            </a:avLst>
          </a:prstGeom>
          <a:solidFill>
            <a:srgbClr val="6F4FB3"/>
          </a:solidFill>
          <a:ln w="12700">
            <a:solidFill>
              <a:srgbClr val="6F4FB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1591056"/>
            <a:ext cx="153619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TRANSPOSITION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37960" y="2176272"/>
            <a:ext cx="21488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Characters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41080" y="2157984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rearranged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37960" y="2788920"/>
            <a:ext cx="21488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Character values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41080" y="2770632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remain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37960" y="3401568"/>
            <a:ext cx="21488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641080" y="3383280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37960" y="4014216"/>
            <a:ext cx="21488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641080" y="3995928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Rail Fence, Columnar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41832" y="5230368"/>
            <a:ext cx="10012680" cy="585216"/>
          </a:xfrm>
          <a:prstGeom prst="roundRect">
            <a:avLst>
              <a:gd name="adj" fmla="val 18750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1832" y="5230368"/>
            <a:ext cx="73152" cy="585216"/>
          </a:xfrm>
          <a:prstGeom prst="roundRect">
            <a:avLst>
              <a:gd name="adj" fmla="val 150000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06424" y="5312664"/>
            <a:ext cx="9756648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check: compare a letter’s identity and its position before and after transformation.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2880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9202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TRANSPOSITION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0068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Rail Fence Cipher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857232" y="1828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3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PANTECH SOLUTIONS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857232" y="457200"/>
            <a:ext cx="182880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2700">
            <a:solidFill>
              <a:srgbClr val="C8D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382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6364224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Rail Fence writes text in a zig-zag across a chosen number of rails, then reads row by row.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45952" y="636422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3232" y="1307592"/>
            <a:ext cx="461772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627632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choices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87552" y="2121408"/>
            <a:ext cx="73152" cy="73152"/>
          </a:xfrm>
          <a:prstGeom prst="ellipse">
            <a:avLst/>
          </a:prstGeom>
          <a:solidFill>
            <a:srgbClr val="6F4FB3"/>
          </a:solidFill>
          <a:ln w="12700">
            <a:solidFill>
              <a:srgbClr val="6F4FB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2029968"/>
            <a:ext cx="359359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 of rails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87552" y="2468880"/>
            <a:ext cx="73152" cy="73152"/>
          </a:xfrm>
          <a:prstGeom prst="ellipse">
            <a:avLst/>
          </a:prstGeom>
          <a:solidFill>
            <a:srgbClr val="6F4FB3"/>
          </a:solidFill>
          <a:ln w="12700">
            <a:solidFill>
              <a:srgbClr val="6F4FB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2377440"/>
            <a:ext cx="359359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Zig-zag direction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87552" y="2816352"/>
            <a:ext cx="73152" cy="73152"/>
          </a:xfrm>
          <a:prstGeom prst="ellipse">
            <a:avLst/>
          </a:prstGeom>
          <a:solidFill>
            <a:srgbClr val="6F4FB3"/>
          </a:solidFill>
          <a:ln w="12700">
            <a:solidFill>
              <a:srgbClr val="6F4FB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2724912"/>
            <a:ext cx="359359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Row-wise readout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87552" y="4023360"/>
            <a:ext cx="1965960" cy="310896"/>
          </a:xfrm>
          <a:prstGeom prst="roundRect">
            <a:avLst>
              <a:gd name="adj" fmla="val 35294"/>
            </a:avLst>
          </a:prstGeom>
          <a:solidFill>
            <a:srgbClr val="6F4FB3"/>
          </a:solidFill>
          <a:ln w="12700">
            <a:solidFill>
              <a:srgbClr val="6F4FB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3272" y="4032504"/>
            <a:ext cx="1874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= 3 RAILS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87552" y="4645152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characters — different order.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623560" y="1307592"/>
            <a:ext cx="5669280" cy="4526280"/>
          </a:xfrm>
          <a:prstGeom prst="roundRect">
            <a:avLst>
              <a:gd name="adj" fmla="val 242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89320" y="1609344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ZIG-ZAG PATH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2331720"/>
            <a:ext cx="475488" cy="47548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2432304"/>
            <a:ext cx="47548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7040880" y="3017520"/>
            <a:ext cx="475488" cy="47548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0" y="3118104"/>
            <a:ext cx="47548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7909560" y="3703320"/>
            <a:ext cx="475488" cy="47548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09560" y="3803904"/>
            <a:ext cx="47548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8778240" y="3017520"/>
            <a:ext cx="475488" cy="47548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78240" y="3118104"/>
            <a:ext cx="47548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9646920" y="2331720"/>
            <a:ext cx="475488" cy="47548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46920" y="2432304"/>
            <a:ext cx="47548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10515600" y="3017520"/>
            <a:ext cx="475488" cy="47548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515600" y="3118104"/>
            <a:ext cx="47548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6409944" y="2569464"/>
            <a:ext cx="868680" cy="685800"/>
          </a:xfrm>
          <a:prstGeom prst="line">
            <a:avLst/>
          </a:prstGeom>
          <a:noFill/>
          <a:ln w="25400">
            <a:solidFill>
              <a:srgbClr val="6DA7B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78624" y="3255264"/>
            <a:ext cx="868680" cy="685800"/>
          </a:xfrm>
          <a:prstGeom prst="line">
            <a:avLst/>
          </a:prstGeom>
          <a:noFill/>
          <a:ln w="25400">
            <a:solidFill>
              <a:srgbClr val="6DA7B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47304" y="3255264"/>
            <a:ext cx="868680" cy="685800"/>
          </a:xfrm>
          <a:prstGeom prst="line">
            <a:avLst/>
          </a:prstGeom>
          <a:noFill/>
          <a:ln w="25400">
            <a:solidFill>
              <a:srgbClr val="6DA7B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015984" y="2569464"/>
            <a:ext cx="868680" cy="685800"/>
          </a:xfrm>
          <a:prstGeom prst="line">
            <a:avLst/>
          </a:prstGeom>
          <a:noFill/>
          <a:ln w="25400">
            <a:solidFill>
              <a:srgbClr val="6DA7B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884664" y="2569464"/>
            <a:ext cx="868680" cy="685800"/>
          </a:xfrm>
          <a:prstGeom prst="line">
            <a:avLst/>
          </a:prstGeom>
          <a:noFill/>
          <a:ln w="25400">
            <a:solidFill>
              <a:srgbClr val="6DA7B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70448" y="2395728"/>
            <a:ext cx="475488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7D2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rail 1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870448" y="3072384"/>
            <a:ext cx="475488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7D2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rail 2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870448" y="3749040"/>
            <a:ext cx="475488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7D2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rail 3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2880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9202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TRANSPOSITION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0068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Rail Fence Encryption Diagram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857232" y="1828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3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PANTECH SOLUTIONS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857232" y="457200"/>
            <a:ext cx="182880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2700">
            <a:solidFill>
              <a:srgbClr val="C8D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382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6364224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rails create a visible zig-zag path; reading the rows produces the ciphertext.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45952" y="636422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1234440"/>
            <a:ext cx="109728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517904"/>
            <a:ext cx="37947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PLAINTEXT: WEAREDISCOVERED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298448" y="2240280"/>
            <a:ext cx="420624" cy="420624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8448" y="2322576"/>
            <a:ext cx="420624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901952" y="2999232"/>
            <a:ext cx="420624" cy="42062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01952" y="3081528"/>
            <a:ext cx="420624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05456" y="3758184"/>
            <a:ext cx="420624" cy="420624"/>
          </a:xfrm>
          <a:prstGeom prst="ellipse">
            <a:avLst/>
          </a:prstGeom>
          <a:solidFill>
            <a:srgbClr val="6F4FB3"/>
          </a:solidFill>
          <a:ln w="12700">
            <a:solidFill>
              <a:srgbClr val="6F4FB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05456" y="3840480"/>
            <a:ext cx="420624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108960" y="2999232"/>
            <a:ext cx="420624" cy="42062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0" y="3081528"/>
            <a:ext cx="420624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712464" y="2240280"/>
            <a:ext cx="420624" cy="420624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12464" y="2322576"/>
            <a:ext cx="420624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315968" y="2999232"/>
            <a:ext cx="420624" cy="42062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15968" y="3081528"/>
            <a:ext cx="420624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919472" y="3758184"/>
            <a:ext cx="420624" cy="420624"/>
          </a:xfrm>
          <a:prstGeom prst="ellipse">
            <a:avLst/>
          </a:prstGeom>
          <a:solidFill>
            <a:srgbClr val="6F4FB3"/>
          </a:solidFill>
          <a:ln w="12700">
            <a:solidFill>
              <a:srgbClr val="6F4FB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3840480"/>
            <a:ext cx="420624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522976" y="2999232"/>
            <a:ext cx="420624" cy="42062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22976" y="3081528"/>
            <a:ext cx="420624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26480" y="2240280"/>
            <a:ext cx="420624" cy="420624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2322576"/>
            <a:ext cx="420624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729984" y="2999232"/>
            <a:ext cx="420624" cy="42062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9984" y="3081528"/>
            <a:ext cx="420624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333488" y="3758184"/>
            <a:ext cx="420624" cy="420624"/>
          </a:xfrm>
          <a:prstGeom prst="ellipse">
            <a:avLst/>
          </a:prstGeom>
          <a:solidFill>
            <a:srgbClr val="6F4FB3"/>
          </a:solidFill>
          <a:ln w="12700">
            <a:solidFill>
              <a:srgbClr val="6F4FB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33488" y="3840480"/>
            <a:ext cx="420624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936992" y="2999232"/>
            <a:ext cx="420624" cy="42062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36992" y="3081528"/>
            <a:ext cx="420624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540496" y="2240280"/>
            <a:ext cx="420624" cy="420624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40496" y="2322576"/>
            <a:ext cx="420624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9144000" y="2999232"/>
            <a:ext cx="420624" cy="42062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0" y="3081528"/>
            <a:ext cx="420624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9747504" y="3758184"/>
            <a:ext cx="420624" cy="420624"/>
          </a:xfrm>
          <a:prstGeom prst="ellipse">
            <a:avLst/>
          </a:prstGeom>
          <a:solidFill>
            <a:srgbClr val="6F4FB3"/>
          </a:solidFill>
          <a:ln w="12700">
            <a:solidFill>
              <a:srgbClr val="6F4FB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747504" y="3840480"/>
            <a:ext cx="420624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1508760" y="2450592"/>
            <a:ext cx="603504" cy="758952"/>
          </a:xfrm>
          <a:prstGeom prst="line">
            <a:avLst/>
          </a:prstGeom>
          <a:noFill/>
          <a:ln w="17780">
            <a:solidFill>
              <a:srgbClr val="8798A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112264" y="3209544"/>
            <a:ext cx="603504" cy="758952"/>
          </a:xfrm>
          <a:prstGeom prst="line">
            <a:avLst/>
          </a:prstGeom>
          <a:noFill/>
          <a:ln w="17780">
            <a:solidFill>
              <a:srgbClr val="8798A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15768" y="3209544"/>
            <a:ext cx="603504" cy="758952"/>
          </a:xfrm>
          <a:prstGeom prst="line">
            <a:avLst/>
          </a:prstGeom>
          <a:noFill/>
          <a:ln w="17780">
            <a:solidFill>
              <a:srgbClr val="8798A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19272" y="2450592"/>
            <a:ext cx="603504" cy="758952"/>
          </a:xfrm>
          <a:prstGeom prst="line">
            <a:avLst/>
          </a:prstGeom>
          <a:noFill/>
          <a:ln w="17780">
            <a:solidFill>
              <a:srgbClr val="8798A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922776" y="2450592"/>
            <a:ext cx="603504" cy="758952"/>
          </a:xfrm>
          <a:prstGeom prst="line">
            <a:avLst/>
          </a:prstGeom>
          <a:noFill/>
          <a:ln w="17780">
            <a:solidFill>
              <a:srgbClr val="8798A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26280" y="3209544"/>
            <a:ext cx="603504" cy="758952"/>
          </a:xfrm>
          <a:prstGeom prst="line">
            <a:avLst/>
          </a:prstGeom>
          <a:noFill/>
          <a:ln w="17780">
            <a:solidFill>
              <a:srgbClr val="8798A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129784" y="3209544"/>
            <a:ext cx="603504" cy="758952"/>
          </a:xfrm>
          <a:prstGeom prst="line">
            <a:avLst/>
          </a:prstGeom>
          <a:noFill/>
          <a:ln w="17780">
            <a:solidFill>
              <a:srgbClr val="8798A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733288" y="2450592"/>
            <a:ext cx="603504" cy="758952"/>
          </a:xfrm>
          <a:prstGeom prst="line">
            <a:avLst/>
          </a:prstGeom>
          <a:noFill/>
          <a:ln w="17780">
            <a:solidFill>
              <a:srgbClr val="8798A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36792" y="2450592"/>
            <a:ext cx="603504" cy="758952"/>
          </a:xfrm>
          <a:prstGeom prst="line">
            <a:avLst/>
          </a:prstGeom>
          <a:noFill/>
          <a:ln w="17780">
            <a:solidFill>
              <a:srgbClr val="8798A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940296" y="3209544"/>
            <a:ext cx="603504" cy="758952"/>
          </a:xfrm>
          <a:prstGeom prst="line">
            <a:avLst/>
          </a:prstGeom>
          <a:noFill/>
          <a:ln w="17780">
            <a:solidFill>
              <a:srgbClr val="8798A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543800" y="3209544"/>
            <a:ext cx="603504" cy="758952"/>
          </a:xfrm>
          <a:prstGeom prst="line">
            <a:avLst/>
          </a:prstGeom>
          <a:noFill/>
          <a:ln w="17780">
            <a:solidFill>
              <a:srgbClr val="8798A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147304" y="2450592"/>
            <a:ext cx="603504" cy="758952"/>
          </a:xfrm>
          <a:prstGeom prst="line">
            <a:avLst/>
          </a:prstGeom>
          <a:noFill/>
          <a:ln w="17780">
            <a:solidFill>
              <a:srgbClr val="8798A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50808" y="2450592"/>
            <a:ext cx="603504" cy="758952"/>
          </a:xfrm>
          <a:prstGeom prst="line">
            <a:avLst/>
          </a:prstGeom>
          <a:noFill/>
          <a:ln w="17780">
            <a:solidFill>
              <a:srgbClr val="8798A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354312" y="3209544"/>
            <a:ext cx="603504" cy="758952"/>
          </a:xfrm>
          <a:prstGeom prst="line">
            <a:avLst/>
          </a:prstGeom>
          <a:noFill/>
          <a:ln w="17780">
            <a:solidFill>
              <a:srgbClr val="8798A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49808" y="2322576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6C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RAIL 1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49808" y="3081528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RAIL 2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49808" y="3840480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F4F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RAIL 3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096512" y="468172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row-by-row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1993392" y="4992624"/>
            <a:ext cx="79095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 R C V D E  •  E R D S O E E  •  A I V D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>
            <a:off x="2103120" y="5394960"/>
            <a:ext cx="7726680" cy="585216"/>
          </a:xfrm>
          <a:prstGeom prst="roundRect">
            <a:avLst>
              <a:gd name="adj" fmla="val 18750"/>
            </a:avLst>
          </a:prstGeom>
          <a:solidFill>
            <a:srgbClr val="F0EAFE"/>
          </a:solidFill>
          <a:ln w="12700">
            <a:solidFill>
              <a:srgbClr val="F0EAF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103120" y="5394960"/>
            <a:ext cx="73152" cy="585216"/>
          </a:xfrm>
          <a:prstGeom prst="roundRect">
            <a:avLst>
              <a:gd name="adj" fmla="val 150000"/>
            </a:avLst>
          </a:prstGeom>
          <a:solidFill>
            <a:srgbClr val="6F4FB3"/>
          </a:solidFill>
          <a:ln w="12700">
            <a:solidFill>
              <a:srgbClr val="6F4FB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267712" y="5477256"/>
            <a:ext cx="7470648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Ciphertext: WECRERDSOEEAIVD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2880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9202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TRANSPOSITION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0068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Rail Fence Encryption Step-by-Step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857232" y="1828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3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PANTECH SOLUTIONS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857232" y="457200"/>
            <a:ext cx="182880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2700">
            <a:solidFill>
              <a:srgbClr val="C8D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382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6364224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Encryption is a repeatable four-step process: place, zig-zag, finish, then read rows.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45952" y="636422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9808" y="1417320"/>
            <a:ext cx="2487168" cy="278892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2688" y="1664208"/>
            <a:ext cx="384048" cy="384048"/>
          </a:xfrm>
          <a:prstGeom prst="ellipse">
            <a:avLst/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1755648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63040" y="1664208"/>
            <a:ext cx="1527048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3 rails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42416" y="2414016"/>
            <a:ext cx="1920240" cy="6949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rail count.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538728" y="1417320"/>
            <a:ext cx="2487168" cy="278892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21608" y="1664208"/>
            <a:ext cx="384048" cy="384048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21608" y="1755648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51960" y="1664208"/>
            <a:ext cx="1527048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zig-zag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831336" y="2414016"/>
            <a:ext cx="1920240" cy="6949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down and up.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327648" y="1417320"/>
            <a:ext cx="2487168" cy="278892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10528" y="1664208"/>
            <a:ext cx="384048" cy="38404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0528" y="1755648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40880" y="1664208"/>
            <a:ext cx="1527048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 all characters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620256" y="2414016"/>
            <a:ext cx="1920240" cy="6949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Continue to the last symbol.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116568" y="1417320"/>
            <a:ext cx="2487168" cy="278892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99448" y="1664208"/>
            <a:ext cx="384048" cy="384048"/>
          </a:xfrm>
          <a:prstGeom prst="ellipse">
            <a:avLst/>
          </a:prstGeom>
          <a:solidFill>
            <a:srgbClr val="6F4FB3"/>
          </a:solidFill>
          <a:ln w="12700">
            <a:solidFill>
              <a:srgbClr val="6F4FB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99448" y="1755648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829800" y="1664208"/>
            <a:ext cx="1527048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row-wise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409176" y="2414016"/>
            <a:ext cx="1920240" cy="6949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rail → middle → bottom.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04672" y="4608576"/>
            <a:ext cx="77724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737360" y="4407408"/>
            <a:ext cx="2123694" cy="658368"/>
          </a:xfrm>
          <a:prstGeom prst="roundRect">
            <a:avLst>
              <a:gd name="adj" fmla="val 16667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10512" y="4480560"/>
            <a:ext cx="197739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96462" y="4736592"/>
            <a:ext cx="256032" cy="0"/>
          </a:xfrm>
          <a:prstGeom prst="line">
            <a:avLst/>
          </a:prstGeom>
          <a:noFill/>
          <a:ln w="25400">
            <a:solidFill>
              <a:srgbClr val="8798A7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062222" y="4407408"/>
            <a:ext cx="2123694" cy="658368"/>
          </a:xfrm>
          <a:prstGeom prst="roundRect">
            <a:avLst>
              <a:gd name="adj" fmla="val 16667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35374" y="4480560"/>
            <a:ext cx="197739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ZIG-ZAG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021324" y="4736592"/>
            <a:ext cx="256032" cy="0"/>
          </a:xfrm>
          <a:prstGeom prst="line">
            <a:avLst/>
          </a:prstGeom>
          <a:noFill/>
          <a:ln w="25400">
            <a:solidFill>
              <a:srgbClr val="8798A7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387084" y="4407408"/>
            <a:ext cx="2123694" cy="658368"/>
          </a:xfrm>
          <a:prstGeom prst="roundRect">
            <a:avLst>
              <a:gd name="adj" fmla="val 16667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60236" y="4480560"/>
            <a:ext cx="197739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 READ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346186" y="4736592"/>
            <a:ext cx="256032" cy="0"/>
          </a:xfrm>
          <a:prstGeom prst="line">
            <a:avLst/>
          </a:prstGeom>
          <a:noFill/>
          <a:ln w="25400">
            <a:solidFill>
              <a:srgbClr val="8798A7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711946" y="4407408"/>
            <a:ext cx="2123694" cy="658368"/>
          </a:xfrm>
          <a:prstGeom prst="roundRect">
            <a:avLst>
              <a:gd name="adj" fmla="val 16667"/>
            </a:avLst>
          </a:prstGeom>
          <a:solidFill>
            <a:srgbClr val="6F4FB3"/>
          </a:solidFill>
          <a:ln w="12700">
            <a:solidFill>
              <a:srgbClr val="6F4FB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85098" y="4480560"/>
            <a:ext cx="197739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14400" y="5413248"/>
            <a:ext cx="10012680" cy="585216"/>
          </a:xfrm>
          <a:prstGeom prst="roundRect">
            <a:avLst>
              <a:gd name="adj" fmla="val 18750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14400" y="5413248"/>
            <a:ext cx="73152" cy="585216"/>
          </a:xfrm>
          <a:prstGeom prst="roundRect">
            <a:avLst>
              <a:gd name="adj" fmla="val 150000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78992" y="5495544"/>
            <a:ext cx="9756648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Ciphertext order is created by the rail layout — not by changing any letter.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2880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9202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TRANSPOSITION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0068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Rail Fence Decryption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857232" y="1828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3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PANTECH SOLUTIONS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857232" y="457200"/>
            <a:ext cx="182880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2700">
            <a:solidFill>
              <a:srgbClr val="C8D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382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6364224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Decrypt by rebuilding the zig-zag positions, filling rails, then following the path.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45952" y="636422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4944" y="1554480"/>
            <a:ext cx="2006194" cy="658368"/>
          </a:xfrm>
          <a:prstGeom prst="roundRect">
            <a:avLst>
              <a:gd name="adj" fmla="val 16667"/>
            </a:avLst>
          </a:prstGeom>
          <a:solidFill>
            <a:srgbClr val="6F4FB3"/>
          </a:solidFill>
          <a:ln w="12700">
            <a:solidFill>
              <a:srgbClr val="6F4FB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627632"/>
            <a:ext cx="185989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CIPHERTEXT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536546" y="1883664"/>
            <a:ext cx="256032" cy="0"/>
          </a:xfrm>
          <a:prstGeom prst="line">
            <a:avLst/>
          </a:prstGeom>
          <a:noFill/>
          <a:ln w="25400">
            <a:solidFill>
              <a:srgbClr val="8798A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902306" y="1554480"/>
            <a:ext cx="2006194" cy="658368"/>
          </a:xfrm>
          <a:prstGeom prst="roundRect">
            <a:avLst>
              <a:gd name="adj" fmla="val 16667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75458" y="1627632"/>
            <a:ext cx="185989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 ZIG-ZAG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43907" y="1883664"/>
            <a:ext cx="256032" cy="0"/>
          </a:xfrm>
          <a:prstGeom prst="line">
            <a:avLst/>
          </a:prstGeom>
          <a:noFill/>
          <a:ln w="25400">
            <a:solidFill>
              <a:srgbClr val="8798A7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09667" y="1554480"/>
            <a:ext cx="2006194" cy="658368"/>
          </a:xfrm>
          <a:prstGeom prst="roundRect">
            <a:avLst>
              <a:gd name="adj" fmla="val 16667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82819" y="1627632"/>
            <a:ext cx="185989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FILL RAILS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951269" y="1883664"/>
            <a:ext cx="256032" cy="0"/>
          </a:xfrm>
          <a:prstGeom prst="line">
            <a:avLst/>
          </a:prstGeom>
          <a:noFill/>
          <a:ln w="25400">
            <a:solidFill>
              <a:srgbClr val="8798A7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17029" y="1554480"/>
            <a:ext cx="2006194" cy="658368"/>
          </a:xfrm>
          <a:prstGeom prst="roundRect">
            <a:avLst>
              <a:gd name="adj" fmla="val 16667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90181" y="1627632"/>
            <a:ext cx="185989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 PATH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158630" y="1883664"/>
            <a:ext cx="256032" cy="0"/>
          </a:xfrm>
          <a:prstGeom prst="line">
            <a:avLst/>
          </a:prstGeom>
          <a:noFill/>
          <a:ln w="25400">
            <a:solidFill>
              <a:srgbClr val="8798A7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524390" y="1554480"/>
            <a:ext cx="2006194" cy="658368"/>
          </a:xfrm>
          <a:prstGeom prst="roundRect">
            <a:avLst>
              <a:gd name="adj" fmla="val 16667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97542" y="1627632"/>
            <a:ext cx="185989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PLAINTEXT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14400" y="2971800"/>
            <a:ext cx="9966960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88720" y="3246120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88720" y="3584448"/>
            <a:ext cx="27889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6F4F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WECRERDSOEEAIVD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4069080" y="3584448"/>
            <a:ext cx="32004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798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rebuild 3-rail pattern →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406640" y="3584448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WEAREDISCOVERED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914400" y="5230368"/>
            <a:ext cx="10012680" cy="585216"/>
          </a:xfrm>
          <a:prstGeom prst="roundRect">
            <a:avLst>
              <a:gd name="adj" fmla="val 18750"/>
            </a:avLst>
          </a:prstGeom>
          <a:solidFill>
            <a:srgbClr val="E7F5EE"/>
          </a:solidFill>
          <a:ln w="12700">
            <a:solidFill>
              <a:srgbClr val="E7F5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4400" y="5230368"/>
            <a:ext cx="73152" cy="585216"/>
          </a:xfrm>
          <a:prstGeom prst="roundRect">
            <a:avLst>
              <a:gd name="adj" fmla="val 1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78992" y="5312664"/>
            <a:ext cx="9756648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rail pattern is the key to recovering the original order.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2880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9202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TRANSPOSITION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0068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Columnar Transposition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857232" y="1828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3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PANTECH SOLUTIONS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857232" y="457200"/>
            <a:ext cx="182880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2700">
            <a:solidFill>
              <a:srgbClr val="C8D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382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6364224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Columnar transposition uses a keyword to number columns and define the reading order.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45952" y="636422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04088" y="1307592"/>
            <a:ext cx="4297680" cy="4434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1627632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components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60120" y="2103120"/>
            <a:ext cx="73152" cy="73152"/>
          </a:xfrm>
          <a:prstGeom prst="ellipse">
            <a:avLst/>
          </a:prstGeom>
          <a:solidFill>
            <a:srgbClr val="6F4FB3"/>
          </a:solidFill>
          <a:ln w="12700">
            <a:solidFill>
              <a:srgbClr val="6F4FB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2011680"/>
            <a:ext cx="354787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Keyword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60120" y="2450592"/>
            <a:ext cx="73152" cy="73152"/>
          </a:xfrm>
          <a:prstGeom prst="ellipse">
            <a:avLst/>
          </a:prstGeom>
          <a:solidFill>
            <a:srgbClr val="6F4FB3"/>
          </a:solidFill>
          <a:ln w="12700">
            <a:solidFill>
              <a:srgbClr val="6F4FB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2359152"/>
            <a:ext cx="354787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60120" y="2798064"/>
            <a:ext cx="73152" cy="73152"/>
          </a:xfrm>
          <a:prstGeom prst="ellipse">
            <a:avLst/>
          </a:prstGeom>
          <a:solidFill>
            <a:srgbClr val="6F4FB3"/>
          </a:solidFill>
          <a:ln w="12700">
            <a:solidFill>
              <a:srgbClr val="6F4FB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5568" y="2706624"/>
            <a:ext cx="354787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Alphabetical column numbering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60120" y="3145536"/>
            <a:ext cx="73152" cy="73152"/>
          </a:xfrm>
          <a:prstGeom prst="ellipse">
            <a:avLst/>
          </a:prstGeom>
          <a:solidFill>
            <a:srgbClr val="6F4FB3"/>
          </a:solidFill>
          <a:ln w="12700">
            <a:solidFill>
              <a:srgbClr val="6F4FB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5568" y="3054096"/>
            <a:ext cx="354787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Column-wise reading order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50976" y="4526280"/>
            <a:ext cx="1783080" cy="310896"/>
          </a:xfrm>
          <a:prstGeom prst="roundRect">
            <a:avLst>
              <a:gd name="adj" fmla="val 35294"/>
            </a:avLst>
          </a:prstGeom>
          <a:solidFill>
            <a:srgbClr val="6F4FB3"/>
          </a:solidFill>
          <a:ln w="12700">
            <a:solidFill>
              <a:srgbClr val="6F4FB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6696" y="4535424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KEYWORD = ZEBRA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49240" y="1307592"/>
            <a:ext cx="5916168" cy="4434840"/>
          </a:xfrm>
          <a:prstGeom prst="roundRect">
            <a:avLst>
              <a:gd name="adj" fmla="val 247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0" y="1627632"/>
            <a:ext cx="18745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 NUMBERING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760720" y="2176272"/>
            <a:ext cx="80467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0" y="2276856"/>
            <a:ext cx="804672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760720" y="2798064"/>
            <a:ext cx="804672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693408" y="2176272"/>
            <a:ext cx="80467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93408" y="2276856"/>
            <a:ext cx="804672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693408" y="2798064"/>
            <a:ext cx="804672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626096" y="2176272"/>
            <a:ext cx="80467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26096" y="2276856"/>
            <a:ext cx="804672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626096" y="2798064"/>
            <a:ext cx="804672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558784" y="2176272"/>
            <a:ext cx="80467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58784" y="2276856"/>
            <a:ext cx="804672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558784" y="2798064"/>
            <a:ext cx="804672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9491472" y="2176272"/>
            <a:ext cx="80467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491472" y="2276856"/>
            <a:ext cx="804672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491472" y="2798064"/>
            <a:ext cx="804672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669280" y="3456432"/>
            <a:ext cx="507492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columns in numerical order: 1 → 2 → 3 → 4 → 5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669280" y="4160520"/>
            <a:ext cx="5074920" cy="585216"/>
          </a:xfrm>
          <a:prstGeom prst="roundRect">
            <a:avLst>
              <a:gd name="adj" fmla="val 18750"/>
            </a:avLst>
          </a:prstGeom>
          <a:solidFill>
            <a:srgbClr val="E6F8F8"/>
          </a:solidFill>
          <a:ln w="12700">
            <a:solidFill>
              <a:srgbClr val="E6F8F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69280" y="4160520"/>
            <a:ext cx="73152" cy="585216"/>
          </a:xfrm>
          <a:prstGeom prst="roundRect">
            <a:avLst>
              <a:gd name="adj" fmla="val 150000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33872" y="4242816"/>
            <a:ext cx="4818888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Alphabetical order decides the column numbers.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2880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9202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TRANSPOSITION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0068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Columnar Transposition Encryption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857232" y="1828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3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PANTECH SOLUTIONS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857232" y="457200"/>
            <a:ext cx="182880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2700">
            <a:solidFill>
              <a:srgbClr val="C8D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382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6364224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example with keyword ZEBRA and plaintext MEETMEATNINE.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45952" y="636422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280160"/>
            <a:ext cx="18745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 — KEYWORD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1609344"/>
            <a:ext cx="46634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   E   B   R   A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31520" y="1938528"/>
            <a:ext cx="46634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5   3   2   4   1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1520" y="246888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 — WRITE PLAINTEXT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8680" y="2834640"/>
            <a:ext cx="804672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935224"/>
            <a:ext cx="80467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709928" y="2834640"/>
            <a:ext cx="804672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09928" y="2935224"/>
            <a:ext cx="80467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551176" y="2834640"/>
            <a:ext cx="804672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51176" y="2935224"/>
            <a:ext cx="80467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392424" y="2834640"/>
            <a:ext cx="804672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92424" y="2935224"/>
            <a:ext cx="80467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233672" y="2834640"/>
            <a:ext cx="804672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33672" y="2935224"/>
            <a:ext cx="80467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68680" y="3364992"/>
            <a:ext cx="804672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3465576"/>
            <a:ext cx="80467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709928" y="3364992"/>
            <a:ext cx="804672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09928" y="3465576"/>
            <a:ext cx="80467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2551176" y="3364992"/>
            <a:ext cx="804672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51176" y="3465576"/>
            <a:ext cx="80467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3392424" y="3364992"/>
            <a:ext cx="804672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92424" y="3465576"/>
            <a:ext cx="80467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4233672" y="3364992"/>
            <a:ext cx="804672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33672" y="3465576"/>
            <a:ext cx="80467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68680" y="3895344"/>
            <a:ext cx="804672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3995928"/>
            <a:ext cx="80467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709928" y="3895344"/>
            <a:ext cx="804672" cy="475488"/>
          </a:xfrm>
          <a:prstGeom prst="roundRect">
            <a:avLst>
              <a:gd name="adj" fmla="val 23077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51176" y="3895344"/>
            <a:ext cx="804672" cy="475488"/>
          </a:xfrm>
          <a:prstGeom prst="roundRect">
            <a:avLst>
              <a:gd name="adj" fmla="val 23077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92424" y="3895344"/>
            <a:ext cx="804672" cy="475488"/>
          </a:xfrm>
          <a:prstGeom prst="roundRect">
            <a:avLst>
              <a:gd name="adj" fmla="val 23077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33672" y="3895344"/>
            <a:ext cx="804672" cy="475488"/>
          </a:xfrm>
          <a:prstGeom prst="roundRect">
            <a:avLst>
              <a:gd name="adj" fmla="val 23077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0" y="1298448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 — READ BY COLUMN NUMBER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623560" y="1691640"/>
            <a:ext cx="548640" cy="310896"/>
          </a:xfrm>
          <a:prstGeom prst="roundRect">
            <a:avLst>
              <a:gd name="adj" fmla="val 35294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0" y="170078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623560" y="2148840"/>
            <a:ext cx="804672" cy="475488"/>
          </a:xfrm>
          <a:prstGeom prst="roundRect">
            <a:avLst>
              <a:gd name="adj" fmla="val 23077"/>
            </a:avLst>
          </a:prstGeom>
          <a:solidFill>
            <a:srgbClr val="E6F8F8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23560" y="2249424"/>
            <a:ext cx="80467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700" dirty="0"/>
          </a:p>
        </p:txBody>
      </p:sp>
      <p:sp>
        <p:nvSpPr>
          <p:cNvPr id="46" name="Shape 44"/>
          <p:cNvSpPr/>
          <p:nvPr/>
        </p:nvSpPr>
        <p:spPr>
          <a:xfrm>
            <a:off x="5623560" y="2679192"/>
            <a:ext cx="804672" cy="475488"/>
          </a:xfrm>
          <a:prstGeom prst="roundRect">
            <a:avLst>
              <a:gd name="adj" fmla="val 23077"/>
            </a:avLst>
          </a:prstGeom>
          <a:solidFill>
            <a:srgbClr val="E6F8F8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23560" y="2779776"/>
            <a:ext cx="80467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700" dirty="0"/>
          </a:p>
        </p:txBody>
      </p:sp>
      <p:sp>
        <p:nvSpPr>
          <p:cNvPr id="48" name="Shape 46"/>
          <p:cNvSpPr/>
          <p:nvPr/>
        </p:nvSpPr>
        <p:spPr>
          <a:xfrm>
            <a:off x="5623560" y="3209544"/>
            <a:ext cx="804672" cy="475488"/>
          </a:xfrm>
          <a:prstGeom prst="roundRect">
            <a:avLst>
              <a:gd name="adj" fmla="val 23077"/>
            </a:avLst>
          </a:prstGeom>
          <a:solidFill>
            <a:srgbClr val="E6F8F8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23560" y="3310128"/>
            <a:ext cx="80467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1700" dirty="0"/>
          </a:p>
        </p:txBody>
      </p:sp>
      <p:sp>
        <p:nvSpPr>
          <p:cNvPr id="50" name="Shape 48"/>
          <p:cNvSpPr/>
          <p:nvPr/>
        </p:nvSpPr>
        <p:spPr>
          <a:xfrm>
            <a:off x="6665976" y="1691640"/>
            <a:ext cx="548640" cy="310896"/>
          </a:xfrm>
          <a:prstGeom prst="roundRect">
            <a:avLst>
              <a:gd name="adj" fmla="val 35294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11696" y="170078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665976" y="2148840"/>
            <a:ext cx="804672" cy="475488"/>
          </a:xfrm>
          <a:prstGeom prst="roundRect">
            <a:avLst>
              <a:gd name="adj" fmla="val 23077"/>
            </a:avLst>
          </a:prstGeom>
          <a:solidFill>
            <a:srgbClr val="E6F8F8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65976" y="2249424"/>
            <a:ext cx="80467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700" dirty="0"/>
          </a:p>
        </p:txBody>
      </p:sp>
      <p:sp>
        <p:nvSpPr>
          <p:cNvPr id="54" name="Shape 52"/>
          <p:cNvSpPr/>
          <p:nvPr/>
        </p:nvSpPr>
        <p:spPr>
          <a:xfrm>
            <a:off x="6665976" y="2679192"/>
            <a:ext cx="804672" cy="475488"/>
          </a:xfrm>
          <a:prstGeom prst="roundRect">
            <a:avLst>
              <a:gd name="adj" fmla="val 23077"/>
            </a:avLst>
          </a:prstGeom>
          <a:solidFill>
            <a:srgbClr val="E6F8F8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65976" y="2779776"/>
            <a:ext cx="80467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700" dirty="0"/>
          </a:p>
        </p:txBody>
      </p:sp>
      <p:sp>
        <p:nvSpPr>
          <p:cNvPr id="56" name="Shape 54"/>
          <p:cNvSpPr/>
          <p:nvPr/>
        </p:nvSpPr>
        <p:spPr>
          <a:xfrm>
            <a:off x="6665976" y="3209544"/>
            <a:ext cx="804672" cy="475488"/>
          </a:xfrm>
          <a:prstGeom prst="roundRect">
            <a:avLst>
              <a:gd name="adj" fmla="val 23077"/>
            </a:avLst>
          </a:prstGeom>
          <a:solidFill>
            <a:srgbClr val="E6F8F8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65976" y="3310128"/>
            <a:ext cx="80467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1700" dirty="0"/>
          </a:p>
        </p:txBody>
      </p:sp>
      <p:sp>
        <p:nvSpPr>
          <p:cNvPr id="58" name="Shape 56"/>
          <p:cNvSpPr/>
          <p:nvPr/>
        </p:nvSpPr>
        <p:spPr>
          <a:xfrm>
            <a:off x="7708392" y="1691640"/>
            <a:ext cx="548640" cy="310896"/>
          </a:xfrm>
          <a:prstGeom prst="roundRect">
            <a:avLst>
              <a:gd name="adj" fmla="val 35294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54112" y="170078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7708392" y="2148840"/>
            <a:ext cx="804672" cy="475488"/>
          </a:xfrm>
          <a:prstGeom prst="roundRect">
            <a:avLst>
              <a:gd name="adj" fmla="val 23077"/>
            </a:avLst>
          </a:prstGeom>
          <a:solidFill>
            <a:srgbClr val="E6F8F8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708392" y="2249424"/>
            <a:ext cx="80467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700" dirty="0"/>
          </a:p>
        </p:txBody>
      </p:sp>
      <p:sp>
        <p:nvSpPr>
          <p:cNvPr id="62" name="Shape 60"/>
          <p:cNvSpPr/>
          <p:nvPr/>
        </p:nvSpPr>
        <p:spPr>
          <a:xfrm>
            <a:off x="7708392" y="2679192"/>
            <a:ext cx="804672" cy="475488"/>
          </a:xfrm>
          <a:prstGeom prst="roundRect">
            <a:avLst>
              <a:gd name="adj" fmla="val 23077"/>
            </a:avLst>
          </a:prstGeom>
          <a:solidFill>
            <a:srgbClr val="E6F8F8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708392" y="2779776"/>
            <a:ext cx="80467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700" dirty="0"/>
          </a:p>
        </p:txBody>
      </p:sp>
      <p:sp>
        <p:nvSpPr>
          <p:cNvPr id="64" name="Shape 62"/>
          <p:cNvSpPr/>
          <p:nvPr/>
        </p:nvSpPr>
        <p:spPr>
          <a:xfrm>
            <a:off x="8750808" y="1691640"/>
            <a:ext cx="548640" cy="310896"/>
          </a:xfrm>
          <a:prstGeom prst="roundRect">
            <a:avLst>
              <a:gd name="adj" fmla="val 35294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796528" y="170078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8750808" y="2148840"/>
            <a:ext cx="804672" cy="475488"/>
          </a:xfrm>
          <a:prstGeom prst="roundRect">
            <a:avLst>
              <a:gd name="adj" fmla="val 23077"/>
            </a:avLst>
          </a:prstGeom>
          <a:solidFill>
            <a:srgbClr val="E6F8F8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750808" y="2249424"/>
            <a:ext cx="80467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1700" dirty="0"/>
          </a:p>
        </p:txBody>
      </p:sp>
      <p:sp>
        <p:nvSpPr>
          <p:cNvPr id="68" name="Shape 66"/>
          <p:cNvSpPr/>
          <p:nvPr/>
        </p:nvSpPr>
        <p:spPr>
          <a:xfrm>
            <a:off x="8750808" y="2679192"/>
            <a:ext cx="804672" cy="475488"/>
          </a:xfrm>
          <a:prstGeom prst="roundRect">
            <a:avLst>
              <a:gd name="adj" fmla="val 23077"/>
            </a:avLst>
          </a:prstGeom>
          <a:solidFill>
            <a:srgbClr val="E6F8F8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750808" y="2779776"/>
            <a:ext cx="80467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1700" dirty="0"/>
          </a:p>
        </p:txBody>
      </p:sp>
      <p:sp>
        <p:nvSpPr>
          <p:cNvPr id="70" name="Shape 68"/>
          <p:cNvSpPr/>
          <p:nvPr/>
        </p:nvSpPr>
        <p:spPr>
          <a:xfrm>
            <a:off x="8750808" y="3209544"/>
            <a:ext cx="804672" cy="475488"/>
          </a:xfrm>
          <a:prstGeom prst="roundRect">
            <a:avLst>
              <a:gd name="adj" fmla="val 23077"/>
            </a:avLst>
          </a:prstGeom>
          <a:solidFill>
            <a:srgbClr val="E6F8F8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750808" y="3310128"/>
            <a:ext cx="80467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1700" dirty="0"/>
          </a:p>
        </p:txBody>
      </p:sp>
      <p:sp>
        <p:nvSpPr>
          <p:cNvPr id="72" name="Shape 70"/>
          <p:cNvSpPr/>
          <p:nvPr/>
        </p:nvSpPr>
        <p:spPr>
          <a:xfrm>
            <a:off x="9793224" y="1691640"/>
            <a:ext cx="548640" cy="310896"/>
          </a:xfrm>
          <a:prstGeom prst="roundRect">
            <a:avLst>
              <a:gd name="adj" fmla="val 35294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838944" y="170078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9793224" y="2148840"/>
            <a:ext cx="804672" cy="475488"/>
          </a:xfrm>
          <a:prstGeom prst="roundRect">
            <a:avLst>
              <a:gd name="adj" fmla="val 23077"/>
            </a:avLst>
          </a:prstGeom>
          <a:solidFill>
            <a:srgbClr val="E6F8F8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793224" y="2249424"/>
            <a:ext cx="80467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</a:t>
            </a:r>
            <a:endParaRPr lang="en-US" sz="1700" dirty="0"/>
          </a:p>
        </p:txBody>
      </p:sp>
      <p:sp>
        <p:nvSpPr>
          <p:cNvPr id="76" name="Shape 74"/>
          <p:cNvSpPr/>
          <p:nvPr/>
        </p:nvSpPr>
        <p:spPr>
          <a:xfrm>
            <a:off x="9793224" y="2679192"/>
            <a:ext cx="804672" cy="475488"/>
          </a:xfrm>
          <a:prstGeom prst="roundRect">
            <a:avLst>
              <a:gd name="adj" fmla="val 23077"/>
            </a:avLst>
          </a:prstGeom>
          <a:solidFill>
            <a:srgbClr val="E6F8F8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793224" y="2779776"/>
            <a:ext cx="80467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</a:t>
            </a:r>
            <a:endParaRPr lang="en-US" sz="1700" dirty="0"/>
          </a:p>
        </p:txBody>
      </p:sp>
      <p:sp>
        <p:nvSpPr>
          <p:cNvPr id="78" name="Shape 76"/>
          <p:cNvSpPr/>
          <p:nvPr/>
        </p:nvSpPr>
        <p:spPr>
          <a:xfrm>
            <a:off x="9793224" y="3209544"/>
            <a:ext cx="804672" cy="475488"/>
          </a:xfrm>
          <a:prstGeom prst="roundRect">
            <a:avLst>
              <a:gd name="adj" fmla="val 23077"/>
            </a:avLst>
          </a:prstGeom>
          <a:solidFill>
            <a:srgbClr val="E6F8F8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793224" y="3310128"/>
            <a:ext cx="80467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1700" dirty="0"/>
          </a:p>
        </p:txBody>
      </p:sp>
      <p:sp>
        <p:nvSpPr>
          <p:cNvPr id="80" name="Shape 78"/>
          <p:cNvSpPr/>
          <p:nvPr/>
        </p:nvSpPr>
        <p:spPr>
          <a:xfrm>
            <a:off x="5559552" y="4114800"/>
            <a:ext cx="5138928" cy="585216"/>
          </a:xfrm>
          <a:prstGeom prst="roundRect">
            <a:avLst>
              <a:gd name="adj" fmla="val 18750"/>
            </a:avLst>
          </a:prstGeom>
          <a:solidFill>
            <a:srgbClr val="F0EAFE"/>
          </a:solidFill>
          <a:ln w="12700">
            <a:solidFill>
              <a:srgbClr val="F0EAF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559552" y="4114800"/>
            <a:ext cx="73152" cy="585216"/>
          </a:xfrm>
          <a:prstGeom prst="roundRect">
            <a:avLst>
              <a:gd name="adj" fmla="val 150000"/>
            </a:avLst>
          </a:prstGeom>
          <a:solidFill>
            <a:srgbClr val="6F4FB3"/>
          </a:solidFill>
          <a:ln w="12700">
            <a:solidFill>
              <a:srgbClr val="6F4FB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724144" y="4197096"/>
            <a:ext cx="4882896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CIPHERTEXT = MIETEAETNMEN</a:t>
            </a:r>
            <a:endParaRPr lang="en-US" sz="1400" dirty="0"/>
          </a:p>
        </p:txBody>
      </p:sp>
      <p:sp>
        <p:nvSpPr>
          <p:cNvPr id="83" name="Text 81"/>
          <p:cNvSpPr/>
          <p:nvPr/>
        </p:nvSpPr>
        <p:spPr>
          <a:xfrm>
            <a:off x="5577840" y="4983480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order: column 1 → 2 → 3 → 4 → 5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2880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9202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TRANSPOSITION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0068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Columnar Transposition Decryption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857232" y="1828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3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PANTECH SOLUTIONS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857232" y="457200"/>
            <a:ext cx="182880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2700">
            <a:solidFill>
              <a:srgbClr val="C8D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382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6364224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decrypt, place ciphertext back into columns in the numbered order, then read the rows.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45952" y="636422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1417320"/>
            <a:ext cx="2024482" cy="658368"/>
          </a:xfrm>
          <a:prstGeom prst="roundRect">
            <a:avLst>
              <a:gd name="adj" fmla="val 16667"/>
            </a:avLst>
          </a:prstGeom>
          <a:solidFill>
            <a:srgbClr val="6F4FB3"/>
          </a:solidFill>
          <a:ln w="12700">
            <a:solidFill>
              <a:srgbClr val="6F4FB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1490472"/>
            <a:ext cx="187817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CIPHERTEXT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545690" y="1746504"/>
            <a:ext cx="256032" cy="0"/>
          </a:xfrm>
          <a:prstGeom prst="line">
            <a:avLst/>
          </a:prstGeom>
          <a:noFill/>
          <a:ln w="25400">
            <a:solidFill>
              <a:srgbClr val="8798A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911450" y="1417320"/>
            <a:ext cx="2024482" cy="658368"/>
          </a:xfrm>
          <a:prstGeom prst="roundRect">
            <a:avLst>
              <a:gd name="adj" fmla="val 16667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84602" y="1490472"/>
            <a:ext cx="187817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71339" y="1746504"/>
            <a:ext cx="256032" cy="0"/>
          </a:xfrm>
          <a:prstGeom prst="line">
            <a:avLst/>
          </a:prstGeom>
          <a:noFill/>
          <a:ln w="25400">
            <a:solidFill>
              <a:srgbClr val="8798A7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37099" y="1417320"/>
            <a:ext cx="2024482" cy="658368"/>
          </a:xfrm>
          <a:prstGeom prst="roundRect">
            <a:avLst>
              <a:gd name="adj" fmla="val 16667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0251" y="1490472"/>
            <a:ext cx="187817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996989" y="1746504"/>
            <a:ext cx="256032" cy="0"/>
          </a:xfrm>
          <a:prstGeom prst="line">
            <a:avLst/>
          </a:prstGeom>
          <a:noFill/>
          <a:ln w="25400">
            <a:solidFill>
              <a:srgbClr val="8798A7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62749" y="1417320"/>
            <a:ext cx="2024482" cy="658368"/>
          </a:xfrm>
          <a:prstGeom prst="roundRect">
            <a:avLst>
              <a:gd name="adj" fmla="val 16667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35901" y="1490472"/>
            <a:ext cx="187817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RESTORE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222638" y="1746504"/>
            <a:ext cx="256032" cy="0"/>
          </a:xfrm>
          <a:prstGeom prst="line">
            <a:avLst/>
          </a:prstGeom>
          <a:noFill/>
          <a:ln w="25400">
            <a:solidFill>
              <a:srgbClr val="8798A7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588398" y="1417320"/>
            <a:ext cx="2024482" cy="658368"/>
          </a:xfrm>
          <a:prstGeom prst="roundRect">
            <a:avLst>
              <a:gd name="adj" fmla="val 16667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61550" y="1490472"/>
            <a:ext cx="187817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ROWS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60120" y="2788920"/>
            <a:ext cx="99669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88720" y="3072384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Ciphertext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331720" y="3035808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F4F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MIETEAETNMEN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956048" y="3035808"/>
            <a:ext cx="34290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798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fill columns by 1,2,3,4,5 →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275320" y="3035808"/>
            <a:ext cx="187452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MEETM / EATNI / NE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188720" y="4096512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row reading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560320" y="4050792"/>
            <a:ext cx="365760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MEETMEATNINE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6492240" y="4005072"/>
            <a:ext cx="3886200" cy="585216"/>
          </a:xfrm>
          <a:prstGeom prst="roundRect">
            <a:avLst>
              <a:gd name="adj" fmla="val 18750"/>
            </a:avLst>
          </a:prstGeom>
          <a:solidFill>
            <a:srgbClr val="E7F5EE"/>
          </a:solidFill>
          <a:ln w="12700">
            <a:solidFill>
              <a:srgbClr val="E7F5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92240" y="4005072"/>
            <a:ext cx="73152" cy="585216"/>
          </a:xfrm>
          <a:prstGeom prst="roundRect">
            <a:avLst>
              <a:gd name="adj" fmla="val 1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56832" y="4087368"/>
            <a:ext cx="3630168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column numbering is essential — it restores the original order.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2880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9202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CONCEPTS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0068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Double Transposition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857232" y="1828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3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PANTECH SOLUTIONS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857232" y="457200"/>
            <a:ext cx="182880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2700">
            <a:solidFill>
              <a:srgbClr val="C8D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382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6364224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Applying transposition twice historically increased the complexity of the rearrangement.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45952" y="636422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1874520"/>
            <a:ext cx="2024482" cy="658368"/>
          </a:xfrm>
          <a:prstGeom prst="roundRect">
            <a:avLst>
              <a:gd name="adj" fmla="val 16667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1947672"/>
            <a:ext cx="187817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PLAINTEXT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499970" y="2203704"/>
            <a:ext cx="256032" cy="0"/>
          </a:xfrm>
          <a:prstGeom prst="line">
            <a:avLst/>
          </a:prstGeom>
          <a:noFill/>
          <a:ln w="25400">
            <a:solidFill>
              <a:srgbClr val="8798A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865730" y="1874520"/>
            <a:ext cx="2024482" cy="658368"/>
          </a:xfrm>
          <a:prstGeom prst="roundRect">
            <a:avLst>
              <a:gd name="adj" fmla="val 16667"/>
            </a:avLst>
          </a:prstGeom>
          <a:solidFill>
            <a:srgbClr val="6F4FB3"/>
          </a:solidFill>
          <a:ln w="12700">
            <a:solidFill>
              <a:srgbClr val="6F4FB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38882" y="1947672"/>
            <a:ext cx="187817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TRANSPOSITION 1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25619" y="2203704"/>
            <a:ext cx="256032" cy="0"/>
          </a:xfrm>
          <a:prstGeom prst="line">
            <a:avLst/>
          </a:prstGeom>
          <a:noFill/>
          <a:ln w="25400">
            <a:solidFill>
              <a:srgbClr val="8798A7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091379" y="1874520"/>
            <a:ext cx="2024482" cy="658368"/>
          </a:xfrm>
          <a:prstGeom prst="roundRect">
            <a:avLst>
              <a:gd name="adj" fmla="val 16667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64531" y="1947672"/>
            <a:ext cx="187817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INTERMEDIATE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951269" y="2203704"/>
            <a:ext cx="256032" cy="0"/>
          </a:xfrm>
          <a:prstGeom prst="line">
            <a:avLst/>
          </a:prstGeom>
          <a:noFill/>
          <a:ln w="25400">
            <a:solidFill>
              <a:srgbClr val="8798A7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17029" y="1874520"/>
            <a:ext cx="2024482" cy="658368"/>
          </a:xfrm>
          <a:prstGeom prst="roundRect">
            <a:avLst>
              <a:gd name="adj" fmla="val 16667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90181" y="1947672"/>
            <a:ext cx="187817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TRANSPOSITION 2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176918" y="2203704"/>
            <a:ext cx="256032" cy="0"/>
          </a:xfrm>
          <a:prstGeom prst="line">
            <a:avLst/>
          </a:prstGeom>
          <a:noFill/>
          <a:ln w="25400">
            <a:solidFill>
              <a:srgbClr val="8798A7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542678" y="1874520"/>
            <a:ext cx="2024482" cy="658368"/>
          </a:xfrm>
          <a:prstGeom prst="roundRect">
            <a:avLst>
              <a:gd name="adj" fmla="val 16667"/>
            </a:avLst>
          </a:prstGeom>
          <a:solidFill>
            <a:srgbClr val="C83C3C"/>
          </a:solidFill>
          <a:ln w="12700">
            <a:solidFill>
              <a:srgbClr val="C83C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15830" y="1947672"/>
            <a:ext cx="187817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CIPHERTEXT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2960" y="3218688"/>
            <a:ext cx="16916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use two stages?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77824" y="3675888"/>
            <a:ext cx="73152" cy="73152"/>
          </a:xfrm>
          <a:prstGeom prst="ellipse">
            <a:avLst/>
          </a:prstGeom>
          <a:solidFill>
            <a:srgbClr val="6F4FB3"/>
          </a:solidFill>
          <a:ln w="12700">
            <a:solidFill>
              <a:srgbClr val="6F4FB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3272" y="3584448"/>
            <a:ext cx="953719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second rearrangement breaks the first visible structure.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77824" y="4023360"/>
            <a:ext cx="73152" cy="73152"/>
          </a:xfrm>
          <a:prstGeom prst="ellipse">
            <a:avLst/>
          </a:prstGeom>
          <a:solidFill>
            <a:srgbClr val="6F4FB3"/>
          </a:solidFill>
          <a:ln w="12700">
            <a:solidFill>
              <a:srgbClr val="6F4FB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33272" y="3931920"/>
            <a:ext cx="953719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Historically useful when stronger hand ciphers were desired.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77824" y="4370832"/>
            <a:ext cx="73152" cy="73152"/>
          </a:xfrm>
          <a:prstGeom prst="ellipse">
            <a:avLst/>
          </a:prstGeom>
          <a:solidFill>
            <a:srgbClr val="6F4FB3"/>
          </a:solidFill>
          <a:ln w="12700">
            <a:solidFill>
              <a:srgbClr val="6F4FB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3272" y="4279392"/>
            <a:ext cx="953719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Still a transposition idea: letters themselves are not replaced.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14400" y="5321808"/>
            <a:ext cx="9966960" cy="585216"/>
          </a:xfrm>
          <a:prstGeom prst="roundRect">
            <a:avLst>
              <a:gd name="adj" fmla="val 1875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4400" y="5321808"/>
            <a:ext cx="73152" cy="585216"/>
          </a:xfrm>
          <a:prstGeom prst="roundRect">
            <a:avLst>
              <a:gd name="adj" fmla="val 150000"/>
            </a:avLst>
          </a:prstGeom>
          <a:solidFill>
            <a:srgbClr val="C83C3C"/>
          </a:solidFill>
          <a:ln w="12700">
            <a:solidFill>
              <a:srgbClr val="C83C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78992" y="5404104"/>
            <a:ext cx="9710928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rearrangements can make manual analysis harder, but do not make the system comparable to modern cryptography.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2880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9202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CONCEPTS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0068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Combining Substitution and Transposition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857232" y="1828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3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PANTECH SOLUTIONS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857232" y="457200"/>
            <a:ext cx="182880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2700">
            <a:solidFill>
              <a:srgbClr val="C8D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382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6364224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stage can change the symbols; a second stage can change their positions.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45952" y="636422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1691640"/>
            <a:ext cx="2024482" cy="658368"/>
          </a:xfrm>
          <a:prstGeom prst="roundRect">
            <a:avLst>
              <a:gd name="adj" fmla="val 16667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1764792"/>
            <a:ext cx="187817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PLAINTEXT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499970" y="2020824"/>
            <a:ext cx="256032" cy="0"/>
          </a:xfrm>
          <a:prstGeom prst="line">
            <a:avLst/>
          </a:prstGeom>
          <a:noFill/>
          <a:ln w="25400">
            <a:solidFill>
              <a:srgbClr val="8798A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865730" y="1691640"/>
            <a:ext cx="2024482" cy="658368"/>
          </a:xfrm>
          <a:prstGeom prst="roundRect">
            <a:avLst>
              <a:gd name="adj" fmla="val 16667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38882" y="1764792"/>
            <a:ext cx="187817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SUBSTITUTION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25619" y="2020824"/>
            <a:ext cx="256032" cy="0"/>
          </a:xfrm>
          <a:prstGeom prst="line">
            <a:avLst/>
          </a:prstGeom>
          <a:noFill/>
          <a:ln w="25400">
            <a:solidFill>
              <a:srgbClr val="8798A7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091379" y="1691640"/>
            <a:ext cx="2024482" cy="658368"/>
          </a:xfrm>
          <a:prstGeom prst="roundRect">
            <a:avLst>
              <a:gd name="adj" fmla="val 16667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64531" y="1764792"/>
            <a:ext cx="187817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INTERMEDIATE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951269" y="2020824"/>
            <a:ext cx="256032" cy="0"/>
          </a:xfrm>
          <a:prstGeom prst="line">
            <a:avLst/>
          </a:prstGeom>
          <a:noFill/>
          <a:ln w="25400">
            <a:solidFill>
              <a:srgbClr val="8798A7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17029" y="1691640"/>
            <a:ext cx="2024482" cy="658368"/>
          </a:xfrm>
          <a:prstGeom prst="roundRect">
            <a:avLst>
              <a:gd name="adj" fmla="val 16667"/>
            </a:avLst>
          </a:prstGeom>
          <a:solidFill>
            <a:srgbClr val="6F4FB3"/>
          </a:solidFill>
          <a:ln w="12700">
            <a:solidFill>
              <a:srgbClr val="6F4FB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90181" y="1764792"/>
            <a:ext cx="187817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TRANSPOSITION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176918" y="2020824"/>
            <a:ext cx="256032" cy="0"/>
          </a:xfrm>
          <a:prstGeom prst="line">
            <a:avLst/>
          </a:prstGeom>
          <a:noFill/>
          <a:ln w="25400">
            <a:solidFill>
              <a:srgbClr val="8798A7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542678" y="1691640"/>
            <a:ext cx="2024482" cy="658368"/>
          </a:xfrm>
          <a:prstGeom prst="roundRect">
            <a:avLst>
              <a:gd name="adj" fmla="val 16667"/>
            </a:avLst>
          </a:prstGeom>
          <a:solidFill>
            <a:srgbClr val="C83C3C"/>
          </a:solidFill>
          <a:ln w="12700">
            <a:solidFill>
              <a:srgbClr val="C83C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15830" y="1764792"/>
            <a:ext cx="187817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CIPHERTEXT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41248" y="2944368"/>
            <a:ext cx="48463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3218688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7280" y="3602736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Changes character identities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1097280" y="409651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H → K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44768" y="2944368"/>
            <a:ext cx="484632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3218688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F4F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0" y="3602736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Changes character positions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6400800" y="409651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F4F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HELLO → LOHEL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14400" y="5230368"/>
            <a:ext cx="9966960" cy="585216"/>
          </a:xfrm>
          <a:prstGeom prst="roundRect">
            <a:avLst>
              <a:gd name="adj" fmla="val 18750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4400" y="5230368"/>
            <a:ext cx="73152" cy="585216"/>
          </a:xfrm>
          <a:prstGeom prst="roundRect">
            <a:avLst>
              <a:gd name="adj" fmla="val 150000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78992" y="5312664"/>
            <a:ext cx="9710928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two transformations affect different properties, so they can be understood separately.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2880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9202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CONCEPTS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0068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Cryptanalysis of Classical Ciphers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857232" y="1828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3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PANTECH SOLUTIONS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857232" y="457200"/>
            <a:ext cx="182880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2700">
            <a:solidFill>
              <a:srgbClr val="C8D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382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6364224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Cryptanalysis looks for weaknesses, patterns, or clues that reveal the key or plaintext.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45952" y="636422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1325880"/>
            <a:ext cx="4572000" cy="4443984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2688" y="1645920"/>
            <a:ext cx="411480" cy="310896"/>
          </a:xfrm>
          <a:prstGeom prst="roundRect">
            <a:avLst>
              <a:gd name="adj" fmla="val 35294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1655064"/>
            <a:ext cx="3200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54480" y="1636776"/>
            <a:ext cx="160020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Brute force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54680" y="1618488"/>
            <a:ext cx="1755648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possible keys systematically.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32688" y="2359152"/>
            <a:ext cx="411480" cy="310896"/>
          </a:xfrm>
          <a:prstGeom prst="roundRect">
            <a:avLst>
              <a:gd name="adj" fmla="val 35294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2368296"/>
            <a:ext cx="3200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54480" y="2350008"/>
            <a:ext cx="160020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Frequency analysis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54680" y="2331720"/>
            <a:ext cx="1755648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statistical letter patterns.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32688" y="3072384"/>
            <a:ext cx="411480" cy="310896"/>
          </a:xfrm>
          <a:prstGeom prst="roundRect">
            <a:avLst>
              <a:gd name="adj" fmla="val 35294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" y="3081528"/>
            <a:ext cx="3200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54480" y="3063240"/>
            <a:ext cx="160020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 analysis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154680" y="3044952"/>
            <a:ext cx="1755648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 for repeated structures.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32688" y="3785616"/>
            <a:ext cx="411480" cy="310896"/>
          </a:xfrm>
          <a:prstGeom prst="roundRect">
            <a:avLst>
              <a:gd name="adj" fmla="val 35294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8408" y="3794760"/>
            <a:ext cx="3200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554480" y="3776472"/>
            <a:ext cx="160020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plaintext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154680" y="3758184"/>
            <a:ext cx="1755648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known plaintext/ciphertext pair.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32688" y="4498848"/>
            <a:ext cx="411480" cy="310896"/>
          </a:xfrm>
          <a:prstGeom prst="roundRect">
            <a:avLst>
              <a:gd name="adj" fmla="val 35294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8408" y="4507992"/>
            <a:ext cx="3200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554480" y="4489704"/>
            <a:ext cx="160020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Ciphertext analysis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154680" y="4471416"/>
            <a:ext cx="1755648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the ciphertext for clues.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650992" y="1325880"/>
            <a:ext cx="5650992" cy="4443984"/>
          </a:xfrm>
          <a:prstGeom prst="roundRect">
            <a:avLst>
              <a:gd name="adj" fmla="val 2469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53328" y="1645920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ATTACK WORKFLOW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989320" y="2267712"/>
            <a:ext cx="102641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62472" y="2340864"/>
            <a:ext cx="88011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CIPHERTEXT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51142" y="2596896"/>
            <a:ext cx="256032" cy="0"/>
          </a:xfrm>
          <a:prstGeom prst="line">
            <a:avLst/>
          </a:prstGeom>
          <a:noFill/>
          <a:ln w="25400">
            <a:solidFill>
              <a:srgbClr val="8798A7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216902" y="2267712"/>
            <a:ext cx="1026414" cy="658368"/>
          </a:xfrm>
          <a:prstGeom prst="roundRect">
            <a:avLst>
              <a:gd name="adj" fmla="val 16667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90054" y="2340864"/>
            <a:ext cx="88011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078724" y="2596896"/>
            <a:ext cx="256032" cy="0"/>
          </a:xfrm>
          <a:prstGeom prst="line">
            <a:avLst/>
          </a:prstGeom>
          <a:noFill/>
          <a:ln w="25400">
            <a:solidFill>
              <a:srgbClr val="8798A7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444484" y="2267712"/>
            <a:ext cx="1026414" cy="658368"/>
          </a:xfrm>
          <a:prstGeom prst="roundRect">
            <a:avLst>
              <a:gd name="adj" fmla="val 16667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17636" y="2340864"/>
            <a:ext cx="88011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 /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GUESS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306306" y="2596896"/>
            <a:ext cx="256032" cy="0"/>
          </a:xfrm>
          <a:prstGeom prst="line">
            <a:avLst/>
          </a:prstGeom>
          <a:noFill/>
          <a:ln w="25400">
            <a:solidFill>
              <a:srgbClr val="8798A7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9672066" y="2267712"/>
            <a:ext cx="1026414" cy="658368"/>
          </a:xfrm>
          <a:prstGeom prst="roundRect">
            <a:avLst>
              <a:gd name="adj" fmla="val 16667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745218" y="2340864"/>
            <a:ext cx="88011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PLAINTEXT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035040" y="3657600"/>
            <a:ext cx="4572000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analyst iterates: observe → hypothesize → test → refine.</a:t>
            </a:r>
            <a:endParaRPr lang="en-US" sz="1700" dirty="0"/>
          </a:p>
        </p:txBody>
      </p:sp>
      <p:sp>
        <p:nvSpPr>
          <p:cNvPr id="46" name="Shape 44"/>
          <p:cNvSpPr/>
          <p:nvPr/>
        </p:nvSpPr>
        <p:spPr>
          <a:xfrm>
            <a:off x="6016752" y="4526280"/>
            <a:ext cx="4754880" cy="585216"/>
          </a:xfrm>
          <a:prstGeom prst="roundRect">
            <a:avLst>
              <a:gd name="adj" fmla="val 1875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16752" y="4526280"/>
            <a:ext cx="73152" cy="585216"/>
          </a:xfrm>
          <a:prstGeom prst="roundRect">
            <a:avLst>
              <a:gd name="adj" fmla="val 150000"/>
            </a:avLst>
          </a:prstGeom>
          <a:solidFill>
            <a:srgbClr val="C83C3C"/>
          </a:solidFill>
          <a:ln w="12700">
            <a:solidFill>
              <a:srgbClr val="C83C3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81344" y="4608576"/>
            <a:ext cx="4498848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Classical ciphers are useful teaching cases because their weaknesses are easy to visualize.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2880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9202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CONCEPTS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0068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Advantages and Limitations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857232" y="1828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3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PANTECH SOLUTIONS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857232" y="457200"/>
            <a:ext cx="182880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2700">
            <a:solidFill>
              <a:srgbClr val="C8D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382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6364224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Classical techniques are excellent for learning, but weak against modern computational attacks.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45952" y="636422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3232" y="1298448"/>
            <a:ext cx="3474720" cy="4526280"/>
          </a:xfrm>
          <a:prstGeom prst="roundRect">
            <a:avLst>
              <a:gd name="adj" fmla="val 3158"/>
            </a:avLst>
          </a:prstGeom>
          <a:solidFill>
            <a:srgbClr val="E7F5EE"/>
          </a:solidFill>
          <a:ln w="12700">
            <a:solidFill>
              <a:srgbClr val="C9EA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572768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SUBSTITUTION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199339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313432"/>
            <a:ext cx="2761488" cy="9601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Conceptually direct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to demonstrate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Rich examples of key design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3675888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83C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Weaknesses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4005072"/>
            <a:ext cx="2761488" cy="6949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Patterns can leak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/ structured key spaces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443984" y="1298448"/>
            <a:ext cx="3474720" cy="4526280"/>
          </a:xfrm>
          <a:prstGeom prst="roundRect">
            <a:avLst>
              <a:gd name="adj" fmla="val 3158"/>
            </a:avLst>
          </a:prstGeom>
          <a:solidFill>
            <a:srgbClr val="F0EAFE"/>
          </a:solidFill>
          <a:ln w="12700">
            <a:solidFill>
              <a:srgbClr val="DDD2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90872" y="1572768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F4F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TRANSPOSITION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90872" y="199339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90872" y="2313432"/>
            <a:ext cx="278892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Preserves letters exactly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Shows position-based security ideas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690872" y="3401568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83C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Weaknesses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90872" y="3730752"/>
            <a:ext cx="278892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 can remain visible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Combinations are still vulnerable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174736" y="1298448"/>
            <a:ext cx="3474720" cy="4526280"/>
          </a:xfrm>
          <a:prstGeom prst="roundRect">
            <a:avLst>
              <a:gd name="adj" fmla="val 3158"/>
            </a:avLst>
          </a:prstGeom>
          <a:solidFill>
            <a:srgbClr val="FDECEC"/>
          </a:solidFill>
          <a:ln w="12700">
            <a:solidFill>
              <a:srgbClr val="F1CFC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21624" y="1572768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83C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OVERALL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421624" y="1993392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value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21624" y="2313432"/>
            <a:ext cx="2761488" cy="10515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— they teach the foundations of secrecy, keys, transformations, and attacks.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21624" y="3749040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83C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 security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21624" y="4069080"/>
            <a:ext cx="2761488" cy="8686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— do not rely on classical ciphers for real-world secure communication.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2880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9202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CONCEPTS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0068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Comprehensive Comparison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857232" y="1828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3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PANTECH SOLUTIONS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857232" y="457200"/>
            <a:ext cx="182880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2700">
            <a:solidFill>
              <a:srgbClr val="C8D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382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6364224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table to connect each classical technique to its defining idea.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45952" y="636422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1298448"/>
            <a:ext cx="1463040" cy="502920"/>
          </a:xfrm>
          <a:prstGeom prst="roundRect">
            <a:avLst>
              <a:gd name="adj" fmla="val 21818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1417320"/>
            <a:ext cx="1389888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TECHNIQUE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1965960" y="1298448"/>
            <a:ext cx="1783080" cy="502920"/>
          </a:xfrm>
          <a:prstGeom prst="roundRect">
            <a:avLst>
              <a:gd name="adj" fmla="val 21818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02536" y="1417320"/>
            <a:ext cx="1709928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840480" y="1298448"/>
            <a:ext cx="1737360" cy="502920"/>
          </a:xfrm>
          <a:prstGeom prst="roundRect">
            <a:avLst>
              <a:gd name="adj" fmla="val 21818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77056" y="1417320"/>
            <a:ext cx="1664208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PRINCIPLE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5650992" y="1298448"/>
            <a:ext cx="1645920" cy="502920"/>
          </a:xfrm>
          <a:prstGeom prst="roundRect">
            <a:avLst>
              <a:gd name="adj" fmla="val 21818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87568" y="1417320"/>
            <a:ext cx="1572768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7360920" y="1298448"/>
            <a:ext cx="1664208" cy="502920"/>
          </a:xfrm>
          <a:prstGeom prst="roundRect">
            <a:avLst>
              <a:gd name="adj" fmla="val 21818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97496" y="1417320"/>
            <a:ext cx="1591056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9144000" y="1298448"/>
            <a:ext cx="1444752" cy="502920"/>
          </a:xfrm>
          <a:prstGeom prst="roundRect">
            <a:avLst>
              <a:gd name="adj" fmla="val 21818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0576" y="1417320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10652760" y="1298448"/>
            <a:ext cx="1097280" cy="502920"/>
          </a:xfrm>
          <a:prstGeom prst="roundRect">
            <a:avLst>
              <a:gd name="adj" fmla="val 21818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89336" y="1417320"/>
            <a:ext cx="1024128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WEAKNESS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384048" y="1801368"/>
            <a:ext cx="14630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1892808"/>
            <a:ext cx="138988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Caesar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965960" y="1801368"/>
            <a:ext cx="17830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02536" y="1892808"/>
            <a:ext cx="170992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Sub.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3840480" y="1801368"/>
            <a:ext cx="1737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77056" y="1892808"/>
            <a:ext cx="166420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shift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5650992" y="1801368"/>
            <a:ext cx="16459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87568" y="1892808"/>
            <a:ext cx="157276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7360920" y="1801368"/>
            <a:ext cx="166420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97496" y="1892808"/>
            <a:ext cx="1591056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HELLO→KHOOR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9144000" y="1801368"/>
            <a:ext cx="144475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80576" y="1892808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10652760" y="1801368"/>
            <a:ext cx="10972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689336" y="1892808"/>
            <a:ext cx="102412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Tiny key space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384048" y="2423160"/>
            <a:ext cx="1463040" cy="585216"/>
          </a:xfrm>
          <a:prstGeom prst="rect">
            <a:avLst/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0624" y="2514600"/>
            <a:ext cx="138988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Monoalphabetic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1965960" y="2423160"/>
            <a:ext cx="1783080" cy="585216"/>
          </a:xfrm>
          <a:prstGeom prst="rect">
            <a:avLst/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02536" y="2514600"/>
            <a:ext cx="170992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Sub.</a:t>
            </a:r>
            <a:endParaRPr lang="en-US" sz="1020" dirty="0"/>
          </a:p>
        </p:txBody>
      </p:sp>
      <p:sp>
        <p:nvSpPr>
          <p:cNvPr id="43" name="Shape 41"/>
          <p:cNvSpPr/>
          <p:nvPr/>
        </p:nvSpPr>
        <p:spPr>
          <a:xfrm>
            <a:off x="3840480" y="2423160"/>
            <a:ext cx="1737360" cy="585216"/>
          </a:xfrm>
          <a:prstGeom prst="rect">
            <a:avLst/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77056" y="2514600"/>
            <a:ext cx="166420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mapping</a:t>
            </a:r>
            <a:endParaRPr lang="en-US" sz="1020" dirty="0"/>
          </a:p>
        </p:txBody>
      </p:sp>
      <p:sp>
        <p:nvSpPr>
          <p:cNvPr id="45" name="Shape 43"/>
          <p:cNvSpPr/>
          <p:nvPr/>
        </p:nvSpPr>
        <p:spPr>
          <a:xfrm>
            <a:off x="5650992" y="2423160"/>
            <a:ext cx="1645920" cy="585216"/>
          </a:xfrm>
          <a:prstGeom prst="rect">
            <a:avLst/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87568" y="2514600"/>
            <a:ext cx="157276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Alphabet</a:t>
            </a:r>
            <a:endParaRPr lang="en-US" sz="1020" dirty="0"/>
          </a:p>
        </p:txBody>
      </p:sp>
      <p:sp>
        <p:nvSpPr>
          <p:cNvPr id="47" name="Shape 45"/>
          <p:cNvSpPr/>
          <p:nvPr/>
        </p:nvSpPr>
        <p:spPr>
          <a:xfrm>
            <a:off x="7360920" y="2423160"/>
            <a:ext cx="1664208" cy="585216"/>
          </a:xfrm>
          <a:prstGeom prst="rect">
            <a:avLst/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97496" y="2514600"/>
            <a:ext cx="1591056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HELLO→ITSSG</a:t>
            </a:r>
            <a:endParaRPr lang="en-US" sz="1020" dirty="0"/>
          </a:p>
        </p:txBody>
      </p:sp>
      <p:sp>
        <p:nvSpPr>
          <p:cNvPr id="49" name="Shape 47"/>
          <p:cNvSpPr/>
          <p:nvPr/>
        </p:nvSpPr>
        <p:spPr>
          <a:xfrm>
            <a:off x="9144000" y="2423160"/>
            <a:ext cx="1444752" cy="585216"/>
          </a:xfrm>
          <a:prstGeom prst="rect">
            <a:avLst/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80576" y="2514600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</a:t>
            </a:r>
            <a:endParaRPr lang="en-US" sz="1020" dirty="0"/>
          </a:p>
        </p:txBody>
      </p:sp>
      <p:sp>
        <p:nvSpPr>
          <p:cNvPr id="51" name="Shape 49"/>
          <p:cNvSpPr/>
          <p:nvPr/>
        </p:nvSpPr>
        <p:spPr>
          <a:xfrm>
            <a:off x="10652760" y="2423160"/>
            <a:ext cx="1097280" cy="585216"/>
          </a:xfrm>
          <a:prstGeom prst="rect">
            <a:avLst/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689336" y="2514600"/>
            <a:ext cx="102412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Freq. leakage</a:t>
            </a:r>
            <a:endParaRPr lang="en-US" sz="1020" dirty="0"/>
          </a:p>
        </p:txBody>
      </p:sp>
      <p:sp>
        <p:nvSpPr>
          <p:cNvPr id="53" name="Shape 51"/>
          <p:cNvSpPr/>
          <p:nvPr/>
        </p:nvSpPr>
        <p:spPr>
          <a:xfrm>
            <a:off x="384048" y="3044952"/>
            <a:ext cx="14630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20624" y="3136392"/>
            <a:ext cx="138988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Vigenère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1965960" y="3044952"/>
            <a:ext cx="17830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002536" y="3136392"/>
            <a:ext cx="170992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Sub.</a:t>
            </a:r>
            <a:endParaRPr lang="en-US" sz="1020" dirty="0"/>
          </a:p>
        </p:txBody>
      </p:sp>
      <p:sp>
        <p:nvSpPr>
          <p:cNvPr id="57" name="Shape 55"/>
          <p:cNvSpPr/>
          <p:nvPr/>
        </p:nvSpPr>
        <p:spPr>
          <a:xfrm>
            <a:off x="3840480" y="3044952"/>
            <a:ext cx="1737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877056" y="3136392"/>
            <a:ext cx="166420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Changing shifts</a:t>
            </a:r>
            <a:endParaRPr lang="en-US" sz="1020" dirty="0"/>
          </a:p>
        </p:txBody>
      </p:sp>
      <p:sp>
        <p:nvSpPr>
          <p:cNvPr id="59" name="Shape 57"/>
          <p:cNvSpPr/>
          <p:nvPr/>
        </p:nvSpPr>
        <p:spPr>
          <a:xfrm>
            <a:off x="5650992" y="3044952"/>
            <a:ext cx="16459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687568" y="3136392"/>
            <a:ext cx="157276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Keyword</a:t>
            </a:r>
            <a:endParaRPr lang="en-US" sz="1020" dirty="0"/>
          </a:p>
        </p:txBody>
      </p:sp>
      <p:sp>
        <p:nvSpPr>
          <p:cNvPr id="61" name="Shape 59"/>
          <p:cNvSpPr/>
          <p:nvPr/>
        </p:nvSpPr>
        <p:spPr>
          <a:xfrm>
            <a:off x="7360920" y="3044952"/>
            <a:ext cx="166420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397496" y="3136392"/>
            <a:ext cx="1591056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ATTACK→LXFOPV</a:t>
            </a:r>
            <a:endParaRPr lang="en-US" sz="1020" dirty="0"/>
          </a:p>
        </p:txBody>
      </p:sp>
      <p:sp>
        <p:nvSpPr>
          <p:cNvPr id="63" name="Shape 61"/>
          <p:cNvSpPr/>
          <p:nvPr/>
        </p:nvSpPr>
        <p:spPr>
          <a:xfrm>
            <a:off x="9144000" y="3044952"/>
            <a:ext cx="144475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180576" y="3136392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Hides simple freq.</a:t>
            </a:r>
            <a:endParaRPr lang="en-US" sz="1020" dirty="0"/>
          </a:p>
        </p:txBody>
      </p:sp>
      <p:sp>
        <p:nvSpPr>
          <p:cNvPr id="65" name="Shape 63"/>
          <p:cNvSpPr/>
          <p:nvPr/>
        </p:nvSpPr>
        <p:spPr>
          <a:xfrm>
            <a:off x="10652760" y="3044952"/>
            <a:ext cx="10972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689336" y="3136392"/>
            <a:ext cx="102412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Key/pattern attacks</a:t>
            </a:r>
            <a:endParaRPr lang="en-US" sz="1020" dirty="0"/>
          </a:p>
        </p:txBody>
      </p:sp>
      <p:sp>
        <p:nvSpPr>
          <p:cNvPr id="67" name="Shape 65"/>
          <p:cNvSpPr/>
          <p:nvPr/>
        </p:nvSpPr>
        <p:spPr>
          <a:xfrm>
            <a:off x="384048" y="3666744"/>
            <a:ext cx="1463040" cy="585216"/>
          </a:xfrm>
          <a:prstGeom prst="rect">
            <a:avLst/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20624" y="3758184"/>
            <a:ext cx="138988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Rail Fence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1965960" y="3666744"/>
            <a:ext cx="1783080" cy="585216"/>
          </a:xfrm>
          <a:prstGeom prst="rect">
            <a:avLst/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002536" y="3758184"/>
            <a:ext cx="170992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Trans.</a:t>
            </a:r>
            <a:endParaRPr lang="en-US" sz="1020" dirty="0"/>
          </a:p>
        </p:txBody>
      </p:sp>
      <p:sp>
        <p:nvSpPr>
          <p:cNvPr id="71" name="Shape 69"/>
          <p:cNvSpPr/>
          <p:nvPr/>
        </p:nvSpPr>
        <p:spPr>
          <a:xfrm>
            <a:off x="3840480" y="3666744"/>
            <a:ext cx="1737360" cy="585216"/>
          </a:xfrm>
          <a:prstGeom prst="rect">
            <a:avLst/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877056" y="3758184"/>
            <a:ext cx="166420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Zig-zag order</a:t>
            </a:r>
            <a:endParaRPr lang="en-US" sz="1020" dirty="0"/>
          </a:p>
        </p:txBody>
      </p:sp>
      <p:sp>
        <p:nvSpPr>
          <p:cNvPr id="73" name="Shape 71"/>
          <p:cNvSpPr/>
          <p:nvPr/>
        </p:nvSpPr>
        <p:spPr>
          <a:xfrm>
            <a:off x="5650992" y="3666744"/>
            <a:ext cx="1645920" cy="585216"/>
          </a:xfrm>
          <a:prstGeom prst="rect">
            <a:avLst/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687568" y="3758184"/>
            <a:ext cx="157276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Rails</a:t>
            </a:r>
            <a:endParaRPr lang="en-US" sz="1020" dirty="0"/>
          </a:p>
        </p:txBody>
      </p:sp>
      <p:sp>
        <p:nvSpPr>
          <p:cNvPr id="75" name="Shape 73"/>
          <p:cNvSpPr/>
          <p:nvPr/>
        </p:nvSpPr>
        <p:spPr>
          <a:xfrm>
            <a:off x="7360920" y="3666744"/>
            <a:ext cx="1664208" cy="585216"/>
          </a:xfrm>
          <a:prstGeom prst="rect">
            <a:avLst/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397496" y="3758184"/>
            <a:ext cx="1591056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WEARE…</a:t>
            </a:r>
            <a:endParaRPr lang="en-US" sz="1020" dirty="0"/>
          </a:p>
        </p:txBody>
      </p:sp>
      <p:sp>
        <p:nvSpPr>
          <p:cNvPr id="77" name="Shape 75"/>
          <p:cNvSpPr/>
          <p:nvPr/>
        </p:nvSpPr>
        <p:spPr>
          <a:xfrm>
            <a:off x="9144000" y="3666744"/>
            <a:ext cx="1444752" cy="585216"/>
          </a:xfrm>
          <a:prstGeom prst="rect">
            <a:avLst/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180576" y="3758184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</a:t>
            </a:r>
            <a:endParaRPr lang="en-US" sz="1020" dirty="0"/>
          </a:p>
        </p:txBody>
      </p:sp>
      <p:sp>
        <p:nvSpPr>
          <p:cNvPr id="79" name="Shape 77"/>
          <p:cNvSpPr/>
          <p:nvPr/>
        </p:nvSpPr>
        <p:spPr>
          <a:xfrm>
            <a:off x="10652760" y="3666744"/>
            <a:ext cx="1097280" cy="585216"/>
          </a:xfrm>
          <a:prstGeom prst="rect">
            <a:avLst/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689336" y="3758184"/>
            <a:ext cx="102412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 patterns</a:t>
            </a:r>
            <a:endParaRPr lang="en-US" sz="1020" dirty="0"/>
          </a:p>
        </p:txBody>
      </p:sp>
      <p:sp>
        <p:nvSpPr>
          <p:cNvPr id="81" name="Shape 79"/>
          <p:cNvSpPr/>
          <p:nvPr/>
        </p:nvSpPr>
        <p:spPr>
          <a:xfrm>
            <a:off x="384048" y="4288536"/>
            <a:ext cx="14630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20624" y="4379976"/>
            <a:ext cx="138988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Columnar</a:t>
            </a:r>
            <a:endParaRPr lang="en-US" sz="1150" dirty="0"/>
          </a:p>
        </p:txBody>
      </p:sp>
      <p:sp>
        <p:nvSpPr>
          <p:cNvPr id="83" name="Shape 81"/>
          <p:cNvSpPr/>
          <p:nvPr/>
        </p:nvSpPr>
        <p:spPr>
          <a:xfrm>
            <a:off x="1965960" y="4288536"/>
            <a:ext cx="17830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002536" y="4379976"/>
            <a:ext cx="170992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Trans.</a:t>
            </a:r>
            <a:endParaRPr lang="en-US" sz="1020" dirty="0"/>
          </a:p>
        </p:txBody>
      </p:sp>
      <p:sp>
        <p:nvSpPr>
          <p:cNvPr id="85" name="Shape 83"/>
          <p:cNvSpPr/>
          <p:nvPr/>
        </p:nvSpPr>
        <p:spPr>
          <a:xfrm>
            <a:off x="3840480" y="4288536"/>
            <a:ext cx="1737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877056" y="4379976"/>
            <a:ext cx="166420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 readout</a:t>
            </a:r>
            <a:endParaRPr lang="en-US" sz="1020" dirty="0"/>
          </a:p>
        </p:txBody>
      </p:sp>
      <p:sp>
        <p:nvSpPr>
          <p:cNvPr id="87" name="Shape 85"/>
          <p:cNvSpPr/>
          <p:nvPr/>
        </p:nvSpPr>
        <p:spPr>
          <a:xfrm>
            <a:off x="5650992" y="4288536"/>
            <a:ext cx="16459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687568" y="4379976"/>
            <a:ext cx="157276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Keyword</a:t>
            </a:r>
            <a:endParaRPr lang="en-US" sz="1020" dirty="0"/>
          </a:p>
        </p:txBody>
      </p:sp>
      <p:sp>
        <p:nvSpPr>
          <p:cNvPr id="89" name="Shape 87"/>
          <p:cNvSpPr/>
          <p:nvPr/>
        </p:nvSpPr>
        <p:spPr>
          <a:xfrm>
            <a:off x="7360920" y="4288536"/>
            <a:ext cx="166420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397496" y="4379976"/>
            <a:ext cx="1591056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MEET…</a:t>
            </a:r>
            <a:endParaRPr lang="en-US" sz="1020" dirty="0"/>
          </a:p>
        </p:txBody>
      </p:sp>
      <p:sp>
        <p:nvSpPr>
          <p:cNvPr id="91" name="Shape 89"/>
          <p:cNvSpPr/>
          <p:nvPr/>
        </p:nvSpPr>
        <p:spPr>
          <a:xfrm>
            <a:off x="9144000" y="4288536"/>
            <a:ext cx="144475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180576" y="4379976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</a:t>
            </a:r>
            <a:endParaRPr lang="en-US" sz="1020" dirty="0"/>
          </a:p>
        </p:txBody>
      </p:sp>
      <p:sp>
        <p:nvSpPr>
          <p:cNvPr id="93" name="Shape 91"/>
          <p:cNvSpPr/>
          <p:nvPr/>
        </p:nvSpPr>
        <p:spPr>
          <a:xfrm>
            <a:off x="10652760" y="4288536"/>
            <a:ext cx="10972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0689336" y="4379976"/>
            <a:ext cx="102412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 remains</a:t>
            </a:r>
            <a:endParaRPr lang="en-US" sz="1020" dirty="0"/>
          </a:p>
        </p:txBody>
      </p:sp>
      <p:sp>
        <p:nvSpPr>
          <p:cNvPr id="95" name="Shape 93"/>
          <p:cNvSpPr/>
          <p:nvPr/>
        </p:nvSpPr>
        <p:spPr>
          <a:xfrm>
            <a:off x="384048" y="4910328"/>
            <a:ext cx="1463040" cy="585216"/>
          </a:xfrm>
          <a:prstGeom prst="rect">
            <a:avLst/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20624" y="5001768"/>
            <a:ext cx="138988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Double Trans.</a:t>
            </a:r>
            <a:endParaRPr lang="en-US" sz="1150" dirty="0"/>
          </a:p>
        </p:txBody>
      </p:sp>
      <p:sp>
        <p:nvSpPr>
          <p:cNvPr id="97" name="Shape 95"/>
          <p:cNvSpPr/>
          <p:nvPr/>
        </p:nvSpPr>
        <p:spPr>
          <a:xfrm>
            <a:off x="1965960" y="4910328"/>
            <a:ext cx="1783080" cy="585216"/>
          </a:xfrm>
          <a:prstGeom prst="rect">
            <a:avLst/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002536" y="5001768"/>
            <a:ext cx="170992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Trans.</a:t>
            </a:r>
            <a:endParaRPr lang="en-US" sz="1020" dirty="0"/>
          </a:p>
        </p:txBody>
      </p:sp>
      <p:sp>
        <p:nvSpPr>
          <p:cNvPr id="99" name="Shape 97"/>
          <p:cNvSpPr/>
          <p:nvPr/>
        </p:nvSpPr>
        <p:spPr>
          <a:xfrm>
            <a:off x="3840480" y="4910328"/>
            <a:ext cx="1737360" cy="585216"/>
          </a:xfrm>
          <a:prstGeom prst="rect">
            <a:avLst/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877056" y="5001768"/>
            <a:ext cx="166420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reorderings</a:t>
            </a:r>
            <a:endParaRPr lang="en-US" sz="1020" dirty="0"/>
          </a:p>
        </p:txBody>
      </p:sp>
      <p:sp>
        <p:nvSpPr>
          <p:cNvPr id="101" name="Shape 99"/>
          <p:cNvSpPr/>
          <p:nvPr/>
        </p:nvSpPr>
        <p:spPr>
          <a:xfrm>
            <a:off x="5650992" y="4910328"/>
            <a:ext cx="1645920" cy="585216"/>
          </a:xfrm>
          <a:prstGeom prst="rect">
            <a:avLst/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687568" y="5001768"/>
            <a:ext cx="157276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keys</a:t>
            </a:r>
            <a:endParaRPr lang="en-US" sz="1020" dirty="0"/>
          </a:p>
        </p:txBody>
      </p:sp>
      <p:sp>
        <p:nvSpPr>
          <p:cNvPr id="103" name="Shape 101"/>
          <p:cNvSpPr/>
          <p:nvPr/>
        </p:nvSpPr>
        <p:spPr>
          <a:xfrm>
            <a:off x="7360920" y="4910328"/>
            <a:ext cx="1664208" cy="585216"/>
          </a:xfrm>
          <a:prstGeom prst="rect">
            <a:avLst/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397496" y="5001768"/>
            <a:ext cx="1591056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1 + 2</a:t>
            </a:r>
            <a:endParaRPr lang="en-US" sz="1020" dirty="0"/>
          </a:p>
        </p:txBody>
      </p:sp>
      <p:sp>
        <p:nvSpPr>
          <p:cNvPr id="105" name="Shape 103"/>
          <p:cNvSpPr/>
          <p:nvPr/>
        </p:nvSpPr>
        <p:spPr>
          <a:xfrm>
            <a:off x="9144000" y="4910328"/>
            <a:ext cx="1444752" cy="585216"/>
          </a:xfrm>
          <a:prstGeom prst="rect">
            <a:avLst/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9180576" y="5001768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complex</a:t>
            </a:r>
            <a:endParaRPr lang="en-US" sz="1020" dirty="0"/>
          </a:p>
        </p:txBody>
      </p:sp>
      <p:sp>
        <p:nvSpPr>
          <p:cNvPr id="107" name="Shape 105"/>
          <p:cNvSpPr/>
          <p:nvPr/>
        </p:nvSpPr>
        <p:spPr>
          <a:xfrm>
            <a:off x="10652760" y="4910328"/>
            <a:ext cx="1097280" cy="585216"/>
          </a:xfrm>
          <a:prstGeom prst="rect">
            <a:avLst/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0689336" y="5001768"/>
            <a:ext cx="102412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Still classical</a:t>
            </a:r>
            <a:endParaRPr lang="en-US" sz="1020" dirty="0"/>
          </a:p>
        </p:txBody>
      </p:sp>
      <p:sp>
        <p:nvSpPr>
          <p:cNvPr id="109" name="Shape 107"/>
          <p:cNvSpPr/>
          <p:nvPr/>
        </p:nvSpPr>
        <p:spPr>
          <a:xfrm>
            <a:off x="868680" y="5687568"/>
            <a:ext cx="10058400" cy="585216"/>
          </a:xfrm>
          <a:prstGeom prst="roundRect">
            <a:avLst>
              <a:gd name="adj" fmla="val 18750"/>
            </a:avLst>
          </a:prstGeom>
          <a:solidFill>
            <a:srgbClr val="E6F8F8"/>
          </a:solidFill>
          <a:ln w="12700">
            <a:solidFill>
              <a:srgbClr val="E6F8F8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68680" y="5687568"/>
            <a:ext cx="73152" cy="585216"/>
          </a:xfrm>
          <a:prstGeom prst="roundRect">
            <a:avLst>
              <a:gd name="adj" fmla="val 150000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033272" y="5769864"/>
            <a:ext cx="9802368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Remember: substitution alters symbol identity; transposition alters symbol position.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2880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9202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0068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Real-World Relevance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857232" y="1828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3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PANTECH SOLUTIONS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857232" y="457200"/>
            <a:ext cx="182880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2700">
            <a:solidFill>
              <a:srgbClr val="C8D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382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6364224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Classical ciphers build the mental model needed to understand modern cryptographic systems.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45952" y="636422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1417320"/>
            <a:ext cx="3364992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9264" y="1645920"/>
            <a:ext cx="1965960" cy="310896"/>
          </a:xfrm>
          <a:prstGeom prst="roundRect">
            <a:avLst>
              <a:gd name="adj" fmla="val 35294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4984" y="1655064"/>
            <a:ext cx="1874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 ENCRYPTION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87552" y="2167128"/>
            <a:ext cx="2852928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why keys, algorithms, and transformations matter.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26280" y="1417320"/>
            <a:ext cx="3364992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64024" y="1645920"/>
            <a:ext cx="1965960" cy="310896"/>
          </a:xfrm>
          <a:prstGeom prst="roundRect">
            <a:avLst>
              <a:gd name="adj" fmla="val 35294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1655064"/>
            <a:ext cx="1874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SECURITY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82312" y="2167128"/>
            <a:ext cx="2852928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 why data in transit needs protection.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321040" y="1417320"/>
            <a:ext cx="3364992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58784" y="1645920"/>
            <a:ext cx="1965960" cy="310896"/>
          </a:xfrm>
          <a:prstGeom prst="roundRect">
            <a:avLst>
              <a:gd name="adj" fmla="val 35294"/>
            </a:avLst>
          </a:prstGeom>
          <a:solidFill>
            <a:srgbClr val="6F4FB3"/>
          </a:solidFill>
          <a:ln w="12700">
            <a:solidFill>
              <a:srgbClr val="6F4FB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04504" y="1655064"/>
            <a:ext cx="1874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COMMUNICATION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77072" y="2167128"/>
            <a:ext cx="2852928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readable information from protected ciphertext.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1520" y="3383280"/>
            <a:ext cx="52578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9264" y="3611880"/>
            <a:ext cx="1965960" cy="310896"/>
          </a:xfrm>
          <a:prstGeom prst="roundRect">
            <a:avLst>
              <a:gd name="adj" fmla="val 35294"/>
            </a:avLst>
          </a:prstGeom>
          <a:solidFill>
            <a:srgbClr val="D98C00"/>
          </a:solidFill>
          <a:ln w="12700">
            <a:solidFill>
              <a:srgbClr val="D98C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4984" y="3621024"/>
            <a:ext cx="1874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PROTECTION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87552" y="4133088"/>
            <a:ext cx="4745736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 confidentiality as a core security goal.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36208" y="3383280"/>
            <a:ext cx="52578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73952" y="3611880"/>
            <a:ext cx="1965960" cy="310896"/>
          </a:xfrm>
          <a:prstGeom prst="roundRect">
            <a:avLst>
              <a:gd name="adj" fmla="val 35294"/>
            </a:avLst>
          </a:prstGeom>
          <a:solidFill>
            <a:srgbClr val="C83C3C"/>
          </a:solidFill>
          <a:ln w="12700">
            <a:solidFill>
              <a:srgbClr val="C83C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19672" y="3621024"/>
            <a:ext cx="1874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CRYPTOGRAPHIC ALGORITHMS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92240" y="4133088"/>
            <a:ext cx="4745736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for stronger block, stream, and public-key systems.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32688" y="5394960"/>
            <a:ext cx="10012680" cy="585216"/>
          </a:xfrm>
          <a:prstGeom prst="roundRect">
            <a:avLst>
              <a:gd name="adj" fmla="val 18750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32688" y="5394960"/>
            <a:ext cx="73152" cy="585216"/>
          </a:xfrm>
          <a:prstGeom prst="roundRect">
            <a:avLst>
              <a:gd name="adj" fmla="val 150000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97280" y="5477256"/>
            <a:ext cx="9756648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Classical cryptography is a bridge: simple transformations first, stronger constructions next.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2880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9202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0068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Summary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857232" y="1828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3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PANTECH SOLUTIONS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857232" y="457200"/>
            <a:ext cx="182880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2700">
            <a:solidFill>
              <a:srgbClr val="C8D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382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6364224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words organize the entire lesson: REPLACE and REARRANGE.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45952" y="636422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86384" y="1417320"/>
            <a:ext cx="5074920" cy="3611880"/>
          </a:xfrm>
          <a:prstGeom prst="roundRect">
            <a:avLst>
              <a:gd name="adj" fmla="val 3038"/>
            </a:avLst>
          </a:prstGeom>
          <a:solidFill>
            <a:srgbClr val="E6F8F8"/>
          </a:solidFill>
          <a:ln w="12700">
            <a:solidFill>
              <a:srgbClr val="BFEA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175564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SUBSTITUTION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2194560"/>
            <a:ext cx="283464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1097280" y="2926080"/>
            <a:ext cx="3383280" cy="10058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Caesar</a:t>
            </a:r>
            <a:endParaRPr lang="en-US" sz="1900" dirty="0"/>
          </a:p>
          <a:p>
            <a:pPr marL="0" indent="0" algn="l">
              <a:buNone/>
            </a:pPr>
            <a:r>
              <a:rPr lang="en-US" sz="19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Monoalphabetic</a:t>
            </a:r>
            <a:endParaRPr lang="en-US" sz="1900" dirty="0"/>
          </a:p>
          <a:p>
            <a:pPr marL="0" indent="0" algn="l">
              <a:buNone/>
            </a:pPr>
            <a:r>
              <a:rPr lang="en-US" sz="19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Vigenère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272784" y="1417320"/>
            <a:ext cx="5074920" cy="3611880"/>
          </a:xfrm>
          <a:prstGeom prst="roundRect">
            <a:avLst>
              <a:gd name="adj" fmla="val 3038"/>
            </a:avLst>
          </a:prstGeom>
          <a:solidFill>
            <a:srgbClr val="F0EAFE"/>
          </a:solidFill>
          <a:ln w="12700">
            <a:solidFill>
              <a:srgbClr val="DDD2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75564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F4F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TRANSPOSITION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0" y="2194560"/>
            <a:ext cx="338328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REARRANGE</a:t>
            </a:r>
            <a:endParaRPr lang="en-US" sz="3100" dirty="0"/>
          </a:p>
        </p:txBody>
      </p:sp>
      <p:sp>
        <p:nvSpPr>
          <p:cNvPr id="18" name="Text 16"/>
          <p:cNvSpPr/>
          <p:nvPr/>
        </p:nvSpPr>
        <p:spPr>
          <a:xfrm>
            <a:off x="6583680" y="2926080"/>
            <a:ext cx="3931920" cy="10058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Rail Fence</a:t>
            </a:r>
            <a:endParaRPr lang="en-US" sz="1900" dirty="0"/>
          </a:p>
          <a:p>
            <a:pPr marL="0" indent="0" algn="l">
              <a:buNone/>
            </a:pPr>
            <a:r>
              <a:rPr lang="en-US" sz="19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Columnar</a:t>
            </a:r>
            <a:endParaRPr lang="en-US" sz="1900" dirty="0"/>
          </a:p>
          <a:p>
            <a:pPr marL="0" indent="0" algn="l">
              <a:buNone/>
            </a:pPr>
            <a:r>
              <a:rPr lang="en-US" sz="19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Double Transposition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914400" y="5394960"/>
            <a:ext cx="10012680" cy="585216"/>
          </a:xfrm>
          <a:prstGeom prst="roundRect">
            <a:avLst>
              <a:gd name="adj" fmla="val 18750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5394960"/>
            <a:ext cx="73152" cy="585216"/>
          </a:xfrm>
          <a:prstGeom prst="roundRect">
            <a:avLst>
              <a:gd name="adj" fmla="val 150000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992" y="5477256"/>
            <a:ext cx="9756648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takeaway: know what changes — the symbols or their positions — and the rest of the cipher becomes much easier to follow.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2880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9202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0068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 / Knowledge Check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857232" y="1828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3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PANTECH SOLUTIONS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857232" y="457200"/>
            <a:ext cx="182880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2700">
            <a:solidFill>
              <a:srgbClr val="C8D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382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6364224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Pause here for students to answer before revealing the key.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45952" y="636422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1417320"/>
            <a:ext cx="5047488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1563624"/>
            <a:ext cx="4626864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plaintext?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" y="2377440"/>
            <a:ext cx="5047488" cy="731520"/>
          </a:xfrm>
          <a:prstGeom prst="roundRect">
            <a:avLst>
              <a:gd name="adj" fmla="val 15000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2523744"/>
            <a:ext cx="4626864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What is ciphertext?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3337560"/>
            <a:ext cx="5047488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3483864"/>
            <a:ext cx="4626864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What is the key in Caesar Cipher?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4297680"/>
            <a:ext cx="5047488" cy="731520"/>
          </a:xfrm>
          <a:prstGeom prst="roundRect">
            <a:avLst>
              <a:gd name="adj" fmla="val 15000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" y="4443984"/>
            <a:ext cx="4626864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What is the difference between substitution and transposition?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28232" y="1417320"/>
            <a:ext cx="5047488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1563624"/>
            <a:ext cx="4626864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Which cipher uses a zig-zag pattern?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28232" y="2377440"/>
            <a:ext cx="5047488" cy="731520"/>
          </a:xfrm>
          <a:prstGeom prst="roundRect">
            <a:avLst>
              <a:gd name="adj" fmla="val 15000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2523744"/>
            <a:ext cx="4626864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Which cipher uses a keyword and changing shifts?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28232" y="3337560"/>
            <a:ext cx="5047488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3483864"/>
            <a:ext cx="4626864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What is frequency analysis?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28232" y="4297680"/>
            <a:ext cx="5047488" cy="731520"/>
          </a:xfrm>
          <a:prstGeom prst="roundRect">
            <a:avLst>
              <a:gd name="adj" fmla="val 15000"/>
            </a:avLst>
          </a:prstGeom>
          <a:solidFill>
            <a:srgbClr val="EAF1F6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4443984"/>
            <a:ext cx="4626864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Why are classical ciphers weak for modern security?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160520" y="5422392"/>
            <a:ext cx="2788920" cy="310896"/>
          </a:xfrm>
          <a:prstGeom prst="roundRect">
            <a:avLst>
              <a:gd name="adj" fmla="val 35294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0" y="5431536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 • ANSWER • EXPLAIN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2880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9202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0068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 Answer Key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857232" y="1828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3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PANTECH SOLUTIONS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857232" y="457200"/>
            <a:ext cx="182880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2700">
            <a:solidFill>
              <a:srgbClr val="C8D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382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6364224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slide after class discussion to confirm the core ideas.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45952" y="636422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353312"/>
            <a:ext cx="507492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Plaintext = original readable message.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295144"/>
            <a:ext cx="507492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Ciphertext = transformed / encrypted message.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236976"/>
            <a:ext cx="507492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Caesar key = the fixed shift value.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178808"/>
            <a:ext cx="507492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Substitution replaces symbols; transposition rearranges positions.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1353312"/>
            <a:ext cx="507492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Rail Fence uses a zig-zag pattern across rails.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2295144"/>
            <a:ext cx="507492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Vigenère uses a keyword with changing shifts.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3236976"/>
            <a:ext cx="507492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Frequency analysis studies statistical patterns such as common letters.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4178808"/>
            <a:ext cx="507492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Classical ciphers have small/structured key spaces and exploitable patterns.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14400" y="5413248"/>
            <a:ext cx="10012680" cy="585216"/>
          </a:xfrm>
          <a:prstGeom prst="roundRect">
            <a:avLst>
              <a:gd name="adj" fmla="val 18750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5413248"/>
            <a:ext cx="73152" cy="585216"/>
          </a:xfrm>
          <a:prstGeom prst="roundRect">
            <a:avLst>
              <a:gd name="adj" fmla="val 150000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992" y="5495544"/>
            <a:ext cx="9756648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Extension question: Which weakness of Caesar disappears when the key can change by position?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2880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9202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0068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Classroom Activity: Encrypt &amp; Decrypt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857232" y="1828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3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PANTECH SOLUTIONS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857232" y="457200"/>
            <a:ext cx="182880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2700">
            <a:solidFill>
              <a:srgbClr val="C8D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382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6364224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practice the two families of techniques side by side.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45952" y="636422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3232" y="1325880"/>
            <a:ext cx="5257800" cy="4407408"/>
          </a:xfrm>
          <a:prstGeom prst="roundRect">
            <a:avLst>
              <a:gd name="adj" fmla="val 2490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9264" y="1618488"/>
            <a:ext cx="1920240" cy="310896"/>
          </a:xfrm>
          <a:prstGeom prst="roundRect">
            <a:avLst>
              <a:gd name="adj" fmla="val 35294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4984" y="162763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 A — SUBSTITUTION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9264" y="210312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Caesar key 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69264" y="2596896"/>
            <a:ext cx="29718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PLAINTEXT: SECURITY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9264" y="3072384"/>
            <a:ext cx="425196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Task: encrypt, then swap with another pair for decryption.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69264" y="4160520"/>
            <a:ext cx="4526280" cy="585216"/>
          </a:xfrm>
          <a:prstGeom prst="roundRect">
            <a:avLst>
              <a:gd name="adj" fmla="val 18750"/>
            </a:avLst>
          </a:prstGeom>
          <a:solidFill>
            <a:srgbClr val="E6F8F8"/>
          </a:solidFill>
          <a:ln w="12700">
            <a:solidFill>
              <a:srgbClr val="E6F8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9264" y="4160520"/>
            <a:ext cx="73152" cy="585216"/>
          </a:xfrm>
          <a:prstGeom prst="roundRect">
            <a:avLst>
              <a:gd name="adj" fmla="val 150000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33856" y="4242816"/>
            <a:ext cx="4270248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each letter individually.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81344" y="1325880"/>
            <a:ext cx="5257800" cy="4407408"/>
          </a:xfrm>
          <a:prstGeom prst="roundRect">
            <a:avLst>
              <a:gd name="adj" fmla="val 2490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37376" y="1618488"/>
            <a:ext cx="1938528" cy="310896"/>
          </a:xfrm>
          <a:prstGeom prst="roundRect">
            <a:avLst>
              <a:gd name="adj" fmla="val 35294"/>
            </a:avLst>
          </a:prstGeom>
          <a:solidFill>
            <a:srgbClr val="6F4FB3"/>
          </a:solidFill>
          <a:ln w="12700">
            <a:solidFill>
              <a:srgbClr val="6F4FB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83096" y="1627632"/>
            <a:ext cx="18470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 B — TRANSPOSITION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37376" y="2103120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Rail Fence with 3 rails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37376" y="2596896"/>
            <a:ext cx="29718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PLAINTEXT: CLASSROOM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37376" y="3072384"/>
            <a:ext cx="429768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Task: draw the zig-zag, read rows, then reverse the process.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37376" y="4160520"/>
            <a:ext cx="4526280" cy="585216"/>
          </a:xfrm>
          <a:prstGeom prst="roundRect">
            <a:avLst>
              <a:gd name="adj" fmla="val 18750"/>
            </a:avLst>
          </a:prstGeom>
          <a:solidFill>
            <a:srgbClr val="F0EAFE"/>
          </a:solidFill>
          <a:ln w="12700">
            <a:solidFill>
              <a:srgbClr val="F0EA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37376" y="4160520"/>
            <a:ext cx="73152" cy="585216"/>
          </a:xfrm>
          <a:prstGeom prst="roundRect">
            <a:avLst>
              <a:gd name="adj" fmla="val 150000"/>
            </a:avLst>
          </a:prstGeom>
          <a:solidFill>
            <a:srgbClr val="6F4FB3"/>
          </a:solidFill>
          <a:ln w="12700">
            <a:solidFill>
              <a:srgbClr val="6F4FB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01968" y="4242816"/>
            <a:ext cx="4270248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the positions, not the letter values.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2880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9202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0068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Appendix: Major Cipher Review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857232" y="1828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3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PANTECH SOLUTIONS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857232" y="457200"/>
            <a:ext cx="182880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2700">
            <a:solidFill>
              <a:srgbClr val="C8D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382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6364224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major cipher has a distinct decryption path and a specific classroom takeaway.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45952" y="636422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3232" y="1353312"/>
            <a:ext cx="10972800" cy="4498848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2688" y="1664208"/>
            <a:ext cx="1481328" cy="310896"/>
          </a:xfrm>
          <a:prstGeom prst="roundRect">
            <a:avLst>
              <a:gd name="adj" fmla="val 35294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1673352"/>
            <a:ext cx="13898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CAESAR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70048" y="169164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Encrypt: +K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169164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Decrypt: −K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0" y="169164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Tiny key space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32688" y="2450592"/>
            <a:ext cx="1481328" cy="310896"/>
          </a:xfrm>
          <a:prstGeom prst="roundRect">
            <a:avLst>
              <a:gd name="adj" fmla="val 35294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" y="2459736"/>
            <a:ext cx="13898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MONOALPHABETIC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70048" y="2478024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Encrypt: fixed map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2478024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Decrypt: inverse map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0" y="2478024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Frequency leakage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32688" y="3236976"/>
            <a:ext cx="1481328" cy="310896"/>
          </a:xfrm>
          <a:prstGeom prst="roundRect">
            <a:avLst>
              <a:gd name="adj" fmla="val 35294"/>
            </a:avLst>
          </a:prstGeom>
          <a:solidFill>
            <a:srgbClr val="6F4FB3"/>
          </a:solidFill>
          <a:ln w="12700">
            <a:solidFill>
              <a:srgbClr val="6F4FB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8408" y="3246120"/>
            <a:ext cx="13898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VIGENÈRE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70048" y="3264408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Encrypt: changing shifts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00600" y="326440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Decrypt: − key shifts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15200" y="3264408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Key/pattern attacks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32688" y="4023360"/>
            <a:ext cx="1481328" cy="310896"/>
          </a:xfrm>
          <a:prstGeom prst="roundRect">
            <a:avLst>
              <a:gd name="adj" fmla="val 35294"/>
            </a:avLst>
          </a:prstGeom>
          <a:solidFill>
            <a:srgbClr val="6F4FB3"/>
          </a:solidFill>
          <a:ln w="12700">
            <a:solidFill>
              <a:srgbClr val="6F4FB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8408" y="4032504"/>
            <a:ext cx="13898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RAIL FENCE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670048" y="4050792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Encrypt: zig-zag + row read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00600" y="405079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Decrypt: rebuild rails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0" y="4050792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 patterns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32688" y="4809744"/>
            <a:ext cx="1481328" cy="310896"/>
          </a:xfrm>
          <a:prstGeom prst="roundRect">
            <a:avLst>
              <a:gd name="adj" fmla="val 35294"/>
            </a:avLst>
          </a:prstGeom>
          <a:solidFill>
            <a:srgbClr val="D98C00"/>
          </a:solidFill>
          <a:ln w="12700">
            <a:solidFill>
              <a:srgbClr val="D98C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8408" y="4818888"/>
            <a:ext cx="13898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COLUMNAR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670048" y="4837176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Encrypt: read numbered columns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00600" y="4837176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Decrypt: fill numbered columns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315200" y="4837176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Structural clues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914400" y="5413248"/>
            <a:ext cx="10012680" cy="585216"/>
          </a:xfrm>
          <a:prstGeom prst="roundRect">
            <a:avLst>
              <a:gd name="adj" fmla="val 18750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4400" y="5413248"/>
            <a:ext cx="73152" cy="585216"/>
          </a:xfrm>
          <a:prstGeom prst="roundRect">
            <a:avLst>
              <a:gd name="adj" fmla="val 150000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78992" y="5495544"/>
            <a:ext cx="9756648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all examples, “encrypt” and “decrypt” must be inverse processes.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2880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9202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0068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Monoalphabetic Decryption and Limits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857232" y="1828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3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PANTECH SOLUTIONS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857232" y="457200"/>
            <a:ext cx="182880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2700">
            <a:solidFill>
              <a:srgbClr val="C8D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382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6364224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Decryption uses the inverse mapping; repeated patterns make analysis possible.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45952" y="636422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9808" y="1353312"/>
            <a:ext cx="5074920" cy="4315968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1627632"/>
            <a:ext cx="1234440" cy="310896"/>
          </a:xfrm>
          <a:prstGeom prst="roundRect">
            <a:avLst>
              <a:gd name="adj" fmla="val 35294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1636776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DECRYPTION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103120"/>
            <a:ext cx="38862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Ciphertext: ITSSG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005840" y="2633472"/>
            <a:ext cx="416052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Inverse lookup: I→H, T→E, S→L, G→O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005840" y="3794760"/>
            <a:ext cx="4160520" cy="585216"/>
          </a:xfrm>
          <a:prstGeom prst="roundRect">
            <a:avLst>
              <a:gd name="adj" fmla="val 18750"/>
            </a:avLst>
          </a:prstGeom>
          <a:solidFill>
            <a:srgbClr val="E7F5EE"/>
          </a:solidFill>
          <a:ln w="12700">
            <a:solidFill>
              <a:srgbClr val="E7F5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3794760"/>
            <a:ext cx="73152" cy="585216"/>
          </a:xfrm>
          <a:prstGeom prst="roundRect">
            <a:avLst>
              <a:gd name="adj" fmla="val 1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0432" y="3877056"/>
            <a:ext cx="3904488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Plaintext recovered: HELLO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81344" y="1353312"/>
            <a:ext cx="5074920" cy="4315968"/>
          </a:xfrm>
          <a:prstGeom prst="roundRect">
            <a:avLst>
              <a:gd name="adj" fmla="val 2542"/>
            </a:avLst>
          </a:prstGeom>
          <a:solidFill>
            <a:srgbClr val="FDECEC"/>
          </a:solidFill>
          <a:ln w="12700">
            <a:solidFill>
              <a:srgbClr val="F1CFC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37376" y="1627632"/>
            <a:ext cx="1280160" cy="310896"/>
          </a:xfrm>
          <a:prstGeom prst="roundRect">
            <a:avLst>
              <a:gd name="adj" fmla="val 35294"/>
            </a:avLst>
          </a:prstGeom>
          <a:solidFill>
            <a:srgbClr val="C83C3C"/>
          </a:solidFill>
          <a:ln w="12700">
            <a:solidFill>
              <a:srgbClr val="C83C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83096" y="1636776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37376" y="2240280"/>
            <a:ext cx="73152" cy="73152"/>
          </a:xfrm>
          <a:prstGeom prst="ellipse">
            <a:avLst/>
          </a:prstGeom>
          <a:solidFill>
            <a:srgbClr val="C83C3C"/>
          </a:solidFill>
          <a:ln w="12700">
            <a:solidFill>
              <a:srgbClr val="C83C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92824" y="2148840"/>
            <a:ext cx="405079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fixed mapping repeats throughout the message.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37376" y="2587752"/>
            <a:ext cx="73152" cy="73152"/>
          </a:xfrm>
          <a:prstGeom prst="ellipse">
            <a:avLst/>
          </a:prstGeom>
          <a:solidFill>
            <a:srgbClr val="C83C3C"/>
          </a:solidFill>
          <a:ln w="12700">
            <a:solidFill>
              <a:srgbClr val="C83C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92824" y="2496312"/>
            <a:ext cx="405079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Common-letter frequencies can leak clues.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37376" y="2935224"/>
            <a:ext cx="73152" cy="73152"/>
          </a:xfrm>
          <a:prstGeom prst="ellipse">
            <a:avLst/>
          </a:prstGeom>
          <a:solidFill>
            <a:srgbClr val="C83C3C"/>
          </a:solidFill>
          <a:ln w="12700">
            <a:solidFill>
              <a:srgbClr val="C83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92824" y="2843784"/>
            <a:ext cx="405079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 words and patterns remain visible.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37376" y="4526280"/>
            <a:ext cx="420624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83C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Teaching cue: ask students which repeated pattern they would test first.</a:t>
            </a:r>
            <a:endParaRPr lang="en-US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2880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9202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0068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Vigenère Decryption and Limits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857232" y="1828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3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PANTECH SOLUTIONS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857232" y="457200"/>
            <a:ext cx="182880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2700">
            <a:solidFill>
              <a:srgbClr val="C8D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382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6364224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Decrypt by subtracting each keyword value from the ciphertext letter.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45952" y="636422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9808" y="1353312"/>
            <a:ext cx="5074920" cy="4315968"/>
          </a:xfrm>
          <a:prstGeom prst="roundRect">
            <a:avLst>
              <a:gd name="adj" fmla="val 2542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1664208"/>
            <a:ext cx="128016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5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CIPHERTEXT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201168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LXFOPV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005840" y="2633472"/>
            <a:ext cx="128016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5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29718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LEMONL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005840" y="3703320"/>
            <a:ext cx="416052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Decrypt: P = (C − K) mod 26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69264" y="4315968"/>
            <a:ext cx="4251960" cy="585216"/>
          </a:xfrm>
          <a:prstGeom prst="roundRect">
            <a:avLst>
              <a:gd name="adj" fmla="val 18750"/>
            </a:avLst>
          </a:prstGeom>
          <a:solidFill>
            <a:srgbClr val="E6F8F8"/>
          </a:solidFill>
          <a:ln w="12700">
            <a:solidFill>
              <a:srgbClr val="E6F8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9264" y="4315968"/>
            <a:ext cx="73152" cy="585216"/>
          </a:xfrm>
          <a:prstGeom prst="roundRect">
            <a:avLst>
              <a:gd name="adj" fmla="val 150000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33856" y="4398264"/>
            <a:ext cx="3995928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 for the first six characters: ATTACK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81344" y="1353312"/>
            <a:ext cx="5074920" cy="4315968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12700">
            <a:solidFill>
              <a:srgbClr val="C8D4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37376" y="1627632"/>
            <a:ext cx="1280160" cy="310896"/>
          </a:xfrm>
          <a:prstGeom prst="roundRect">
            <a:avLst>
              <a:gd name="adj" fmla="val 35294"/>
            </a:avLst>
          </a:prstGeom>
          <a:solidFill>
            <a:srgbClr val="C83C3C"/>
          </a:solidFill>
          <a:ln w="12700">
            <a:solidFill>
              <a:srgbClr val="C83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83096" y="1636776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37376" y="2240280"/>
            <a:ext cx="73152" cy="73152"/>
          </a:xfrm>
          <a:prstGeom prst="ellipse">
            <a:avLst/>
          </a:prstGeom>
          <a:solidFill>
            <a:srgbClr val="C83C3C"/>
          </a:solidFill>
          <a:ln w="12700">
            <a:solidFill>
              <a:srgbClr val="C83C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92824" y="2148840"/>
            <a:ext cx="405079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repeating keyword can create exploitable periodic patterns.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437376" y="2587752"/>
            <a:ext cx="73152" cy="73152"/>
          </a:xfrm>
          <a:prstGeom prst="ellipse">
            <a:avLst/>
          </a:prstGeom>
          <a:solidFill>
            <a:srgbClr val="C83C3C"/>
          </a:solidFill>
          <a:ln w="12700">
            <a:solidFill>
              <a:srgbClr val="C83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92824" y="2496312"/>
            <a:ext cx="405079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length can become a major clue in cryptanalysis.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37376" y="2935224"/>
            <a:ext cx="73152" cy="73152"/>
          </a:xfrm>
          <a:prstGeom prst="ellipse">
            <a:avLst/>
          </a:prstGeom>
          <a:solidFill>
            <a:srgbClr val="C83C3C"/>
          </a:solidFill>
          <a:ln w="12700">
            <a:solidFill>
              <a:srgbClr val="C83C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92824" y="2843784"/>
            <a:ext cx="405079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depends heavily on the strength and handling of the key.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437376" y="4526280"/>
            <a:ext cx="4206240" cy="585216"/>
          </a:xfrm>
          <a:prstGeom prst="roundRect">
            <a:avLst>
              <a:gd name="adj" fmla="val 1875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37376" y="4526280"/>
            <a:ext cx="73152" cy="585216"/>
          </a:xfrm>
          <a:prstGeom prst="roundRect">
            <a:avLst>
              <a:gd name="adj" fmla="val 150000"/>
            </a:avLst>
          </a:prstGeom>
          <a:solidFill>
            <a:srgbClr val="C83C3C"/>
          </a:solidFill>
          <a:ln w="12700">
            <a:solidFill>
              <a:srgbClr val="C83C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608576"/>
            <a:ext cx="3950208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Changing substitutions is stronger than one fixed alphabet, but still not modern cryptographic security.</a:t>
            </a:r>
            <a:endParaRPr 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2880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9202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0068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Rail Fence: Strengths and Limitations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857232" y="1828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3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PANTECH SOLUTIONS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857232" y="457200"/>
            <a:ext cx="182880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2700">
            <a:solidFill>
              <a:srgbClr val="C8D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382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6364224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Rail Fence is visually simple and easy to reverse, but the rail structure itself becomes a clue.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45952" y="636422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1353312"/>
            <a:ext cx="5212080" cy="4370832"/>
          </a:xfrm>
          <a:prstGeom prst="roundRect">
            <a:avLst>
              <a:gd name="adj" fmla="val 2510"/>
            </a:avLst>
          </a:prstGeom>
          <a:solidFill>
            <a:srgbClr val="E7F5EE"/>
          </a:solidFill>
          <a:ln w="12700">
            <a:solidFill>
              <a:srgbClr val="C9EA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1627632"/>
            <a:ext cx="1143000" cy="310896"/>
          </a:xfrm>
          <a:prstGeom prst="roundRect">
            <a:avLst>
              <a:gd name="adj" fmla="val 35294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1636776"/>
            <a:ext cx="10515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87552" y="2240280"/>
            <a:ext cx="73152" cy="7315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2148840"/>
            <a:ext cx="418795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to draw and explain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87552" y="2587752"/>
            <a:ext cx="73152" cy="7315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2496312"/>
            <a:ext cx="418795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character replacement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87552" y="2935224"/>
            <a:ext cx="73152" cy="7315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2843784"/>
            <a:ext cx="418795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demonstration of positional change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36208" y="1353312"/>
            <a:ext cx="5212080" cy="4370832"/>
          </a:xfrm>
          <a:prstGeom prst="roundRect">
            <a:avLst>
              <a:gd name="adj" fmla="val 2510"/>
            </a:avLst>
          </a:prstGeom>
          <a:solidFill>
            <a:srgbClr val="FDECEC"/>
          </a:solidFill>
          <a:ln w="12700">
            <a:solidFill>
              <a:srgbClr val="F1CF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1627632"/>
            <a:ext cx="1170432" cy="310896"/>
          </a:xfrm>
          <a:prstGeom prst="roundRect">
            <a:avLst>
              <a:gd name="adj" fmla="val 35294"/>
            </a:avLst>
          </a:prstGeom>
          <a:solidFill>
            <a:srgbClr val="C83C3C"/>
          </a:solidFill>
          <a:ln w="12700">
            <a:solidFill>
              <a:srgbClr val="C83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1636776"/>
            <a:ext cx="107899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92240" y="2240280"/>
            <a:ext cx="73152" cy="73152"/>
          </a:xfrm>
          <a:prstGeom prst="ellipse">
            <a:avLst/>
          </a:prstGeom>
          <a:solidFill>
            <a:srgbClr val="C83C3C"/>
          </a:solidFill>
          <a:ln w="12700">
            <a:solidFill>
              <a:srgbClr val="C83C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47688" y="2148840"/>
            <a:ext cx="418795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rail counts are easy to try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92240" y="2587752"/>
            <a:ext cx="73152" cy="73152"/>
          </a:xfrm>
          <a:prstGeom prst="ellipse">
            <a:avLst/>
          </a:prstGeom>
          <a:solidFill>
            <a:srgbClr val="C83C3C"/>
          </a:solidFill>
          <a:ln w="12700">
            <a:solidFill>
              <a:srgbClr val="C83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47688" y="2496312"/>
            <a:ext cx="418795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Zig-zag structure is predictable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92240" y="2935224"/>
            <a:ext cx="73152" cy="73152"/>
          </a:xfrm>
          <a:prstGeom prst="ellipse">
            <a:avLst/>
          </a:prstGeom>
          <a:solidFill>
            <a:srgbClr val="C83C3C"/>
          </a:solidFill>
          <a:ln w="12700">
            <a:solidFill>
              <a:srgbClr val="C83C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47688" y="2843784"/>
            <a:ext cx="418795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not provide modern confidentiality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32688" y="5266944"/>
            <a:ext cx="10012680" cy="585216"/>
          </a:xfrm>
          <a:prstGeom prst="roundRect">
            <a:avLst>
              <a:gd name="adj" fmla="val 18750"/>
            </a:avLst>
          </a:prstGeom>
          <a:solidFill>
            <a:srgbClr val="F0EAFE"/>
          </a:solidFill>
          <a:ln w="12700">
            <a:solidFill>
              <a:srgbClr val="F0EAF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2688" y="5266944"/>
            <a:ext cx="73152" cy="585216"/>
          </a:xfrm>
          <a:prstGeom prst="roundRect">
            <a:avLst>
              <a:gd name="adj" fmla="val 150000"/>
            </a:avLst>
          </a:prstGeom>
          <a:solidFill>
            <a:srgbClr val="6F4FB3"/>
          </a:solidFill>
          <a:ln w="12700">
            <a:solidFill>
              <a:srgbClr val="6F4FB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5349240"/>
            <a:ext cx="9756648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Classroom prompt: “What changes if I keep the letters but change only their positions?”</a:t>
            </a:r>
            <a:endParaRPr 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2880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9202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0068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Columnar Transposition: Strengths and Limitations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857232" y="1828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3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PANTECH SOLUTIONS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857232" y="457200"/>
            <a:ext cx="182880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355080"/>
            <a:ext cx="11183112" cy="0"/>
          </a:xfrm>
          <a:prstGeom prst="line">
            <a:avLst/>
          </a:prstGeom>
          <a:noFill/>
          <a:ln w="12700">
            <a:solidFill>
              <a:srgbClr val="C8D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382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6364224"/>
            <a:ext cx="8778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E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Columnar transposition is flexible but remains a position-only transformation.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45952" y="636422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47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1353312"/>
            <a:ext cx="5212080" cy="4370832"/>
          </a:xfrm>
          <a:prstGeom prst="roundRect">
            <a:avLst>
              <a:gd name="adj" fmla="val 2510"/>
            </a:avLst>
          </a:prstGeom>
          <a:solidFill>
            <a:srgbClr val="E7F5EE"/>
          </a:solidFill>
          <a:ln w="12700">
            <a:solidFill>
              <a:srgbClr val="C9EA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1627632"/>
            <a:ext cx="1143000" cy="310896"/>
          </a:xfrm>
          <a:prstGeom prst="roundRect">
            <a:avLst>
              <a:gd name="adj" fmla="val 35294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1636776"/>
            <a:ext cx="10515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87552" y="2240280"/>
            <a:ext cx="73152" cy="7315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2148840"/>
            <a:ext cx="418795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Keyword controls the reading order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87552" y="2587752"/>
            <a:ext cx="73152" cy="7315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2496312"/>
            <a:ext cx="418795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to extend to longer messages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87552" y="2935224"/>
            <a:ext cx="73152" cy="7315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2843784"/>
            <a:ext cx="418795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for illustrating column-based permutations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36208" y="1353312"/>
            <a:ext cx="5212080" cy="4370832"/>
          </a:xfrm>
          <a:prstGeom prst="roundRect">
            <a:avLst>
              <a:gd name="adj" fmla="val 2510"/>
            </a:avLst>
          </a:prstGeom>
          <a:solidFill>
            <a:srgbClr val="FDECEC"/>
          </a:solidFill>
          <a:ln w="12700">
            <a:solidFill>
              <a:srgbClr val="F1CF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1627632"/>
            <a:ext cx="1170432" cy="310896"/>
          </a:xfrm>
          <a:prstGeom prst="roundRect">
            <a:avLst>
              <a:gd name="adj" fmla="val 35294"/>
            </a:avLst>
          </a:prstGeom>
          <a:solidFill>
            <a:srgbClr val="C83C3C"/>
          </a:solidFill>
          <a:ln w="12700">
            <a:solidFill>
              <a:srgbClr val="C83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1636776"/>
            <a:ext cx="107899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92240" y="2240280"/>
            <a:ext cx="73152" cy="73152"/>
          </a:xfrm>
          <a:prstGeom prst="ellipse">
            <a:avLst/>
          </a:prstGeom>
          <a:solidFill>
            <a:srgbClr val="C83C3C"/>
          </a:solidFill>
          <a:ln w="12700">
            <a:solidFill>
              <a:srgbClr val="C83C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47688" y="2148840"/>
            <a:ext cx="418795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Columns must still be reconstructed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92240" y="2587752"/>
            <a:ext cx="73152" cy="73152"/>
          </a:xfrm>
          <a:prstGeom prst="ellipse">
            <a:avLst/>
          </a:prstGeom>
          <a:solidFill>
            <a:srgbClr val="C83C3C"/>
          </a:solidFill>
          <a:ln w="12700">
            <a:solidFill>
              <a:srgbClr val="C83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47688" y="2496312"/>
            <a:ext cx="418795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Length and patterns can leak clues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92240" y="2935224"/>
            <a:ext cx="73152" cy="73152"/>
          </a:xfrm>
          <a:prstGeom prst="ellipse">
            <a:avLst/>
          </a:prstGeom>
          <a:solidFill>
            <a:srgbClr val="C83C3C"/>
          </a:solidFill>
          <a:ln w="12700">
            <a:solidFill>
              <a:srgbClr val="C83C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47688" y="2843784"/>
            <a:ext cx="418795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resistant to modern cryptanalysis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32688" y="5266944"/>
            <a:ext cx="10012680" cy="585216"/>
          </a:xfrm>
          <a:prstGeom prst="roundRect">
            <a:avLst>
              <a:gd name="adj" fmla="val 18750"/>
            </a:avLst>
          </a:prstGeom>
          <a:solidFill>
            <a:srgbClr val="FFF5E2"/>
          </a:solidFill>
          <a:ln w="12700">
            <a:solidFill>
              <a:srgbClr val="FFF5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2688" y="5266944"/>
            <a:ext cx="73152" cy="585216"/>
          </a:xfrm>
          <a:prstGeom prst="roundRect">
            <a:avLst>
              <a:gd name="adj" fmla="val 150000"/>
            </a:avLst>
          </a:prstGeom>
          <a:solidFill>
            <a:srgbClr val="D98C00"/>
          </a:solidFill>
          <a:ln w="12700">
            <a:solidFill>
              <a:srgbClr val="D98C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5349240"/>
            <a:ext cx="9756648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Classroom prompt: “Which part of the keyword determines when a character is read?”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57232" y="1828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kern="0" spc="3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PANTECH SOLUTIONS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857232" y="457200"/>
            <a:ext cx="182880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216152"/>
            <a:ext cx="6583680" cy="1298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CLASSICAL CIPHERS</a:t>
            </a:r>
            <a:endParaRPr lang="en-US" sz="3700" dirty="0"/>
          </a:p>
          <a:p>
            <a:pPr marL="0" indent="0" algn="l">
              <a:buNone/>
            </a:pPr>
            <a:r>
              <a:rPr lang="en-US" sz="3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MADE SIMPLE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6629400" cy="8686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5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SUBSTITUTE → REPLACE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25C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TRANSPOSITION → REARRANGE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4224528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77240" y="4736592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FE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 • Discussion • Demonstration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77240" y="5340096"/>
            <a:ext cx="2267712" cy="310896"/>
          </a:xfrm>
          <a:prstGeom prst="roundRect">
            <a:avLst>
              <a:gd name="adj" fmla="val 35294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349240"/>
            <a:ext cx="217627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PANTECH SOLUTIONS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045952" y="636422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20849</Words>
  <Application>WPS Presentation</Application>
  <PresentationFormat>On-screen Show (16:9)</PresentationFormat>
  <Paragraphs>2346</Paragraphs>
  <Slides>48</Slides>
  <Notes>48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61" baseType="lpstr">
      <vt:lpstr>Arial</vt:lpstr>
      <vt:lpstr>SimSun</vt:lpstr>
      <vt:lpstr>Wingdings</vt:lpstr>
      <vt:lpstr>Aptos</vt:lpstr>
      <vt:lpstr>Segoe UI</vt:lpstr>
      <vt:lpstr>Aptos</vt:lpstr>
      <vt:lpstr>Aptos</vt:lpstr>
      <vt:lpstr>Microsoft YaHei</vt:lpstr>
      <vt:lpstr>Arial Unicode MS</vt:lpstr>
      <vt:lpstr>Aptos Mono</vt:lpstr>
      <vt:lpstr>Aptos Mono</vt:lpstr>
      <vt:lpstr>Aptos Mono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PANTECH SOLUTIONS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Classical Encryption Techniques – Substitution and Transposition Techniques</dc:title>
  <dc:creator>PANTECH SOLUTIONS</dc:creator>
  <dc:subject>Classical Encryption Techniques – Substitution and Transposition Techniques</dc:subject>
  <cp:lastModifiedBy>BHARATH</cp:lastModifiedBy>
  <cp:revision>2</cp:revision>
  <dcterms:created xsi:type="dcterms:W3CDTF">2026-08-26T07:30:00Z</dcterms:created>
  <dcterms:modified xsi:type="dcterms:W3CDTF">2026-08-27T03:54:32Z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57707635D4414169B1F2C2920C38E958_12</vt:lpwstr>
  </property>
</Properties>
</file>
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4" r:id="rId88"/>
    <p:sldId id="345" r:id="rId89"/>
    <p:sldId id="346" r:id="rId90"/>
    <p:sldId id="340" r:id="rId91"/>
    <p:sldId id="341" r:id="rId92"/>
    <p:sldId id="342" r:id="rId9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6" Type="http://schemas.openxmlformats.org/officeDocument/2006/relationships/tableStyles" Target="tableStyles.xml"/><Relationship Id="rId95" Type="http://schemas.openxmlformats.org/officeDocument/2006/relationships/viewProps" Target="viewProps.xml"/><Relationship Id="rId94" Type="http://schemas.openxmlformats.org/officeDocument/2006/relationships/presProps" Target="presProps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9534525"/>
            <a:ext cx="2844800" cy="547688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9534525"/>
            <a:ext cx="3860800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9534525"/>
            <a:ext cx="2844800" cy="54768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058400" y="246888"/>
            <a:ext cx="969868" cy="28924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058400" y="246888"/>
            <a:ext cx="1371600" cy="98755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28268" y="536135"/>
            <a:ext cx="401732" cy="6983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1028268" y="536135"/>
            <a:ext cx="914" cy="1396609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1028268" y="1234440"/>
            <a:ext cx="401732" cy="6983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10058400" y="1234440"/>
            <a:ext cx="1371600" cy="98755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 flipV="1">
            <a:off x="10058400" y="1932745"/>
            <a:ext cx="969868" cy="28924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088532" y="1932745"/>
            <a:ext cx="1939735" cy="914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088532" y="1932745"/>
            <a:ext cx="969868" cy="28924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8686800" y="1234440"/>
            <a:ext cx="1371600" cy="98755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8686800" y="1234440"/>
            <a:ext cx="401732" cy="6983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088532" y="536135"/>
            <a:ext cx="914" cy="1396609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 flipV="1">
            <a:off x="8686800" y="536135"/>
            <a:ext cx="401732" cy="6983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 flipV="1">
            <a:off x="8686800" y="246888"/>
            <a:ext cx="1371600" cy="98755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 flipV="1">
            <a:off x="9088532" y="246888"/>
            <a:ext cx="969868" cy="28924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088532" y="536135"/>
            <a:ext cx="1939735" cy="914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994392" y="182880"/>
            <a:ext cx="128016" cy="12801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64260" y="472127"/>
            <a:ext cx="128016" cy="12801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1170432"/>
            <a:ext cx="128016" cy="12801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64260" y="1868737"/>
            <a:ext cx="128016" cy="12801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94392" y="2157984"/>
            <a:ext cx="128016" cy="12801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24524" y="1868737"/>
            <a:ext cx="128016" cy="12801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22792" y="1170432"/>
            <a:ext cx="128016" cy="12801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24524" y="472127"/>
            <a:ext cx="128016" cy="12801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63040" y="4904842"/>
            <a:ext cx="1029462" cy="427939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463040" y="4904842"/>
            <a:ext cx="1029462" cy="1283818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2492502" y="5332781"/>
            <a:ext cx="0" cy="855878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 flipV="1">
            <a:off x="1463040" y="5332781"/>
            <a:ext cx="1029462" cy="1283818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1" name="Shape 29"/>
          <p:cNvSpPr/>
          <p:nvPr/>
        </p:nvSpPr>
        <p:spPr>
          <a:xfrm flipV="1">
            <a:off x="1463040" y="6188659"/>
            <a:ext cx="1029462" cy="427939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433578" y="6188659"/>
            <a:ext cx="2058923" cy="914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433578" y="6188659"/>
            <a:ext cx="1029462" cy="427939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433578" y="5332781"/>
            <a:ext cx="1029462" cy="1283818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433578" y="5332781"/>
            <a:ext cx="914" cy="855878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 flipV="1">
            <a:off x="433578" y="4904842"/>
            <a:ext cx="1029462" cy="1283818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 flipV="1">
            <a:off x="433578" y="4904842"/>
            <a:ext cx="1029462" cy="427939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433578" y="5332781"/>
            <a:ext cx="2058923" cy="914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1408176" y="4849978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37638" y="5277917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37638" y="6133795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08176" y="6561734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8714" y="6133795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8714" y="5277917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19659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WORKSHOP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22960" y="233172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BLOCKCHAIN TECHNOLOGY</a:t>
            </a:r>
            <a:endParaRPr lang="en-US" sz="4200" dirty="0"/>
          </a:p>
        </p:txBody>
      </p:sp>
      <p:sp>
        <p:nvSpPr>
          <p:cNvPr id="47" name="Text 45"/>
          <p:cNvSpPr/>
          <p:nvPr/>
        </p:nvSpPr>
        <p:spPr>
          <a:xfrm>
            <a:off x="822960" y="370332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00C9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Distributed Ledgers to Cryptocurrency &amp; Web3</a:t>
            </a:r>
            <a:endParaRPr lang="en-US" sz="1900" dirty="0"/>
          </a:p>
        </p:txBody>
      </p:sp>
      <p:sp>
        <p:nvSpPr>
          <p:cNvPr id="48" name="Shape 46"/>
          <p:cNvSpPr/>
          <p:nvPr/>
        </p:nvSpPr>
        <p:spPr>
          <a:xfrm>
            <a:off x="822960" y="4617720"/>
            <a:ext cx="3931920" cy="502920"/>
          </a:xfrm>
          <a:prstGeom prst="roundRect">
            <a:avLst>
              <a:gd name="adj" fmla="val 50909"/>
            </a:avLst>
          </a:prstGeom>
          <a:solidFill>
            <a:srgbClr val="13294F"/>
          </a:solidFill>
          <a:ln w="12700">
            <a:solidFill>
              <a:srgbClr val="23447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461772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Workshop Agenda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256032" cy="256032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57276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51790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Introduction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256032" cy="256032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0" name="Text 8"/>
          <p:cNvSpPr/>
          <p:nvPr/>
        </p:nvSpPr>
        <p:spPr>
          <a:xfrm>
            <a:off x="640080" y="20574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002536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Problems Before Blockchain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542032"/>
            <a:ext cx="256032" cy="256032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3" name="Text 11"/>
          <p:cNvSpPr/>
          <p:nvPr/>
        </p:nvSpPr>
        <p:spPr>
          <a:xfrm>
            <a:off x="640080" y="254203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48716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Evolution of Blockchain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026664"/>
            <a:ext cx="256032" cy="256032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6" name="Text 14"/>
          <p:cNvSpPr/>
          <p:nvPr/>
        </p:nvSpPr>
        <p:spPr>
          <a:xfrm>
            <a:off x="640080" y="302666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971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Blockchain Works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511296"/>
            <a:ext cx="256032" cy="256032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9" name="Text 17"/>
          <p:cNvSpPr/>
          <p:nvPr/>
        </p:nvSpPr>
        <p:spPr>
          <a:xfrm>
            <a:off x="640080" y="351129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45643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Distributed Ledger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995928"/>
            <a:ext cx="256032" cy="256032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2" name="Text 20"/>
          <p:cNvSpPr/>
          <p:nvPr/>
        </p:nvSpPr>
        <p:spPr>
          <a:xfrm>
            <a:off x="640080" y="39959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94106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Blocks &amp; Hashing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480560"/>
            <a:ext cx="256032" cy="256032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25" name="Text 23"/>
          <p:cNvSpPr/>
          <p:nvPr/>
        </p:nvSpPr>
        <p:spPr>
          <a:xfrm>
            <a:off x="640080" y="448056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425696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Cryptography Foundations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965192"/>
            <a:ext cx="256032" cy="256032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8" name="Text 26"/>
          <p:cNvSpPr/>
          <p:nvPr/>
        </p:nvSpPr>
        <p:spPr>
          <a:xfrm>
            <a:off x="640080" y="496519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491032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Consensus Mechanisms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5449824"/>
            <a:ext cx="256032" cy="256032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31" name="Text 29"/>
          <p:cNvSpPr/>
          <p:nvPr/>
        </p:nvSpPr>
        <p:spPr>
          <a:xfrm>
            <a:off x="640080" y="544982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5394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Proof of Work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9360" y="1572768"/>
            <a:ext cx="256032" cy="256032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34" name="Text 32"/>
          <p:cNvSpPr/>
          <p:nvPr/>
        </p:nvSpPr>
        <p:spPr>
          <a:xfrm>
            <a:off x="6309360" y="157276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75120" y="151790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Proof of Stake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09360" y="2057400"/>
            <a:ext cx="256032" cy="256032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37" name="Text 35"/>
          <p:cNvSpPr/>
          <p:nvPr/>
        </p:nvSpPr>
        <p:spPr>
          <a:xfrm>
            <a:off x="6309360" y="20574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0" y="2002536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Cryptocurrency (Bitcoin &amp; Ethereum)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09360" y="2542032"/>
            <a:ext cx="256032" cy="256032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40" name="Text 38"/>
          <p:cNvSpPr/>
          <p:nvPr/>
        </p:nvSpPr>
        <p:spPr>
          <a:xfrm>
            <a:off x="6309360" y="254203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75120" y="248716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Contracts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309360" y="3026664"/>
            <a:ext cx="256032" cy="256032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3" name="Text 41"/>
          <p:cNvSpPr/>
          <p:nvPr/>
        </p:nvSpPr>
        <p:spPr>
          <a:xfrm>
            <a:off x="6309360" y="302666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75120" y="2971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Types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309360" y="3511296"/>
            <a:ext cx="256032" cy="256032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46" name="Text 44"/>
          <p:cNvSpPr/>
          <p:nvPr/>
        </p:nvSpPr>
        <p:spPr>
          <a:xfrm>
            <a:off x="6309360" y="351129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75120" y="345643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Applications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309360" y="3995928"/>
            <a:ext cx="256032" cy="256032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9" name="Text 47"/>
          <p:cNvSpPr/>
          <p:nvPr/>
        </p:nvSpPr>
        <p:spPr>
          <a:xfrm>
            <a:off x="6309360" y="39959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75120" y="394106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Transaction Example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309360" y="4480560"/>
            <a:ext cx="256032" cy="256032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52" name="Text 50"/>
          <p:cNvSpPr/>
          <p:nvPr/>
        </p:nvSpPr>
        <p:spPr>
          <a:xfrm>
            <a:off x="6309360" y="448056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675120" y="4425696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Advantages &amp; Limitations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309360" y="4965192"/>
            <a:ext cx="256032" cy="256032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55" name="Text 53"/>
          <p:cNvSpPr/>
          <p:nvPr/>
        </p:nvSpPr>
        <p:spPr>
          <a:xfrm>
            <a:off x="6309360" y="496519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675120" y="491032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Career Opportunities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309360" y="5449824"/>
            <a:ext cx="256032" cy="256032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58" name="Text 56"/>
          <p:cNvSpPr/>
          <p:nvPr/>
        </p:nvSpPr>
        <p:spPr>
          <a:xfrm>
            <a:off x="6309360" y="544982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675120" y="5394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of Blockchain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OUTCOMES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Learning Objectives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 Core Concepts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 blockchain, distributed ledgers, and explain why decentralization matters.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 the Mechanics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Describe blocks, hashing, cryptography, and how transactions are validated.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Consensus Models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Differentiate Proof of Work and Proof of Stake and when each is used.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Real Applications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blockchain to Bitcoin, Ethereum, smart contracts, and industry use cases.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40080" y="5184648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23" name="Text 21"/>
          <p:cNvSpPr/>
          <p:nvPr/>
        </p:nvSpPr>
        <p:spPr>
          <a:xfrm>
            <a:off x="640080" y="51846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5148072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Trade-Offs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07008" y="5449824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 blockchain’s advantages against its practical limitations.</a:t>
            </a:r>
            <a:endParaRPr lang="en-US" sz="11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Blockchain?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F0CE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FFF4E0"/>
          </a:solidFill>
        </p:spPr>
      </p:sp>
      <p:sp>
        <p:nvSpPr>
          <p:cNvPr id="8" name="Text 6"/>
          <p:cNvSpPr/>
          <p:nvPr/>
        </p:nvSpPr>
        <p:spPr>
          <a:xfrm>
            <a:off x="1417320" y="1792224"/>
            <a:ext cx="4267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4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Simple Definition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4632808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shared, digital record book that many computers keep together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Everyone sees the same entries — no single owner or gatekeeper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Once written, an entry cannot be secretly changed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278728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E8FBF8"/>
          </a:solidFill>
          <a:ln w="12700">
            <a:solidFill>
              <a:srgbClr val="00C9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28800"/>
            <a:ext cx="365760" cy="365760"/>
          </a:xfrm>
          <a:prstGeom prst="ellipse">
            <a:avLst/>
          </a:prstGeom>
          <a:solidFill>
            <a:srgbClr val="0C8C80"/>
          </a:solidFill>
        </p:spPr>
      </p:sp>
      <p:sp>
        <p:nvSpPr>
          <p:cNvPr id="12" name="Text 10"/>
          <p:cNvSpPr/>
          <p:nvPr/>
        </p:nvSpPr>
        <p:spPr>
          <a:xfrm>
            <a:off x="7055968" y="1792224"/>
            <a:ext cx="4267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8C8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Technical Definition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98768" y="2441448"/>
            <a:ext cx="4632808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distributed, append-only ledger of cryptographically linked blocks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Maintained by a peer-to-peer network without central authority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Integrity is enforced by hashing, digital signatures, and consensus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640080" y="598932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1F3D"/>
          </a:solidFill>
        </p:spPr>
      </p:sp>
      <p:sp>
        <p:nvSpPr>
          <p:cNvPr id="15" name="Text 13"/>
          <p:cNvSpPr/>
          <p:nvPr/>
        </p:nvSpPr>
        <p:spPr>
          <a:xfrm>
            <a:off x="640080" y="59893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traits: Decentralized  •  Transparent  •  Immutable  •  Secure  •  Trust-minimized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Blockchain in Simple Words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911535" cy="1234440"/>
          </a:xfrm>
          <a:prstGeom prst="roundRect">
            <a:avLst>
              <a:gd name="adj" fmla="val 6667"/>
            </a:avLst>
          </a:prstGeom>
          <a:solidFill>
            <a:srgbClr val="E8FBF8"/>
          </a:solidFill>
          <a:ln w="12700">
            <a:solidFill>
              <a:srgbClr val="00C9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10180015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0A1F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“A shared notebook, where every entry is digitally signed and checked by the whole network before it is accepted.”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9" name="Text 7"/>
          <p:cNvSpPr/>
          <p:nvPr/>
        </p:nvSpPr>
        <p:spPr>
          <a:xfrm>
            <a:off x="640080" y="32004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07008" y="31638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Notebook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07008" y="3465576"/>
            <a:ext cx="103144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participant holds an identical copy of the ledger — nothing is hidden.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3" name="Text 11"/>
          <p:cNvSpPr/>
          <p:nvPr/>
        </p:nvSpPr>
        <p:spPr>
          <a:xfrm>
            <a:off x="640080" y="41148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07008" y="40782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Signatures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07008" y="4379976"/>
            <a:ext cx="103144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entry is signed by its owner, proving who authorized it.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7" name="Text 15"/>
          <p:cNvSpPr/>
          <p:nvPr/>
        </p:nvSpPr>
        <p:spPr>
          <a:xfrm>
            <a:off x="640080" y="5029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07008" y="4992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Verification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07008" y="5294376"/>
            <a:ext cx="103144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network checks each entry before it is permanently added.</a:t>
            </a:r>
            <a:endParaRPr lang="en-US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SIGNIFICANCE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is Blockchain Important?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Removes Blind Trust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Parties no longer need to fully trust a single intermediary to transact.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Increases Transparency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participants can verify the same shared history of records.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Reduces Costs &amp; Delays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Fewer intermediaries mean faster settlement and lower fees.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Enables New Business Models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Powers cryptocurrency, DeFi, NFTs, supply chain tracking, and Web3.</a:t>
            </a:r>
            <a:endParaRPr lang="en-US" sz="11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Before Blockchain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the problems traditional systems could not solve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OLD WORLD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Problems Existed Before Blockchain?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916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6550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Authority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956816"/>
            <a:ext cx="478231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organization controls and can alter the entire record.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263640" y="16916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30568" y="16550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Point of Failure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30568" y="1956816"/>
            <a:ext cx="478231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the central server goes down, the whole system stops.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10896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07238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Lack of Transparency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374136"/>
            <a:ext cx="478231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cannot independently verify what the authority records.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263640" y="310896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263640" y="310896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30568" y="307238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 &amp; Reconciliation Issues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30568" y="3374136"/>
            <a:ext cx="478231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parties keep separate records that must be manually reconciled.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40080" y="452628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23" name="Text 21"/>
          <p:cNvSpPr/>
          <p:nvPr/>
        </p:nvSpPr>
        <p:spPr>
          <a:xfrm>
            <a:off x="640080" y="452628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448970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Slow, Costly Transactions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07008" y="4791456"/>
            <a:ext cx="478231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Intermediaries and manual checks add delay and fees.</a:t>
            </a:r>
            <a:endParaRPr lang="en-US" sz="11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LEGACY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Traditional Centralized System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3320186" cy="1005840"/>
          </a:xfrm>
          <a:prstGeom prst="roundRect">
            <a:avLst>
              <a:gd name="adj" fmla="val 7273"/>
            </a:avLst>
          </a:prstGeom>
          <a:solidFill>
            <a:srgbClr val="FFB627"/>
          </a:solidFill>
        </p:spPr>
      </p:sp>
      <p:sp>
        <p:nvSpPr>
          <p:cNvPr id="7" name="Text 5"/>
          <p:cNvSpPr/>
          <p:nvPr/>
        </p:nvSpPr>
        <p:spPr>
          <a:xfrm>
            <a:off x="786384" y="2194560"/>
            <a:ext cx="3210458" cy="10058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51706" y="269748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35754" y="2194560"/>
            <a:ext cx="3320186" cy="1005840"/>
          </a:xfrm>
          <a:prstGeom prst="roundRect">
            <a:avLst>
              <a:gd name="adj" fmla="val 7273"/>
            </a:avLst>
          </a:prstGeom>
          <a:solidFill>
            <a:srgbClr val="0A1F3D"/>
          </a:solidFill>
        </p:spPr>
      </p:sp>
      <p:sp>
        <p:nvSpPr>
          <p:cNvPr id="10" name="Text 8"/>
          <p:cNvSpPr/>
          <p:nvPr/>
        </p:nvSpPr>
        <p:spPr>
          <a:xfrm>
            <a:off x="4490618" y="2194560"/>
            <a:ext cx="3210458" cy="10058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Server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55941" y="269748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39989" y="2194560"/>
            <a:ext cx="3320186" cy="1005840"/>
          </a:xfrm>
          <a:prstGeom prst="roundRect">
            <a:avLst>
              <a:gd name="adj" fmla="val 7273"/>
            </a:avLst>
          </a:prstGeom>
          <a:solidFill>
            <a:srgbClr val="FFB627"/>
          </a:solidFill>
        </p:spPr>
      </p:sp>
      <p:sp>
        <p:nvSpPr>
          <p:cNvPr id="13" name="Text 11"/>
          <p:cNvSpPr/>
          <p:nvPr/>
        </p:nvSpPr>
        <p:spPr>
          <a:xfrm>
            <a:off x="8194853" y="2194560"/>
            <a:ext cx="3210458" cy="10058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10911535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single organization owns and operates the server and database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requests are routed through, validated by, and stored on that one authority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must trust the operator to keep records accurate and available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operator can, in principle, modify, delete, or restrict access to data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Trust Problem &amp; Intermediaries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320186" cy="914400"/>
          </a:xfrm>
          <a:prstGeom prst="roundRect">
            <a:avLst>
              <a:gd name="adj" fmla="val 8000"/>
            </a:avLst>
          </a:prstGeom>
          <a:solidFill>
            <a:srgbClr val="FFB627"/>
          </a:solidFill>
        </p:spPr>
      </p:sp>
      <p:sp>
        <p:nvSpPr>
          <p:cNvPr id="7" name="Text 5"/>
          <p:cNvSpPr/>
          <p:nvPr/>
        </p:nvSpPr>
        <p:spPr>
          <a:xfrm>
            <a:off x="786384" y="1691640"/>
            <a:ext cx="3210458" cy="9144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051706" y="214884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35754" y="1691640"/>
            <a:ext cx="3320186" cy="914400"/>
          </a:xfrm>
          <a:prstGeom prst="roundRect">
            <a:avLst>
              <a:gd name="adj" fmla="val 8000"/>
            </a:avLst>
          </a:prstGeom>
          <a:solidFill>
            <a:srgbClr val="0A1F3D"/>
          </a:solidFill>
        </p:spPr>
      </p:sp>
      <p:sp>
        <p:nvSpPr>
          <p:cNvPr id="10" name="Text 8"/>
          <p:cNvSpPr/>
          <p:nvPr/>
        </p:nvSpPr>
        <p:spPr>
          <a:xfrm>
            <a:off x="4490618" y="1691640"/>
            <a:ext cx="3210458" cy="9144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 (Trusted 3rd Party)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55941" y="214884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39989" y="1691640"/>
            <a:ext cx="3320186" cy="914400"/>
          </a:xfrm>
          <a:prstGeom prst="roundRect">
            <a:avLst>
              <a:gd name="adj" fmla="val 8000"/>
            </a:avLst>
          </a:prstGeom>
          <a:solidFill>
            <a:srgbClr val="FFB627"/>
          </a:solidFill>
        </p:spPr>
      </p:sp>
      <p:sp>
        <p:nvSpPr>
          <p:cNvPr id="13" name="Text 11"/>
          <p:cNvSpPr/>
          <p:nvPr/>
        </p:nvSpPr>
        <p:spPr>
          <a:xfrm>
            <a:off x="8194853" y="1691640"/>
            <a:ext cx="3210458" cy="9144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Seller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278892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transactions rely on a trusted third party to confirm and settle every exchange.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6" name="Text 14"/>
          <p:cNvSpPr/>
          <p:nvPr/>
        </p:nvSpPr>
        <p:spPr>
          <a:xfrm>
            <a:off x="640080" y="333756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07008" y="330098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07008" y="3602736"/>
            <a:ext cx="478231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and settle fund transfers between accounts.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263640" y="333756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0" name="Text 18"/>
          <p:cNvSpPr/>
          <p:nvPr/>
        </p:nvSpPr>
        <p:spPr>
          <a:xfrm>
            <a:off x="6263640" y="333756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30568" y="330098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Processors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830568" y="3602736"/>
            <a:ext cx="478231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 and authorize card and online payments.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24" name="Text 22"/>
          <p:cNvSpPr/>
          <p:nvPr/>
        </p:nvSpPr>
        <p:spPr>
          <a:xfrm>
            <a:off x="640080" y="46177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07008" y="458114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Brokers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07008" y="4882896"/>
            <a:ext cx="478231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and execute trades on behalf of clients.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6263640" y="461772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8" name="Text 26"/>
          <p:cNvSpPr/>
          <p:nvPr/>
        </p:nvSpPr>
        <p:spPr>
          <a:xfrm>
            <a:off x="6263640" y="46177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30568" y="458114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Clearing Houses &amp; Government Bodies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830568" y="4882896"/>
            <a:ext cx="478231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 ownership, legality, and finality of transactions.</a:t>
            </a:r>
            <a:endParaRPr lang="en-US" sz="11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CLASSIC DIGITAL FLAW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Double-Spending Problem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Is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money is just data — a file can be copied and spent more than once.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a trusted referee, nothing stops the same coin being sent to two people.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Old Fix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central bank or payment company kept the master ledger to prevent this.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Blockchain’s Fix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shared, consensus-verified ledger lets the whole network catch double-spends — no central referee needed.</a:t>
            </a:r>
            <a:endParaRPr lang="en-US" sz="11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INTEGRITY RISK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Tampering Problem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B03A2E"/>
          </a:solidFill>
        </p:spPr>
      </p:sp>
      <p:sp>
        <p:nvSpPr>
          <p:cNvPr id="8" name="Text 6"/>
          <p:cNvSpPr/>
          <p:nvPr/>
        </p:nvSpPr>
        <p:spPr>
          <a:xfrm>
            <a:off x="1417320" y="1792224"/>
            <a:ext cx="4267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Centralized Record (Before)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4632808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Balance: ₹50,000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Owner: Ramesh Kumar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Last Updated: Jan 3, 2026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Stored on: 1 central server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278728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28800"/>
            <a:ext cx="365760" cy="365760"/>
          </a:xfrm>
          <a:prstGeom prst="ellipse">
            <a:avLst/>
          </a:prstGeom>
          <a:solidFill>
            <a:srgbClr val="B03A2E"/>
          </a:solidFill>
        </p:spPr>
      </p:sp>
      <p:sp>
        <p:nvSpPr>
          <p:cNvPr id="12" name="Text 10"/>
          <p:cNvSpPr/>
          <p:nvPr/>
        </p:nvSpPr>
        <p:spPr>
          <a:xfrm>
            <a:off x="7055968" y="1792224"/>
            <a:ext cx="4267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After Unauthorized Access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98768" y="2441448"/>
            <a:ext cx="4632808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Balance: ₹500,000 (altered)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Owner: Ramesh Kumar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Last Updated: Jan 3, 2026 (no trace)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independent copy to verify against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640080" y="60350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one editable copy of the truth, a single actor with access can rewrite history without detection.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Blockchain?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 shared, verifiable ledger solves what centralized systems could not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Blockchain Solves Traditional Problems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640080" y="1572768"/>
          <a:ext cx="10911535" cy="3364992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Dimension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Traditional System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Blockchain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Trust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Placed in a central party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Established by network consensus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Transparency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Limited, controlled by operator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Ledger visible to all participants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Security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 point of attack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Distributed across many nodes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 Ownership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Held by the institution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Cryptographically tied to the user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Verification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Manual reconciliation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Automatic, consensus-based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Intermediaries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Multiple required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Minimized or removed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Availability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 server can fail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single point of failure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DEFINING TRAITS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Characteristics of Blockchain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916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6550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Decentralization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956816"/>
            <a:ext cx="47823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single party controls the network or the ledger.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263640" y="16916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30568" y="16550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Transparency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30568" y="1956816"/>
            <a:ext cx="47823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participants can view the same transaction history.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0632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0266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Immutability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328416"/>
            <a:ext cx="47823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Once confirmed, records are extremely difficult to alter.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263640" y="306324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263640" y="30632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30568" y="30266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30568" y="3328416"/>
            <a:ext cx="47823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Cryptography protects data and proves authenticity.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23" name="Text 21"/>
          <p:cNvSpPr/>
          <p:nvPr/>
        </p:nvSpPr>
        <p:spPr>
          <a:xfrm>
            <a:off x="640080" y="44348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43982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Consensus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07008" y="4700016"/>
            <a:ext cx="47823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Nodes agree collectively on which records are valid.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6263640" y="443484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7" name="Text 25"/>
          <p:cNvSpPr/>
          <p:nvPr/>
        </p:nvSpPr>
        <p:spPr>
          <a:xfrm>
            <a:off x="6263640" y="44348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30568" y="43982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Traceability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830568" y="4700016"/>
            <a:ext cx="47823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transaction can be traced back through the chain.</a:t>
            </a:r>
            <a:endParaRPr lang="en-US" sz="11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MODELS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Centralized vs Decentralized vs Distributed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993392" y="2377440"/>
            <a:ext cx="402336" cy="402336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7" name="Shape 5"/>
          <p:cNvSpPr/>
          <p:nvPr/>
        </p:nvSpPr>
        <p:spPr>
          <a:xfrm flipV="1">
            <a:off x="1005840" y="2578608"/>
            <a:ext cx="1188720" cy="987552"/>
          </a:xfrm>
          <a:prstGeom prst="line">
            <a:avLst/>
          </a:prstGeom>
          <a:noFill/>
          <a:ln w="15240">
            <a:solidFill>
              <a:srgbClr val="5B6B82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896112" y="3456432"/>
            <a:ext cx="219456" cy="21945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9" name="Shape 7"/>
          <p:cNvSpPr/>
          <p:nvPr/>
        </p:nvSpPr>
        <p:spPr>
          <a:xfrm>
            <a:off x="2194560" y="2578608"/>
            <a:ext cx="914" cy="1353312"/>
          </a:xfrm>
          <a:prstGeom prst="line">
            <a:avLst/>
          </a:prstGeom>
          <a:noFill/>
          <a:ln w="15240">
            <a:solidFill>
              <a:srgbClr val="5B6B82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084832" y="3822192"/>
            <a:ext cx="219456" cy="21945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1" name="Shape 9"/>
          <p:cNvSpPr/>
          <p:nvPr/>
        </p:nvSpPr>
        <p:spPr>
          <a:xfrm>
            <a:off x="2194560" y="2578608"/>
            <a:ext cx="1188720" cy="987552"/>
          </a:xfrm>
          <a:prstGeom prst="line">
            <a:avLst/>
          </a:prstGeom>
          <a:noFill/>
          <a:ln w="15240">
            <a:solidFill>
              <a:srgbClr val="5B6B82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273552" y="3456432"/>
            <a:ext cx="219456" cy="21945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3" name="Text 11"/>
          <p:cNvSpPr/>
          <p:nvPr/>
        </p:nvSpPr>
        <p:spPr>
          <a:xfrm>
            <a:off x="914400" y="42519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central hub controls everything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276088" y="2468880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6" name="Shape 14"/>
          <p:cNvSpPr/>
          <p:nvPr/>
        </p:nvSpPr>
        <p:spPr>
          <a:xfrm flipV="1">
            <a:off x="4956048" y="2834640"/>
            <a:ext cx="502920" cy="100584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864608" y="3749040"/>
            <a:ext cx="182880" cy="182880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8" name="Shape 16"/>
          <p:cNvSpPr/>
          <p:nvPr/>
        </p:nvSpPr>
        <p:spPr>
          <a:xfrm>
            <a:off x="5458968" y="2834640"/>
            <a:ext cx="914" cy="114300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367528" y="3886200"/>
            <a:ext cx="182880" cy="182880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20" name="Shape 18"/>
          <p:cNvSpPr/>
          <p:nvPr/>
        </p:nvSpPr>
        <p:spPr>
          <a:xfrm>
            <a:off x="5458968" y="2834640"/>
            <a:ext cx="502920" cy="100584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5870448" y="3749040"/>
            <a:ext cx="182880" cy="182880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22" name="Shape 20"/>
          <p:cNvSpPr/>
          <p:nvPr/>
        </p:nvSpPr>
        <p:spPr>
          <a:xfrm>
            <a:off x="6556248" y="2468880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3" name="Shape 21"/>
          <p:cNvSpPr/>
          <p:nvPr/>
        </p:nvSpPr>
        <p:spPr>
          <a:xfrm flipV="1">
            <a:off x="6236208" y="2834640"/>
            <a:ext cx="502920" cy="100584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6144768" y="3749040"/>
            <a:ext cx="182880" cy="182880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25" name="Shape 23"/>
          <p:cNvSpPr/>
          <p:nvPr/>
        </p:nvSpPr>
        <p:spPr>
          <a:xfrm>
            <a:off x="6739128" y="2834640"/>
            <a:ext cx="914" cy="114300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6647688" y="3886200"/>
            <a:ext cx="182880" cy="182880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27" name="Shape 25"/>
          <p:cNvSpPr/>
          <p:nvPr/>
        </p:nvSpPr>
        <p:spPr>
          <a:xfrm>
            <a:off x="6739128" y="2834640"/>
            <a:ext cx="502920" cy="100584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7150608" y="3749040"/>
            <a:ext cx="182880" cy="182880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29" name="Shape 27"/>
          <p:cNvSpPr/>
          <p:nvPr/>
        </p:nvSpPr>
        <p:spPr>
          <a:xfrm>
            <a:off x="5641848" y="2651760"/>
            <a:ext cx="914400" cy="914"/>
          </a:xfrm>
          <a:prstGeom prst="line">
            <a:avLst/>
          </a:prstGeom>
          <a:noFill/>
          <a:ln w="15240">
            <a:solidFill>
              <a:srgbClr val="5B6B82"/>
            </a:solidFill>
            <a:prstDash val="solid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4818888" y="42519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Decentralized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727448" y="45720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 is spread across several hubs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 flipV="1">
            <a:off x="10424160" y="3246120"/>
            <a:ext cx="457200" cy="59392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 flipV="1">
            <a:off x="9509760" y="3246120"/>
            <a:ext cx="1371600" cy="593920"/>
          </a:xfrm>
          <a:prstGeom prst="line">
            <a:avLst/>
          </a:prstGeom>
          <a:noFill/>
          <a:ln w="12700">
            <a:solidFill>
              <a:srgbClr val="5B6B82">
                <a:alpha val="60000"/>
              </a:srgbClr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509760" y="3840040"/>
            <a:ext cx="914400" cy="914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9052560" y="3246120"/>
            <a:ext cx="1371600" cy="593920"/>
          </a:xfrm>
          <a:prstGeom prst="line">
            <a:avLst/>
          </a:prstGeom>
          <a:noFill/>
          <a:ln w="12700">
            <a:solidFill>
              <a:srgbClr val="5B6B82">
                <a:alpha val="60000"/>
              </a:srgbClr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9052560" y="3246120"/>
            <a:ext cx="457200" cy="59392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509760" y="2652200"/>
            <a:ext cx="914" cy="1187840"/>
          </a:xfrm>
          <a:prstGeom prst="line">
            <a:avLst/>
          </a:prstGeom>
          <a:noFill/>
          <a:ln w="12700">
            <a:solidFill>
              <a:srgbClr val="5B6B82">
                <a:alpha val="60000"/>
              </a:srgbClr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 flipV="1">
            <a:off x="9052560" y="2652200"/>
            <a:ext cx="457200" cy="59392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 flipV="1">
            <a:off x="9052560" y="2652200"/>
            <a:ext cx="1371600" cy="593920"/>
          </a:xfrm>
          <a:prstGeom prst="line">
            <a:avLst/>
          </a:prstGeom>
          <a:noFill/>
          <a:ln w="12700">
            <a:solidFill>
              <a:srgbClr val="5B6B82">
                <a:alpha val="60000"/>
              </a:srgbClr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509760" y="2652200"/>
            <a:ext cx="914400" cy="914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9509760" y="2652200"/>
            <a:ext cx="1371600" cy="593920"/>
          </a:xfrm>
          <a:prstGeom prst="line">
            <a:avLst/>
          </a:prstGeom>
          <a:noFill/>
          <a:ln w="12700">
            <a:solidFill>
              <a:srgbClr val="5B6B82">
                <a:alpha val="60000"/>
              </a:srgbClr>
            </a:solidFill>
            <a:prstDash val="solid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10424160" y="2652200"/>
            <a:ext cx="457200" cy="59392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10424160" y="2652200"/>
            <a:ext cx="914" cy="1187840"/>
          </a:xfrm>
          <a:prstGeom prst="line">
            <a:avLst/>
          </a:prstGeom>
          <a:noFill/>
          <a:ln w="12700">
            <a:solidFill>
              <a:srgbClr val="5B6B82">
                <a:alpha val="60000"/>
              </a:srgbClr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10744200" y="3108960"/>
            <a:ext cx="274320" cy="274320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5" name="Shape 43"/>
          <p:cNvSpPr/>
          <p:nvPr/>
        </p:nvSpPr>
        <p:spPr>
          <a:xfrm>
            <a:off x="10287000" y="3702880"/>
            <a:ext cx="274320" cy="274320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6" name="Shape 44"/>
          <p:cNvSpPr/>
          <p:nvPr/>
        </p:nvSpPr>
        <p:spPr>
          <a:xfrm>
            <a:off x="9372600" y="3702880"/>
            <a:ext cx="274320" cy="274320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7" name="Shape 45"/>
          <p:cNvSpPr/>
          <p:nvPr/>
        </p:nvSpPr>
        <p:spPr>
          <a:xfrm>
            <a:off x="8915400" y="3108960"/>
            <a:ext cx="274320" cy="274320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8" name="Shape 46"/>
          <p:cNvSpPr/>
          <p:nvPr/>
        </p:nvSpPr>
        <p:spPr>
          <a:xfrm>
            <a:off x="9372600" y="2515040"/>
            <a:ext cx="274320" cy="274320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9" name="Shape 47"/>
          <p:cNvSpPr/>
          <p:nvPr/>
        </p:nvSpPr>
        <p:spPr>
          <a:xfrm>
            <a:off x="10287000" y="2515040"/>
            <a:ext cx="274320" cy="274320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50" name="Text 48"/>
          <p:cNvSpPr/>
          <p:nvPr/>
        </p:nvSpPr>
        <p:spPr>
          <a:xfrm>
            <a:off x="8686800" y="42519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Distributed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595360" y="45720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node is an equal peer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40080" y="548640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networks are typically decentralized-to-distributed: no single controlling hub, and every full node holds a copy of the ledger.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History of Blockchain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cryptographic research to Bitcoin and beyond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SETTING THE RECORD STRAIGHT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Who Introduced Blockchain Technology?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Ideas Existed Earlier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Cryptographic timestamping and linked-record concepts date back to the late 1980s–1990s.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Satoshi Nakamoto (2008)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Published the Bitcoin whitepaper, combining these ideas into a working decentralized system.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Bitcoin’s Blockchain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Bitcoin was the first large-scale, practical implementation of a blockchain.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Important Distinction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is the underlying technology; Bitcoin is one application built on it.</a:t>
            </a:r>
            <a:endParaRPr lang="en-US" sz="11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History of Blockchain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10545775" cy="914"/>
          </a:xfrm>
          <a:prstGeom prst="line">
            <a:avLst/>
          </a:prstGeom>
          <a:noFill/>
          <a:ln w="25400">
            <a:solidFill>
              <a:srgbClr val="DCE4EF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40664" y="3575304"/>
            <a:ext cx="164592" cy="164592"/>
          </a:xfrm>
          <a:prstGeom prst="ellipse">
            <a:avLst/>
          </a:prstGeom>
          <a:solidFill>
            <a:srgbClr val="FFB6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6709" y="2697480"/>
            <a:ext cx="127250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1970s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6709" y="2944368"/>
            <a:ext cx="127250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Public-key cryptography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822960" y="3529584"/>
            <a:ext cx="914" cy="4572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247203" y="3575304"/>
            <a:ext cx="164592" cy="164592"/>
          </a:xfrm>
          <a:prstGeom prst="ellipse">
            <a:avLst/>
          </a:prstGeom>
          <a:solidFill>
            <a:srgbClr val="00C9B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3248" y="3822192"/>
            <a:ext cx="127250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1991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3248" y="4078224"/>
            <a:ext cx="127250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Haber &amp; Stornetta timestamping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3753743" y="3575304"/>
            <a:ext cx="164592" cy="164592"/>
          </a:xfrm>
          <a:prstGeom prst="ellipse">
            <a:avLst/>
          </a:prstGeom>
          <a:solidFill>
            <a:srgbClr val="00C9B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99788" y="2697480"/>
            <a:ext cx="127250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1998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99788" y="2944368"/>
            <a:ext cx="127250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b-money &amp; Bit Gold proposals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3836039" y="3529584"/>
            <a:ext cx="914" cy="4572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260282" y="3575304"/>
            <a:ext cx="164592" cy="164592"/>
          </a:xfrm>
          <a:prstGeom prst="ellipse">
            <a:avLst/>
          </a:prstGeom>
          <a:solidFill>
            <a:srgbClr val="FFB6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6327" y="3822192"/>
            <a:ext cx="127250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6327" y="4078224"/>
            <a:ext cx="127250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Reusable Proof of Work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766821" y="3575304"/>
            <a:ext cx="164592" cy="164592"/>
          </a:xfrm>
          <a:prstGeom prst="ellipse">
            <a:avLst/>
          </a:prstGeom>
          <a:solidFill>
            <a:srgbClr val="00C9B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2866" y="2697480"/>
            <a:ext cx="127250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2866" y="2944368"/>
            <a:ext cx="127250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Bitcoin whitepaper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849117" y="3529584"/>
            <a:ext cx="914" cy="4572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273361" y="3575304"/>
            <a:ext cx="164592" cy="164592"/>
          </a:xfrm>
          <a:prstGeom prst="ellipse">
            <a:avLst/>
          </a:prstGeom>
          <a:solidFill>
            <a:srgbClr val="00C9B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19406" y="3822192"/>
            <a:ext cx="127250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2009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19406" y="4078224"/>
            <a:ext cx="127250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Bitcoin network launched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9779900" y="3575304"/>
            <a:ext cx="164592" cy="164592"/>
          </a:xfrm>
          <a:prstGeom prst="ellipse">
            <a:avLst/>
          </a:prstGeom>
          <a:solidFill>
            <a:srgbClr val="FFB6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25945" y="2697480"/>
            <a:ext cx="127250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25945" y="2944368"/>
            <a:ext cx="127250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Ethereum launch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9862196" y="3529584"/>
            <a:ext cx="914" cy="4572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1286439" y="3575304"/>
            <a:ext cx="164592" cy="164592"/>
          </a:xfrm>
          <a:prstGeom prst="ellipse">
            <a:avLst/>
          </a:prstGeom>
          <a:solidFill>
            <a:srgbClr val="00C9B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32484" y="3822192"/>
            <a:ext cx="127250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2020s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732484" y="4078224"/>
            <a:ext cx="127250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DeFi, NFTs, Web3, enterprise use</a:t>
            </a:r>
            <a:endParaRPr lang="en-US" sz="9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FOUNDING DOCUMENT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Bitcoin Whitepaper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“Bitcoin: A Peer-to-Peer Electronic Cash System” (2008).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Proposal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way for two parties to transact directly online without a trusted third party.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Innovation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hashing, digital signatures, and Proof-of-Work consensus into one working system.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Lasting Impact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Became the technical blueprint for blockchain as we know it today.</a:t>
            </a:r>
            <a:endParaRPr lang="en-US" sz="11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GROWTH STAGES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Blockchain Evolution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2394128" cy="1188720"/>
          </a:xfrm>
          <a:prstGeom prst="roundRect">
            <a:avLst>
              <a:gd name="adj" fmla="val 6154"/>
            </a:avLst>
          </a:prstGeom>
          <a:solidFill>
            <a:srgbClr val="FFB627"/>
          </a:solidFill>
        </p:spPr>
      </p:sp>
      <p:sp>
        <p:nvSpPr>
          <p:cNvPr id="7" name="Text 5"/>
          <p:cNvSpPr/>
          <p:nvPr/>
        </p:nvSpPr>
        <p:spPr>
          <a:xfrm>
            <a:off x="786384" y="2560320"/>
            <a:ext cx="2284400" cy="118872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1.0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Currency (Bitcoin)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25648" y="315468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09696" y="2560320"/>
            <a:ext cx="2394128" cy="1188720"/>
          </a:xfrm>
          <a:prstGeom prst="roundRect">
            <a:avLst>
              <a:gd name="adj" fmla="val 6154"/>
            </a:avLst>
          </a:prstGeom>
          <a:solidFill>
            <a:srgbClr val="0A1F3D"/>
          </a:solidFill>
        </p:spPr>
      </p:sp>
      <p:sp>
        <p:nvSpPr>
          <p:cNvPr id="10" name="Text 8"/>
          <p:cNvSpPr/>
          <p:nvPr/>
        </p:nvSpPr>
        <p:spPr>
          <a:xfrm>
            <a:off x="3564560" y="2560320"/>
            <a:ext cx="2284400" cy="118872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2.0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Contracts (Ethereum)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03824" y="315468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87872" y="2560320"/>
            <a:ext cx="2394128" cy="1188720"/>
          </a:xfrm>
          <a:prstGeom prst="roundRect">
            <a:avLst>
              <a:gd name="adj" fmla="val 6154"/>
            </a:avLst>
          </a:prstGeom>
          <a:solidFill>
            <a:srgbClr val="0A1F3D"/>
          </a:solidFill>
        </p:spPr>
      </p:sp>
      <p:sp>
        <p:nvSpPr>
          <p:cNvPr id="13" name="Text 11"/>
          <p:cNvSpPr/>
          <p:nvPr/>
        </p:nvSpPr>
        <p:spPr>
          <a:xfrm>
            <a:off x="6342736" y="2560320"/>
            <a:ext cx="2284400" cy="118872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3.0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DApps &amp; Scalability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1999" y="315468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66047" y="2560320"/>
            <a:ext cx="2394128" cy="1188720"/>
          </a:xfrm>
          <a:prstGeom prst="roundRect">
            <a:avLst>
              <a:gd name="adj" fmla="val 6154"/>
            </a:avLst>
          </a:prstGeom>
          <a:solidFill>
            <a:srgbClr val="FFB627"/>
          </a:solidFill>
        </p:spPr>
      </p:sp>
      <p:sp>
        <p:nvSpPr>
          <p:cNvPr id="16" name="Text 14"/>
          <p:cNvSpPr/>
          <p:nvPr/>
        </p:nvSpPr>
        <p:spPr>
          <a:xfrm>
            <a:off x="9120911" y="2560320"/>
            <a:ext cx="2284400" cy="118872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Web3 &amp; Enterprise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1088136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1.0 focused purely on digital currency and payments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2.0 introduced programmable smart contracts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3.0 emphasized decentralized applications and scalability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Today’s emerging phase blends Web3, DeFi, and enterprise-grade blockchain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Blockchain Works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transactions to blocks to a permanent chain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Does Blockchain Work?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Initiated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user creates and digitally signs a transaction.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Broadcast to Network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transaction is shared with nodes across the peer-to-peer network.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&amp; Consensus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Nodes verify the transaction and agree on its validity.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Added to a Block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 transactions are grouped into a new block.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40080" y="5184648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23" name="Text 21"/>
          <p:cNvSpPr/>
          <p:nvPr/>
        </p:nvSpPr>
        <p:spPr>
          <a:xfrm>
            <a:off x="640080" y="51846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5148072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Appended to Chain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07008" y="5449824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block is linked to the previous one, becoming permanent.</a:t>
            </a:r>
            <a:endParaRPr lang="en-US" sz="11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PEER-TO-PEER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Blockchain Network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095848" y="2280514"/>
            <a:ext cx="1351859" cy="354266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095848" y="2280514"/>
            <a:ext cx="2071169" cy="1251300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7447707" y="2634780"/>
            <a:ext cx="719309" cy="897034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7447707" y="2634780"/>
            <a:ext cx="469496" cy="1917103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7917203" y="3531814"/>
            <a:ext cx="249814" cy="1020069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 flipV="1">
            <a:off x="6815157" y="3531814"/>
            <a:ext cx="1351859" cy="1685872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6815157" y="4551883"/>
            <a:ext cx="1102046" cy="665803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5376538" y="4551883"/>
            <a:ext cx="2540665" cy="665803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376538" y="5217686"/>
            <a:ext cx="1438619" cy="914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274492" y="4551883"/>
            <a:ext cx="2540665" cy="665803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4274492" y="4551883"/>
            <a:ext cx="1102046" cy="665803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024679" y="3531814"/>
            <a:ext cx="1351859" cy="1685872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4024679" y="3531814"/>
            <a:ext cx="249814" cy="1020069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4274492" y="2634780"/>
            <a:ext cx="469496" cy="1917103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 flipV="1">
            <a:off x="4024679" y="2634780"/>
            <a:ext cx="719309" cy="897034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 flipV="1">
            <a:off x="4024679" y="2280514"/>
            <a:ext cx="2071169" cy="1251300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4743988" y="2280514"/>
            <a:ext cx="1351859" cy="354266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 flipV="1">
            <a:off x="4743988" y="2634780"/>
            <a:ext cx="2703719" cy="0"/>
          </a:xfrm>
          <a:prstGeom prst="line">
            <a:avLst/>
          </a:prstGeom>
          <a:noFill/>
          <a:ln w="12700">
            <a:solidFill>
              <a:srgbClr val="C7D6EC">
                <a:alpha val="75000"/>
              </a:srgbClr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5940400" y="2125066"/>
            <a:ext cx="310896" cy="31089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92259" y="2479332"/>
            <a:ext cx="310896" cy="31089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1568" y="3376366"/>
            <a:ext cx="310896" cy="31089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61755" y="4396435"/>
            <a:ext cx="310896" cy="31089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59709" y="5062238"/>
            <a:ext cx="310896" cy="31089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21090" y="5062238"/>
            <a:ext cx="310896" cy="31089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9044" y="4396435"/>
            <a:ext cx="310896" cy="31089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69231" y="3376366"/>
            <a:ext cx="310896" cy="31089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88540" y="2479332"/>
            <a:ext cx="310896" cy="310896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Node Holds an Identical Copy of the Ledger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node is more important than another — each independently validates and stores the same shared chain.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STRUCTURE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a Block? — Anatomy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063240" y="1783080"/>
            <a:ext cx="6035040" cy="777240"/>
          </a:xfrm>
          <a:prstGeom prst="rect">
            <a:avLst/>
          </a:prstGeom>
          <a:solidFill>
            <a:srgbClr val="13294F"/>
          </a:solidFill>
          <a:ln w="9525">
            <a:solidFill>
              <a:srgbClr val="2A4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783080"/>
            <a:ext cx="2534717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Index / Number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8658" y="1783080"/>
            <a:ext cx="325892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4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#48213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2560320"/>
            <a:ext cx="6035040" cy="777240"/>
          </a:xfrm>
          <a:prstGeom prst="rect">
            <a:avLst/>
          </a:prstGeom>
          <a:solidFill>
            <a:srgbClr val="0A1F3D"/>
          </a:solidFill>
          <a:ln w="9525">
            <a:solidFill>
              <a:srgbClr val="2A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560320"/>
            <a:ext cx="2534717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8658" y="2560320"/>
            <a:ext cx="325892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4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2026-08-23 14:02:11 UTC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63240" y="3337560"/>
            <a:ext cx="6035040" cy="777240"/>
          </a:xfrm>
          <a:prstGeom prst="rect">
            <a:avLst/>
          </a:prstGeom>
          <a:solidFill>
            <a:srgbClr val="13294F"/>
          </a:solidFill>
          <a:ln w="9525">
            <a:solidFill>
              <a:srgbClr val="2A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3337560"/>
            <a:ext cx="2534717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8658" y="3337560"/>
            <a:ext cx="325892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4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List of verified transactions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63240" y="4114800"/>
            <a:ext cx="6035040" cy="777240"/>
          </a:xfrm>
          <a:prstGeom prst="rect">
            <a:avLst/>
          </a:prstGeom>
          <a:solidFill>
            <a:srgbClr val="0A1F3D"/>
          </a:solidFill>
          <a:ln w="9525">
            <a:solidFill>
              <a:srgbClr val="2A4A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4114800"/>
            <a:ext cx="2534717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Previous Block Hash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18658" y="4114800"/>
            <a:ext cx="325892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4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000af3...9c21 (links to prior block)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63240" y="4892040"/>
            <a:ext cx="6035040" cy="777240"/>
          </a:xfrm>
          <a:prstGeom prst="rect">
            <a:avLst/>
          </a:prstGeom>
          <a:solidFill>
            <a:srgbClr val="13294F"/>
          </a:solidFill>
          <a:ln w="9525">
            <a:solidFill>
              <a:srgbClr val="2A4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4892040"/>
            <a:ext cx="2534717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8658" y="4892040"/>
            <a:ext cx="325892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4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Value adjusted during mining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63240" y="5669280"/>
            <a:ext cx="6035040" cy="777240"/>
          </a:xfrm>
          <a:prstGeom prst="rect">
            <a:avLst/>
          </a:prstGeom>
          <a:solidFill>
            <a:srgbClr val="0A1F3D"/>
          </a:solidFill>
          <a:ln w="9525">
            <a:solidFill>
              <a:srgbClr val="2A4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5669280"/>
            <a:ext cx="2534717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Block Hash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8658" y="5669280"/>
            <a:ext cx="325892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4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000b71...44de (this block’s fingerprint)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63240" y="1783080"/>
            <a:ext cx="6035040" cy="4663440"/>
          </a:xfrm>
          <a:prstGeom prst="rect">
            <a:avLst/>
          </a:prstGeom>
          <a:ln w="25400">
            <a:solidFill>
              <a:srgbClr val="FFB627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LINKING THE CHAIN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Blocks Connected by Previous Hash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2394128" cy="1143000"/>
          </a:xfrm>
          <a:prstGeom prst="roundRect">
            <a:avLst>
              <a:gd name="adj" fmla="val 6400"/>
            </a:avLst>
          </a:prstGeom>
          <a:solidFill>
            <a:srgbClr val="FFB627"/>
          </a:solidFill>
        </p:spPr>
      </p:sp>
      <p:sp>
        <p:nvSpPr>
          <p:cNvPr id="7" name="Text 5"/>
          <p:cNvSpPr/>
          <p:nvPr/>
        </p:nvSpPr>
        <p:spPr>
          <a:xfrm>
            <a:off x="786384" y="2651760"/>
            <a:ext cx="2284400" cy="1143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Hash: 00a1..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25648" y="322326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09696" y="2651760"/>
            <a:ext cx="2394128" cy="1143000"/>
          </a:xfrm>
          <a:prstGeom prst="roundRect">
            <a:avLst>
              <a:gd name="adj" fmla="val 6400"/>
            </a:avLst>
          </a:prstGeom>
          <a:solidFill>
            <a:srgbClr val="0A1F3D"/>
          </a:solidFill>
        </p:spPr>
      </p:sp>
      <p:sp>
        <p:nvSpPr>
          <p:cNvPr id="10" name="Text 8"/>
          <p:cNvSpPr/>
          <p:nvPr/>
        </p:nvSpPr>
        <p:spPr>
          <a:xfrm>
            <a:off x="3564560" y="2651760"/>
            <a:ext cx="2284400" cy="1143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Prev: 00a1..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03824" y="322326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87872" y="2651760"/>
            <a:ext cx="2394128" cy="1143000"/>
          </a:xfrm>
          <a:prstGeom prst="roundRect">
            <a:avLst>
              <a:gd name="adj" fmla="val 6400"/>
            </a:avLst>
          </a:prstGeom>
          <a:solidFill>
            <a:srgbClr val="0A1F3D"/>
          </a:solidFill>
        </p:spPr>
      </p:sp>
      <p:sp>
        <p:nvSpPr>
          <p:cNvPr id="13" name="Text 11"/>
          <p:cNvSpPr/>
          <p:nvPr/>
        </p:nvSpPr>
        <p:spPr>
          <a:xfrm>
            <a:off x="6342736" y="2651760"/>
            <a:ext cx="2284400" cy="1143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Prev: 00b7..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1999" y="322326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66047" y="2651760"/>
            <a:ext cx="2394128" cy="1143000"/>
          </a:xfrm>
          <a:prstGeom prst="roundRect">
            <a:avLst>
              <a:gd name="adj" fmla="val 6400"/>
            </a:avLst>
          </a:prstGeom>
          <a:solidFill>
            <a:srgbClr val="FFB627"/>
          </a:solidFill>
        </p:spPr>
      </p:sp>
      <p:sp>
        <p:nvSpPr>
          <p:cNvPr id="16" name="Text 14"/>
          <p:cNvSpPr/>
          <p:nvPr/>
        </p:nvSpPr>
        <p:spPr>
          <a:xfrm>
            <a:off x="9120911" y="2651760"/>
            <a:ext cx="2284400" cy="1143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Prev: 00c4..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1088136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block stores the hash of the block immediately before it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creates a tamper-evident chain: changing one block invalidates every block after it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network can instantly detect any break in this chain of hashes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FINGERPRINT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Hashing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Hashing?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function that converts any input into a fixed-length string of characters.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One-Way Function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cannot reverse a hash to recover the original input.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Fixed-Length Output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input, small or huge, always produces an output of the same length.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Avalanche Effect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Changing even one character in the input produces a completely different hash.</a:t>
            </a:r>
            <a:endParaRPr lang="en-US" sz="11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CRYPTOGRAPHIC FINGERPRINT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Hash Example — The Avalanche Effect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320186" cy="868680"/>
          </a:xfrm>
          <a:prstGeom prst="roundRect">
            <a:avLst>
              <a:gd name="adj" fmla="val 8421"/>
            </a:avLst>
          </a:prstGeom>
          <a:solidFill>
            <a:srgbClr val="FFB627"/>
          </a:solidFill>
        </p:spPr>
      </p:sp>
      <p:sp>
        <p:nvSpPr>
          <p:cNvPr id="7" name="Text 5"/>
          <p:cNvSpPr/>
          <p:nvPr/>
        </p:nvSpPr>
        <p:spPr>
          <a:xfrm>
            <a:off x="786384" y="1691640"/>
            <a:ext cx="3210458" cy="86868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51706" y="212598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35754" y="1691640"/>
            <a:ext cx="3320186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</p:spPr>
      </p:sp>
      <p:sp>
        <p:nvSpPr>
          <p:cNvPr id="10" name="Text 8"/>
          <p:cNvSpPr/>
          <p:nvPr/>
        </p:nvSpPr>
        <p:spPr>
          <a:xfrm>
            <a:off x="4490618" y="1691640"/>
            <a:ext cx="3210458" cy="86868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Hash Function (SHA-256)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55941" y="212598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39989" y="1691640"/>
            <a:ext cx="3320186" cy="868680"/>
          </a:xfrm>
          <a:prstGeom prst="roundRect">
            <a:avLst>
              <a:gd name="adj" fmla="val 8421"/>
            </a:avLst>
          </a:prstGeom>
          <a:solidFill>
            <a:srgbClr val="FFB627"/>
          </a:solidFill>
        </p:spPr>
      </p:sp>
      <p:sp>
        <p:nvSpPr>
          <p:cNvPr id="13" name="Text 11"/>
          <p:cNvSpPr/>
          <p:nvPr/>
        </p:nvSpPr>
        <p:spPr>
          <a:xfrm>
            <a:off x="8194853" y="1691640"/>
            <a:ext cx="3210458" cy="86868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Hash Output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1752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"Pantech Day 1"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31920" y="3360420"/>
            <a:ext cx="64008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63440" y="3017520"/>
            <a:ext cx="6583680" cy="685800"/>
          </a:xfrm>
          <a:prstGeom prst="roundRect">
            <a:avLst>
              <a:gd name="adj" fmla="val 10667"/>
            </a:avLst>
          </a:prstGeom>
          <a:solidFill>
            <a:srgbClr val="0A1F3D"/>
          </a:solidFill>
        </p:spPr>
      </p:sp>
      <p:sp>
        <p:nvSpPr>
          <p:cNvPr id="18" name="Text 16"/>
          <p:cNvSpPr/>
          <p:nvPr/>
        </p:nvSpPr>
        <p:spPr>
          <a:xfrm>
            <a:off x="4800600" y="3017520"/>
            <a:ext cx="6309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0C9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5f4dcc3b5aa765d61d8327deb882cf99...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2336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"Pantech Day 2"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931920" y="4366260"/>
            <a:ext cx="64008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663440" y="4023360"/>
            <a:ext cx="6583680" cy="685800"/>
          </a:xfrm>
          <a:prstGeom prst="roundRect">
            <a:avLst>
              <a:gd name="adj" fmla="val 10667"/>
            </a:avLst>
          </a:prstGeom>
          <a:solidFill>
            <a:srgbClr val="13294F"/>
          </a:solidFill>
        </p:spPr>
      </p:sp>
      <p:sp>
        <p:nvSpPr>
          <p:cNvPr id="23" name="Text 21"/>
          <p:cNvSpPr/>
          <p:nvPr/>
        </p:nvSpPr>
        <p:spPr>
          <a:xfrm>
            <a:off x="4800600" y="4023360"/>
            <a:ext cx="6309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0C9B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a94a8fe5ccb19ba61c4c0873d391e987...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25780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one-character change in the input produces a totally unrelated hash — this is the avalanche effect.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TAMPER EVIDENCE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Immutability &amp; Tampering Demonstration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Chain — Valid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453564" cy="777240"/>
          </a:xfrm>
          <a:prstGeom prst="roundRect">
            <a:avLst>
              <a:gd name="adj" fmla="val 8235"/>
            </a:avLst>
          </a:prstGeom>
          <a:solidFill>
            <a:srgbClr val="0A1F3D"/>
          </a:solidFill>
        </p:spPr>
      </p:sp>
      <p:sp>
        <p:nvSpPr>
          <p:cNvPr id="8" name="Text 6"/>
          <p:cNvSpPr/>
          <p:nvPr/>
        </p:nvSpPr>
        <p:spPr>
          <a:xfrm>
            <a:off x="640080" y="1691640"/>
            <a:ext cx="2453564" cy="7772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93644" y="2080260"/>
            <a:ext cx="36576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59404" y="1691640"/>
            <a:ext cx="2453564" cy="777240"/>
          </a:xfrm>
          <a:prstGeom prst="roundRect">
            <a:avLst>
              <a:gd name="adj" fmla="val 8235"/>
            </a:avLst>
          </a:prstGeom>
          <a:solidFill>
            <a:srgbClr val="0A1F3D"/>
          </a:solidFill>
        </p:spPr>
      </p:sp>
      <p:sp>
        <p:nvSpPr>
          <p:cNvPr id="11" name="Text 9"/>
          <p:cNvSpPr/>
          <p:nvPr/>
        </p:nvSpPr>
        <p:spPr>
          <a:xfrm>
            <a:off x="3459404" y="1691640"/>
            <a:ext cx="2453564" cy="7772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12968" y="2080260"/>
            <a:ext cx="36576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78728" y="1691640"/>
            <a:ext cx="2453564" cy="777240"/>
          </a:xfrm>
          <a:prstGeom prst="roundRect">
            <a:avLst>
              <a:gd name="adj" fmla="val 8235"/>
            </a:avLst>
          </a:prstGeom>
          <a:solidFill>
            <a:srgbClr val="0A1F3D"/>
          </a:solidFill>
        </p:spPr>
      </p:sp>
      <p:sp>
        <p:nvSpPr>
          <p:cNvPr id="14" name="Text 12"/>
          <p:cNvSpPr/>
          <p:nvPr/>
        </p:nvSpPr>
        <p:spPr>
          <a:xfrm>
            <a:off x="6278728" y="1691640"/>
            <a:ext cx="2453564" cy="7772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3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32291" y="2080260"/>
            <a:ext cx="36576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98051" y="1691640"/>
            <a:ext cx="2453564" cy="777240"/>
          </a:xfrm>
          <a:prstGeom prst="roundRect">
            <a:avLst>
              <a:gd name="adj" fmla="val 8235"/>
            </a:avLst>
          </a:prstGeom>
          <a:solidFill>
            <a:srgbClr val="0A1F3D"/>
          </a:solidFill>
        </p:spPr>
      </p:sp>
      <p:sp>
        <p:nvSpPr>
          <p:cNvPr id="17" name="Text 15"/>
          <p:cNvSpPr/>
          <p:nvPr/>
        </p:nvSpPr>
        <p:spPr>
          <a:xfrm>
            <a:off x="9098051" y="1691640"/>
            <a:ext cx="2453564" cy="7772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2926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3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Tampering — Broken Chain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246120"/>
            <a:ext cx="2453564" cy="777240"/>
          </a:xfrm>
          <a:prstGeom prst="roundRect">
            <a:avLst>
              <a:gd name="adj" fmla="val 8235"/>
            </a:avLst>
          </a:prstGeom>
          <a:solidFill>
            <a:srgbClr val="13294F"/>
          </a:solidFill>
        </p:spPr>
      </p:sp>
      <p:sp>
        <p:nvSpPr>
          <p:cNvPr id="20" name="Text 18"/>
          <p:cNvSpPr/>
          <p:nvPr/>
        </p:nvSpPr>
        <p:spPr>
          <a:xfrm>
            <a:off x="640080" y="3246120"/>
            <a:ext cx="2453564" cy="7772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093644" y="3634740"/>
            <a:ext cx="36576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459404" y="3246120"/>
            <a:ext cx="2453564" cy="777240"/>
          </a:xfrm>
          <a:prstGeom prst="roundRect">
            <a:avLst>
              <a:gd name="adj" fmla="val 8235"/>
            </a:avLst>
          </a:prstGeom>
          <a:solidFill>
            <a:srgbClr val="FDEDED"/>
          </a:solidFill>
          <a:ln w="19050">
            <a:solidFill>
              <a:srgbClr val="E8A3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9404" y="3246120"/>
            <a:ext cx="2453564" cy="7772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03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2 (Modified)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12968" y="3634740"/>
            <a:ext cx="365760" cy="914"/>
          </a:xfrm>
          <a:prstGeom prst="line">
            <a:avLst/>
          </a:prstGeom>
          <a:noFill/>
          <a:ln w="19050">
            <a:solidFill>
              <a:srgbClr val="B03A2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78728" y="3246120"/>
            <a:ext cx="2453564" cy="777240"/>
          </a:xfrm>
          <a:prstGeom prst="roundRect">
            <a:avLst>
              <a:gd name="adj" fmla="val 8235"/>
            </a:avLst>
          </a:prstGeom>
          <a:solidFill>
            <a:srgbClr val="FDEDED"/>
          </a:solidFill>
          <a:ln w="19050">
            <a:solidFill>
              <a:srgbClr val="E8A3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8728" y="3246120"/>
            <a:ext cx="2453564" cy="7772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03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3 (Invalid)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732291" y="3634740"/>
            <a:ext cx="365760" cy="914"/>
          </a:xfrm>
          <a:prstGeom prst="line">
            <a:avLst/>
          </a:prstGeom>
          <a:noFill/>
          <a:ln w="19050">
            <a:solidFill>
              <a:srgbClr val="B03A2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98051" y="3246120"/>
            <a:ext cx="2453564" cy="777240"/>
          </a:xfrm>
          <a:prstGeom prst="roundRect">
            <a:avLst>
              <a:gd name="adj" fmla="val 8235"/>
            </a:avLst>
          </a:prstGeom>
          <a:solidFill>
            <a:srgbClr val="FDEDED"/>
          </a:solidFill>
          <a:ln w="19050">
            <a:solidFill>
              <a:srgbClr val="E8A3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98051" y="3246120"/>
            <a:ext cx="2453564" cy="77724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03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4 (Invalid)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46177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Editing Block 2 changes its hash, so every following block’s “previous hash” no longer matches — the tampering is immediately visible to the network.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Distributed Ledger Technology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infrastructure that keeps every copy of the chain in sync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DLT FUNDAMENTALS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Distributed Ledger vs Traditional Database</a:t>
            </a:r>
            <a:endParaRPr lang="en-US" sz="27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/>
        </p:nvGraphicFramePr>
        <p:xfrm>
          <a:off x="640080" y="1572768"/>
          <a:ext cx="10911535" cy="27432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Aspect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Traditional Database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Distributed Ledger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Control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 administrator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Shared across network participants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Copies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master copy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Identical copies on many nodes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Update Rights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Central authority writes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Consensus required to write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Failure Risk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 point of failure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Resilient — no single point of failure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Trust Model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Trust the operator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Trust the protocol &amp; network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COMMUNICATION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Peer-to-Peer Network &amp; Node Types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Peer-to-Peer Communication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Nodes connect and share data directly, without a central server routing traffic.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Node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the complete ledger and independently validates every transaction and block.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 Node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only essential data and relies on full nodes for detailed verification.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Validator / Miner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Participates in the consensus process to propose and confirm new blocks.</a:t>
            </a:r>
            <a:endParaRPr lang="en-US" sz="11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Blockchain Network Architecture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535528" y="1508760"/>
            <a:ext cx="5120640" cy="579991"/>
          </a:xfrm>
          <a:prstGeom prst="roundRect">
            <a:avLst>
              <a:gd name="adj" fmla="val 11036"/>
            </a:avLst>
          </a:prstGeom>
          <a:solidFill>
            <a:srgbClr val="FFB627"/>
          </a:solidFill>
        </p:spPr>
      </p:sp>
      <p:sp>
        <p:nvSpPr>
          <p:cNvPr id="7" name="Text 5"/>
          <p:cNvSpPr/>
          <p:nvPr/>
        </p:nvSpPr>
        <p:spPr>
          <a:xfrm>
            <a:off x="3672688" y="1508760"/>
            <a:ext cx="4846320" cy="579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5848" y="2088751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35528" y="2235055"/>
            <a:ext cx="5120640" cy="579991"/>
          </a:xfrm>
          <a:prstGeom prst="roundRect">
            <a:avLst>
              <a:gd name="adj" fmla="val 11036"/>
            </a:avLst>
          </a:prstGeom>
          <a:solidFill>
            <a:srgbClr val="00C9B7"/>
          </a:solidFill>
        </p:spPr>
      </p:sp>
      <p:sp>
        <p:nvSpPr>
          <p:cNvPr id="10" name="Text 8"/>
          <p:cNvSpPr/>
          <p:nvPr/>
        </p:nvSpPr>
        <p:spPr>
          <a:xfrm>
            <a:off x="3672688" y="2235055"/>
            <a:ext cx="4846320" cy="579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5848" y="2815046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35528" y="2961350"/>
            <a:ext cx="5120640" cy="579991"/>
          </a:xfrm>
          <a:prstGeom prst="roundRect">
            <a:avLst>
              <a:gd name="adj" fmla="val 11036"/>
            </a:avLst>
          </a:prstGeom>
          <a:solidFill>
            <a:srgbClr val="0A1F3D"/>
          </a:solidFill>
        </p:spPr>
      </p:sp>
      <p:sp>
        <p:nvSpPr>
          <p:cNvPr id="13" name="Text 11"/>
          <p:cNvSpPr/>
          <p:nvPr/>
        </p:nvSpPr>
        <p:spPr>
          <a:xfrm>
            <a:off x="3672688" y="2961350"/>
            <a:ext cx="4846320" cy="579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Peer-to-Peer Network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5848" y="3541341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35528" y="3687645"/>
            <a:ext cx="5120640" cy="579991"/>
          </a:xfrm>
          <a:prstGeom prst="roundRect">
            <a:avLst>
              <a:gd name="adj" fmla="val 11036"/>
            </a:avLst>
          </a:prstGeom>
          <a:solidFill>
            <a:srgbClr val="00C9B7"/>
          </a:solidFill>
        </p:spPr>
      </p:sp>
      <p:sp>
        <p:nvSpPr>
          <p:cNvPr id="16" name="Text 14"/>
          <p:cNvSpPr/>
          <p:nvPr/>
        </p:nvSpPr>
        <p:spPr>
          <a:xfrm>
            <a:off x="3672688" y="3687645"/>
            <a:ext cx="4846320" cy="579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5848" y="4267635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535528" y="4413939"/>
            <a:ext cx="5120640" cy="579991"/>
          </a:xfrm>
          <a:prstGeom prst="roundRect">
            <a:avLst>
              <a:gd name="adj" fmla="val 11036"/>
            </a:avLst>
          </a:prstGeom>
          <a:solidFill>
            <a:srgbClr val="0A1F3D"/>
          </a:solidFill>
        </p:spPr>
      </p:sp>
      <p:sp>
        <p:nvSpPr>
          <p:cNvPr id="19" name="Text 17"/>
          <p:cNvSpPr/>
          <p:nvPr/>
        </p:nvSpPr>
        <p:spPr>
          <a:xfrm>
            <a:off x="3672688" y="4413939"/>
            <a:ext cx="4846320" cy="579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Consensus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95848" y="4993930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535528" y="5140234"/>
            <a:ext cx="5120640" cy="579991"/>
          </a:xfrm>
          <a:prstGeom prst="roundRect">
            <a:avLst>
              <a:gd name="adj" fmla="val 11036"/>
            </a:avLst>
          </a:prstGeom>
          <a:solidFill>
            <a:srgbClr val="00C9B7"/>
          </a:solidFill>
        </p:spPr>
      </p:sp>
      <p:sp>
        <p:nvSpPr>
          <p:cNvPr id="22" name="Text 20"/>
          <p:cNvSpPr/>
          <p:nvPr/>
        </p:nvSpPr>
        <p:spPr>
          <a:xfrm>
            <a:off x="3672688" y="5140234"/>
            <a:ext cx="4846320" cy="579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Creation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95848" y="5720225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535528" y="5866529"/>
            <a:ext cx="5120640" cy="579991"/>
          </a:xfrm>
          <a:prstGeom prst="roundRect">
            <a:avLst>
              <a:gd name="adj" fmla="val 11036"/>
            </a:avLst>
          </a:prstGeom>
          <a:solidFill>
            <a:srgbClr val="FFB627"/>
          </a:solidFill>
        </p:spPr>
      </p:sp>
      <p:sp>
        <p:nvSpPr>
          <p:cNvPr id="25" name="Text 23"/>
          <p:cNvSpPr/>
          <p:nvPr/>
        </p:nvSpPr>
        <p:spPr>
          <a:xfrm>
            <a:off x="3672688" y="5866529"/>
            <a:ext cx="4846320" cy="579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Distributed Ledger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Real-Time Blockchain Example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Walking through an actual Bitcoin transaction, step by step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Alice Sends 0.1 BTC to Bob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874520" y="2606040"/>
            <a:ext cx="1005840" cy="1005840"/>
          </a:xfrm>
          <a:prstGeom prst="ellipse">
            <a:avLst/>
          </a:prstGeom>
          <a:solidFill>
            <a:srgbClr val="0A1F3D"/>
          </a:solidFill>
          <a:ln w="25400">
            <a:solidFill>
              <a:srgbClr val="00C9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260604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88720" y="37033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Alice (Sender)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41080" y="2606040"/>
            <a:ext cx="1005840" cy="1005840"/>
          </a:xfrm>
          <a:prstGeom prst="ellipse">
            <a:avLst/>
          </a:prstGeom>
          <a:solidFill>
            <a:srgbClr val="0A1F3D"/>
          </a:solidFill>
          <a:ln w="25400">
            <a:solidFill>
              <a:srgbClr val="00C9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60604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955280" y="37033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Bob (Receiver)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0" y="3108960"/>
            <a:ext cx="5669280" cy="914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90008" y="23317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FB627"/>
          </a:solidFill>
        </p:spPr>
      </p:sp>
      <p:sp>
        <p:nvSpPr>
          <p:cNvPr id="14" name="Text 12"/>
          <p:cNvSpPr/>
          <p:nvPr/>
        </p:nvSpPr>
        <p:spPr>
          <a:xfrm>
            <a:off x="5090008" y="23317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 BTC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846320"/>
            <a:ext cx="10911535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Alice does not send money through a bank — she broadcasts a signed transaction to the network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network of nodes verifies and records the transfer without any central intermediary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LIFECYCLE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Bitcoin Transaction Flow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626968" y="1508760"/>
            <a:ext cx="4937760" cy="489204"/>
          </a:xfrm>
          <a:prstGeom prst="roundRect">
            <a:avLst>
              <a:gd name="adj" fmla="val 13084"/>
            </a:avLst>
          </a:prstGeom>
          <a:solidFill>
            <a:srgbClr val="FFB627"/>
          </a:solidFill>
        </p:spPr>
      </p:sp>
      <p:sp>
        <p:nvSpPr>
          <p:cNvPr id="7" name="Text 5"/>
          <p:cNvSpPr/>
          <p:nvPr/>
        </p:nvSpPr>
        <p:spPr>
          <a:xfrm>
            <a:off x="3764128" y="1508760"/>
            <a:ext cx="4663440" cy="4892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Alice Creates Transaction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5848" y="1997964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26968" y="2144268"/>
            <a:ext cx="4937760" cy="489204"/>
          </a:xfrm>
          <a:prstGeom prst="roundRect">
            <a:avLst>
              <a:gd name="adj" fmla="val 13084"/>
            </a:avLst>
          </a:prstGeom>
          <a:solidFill>
            <a:srgbClr val="00C9B7"/>
          </a:solidFill>
        </p:spPr>
      </p:sp>
      <p:sp>
        <p:nvSpPr>
          <p:cNvPr id="10" name="Text 8"/>
          <p:cNvSpPr/>
          <p:nvPr/>
        </p:nvSpPr>
        <p:spPr>
          <a:xfrm>
            <a:off x="3764128" y="2144268"/>
            <a:ext cx="4663440" cy="4892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Signature Applied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95848" y="2633472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26968" y="2779776"/>
            <a:ext cx="4937760" cy="489204"/>
          </a:xfrm>
          <a:prstGeom prst="roundRect">
            <a:avLst>
              <a:gd name="adj" fmla="val 13084"/>
            </a:avLst>
          </a:prstGeom>
          <a:solidFill>
            <a:srgbClr val="0A1F3D"/>
          </a:solidFill>
        </p:spPr>
      </p:sp>
      <p:sp>
        <p:nvSpPr>
          <p:cNvPr id="13" name="Text 11"/>
          <p:cNvSpPr/>
          <p:nvPr/>
        </p:nvSpPr>
        <p:spPr>
          <a:xfrm>
            <a:off x="3764128" y="2779776"/>
            <a:ext cx="4663440" cy="4892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Broadcast to Network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95848" y="3268980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26968" y="3415284"/>
            <a:ext cx="4937760" cy="489204"/>
          </a:xfrm>
          <a:prstGeom prst="roundRect">
            <a:avLst>
              <a:gd name="adj" fmla="val 13084"/>
            </a:avLst>
          </a:prstGeom>
          <a:solidFill>
            <a:srgbClr val="00C9B7"/>
          </a:solidFill>
        </p:spPr>
      </p:sp>
      <p:sp>
        <p:nvSpPr>
          <p:cNvPr id="16" name="Text 14"/>
          <p:cNvSpPr/>
          <p:nvPr/>
        </p:nvSpPr>
        <p:spPr>
          <a:xfrm>
            <a:off x="3764128" y="3415284"/>
            <a:ext cx="4663440" cy="4892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Nodes Verify Transaction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95848" y="3904488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26968" y="4050792"/>
            <a:ext cx="4937760" cy="489204"/>
          </a:xfrm>
          <a:prstGeom prst="roundRect">
            <a:avLst>
              <a:gd name="adj" fmla="val 13084"/>
            </a:avLst>
          </a:prstGeom>
          <a:solidFill>
            <a:srgbClr val="0A1F3D"/>
          </a:solidFill>
        </p:spPr>
      </p:sp>
      <p:sp>
        <p:nvSpPr>
          <p:cNvPr id="19" name="Text 17"/>
          <p:cNvSpPr/>
          <p:nvPr/>
        </p:nvSpPr>
        <p:spPr>
          <a:xfrm>
            <a:off x="3764128" y="4050792"/>
            <a:ext cx="4663440" cy="4892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Consensus Reached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95848" y="4539996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26968" y="4686300"/>
            <a:ext cx="4937760" cy="489204"/>
          </a:xfrm>
          <a:prstGeom prst="roundRect">
            <a:avLst>
              <a:gd name="adj" fmla="val 13084"/>
            </a:avLst>
          </a:prstGeom>
          <a:solidFill>
            <a:srgbClr val="00C9B7"/>
          </a:solidFill>
        </p:spPr>
      </p:sp>
      <p:sp>
        <p:nvSpPr>
          <p:cNvPr id="22" name="Text 20"/>
          <p:cNvSpPr/>
          <p:nvPr/>
        </p:nvSpPr>
        <p:spPr>
          <a:xfrm>
            <a:off x="3764128" y="4686300"/>
            <a:ext cx="4663440" cy="4892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Included in Block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95848" y="5175504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626968" y="5321808"/>
            <a:ext cx="4937760" cy="489204"/>
          </a:xfrm>
          <a:prstGeom prst="roundRect">
            <a:avLst>
              <a:gd name="adj" fmla="val 13084"/>
            </a:avLst>
          </a:prstGeom>
          <a:solidFill>
            <a:srgbClr val="0A1F3D"/>
          </a:solidFill>
        </p:spPr>
      </p:sp>
      <p:sp>
        <p:nvSpPr>
          <p:cNvPr id="25" name="Text 23"/>
          <p:cNvSpPr/>
          <p:nvPr/>
        </p:nvSpPr>
        <p:spPr>
          <a:xfrm>
            <a:off x="3764128" y="5321808"/>
            <a:ext cx="4663440" cy="4892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Added to Blockchain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95848" y="5811012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626968" y="5957316"/>
            <a:ext cx="4937760" cy="489204"/>
          </a:xfrm>
          <a:prstGeom prst="roundRect">
            <a:avLst>
              <a:gd name="adj" fmla="val 13084"/>
            </a:avLst>
          </a:prstGeom>
          <a:solidFill>
            <a:srgbClr val="FFB627"/>
          </a:solidFill>
        </p:spPr>
      </p:sp>
      <p:sp>
        <p:nvSpPr>
          <p:cNvPr id="28" name="Text 26"/>
          <p:cNvSpPr/>
          <p:nvPr/>
        </p:nvSpPr>
        <p:spPr>
          <a:xfrm>
            <a:off x="3764128" y="5957316"/>
            <a:ext cx="4663440" cy="4892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Bob Receives Confirmation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 &amp; CONFIDENCE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Transaction Validation &amp; Confirmations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Signature Check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Confirms the transaction was authorized by the actual owner of the funds.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 &amp; Rule Check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Ensures the transaction follows the network’s protocol rules.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 / UTXO Check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Confirms the sender actually has the funds being spent.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Consensus Check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network must agree the transaction is valid before it is final.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40080" y="5184648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23" name="Text 21"/>
          <p:cNvSpPr/>
          <p:nvPr/>
        </p:nvSpPr>
        <p:spPr>
          <a:xfrm>
            <a:off x="640080" y="51846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5148072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Are Confirmations?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07008" y="5449824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new block added after yours is one “confirmation” — more confirmations mean greater certainty the transaction cannot be reversed.</a:t>
            </a:r>
            <a:endParaRPr lang="en-US" sz="11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8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Cryptography Foundations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mathematics that secures every blockchain transaction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SCIENCE OF SECRECY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Cryptography &amp; Its Role in Blockchain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916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6550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956816"/>
            <a:ext cx="47823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Keeps information unreadable to unauthorized parties.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263640" y="16916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30568" y="16550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30568" y="1956816"/>
            <a:ext cx="47823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Confirms data has not been altered in transit or storage.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0632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0266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328416"/>
            <a:ext cx="47823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Verifies the identity of the party sending information.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263640" y="306324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263640" y="30632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30568" y="30266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Non-Repudiation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30568" y="3328416"/>
            <a:ext cx="47823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 a sender from later denying they made a transaction.</a:t>
            </a:r>
            <a:endParaRPr lang="en-US" sz="11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MECHANISM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Encryption and Decryption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3320186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</p:spPr>
      </p:sp>
      <p:sp>
        <p:nvSpPr>
          <p:cNvPr id="8" name="Text 6"/>
          <p:cNvSpPr/>
          <p:nvPr/>
        </p:nvSpPr>
        <p:spPr>
          <a:xfrm>
            <a:off x="786384" y="1783080"/>
            <a:ext cx="3210458" cy="7772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Plaintext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51706" y="217170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35754" y="1783080"/>
            <a:ext cx="3320186" cy="777240"/>
          </a:xfrm>
          <a:prstGeom prst="roundRect">
            <a:avLst>
              <a:gd name="adj" fmla="val 9412"/>
            </a:avLst>
          </a:prstGeom>
          <a:solidFill>
            <a:srgbClr val="0A1F3D"/>
          </a:solidFill>
        </p:spPr>
      </p:sp>
      <p:sp>
        <p:nvSpPr>
          <p:cNvPr id="11" name="Text 9"/>
          <p:cNvSpPr/>
          <p:nvPr/>
        </p:nvSpPr>
        <p:spPr>
          <a:xfrm>
            <a:off x="4490618" y="1783080"/>
            <a:ext cx="3210458" cy="7772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55941" y="217170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139989" y="1783080"/>
            <a:ext cx="3320186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</p:spPr>
      </p:sp>
      <p:sp>
        <p:nvSpPr>
          <p:cNvPr id="14" name="Text 12"/>
          <p:cNvSpPr/>
          <p:nvPr/>
        </p:nvSpPr>
        <p:spPr>
          <a:xfrm>
            <a:off x="8194853" y="1783080"/>
            <a:ext cx="3210458" cy="7772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Ciphertext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Decryption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154680"/>
            <a:ext cx="3320186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</p:spPr>
      </p:sp>
      <p:sp>
        <p:nvSpPr>
          <p:cNvPr id="17" name="Text 15"/>
          <p:cNvSpPr/>
          <p:nvPr/>
        </p:nvSpPr>
        <p:spPr>
          <a:xfrm>
            <a:off x="786384" y="3154680"/>
            <a:ext cx="3210458" cy="7772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Ciphertext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051706" y="354330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35754" y="3154680"/>
            <a:ext cx="3320186" cy="777240"/>
          </a:xfrm>
          <a:prstGeom prst="roundRect">
            <a:avLst>
              <a:gd name="adj" fmla="val 9412"/>
            </a:avLst>
          </a:prstGeom>
          <a:solidFill>
            <a:srgbClr val="0A1F3D"/>
          </a:solidFill>
        </p:spPr>
      </p:sp>
      <p:sp>
        <p:nvSpPr>
          <p:cNvPr id="20" name="Text 18"/>
          <p:cNvSpPr/>
          <p:nvPr/>
        </p:nvSpPr>
        <p:spPr>
          <a:xfrm>
            <a:off x="4490618" y="3154680"/>
            <a:ext cx="3210458" cy="7772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Decryption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55941" y="354330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39989" y="3154680"/>
            <a:ext cx="3320186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</p:spPr>
      </p:sp>
      <p:sp>
        <p:nvSpPr>
          <p:cNvPr id="23" name="Text 21"/>
          <p:cNvSpPr/>
          <p:nvPr/>
        </p:nvSpPr>
        <p:spPr>
          <a:xfrm>
            <a:off x="8194853" y="3154680"/>
            <a:ext cx="3210458" cy="7772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Plaintext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4434840"/>
            <a:ext cx="10911535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Encryption transforms readable data (plaintext) into unreadable data (ciphertext)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Decryption reverses the process, restoring the original readable data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Note: blockchain relies mainly on hash functions and digital signatures — encryption is used by surrounding systems (like wallets), not to encrypt every on-chain transaction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APPROACHES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Symmetric vs Asymmetric Cryptography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B03A2E"/>
          </a:solidFill>
        </p:spPr>
      </p:sp>
      <p:sp>
        <p:nvSpPr>
          <p:cNvPr id="8" name="Text 6"/>
          <p:cNvSpPr/>
          <p:nvPr/>
        </p:nvSpPr>
        <p:spPr>
          <a:xfrm>
            <a:off x="1417320" y="1792224"/>
            <a:ext cx="4267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Symmetric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4632808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key encrypts and decrypts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Very fast, efficient for large data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must be shared secretly beforehand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Examples: AES, DES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278728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E8FBF8"/>
          </a:solidFill>
          <a:ln w="12700">
            <a:solidFill>
              <a:srgbClr val="00C9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28800"/>
            <a:ext cx="365760" cy="365760"/>
          </a:xfrm>
          <a:prstGeom prst="ellipse">
            <a:avLst/>
          </a:prstGeom>
          <a:solidFill>
            <a:srgbClr val="0C8C80"/>
          </a:solidFill>
        </p:spPr>
      </p:sp>
      <p:sp>
        <p:nvSpPr>
          <p:cNvPr id="12" name="Text 10"/>
          <p:cNvSpPr/>
          <p:nvPr/>
        </p:nvSpPr>
        <p:spPr>
          <a:xfrm>
            <a:off x="7055968" y="1792224"/>
            <a:ext cx="4267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8C8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Asymmetric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98768" y="2441448"/>
            <a:ext cx="4632808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Separate public and private keys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shared secret needs to travel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Slower than symmetric methods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Examples: RSA, ECDSA (used in blockchain)</a:t>
            </a:r>
            <a:endParaRPr lang="en-US" sz="12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SYMMETRIC STANDARD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AES — Advanced Encryption Standard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Is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widely trusted symmetric encryption algorithm adopted as a global standard.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Is Used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Offers strong security with efficient, fast performance.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Sizes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Supports 128-bit, 192-bit, and 256-bit keys.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Secures files, databases, VPNs, and Wi-Fi communications.</a:t>
            </a:r>
            <a:endParaRPr lang="en-US" sz="118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OLDER STANDARD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 — Data Encryption Standard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Adopted as a US government standard in the 1970s.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symmetric block cipher using a 56-bit key.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Its small key size makes it vulnerable to brute-force attacks.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Today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Considered obsolete for modern security; replaced by AES.</a:t>
            </a:r>
            <a:endParaRPr lang="en-US" sz="11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 TO HEAD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AES vs DES</a:t>
            </a:r>
            <a:endParaRPr lang="en-US" sz="27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/>
        </p:nvGraphicFramePr>
        <p:xfrm>
          <a:off x="640080" y="1572768"/>
          <a:ext cx="10911535" cy="27432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Factor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Size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56-bit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128 / 192 / 256-bit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Security Level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Weak by modern standards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Strong, industry standard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Speed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Slower relative to key strength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Fast and efficient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Modern Usage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Rare, legacy systems only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Widely used today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Status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Obsolete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Current standard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/ PRIVATE KEYS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Asymmetric Cryptography &amp; RSA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Key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be shared openly; used to encrypt data or verify signatures.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Private Key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Kept secret by the owner; used to decrypt data or create signatures.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of the earliest and most widely used asymmetric algorithms.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Uses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key exchange, encryption, and digital signatures.</a:t>
            </a:r>
            <a:endParaRPr lang="en-US" sz="11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BY STEP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RSA Working Diagram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626968" y="1508760"/>
            <a:ext cx="4937760" cy="870509"/>
          </a:xfrm>
          <a:prstGeom prst="roundRect">
            <a:avLst>
              <a:gd name="adj" fmla="val 7353"/>
            </a:avLst>
          </a:prstGeom>
          <a:solidFill>
            <a:srgbClr val="FFB627"/>
          </a:solidFill>
        </p:spPr>
      </p:sp>
      <p:sp>
        <p:nvSpPr>
          <p:cNvPr id="7" name="Text 5"/>
          <p:cNvSpPr/>
          <p:nvPr/>
        </p:nvSpPr>
        <p:spPr>
          <a:xfrm>
            <a:off x="3764128" y="1508760"/>
            <a:ext cx="4663440" cy="8705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95848" y="2379269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26968" y="2525573"/>
            <a:ext cx="4937760" cy="870509"/>
          </a:xfrm>
          <a:prstGeom prst="roundRect">
            <a:avLst>
              <a:gd name="adj" fmla="val 7353"/>
            </a:avLst>
          </a:prstGeom>
          <a:solidFill>
            <a:srgbClr val="00C9B7"/>
          </a:solidFill>
        </p:spPr>
      </p:sp>
      <p:sp>
        <p:nvSpPr>
          <p:cNvPr id="10" name="Text 8"/>
          <p:cNvSpPr/>
          <p:nvPr/>
        </p:nvSpPr>
        <p:spPr>
          <a:xfrm>
            <a:off x="3764128" y="2525573"/>
            <a:ext cx="4663440" cy="8705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 with Public Key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95848" y="3396082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26968" y="3542386"/>
            <a:ext cx="4937760" cy="870509"/>
          </a:xfrm>
          <a:prstGeom prst="roundRect">
            <a:avLst>
              <a:gd name="adj" fmla="val 7353"/>
            </a:avLst>
          </a:prstGeom>
          <a:solidFill>
            <a:srgbClr val="0A1F3D"/>
          </a:solidFill>
        </p:spPr>
      </p:sp>
      <p:sp>
        <p:nvSpPr>
          <p:cNvPr id="13" name="Text 11"/>
          <p:cNvSpPr/>
          <p:nvPr/>
        </p:nvSpPr>
        <p:spPr>
          <a:xfrm>
            <a:off x="3764128" y="3542386"/>
            <a:ext cx="4663440" cy="8705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Ciphertext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95848" y="4412894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26968" y="4559198"/>
            <a:ext cx="4937760" cy="870509"/>
          </a:xfrm>
          <a:prstGeom prst="roundRect">
            <a:avLst>
              <a:gd name="adj" fmla="val 7353"/>
            </a:avLst>
          </a:prstGeom>
          <a:solidFill>
            <a:srgbClr val="00C9B7"/>
          </a:solidFill>
        </p:spPr>
      </p:sp>
      <p:sp>
        <p:nvSpPr>
          <p:cNvPr id="16" name="Text 14"/>
          <p:cNvSpPr/>
          <p:nvPr/>
        </p:nvSpPr>
        <p:spPr>
          <a:xfrm>
            <a:off x="3764128" y="4559198"/>
            <a:ext cx="4663440" cy="8705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Decrypt with Private Key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095848" y="5429707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26968" y="5576011"/>
            <a:ext cx="4937760" cy="870509"/>
          </a:xfrm>
          <a:prstGeom prst="roundRect">
            <a:avLst>
              <a:gd name="adj" fmla="val 7353"/>
            </a:avLst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3764128" y="5576011"/>
            <a:ext cx="4663440" cy="8705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Message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IT’S USED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RSA Applications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Communication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Protects data exchanged over the internet (e.g. HTTPS).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Signatures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Proves authenticity and integrity of digital documents.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Exchange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Safely shares symmetric keys over insecure channels.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Confirms identity in secure login and access systems.</a:t>
            </a:r>
            <a:endParaRPr lang="en-US" sz="118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PROOF OF AUTHORSHIP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Digital Signature — How It Works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2476424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</p:spPr>
      </p:sp>
      <p:sp>
        <p:nvSpPr>
          <p:cNvPr id="8" name="Text 6"/>
          <p:cNvSpPr/>
          <p:nvPr/>
        </p:nvSpPr>
        <p:spPr>
          <a:xfrm>
            <a:off x="786384" y="1783080"/>
            <a:ext cx="2366696" cy="7772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7944" y="2171700"/>
            <a:ext cx="27432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82264" y="1783080"/>
            <a:ext cx="2476424" cy="777240"/>
          </a:xfrm>
          <a:prstGeom prst="roundRect">
            <a:avLst>
              <a:gd name="adj" fmla="val 9412"/>
            </a:avLst>
          </a:prstGeom>
          <a:solidFill>
            <a:srgbClr val="0A1F3D"/>
          </a:solidFill>
        </p:spPr>
      </p:sp>
      <p:sp>
        <p:nvSpPr>
          <p:cNvPr id="11" name="Text 9"/>
          <p:cNvSpPr/>
          <p:nvPr/>
        </p:nvSpPr>
        <p:spPr>
          <a:xfrm>
            <a:off x="3537128" y="1783080"/>
            <a:ext cx="2366696" cy="7772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58688" y="2171700"/>
            <a:ext cx="27432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33008" y="1783080"/>
            <a:ext cx="2476424" cy="777240"/>
          </a:xfrm>
          <a:prstGeom prst="roundRect">
            <a:avLst>
              <a:gd name="adj" fmla="val 9412"/>
            </a:avLst>
          </a:prstGeom>
          <a:solidFill>
            <a:srgbClr val="0A1F3D"/>
          </a:solidFill>
        </p:spPr>
      </p:sp>
      <p:sp>
        <p:nvSpPr>
          <p:cNvPr id="14" name="Text 12"/>
          <p:cNvSpPr/>
          <p:nvPr/>
        </p:nvSpPr>
        <p:spPr>
          <a:xfrm>
            <a:off x="6287872" y="1783080"/>
            <a:ext cx="2366696" cy="7772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 w/ Private Key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9431" y="2171700"/>
            <a:ext cx="27432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83751" y="1783080"/>
            <a:ext cx="2476424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</p:spPr>
      </p:sp>
      <p:sp>
        <p:nvSpPr>
          <p:cNvPr id="17" name="Text 15"/>
          <p:cNvSpPr/>
          <p:nvPr/>
        </p:nvSpPr>
        <p:spPr>
          <a:xfrm>
            <a:off x="9038615" y="1783080"/>
            <a:ext cx="2366696" cy="7772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Signature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154680"/>
            <a:ext cx="3320186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</p:spPr>
      </p:sp>
      <p:sp>
        <p:nvSpPr>
          <p:cNvPr id="20" name="Text 18"/>
          <p:cNvSpPr/>
          <p:nvPr/>
        </p:nvSpPr>
        <p:spPr>
          <a:xfrm>
            <a:off x="786384" y="3154680"/>
            <a:ext cx="3210458" cy="7772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 + Signature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51706" y="354330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35754" y="3154680"/>
            <a:ext cx="3320186" cy="777240"/>
          </a:xfrm>
          <a:prstGeom prst="roundRect">
            <a:avLst>
              <a:gd name="adj" fmla="val 9412"/>
            </a:avLst>
          </a:prstGeom>
          <a:solidFill>
            <a:srgbClr val="0A1F3D"/>
          </a:solidFill>
        </p:spPr>
      </p:sp>
      <p:sp>
        <p:nvSpPr>
          <p:cNvPr id="23" name="Text 21"/>
          <p:cNvSpPr/>
          <p:nvPr/>
        </p:nvSpPr>
        <p:spPr>
          <a:xfrm>
            <a:off x="4490618" y="3154680"/>
            <a:ext cx="3210458" cy="7772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w/ Public Key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55941" y="3543300"/>
            <a:ext cx="38404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39989" y="3154680"/>
            <a:ext cx="3320186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</p:spPr>
      </p:sp>
      <p:sp>
        <p:nvSpPr>
          <p:cNvPr id="26" name="Text 24"/>
          <p:cNvSpPr/>
          <p:nvPr/>
        </p:nvSpPr>
        <p:spPr>
          <a:xfrm>
            <a:off x="8194853" y="3154680"/>
            <a:ext cx="3210458" cy="77724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 / Invalid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434840"/>
            <a:ext cx="10911535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digital signature proves who created a message and that it was not altered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Anyone with the public key can verify the signature — only the private key holder could have created it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ON-CHAIN AUTHORIZATION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Digital Signatures in Blockchain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Proving Ownership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signature proves the sender genuinely owns the funds being spent.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Authorizing Transactions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blockchain transaction must be signed with the sender’s private key.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Preventing Forgery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one can spend funds or forge a transaction without the private key.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Encryption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Signatures prove authenticity — they do not hide the transaction content.</a:t>
            </a:r>
            <a:endParaRPr lang="en-US" sz="118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9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Consensus Mechanisms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 decentralized network agrees on a single version of the truth</a:t>
            </a:r>
            <a:endParaRPr lang="en-US" sz="14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AGREEMENT WITHOUT A BOSS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Consensus &amp; Why is it Needed?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Central Authority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There is no single party to declare which transactions are valid.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Agreement Between Nodes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consensus mechanism lets independent nodes reach the same conclusion.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Preventing Invalid Transactions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Consensus rules reject double-spends and malformed transactions.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Maintaining Consistency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Keeps every node’s copy of the ledger identical over time.</a:t>
            </a:r>
            <a:endParaRPr lang="en-US" sz="11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CONSENSUS MODELS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Types of Consensus Mechanisms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466490" cy="2103120"/>
          </a:xfrm>
          <a:prstGeom prst="roundRect">
            <a:avLst>
              <a:gd name="adj" fmla="val 3478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35581" y="1892808"/>
            <a:ext cx="475488" cy="475488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8" name="Text 6"/>
          <p:cNvSpPr/>
          <p:nvPr/>
        </p:nvSpPr>
        <p:spPr>
          <a:xfrm>
            <a:off x="2135581" y="189280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468880"/>
            <a:ext cx="324703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Proof of Work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8096" y="2788920"/>
            <a:ext cx="321045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Miners solve computational puzzles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62602" y="1691640"/>
            <a:ext cx="3466490" cy="2103120"/>
          </a:xfrm>
          <a:prstGeom prst="roundRect">
            <a:avLst>
              <a:gd name="adj" fmla="val 3478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8104" y="1892808"/>
            <a:ext cx="475488" cy="47548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3" name="Text 11"/>
          <p:cNvSpPr/>
          <p:nvPr/>
        </p:nvSpPr>
        <p:spPr>
          <a:xfrm>
            <a:off x="5858104" y="189280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72330" y="2468880"/>
            <a:ext cx="324703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Proof of Stake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90618" y="2788920"/>
            <a:ext cx="321045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Validators stake assets to participate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85125" y="1691640"/>
            <a:ext cx="3466490" cy="2103120"/>
          </a:xfrm>
          <a:prstGeom prst="roundRect">
            <a:avLst>
              <a:gd name="adj" fmla="val 3478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80626" y="1892808"/>
            <a:ext cx="475488" cy="475488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8" name="Text 16"/>
          <p:cNvSpPr/>
          <p:nvPr/>
        </p:nvSpPr>
        <p:spPr>
          <a:xfrm>
            <a:off x="9580626" y="189280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94853" y="2468880"/>
            <a:ext cx="324703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Delegated PoS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13141" y="2788920"/>
            <a:ext cx="321045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Stakeholders vote for delegates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050792"/>
            <a:ext cx="3466490" cy="2103120"/>
          </a:xfrm>
          <a:prstGeom prst="roundRect">
            <a:avLst>
              <a:gd name="adj" fmla="val 3478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35581" y="4251960"/>
            <a:ext cx="475488" cy="47548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3" name="Text 21"/>
          <p:cNvSpPr/>
          <p:nvPr/>
        </p:nvSpPr>
        <p:spPr>
          <a:xfrm>
            <a:off x="2135581" y="42519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9808" y="4828032"/>
            <a:ext cx="324703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Proof of Authority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68096" y="5148072"/>
            <a:ext cx="321045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Approved validators confirm blocks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62602" y="4050792"/>
            <a:ext cx="3466490" cy="2103120"/>
          </a:xfrm>
          <a:prstGeom prst="roundRect">
            <a:avLst>
              <a:gd name="adj" fmla="val 3478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8104" y="4251960"/>
            <a:ext cx="475488" cy="475488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28" name="Text 26"/>
          <p:cNvSpPr/>
          <p:nvPr/>
        </p:nvSpPr>
        <p:spPr>
          <a:xfrm>
            <a:off x="5858104" y="42519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72330" y="4828032"/>
            <a:ext cx="324703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PBFT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490618" y="5148072"/>
            <a:ext cx="321045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Byzantine Fault Tolerant voting rounds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85125" y="4050792"/>
            <a:ext cx="3466490" cy="2103120"/>
          </a:xfrm>
          <a:prstGeom prst="roundRect">
            <a:avLst>
              <a:gd name="adj" fmla="val 3478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80626" y="4251960"/>
            <a:ext cx="475488" cy="47548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33" name="Text 31"/>
          <p:cNvSpPr/>
          <p:nvPr/>
        </p:nvSpPr>
        <p:spPr>
          <a:xfrm>
            <a:off x="9580626" y="42519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94853" y="4828032"/>
            <a:ext cx="324703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 Models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213141" y="5148072"/>
            <a:ext cx="321045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&amp; emerging mechanisms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MINING IN 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Proof of Work — How Mining Works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352648" y="1508760"/>
            <a:ext cx="5486400" cy="579991"/>
          </a:xfrm>
          <a:prstGeom prst="roundRect">
            <a:avLst>
              <a:gd name="adj" fmla="val 11036"/>
            </a:avLst>
          </a:prstGeom>
          <a:solidFill>
            <a:srgbClr val="FFB627"/>
          </a:solidFill>
        </p:spPr>
      </p:sp>
      <p:sp>
        <p:nvSpPr>
          <p:cNvPr id="7" name="Text 5"/>
          <p:cNvSpPr/>
          <p:nvPr/>
        </p:nvSpPr>
        <p:spPr>
          <a:xfrm>
            <a:off x="3489808" y="1508760"/>
            <a:ext cx="5212080" cy="579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Miner Collects Pending Transactions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5848" y="2088751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52648" y="2235055"/>
            <a:ext cx="5486400" cy="579991"/>
          </a:xfrm>
          <a:prstGeom prst="roundRect">
            <a:avLst>
              <a:gd name="adj" fmla="val 11036"/>
            </a:avLst>
          </a:prstGeom>
          <a:solidFill>
            <a:srgbClr val="00C9B7"/>
          </a:solidFill>
        </p:spPr>
      </p:sp>
      <p:sp>
        <p:nvSpPr>
          <p:cNvPr id="10" name="Text 8"/>
          <p:cNvSpPr/>
          <p:nvPr/>
        </p:nvSpPr>
        <p:spPr>
          <a:xfrm>
            <a:off x="3489808" y="2235055"/>
            <a:ext cx="5212080" cy="579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Forms a Candidate Block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2815046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52648" y="2961350"/>
            <a:ext cx="5486400" cy="579991"/>
          </a:xfrm>
          <a:prstGeom prst="roundRect">
            <a:avLst>
              <a:gd name="adj" fmla="val 11036"/>
            </a:avLst>
          </a:prstGeom>
          <a:solidFill>
            <a:srgbClr val="0A1F3D"/>
          </a:solidFill>
        </p:spPr>
      </p:sp>
      <p:sp>
        <p:nvSpPr>
          <p:cNvPr id="13" name="Text 11"/>
          <p:cNvSpPr/>
          <p:nvPr/>
        </p:nvSpPr>
        <p:spPr>
          <a:xfrm>
            <a:off x="3489808" y="2961350"/>
            <a:ext cx="5212080" cy="579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Calculates Block Hash with a Nonce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5848" y="3541341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52648" y="3687645"/>
            <a:ext cx="5486400" cy="579991"/>
          </a:xfrm>
          <a:prstGeom prst="roundRect">
            <a:avLst>
              <a:gd name="adj" fmla="val 11036"/>
            </a:avLst>
          </a:prstGeom>
          <a:solidFill>
            <a:srgbClr val="00C9B7"/>
          </a:solidFill>
        </p:spPr>
      </p:sp>
      <p:sp>
        <p:nvSpPr>
          <p:cNvPr id="16" name="Text 14"/>
          <p:cNvSpPr/>
          <p:nvPr/>
        </p:nvSpPr>
        <p:spPr>
          <a:xfrm>
            <a:off x="3489808" y="3687645"/>
            <a:ext cx="5212080" cy="579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 Hash Against Difficulty Target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5848" y="4267635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352648" y="4413939"/>
            <a:ext cx="5486400" cy="579991"/>
          </a:xfrm>
          <a:prstGeom prst="roundRect">
            <a:avLst>
              <a:gd name="adj" fmla="val 11036"/>
            </a:avLst>
          </a:prstGeom>
          <a:solidFill>
            <a:srgbClr val="0A1F3D"/>
          </a:solidFill>
        </p:spPr>
      </p:sp>
      <p:sp>
        <p:nvSpPr>
          <p:cNvPr id="19" name="Text 17"/>
          <p:cNvSpPr/>
          <p:nvPr/>
        </p:nvSpPr>
        <p:spPr>
          <a:xfrm>
            <a:off x="3489808" y="4413939"/>
            <a:ext cx="5212080" cy="579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Adjusts Nonce &amp; Retries if Needed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5848" y="4993930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352648" y="5140234"/>
            <a:ext cx="5486400" cy="579991"/>
          </a:xfrm>
          <a:prstGeom prst="roundRect">
            <a:avLst>
              <a:gd name="adj" fmla="val 11036"/>
            </a:avLst>
          </a:prstGeom>
          <a:solidFill>
            <a:srgbClr val="00C9B7"/>
          </a:solidFill>
        </p:spPr>
      </p:sp>
      <p:sp>
        <p:nvSpPr>
          <p:cNvPr id="22" name="Text 20"/>
          <p:cNvSpPr/>
          <p:nvPr/>
        </p:nvSpPr>
        <p:spPr>
          <a:xfrm>
            <a:off x="3489808" y="5140234"/>
            <a:ext cx="5212080" cy="579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 Hash Found — Block Broadcast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95848" y="5720225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352648" y="5866529"/>
            <a:ext cx="5486400" cy="579991"/>
          </a:xfrm>
          <a:prstGeom prst="roundRect">
            <a:avLst>
              <a:gd name="adj" fmla="val 11036"/>
            </a:avLst>
          </a:prstGeom>
          <a:solidFill>
            <a:srgbClr val="FFB627"/>
          </a:solidFill>
        </p:spPr>
      </p:sp>
      <p:sp>
        <p:nvSpPr>
          <p:cNvPr id="25" name="Text 23"/>
          <p:cNvSpPr/>
          <p:nvPr/>
        </p:nvSpPr>
        <p:spPr>
          <a:xfrm>
            <a:off x="3489808" y="5866529"/>
            <a:ext cx="5212080" cy="579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Confirms &amp; Miner Earns Reward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Proof of Work — Advantages &amp; Disadvantages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B03A2E"/>
          </a:solidFill>
        </p:spPr>
      </p:sp>
      <p:sp>
        <p:nvSpPr>
          <p:cNvPr id="8" name="Text 6"/>
          <p:cNvSpPr/>
          <p:nvPr/>
        </p:nvSpPr>
        <p:spPr>
          <a:xfrm>
            <a:off x="1417320" y="1792224"/>
            <a:ext cx="4267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Disadvantages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4632808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energy consumption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Expensive specialized hardware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transaction throughput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Slower scalability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278728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E8FBF8"/>
          </a:solidFill>
          <a:ln w="12700">
            <a:solidFill>
              <a:srgbClr val="00C9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28800"/>
            <a:ext cx="365760" cy="365760"/>
          </a:xfrm>
          <a:prstGeom prst="ellipse">
            <a:avLst/>
          </a:prstGeom>
          <a:solidFill>
            <a:srgbClr val="0C8C80"/>
          </a:solidFill>
        </p:spPr>
      </p:sp>
      <p:sp>
        <p:nvSpPr>
          <p:cNvPr id="12" name="Text 10"/>
          <p:cNvSpPr/>
          <p:nvPr/>
        </p:nvSpPr>
        <p:spPr>
          <a:xfrm>
            <a:off x="7055968" y="1792224"/>
            <a:ext cx="4267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8C8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Advantages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98768" y="2441448"/>
            <a:ext cx="4632808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Strong, battle-tested security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degree of decentralization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Resistant to manipulation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Proven at large scale (Bitcoin)</a:t>
            </a:r>
            <a:endParaRPr lang="en-US" sz="128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STAKE-BASED CONSENSUS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Proof of Stake — How It Works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352648" y="1508760"/>
            <a:ext cx="5486400" cy="870509"/>
          </a:xfrm>
          <a:prstGeom prst="roundRect">
            <a:avLst>
              <a:gd name="adj" fmla="val 7353"/>
            </a:avLst>
          </a:prstGeom>
          <a:solidFill>
            <a:srgbClr val="FFB627"/>
          </a:solidFill>
        </p:spPr>
      </p:sp>
      <p:sp>
        <p:nvSpPr>
          <p:cNvPr id="7" name="Text 5"/>
          <p:cNvSpPr/>
          <p:nvPr/>
        </p:nvSpPr>
        <p:spPr>
          <a:xfrm>
            <a:off x="3489808" y="1508760"/>
            <a:ext cx="5212080" cy="8705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Validators Lock Up (Stake) Assets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5848" y="2379269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52648" y="2525573"/>
            <a:ext cx="5486400" cy="870509"/>
          </a:xfrm>
          <a:prstGeom prst="roundRect">
            <a:avLst>
              <a:gd name="adj" fmla="val 7353"/>
            </a:avLst>
          </a:prstGeom>
          <a:solidFill>
            <a:srgbClr val="00C9B7"/>
          </a:solidFill>
        </p:spPr>
      </p:sp>
      <p:sp>
        <p:nvSpPr>
          <p:cNvPr id="10" name="Text 8"/>
          <p:cNvSpPr/>
          <p:nvPr/>
        </p:nvSpPr>
        <p:spPr>
          <a:xfrm>
            <a:off x="3489808" y="2525573"/>
            <a:ext cx="5212080" cy="8705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Selects a Validator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5848" y="3396082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52648" y="3542386"/>
            <a:ext cx="5486400" cy="870509"/>
          </a:xfrm>
          <a:prstGeom prst="roundRect">
            <a:avLst>
              <a:gd name="adj" fmla="val 7353"/>
            </a:avLst>
          </a:prstGeom>
          <a:solidFill>
            <a:srgbClr val="0A1F3D"/>
          </a:solidFill>
        </p:spPr>
      </p:sp>
      <p:sp>
        <p:nvSpPr>
          <p:cNvPr id="13" name="Text 11"/>
          <p:cNvSpPr/>
          <p:nvPr/>
        </p:nvSpPr>
        <p:spPr>
          <a:xfrm>
            <a:off x="3489808" y="3542386"/>
            <a:ext cx="5212080" cy="8705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Validator Proposes / Attests a Block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5848" y="4412894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52648" y="4559198"/>
            <a:ext cx="5486400" cy="870509"/>
          </a:xfrm>
          <a:prstGeom prst="roundRect">
            <a:avLst>
              <a:gd name="adj" fmla="val 7353"/>
            </a:avLst>
          </a:prstGeom>
          <a:solidFill>
            <a:srgbClr val="00C9B7"/>
          </a:solidFill>
        </p:spPr>
      </p:sp>
      <p:sp>
        <p:nvSpPr>
          <p:cNvPr id="16" name="Text 14"/>
          <p:cNvSpPr/>
          <p:nvPr/>
        </p:nvSpPr>
        <p:spPr>
          <a:xfrm>
            <a:off x="3489808" y="4559198"/>
            <a:ext cx="5212080" cy="8705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 Validators Confirm Consensus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5848" y="5429707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352648" y="5576011"/>
            <a:ext cx="5486400" cy="870509"/>
          </a:xfrm>
          <a:prstGeom prst="roundRect">
            <a:avLst>
              <a:gd name="adj" fmla="val 7353"/>
            </a:avLst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3489808" y="5576011"/>
            <a:ext cx="5212080" cy="8705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Rewards Given — Penalties for Misbehavior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PHILOSOPHIES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Proof of Work vs Proof of Stake</a:t>
            </a:r>
            <a:endParaRPr lang="en-US" sz="27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/>
        </p:nvGraphicFramePr>
        <p:xfrm>
          <a:off x="640080" y="1572768"/>
          <a:ext cx="10911535" cy="3200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Factor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Proof of Work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Proof of Stake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Energy Usage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Very high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Significantly lower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Validation Method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Computational puzzle solving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Staked assets &amp; selection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Hardware Needs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Specialized mining rigs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Standard servers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Participation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Open to any miner with hardware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Requires holding stake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Rewards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Block reward + fees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Staking rewards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Risk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51% hash-power attack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Stake concentration / slashing risk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Types of Blockchain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Choosing the right network model for the use case</a:t>
            </a:r>
            <a:endParaRPr lang="en-US" sz="14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MODELS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Types of Blockchain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916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6550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Blockchain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956816"/>
            <a:ext cx="478231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to anyone; fully decentralized. Example: Bitcoin, Ethereum.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263640" y="16916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30568" y="16550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Private Blockchain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30568" y="1956816"/>
            <a:ext cx="478231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Restricted to one organization; centralized control. Example: internal enterprise ledger.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10896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07238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Consortium Blockchain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374136"/>
            <a:ext cx="478231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Governed jointly by a group of organizations. Example: banking consortiums.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263640" y="310896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263640" y="310896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30568" y="307238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Blockchain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30568" y="3374136"/>
            <a:ext cx="478231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Combines public transparency with private restricted access.</a:t>
            </a:r>
            <a:endParaRPr lang="en-US" sz="118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Blockchain Types Comparison</a:t>
            </a:r>
            <a:endParaRPr lang="en-US" sz="27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/>
        </p:nvGraphicFramePr>
        <p:xfrm>
          <a:off x="640080" y="1572768"/>
          <a:ext cx="10911535" cy="2286000"/>
        </p:xfrm>
        <a:graphic>
          <a:graphicData uri="http://schemas.openxmlformats.org/drawingml/2006/table">
            <a:tbl>
              <a:tblPr/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Access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Control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Speed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Example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Public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Open to all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Fully decentralized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Slower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Bitcoin, Ethereum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Private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Restricted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 organization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Fast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Enterprise ledgers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Consortium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Restricted group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Multiple organizations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Fast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Banking networks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Hybrid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Mixed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Partially decentralized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Moderate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Supply chain systems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Cryptocurrency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money built directly on blockchain technology</a:t>
            </a:r>
            <a:endParaRPr lang="en-US" sz="14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MONEY REIMAGINED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Cryptocurrency vs Traditional Currency</a:t>
            </a:r>
            <a:endParaRPr lang="en-US" sz="27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/>
        </p:nvGraphicFramePr>
        <p:xfrm>
          <a:off x="640080" y="1572768"/>
          <a:ext cx="10911535" cy="22860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Aspect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Traditional Currency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Cryptocurrency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Centralization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Issued by central banks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Decentralized issuance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Control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Government / bank controlled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Network / protocol controlled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Transactions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Through banks &amp; processors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Peer-to-peer on blockchain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Transparency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Limited public visibility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Publicly verifiable ledger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FIRST CRYPTOCURRENCY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Bitcoin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Bitcoin?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first decentralized cryptocurrency, launched in 2009.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Was Created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enable peer-to-peer digital payments without banks.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 Characteristics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supply of 21 million coins; secured by Proof of Work.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Relationship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Bitcoin is an application; blockchain is the underlying technology.</a:t>
            </a:r>
            <a:endParaRPr lang="en-US" sz="118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PROGRAMMABLE BLOCKCHAIN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Ethereum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Ethereum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blockchain platform launched in 2015, designed for programmability.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Ether (ETH)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native cryptocurrency used to pay for computation on the network.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Contracts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Self-executing code that runs directly on the blockchain.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Programmable Blockchain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Enables decentralized applications (dApps) beyond simple payments.</a:t>
            </a:r>
            <a:endParaRPr lang="en-US" sz="118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GIANTS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Bitcoin vs Ethereum</a:t>
            </a:r>
            <a:endParaRPr lang="en-US" sz="27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/>
        </p:nvGraphicFramePr>
        <p:xfrm>
          <a:off x="640080" y="1572768"/>
          <a:ext cx="10911535" cy="27432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Bitcoin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Ethereum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Primary Purpose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Digital currency / store of value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Programmable smart contract platform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Launched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2009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2015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Smart Contracts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Very limited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Core feature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Consensus (current)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Proof of Work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Proof of Stake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Supply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Capped at 21 million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fixed hard cap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SELF-EXECUTING CODE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a Smart Contract?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E8FBF8"/>
          </a:solidFill>
          <a:ln w="12700">
            <a:solidFill>
              <a:srgbClr val="00C9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1036289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i="1" dirty="0">
                <a:solidFill>
                  <a:srgbClr val="0A1F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Think of a vending machine: insert the right coins (condition met) and the snack is released automatically — no cashier required.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535528" y="2651760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FB627"/>
          </a:solidFill>
        </p:spPr>
      </p:sp>
      <p:sp>
        <p:nvSpPr>
          <p:cNvPr id="9" name="Text 7"/>
          <p:cNvSpPr/>
          <p:nvPr/>
        </p:nvSpPr>
        <p:spPr>
          <a:xfrm>
            <a:off x="3672688" y="2651760"/>
            <a:ext cx="4846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 Defined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5848" y="3364992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35528" y="3511296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00C9B7"/>
          </a:solidFill>
        </p:spPr>
      </p:sp>
      <p:sp>
        <p:nvSpPr>
          <p:cNvPr id="12" name="Text 10"/>
          <p:cNvSpPr/>
          <p:nvPr/>
        </p:nvSpPr>
        <p:spPr>
          <a:xfrm>
            <a:off x="3672688" y="3511296"/>
            <a:ext cx="4846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Smart Contract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5848" y="4224528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35528" y="4370832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0A1F3D"/>
          </a:solidFill>
        </p:spPr>
      </p:sp>
      <p:sp>
        <p:nvSpPr>
          <p:cNvPr id="15" name="Text 13"/>
          <p:cNvSpPr/>
          <p:nvPr/>
        </p:nvSpPr>
        <p:spPr>
          <a:xfrm>
            <a:off x="3672688" y="4370832"/>
            <a:ext cx="4846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Execution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95848" y="5084064"/>
            <a:ext cx="914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535528" y="5230368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FB627"/>
          </a:solidFill>
        </p:spPr>
      </p:sp>
      <p:sp>
        <p:nvSpPr>
          <p:cNvPr id="18" name="Text 16"/>
          <p:cNvSpPr/>
          <p:nvPr/>
        </p:nvSpPr>
        <p:spPr>
          <a:xfrm>
            <a:off x="3672688" y="5230368"/>
            <a:ext cx="4846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 Delivered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USE, REAL TRADE-OFFS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 Contract Example, Benefits &amp; Limitations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B03A2E"/>
          </a:solidFill>
        </p:spPr>
      </p:sp>
      <p:sp>
        <p:nvSpPr>
          <p:cNvPr id="8" name="Text 6"/>
          <p:cNvSpPr/>
          <p:nvPr/>
        </p:nvSpPr>
        <p:spPr>
          <a:xfrm>
            <a:off x="1417320" y="1792224"/>
            <a:ext cx="4267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Benefits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4632808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Removes need for manual enforcement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Reduces cost and delay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Transparent, auditable logic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auto-release payment on delivery confirmation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278728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28800"/>
            <a:ext cx="365760" cy="365760"/>
          </a:xfrm>
          <a:prstGeom prst="ellipse">
            <a:avLst/>
          </a:prstGeom>
          <a:solidFill>
            <a:srgbClr val="B03A2E"/>
          </a:solidFill>
        </p:spPr>
      </p:sp>
      <p:sp>
        <p:nvSpPr>
          <p:cNvPr id="12" name="Text 10"/>
          <p:cNvSpPr/>
          <p:nvPr/>
        </p:nvSpPr>
        <p:spPr>
          <a:xfrm>
            <a:off x="7055968" y="1792224"/>
            <a:ext cx="4267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Limitations &amp; Risks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98768" y="2441448"/>
            <a:ext cx="4632808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bugs can be exploited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Contracts are hard to modify once deployed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Still depends on accurate outside data ("oracles")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Legal enforceability varies by jurisdiction</a:t>
            </a:r>
            <a:endParaRPr lang="en-US" sz="128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Applications of Blockchain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industries already being transformed</a:t>
            </a:r>
            <a:endParaRPr lang="en-US" sz="14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Applications of Blockchain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535860" cy="2148840"/>
          </a:xfrm>
          <a:prstGeom prst="roundRect">
            <a:avLst>
              <a:gd name="adj" fmla="val 3404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0266" y="1847088"/>
            <a:ext cx="475488" cy="475488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8" name="Text 6"/>
          <p:cNvSpPr/>
          <p:nvPr/>
        </p:nvSpPr>
        <p:spPr>
          <a:xfrm>
            <a:off x="1670266" y="184708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423160"/>
            <a:ext cx="23164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Banking &amp; Finance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8096" y="2743200"/>
            <a:ext cx="2279828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Faster, transparent settlements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31972" y="1645920"/>
            <a:ext cx="2535860" cy="2148840"/>
          </a:xfrm>
          <a:prstGeom prst="roundRect">
            <a:avLst>
              <a:gd name="adj" fmla="val 3404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62158" y="1847088"/>
            <a:ext cx="475488" cy="47548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3" name="Text 11"/>
          <p:cNvSpPr/>
          <p:nvPr/>
        </p:nvSpPr>
        <p:spPr>
          <a:xfrm>
            <a:off x="4462158" y="184708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41700" y="2423160"/>
            <a:ext cx="23164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Supply Chain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59988" y="2743200"/>
            <a:ext cx="2279828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product traceability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23864" y="1645920"/>
            <a:ext cx="2535860" cy="2148840"/>
          </a:xfrm>
          <a:prstGeom prst="roundRect">
            <a:avLst>
              <a:gd name="adj" fmla="val 3404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54050" y="1847088"/>
            <a:ext cx="475488" cy="475488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8" name="Text 16"/>
          <p:cNvSpPr/>
          <p:nvPr/>
        </p:nvSpPr>
        <p:spPr>
          <a:xfrm>
            <a:off x="7254050" y="184708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33592" y="2423160"/>
            <a:ext cx="23164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Healthcare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51880" y="2743200"/>
            <a:ext cx="2279828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Secure, shareable patient records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15755" y="1645920"/>
            <a:ext cx="2535860" cy="2148840"/>
          </a:xfrm>
          <a:prstGeom prst="roundRect">
            <a:avLst>
              <a:gd name="adj" fmla="val 3404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45941" y="1847088"/>
            <a:ext cx="475488" cy="47548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3" name="Text 21"/>
          <p:cNvSpPr/>
          <p:nvPr/>
        </p:nvSpPr>
        <p:spPr>
          <a:xfrm>
            <a:off x="10045941" y="184708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25483" y="2423160"/>
            <a:ext cx="23164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Government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43771" y="2743200"/>
            <a:ext cx="2279828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Tamper-proof public records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050792"/>
            <a:ext cx="2535860" cy="2148840"/>
          </a:xfrm>
          <a:prstGeom prst="roundRect">
            <a:avLst>
              <a:gd name="adj" fmla="val 3404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70266" y="4251960"/>
            <a:ext cx="475488" cy="475488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28" name="Text 26"/>
          <p:cNvSpPr/>
          <p:nvPr/>
        </p:nvSpPr>
        <p:spPr>
          <a:xfrm>
            <a:off x="1670266" y="42519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9808" y="4828032"/>
            <a:ext cx="23164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Education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68096" y="5148072"/>
            <a:ext cx="2279828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Verifiable digital certificates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31972" y="4050792"/>
            <a:ext cx="2535860" cy="2148840"/>
          </a:xfrm>
          <a:prstGeom prst="roundRect">
            <a:avLst>
              <a:gd name="adj" fmla="val 3404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62158" y="4251960"/>
            <a:ext cx="475488" cy="47548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33" name="Text 31"/>
          <p:cNvSpPr/>
          <p:nvPr/>
        </p:nvSpPr>
        <p:spPr>
          <a:xfrm>
            <a:off x="4462158" y="42519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41700" y="4828032"/>
            <a:ext cx="23164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Estate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559988" y="5148072"/>
            <a:ext cx="2279828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Transparent property records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23864" y="4050792"/>
            <a:ext cx="2535860" cy="2148840"/>
          </a:xfrm>
          <a:prstGeom prst="roundRect">
            <a:avLst>
              <a:gd name="adj" fmla="val 3404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54050" y="4251960"/>
            <a:ext cx="475488" cy="475488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38" name="Text 36"/>
          <p:cNvSpPr/>
          <p:nvPr/>
        </p:nvSpPr>
        <p:spPr>
          <a:xfrm>
            <a:off x="7254050" y="42519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33592" y="4828032"/>
            <a:ext cx="23164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Insurance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351880" y="5148072"/>
            <a:ext cx="2279828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Automated, fraud-resistant claims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015755" y="4050792"/>
            <a:ext cx="2535860" cy="2148840"/>
          </a:xfrm>
          <a:prstGeom prst="roundRect">
            <a:avLst>
              <a:gd name="adj" fmla="val 3404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45941" y="4251960"/>
            <a:ext cx="475488" cy="47548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43" name="Text 41"/>
          <p:cNvSpPr/>
          <p:nvPr/>
        </p:nvSpPr>
        <p:spPr>
          <a:xfrm>
            <a:off x="10045941" y="42519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25483" y="4828032"/>
            <a:ext cx="23164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Identity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143771" y="5148072"/>
            <a:ext cx="2279828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User-controlled identity verification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NEXT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NFTs, DeFi &amp; Web3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NFTs (Non-Fungible Tokens)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Unique, verifiable digital ownership of art, collectibles, and assets.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5146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780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 (Decentralized Finance)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79776"/>
            <a:ext cx="103144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Lending, trading, and financial services without traditional banks.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1940905" cy="868680"/>
          </a:xfrm>
          <a:prstGeom prst="roundRect">
            <a:avLst>
              <a:gd name="adj" fmla="val 8421"/>
            </a:avLst>
          </a:prstGeom>
          <a:solidFill>
            <a:srgbClr val="FFB627"/>
          </a:solidFill>
        </p:spPr>
      </p:sp>
      <p:sp>
        <p:nvSpPr>
          <p:cNvPr id="15" name="Text 13"/>
          <p:cNvSpPr/>
          <p:nvPr/>
        </p:nvSpPr>
        <p:spPr>
          <a:xfrm>
            <a:off x="786384" y="3931920"/>
            <a:ext cx="1831177" cy="86868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72425" y="4366260"/>
            <a:ext cx="256032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28457" y="3931920"/>
            <a:ext cx="1940905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</p:spPr>
      </p:sp>
      <p:sp>
        <p:nvSpPr>
          <p:cNvPr id="18" name="Text 16"/>
          <p:cNvSpPr/>
          <p:nvPr/>
        </p:nvSpPr>
        <p:spPr>
          <a:xfrm>
            <a:off x="2983321" y="3931920"/>
            <a:ext cx="1831177" cy="86868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Cryptocurrency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69363" y="4366260"/>
            <a:ext cx="256032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25395" y="3931920"/>
            <a:ext cx="1940905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</p:spPr>
      </p:sp>
      <p:sp>
        <p:nvSpPr>
          <p:cNvPr id="21" name="Text 19"/>
          <p:cNvSpPr/>
          <p:nvPr/>
        </p:nvSpPr>
        <p:spPr>
          <a:xfrm>
            <a:off x="5180259" y="3931920"/>
            <a:ext cx="1831177" cy="86868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Contracts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66300" y="4366260"/>
            <a:ext cx="256032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22332" y="3931920"/>
            <a:ext cx="1940905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</p:spPr>
      </p:sp>
      <p:sp>
        <p:nvSpPr>
          <p:cNvPr id="24" name="Text 22"/>
          <p:cNvSpPr/>
          <p:nvPr/>
        </p:nvSpPr>
        <p:spPr>
          <a:xfrm>
            <a:off x="7377196" y="3931920"/>
            <a:ext cx="1831177" cy="86868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dApps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63238" y="4366260"/>
            <a:ext cx="256032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519270" y="3931920"/>
            <a:ext cx="1940905" cy="868680"/>
          </a:xfrm>
          <a:prstGeom prst="roundRect">
            <a:avLst>
              <a:gd name="adj" fmla="val 8421"/>
            </a:avLst>
          </a:prstGeom>
          <a:solidFill>
            <a:srgbClr val="FFB627"/>
          </a:solidFill>
        </p:spPr>
      </p:sp>
      <p:sp>
        <p:nvSpPr>
          <p:cNvPr id="27" name="Text 25"/>
          <p:cNvSpPr/>
          <p:nvPr/>
        </p:nvSpPr>
        <p:spPr>
          <a:xfrm>
            <a:off x="9574134" y="3931920"/>
            <a:ext cx="1831177" cy="86868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Web3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07492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Web3 is the layered evolution built on top of blockchain’s foundation.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Advantages &amp; Limitations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balanced, honest view of blockchain technology</a:t>
            </a:r>
            <a:endParaRPr lang="en-US" sz="14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STRONG CASE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Advantages of Blockchain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916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6550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Transparency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956816"/>
            <a:ext cx="47823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participants can view the same verified history.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263640" y="16916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30568" y="16550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30568" y="1956816"/>
            <a:ext cx="47823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Cryptography and consensus make records highly tamper-resistant.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0632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0266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Immutability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328416"/>
            <a:ext cx="47823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Confirmed records are extremely difficult to alter.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263640" y="306324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263640" y="30632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30568" y="30266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Decentralization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30568" y="3328416"/>
            <a:ext cx="47823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single point of control or failure.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23" name="Text 21"/>
          <p:cNvSpPr/>
          <p:nvPr/>
        </p:nvSpPr>
        <p:spPr>
          <a:xfrm>
            <a:off x="640080" y="44348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43982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Traceability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07008" y="4700016"/>
            <a:ext cx="47823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transaction can be traced through its full history.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6263640" y="443484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7" name="Text 25"/>
          <p:cNvSpPr/>
          <p:nvPr/>
        </p:nvSpPr>
        <p:spPr>
          <a:xfrm>
            <a:off x="6263640" y="44348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30568" y="43982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Intermediaries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830568" y="4700016"/>
            <a:ext cx="47823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Lowers cost and delay by removing unnecessary middlemen.</a:t>
            </a:r>
            <a:endParaRPr lang="en-US" sz="118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HONEST TRADE-OFFS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Limitations &amp; Security Challenges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B03A2E"/>
          </a:solidFill>
        </p:spPr>
      </p:sp>
      <p:sp>
        <p:nvSpPr>
          <p:cNvPr id="8" name="Text 6"/>
          <p:cNvSpPr/>
          <p:nvPr/>
        </p:nvSpPr>
        <p:spPr>
          <a:xfrm>
            <a:off x="1417320" y="1792224"/>
            <a:ext cx="4267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Practical Limitations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4632808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 constraints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storage &amp; energy requirements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Evolving regulation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fees &amp; user experience friction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278728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28800"/>
            <a:ext cx="365760" cy="365760"/>
          </a:xfrm>
          <a:prstGeom prst="ellipse">
            <a:avLst/>
          </a:prstGeom>
          <a:solidFill>
            <a:srgbClr val="B03A2E"/>
          </a:solidFill>
        </p:spPr>
      </p:sp>
      <p:sp>
        <p:nvSpPr>
          <p:cNvPr id="12" name="Text 10"/>
          <p:cNvSpPr/>
          <p:nvPr/>
        </p:nvSpPr>
        <p:spPr>
          <a:xfrm>
            <a:off x="7055968" y="1792224"/>
            <a:ext cx="4267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Security Challenges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98768" y="2441448"/>
            <a:ext cx="4632808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51% attacks on smaller networks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Private key loss = permanent loss of funds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contract vulnerabilities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Phishing, Sybil attacks, bridge exploits</a:t>
            </a:r>
            <a:endParaRPr lang="en-US" sz="128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Blockchain Ecosystem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wallets, nodes, and applications connect around the network</a:t>
            </a:r>
            <a:endParaRPr lang="en-US" sz="14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CONNECTS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Blockchain Ecosystem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18608" y="3383280"/>
            <a:ext cx="1554480" cy="822960"/>
          </a:xfrm>
          <a:prstGeom prst="ellipse">
            <a:avLst/>
          </a:prstGeom>
          <a:solidFill>
            <a:srgbClr val="0A1F3D"/>
          </a:solidFill>
          <a:ln w="25400">
            <a:solidFill>
              <a:srgbClr val="FFB6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18608" y="3383280"/>
            <a:ext cx="1554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5848" y="2261311"/>
            <a:ext cx="914" cy="1533449"/>
          </a:xfrm>
          <a:prstGeom prst="line">
            <a:avLst/>
          </a:prstGeom>
          <a:noFill/>
          <a:ln w="15875">
            <a:solidFill>
              <a:srgbClr val="C7D6EC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 flipV="1">
            <a:off x="6095848" y="2838670"/>
            <a:ext cx="1537049" cy="956090"/>
          </a:xfrm>
          <a:prstGeom prst="line">
            <a:avLst/>
          </a:prstGeom>
          <a:noFill/>
          <a:ln w="15875">
            <a:solidFill>
              <a:srgbClr val="C7D6EC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095848" y="3794760"/>
            <a:ext cx="1916669" cy="341224"/>
          </a:xfrm>
          <a:prstGeom prst="line">
            <a:avLst/>
          </a:prstGeom>
          <a:noFill/>
          <a:ln w="15875">
            <a:solidFill>
              <a:srgbClr val="C7D6EC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095848" y="3794760"/>
            <a:ext cx="852998" cy="1381590"/>
          </a:xfrm>
          <a:prstGeom prst="line">
            <a:avLst/>
          </a:prstGeom>
          <a:noFill/>
          <a:ln w="15875">
            <a:solidFill>
              <a:srgbClr val="C7D6EC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5242850" y="3794760"/>
            <a:ext cx="852998" cy="1381590"/>
          </a:xfrm>
          <a:prstGeom prst="line">
            <a:avLst/>
          </a:prstGeom>
          <a:noFill/>
          <a:ln w="15875">
            <a:solidFill>
              <a:srgbClr val="C7D6EC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4179178" y="3794760"/>
            <a:ext cx="1916669" cy="341224"/>
          </a:xfrm>
          <a:prstGeom prst="line">
            <a:avLst/>
          </a:prstGeom>
          <a:noFill/>
          <a:ln w="15875">
            <a:solidFill>
              <a:srgbClr val="C7D6EC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4558798" y="2838670"/>
            <a:ext cx="1537049" cy="956090"/>
          </a:xfrm>
          <a:prstGeom prst="line">
            <a:avLst/>
          </a:prstGeom>
          <a:noFill/>
          <a:ln w="15875">
            <a:solidFill>
              <a:srgbClr val="C7D6EC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318608" y="2005279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00C9B7"/>
          </a:solidFill>
        </p:spPr>
      </p:sp>
      <p:sp>
        <p:nvSpPr>
          <p:cNvPr id="16" name="Text 14"/>
          <p:cNvSpPr/>
          <p:nvPr/>
        </p:nvSpPr>
        <p:spPr>
          <a:xfrm>
            <a:off x="5318608" y="2005279"/>
            <a:ext cx="1554480" cy="512064"/>
          </a:xfrm>
          <a:prstGeom prst="rect">
            <a:avLst/>
          </a:prstGeom>
          <a:noFill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5657" y="2582638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FFB627"/>
          </a:solidFill>
        </p:spPr>
      </p:sp>
      <p:sp>
        <p:nvSpPr>
          <p:cNvPr id="18" name="Text 16"/>
          <p:cNvSpPr/>
          <p:nvPr/>
        </p:nvSpPr>
        <p:spPr>
          <a:xfrm>
            <a:off x="6855657" y="2582638"/>
            <a:ext cx="1554480" cy="512064"/>
          </a:xfrm>
          <a:prstGeom prst="rect">
            <a:avLst/>
          </a:prstGeom>
          <a:noFill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Wallets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35277" y="3879952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00C9B7"/>
          </a:solidFill>
        </p:spPr>
      </p:sp>
      <p:sp>
        <p:nvSpPr>
          <p:cNvPr id="20" name="Text 18"/>
          <p:cNvSpPr/>
          <p:nvPr/>
        </p:nvSpPr>
        <p:spPr>
          <a:xfrm>
            <a:off x="7235277" y="3879952"/>
            <a:ext cx="1554480" cy="512064"/>
          </a:xfrm>
          <a:prstGeom prst="rect">
            <a:avLst/>
          </a:prstGeom>
          <a:noFill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Exchanges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1606" y="4920318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FFB627"/>
          </a:solidFill>
        </p:spPr>
      </p:sp>
      <p:sp>
        <p:nvSpPr>
          <p:cNvPr id="22" name="Text 20"/>
          <p:cNvSpPr/>
          <p:nvPr/>
        </p:nvSpPr>
        <p:spPr>
          <a:xfrm>
            <a:off x="6171606" y="4920318"/>
            <a:ext cx="1554480" cy="512064"/>
          </a:xfrm>
          <a:prstGeom prst="rect">
            <a:avLst/>
          </a:prstGeom>
          <a:noFill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65610" y="4920318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00C9B7"/>
          </a:solidFill>
        </p:spPr>
      </p:sp>
      <p:sp>
        <p:nvSpPr>
          <p:cNvPr id="24" name="Text 22"/>
          <p:cNvSpPr/>
          <p:nvPr/>
        </p:nvSpPr>
        <p:spPr>
          <a:xfrm>
            <a:off x="4465610" y="4920318"/>
            <a:ext cx="1554480" cy="512064"/>
          </a:xfrm>
          <a:prstGeom prst="rect">
            <a:avLst/>
          </a:prstGeom>
          <a:noFill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Miners / Validators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01938" y="3879952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FFB627"/>
          </a:solidFill>
        </p:spPr>
      </p:sp>
      <p:sp>
        <p:nvSpPr>
          <p:cNvPr id="26" name="Text 24"/>
          <p:cNvSpPr/>
          <p:nvPr/>
        </p:nvSpPr>
        <p:spPr>
          <a:xfrm>
            <a:off x="3401938" y="3879952"/>
            <a:ext cx="1554480" cy="512064"/>
          </a:xfrm>
          <a:prstGeom prst="rect">
            <a:avLst/>
          </a:prstGeom>
          <a:noFill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Contracts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81558" y="2582638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00C9B7"/>
          </a:solidFill>
        </p:spPr>
      </p:sp>
      <p:sp>
        <p:nvSpPr>
          <p:cNvPr id="28" name="Text 26"/>
          <p:cNvSpPr/>
          <p:nvPr/>
        </p:nvSpPr>
        <p:spPr>
          <a:xfrm>
            <a:off x="3781558" y="2582638"/>
            <a:ext cx="1554480" cy="512064"/>
          </a:xfrm>
          <a:prstGeom prst="rect">
            <a:avLst/>
          </a:prstGeom>
          <a:noFill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dApps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&amp; IDENTITY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Wallets &amp; Public / Private Keys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B03A2E"/>
          </a:solidFill>
        </p:spPr>
      </p:sp>
      <p:sp>
        <p:nvSpPr>
          <p:cNvPr id="8" name="Text 6"/>
          <p:cNvSpPr/>
          <p:nvPr/>
        </p:nvSpPr>
        <p:spPr>
          <a:xfrm>
            <a:off x="1417320" y="1792224"/>
            <a:ext cx="4267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Wallets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4632808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Address — shareable, like an account number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Private Key — secret, proves ownership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Custodial — a third party holds your keys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Non-Custodial — you alone control your keys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278728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E8FBF8"/>
          </a:solidFill>
          <a:ln w="12700">
            <a:solidFill>
              <a:srgbClr val="00C9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28800"/>
            <a:ext cx="365760" cy="365760"/>
          </a:xfrm>
          <a:prstGeom prst="ellipse">
            <a:avLst/>
          </a:prstGeom>
          <a:solidFill>
            <a:srgbClr val="0C8C80"/>
          </a:solidFill>
        </p:spPr>
      </p:sp>
      <p:sp>
        <p:nvSpPr>
          <p:cNvPr id="12" name="Text 10"/>
          <p:cNvSpPr/>
          <p:nvPr/>
        </p:nvSpPr>
        <p:spPr>
          <a:xfrm>
            <a:off x="7055968" y="1792224"/>
            <a:ext cx="4267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8C8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Public Key vs Private Key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98768" y="2441448"/>
            <a:ext cx="4632808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Key: shared openly, used to receive funds or verify signatures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Private Key: kept secret, used to sign and authorize transactions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Whoever holds the private key controls the funds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Losing a private key means permanently losing access</a:t>
            </a:r>
            <a:endParaRPr lang="en-US" sz="128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Blockchain in Context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Comparisons, the road ahead, and career pathways</a:t>
            </a:r>
            <a:endParaRPr lang="en-US" sz="14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RELATES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Blockchain vs Other Technologies</a:t>
            </a:r>
            <a:endParaRPr lang="en-US" sz="27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/>
        </p:nvGraphicFramePr>
        <p:xfrm>
          <a:off x="640080" y="1572768"/>
          <a:ext cx="10911536" cy="4114800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Technology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Relationship to Blockchain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Database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Blockchain trades some speed &amp; flexibility for decentralization and immutability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Cloud Computing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Cloud centralizes infrastructure; blockchain can run on top of cloud while staying decentralized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Artificial Intelligence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 can analyze on-chain data; blockchain can verify the provenance of AI training data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Internet of Things (IoT)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3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Blockchain can securely log data from millions of connected devices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of Blockchain &amp; Enterprise Adoption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 Adoption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 organizations are piloting blockchain for supply chain, finance, and identity.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Interoperability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networks aim to communicate seamlessly across different blockchains.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 Solutions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Layer-2 networks and new consensus designs are improving speed and cost.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Regulation Maturing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Clearer legal frameworks are emerging worldwide for blockchain and crypto.</a:t>
            </a:r>
            <a:endParaRPr lang="en-US" sz="118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YOUR PATH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Career Opportunities &amp; Skills Required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FDEDED"/>
          </a:solidFill>
          <a:ln w="12700">
            <a:solidFill>
              <a:srgbClr val="E8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B03A2E"/>
          </a:solidFill>
        </p:spPr>
      </p:sp>
      <p:sp>
        <p:nvSpPr>
          <p:cNvPr id="8" name="Text 6"/>
          <p:cNvSpPr/>
          <p:nvPr/>
        </p:nvSpPr>
        <p:spPr>
          <a:xfrm>
            <a:off x="1417320" y="1792224"/>
            <a:ext cx="4267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Career Roles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4632808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Developer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Contract / Solidity Developer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Web3 Developer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Architect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Security Engineer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Analyst / Researcher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278728" y="1572768"/>
            <a:ext cx="5272888" cy="4297680"/>
          </a:xfrm>
          <a:prstGeom prst="roundRect">
            <a:avLst>
              <a:gd name="adj" fmla="val 1915"/>
            </a:avLst>
          </a:prstGeom>
          <a:solidFill>
            <a:srgbClr val="E8FBF8"/>
          </a:solidFill>
          <a:ln w="12700">
            <a:solidFill>
              <a:srgbClr val="00C9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28800"/>
            <a:ext cx="365760" cy="365760"/>
          </a:xfrm>
          <a:prstGeom prst="ellipse">
            <a:avLst/>
          </a:prstGeom>
          <a:solidFill>
            <a:srgbClr val="0C8C80"/>
          </a:solidFill>
        </p:spPr>
      </p:sp>
      <p:sp>
        <p:nvSpPr>
          <p:cNvPr id="12" name="Text 10"/>
          <p:cNvSpPr/>
          <p:nvPr/>
        </p:nvSpPr>
        <p:spPr>
          <a:xfrm>
            <a:off x="7055968" y="1792224"/>
            <a:ext cx="4267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8C8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Skills Needed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98768" y="2441448"/>
            <a:ext cx="4632808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Programming fundamentals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Cryptography basics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architecture &amp; Solidity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development &amp; APIs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Databases &amp; security practices</a:t>
            </a:r>
            <a:endParaRPr lang="en-US" sz="128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Familiarity with Web3 tools</a:t>
            </a:r>
            <a:endParaRPr lang="en-US" sz="128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32720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332720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203803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332720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0332720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9461637" y="136794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61637" y="136794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461637" y="64373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461637" y="64373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9461637" y="28163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461637" y="28163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461637" y="64373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73284" y="22219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4367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44367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3284" y="1670609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2201" y="130850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2201" y="58430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0" cy="173736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423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761488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Day 1 Recap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9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Consolidating everything covered today</a:t>
            </a:r>
            <a:endParaRPr lang="en-US" sz="14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CIRCLE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Day 1 Summary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blockchain is and the problems it solves versus centralized systems.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Mechanics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Blocks, hashing, distributed ledgers, and how transactions travel end-to-end.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Cryptography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Encryption, AES, DES, RSA, and digital signatures securing the network.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Consensus &amp; Coins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Proof of Work, Proof of Stake, Bitcoin, and Ethereum.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40080" y="5184648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23" name="Text 21"/>
          <p:cNvSpPr/>
          <p:nvPr/>
        </p:nvSpPr>
        <p:spPr>
          <a:xfrm>
            <a:off x="640080" y="51846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5148072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World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07008" y="5449824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contracts, industry applications, and blockchain’s future.</a:t>
            </a:r>
            <a:endParaRPr lang="en-US" sz="118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REMEMBER THIS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55448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1790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is a shared, tamper-evident digital ledger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1207008" y="1819656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263640" y="155448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30568" y="151790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Decentralization removes the need for a single trusted authority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6830568" y="1819656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" dirty="0"/>
          </a:p>
        </p:txBody>
      </p:sp>
      <p:sp>
        <p:nvSpPr>
          <p:cNvPr id="14" name="Shape 12"/>
          <p:cNvSpPr/>
          <p:nvPr/>
        </p:nvSpPr>
        <p:spPr>
          <a:xfrm>
            <a:off x="640080" y="233172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23317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229514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Hashing links blocks together and makes tampering detectable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1207008" y="2596896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" dirty="0"/>
          </a:p>
        </p:txBody>
      </p:sp>
      <p:sp>
        <p:nvSpPr>
          <p:cNvPr id="18" name="Shape 16"/>
          <p:cNvSpPr/>
          <p:nvPr/>
        </p:nvSpPr>
        <p:spPr>
          <a:xfrm>
            <a:off x="6263640" y="233172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263640" y="23317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30568" y="229514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Cryptography secures identity, ownership, and authenticity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6830568" y="2596896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" dirty="0"/>
          </a:p>
        </p:txBody>
      </p:sp>
      <p:sp>
        <p:nvSpPr>
          <p:cNvPr id="22" name="Shape 20"/>
          <p:cNvSpPr/>
          <p:nvPr/>
        </p:nvSpPr>
        <p:spPr>
          <a:xfrm>
            <a:off x="640080" y="310896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23" name="Text 21"/>
          <p:cNvSpPr/>
          <p:nvPr/>
        </p:nvSpPr>
        <p:spPr>
          <a:xfrm>
            <a:off x="640080" y="310896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307238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Consensus mechanisms let nodes agree without a central boss</a:t>
            </a:r>
            <a:endParaRPr lang="en-US" sz="1230" dirty="0"/>
          </a:p>
        </p:txBody>
      </p:sp>
      <p:sp>
        <p:nvSpPr>
          <p:cNvPr id="25" name="Text 23"/>
          <p:cNvSpPr/>
          <p:nvPr/>
        </p:nvSpPr>
        <p:spPr>
          <a:xfrm>
            <a:off x="1207008" y="3374136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" dirty="0"/>
          </a:p>
        </p:txBody>
      </p:sp>
      <p:sp>
        <p:nvSpPr>
          <p:cNvPr id="26" name="Shape 24"/>
          <p:cNvSpPr/>
          <p:nvPr/>
        </p:nvSpPr>
        <p:spPr>
          <a:xfrm>
            <a:off x="6263640" y="310896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7" name="Text 25"/>
          <p:cNvSpPr/>
          <p:nvPr/>
        </p:nvSpPr>
        <p:spPr>
          <a:xfrm>
            <a:off x="6263640" y="310896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30568" y="307238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Proof of Work relies on computation; Proof of Stake relies on staked assets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6830568" y="3374136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" dirty="0"/>
          </a:p>
        </p:txBody>
      </p:sp>
      <p:sp>
        <p:nvSpPr>
          <p:cNvPr id="30" name="Shape 28"/>
          <p:cNvSpPr/>
          <p:nvPr/>
        </p:nvSpPr>
        <p:spPr>
          <a:xfrm>
            <a:off x="640080" y="3886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31" name="Text 29"/>
          <p:cNvSpPr/>
          <p:nvPr/>
        </p:nvSpPr>
        <p:spPr>
          <a:xfrm>
            <a:off x="640080" y="3886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07008" y="384962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Bitcoin is a currency; blockchain is the technology beneath it</a:t>
            </a:r>
            <a:endParaRPr lang="en-US" sz="1230" dirty="0"/>
          </a:p>
        </p:txBody>
      </p:sp>
      <p:sp>
        <p:nvSpPr>
          <p:cNvPr id="33" name="Text 31"/>
          <p:cNvSpPr/>
          <p:nvPr/>
        </p:nvSpPr>
        <p:spPr>
          <a:xfrm>
            <a:off x="1207008" y="4151376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" dirty="0"/>
          </a:p>
        </p:txBody>
      </p:sp>
      <p:sp>
        <p:nvSpPr>
          <p:cNvPr id="34" name="Shape 32"/>
          <p:cNvSpPr/>
          <p:nvPr/>
        </p:nvSpPr>
        <p:spPr>
          <a:xfrm>
            <a:off x="6263640" y="388620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35" name="Text 33"/>
          <p:cNvSpPr/>
          <p:nvPr/>
        </p:nvSpPr>
        <p:spPr>
          <a:xfrm>
            <a:off x="6263640" y="3886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30568" y="384962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contracts let agreements execute automatically</a:t>
            </a:r>
            <a:endParaRPr lang="en-US" sz="1230" dirty="0"/>
          </a:p>
        </p:txBody>
      </p:sp>
      <p:sp>
        <p:nvSpPr>
          <p:cNvPr id="37" name="Text 35"/>
          <p:cNvSpPr/>
          <p:nvPr/>
        </p:nvSpPr>
        <p:spPr>
          <a:xfrm>
            <a:off x="6830568" y="4151376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" dirty="0"/>
          </a:p>
        </p:txBody>
      </p:sp>
      <p:sp>
        <p:nvSpPr>
          <p:cNvPr id="38" name="Shape 36"/>
          <p:cNvSpPr/>
          <p:nvPr/>
        </p:nvSpPr>
        <p:spPr>
          <a:xfrm>
            <a:off x="640080" y="466344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39" name="Text 37"/>
          <p:cNvSpPr/>
          <p:nvPr/>
        </p:nvSpPr>
        <p:spPr>
          <a:xfrm>
            <a:off x="640080" y="46634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207008" y="46268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Public, private, consortium, and hybrid chains suit different needs</a:t>
            </a:r>
            <a:endParaRPr lang="en-US" sz="1230" dirty="0"/>
          </a:p>
        </p:txBody>
      </p:sp>
      <p:sp>
        <p:nvSpPr>
          <p:cNvPr id="41" name="Text 39"/>
          <p:cNvSpPr/>
          <p:nvPr/>
        </p:nvSpPr>
        <p:spPr>
          <a:xfrm>
            <a:off x="1207008" y="4928616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" dirty="0"/>
          </a:p>
        </p:txBody>
      </p:sp>
      <p:sp>
        <p:nvSpPr>
          <p:cNvPr id="42" name="Shape 40"/>
          <p:cNvSpPr/>
          <p:nvPr/>
        </p:nvSpPr>
        <p:spPr>
          <a:xfrm>
            <a:off x="6263640" y="466344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43" name="Text 41"/>
          <p:cNvSpPr/>
          <p:nvPr/>
        </p:nvSpPr>
        <p:spPr>
          <a:xfrm>
            <a:off x="6263640" y="46634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830568" y="46268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still faces real limits: scalability, energy, and regulation</a:t>
            </a:r>
            <a:endParaRPr lang="en-US" sz="1230" dirty="0"/>
          </a:p>
        </p:txBody>
      </p:sp>
      <p:sp>
        <p:nvSpPr>
          <p:cNvPr id="45" name="Text 43"/>
          <p:cNvSpPr/>
          <p:nvPr/>
        </p:nvSpPr>
        <p:spPr>
          <a:xfrm>
            <a:off x="6830568" y="4928616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" dirty="0"/>
          </a:p>
        </p:txBody>
      </p:sp>
      <p:sp>
        <p:nvSpPr>
          <p:cNvPr id="46" name="Shape 44"/>
          <p:cNvSpPr/>
          <p:nvPr/>
        </p:nvSpPr>
        <p:spPr>
          <a:xfrm>
            <a:off x="640080" y="544068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7" name="Text 45"/>
          <p:cNvSpPr/>
          <p:nvPr/>
        </p:nvSpPr>
        <p:spPr>
          <a:xfrm>
            <a:off x="640080" y="544068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207008" y="540410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Applications span finance, healthcare, supply chain, and government</a:t>
            </a:r>
            <a:endParaRPr lang="en-US" sz="1230" dirty="0"/>
          </a:p>
        </p:txBody>
      </p:sp>
      <p:sp>
        <p:nvSpPr>
          <p:cNvPr id="49" name="Text 47"/>
          <p:cNvSpPr/>
          <p:nvPr/>
        </p:nvSpPr>
        <p:spPr>
          <a:xfrm>
            <a:off x="1207008" y="5705856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" dirty="0"/>
          </a:p>
        </p:txBody>
      </p:sp>
      <p:sp>
        <p:nvSpPr>
          <p:cNvPr id="50" name="Shape 48"/>
          <p:cNvSpPr/>
          <p:nvPr/>
        </p:nvSpPr>
        <p:spPr>
          <a:xfrm>
            <a:off x="6263640" y="5440680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51" name="Text 49"/>
          <p:cNvSpPr/>
          <p:nvPr/>
        </p:nvSpPr>
        <p:spPr>
          <a:xfrm>
            <a:off x="6263640" y="544068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830568" y="540410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Web3 builds identity, apps, and finance on top of blockchain</a:t>
            </a:r>
            <a:endParaRPr lang="en-US" sz="1230" dirty="0"/>
          </a:p>
        </p:txBody>
      </p:sp>
      <p:sp>
        <p:nvSpPr>
          <p:cNvPr id="53" name="Text 51"/>
          <p:cNvSpPr/>
          <p:nvPr/>
        </p:nvSpPr>
        <p:spPr>
          <a:xfrm>
            <a:off x="6830568" y="5705856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 PROMPTS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Quick Knowledge Check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6002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problem does decentralization solve?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640080" y="2221992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2221992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can’t a hash be reversed to find its input?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640080" y="2843784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843784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stored inside a block?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40080" y="3465576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3465576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does Proof of Work confirm a new block?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640080" y="4087368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408736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the difference between Bitcoin and blockchain?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6126480" y="16002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10528" y="16002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is a private key never shared?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6126480" y="2221992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10528" y="2221992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makes Proof of Stake more energy-efficient?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6126480" y="2843784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0528" y="2843784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does a digital signature actually prove?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6126480" y="3465576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0528" y="3465576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 one real-world blockchain application.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6126480" y="4087368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0528" y="408736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triggers a smart contract to execute?</a:t>
            </a:r>
            <a:endParaRPr lang="en-US" sz="128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YOURSELF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Mini Quiz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1544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Q1. What does a hash function guarantee?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084832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A) Reversibility    B) Fixed-length output    C) Encryption    D) Compression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4592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Q2. Which consensus mechanism uses staking?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2084832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A) Proof of Work    B) Proof of Stake    C) Hashing    D) RSA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4612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Q3. Bitcoin’s maximum supply is capped at: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685032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A) 10 million    B) 21 million    C) Unlimited    D) 100 million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263640" y="315468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24612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Q4. Smart contracts primarily run on: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685032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A) Ethereum-style platforms    B) Traditional banks    C) Central servers    D) Paper ledgers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40080" y="475488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84632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Q5. AES is an example of: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285232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A) Asymmetric encryption    B) Symmetric encryption    C) Hashing    D) A consensus model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263640" y="475488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2F6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84632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Q6. A private key is used to: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5285232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A) Share publicly    B) Sign transactions    C) Mine blocks    D) Store passwords</a:t>
            </a:r>
            <a:endParaRPr lang="en-US" sz="103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6" y="417576"/>
            <a:ext cx="1688465" cy="5016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E1E1E"/>
                </a:solidFill>
                <a:latin typeface="Arial" panose="020B0604020202020204"/>
              </a:defRPr>
            </a:pPr>
            <a:r>
              <a:rPr sz="2665"/>
              <a:t>Mini Quiz</a:t>
            </a:r>
            <a:endParaRPr sz="2665"/>
          </a:p>
        </p:txBody>
      </p:sp>
      <p:sp>
        <p:nvSpPr>
          <p:cNvPr id="3" name="Rounded Rectangle 2"/>
          <p:cNvSpPr/>
          <p:nvPr/>
        </p:nvSpPr>
        <p:spPr>
          <a:xfrm>
            <a:off x="121920" y="1234440"/>
            <a:ext cx="5852160" cy="1316736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316992" y="1356359"/>
            <a:ext cx="2700020" cy="266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E1E1E"/>
                </a:solidFill>
                <a:latin typeface="Arial" panose="020B0604020202020204"/>
              </a:defRPr>
            </a:pPr>
            <a:r>
              <a:rPr sz="1135"/>
              <a:t>Q7. Blockchain is best described as:</a:t>
            </a:r>
            <a:endParaRPr sz="1135"/>
          </a:p>
        </p:txBody>
      </p:sp>
      <p:sp>
        <p:nvSpPr>
          <p:cNvPr id="5" name="TextBox 4"/>
          <p:cNvSpPr txBox="1"/>
          <p:nvPr/>
        </p:nvSpPr>
        <p:spPr>
          <a:xfrm>
            <a:off x="316992" y="1819656"/>
            <a:ext cx="2705735" cy="38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A) Centralized database   B) Distributed ledger</a:t>
            </a:r>
            <a:endParaRPr sz="960"/>
          </a:p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C) Search engine   D) Operating system</a:t>
            </a:r>
            <a:endParaRPr sz="960"/>
          </a:p>
        </p:txBody>
      </p:sp>
      <p:sp>
        <p:nvSpPr>
          <p:cNvPr id="6" name="Rounded Rectangle 5"/>
          <p:cNvSpPr/>
          <p:nvPr/>
        </p:nvSpPr>
        <p:spPr>
          <a:xfrm>
            <a:off x="6156960" y="1234440"/>
            <a:ext cx="5852160" cy="1316736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6352032" y="1356359"/>
            <a:ext cx="2160270" cy="266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E1E1E"/>
                </a:solidFill>
                <a:latin typeface="Arial" panose="020B0604020202020204"/>
              </a:defRPr>
            </a:pPr>
            <a:r>
              <a:rPr sz="1135"/>
              <a:t>Q8. A block mainly contains:</a:t>
            </a:r>
            <a:endParaRPr sz="1135"/>
          </a:p>
        </p:txBody>
      </p:sp>
      <p:sp>
        <p:nvSpPr>
          <p:cNvPr id="8" name="TextBox 7"/>
          <p:cNvSpPr txBox="1"/>
          <p:nvPr/>
        </p:nvSpPr>
        <p:spPr>
          <a:xfrm>
            <a:off x="6352032" y="1819656"/>
            <a:ext cx="2799080" cy="38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A) Transactions and a hash   B) Only passwords</a:t>
            </a:r>
            <a:endParaRPr sz="960"/>
          </a:p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C) Images only   D) Usernames only</a:t>
            </a:r>
            <a:endParaRPr sz="960"/>
          </a:p>
        </p:txBody>
      </p:sp>
      <p:sp>
        <p:nvSpPr>
          <p:cNvPr id="9" name="Rounded Rectangle 8"/>
          <p:cNvSpPr/>
          <p:nvPr/>
        </p:nvSpPr>
        <p:spPr>
          <a:xfrm>
            <a:off x="121920" y="2880359"/>
            <a:ext cx="5852160" cy="1316736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316992" y="3002280"/>
            <a:ext cx="3099435" cy="266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E1E1E"/>
                </a:solidFill>
                <a:latin typeface="Arial" panose="020B0604020202020204"/>
              </a:defRPr>
            </a:pPr>
            <a:r>
              <a:rPr sz="1135"/>
              <a:t>Q9. Which is used to link blocks together?</a:t>
            </a:r>
            <a:endParaRPr sz="1135"/>
          </a:p>
        </p:txBody>
      </p:sp>
      <p:sp>
        <p:nvSpPr>
          <p:cNvPr id="11" name="TextBox 10"/>
          <p:cNvSpPr txBox="1"/>
          <p:nvPr/>
        </p:nvSpPr>
        <p:spPr>
          <a:xfrm>
            <a:off x="316992" y="3465576"/>
            <a:ext cx="1463040" cy="38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A) Hash   B) IP address</a:t>
            </a:r>
            <a:endParaRPr sz="960"/>
          </a:p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C) Email   D) Password</a:t>
            </a:r>
            <a:endParaRPr sz="960"/>
          </a:p>
        </p:txBody>
      </p:sp>
      <p:sp>
        <p:nvSpPr>
          <p:cNvPr id="12" name="Rounded Rectangle 11"/>
          <p:cNvSpPr/>
          <p:nvPr/>
        </p:nvSpPr>
        <p:spPr>
          <a:xfrm>
            <a:off x="6156960" y="2880359"/>
            <a:ext cx="5852160" cy="1316736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6352032" y="3002280"/>
            <a:ext cx="2874645" cy="266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E1E1E"/>
                </a:solidFill>
                <a:latin typeface="Arial" panose="020B0604020202020204"/>
              </a:defRPr>
            </a:pPr>
            <a:r>
              <a:rPr sz="1135"/>
              <a:t>Q10. What does a blockchain node do?</a:t>
            </a:r>
            <a:endParaRPr sz="1135"/>
          </a:p>
        </p:txBody>
      </p:sp>
      <p:sp>
        <p:nvSpPr>
          <p:cNvPr id="14" name="TextBox 13"/>
          <p:cNvSpPr txBox="1"/>
          <p:nvPr/>
        </p:nvSpPr>
        <p:spPr>
          <a:xfrm>
            <a:off x="6352032" y="3465576"/>
            <a:ext cx="3199130" cy="38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A) Stores and verifies blockchain data   B) Prints money</a:t>
            </a:r>
            <a:endParaRPr sz="960"/>
          </a:p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C) Creates websites   D) Sends emails</a:t>
            </a:r>
            <a:endParaRPr sz="960"/>
          </a:p>
        </p:txBody>
      </p:sp>
      <p:sp>
        <p:nvSpPr>
          <p:cNvPr id="15" name="Rounded Rectangle 14"/>
          <p:cNvSpPr/>
          <p:nvPr/>
        </p:nvSpPr>
        <p:spPr>
          <a:xfrm>
            <a:off x="121920" y="4526280"/>
            <a:ext cx="5852160" cy="1316736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316992" y="4648200"/>
            <a:ext cx="2385060" cy="266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E1E1E"/>
                </a:solidFill>
                <a:latin typeface="Arial" panose="020B0604020202020204"/>
              </a:defRPr>
            </a:pPr>
            <a:r>
              <a:rPr sz="1135"/>
              <a:t>Q11. Bitcoin was introduced by:</a:t>
            </a:r>
            <a:endParaRPr sz="1135"/>
          </a:p>
        </p:txBody>
      </p:sp>
      <p:sp>
        <p:nvSpPr>
          <p:cNvPr id="17" name="TextBox 16"/>
          <p:cNvSpPr txBox="1"/>
          <p:nvPr/>
        </p:nvSpPr>
        <p:spPr>
          <a:xfrm>
            <a:off x="316992" y="5111496"/>
            <a:ext cx="2338070" cy="38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A) Vitalik Buterin   B) Satoshi Nakamoto</a:t>
            </a:r>
            <a:endParaRPr sz="960"/>
          </a:p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C) Elon Musk   D) Bill Gates</a:t>
            </a:r>
            <a:endParaRPr sz="960"/>
          </a:p>
        </p:txBody>
      </p:sp>
      <p:sp>
        <p:nvSpPr>
          <p:cNvPr id="18" name="Rounded Rectangle 17"/>
          <p:cNvSpPr/>
          <p:nvPr/>
        </p:nvSpPr>
        <p:spPr>
          <a:xfrm>
            <a:off x="6156960" y="4526280"/>
            <a:ext cx="5852160" cy="1316736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6352032" y="4648200"/>
            <a:ext cx="4629150" cy="266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E1E1E"/>
                </a:solidFill>
                <a:latin typeface="Arial" panose="020B0604020202020204"/>
              </a:defRPr>
            </a:pPr>
            <a:r>
              <a:rPr sz="1135"/>
              <a:t>Q12. Which property makes blockchain records difficult to alter?</a:t>
            </a:r>
            <a:endParaRPr sz="1135"/>
          </a:p>
        </p:txBody>
      </p:sp>
      <p:sp>
        <p:nvSpPr>
          <p:cNvPr id="20" name="TextBox 19"/>
          <p:cNvSpPr txBox="1"/>
          <p:nvPr/>
        </p:nvSpPr>
        <p:spPr>
          <a:xfrm>
            <a:off x="6352032" y="5111496"/>
            <a:ext cx="2190115" cy="38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A) Immutability   B) Compression</a:t>
            </a:r>
            <a:endParaRPr sz="960"/>
          </a:p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C) Encryption only   D) Centralization</a:t>
            </a:r>
            <a:endParaRPr sz="96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6" y="417576"/>
            <a:ext cx="1688465" cy="5016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E1E1E"/>
                </a:solidFill>
                <a:latin typeface="Arial" panose="020B0604020202020204"/>
              </a:defRPr>
            </a:pPr>
            <a:r>
              <a:rPr sz="2665"/>
              <a:t>Mini Quiz</a:t>
            </a:r>
            <a:endParaRPr sz="2665"/>
          </a:p>
        </p:txBody>
      </p:sp>
      <p:sp>
        <p:nvSpPr>
          <p:cNvPr id="3" name="Rounded Rectangle 2"/>
          <p:cNvSpPr/>
          <p:nvPr/>
        </p:nvSpPr>
        <p:spPr>
          <a:xfrm>
            <a:off x="121920" y="1234440"/>
            <a:ext cx="5852160" cy="1316736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316992" y="1356359"/>
            <a:ext cx="2256790" cy="266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E1E1E"/>
                </a:solidFill>
                <a:latin typeface="Arial" panose="020B0604020202020204"/>
              </a:defRPr>
            </a:pPr>
            <a:r>
              <a:rPr sz="1135"/>
              <a:t>Q13. What is a genesis block?</a:t>
            </a:r>
            <a:endParaRPr sz="1135"/>
          </a:p>
        </p:txBody>
      </p:sp>
      <p:sp>
        <p:nvSpPr>
          <p:cNvPr id="5" name="TextBox 4"/>
          <p:cNvSpPr txBox="1"/>
          <p:nvPr/>
        </p:nvSpPr>
        <p:spPr>
          <a:xfrm>
            <a:off x="316992" y="1819656"/>
            <a:ext cx="2282825" cy="38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A) The first block   B) The largest block</a:t>
            </a:r>
            <a:endParaRPr sz="960"/>
          </a:p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C) The last block   D) A deleted block</a:t>
            </a:r>
            <a:endParaRPr sz="960"/>
          </a:p>
        </p:txBody>
      </p:sp>
      <p:sp>
        <p:nvSpPr>
          <p:cNvPr id="6" name="Rounded Rectangle 5"/>
          <p:cNvSpPr/>
          <p:nvPr/>
        </p:nvSpPr>
        <p:spPr>
          <a:xfrm>
            <a:off x="6156960" y="1234440"/>
            <a:ext cx="5852160" cy="1316736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6352032" y="1356359"/>
            <a:ext cx="3470910" cy="266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E1E1E"/>
                </a:solidFill>
                <a:latin typeface="Arial" panose="020B0604020202020204"/>
              </a:defRPr>
            </a:pPr>
            <a:r>
              <a:rPr sz="1135"/>
              <a:t>Q14. Which key is normally shared with others?</a:t>
            </a:r>
            <a:endParaRPr sz="1135"/>
          </a:p>
        </p:txBody>
      </p:sp>
      <p:sp>
        <p:nvSpPr>
          <p:cNvPr id="8" name="TextBox 7"/>
          <p:cNvSpPr txBox="1"/>
          <p:nvPr/>
        </p:nvSpPr>
        <p:spPr>
          <a:xfrm>
            <a:off x="6352032" y="1819656"/>
            <a:ext cx="1884045" cy="38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A) Private key   B) Public key</a:t>
            </a:r>
            <a:endParaRPr sz="960"/>
          </a:p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C) Password   D) Recovery key</a:t>
            </a:r>
            <a:endParaRPr sz="960"/>
          </a:p>
        </p:txBody>
      </p:sp>
      <p:sp>
        <p:nvSpPr>
          <p:cNvPr id="9" name="Rounded Rectangle 8"/>
          <p:cNvSpPr/>
          <p:nvPr/>
        </p:nvSpPr>
        <p:spPr>
          <a:xfrm>
            <a:off x="121920" y="2880359"/>
            <a:ext cx="5852160" cy="1316736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316992" y="3002280"/>
            <a:ext cx="3439795" cy="266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E1E1E"/>
                </a:solidFill>
                <a:latin typeface="Arial" panose="020B0604020202020204"/>
              </a:defRPr>
            </a:pPr>
            <a:r>
              <a:rPr sz="1135"/>
              <a:t>Q15. A cryptocurrency wallet is mainly used to:</a:t>
            </a:r>
            <a:endParaRPr sz="1135"/>
          </a:p>
        </p:txBody>
      </p:sp>
      <p:sp>
        <p:nvSpPr>
          <p:cNvPr id="11" name="TextBox 10"/>
          <p:cNvSpPr txBox="1"/>
          <p:nvPr/>
        </p:nvSpPr>
        <p:spPr>
          <a:xfrm>
            <a:off x="316992" y="3465576"/>
            <a:ext cx="2461260" cy="38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A) Manage blockchain keys   B) Mine gold</a:t>
            </a:r>
            <a:endParaRPr sz="960"/>
          </a:p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C) Store websites   D) Create databases</a:t>
            </a:r>
            <a:endParaRPr sz="960"/>
          </a:p>
        </p:txBody>
      </p:sp>
      <p:sp>
        <p:nvSpPr>
          <p:cNvPr id="12" name="Rounded Rectangle 11"/>
          <p:cNvSpPr/>
          <p:nvPr/>
        </p:nvSpPr>
        <p:spPr>
          <a:xfrm>
            <a:off x="6156960" y="2880359"/>
            <a:ext cx="5852160" cy="1316736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6352032" y="3002280"/>
            <a:ext cx="2351405" cy="266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E1E1E"/>
                </a:solidFill>
                <a:latin typeface="Arial" panose="020B0604020202020204"/>
              </a:defRPr>
            </a:pPr>
            <a:r>
              <a:rPr sz="1135"/>
              <a:t>Q16. What is mining in Bitcoin?</a:t>
            </a:r>
            <a:endParaRPr sz="1135"/>
          </a:p>
        </p:txBody>
      </p:sp>
      <p:sp>
        <p:nvSpPr>
          <p:cNvPr id="14" name="TextBox 13"/>
          <p:cNvSpPr txBox="1"/>
          <p:nvPr/>
        </p:nvSpPr>
        <p:spPr>
          <a:xfrm>
            <a:off x="6352032" y="3465576"/>
            <a:ext cx="3846195" cy="38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A) Validating transactions and adding blocks   B) Downloading apps</a:t>
            </a:r>
            <a:endParaRPr sz="960"/>
          </a:p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C) Creating passwords   D) Sending emails</a:t>
            </a:r>
            <a:endParaRPr sz="960"/>
          </a:p>
        </p:txBody>
      </p:sp>
      <p:sp>
        <p:nvSpPr>
          <p:cNvPr id="15" name="Rounded Rectangle 14"/>
          <p:cNvSpPr/>
          <p:nvPr/>
        </p:nvSpPr>
        <p:spPr>
          <a:xfrm>
            <a:off x="121920" y="4526280"/>
            <a:ext cx="5852160" cy="1316736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316992" y="4648200"/>
            <a:ext cx="4773295" cy="266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E1E1E"/>
                </a:solidFill>
                <a:latin typeface="Arial" panose="020B0604020202020204"/>
              </a:defRPr>
            </a:pPr>
            <a:r>
              <a:rPr sz="1135"/>
              <a:t>Q17. Which algorithm is commonly used to create Bitcoin hashes?</a:t>
            </a:r>
            <a:endParaRPr sz="1135"/>
          </a:p>
        </p:txBody>
      </p:sp>
      <p:sp>
        <p:nvSpPr>
          <p:cNvPr id="17" name="TextBox 16"/>
          <p:cNvSpPr txBox="1"/>
          <p:nvPr/>
        </p:nvSpPr>
        <p:spPr>
          <a:xfrm>
            <a:off x="316992" y="5111496"/>
            <a:ext cx="1687830" cy="38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A) SHA-256   B) AES-128</a:t>
            </a:r>
            <a:endParaRPr sz="960"/>
          </a:p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C) RSA-1024   D) MD5 only</a:t>
            </a:r>
            <a:endParaRPr sz="960"/>
          </a:p>
        </p:txBody>
      </p:sp>
      <p:sp>
        <p:nvSpPr>
          <p:cNvPr id="18" name="Rounded Rectangle 17"/>
          <p:cNvSpPr/>
          <p:nvPr/>
        </p:nvSpPr>
        <p:spPr>
          <a:xfrm>
            <a:off x="6156960" y="4526280"/>
            <a:ext cx="5852160" cy="1316736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6352032" y="4648200"/>
            <a:ext cx="3213100" cy="266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E1E1E"/>
                </a:solidFill>
                <a:latin typeface="Arial" panose="020B0604020202020204"/>
              </a:defRPr>
            </a:pPr>
            <a:r>
              <a:rPr sz="1135"/>
              <a:t>Q18. What is a transaction on a blockchain?</a:t>
            </a:r>
            <a:endParaRPr sz="1135"/>
          </a:p>
        </p:txBody>
      </p:sp>
      <p:sp>
        <p:nvSpPr>
          <p:cNvPr id="20" name="TextBox 19"/>
          <p:cNvSpPr txBox="1"/>
          <p:nvPr/>
        </p:nvSpPr>
        <p:spPr>
          <a:xfrm>
            <a:off x="6352032" y="5111496"/>
            <a:ext cx="3510280" cy="38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A) A recorded transfer or data operation   B) A computer virus</a:t>
            </a:r>
            <a:endParaRPr sz="960"/>
          </a:p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C) A web browser   D) A hardware device</a:t>
            </a:r>
            <a:endParaRPr sz="96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6" y="417576"/>
            <a:ext cx="1688465" cy="5016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E1E1E"/>
                </a:solidFill>
                <a:latin typeface="Arial" panose="020B0604020202020204"/>
              </a:defRPr>
            </a:pPr>
            <a:r>
              <a:rPr sz="2665"/>
              <a:t>Mini Quiz</a:t>
            </a:r>
            <a:endParaRPr sz="2665"/>
          </a:p>
        </p:txBody>
      </p:sp>
      <p:sp>
        <p:nvSpPr>
          <p:cNvPr id="3" name="Rounded Rectangle 2"/>
          <p:cNvSpPr/>
          <p:nvPr/>
        </p:nvSpPr>
        <p:spPr>
          <a:xfrm>
            <a:off x="121920" y="1234440"/>
            <a:ext cx="5852160" cy="1316736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316992" y="1356359"/>
            <a:ext cx="2280920" cy="266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E1E1E"/>
                </a:solidFill>
                <a:latin typeface="Arial" panose="020B0604020202020204"/>
              </a:defRPr>
            </a:pPr>
            <a:r>
              <a:rPr sz="1135"/>
              <a:t>Q19. What is decentralization?</a:t>
            </a:r>
            <a:endParaRPr sz="1135"/>
          </a:p>
        </p:txBody>
      </p:sp>
      <p:sp>
        <p:nvSpPr>
          <p:cNvPr id="5" name="TextBox 4"/>
          <p:cNvSpPr txBox="1"/>
          <p:nvPr/>
        </p:nvSpPr>
        <p:spPr>
          <a:xfrm>
            <a:off x="316992" y="1819656"/>
            <a:ext cx="3803015" cy="38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A) Control by one server   B) Control distributed across participants</a:t>
            </a:r>
            <a:endParaRPr sz="960"/>
          </a:p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C) No network   D) Offline storage</a:t>
            </a:r>
            <a:endParaRPr sz="960"/>
          </a:p>
        </p:txBody>
      </p:sp>
      <p:sp>
        <p:nvSpPr>
          <p:cNvPr id="6" name="Rounded Rectangle 5"/>
          <p:cNvSpPr/>
          <p:nvPr/>
        </p:nvSpPr>
        <p:spPr>
          <a:xfrm>
            <a:off x="6156960" y="1234440"/>
            <a:ext cx="5852160" cy="1316736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6352032" y="1356359"/>
            <a:ext cx="3533775" cy="266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E1E1E"/>
                </a:solidFill>
                <a:latin typeface="Arial" panose="020B0604020202020204"/>
              </a:defRPr>
            </a:pPr>
            <a:r>
              <a:rPr sz="1135"/>
              <a:t>Q20. What does a digital signature help provide?</a:t>
            </a:r>
            <a:endParaRPr sz="1135"/>
          </a:p>
        </p:txBody>
      </p:sp>
      <p:sp>
        <p:nvSpPr>
          <p:cNvPr id="8" name="TextBox 7"/>
          <p:cNvSpPr txBox="1"/>
          <p:nvPr/>
        </p:nvSpPr>
        <p:spPr>
          <a:xfrm>
            <a:off x="6352032" y="1819656"/>
            <a:ext cx="2853055" cy="38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A) Authentication and integrity   B) Faster internet</a:t>
            </a:r>
            <a:endParaRPr sz="960"/>
          </a:p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C) More storage   D) Free coins</a:t>
            </a:r>
            <a:endParaRPr sz="960"/>
          </a:p>
        </p:txBody>
      </p:sp>
      <p:sp>
        <p:nvSpPr>
          <p:cNvPr id="9" name="Rounded Rectangle 8"/>
          <p:cNvSpPr/>
          <p:nvPr/>
        </p:nvSpPr>
        <p:spPr>
          <a:xfrm>
            <a:off x="121920" y="2880359"/>
            <a:ext cx="5852160" cy="1316736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316992" y="3002280"/>
            <a:ext cx="3759835" cy="266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E1E1E"/>
                </a:solidFill>
                <a:latin typeface="Arial" panose="020B0604020202020204"/>
              </a:defRPr>
            </a:pPr>
            <a:r>
              <a:rPr sz="1135"/>
              <a:t>Q21. Which is an example of a blockchain platform?</a:t>
            </a:r>
            <a:endParaRPr sz="1135"/>
          </a:p>
        </p:txBody>
      </p:sp>
      <p:sp>
        <p:nvSpPr>
          <p:cNvPr id="11" name="TextBox 10"/>
          <p:cNvSpPr txBox="1"/>
          <p:nvPr/>
        </p:nvSpPr>
        <p:spPr>
          <a:xfrm>
            <a:off x="316992" y="3465576"/>
            <a:ext cx="1985645" cy="38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A) Ethereum   B) Google Chrome</a:t>
            </a:r>
            <a:endParaRPr sz="960"/>
          </a:p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C) Windows   D) MS Word</a:t>
            </a:r>
            <a:endParaRPr sz="960"/>
          </a:p>
        </p:txBody>
      </p:sp>
      <p:sp>
        <p:nvSpPr>
          <p:cNvPr id="12" name="Rounded Rectangle 11"/>
          <p:cNvSpPr/>
          <p:nvPr/>
        </p:nvSpPr>
        <p:spPr>
          <a:xfrm>
            <a:off x="6156960" y="2880359"/>
            <a:ext cx="5852160" cy="1316736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6352032" y="3002280"/>
            <a:ext cx="2306320" cy="266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E1E1E"/>
                </a:solidFill>
                <a:latin typeface="Arial" panose="020B0604020202020204"/>
              </a:defRPr>
            </a:pPr>
            <a:r>
              <a:rPr sz="1135"/>
              <a:t>Q22. What is a smart contract?</a:t>
            </a:r>
            <a:endParaRPr sz="1135"/>
          </a:p>
        </p:txBody>
      </p:sp>
      <p:sp>
        <p:nvSpPr>
          <p:cNvPr id="14" name="TextBox 13"/>
          <p:cNvSpPr txBox="1"/>
          <p:nvPr/>
        </p:nvSpPr>
        <p:spPr>
          <a:xfrm>
            <a:off x="6352032" y="3465576"/>
            <a:ext cx="3681730" cy="38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A) Self-executing program on a blockchain   B) Paper agreement</a:t>
            </a:r>
            <a:endParaRPr sz="960"/>
          </a:p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C) Email service   D) Antivirus software</a:t>
            </a:r>
            <a:endParaRPr sz="960"/>
          </a:p>
        </p:txBody>
      </p:sp>
      <p:sp>
        <p:nvSpPr>
          <p:cNvPr id="15" name="Rounded Rectangle 14"/>
          <p:cNvSpPr/>
          <p:nvPr/>
        </p:nvSpPr>
        <p:spPr>
          <a:xfrm>
            <a:off x="121920" y="4526280"/>
            <a:ext cx="5852160" cy="1316736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316992" y="4648200"/>
            <a:ext cx="2369185" cy="266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E1E1E"/>
                </a:solidFill>
                <a:latin typeface="Arial" panose="020B0604020202020204"/>
              </a:defRPr>
            </a:pPr>
            <a:r>
              <a:rPr sz="1135"/>
              <a:t>Q23. What is a blockchain fork?</a:t>
            </a:r>
            <a:endParaRPr sz="1135"/>
          </a:p>
        </p:txBody>
      </p:sp>
      <p:sp>
        <p:nvSpPr>
          <p:cNvPr id="17" name="TextBox 16"/>
          <p:cNvSpPr txBox="1"/>
          <p:nvPr/>
        </p:nvSpPr>
        <p:spPr>
          <a:xfrm>
            <a:off x="316992" y="5111496"/>
            <a:ext cx="4046855" cy="38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A) A change that creates a split in the blockchain   B) A mining machine</a:t>
            </a:r>
            <a:endParaRPr sz="960"/>
          </a:p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C) A wallet password   D) A transaction fee</a:t>
            </a:r>
            <a:endParaRPr sz="960"/>
          </a:p>
        </p:txBody>
      </p:sp>
      <p:sp>
        <p:nvSpPr>
          <p:cNvPr id="18" name="Rounded Rectangle 17"/>
          <p:cNvSpPr/>
          <p:nvPr/>
        </p:nvSpPr>
        <p:spPr>
          <a:xfrm>
            <a:off x="6156960" y="4526280"/>
            <a:ext cx="5852160" cy="1316736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6352032" y="4648200"/>
            <a:ext cx="3357880" cy="266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1E1E1E"/>
                </a:solidFill>
                <a:latin typeface="Arial" panose="020B0604020202020204"/>
              </a:defRPr>
            </a:pPr>
            <a:r>
              <a:rPr sz="1135"/>
              <a:t>Q24. What is the main purpose of consensus?</a:t>
            </a:r>
            <a:endParaRPr sz="1135"/>
          </a:p>
        </p:txBody>
      </p:sp>
      <p:sp>
        <p:nvSpPr>
          <p:cNvPr id="20" name="TextBox 19"/>
          <p:cNvSpPr txBox="1"/>
          <p:nvPr/>
        </p:nvSpPr>
        <p:spPr>
          <a:xfrm>
            <a:off x="6352032" y="5111496"/>
            <a:ext cx="2962910" cy="38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A) Agree on valid blockchain state   B) Hide all data</a:t>
            </a:r>
            <a:endParaRPr sz="960"/>
          </a:p>
          <a:p>
            <a:pPr>
              <a:defRPr sz="720">
                <a:solidFill>
                  <a:srgbClr val="464646"/>
                </a:solidFill>
                <a:latin typeface="Arial" panose="020B0604020202020204"/>
              </a:defRPr>
            </a:pPr>
            <a:r>
              <a:rPr sz="960"/>
              <a:t>C) Increase screen size   D) Create usernames</a:t>
            </a:r>
            <a:endParaRPr sz="96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9875520" y="4330598"/>
            <a:ext cx="950272" cy="395021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9875520" y="4330598"/>
            <a:ext cx="950272" cy="118506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825792" y="4725619"/>
            <a:ext cx="914" cy="79004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9875520" y="4725619"/>
            <a:ext cx="950272" cy="118506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9875520" y="5515661"/>
            <a:ext cx="950272" cy="395021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8925248" y="5515661"/>
            <a:ext cx="1900545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925248" y="5515661"/>
            <a:ext cx="950272" cy="395021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925248" y="4725619"/>
            <a:ext cx="950272" cy="118506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925248" y="4725619"/>
            <a:ext cx="914" cy="79004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8925248" y="4330598"/>
            <a:ext cx="950272" cy="118506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8925248" y="4330598"/>
            <a:ext cx="950272" cy="395021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8925248" y="4725619"/>
            <a:ext cx="1900545" cy="914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816084" y="427116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66356" y="4666183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66356" y="5456225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16084" y="5851246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5812" y="5456225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5812" y="4666183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1945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WORKSHOP CONCLUSION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260604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“From Centralized Trust to Decentralized Trust”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22960" y="38862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B9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 we traced blockchain’s journey — from the limits of centralized systems, through cryptography and consensus, to the real-world networks powering Bitcoin, Ethereum, and Web3.</a:t>
            </a:r>
            <a:endParaRPr lang="en-US" sz="14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40080" y="512064"/>
            <a:ext cx="128016" cy="128016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4" name="Text 2"/>
          <p:cNvSpPr/>
          <p:nvPr/>
        </p:nvSpPr>
        <p:spPr>
          <a:xfrm>
            <a:off x="877824" y="457200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C8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What’s Next? — Day 2 Preview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Architecture Deep Dive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closer technical look at network design.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1" name="Text 9"/>
          <p:cNvSpPr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59736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Bitcoin &amp; Ethereum In-Depth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Exploring their protocols beyond the basics.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15" name="Text 13"/>
          <p:cNvSpPr/>
          <p:nvPr/>
        </p:nvSpPr>
        <p:spPr>
          <a:xfrm>
            <a:off x="640080" y="33924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355848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Contracts &amp; Solidity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Hands-on introduction to writing smart contracts.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9" name="Text 17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Wallets, Web3 &amp; dApps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553712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tools for building on blockchain.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40080" y="5184648"/>
            <a:ext cx="420624" cy="420624"/>
          </a:xfrm>
          <a:prstGeom prst="ellipse">
            <a:avLst/>
          </a:prstGeom>
          <a:solidFill>
            <a:srgbClr val="00C9B7"/>
          </a:solidFill>
        </p:spPr>
      </p:sp>
      <p:sp>
        <p:nvSpPr>
          <p:cNvPr id="23" name="Text 21"/>
          <p:cNvSpPr/>
          <p:nvPr/>
        </p:nvSpPr>
        <p:spPr>
          <a:xfrm>
            <a:off x="640080" y="51846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5148072"/>
            <a:ext cx="10314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Hands-On Blockchain Development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07008" y="5449824"/>
            <a:ext cx="103144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Guided coding exercises to apply Day 1 concepts.</a:t>
            </a:r>
            <a:endParaRPr lang="en-US" sz="118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9992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011680" y="46451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011680" y="46451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882763" y="826618"/>
            <a:ext cx="914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011680" y="82661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2011680" y="155082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1140597" y="1550822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40597" y="1550822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40597" y="826618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40597" y="826618"/>
            <a:ext cx="0" cy="724205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1140597" y="464515"/>
            <a:ext cx="871083" cy="1086307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1140597" y="464515"/>
            <a:ext cx="871083" cy="3621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40597" y="826618"/>
            <a:ext cx="1742166" cy="0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956816" y="409651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27899" y="771754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27899" y="1495958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56816" y="1858061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5733" y="1495958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5733" y="771754"/>
            <a:ext cx="109728" cy="109728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49840" y="4787798"/>
            <a:ext cx="857888" cy="297459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0149840" y="4787798"/>
            <a:ext cx="1069769" cy="96584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1007728" y="5085257"/>
            <a:ext cx="211881" cy="668384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 flipV="1">
            <a:off x="10625932" y="5085257"/>
            <a:ext cx="381796" cy="1204386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 flipV="1">
            <a:off x="10625932" y="5753641"/>
            <a:ext cx="593677" cy="5360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 flipV="1">
            <a:off x="9673748" y="5753641"/>
            <a:ext cx="1545861" cy="5360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673748" y="6289643"/>
            <a:ext cx="952184" cy="914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080071" y="5753641"/>
            <a:ext cx="1545861" cy="5360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080071" y="5753641"/>
            <a:ext cx="593677" cy="53600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291952" y="5085257"/>
            <a:ext cx="381796" cy="1204386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1" name="Shape 29"/>
          <p:cNvSpPr/>
          <p:nvPr/>
        </p:nvSpPr>
        <p:spPr>
          <a:xfrm flipV="1">
            <a:off x="9080071" y="5085257"/>
            <a:ext cx="211881" cy="668384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 flipV="1">
            <a:off x="9080071" y="4787798"/>
            <a:ext cx="1069769" cy="965842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 flipV="1">
            <a:off x="9291952" y="4787798"/>
            <a:ext cx="857888" cy="297459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291952" y="5085257"/>
            <a:ext cx="1715776" cy="914"/>
          </a:xfrm>
          <a:prstGeom prst="line">
            <a:avLst/>
          </a:prstGeom>
          <a:noFill/>
          <a:ln w="12700">
            <a:solidFill>
              <a:srgbClr val="1B3A66">
                <a:alpha val="75000"/>
              </a:srgbClr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0090404" y="4728362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48292" y="5025821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60173" y="5694205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66496" y="6230207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14312" y="6230207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20635" y="5694205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32516" y="5025821"/>
            <a:ext cx="118872" cy="118872"/>
          </a:xfrm>
          <a:prstGeom prst="ellipse">
            <a:avLst/>
          </a:prstGeom>
          <a:solidFill>
            <a:srgbClr val="00C9B7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3" name="Text 41"/>
          <p:cNvSpPr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C9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Pantech E-Learning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Technology — Day 1 Workshop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31431</Words>
  <Application>WPS Presentation</Application>
  <PresentationFormat>On-screen Show (16:9)</PresentationFormat>
  <Paragraphs>2377</Paragraphs>
  <Slides>90</Slides>
  <Notes>87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90</vt:i4>
      </vt:variant>
    </vt:vector>
  </HeadingPairs>
  <TitlesOfParts>
    <vt:vector size="106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Courier New</vt:lpstr>
      <vt:lpstr>Courier New</vt:lpstr>
      <vt:lpstr>Courier New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BHARATH</cp:lastModifiedBy>
  <cp:revision>2</cp:revision>
  <dcterms:created xsi:type="dcterms:W3CDTF">2026-08-23T03:06:00Z</dcterms:created>
  <dcterms:modified xsi:type="dcterms:W3CDTF">2026-08-23T14:29:51Z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E253023680EF4102AF847FE8CB31D15F_12</vt:lpwstr>
  </property>
</Properties>
</file>
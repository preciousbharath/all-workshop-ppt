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058400" y="246888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058400" y="246888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28268" y="536135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028268" y="536135"/>
            <a:ext cx="914" cy="139660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1028268" y="1234440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0058400" y="1234440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10058400" y="1932745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088532" y="1932745"/>
            <a:ext cx="1939735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088532" y="1932745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686800" y="1234440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686800" y="1234440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088532" y="536135"/>
            <a:ext cx="914" cy="139660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8686800" y="536135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8686800" y="246888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9088532" y="246888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088532" y="536135"/>
            <a:ext cx="1939735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994392" y="182880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64260" y="47212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1170432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64260" y="186873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94392" y="2157984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4524" y="186873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2792" y="1170432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4524" y="47212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4904842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463040" y="4904842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492502" y="5332781"/>
            <a:ext cx="0" cy="85587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 flipV="1">
            <a:off x="1463040" y="5332781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1463040" y="6188659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33578" y="6188659"/>
            <a:ext cx="2058923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33578" y="6188659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33578" y="5332781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433578" y="5332781"/>
            <a:ext cx="914" cy="85587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 flipV="1">
            <a:off x="433578" y="4904842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433578" y="4904842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3578" y="5332781"/>
            <a:ext cx="2058923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408176" y="4849978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37638" y="5277917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37638" y="6133795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08176" y="6561734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8714" y="6133795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8714" y="5277917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WORKSHOP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" y="23317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TECHNOLOGY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Distributed Ledgers to Cryptocurrency &amp; Web3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22960" y="4617720"/>
            <a:ext cx="3931920" cy="502920"/>
          </a:xfrm>
          <a:prstGeom prst="roundRect">
            <a:avLst>
              <a:gd name="adj" fmla="val 50909"/>
            </a:avLst>
          </a:prstGeom>
          <a:solidFill>
            <a:srgbClr val="13294F"/>
          </a:solidFill>
          <a:ln w="12700">
            <a:solidFill>
              <a:srgbClr val="2344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617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 Agenda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02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Before Blockchain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Blockchain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Blockchain Works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11296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456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941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&amp; Hashing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425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Foundations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965192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9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Mechanisms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449824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1572768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1517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Stake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2057400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2002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(Bitcoin &amp; Ethereum)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2542032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3026664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Types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309360" y="3511296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3456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09360" y="3995928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3941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Example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09360" y="4480560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75120" y="4425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09360" y="4965192"/>
            <a:ext cx="256032" cy="256032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55" name="Text 53"/>
          <p:cNvSpPr/>
          <p:nvPr/>
        </p:nvSpPr>
        <p:spPr>
          <a:xfrm>
            <a:off x="6309360" y="49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7512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309360" y="5449824"/>
            <a:ext cx="256032" cy="25603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751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Blockchain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OUTCOMES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Core Concepts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blockchain, distributed ledgers, and explain why decentralization matters.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Mechanics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blocks, hashing, cryptography, and how transactions are validated.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Consensus Models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Proof of Work and Proof of Stake and when each is used.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 Applications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blockchain to Bitcoin, Ethereum, smart contracts, and industry use cases.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Trade-Offs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blockchain’s advantages against its practical limitations.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Blockchain?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F0C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FFF4E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Definition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digital record book that many computers keep together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the same entries — no single owner or gatekeeper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written, an entry cannot be secretly changed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Definition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distributed, append-only ledger of cryptographically linked blocks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a peer-to-peer network without central authority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is enforced by hashing, digital signatures, and consensus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traits: Decentralized  •  Transparent  •  Immutable  •  Secure  •  Trust-minimized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in Simple Words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shared notebook, where every entry is digitally signed and checked by the whole network before it is accepted.”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31638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Notebook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3465576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holds an identical copy of the ledger — nothing is hidden.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40782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4379976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signed by its owner, proving who authorized it.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992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Verification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5294376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checks each entry before it is permanently added.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Blockchain Important?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Blind Trust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no longer need to fully trust a single intermediary to transact.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Transparency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participants can verify the same shared history of records.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Costs &amp; Delays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intermediaries mean faster settlement and lower fees.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New Business Models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cryptocurrency, DeFi, NFTs, supply chain tracking, and Web3.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problems traditional systems could not solve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Problems Existed Before Blockchain?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Authority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organization controls and can alter the entire record.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central server goes down, the whole system stops.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7413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independently verify what the authority records.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Reconciliation Issues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7413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parties keep separate records that must be manually reconciled.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48970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Costly Transactions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79145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Intermediaries and manual checks add delay and fees.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Centralized System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320186" cy="1005840"/>
          </a:xfrm>
          <a:prstGeom prst="roundRect">
            <a:avLst>
              <a:gd name="adj" fmla="val 7273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94560"/>
            <a:ext cx="3210458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51706" y="26974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5754" y="2194560"/>
            <a:ext cx="3320186" cy="1005840"/>
          </a:xfrm>
          <a:prstGeom prst="roundRect">
            <a:avLst>
              <a:gd name="adj" fmla="val 7273"/>
            </a:avLst>
          </a:prstGeom>
          <a:solidFill>
            <a:srgbClr val="0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490618" y="2194560"/>
            <a:ext cx="3210458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55941" y="26974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9989" y="2194560"/>
            <a:ext cx="3320186" cy="1005840"/>
          </a:xfrm>
          <a:prstGeom prst="roundRect">
            <a:avLst>
              <a:gd name="adj" fmla="val 7273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853" y="2194560"/>
            <a:ext cx="3210458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09115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organization owns and operates the server and database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are routed through, validated by, and stored on that one authority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trust the operator to keep records accurate and available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can, in principle, modify, delete, or restrict access to data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Problem &amp; Intermediaries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320186" cy="914400"/>
          </a:xfrm>
          <a:prstGeom prst="roundRect">
            <a:avLst>
              <a:gd name="adj" fmla="val 8000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691640"/>
            <a:ext cx="321045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51706" y="214884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5754" y="1691640"/>
            <a:ext cx="3320186" cy="914400"/>
          </a:xfrm>
          <a:prstGeom prst="roundRect">
            <a:avLst>
              <a:gd name="adj" fmla="val 8000"/>
            </a:avLst>
          </a:prstGeom>
          <a:solidFill>
            <a:srgbClr val="0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490618" y="1691640"/>
            <a:ext cx="321045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(Trusted 3rd Party)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55941" y="214884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9989" y="1691640"/>
            <a:ext cx="3320186" cy="914400"/>
          </a:xfrm>
          <a:prstGeom prst="roundRect">
            <a:avLst>
              <a:gd name="adj" fmla="val 8000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853" y="1691640"/>
            <a:ext cx="321045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transactions rely on a trusted third party to confirm and settle every exchange.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33009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3602736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settle fund transfers between accounts.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63640" y="333756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30568" y="33009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30568" y="3602736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authorize card and online payments.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07008" y="458114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07008" y="4882896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and execute trades on behalf of clients.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263640" y="461772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30568" y="458114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Houses &amp; Government Bodies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30568" y="4882896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ownership, legality, and finality of transactions.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DIGITAL FLAW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Double-Spending Problem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money is just data — a file can be copied and spent more than once.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trusted referee, nothing stops the same coin being sent to two people.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Fix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bank or payment company kept the master ledger to prevent this.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Blockchain’s Fix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consensus-verified ledger lets the whole network catch double-spends — no central referee needed.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Tampering Problem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Record (Before)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₹50,000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Ramesh Kumar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Updated: Jan 3, 2026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on: 1 central server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Unauthorized Access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₹500,000 (altered)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Ramesh Kumar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Updated: Jan 3, 2026 (no trace)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copy to verify against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editable copy of the truth, a single actor with access can rewrite history without detection.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Blockchain?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shared, verifiable ledger solves what centralized systems could not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Blockchain Solves Traditional Problems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 in a central party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by network consensus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Limited, controlled by 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visible to all participants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across many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by the institution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Cryptographically tied to the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consensus-based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Minimized or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server can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point of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TRAITS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party controls the network or the ledger.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participants can view the same transaction history.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266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records are extremely difficult to alter.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266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284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data and proves authenticity.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3982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7000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agree collectively on which records are valid.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0568" y="43982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30568" y="47000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can be traced back through the chain.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vs Decentralized vs Distributed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993392" y="237744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1005840" y="2578608"/>
            <a:ext cx="1188720" cy="987552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96112" y="3456432"/>
            <a:ext cx="219456" cy="21945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2578608"/>
            <a:ext cx="914" cy="1353312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084832" y="3822192"/>
            <a:ext cx="219456" cy="21945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2578608"/>
            <a:ext cx="1188720" cy="987552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273552" y="3456432"/>
            <a:ext cx="219456" cy="21945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hub controls everything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76088" y="2468880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495604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864608" y="3749040"/>
            <a:ext cx="182880" cy="1828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58968" y="2834640"/>
            <a:ext cx="914" cy="114300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367528" y="3886200"/>
            <a:ext cx="182880" cy="1828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5896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870448" y="3749040"/>
            <a:ext cx="182880" cy="1828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2" name="Shape 20"/>
          <p:cNvSpPr/>
          <p:nvPr/>
        </p:nvSpPr>
        <p:spPr>
          <a:xfrm>
            <a:off x="6556248" y="2468880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Shape 21"/>
          <p:cNvSpPr/>
          <p:nvPr/>
        </p:nvSpPr>
        <p:spPr>
          <a:xfrm flipV="1">
            <a:off x="623620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144768" y="3749040"/>
            <a:ext cx="182880" cy="1828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5" name="Shape 23"/>
          <p:cNvSpPr/>
          <p:nvPr/>
        </p:nvSpPr>
        <p:spPr>
          <a:xfrm>
            <a:off x="6739128" y="2834640"/>
            <a:ext cx="914" cy="114300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647688" y="3886200"/>
            <a:ext cx="182880" cy="1828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7" name="Shape 25"/>
          <p:cNvSpPr/>
          <p:nvPr/>
        </p:nvSpPr>
        <p:spPr>
          <a:xfrm>
            <a:off x="673912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150608" y="3749040"/>
            <a:ext cx="182880" cy="1828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9" name="Shape 27"/>
          <p:cNvSpPr/>
          <p:nvPr/>
        </p:nvSpPr>
        <p:spPr>
          <a:xfrm>
            <a:off x="5641848" y="2651760"/>
            <a:ext cx="914400" cy="914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4818888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27448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spread across several hubs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flipV="1">
            <a:off x="10424160" y="324612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9509760" y="324612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509760" y="3840040"/>
            <a:ext cx="914400" cy="914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052560" y="324612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052560" y="324612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509760" y="2652200"/>
            <a:ext cx="914" cy="118784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 flipV="1">
            <a:off x="9052560" y="265220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9052560" y="265220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509760" y="2652200"/>
            <a:ext cx="914400" cy="914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509760" y="265220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424160" y="265220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0424160" y="2652200"/>
            <a:ext cx="914" cy="118784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744200" y="3108960"/>
            <a:ext cx="274320" cy="27432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87000" y="3702880"/>
            <a:ext cx="274320" cy="27432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6" name="Shape 44"/>
          <p:cNvSpPr/>
          <p:nvPr/>
        </p:nvSpPr>
        <p:spPr>
          <a:xfrm>
            <a:off x="9372600" y="3702880"/>
            <a:ext cx="274320" cy="27432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7" name="Shape 45"/>
          <p:cNvSpPr/>
          <p:nvPr/>
        </p:nvSpPr>
        <p:spPr>
          <a:xfrm>
            <a:off x="8915400" y="3108960"/>
            <a:ext cx="274320" cy="27432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8" name="Shape 46"/>
          <p:cNvSpPr/>
          <p:nvPr/>
        </p:nvSpPr>
        <p:spPr>
          <a:xfrm>
            <a:off x="9372600" y="2515040"/>
            <a:ext cx="274320" cy="27432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87000" y="2515040"/>
            <a:ext cx="274320" cy="27432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59536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is an equal peer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networks are typically decentralized-to-distributed: no single controlling hub, and every full node holds a copy of the ledger.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cryptographic research to Bitcoin and beyond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RECORD STRAIGHT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Introduced Blockchain Technology?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Existed Earlier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timestamping and linked-record concepts date back to the late 1980s–1990s.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Nakamoto (2008)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Bitcoin whitepaper, combining these ideas into a working decentralized system.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Bitcoin’s Blockchain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was the first large-scale, practical implementation of a blockchain.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the underlying technology; Bitcoin is one application built on it.</a:t>
            </a:r>
            <a:endParaRPr lang="en-US" sz="11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Blockchain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DCE4EF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709" y="2697480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6709" y="2944368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cryptography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22960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247203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3248" y="3822192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3248" y="4078224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 &amp; Stornetta timestamping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753743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9788" y="2697480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99788" y="2944368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b-money &amp; Bit Gold proposals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836039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260282" y="357530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6327" y="3822192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6327" y="4078224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Proof of Work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766821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2866" y="2697480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2866" y="2944368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whitepaper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849117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273361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9406" y="3822192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19406" y="4078224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network launched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779900" y="357530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25945" y="2697480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25945" y="2944368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launch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862196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32484" y="3822192"/>
            <a:ext cx="127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32484" y="4078224"/>
            <a:ext cx="1272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DeFi, NFTs, Web3, enterprise use</a:t>
            </a:r>
            <a:endParaRPr lang="en-US" sz="9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DOCUMENT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Bitcoin Whitepaper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“Bitcoin: A Peer-to-Peer Electronic Cash System” (2008).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Proposal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for two parties to transact directly online without a trusted third party.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hashing, digital signatures, and Proof-of-Work consensus into one working system.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Impact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technical blueprint for blockchain as we know it today.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Evolution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60320"/>
            <a:ext cx="22844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1.0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(Bitcoin)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25648" y="31546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9696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0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3564560" y="2560320"/>
            <a:ext cx="22844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2.0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(Ethereum)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03824" y="31546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87872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6342736" y="2560320"/>
            <a:ext cx="22844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3.0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DApps &amp; Scalability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1999" y="31546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66047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FFB627"/>
          </a:solidFill>
          <a:ln/>
        </p:spPr>
      </p:sp>
      <p:sp>
        <p:nvSpPr>
          <p:cNvPr id="16" name="Text 14"/>
          <p:cNvSpPr/>
          <p:nvPr/>
        </p:nvSpPr>
        <p:spPr>
          <a:xfrm>
            <a:off x="9120911" y="2560320"/>
            <a:ext cx="22844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&amp; Enterprise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1.0 focused purely on digital currency and payments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2.0 introduced programmable smart contracts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3.0 emphasized decentralized applications and scalability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emerging phase blends Web3, DeFi, and enterprise-grade blockchain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Blockchain Works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transactions to blocks to a permanent chain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Blockchain Work?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Initiated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creates and digitally signs a transaction.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Network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is shared with nodes across the peer-to-peer network.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Consensus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verify the transaction and agree on its validity.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a Block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transactions are grouped into a new block.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Appended to Chain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is linked to the previous one, becoming permanent.</a:t>
            </a:r>
            <a:endParaRPr lang="en-US" sz="11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Blockchain Network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95848" y="2280514"/>
            <a:ext cx="1351859" cy="354266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095848" y="2280514"/>
            <a:ext cx="2071169" cy="1251300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447707" y="2634780"/>
            <a:ext cx="719309" cy="897034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447707" y="2634780"/>
            <a:ext cx="469496" cy="19171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7917203" y="3531814"/>
            <a:ext cx="249814" cy="1020069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6815157" y="3531814"/>
            <a:ext cx="1351859" cy="1685872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6815157" y="4551883"/>
            <a:ext cx="1102046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5376538" y="4551883"/>
            <a:ext cx="2540665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376538" y="5217686"/>
            <a:ext cx="1438619" cy="914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274492" y="4551883"/>
            <a:ext cx="2540665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274492" y="4551883"/>
            <a:ext cx="1102046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024679" y="3531814"/>
            <a:ext cx="1351859" cy="1685872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024679" y="3531814"/>
            <a:ext cx="249814" cy="1020069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4274492" y="2634780"/>
            <a:ext cx="469496" cy="19171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4024679" y="2634780"/>
            <a:ext cx="719309" cy="897034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4024679" y="2280514"/>
            <a:ext cx="2071169" cy="1251300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4743988" y="2280514"/>
            <a:ext cx="1351859" cy="354266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V="1">
            <a:off x="4743988" y="2634780"/>
            <a:ext cx="2703719" cy="0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940400" y="2125066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2259" y="2479332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1568" y="3376366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1755" y="4396435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9709" y="5062238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090" y="5062238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9044" y="4396435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9231" y="3376366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88540" y="2479332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Holds an Identical Copy of the Ledger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 is more important than another — each independently validates and stores the same shared chain.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Block? — Anatomy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063240" y="1783080"/>
            <a:ext cx="6035040" cy="777240"/>
          </a:xfrm>
          <a:prstGeom prst="rect">
            <a:avLst/>
          </a:prstGeom>
          <a:solidFill>
            <a:srgbClr val="13294F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783080"/>
            <a:ext cx="25347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Index / Number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8658" y="1783080"/>
            <a:ext cx="3258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#48213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560320"/>
            <a:ext cx="6035040" cy="777240"/>
          </a:xfrm>
          <a:prstGeom prst="rect">
            <a:avLst/>
          </a:prstGeom>
          <a:solidFill>
            <a:srgbClr val="0A1F3D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560320"/>
            <a:ext cx="25347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8658" y="2560320"/>
            <a:ext cx="3258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2026-08-23 14:02:11 UTC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3337560"/>
            <a:ext cx="6035040" cy="777240"/>
          </a:xfrm>
          <a:prstGeom prst="rect">
            <a:avLst/>
          </a:prstGeom>
          <a:solidFill>
            <a:srgbClr val="13294F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337560"/>
            <a:ext cx="25347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8658" y="3337560"/>
            <a:ext cx="3258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of verified transactions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4114800"/>
            <a:ext cx="6035040" cy="777240"/>
          </a:xfrm>
          <a:prstGeom prst="rect">
            <a:avLst/>
          </a:prstGeom>
          <a:solidFill>
            <a:srgbClr val="0A1F3D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4114800"/>
            <a:ext cx="25347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Block Hash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8658" y="4114800"/>
            <a:ext cx="3258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000af3...9c21 (links to prior block)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4892040"/>
            <a:ext cx="6035040" cy="777240"/>
          </a:xfrm>
          <a:prstGeom prst="rect">
            <a:avLst/>
          </a:prstGeom>
          <a:solidFill>
            <a:srgbClr val="13294F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892040"/>
            <a:ext cx="25347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8658" y="4892040"/>
            <a:ext cx="3258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adjusted during mining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5669280"/>
            <a:ext cx="6035040" cy="777240"/>
          </a:xfrm>
          <a:prstGeom prst="rect">
            <a:avLst/>
          </a:prstGeom>
          <a:solidFill>
            <a:srgbClr val="0A1F3D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5669280"/>
            <a:ext cx="25347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Block Hash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8658" y="5669280"/>
            <a:ext cx="3258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000b71...44de (this block’s fingerprint)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1783080"/>
            <a:ext cx="6035040" cy="4663440"/>
          </a:xfrm>
          <a:prstGeom prst="rect">
            <a:avLst/>
          </a:prstGeom>
          <a:ln w="25400">
            <a:solidFill>
              <a:srgbClr val="FFB627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THE CHAIN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Connected by Previous Hash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651760"/>
            <a:ext cx="22844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00a1..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5648" y="322326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9696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0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3564560" y="2651760"/>
            <a:ext cx="22844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00a1..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3824" y="322326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87872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6342736" y="2651760"/>
            <a:ext cx="22844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00b7..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1999" y="322326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66047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FFB627"/>
          </a:solidFill>
          <a:ln/>
        </p:spPr>
      </p:sp>
      <p:sp>
        <p:nvSpPr>
          <p:cNvPr id="16" name="Text 14"/>
          <p:cNvSpPr/>
          <p:nvPr/>
        </p:nvSpPr>
        <p:spPr>
          <a:xfrm>
            <a:off x="9120911" y="2651760"/>
            <a:ext cx="22844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00c4..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stores the hash of the block immediately before it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tamper-evident chain: changing one block invalidates every block after it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can instantly detect any break in this chain of hashes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FINGERPRINT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Hashing?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converts any input into a fixed-length string of characters.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Function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reverse a hash to recover the original input.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Output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input, small or huge, always produces an output of the same length.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Effect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even one character in the input produces a completely different hash.</a:t>
            </a:r>
            <a:endParaRPr lang="en-US" sz="11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FINGERPRINT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Example — The Avalanche Effect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320186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691640"/>
            <a:ext cx="3210458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51706" y="21259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5754" y="1691640"/>
            <a:ext cx="3320186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490618" y="1691640"/>
            <a:ext cx="3210458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 (SHA-256)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55941" y="21259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9989" y="1691640"/>
            <a:ext cx="3320186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853" y="1691640"/>
            <a:ext cx="3210458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Output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"Pantech Day 1"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3360420"/>
            <a:ext cx="6400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0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0175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C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5f4dcc3b5aa765d61d8327deb882cf99...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"Pantech Day 2"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4366260"/>
            <a:ext cx="6400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63440" y="402336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13294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40233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C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a94a8fe5ccb19ba61c4c0873d391e987...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one-character change in the input produces a totally unrelated hash — this is the avalanche effect.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Immutability &amp; Tampering Demonstration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Chain — Valid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93644" y="208026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9404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3459404" y="169164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12968" y="208026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78728" y="169164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291" y="208026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98051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051" y="169164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Tampering — Broken Chain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13294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4612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93644" y="363474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59404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FDEDED"/>
          </a:solidFill>
          <a:ln w="19050">
            <a:solidFill>
              <a:srgbClr val="E8A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9404" y="324612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(Modified)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12968" y="3634740"/>
            <a:ext cx="365760" cy="914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78728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FDEDED"/>
          </a:solidFill>
          <a:ln w="19050">
            <a:solidFill>
              <a:srgbClr val="E8A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324612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(Invalid)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32291" y="3634740"/>
            <a:ext cx="365760" cy="914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051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FDEDED"/>
          </a:solidFill>
          <a:ln w="19050">
            <a:solidFill>
              <a:srgbClr val="E8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051" y="3246120"/>
            <a:ext cx="2453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(Invalid)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Block 2 changes its hash, so every following block’s “previous hash” no longer matches — the tampering is immediately visible to the network.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Ledger Technology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that keeps every copy of the chain in sync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FUNDAMENTALS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Ledger vs Traditional Database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Ledger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across network participants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master 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copies on many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authority writes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required to 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Resilient — no single point of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the 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the protocol &amp;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Network &amp; Node Types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Communication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connect and share data directly, without a central server routing traffic.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complete ledger and independently validates every transaction and block.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Node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essential data and relies on full nodes for detailed verification.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/ Miner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in the consensus process to propose and confirm new blocks.</a:t>
            </a:r>
            <a:endParaRPr lang="en-US" sz="11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Network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535528" y="1508760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3672688" y="1508760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08875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5528" y="2235055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  <a:ln/>
        </p:spPr>
      </p:sp>
      <p:sp>
        <p:nvSpPr>
          <p:cNvPr id="10" name="Text 8"/>
          <p:cNvSpPr/>
          <p:nvPr/>
        </p:nvSpPr>
        <p:spPr>
          <a:xfrm>
            <a:off x="3672688" y="2235055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2815046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35528" y="2961350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3672688" y="2961350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Network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354134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35528" y="3687645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3672688" y="3687645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426763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35528" y="4413939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3672688" y="4413939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5848" y="4993930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35528" y="5140234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  <a:ln/>
        </p:spPr>
      </p:sp>
      <p:sp>
        <p:nvSpPr>
          <p:cNvPr id="22" name="Text 20"/>
          <p:cNvSpPr/>
          <p:nvPr/>
        </p:nvSpPr>
        <p:spPr>
          <a:xfrm>
            <a:off x="3672688" y="5140234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Creation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572022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35528" y="5866529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  <a:ln/>
        </p:spPr>
      </p:sp>
      <p:sp>
        <p:nvSpPr>
          <p:cNvPr id="25" name="Text 23"/>
          <p:cNvSpPr/>
          <p:nvPr/>
        </p:nvSpPr>
        <p:spPr>
          <a:xfrm>
            <a:off x="3672688" y="5866529"/>
            <a:ext cx="484632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Blockchain Example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an actual Bitcoin transaction, step by step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 Sends 0.1 BTC to Bob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874520" y="2606040"/>
            <a:ext cx="1005840" cy="100584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00C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(Sender)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41080" y="2606040"/>
            <a:ext cx="1005840" cy="100584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00C9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5528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(Receiver)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3108960"/>
            <a:ext cx="5669280" cy="914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0008" y="23317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14" name="Text 12"/>
          <p:cNvSpPr/>
          <p:nvPr/>
        </p:nvSpPr>
        <p:spPr>
          <a:xfrm>
            <a:off x="5090008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BTC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109115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does not send money through a bank — she broadcasts a signed transaction to the network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of nodes verifies and records the transfer without any central intermediary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Transaction Flow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26968" y="1508760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3764128" y="1508760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Creates Transaction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5848" y="199796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26968" y="2144268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0C9B7"/>
          </a:solidFill>
          <a:ln/>
        </p:spPr>
      </p:sp>
      <p:sp>
        <p:nvSpPr>
          <p:cNvPr id="10" name="Text 8"/>
          <p:cNvSpPr/>
          <p:nvPr/>
        </p:nvSpPr>
        <p:spPr>
          <a:xfrm>
            <a:off x="3764128" y="2144268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Applied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5848" y="263347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26968" y="2779776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3764128" y="2779776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Network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5848" y="3268980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26968" y="3415284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3764128" y="3415284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Verify Transaction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95848" y="3904488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26968" y="4050792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3764128" y="4050792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Reached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95848" y="4539996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26968" y="4686300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0C9B7"/>
          </a:solidFill>
          <a:ln/>
        </p:spPr>
      </p:sp>
      <p:sp>
        <p:nvSpPr>
          <p:cNvPr id="22" name="Text 20"/>
          <p:cNvSpPr/>
          <p:nvPr/>
        </p:nvSpPr>
        <p:spPr>
          <a:xfrm>
            <a:off x="3764128" y="4686300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Included in Block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95848" y="517550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26968" y="5321808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A1F3D"/>
          </a:solidFill>
          <a:ln/>
        </p:spPr>
      </p:sp>
      <p:sp>
        <p:nvSpPr>
          <p:cNvPr id="25" name="Text 23"/>
          <p:cNvSpPr/>
          <p:nvPr/>
        </p:nvSpPr>
        <p:spPr>
          <a:xfrm>
            <a:off x="3764128" y="5321808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Added to Blockchain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5848" y="581101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26968" y="5957316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FFB627"/>
          </a:solidFill>
          <a:ln/>
        </p:spPr>
      </p:sp>
      <p:sp>
        <p:nvSpPr>
          <p:cNvPr id="28" name="Text 26"/>
          <p:cNvSpPr/>
          <p:nvPr/>
        </p:nvSpPr>
        <p:spPr>
          <a:xfrm>
            <a:off x="3764128" y="5957316"/>
            <a:ext cx="4663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Receives Confirmation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&amp; CONFIDENCE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Validation &amp; Confirmations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Check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transaction was authorized by the actual owner of the funds.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Rule Check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transaction follows the network’s protocol rules.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/ UTXO Check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sender actually has the funds being spent.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Check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must agree the transaction is valid before it is final.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Confirmations?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block added after yours is one “confirmation” — more confirmations mean greater certainty the transaction cannot be reversed.</a:t>
            </a:r>
            <a:endParaRPr lang="en-US" sz="11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Foundations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 that secures every blockchain transaction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SECRECY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Cryptography &amp; Its Role in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information unreadable to unauthorized parties.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data has not been altered in transit or storage.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266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identity of the party sending information.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266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284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sender from later denying they made a transaction.</a:t>
            </a:r>
            <a:endParaRPr lang="en-US" sz="11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and Decryption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830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51706" y="21717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35754" y="17830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4490618" y="17830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55941" y="21717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39989" y="17830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14" name="Text 12"/>
          <p:cNvSpPr/>
          <p:nvPr/>
        </p:nvSpPr>
        <p:spPr>
          <a:xfrm>
            <a:off x="8194853" y="17830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51706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35754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  <a:ln/>
        </p:spPr>
      </p:sp>
      <p:sp>
        <p:nvSpPr>
          <p:cNvPr id="20" name="Text 18"/>
          <p:cNvSpPr/>
          <p:nvPr/>
        </p:nvSpPr>
        <p:spPr>
          <a:xfrm>
            <a:off x="4490618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55941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9989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23" name="Text 21"/>
          <p:cNvSpPr/>
          <p:nvPr/>
        </p:nvSpPr>
        <p:spPr>
          <a:xfrm>
            <a:off x="8194853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109115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transforms readable data (plaintext) into unreadable data (ciphertext)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reverses the process, restoring the original readable data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blockchain relies mainly on hash functions and digital signatures — encryption is used by surrounding systems (like wallets), not to encrypt every on-chain transaction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 vs Asymmetric Cryptography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encrypts and decrypts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fast, efficient for large data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must be shared secretly beforehand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AES, DES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public and private keys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secret needs to travel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symmetric methods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RSA, ECDSA (used in blockchain)</a:t>
            </a:r>
            <a:endParaRPr lang="en-US" sz="12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 — Advanced Encryption Standard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trusted symmetric encryption algorithm adopted as a global standard.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strong security with efficient, fast performance.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Sizes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128-bit, 192-bit, and 256-bit keys.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files, databases, VPNs, and Wi-Fi communications.</a:t>
            </a:r>
            <a:endParaRPr lang="en-US" sz="11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— Data Encryption Standard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as a US government standard in the 1970s.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block cipher using a 56-bit key.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small key size makes it vulnerable to brute-force attacks.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Today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obsolete for modern security; replaced by AES.</a:t>
            </a:r>
            <a:endParaRPr lang="en-US" sz="11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 vs DES</a:t>
            </a:r>
            <a:endParaRPr lang="en-US" sz="27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/ 192 / 256-bit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by modern standards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industry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relative to key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and 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Rare, legacy systems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Widely used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KEYS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Cryptography &amp; RSA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shared openly; used to encrypt data or verify signatures.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secret by the owner; used to decrypt data or create signatures.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earliest and most widely used asymmetric algorithms.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exchange, encryption, and digital signatures.</a:t>
            </a:r>
            <a:endParaRPr lang="en-US" sz="11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 Working Diagram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26968" y="1508760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3764128" y="1508760"/>
            <a:ext cx="466344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95848" y="2379269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26968" y="2525573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  <a:ln/>
        </p:spPr>
      </p:sp>
      <p:sp>
        <p:nvSpPr>
          <p:cNvPr id="10" name="Text 8"/>
          <p:cNvSpPr/>
          <p:nvPr/>
        </p:nvSpPr>
        <p:spPr>
          <a:xfrm>
            <a:off x="3764128" y="2525573"/>
            <a:ext cx="466344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with Public Key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48" y="339608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26968" y="3542386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3764128" y="3542386"/>
            <a:ext cx="466344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5848" y="441289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26968" y="4559198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3764128" y="4559198"/>
            <a:ext cx="466344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with Private Key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95848" y="5429707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26968" y="5576011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3764128" y="5576011"/>
            <a:ext cx="466344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Message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IT’S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 Applications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Communication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exchanged over the internet (e.g. HTTPS).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authenticity and integrity of digital documents.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shares symmetric keys over insecure channels.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identity in secure login and access systems.</a:t>
            </a:r>
            <a:endParaRPr lang="en-US" sz="11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AUTHORSHIP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Signature — How It Works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83080"/>
            <a:ext cx="2366696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7944" y="217170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82264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3537128" y="1783080"/>
            <a:ext cx="2366696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58688" y="217170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33008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87872" y="1783080"/>
            <a:ext cx="2366696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w/ Private Key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9431" y="217170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3751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17" name="Text 15"/>
          <p:cNvSpPr/>
          <p:nvPr/>
        </p:nvSpPr>
        <p:spPr>
          <a:xfrm>
            <a:off x="9038615" y="1783080"/>
            <a:ext cx="2366696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Signature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51706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35754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90618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w/ Public Key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5941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39989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26" name="Text 24"/>
          <p:cNvSpPr/>
          <p:nvPr/>
        </p:nvSpPr>
        <p:spPr>
          <a:xfrm>
            <a:off x="8194853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Invalid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109115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signature proves who created a message and that it was not altered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public key can verify the signature — only the private key holder could have created it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AUTHORIZATION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Signatures in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Ownership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proves the sender genuinely owns the funds being spent.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Authorizing Transactions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blockchain transaction must be signed with the sender’s private key.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Forgery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can spend funds or forge a transaction without the private key.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Encryption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prove authenticity — they do not hide the transaction content.</a:t>
            </a:r>
            <a:endParaRPr lang="en-US" sz="11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Mechanisms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decentralized network agrees on a single version of the truth</a:t>
            </a:r>
            <a:endParaRPr lang="en-US" sz="1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WITHOUT A BOSS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Consensus &amp; Why is it Needed?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Authority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party to declare which transactions are valid.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Nodes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consensus mechanism lets independent nodes reach the same conclusion.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Invalid Transactions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rules reject double-spends and malformed transactions.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Consistency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node’s copy of the ledger identical over time.</a:t>
            </a:r>
            <a:endParaRPr lang="en-US" sz="11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Consensus Mechanisms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5581" y="1892808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8" name="Text 6"/>
          <p:cNvSpPr/>
          <p:nvPr/>
        </p:nvSpPr>
        <p:spPr>
          <a:xfrm>
            <a:off x="2135581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247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" y="278892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Miners solve computational puzzles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62602" y="1691640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8104" y="1892808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5858104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2330" y="2468880"/>
            <a:ext cx="3247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Stake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90618" y="278892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stake assets to participate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85125" y="1691640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80626" y="1892808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8" name="Text 16"/>
          <p:cNvSpPr/>
          <p:nvPr/>
        </p:nvSpPr>
        <p:spPr>
          <a:xfrm>
            <a:off x="9580626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94853" y="2468880"/>
            <a:ext cx="3247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PoS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13141" y="278892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vote for delegates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50792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5581" y="4251960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1"/>
          <p:cNvSpPr/>
          <p:nvPr/>
        </p:nvSpPr>
        <p:spPr>
          <a:xfrm>
            <a:off x="2135581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4828032"/>
            <a:ext cx="3247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Authority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" y="514807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validators confirm blocks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62602" y="4050792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8104" y="4251960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8" name="Text 26"/>
          <p:cNvSpPr/>
          <p:nvPr/>
        </p:nvSpPr>
        <p:spPr>
          <a:xfrm>
            <a:off x="5858104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72330" y="4828032"/>
            <a:ext cx="3247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90618" y="514807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Byzantine Fault Tolerant voting rounds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85125" y="4050792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80626" y="4251960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3" name="Text 31"/>
          <p:cNvSpPr/>
          <p:nvPr/>
        </p:nvSpPr>
        <p:spPr>
          <a:xfrm>
            <a:off x="9580626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94853" y="4828032"/>
            <a:ext cx="3247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13141" y="514807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emerging mechanisms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IN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Work — How Mining Works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352648" y="1508760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3489808" y="1508760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 Collects Pending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48" y="208875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2648" y="2235055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  <a:ln/>
        </p:spPr>
      </p:sp>
      <p:sp>
        <p:nvSpPr>
          <p:cNvPr id="10" name="Text 8"/>
          <p:cNvSpPr/>
          <p:nvPr/>
        </p:nvSpPr>
        <p:spPr>
          <a:xfrm>
            <a:off x="3489808" y="2235055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Candidate Block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2815046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52648" y="2961350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89808" y="2961350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Block Hash with a Nonce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5848" y="354134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2648" y="3687645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3489808" y="3687645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Hash Against Difficulty Target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48" y="426763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2648" y="4413939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3489808" y="4413939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Nonce &amp; Retries if Needed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4993930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52648" y="5140234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  <a:ln/>
        </p:spPr>
      </p:sp>
      <p:sp>
        <p:nvSpPr>
          <p:cNvPr id="22" name="Text 20"/>
          <p:cNvSpPr/>
          <p:nvPr/>
        </p:nvSpPr>
        <p:spPr>
          <a:xfrm>
            <a:off x="3489808" y="5140234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Hash Found — Block Broadcast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5848" y="572022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52648" y="5866529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  <a:ln/>
        </p:spPr>
      </p:sp>
      <p:sp>
        <p:nvSpPr>
          <p:cNvPr id="25" name="Text 23"/>
          <p:cNvSpPr/>
          <p:nvPr/>
        </p:nvSpPr>
        <p:spPr>
          <a:xfrm>
            <a:off x="3489808" y="5866529"/>
            <a:ext cx="5212080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Confirms &amp; Miner Earns Reward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Work — Advantages &amp; Disadvantages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consumption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specialized hardware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transaction throughput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scalability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battle-tested security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degree of decentralization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manipulation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large scale (Bitcoin)</a:t>
            </a:r>
            <a:endParaRPr lang="en-US" sz="12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STAKE-BASED CONSENSUS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Stake — How It Works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352648" y="1508760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3489808" y="1508760"/>
            <a:ext cx="521208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Lock Up (Stake) Assets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379269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2648" y="2525573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  <a:ln/>
        </p:spPr>
      </p:sp>
      <p:sp>
        <p:nvSpPr>
          <p:cNvPr id="10" name="Text 8"/>
          <p:cNvSpPr/>
          <p:nvPr/>
        </p:nvSpPr>
        <p:spPr>
          <a:xfrm>
            <a:off x="3489808" y="2525573"/>
            <a:ext cx="521208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Selects a Validator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339608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52648" y="3542386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89808" y="3542386"/>
            <a:ext cx="521208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Proposes / Attests a Block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441289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2648" y="4559198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3489808" y="4559198"/>
            <a:ext cx="521208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Validators Confirm Consensus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5429707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2648" y="5576011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3489808" y="5576011"/>
            <a:ext cx="521208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Given — Penalties for Misbehavior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Work vs Proof of Stake</a:t>
            </a:r>
            <a:endParaRPr lang="en-US" sz="27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Stake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puzzle solving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Staked assets &amp;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Needs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mining rigs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servers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to any miner with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holding 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reward +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Staking rewards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 hash-power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 concentration / slashing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network model for the use case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Blockchain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anyone; fully decentralized. Example: Bitcoin, Ethereum.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Blockchain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one organization; centralized control. Example: internal enterprise ledger.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Blockchain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7413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jointly by a group of organizations. Example: banking consortiums.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Blockchain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74136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public transparency with private restricted access.</a:t>
            </a:r>
            <a:endParaRPr lang="en-US" sz="11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Types Comparison</a:t>
            </a:r>
            <a:endParaRPr lang="en-US" sz="27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to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decentralized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Bitcoin, Ethereum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ledgers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organizations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networks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decentralized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Cryptocurrency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money built directly on blockchain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REIMAGINED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Cryptocurrency vs Traditional Currency</a:t>
            </a:r>
            <a:endParaRPr lang="en-US" sz="27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Currency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Cryptocurrency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 by central banks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Decentralized issuance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/ bank controlled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/ protocol controlled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banks &amp; processors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Peer-to-peer on blockchain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public visibility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Publicly verifiable ledger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CRYPTOCURRENCY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Bitcoin?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decentralized cryptocurrency, launched in 2009.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Created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peer-to-peer digital payments without banks.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Characteristics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supply of 21 million coins; secured by Proof of Work.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Relationship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is an application; blockchain is the underlying technology.</a:t>
            </a:r>
            <a:endParaRPr lang="en-US" sz="11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PROGRAMMABLE BLOCKCHAIN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Ethereum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 platform launched in 2015, designed for programmability.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 (ETH)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cryptocurrency used to pay for computation on the network.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Self-executing code that runs directly on the blockchain.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Blockchain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decentralized applications (dApps) beyond simple payments.</a:t>
            </a:r>
            <a:endParaRPr lang="en-US" sz="11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GIANTS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vs Ethereum</a:t>
            </a:r>
            <a:endParaRPr lang="en-US" sz="27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currency / store of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Programmable smart contract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(current)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Capped at 21 million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fixed hard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SELF-EXECUTING CODE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Smart Contract?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a vending machine: insert the right coins (condition met) and the snack is released automatically — no cashier required.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535528" y="2651760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3672688" y="265176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Defined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5848" y="336499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35528" y="3511296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00C9B7"/>
          </a:solidFill>
          <a:ln/>
        </p:spPr>
      </p:sp>
      <p:sp>
        <p:nvSpPr>
          <p:cNvPr id="12" name="Text 10"/>
          <p:cNvSpPr/>
          <p:nvPr/>
        </p:nvSpPr>
        <p:spPr>
          <a:xfrm>
            <a:off x="3672688" y="351129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Smart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5848" y="4224528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35528" y="4370832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0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3672688" y="437083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508406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35528" y="5230368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B627"/>
          </a:solidFill>
          <a:ln/>
        </p:spPr>
      </p:sp>
      <p:sp>
        <p:nvSpPr>
          <p:cNvPr id="18" name="Text 16"/>
          <p:cNvSpPr/>
          <p:nvPr/>
        </p:nvSpPr>
        <p:spPr>
          <a:xfrm>
            <a:off x="3672688" y="523036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USE, REAL TRADE-OFFS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 Example, Benefits &amp; Limitations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need for manual enforcement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 and delay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logic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auto-release payment on delivery confirmation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Risks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bugs can be exploited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hard to modify once deployed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depends on accurate outside data ("oracles")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enforceability varies by jurisdiction</a:t>
            </a:r>
            <a:endParaRPr lang="en-US" sz="12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industries already being transformed</a:t>
            </a:r>
            <a:endParaRPr lang="en-US" sz="14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0266" y="1847088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8" name="Text 6"/>
          <p:cNvSpPr/>
          <p:nvPr/>
        </p:nvSpPr>
        <p:spPr>
          <a:xfrm>
            <a:off x="1670266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423160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" y="2743200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transparent settlements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1972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158" y="1847088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15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1700" y="2423160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59988" y="2743200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traceability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3864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4050" y="1847088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8" name="Text 16"/>
          <p:cNvSpPr/>
          <p:nvPr/>
        </p:nvSpPr>
        <p:spPr>
          <a:xfrm>
            <a:off x="725405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3592" y="2423160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1880" y="2743200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shareable patient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15755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5941" y="1847088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5941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25483" y="2423160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3771" y="2743200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public 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70266" y="4251960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8" name="Text 26"/>
          <p:cNvSpPr/>
          <p:nvPr/>
        </p:nvSpPr>
        <p:spPr>
          <a:xfrm>
            <a:off x="1670266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4828032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8096" y="5148072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digital certificates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31972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62158" y="4251960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3" name="Text 31"/>
          <p:cNvSpPr/>
          <p:nvPr/>
        </p:nvSpPr>
        <p:spPr>
          <a:xfrm>
            <a:off x="4462158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41700" y="4828032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59988" y="5148072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property records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3864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54050" y="4251960"/>
            <a:ext cx="475488" cy="475488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38" name="Text 36"/>
          <p:cNvSpPr/>
          <p:nvPr/>
        </p:nvSpPr>
        <p:spPr>
          <a:xfrm>
            <a:off x="725405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33592" y="4828032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51880" y="5148072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fraud-resistant claims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15755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45941" y="4251960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3" name="Text 41"/>
          <p:cNvSpPr/>
          <p:nvPr/>
        </p:nvSpPr>
        <p:spPr>
          <a:xfrm>
            <a:off x="10045941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25483" y="4828032"/>
            <a:ext cx="231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143771" y="5148072"/>
            <a:ext cx="2279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identity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NFTs, DeFi &amp; Web3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NFTs (Non-Fungible Tokens)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verifiable digital ownership of art, collectibles, and assets.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780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(Decentralized Finance)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79776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Lending, trading, and financial services without traditional banks.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931920"/>
            <a:ext cx="1831177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72425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8457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2983321" y="3931920"/>
            <a:ext cx="1831177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69363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5395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5180259" y="3931920"/>
            <a:ext cx="1831177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66300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22332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7377196" y="3931920"/>
            <a:ext cx="1831177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63238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19270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  <a:ln/>
        </p:spPr>
      </p:sp>
      <p:sp>
        <p:nvSpPr>
          <p:cNvPr id="27" name="Text 25"/>
          <p:cNvSpPr/>
          <p:nvPr/>
        </p:nvSpPr>
        <p:spPr>
          <a:xfrm>
            <a:off x="9574134" y="3931920"/>
            <a:ext cx="1831177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is the layered evolution built on top of blockchain’s foundation.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honest view of blockchain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CASE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participants can view the same verified history.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and consensus make records highly tamper-resistant.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266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records are extremely difficult to alter.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266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284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 or failure.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3982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7000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can be traced through its full history.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0568" y="43982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Intermediaries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30568" y="4700016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cost and delay by removing unnecessary middlemen.</a:t>
            </a:r>
            <a:endParaRPr lang="en-US" sz="118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TRADE-OFFS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Security Challenges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constraints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storage &amp; energy requirements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regulation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 &amp; user experience friction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Challenges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attacks on smaller networks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loss = permanent loss of funds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vulnerabilities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Sybil attacks, bridge exploits</a:t>
            </a:r>
            <a:endParaRPr lang="en-US" sz="128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Blockchain Ecosystem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wallets, nodes, and applications connect around the network</a:t>
            </a:r>
            <a:endParaRPr lang="en-US" sz="14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Blockchain Ecosystem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18608" y="3383280"/>
            <a:ext cx="1554480" cy="82296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8608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48" y="2261311"/>
            <a:ext cx="914" cy="1533449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6095848" y="2838670"/>
            <a:ext cx="1537049" cy="9560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095848" y="3794760"/>
            <a:ext cx="1916669" cy="341224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095848" y="3794760"/>
            <a:ext cx="852998" cy="13815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5242850" y="3794760"/>
            <a:ext cx="852998" cy="13815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4179178" y="3794760"/>
            <a:ext cx="1916669" cy="341224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558798" y="2838670"/>
            <a:ext cx="1537049" cy="9560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318608" y="2005279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  <a:ln/>
        </p:spPr>
      </p:sp>
      <p:sp>
        <p:nvSpPr>
          <p:cNvPr id="16" name="Text 14"/>
          <p:cNvSpPr/>
          <p:nvPr/>
        </p:nvSpPr>
        <p:spPr>
          <a:xfrm>
            <a:off x="5318608" y="2005279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5657" y="258263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5657" y="2582638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35277" y="3879952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  <a:ln/>
        </p:spPr>
      </p:sp>
      <p:sp>
        <p:nvSpPr>
          <p:cNvPr id="20" name="Text 18"/>
          <p:cNvSpPr/>
          <p:nvPr/>
        </p:nvSpPr>
        <p:spPr>
          <a:xfrm>
            <a:off x="7235277" y="3879952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1606" y="492031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22" name="Text 20"/>
          <p:cNvSpPr/>
          <p:nvPr/>
        </p:nvSpPr>
        <p:spPr>
          <a:xfrm>
            <a:off x="6171606" y="4920318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65610" y="492031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  <a:ln/>
        </p:spPr>
      </p:sp>
      <p:sp>
        <p:nvSpPr>
          <p:cNvPr id="24" name="Text 22"/>
          <p:cNvSpPr/>
          <p:nvPr/>
        </p:nvSpPr>
        <p:spPr>
          <a:xfrm>
            <a:off x="4465610" y="4920318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Miners / Validators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938" y="3879952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938" y="3879952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81558" y="258263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  <a:ln/>
        </p:spPr>
      </p:sp>
      <p:sp>
        <p:nvSpPr>
          <p:cNvPr id="28" name="Text 26"/>
          <p:cNvSpPr/>
          <p:nvPr/>
        </p:nvSpPr>
        <p:spPr>
          <a:xfrm>
            <a:off x="3781558" y="2582638"/>
            <a:ext cx="155448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dApps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IDENTITY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 &amp; Public / Private Keys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Address — shareable, like an account number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— secret, proves ownership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— a third party holds your keys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— you alone control your keys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 vs Private Key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Key: shared openly, used to receive funds or verify signatures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Key: kept secret, used to sign and authorize transactions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holds the private key controls the funds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 private key means permanently losing access</a:t>
            </a:r>
            <a:endParaRPr lang="en-US" sz="128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in Context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Comparisons, the road ahead, and career pathways</a:t>
            </a:r>
            <a:endParaRPr lang="en-US" sz="14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RELATES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vs Other Technologies</a:t>
            </a:r>
            <a:endParaRPr lang="en-US" sz="27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to Blockchain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trades some speed &amp; flexibility for decentralization and immutability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centralizes infrastructure; blockchain can run on top of cloud while staying decentralized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 analyze on-chain data; blockchain can verify the provenance of AI 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of Things (IoT)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can securely log data from millions of connected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of Blockchain &amp; Enterprise Adoption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Adoption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organizations are piloting blockchain for supply chain, finance, and identity.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networks aim to communicate seamlessly across different blockchains.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Solutions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networks and new consensus designs are improving speed and cost.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Maturing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legal frameworks are emerging worldwide for blockchain and crypto.</a:t>
            </a:r>
            <a:endParaRPr lang="en-US" sz="118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Opportunities &amp; Skills Required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Roles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Developer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/ Solidity Developer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Developer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Architect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Security Engineer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Analyst / Researcher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  <a:ln/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Skills Needed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basics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architecture &amp; Solidity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&amp; APIs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security practices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Web3 tools</a:t>
            </a:r>
            <a:endParaRPr lang="en-US" sz="128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Recap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everything covered today</a:t>
            </a:r>
            <a:endParaRPr lang="en-US" sz="14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Summary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blockchain is and the problems it solves versus centralized systems.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Blocks, hashing, distributed ledgers, and how transactions travel end-to-end.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AES, DES, RSA, and digital signatures securing the network.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&amp; Coins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Work, Proof of Stake, Bitcoin, and Ethereum.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contracts, industry applications, and blockchain’s future.</a:t>
            </a:r>
            <a:endParaRPr lang="en-US" sz="118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1790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 shared, tamper-evident digital ledger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1207008" y="181965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51790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 removes the need for a single trusted authority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830568" y="181965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29514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links blocks together and makes tampering detectable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1207008" y="259689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229514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secures identity, ownership, and authenticity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830568" y="259689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mechanisms let nodes agree without a central boss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1207008" y="337413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6" name="Shape 24"/>
          <p:cNvSpPr/>
          <p:nvPr/>
        </p:nvSpPr>
        <p:spPr>
          <a:xfrm>
            <a:off x="6263640" y="310896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0568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 relies on computation; Proof of Stake relies on staked assets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6830568" y="337413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0" name="Shape 28"/>
          <p:cNvSpPr/>
          <p:nvPr/>
        </p:nvSpPr>
        <p:spPr>
          <a:xfrm>
            <a:off x="640080" y="3886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07008" y="384962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is a currency; blockchain is the technology beneath it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1207008" y="415137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4" name="Shape 32"/>
          <p:cNvSpPr/>
          <p:nvPr/>
        </p:nvSpPr>
        <p:spPr>
          <a:xfrm>
            <a:off x="6263640" y="388620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30568" y="384962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let agreements execute automatically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6830568" y="415137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8" name="Shape 36"/>
          <p:cNvSpPr/>
          <p:nvPr/>
        </p:nvSpPr>
        <p:spPr>
          <a:xfrm>
            <a:off x="640080" y="466344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07008" y="46268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consortium, and hybrid chains suit different needs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1207008" y="492861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2" name="Shape 40"/>
          <p:cNvSpPr/>
          <p:nvPr/>
        </p:nvSpPr>
        <p:spPr>
          <a:xfrm>
            <a:off x="6263640" y="46634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30568" y="46268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still faces real limits: scalability, energy, and regulation</a:t>
            </a:r>
            <a:endParaRPr lang="en-US" sz="1230" dirty="0"/>
          </a:p>
        </p:txBody>
      </p:sp>
      <p:sp>
        <p:nvSpPr>
          <p:cNvPr id="45" name="Text 43"/>
          <p:cNvSpPr/>
          <p:nvPr/>
        </p:nvSpPr>
        <p:spPr>
          <a:xfrm>
            <a:off x="6830568" y="492861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6" name="Shape 44"/>
          <p:cNvSpPr/>
          <p:nvPr/>
        </p:nvSpPr>
        <p:spPr>
          <a:xfrm>
            <a:off x="640080" y="544068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440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07008" y="540410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span finance, healthcare, supply chain, and government</a:t>
            </a:r>
            <a:endParaRPr lang="en-US" sz="1230" dirty="0"/>
          </a:p>
        </p:txBody>
      </p:sp>
      <p:sp>
        <p:nvSpPr>
          <p:cNvPr id="49" name="Text 47"/>
          <p:cNvSpPr/>
          <p:nvPr/>
        </p:nvSpPr>
        <p:spPr>
          <a:xfrm>
            <a:off x="1207008" y="570585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50" name="Shape 48"/>
          <p:cNvSpPr/>
          <p:nvPr/>
        </p:nvSpPr>
        <p:spPr>
          <a:xfrm>
            <a:off x="6263640" y="54406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1" name="Text 49"/>
          <p:cNvSpPr/>
          <p:nvPr/>
        </p:nvSpPr>
        <p:spPr>
          <a:xfrm>
            <a:off x="6263640" y="5440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30568" y="540410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builds identity, apps, and finance on top of blockchain</a:t>
            </a:r>
            <a:endParaRPr lang="en-US" sz="1230" dirty="0"/>
          </a:p>
        </p:txBody>
      </p:sp>
      <p:sp>
        <p:nvSpPr>
          <p:cNvPr id="53" name="Text 51"/>
          <p:cNvSpPr/>
          <p:nvPr/>
        </p:nvSpPr>
        <p:spPr>
          <a:xfrm>
            <a:off x="6830568" y="570585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 Check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decentralization solve?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2219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can’t a hash be reversed to find its input?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40080" y="2843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8437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stored inside a block?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34655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Proof of Work confirm a new block?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40080" y="4087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40873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Bitcoin and blockchain?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private key never shared?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126480" y="2221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22219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Proof of Stake more energy-efficient?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126480" y="2843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28437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digital signature actually prove?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126480" y="3465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34655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real-world blockchain application.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126480" y="4087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0528" y="40873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a smart contract to execute?</a:t>
            </a:r>
            <a:endParaRPr lang="en-US" sz="128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Quiz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does a hash function guarantee?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Reversibility    B) Fixed-length output    C) Encryption    D) Compression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Which consensus mechanism uses staking?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0848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Proof of Work    B) Proof of Stake    C) Hashing    D) RSA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Bitcoin’s maximum supply is capped at: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6850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10 million    B) 21 million    C) Unlimited    D) 100 million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263640" y="31546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46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Smart contracts primarily run on: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6850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Ethereum-style platforms    B) Traditional banks    C) Central servers    D) Paper ledgers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AES is an example of: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Asymmetric encryption    B) Symmetric encryption    C) Hashing    D) A consensus model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63640" y="47548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463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A private key is used to: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852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Share publicly    B) Sign transactions    C) Mine blocks    D) Store passwords</a:t>
            </a:r>
            <a:endParaRPr lang="en-US" sz="103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9875520" y="4330598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9875520" y="4330598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825792" y="4725619"/>
            <a:ext cx="914" cy="7900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9875520" y="4725619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9875520" y="5515661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8925248" y="5515661"/>
            <a:ext cx="1900545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925248" y="5515661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925248" y="4725619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925248" y="4725619"/>
            <a:ext cx="914" cy="7900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8925248" y="4330598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8925248" y="4330598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925248" y="4725619"/>
            <a:ext cx="1900545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816084" y="427116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66356" y="4666183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66356" y="545622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16084" y="585124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5812" y="545622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5812" y="4666183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194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WORKSHOP CONCLUSION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6060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Centralized Trust to Decentralized Trust”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traced blockchain’s journey — from the limits of centralized systems, through cryptography and consensus, to the real-world networks powering Bitcoin, Ethereum, and Web3.</a:t>
            </a:r>
            <a:endParaRPr lang="en-US" sz="14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Next? — Day 2 Preview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Architecture Deep Dive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technical look at network design.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&amp; Ethereum In-Depth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their protocols beyond the basics.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&amp; Solidity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introduction to writing smart contracts.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Wallets, Web3 &amp; dApps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tools for building on blockchain.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Blockchain Development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coding exercises to apply Day 1 concepts.</a:t>
            </a:r>
            <a:endParaRPr lang="en-US" sz="118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011680" y="46451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11680" y="46451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882763" y="82661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011680" y="82661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011680" y="155082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140597" y="155082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40597" y="155082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40597" y="82661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40597" y="826618"/>
            <a:ext cx="0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1140597" y="46451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1140597" y="46451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40597" y="82661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956816" y="409651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7899" y="771754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27899" y="1495958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56816" y="1858061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5733" y="1495958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5733" y="771754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4787798"/>
            <a:ext cx="857888" cy="29745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149840" y="4787798"/>
            <a:ext cx="1069769" cy="9658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007728" y="5085257"/>
            <a:ext cx="211881" cy="66838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10625932" y="5085257"/>
            <a:ext cx="381796" cy="1204386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 flipV="1">
            <a:off x="10625932" y="5753641"/>
            <a:ext cx="593677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9673748" y="5753641"/>
            <a:ext cx="1545861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673748" y="6289643"/>
            <a:ext cx="952184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080071" y="5753641"/>
            <a:ext cx="1545861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080071" y="5753641"/>
            <a:ext cx="593677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291952" y="5085257"/>
            <a:ext cx="381796" cy="1204386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9080071" y="5085257"/>
            <a:ext cx="211881" cy="66838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 flipV="1">
            <a:off x="9080071" y="4787798"/>
            <a:ext cx="1069769" cy="9658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9291952" y="4787798"/>
            <a:ext cx="857888" cy="29745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291952" y="5085257"/>
            <a:ext cx="1715776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090404" y="472836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48292" y="5025821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60173" y="569420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6496" y="6230207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14312" y="6230207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20635" y="569420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32516" y="5025821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3" name="Text 41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Pantech E-Learning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— Day 1 Workshop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2026-08-23T03:06:29Z</dcterms:created>
  <dcterms:modified xsi:type="dcterms:W3CDTF">2026-08-23T03:06:29Z</dcterms:modified>
</cp:coreProperties>
</file>
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59" r:id="rId205"/>
    <p:sldId id="460" r:id="rId206"/>
    <p:sldId id="461" r:id="rId207"/>
    <p:sldId id="462" r:id="rId208"/>
    <p:sldId id="463" r:id="rId209"/>
    <p:sldId id="455" r:id="rId201"/>
    <p:sldId id="456" r:id="rId202"/>
    <p:sldId id="457" r:id="rId203"/>
    <p:sldId id="458" r:id="rId204"/>
    <p:sldId id="472" r:id="rId218"/>
    <p:sldId id="473" r:id="rId219"/>
    <p:sldId id="474" r:id="rId220"/>
    <p:sldId id="475" r:id="rId221"/>
    <p:sldId id="476" r:id="rId222"/>
    <p:sldId id="477" r:id="rId223"/>
  </p:sldIdLst>
  <p:notesMasterIdLst>
    <p:notesMasterId r:id="rId2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13.xml"/><Relationship Id="rId202" Type="http://schemas.openxmlformats.org/officeDocument/2006/relationships/slide" Target="slides/slide214.xml"/><Relationship Id="rId203" Type="http://schemas.openxmlformats.org/officeDocument/2006/relationships/slide" Target="slides/slide215.xml"/><Relationship Id="rId204" Type="http://schemas.openxmlformats.org/officeDocument/2006/relationships/slide" Target="slides/slide216.xml"/><Relationship Id="rId205" Type="http://schemas.openxmlformats.org/officeDocument/2006/relationships/slide" Target="slides/slide208.xml"/><Relationship Id="rId206" Type="http://schemas.openxmlformats.org/officeDocument/2006/relationships/slide" Target="slides/slide209.xml"/><Relationship Id="rId207" Type="http://schemas.openxmlformats.org/officeDocument/2006/relationships/slide" Target="slides/slide210.xml"/><Relationship Id="rId208" Type="http://schemas.openxmlformats.org/officeDocument/2006/relationships/slide" Target="slides/slide211.xml"/><Relationship Id="rId209" Type="http://schemas.openxmlformats.org/officeDocument/2006/relationships/slide" Target="slides/slide212.xml"/><Relationship Id="rId210" Type="http://schemas.openxmlformats.org/officeDocument/2006/relationships/slide" Target="slides/slide200.xml"/><Relationship Id="rId211" Type="http://schemas.openxmlformats.org/officeDocument/2006/relationships/slide" Target="slides/slide201.xml"/><Relationship Id="rId212" Type="http://schemas.openxmlformats.org/officeDocument/2006/relationships/slide" Target="slides/slide202.xml"/><Relationship Id="rId213" Type="http://schemas.openxmlformats.org/officeDocument/2006/relationships/slide" Target="slides/slide203.xml"/><Relationship Id="rId214" Type="http://schemas.openxmlformats.org/officeDocument/2006/relationships/slide" Target="slides/slide204.xml"/><Relationship Id="rId215" Type="http://schemas.openxmlformats.org/officeDocument/2006/relationships/slide" Target="slides/slide205.xml"/><Relationship Id="rId216" Type="http://schemas.openxmlformats.org/officeDocument/2006/relationships/slide" Target="slides/slide206.xml"/><Relationship Id="rId217" Type="http://schemas.openxmlformats.org/officeDocument/2006/relationships/slide" Target="slides/slide207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notesMaster" Target="notesMasters/notesMaster1.xml"/><Relationship Id="rId225" Type="http://schemas.openxmlformats.org/officeDocument/2006/relationships/presProps" Target="presProps.xml"/><Relationship Id="rId226" Type="http://schemas.openxmlformats.org/officeDocument/2006/relationships/viewProps" Target="viewProps.xml"/><Relationship Id="rId227" Type="http://schemas.openxmlformats.org/officeDocument/2006/relationships/theme" Target="theme/theme1.xml"/><Relationship Id="rId2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DEVELOPMENT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sz="1800">
                <a:solidFill>
                  <a:srgbClr val="E2E8F0"/>
                </a:solidFill>
              </a:rPr>
              <a:t>HTML + CSS + JavaScript</a:t>
            </a:r>
            <a:endParaRPr lang="en-US" sz="2800" dirty="0"/>
          </a:p>
          <a:p>
            <a:pPr algn="ctr"/>
            <a:r>
              <a:rPr sz="1800">
                <a:solidFill>
                  <a:srgbClr val="E2E8F0"/>
                </a:solidFill>
              </a:rPr>
              <a:t>From Zero to Professional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33087"/>
            <a:ext cx="36576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43800" y="4905756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Complete beginner-friendly course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25088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Learn HTML fundamentals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44337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Master CSS styling &amp; layout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3585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JavaScript programming basics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82834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Build interactive web applications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602082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Real-world projects &amp; hands-on practice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21331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Professional portfolio-ready skills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Will You Learn?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📘 HTML: The structure and content of web pages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25088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CSS: The styling and layout of websites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44337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JavaScript: The interactivity and behavior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3585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How the web works - from URL to browser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82834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Professional development tools and workflow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602082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Responsive design for all devices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21331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Real-world web development projects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Web Development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Website?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68397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website is a collection of web pages accessed via the internet.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1267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13255"/>
            <a:ext cx="7680960" cy="68397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Analogy: A website is like a 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20086"/>
            <a:ext cx="7680960" cy="68397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HTML = Content/Text of the book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26917"/>
            <a:ext cx="7680960" cy="68397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CSS = Design/Layout of the book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933748"/>
            <a:ext cx="7680960" cy="68397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JavaScript = Interactive features</a:t>
            </a:r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vs Web Application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- Displays information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News website, blog, portfolio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5598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Read content, view information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2047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APPLICATION - Interactive functionality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Gmail, Google Docs, Trello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Create, edit, save, and manage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Works like desktop software in browser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Frontend Development?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= Everything you see in your browser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9486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545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Developer creates: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4476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Visual design and layout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73502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User interface (UI)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62528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User interactions and animations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051554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Responsive designs for mobile/tablet/desktop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vs Backend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(Client-Side)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user sees: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HTML structure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CSS styling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JavaScript interactions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 in browser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HTML, CSS, JavaScript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React, Vue, Angular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(Server-Side)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behind: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 management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Business logic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authentication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 processing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Node.js, Python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PHP, Java, C#</a:t>
            </a:r>
            <a:endParaRPr lang="en-US" sz="1500" dirty="0"/>
          </a:p>
        </p:txBody>
      </p:sp>
      <p:sp>
        <p:nvSpPr>
          <p:cNvPr id="8" name="Rectangle 7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Development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Full-Stack Developer knows both Frontend &amp; Backend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Browser (Frontend)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Internet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Server (Backend)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↓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Database</a:t>
            </a:r>
            <a:endParaRPr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1188720"/>
            <a:ext cx="3657600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92608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-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657600" cy="640080"/>
          </a:xfrm>
          <a:prstGeom prst="rect">
            <a:avLst/>
          </a:prstGeom>
          <a:solidFill>
            <a:srgbClr val="004E89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92608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- Styling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834640"/>
            <a:ext cx="3657600" cy="640080"/>
          </a:xfrm>
          <a:prstGeom prst="rect">
            <a:avLst/>
          </a:prstGeom>
          <a:solidFill>
            <a:srgbClr val="F7B801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- Behavior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0" y="3657600"/>
            <a:ext cx="3657600" cy="640080"/>
          </a:xfrm>
          <a:prstGeom prst="rect">
            <a:avLst/>
          </a:prstGeom>
          <a:solidFill>
            <a:srgbClr val="009FB7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260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- Data Storage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Web Works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When You Visit a Website?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You type a URL (example.com)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1163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Browser looks up the IP address (DNS)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1742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Browser sends an HTTP request to the server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2321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Server sends back HTML, CSS, JavaScript files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Browser renders and displays the page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03479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JavaScript adds interactivity</a:t>
            </a:r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Request-Response Cycle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544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508760"/>
            <a:ext cx="1554480" cy="42454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(You)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2194560"/>
            <a:ext cx="2743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1106424"/>
            <a:ext cx="15544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86000" y="1956162"/>
            <a:ext cx="1554480" cy="42454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(Chrome)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2194560"/>
            <a:ext cx="2743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114800" y="1207008"/>
            <a:ext cx="15544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0" y="2403565"/>
            <a:ext cx="1554480" cy="42454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(Lookup)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2194560"/>
            <a:ext cx="2743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0" y="1307592"/>
            <a:ext cx="15544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0" y="2850968"/>
            <a:ext cx="1554480" cy="42454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(Host)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2194560"/>
            <a:ext cx="2743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543800" y="1408176"/>
            <a:ext cx="1554480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43800" y="3298371"/>
            <a:ext cx="1554480" cy="42454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(Files)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45774"/>
            <a:ext cx="8229600" cy="42454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visits example.com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193177"/>
            <a:ext cx="8229600" cy="42454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requests → Server processes → Server responds with HTML, CSS, JS → Browser renders page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Components Explained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DOMAIN: example.com - Name of the website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1163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DNS: Converts domain to IP address (like a phone book)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1742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ADDRESS: 192.168.1.1 - Actual server location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2321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HTTP/HTTPS: Protocol for communication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SERVER: Computer that stores files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034790"/>
            <a:ext cx="7680960" cy="58293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BROWSER: Software that displays web pages</a:t>
            </a:r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for Frontend Development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Essential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1️⃣ COMPUTER - Any laptop or desktop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2️⃣ WEB BROWSER - Chrome, Firefox, Edge, Safari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3️⃣ CODE EDITOR - Visual Studio Code (recommended)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4️⃣ TERMINAL - Command line tool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5️⃣ VERSION CONTROL - Git &amp; GitHub</a:t>
            </a: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 -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from: code.visualstudio.com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11303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VS Code?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618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Free and powerful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Great for web development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Large community &amp; extensions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Built-in terminal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Easy to learn for beginners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Developer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Press: F12 or Ctrl+Shift+I (Cmd+Opt+I on Mac)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9486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545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ELEMENTS TAB - View and edit 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4476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 TAB - Run JavaScript commands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73502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TAB - See all requests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62528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TAB - Debug JavaScript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051554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TAB - View stored data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HTML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HTML?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= HyperText Markup Language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635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693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is the FOUNDATION of every website.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744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88028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provides: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8538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Structure of web pages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6904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Headings, paragraphs, links, images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5955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Forms for user input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5006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Semantic meaning to content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= House 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a house: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255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3138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WALLS, ROOMS, DOORS = HTML (Structure)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79852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PAINT, FURNITURE, DECORATION = CSS (Style)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66567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ELECTRICITY, LIGHTS, AUTOMATION = JavaScript (Behavior)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5328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53865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comes first - then we add CSS and JavaScript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Syntax Basics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uses TAGS to structure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255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3138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tag: &lt;p&gt;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79852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Content: This is a paragraph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66567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tag: &lt;/p&gt;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5328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53865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tag: &lt;p&gt;This is a paragraph&lt;/p&gt;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Tag Anatomy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class="title"&gt;Welcome&lt;/h1&gt;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 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Name='Value'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Text/Media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as opening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slash 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element has the same structure: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&lt;tag attribute="value"&gt;Content&lt;/tag&gt;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HTML Program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HTML Program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&lt;title&gt;My Website&lt;/title&gt;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&lt;h1&gt;Hello World!&lt;/h1&gt;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&lt;p&gt;This is my first webpage.&lt;/p&gt;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web page with: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Title: "My Website"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Heading: "Hello World!"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Paragraph: "This is my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first webpage."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Program Line-by-Line Explanation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704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143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Tells browser this is HTML5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2004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56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element, wraps everything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2004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5420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514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information about page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32004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227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200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in browser tab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2004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913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visible content goes here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Document 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HTML document has this structure: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9486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545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&lt;!DOCTYPE html&gt; - Document type declaration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4476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&lt;html&gt; - Main container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73502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&lt;head&gt; - Metadata &amp; settings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62528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&lt;body&gt; - Visible content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051554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&lt;/html&gt; - Closing main container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vs Body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(Invisible)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Page title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Meta tags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Links to CSS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Links to fonts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Scripts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Character encoding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(Visible)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Paragraphs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Images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Buttons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visible content</a:t>
            </a:r>
            <a:endParaRPr lang="en-US" sz="1500" dirty="0"/>
          </a:p>
        </p:txBody>
      </p:sp>
      <p:sp>
        <p:nvSpPr>
          <p:cNvPr id="8" name="Rectangle 7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Elements - Text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Heading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&lt;h1&gt;Main Heading&lt;/h1&gt;     - Largest, most important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&lt;h2&gt;Subheading&lt;/h2&gt;       - Secondary heading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&lt;h3&gt;Sub-subheading&lt;/h3&gt;   - Third level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&lt;h4&gt;Heading 4&lt;/h4&gt;        - Fourth level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&lt;h5&gt;Heading 5&lt;/h5&gt;        - Fifth level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&lt;h6&gt;Small Heading&lt;/h6&gt;    - Smallest heading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only ONE &lt;h1&gt; per page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headings in order (h1 → h2 → h3)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&lt;p&gt;Paragraph text&lt;/p&gt; - Regular paragraph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7810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78686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&lt;strong&gt;Bold text&lt;/strong&gt; - IMPORTANT text (bold + semantic)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094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&lt;b&gt;Bold text&lt;/b&gt;           - Just bold, no meaning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23794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&lt;em&gt;Italic text&lt;/em&gt;       - EMPHASIS (italic + semantic)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96056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&lt;i&gt;Italic text&lt;/i&gt;         - Just italic, no meaning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06831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Prefer &lt;strong&gt; and &lt;em&gt; for meaning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Text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&lt;mark&gt;Highlighted text&lt;/mark&gt; - Yellow highlight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&lt;small&gt;Small text&lt;/small&gt;     - Smaller font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&lt;del&gt;Deleted text&lt;/del&gt;       - Strikethrough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&lt;ins&gt;Inserted text&lt;/ins&gt;      - Underlined new text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&lt;sub&gt;Subscript&lt;/sub&gt;          - Below line (H₂O)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&lt;sup&gt;Superscript&lt;/sup&gt;        - Above line (x²)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&lt;br&gt;                          - Line break (self-closing)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&lt;hr&gt;                          - Horizontal line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Links &amp; Navigation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Links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External link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 Google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Link in new tab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target="_blank"&gt;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 Google (New Tab)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 Google (clickable)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opens in new tab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Attributes Explained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href - URL where link goes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78102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 href="https://google.com"&gt;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5036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094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target="_blank" - Opens in new tab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09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 href="..." target="_blank"&gt;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9547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96055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 - Hover text tooltip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68317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 href="..." title="Search engine"&gt;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 of Links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ABSOLUTE URL - Full address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 href="https://google.com"&gt;Google&lt;/a&gt;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559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618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RELATIVE URL - Link within your site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 href="about.html"&gt;About Us&lt;/a&gt;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 href="pages/contact.html"&gt;Contact&lt;/a&gt;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LINK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 href="mailto:email@example.com"&gt;Email&lt;/a&gt;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Images</a:t>
            </a:r>
            <a:endParaRPr 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Syntax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Basic image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 alt="My Photo"&gt;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Image with size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src="photo.jpg"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alt="My Photo"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width="300"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height="200"&gt;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image from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photo.jpg file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Attributes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 - Image file path (REQUIRED)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78102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src="image.jpg"&gt;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5036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094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 - Describes image if it doesn't load (REQUIRED)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09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alt="Sunset at beach"&gt;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9547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96055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width &amp; height - Image dimensions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68317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width="300" height="200"&gt;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Paths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FOLDER: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src="photo.jpg"&gt;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SUBFOLDER: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src="images/photo.jpg"&gt;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URL: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src="https://example.com/photo.jpg"&gt;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FOLDER: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src="../photo.jpg"&gt;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Alt Text Matters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Accessibility - Screen readers help blind users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SEO - Helps search engines understand images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5598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Error handling - Shows text if image fails to load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20478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- Shows while image loads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25357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GOOD: alt="Sunset over mountains with orange sky"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BAD: alt="image" or alt="photo.jpg"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BAD: alt="" (completely missing)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Lists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Ordered List (Numbered)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&lt;li&gt;First item&lt;/li&gt;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&lt;li&gt;Second item&lt;/li&gt;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&lt;li&gt;Third item&lt;/li&gt;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First item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Second item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Third item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Unordered List (Bullets)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&lt;li&gt;Apple&lt;/li&gt;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&lt;li&gt;Banana&lt;/li&gt;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&lt;li&gt;Orange&lt;/li&gt;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Orange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&lt;ol&gt; ... &lt;/ol&gt; - Ordered list (numbered)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78102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Use for: Steps, rankings, sequences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5036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094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&lt;ul&gt; ... &lt;/ul&gt; - Unordered list (bullets)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09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Use for: Groups, options, items without order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9547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96055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&lt;li&gt; ... &lt;/li&gt; - List item (goes inside ol/ul)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68317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Each item must be wrapped in &lt;li&gt; tag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Nested Lists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can contain other lists: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59255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59839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&lt;ul&gt;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13255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&lt;li&gt;Frontend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66670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&lt;ul&gt;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20086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&lt;li&gt;HTML&lt;/li&gt;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73502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&lt;li&gt;CSS&lt;/li&gt;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26917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&lt;li&gt;JavaScript&lt;/li&gt;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580333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&lt;/ul&gt;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933748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&lt;/li&gt;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87164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&lt;/ul&gt;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Tables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Table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&lt;th&gt;Name&lt;/th&gt;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&lt;th&gt;Age&lt;/th&gt;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&lt;td&gt;John&lt;/td&gt;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&lt;td&gt;25&lt;/td&gt;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(as table):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| 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-----|----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 | 25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&lt;table&gt; - Container for table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25088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&lt;tr&gt; - Table row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44337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&lt;th&gt; - Table header (bold, centered)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3585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&lt;td&gt; - Table data (regular cell)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82834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&lt;thead&gt; - Groups header rows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602082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&lt;tbody&gt; - Groups body rows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21331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&lt;tfoot&gt; - Groups footer rows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Example: Student Grades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table with student names and marks: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7769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378282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&lt;table&gt;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50140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&lt;tr&gt;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1998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&lt;th&gt;Student&lt;/th&gt;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93856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&lt;th&gt;Math&lt;/th&gt;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65714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&lt;th&gt;English&lt;/th&gt;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737572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&lt;/tr&gt;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009431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&lt;tr&gt;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281289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&lt;td&gt;Alice&lt;/td&gt;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553147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&lt;td&gt;95&lt;/td&gt;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825005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&lt;td&gt;88&lt;/td&gt;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096863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&lt;/tr&gt;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368721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&lt;/table&gt;</a:t>
            </a:r>
            <a:endParaRPr lang="en-US" sz="1800" dirty="0"/>
          </a:p>
        </p:txBody>
      </p:sp>
      <p:sp>
        <p:nvSpPr>
          <p:cNvPr id="18" name="Rectangle 17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Forms</a:t>
            </a:r>
            <a:endParaRPr 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for="name"&gt;Name:&lt;/label&gt;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for="email"&gt;Email:&lt;/label&gt;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[text input]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[email input]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[Send button]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Input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 type="text"&gt;         - Single line 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 type="email"&gt;        - Email address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 type="password"&gt;     - Hidden characters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 type="number"&gt;       - Numbers only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 type="date"&gt;         - Date picker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 type="checkbox"&gt;     - Multiple selections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 type="radio"&gt;        - Single selection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&lt;textarea&gt;&lt;/textarea&gt;         - Multi-line text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&lt;form&gt; - Container for all inputs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3562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&lt;input&gt; - Single-line input field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7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Attributes: type, name, id, placeholder, required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94597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&lt;label&gt; - Text label for input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4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&lt;label for="email"&gt;Email:&lt;/label&gt;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&lt;input id="email"&gt;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&lt;button&gt; - Clickable button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&lt;button type="submit"&gt;Send&lt;/button&gt;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Form Example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for="username"&gt;Username:&lt;/label&gt;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id="username"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placeholder="Enter username"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required&gt;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for="password"&gt;Password:&lt;/label&gt;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type="password" id="password"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required&gt;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type="submit"&gt;Login&lt;/button&gt;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login form with: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Username field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 field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Both required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Submit button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HTML</a:t>
            </a:r>
            <a:endParaRPr lang="en-US" sz="2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Semantic HTML?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HTML = Using tags that have meaning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991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&lt;div&gt;, use tags that describe content: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917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&lt;header&gt; - Top of page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&lt;nav&gt; - Navigation menu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&lt;main&gt; - Main content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&lt;article&gt; - Independent article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&lt;section&gt; - Topic section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&lt;aside&gt; - Side content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&lt;footer&gt; - Bottom of page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Layout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0" y="1188720"/>
            <a:ext cx="54864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011680" y="1298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&lt;header&gt;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874520"/>
            <a:ext cx="5486400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0" y="19842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&lt;nav&gt;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2560320"/>
            <a:ext cx="54864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11680" y="2670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&lt;main&gt;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28800" y="3246120"/>
            <a:ext cx="54864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11680" y="33558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&lt;footer&gt;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of Semantic HTML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ACCESSIBILITY - Screen readers understand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SEO - Search engines rank better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READABILITY - Other developers understand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MAINTENANCE - Easier to update and fix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CONSISTENCY - Follows web standards</a:t>
            </a: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Non-Semantic vs Semantic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Non-Semantic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&lt;div&gt;Home&lt;/div&gt;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&lt;div&gt;About&lt;/div&gt;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Semantic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href="/"&gt;Home&lt;/a&gt;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href="/about"&gt;About&lt;/a&gt;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version: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Clearer purpose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Better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accessibility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Better for SEO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Easier to style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with CSS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Project - Personal Profile</a:t>
            </a:r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CREATE: A Personal Profile Website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476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48193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89963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Header with title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31732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Navigation menu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7350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About section with image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1527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Skills list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570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Contact information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9881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Footer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Personal Profile HTML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&lt;title&gt;John's Profile&lt;/title&gt;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&lt;h1&gt;John Doe&lt;/h1&gt;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&lt;p&gt;Web Developer&lt;/p&gt;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href="#about"&gt;About&lt;/a&gt;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href="#skills"&gt;Skills&lt;/a&gt;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href="#contact"&gt;Contact&lt;/a&gt;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with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menu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Links to sections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About Section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id="about"&gt;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&lt;h2&gt;About Me&lt;/h2&gt;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src="photo.jpg"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alt="John's photo"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width="150"&gt;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&lt;p&gt;I'm a web developer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from India. I love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building websites.&lt;/p&gt;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image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section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CSS</a:t>
            </a:r>
            <a:endParaRPr lang="en-US" sz="2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CSS?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= Cascading Style Sheets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3562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makes websites beautiful and attractive.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7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65401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controls: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94597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Colors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4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Fonts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Layout and spacing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Positioning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Animations and effects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vs CSS Analogy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= Skeleton of a person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78102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(Structure, bones)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5036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094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= Clothes and makeup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09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(Appearance, style)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9547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96055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skeleton can look different with different clothes!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68317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HTML can look different with different CSS.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Syntax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{ property: value; 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7810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78686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094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{ color: blue; 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23794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- Which element to style (p = paragraph)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96056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- What to change (color)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68318"/>
            <a:ext cx="7680960" cy="549401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- New value (blue)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Rule Anatomy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blue; 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solidFill>
            <a:srgbClr val="FFE5CC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1920240"/>
            <a:ext cx="1371600" cy="457200"/>
          </a:xfrm>
          <a:prstGeom prst="rect">
            <a:avLst/>
          </a:prstGeom>
          <a:solidFill>
            <a:srgbClr val="E5CC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1371600" cy="457200"/>
          </a:xfrm>
          <a:prstGeom prst="rect">
            <a:avLst/>
          </a:prstGeom>
          <a:solidFill>
            <a:srgbClr val="CCFFE5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0" y="1965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meanings: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= All paragraph elements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= Text color property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= Make it blue color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Ways to Add CSS</a:t>
            </a:r>
            <a:endParaRPr lang="en-US" sz="2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Inline CSS (Not Recommended)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blue; font-size: 18px;"&gt;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is blue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style="color: red;"&gt;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 Heading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paragraph 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heading text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= CSS in 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Internal CSS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{ color: blue;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h1 { color: red;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&lt;p&gt;Blue text&lt;/p&gt;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&lt;h1&gt;Red heading&lt;/h1&gt;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in &lt;style&gt; tag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&lt;head&gt;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elements follow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style rules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External CSS (Recommended!)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 file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href="style.css"&gt;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style.css file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blue;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red;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in separate 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it to HTML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Reusable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Organized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Easy to maintain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Method to Use?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EXTERNAL CSS - Best for most projects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Reusable across pages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12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Organized and maintainable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838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Recommended by professionals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657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△ INTERNAL CSS - For small projects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INLINE CSS - Avoid this method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Hard to maintain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Mixes HTML and CSS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Not professional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Selectors</a:t>
            </a:r>
            <a:endParaRPr lang="en-US" sz="2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Selector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ELEMENT SELECTOR - All instances of element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 { color: blue; }   /* All paragraphs */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CLASS SELECTOR - Elements with class name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.highlight { color: red; }   /* class=highlight */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ID SELECTOR - Element with unique ID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#header { color: green; }    /* id=header */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UNIVERSAL SELECTOR - All elements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* { margin: 0; }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Selector Examples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Element selector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blue;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Class selector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.important { font-weight: bold;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ID selector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 { width: 800px;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Universal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{ } = All &lt;p&gt; tags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.class { } = Elements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  with class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#id { } = Element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with 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{ } = All elements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Selectors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DESCENDANT: parent child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div p { color: blue; }   /* All p inside div */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CHILD: parent &gt; child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div &gt; p { color: blue; } /* Direct p in div */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SELECTOR - Multiple selectors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h1, h2, h3 { color: blue; }  /* All three */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 SELECTOR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input[type="email"] { ... }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Colors &amp; Typography</a:t>
            </a:r>
            <a:endParaRPr lang="en-US" sz="2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Colors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COLORS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color: red;  color: blue;  color: green;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120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917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HEX COLORS (Hexadecimal)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color: #FF0000;   /* Red */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color: #0000FF;   /* Blue */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RGB COLORS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color: rgb(255, 0, 0);      /* Red */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RGBA COLORS (with transparency)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color: rgba(255, 0, 0, 0.5); /* Semi-transparent */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Properties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Text color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blue;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Background color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background-color: #f0f0f0;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Border color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 border: 2px solid red;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Hover effect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 color: orange;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in blue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 gray background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border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turns orange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hover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Fonts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 SIZE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87348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 { font-size: 16px; }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6885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69439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 FAMILY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50948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 { font-family: Arial, sans-serif; 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32455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733039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 WEIGHT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114547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 { font-weight: bold; }   or   700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96055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 { font-weight: normal; }  or   400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877563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 STYLE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59072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 { font-style: italic; }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Box Model</a:t>
            </a:r>
            <a:endParaRPr lang="en-US" sz="2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Box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HTML element is a box with 4 layers: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71800" y="1371600"/>
            <a:ext cx="3200400" cy="457200"/>
          </a:xfrm>
          <a:prstGeom prst="rect">
            <a:avLst/>
          </a:prstGeom>
          <a:solidFill>
            <a:srgbClr val="FFB6C1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063240" y="144475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 - Space outside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965960"/>
            <a:ext cx="3474720" cy="457200"/>
          </a:xfrm>
          <a:prstGeom prst="rect">
            <a:avLst/>
          </a:prstGeom>
          <a:solidFill>
            <a:srgbClr val="87CE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26080" y="203911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 - Line around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560320"/>
            <a:ext cx="3749040" cy="457200"/>
          </a:xfrm>
          <a:prstGeom prst="rect">
            <a:avLst/>
          </a:prstGeom>
          <a:solidFill>
            <a:srgbClr val="FFFACD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88920" y="26334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PADDING - Space inside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3154680"/>
            <a:ext cx="4023360" cy="457200"/>
          </a:xfrm>
          <a:prstGeom prst="rect">
            <a:avLst/>
          </a:prstGeom>
          <a:solidFill>
            <a:srgbClr val="90EE90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51760" y="32278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- Text/Image</a:t>
            </a:r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Model Properties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WIDTH &amp; HEIGHT - Size of content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div { width: 300px; height: 200px; }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PADDING - Space inside, around content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div { padding: 20px; 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 - Line around the box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div { border: 2px solid blue; 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 - Space outside the box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div { margin: 30px; }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Model Example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blue;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30px;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yellow;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30px margin (outside)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2px blue border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20px padding (inside)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200px content (yellow)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Sizing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content-box (default)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47609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width = only content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89379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Total size = width + padding + border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14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31732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border-box (recommended)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7350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width = content + padding + border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1527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More predictable sizing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570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{ box-sizing: border-box; 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9881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this to ALL projects!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Display &amp; Positioning</a:t>
            </a:r>
            <a:endParaRPr lang="en-US" sz="2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Property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- Takes full width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47609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&lt;div&gt;, &lt;p&gt;, &lt;h1&gt; are block by default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89379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Stacks vertically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14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31732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- Takes only needed width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7350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&lt;span&gt;, &lt;a&gt;, &lt;strong&gt; are inline by default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1527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Flows horizontally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570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INLINE-BLOCK - Inline but respects width/height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19881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- Hidden (not displayed)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Example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Block element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 display: block;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Takes full width */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Inline element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{ display: inline;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Only takes needed width */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Inline-block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 display: inline-block;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Flows inline but has width */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Difference: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&lt;div&gt;BLOCK&lt;/div&gt;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&lt;div&gt;BLOCK&lt;/div&gt;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&lt;span&gt;inline&lt;/span&gt;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&lt;span&gt;inline&lt;/span&gt;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Positioning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(default) - Normal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635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693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RELATIVE - Relative to normal position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744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position: relative; top: 10px;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795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8538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ABSOLUTE - Relative to parent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6904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position: absolute; top: 50px;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5955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- Relative to viewport (stuck)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5006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position: fixed; top: 0;  /* Sticky header */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Flexbox</a:t>
            </a:r>
            <a:endParaRPr lang="en-US" sz="2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Flexbox?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= Flexible Box Layout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9486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5450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it easy to: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4476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Align items horizontally or vertically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73502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Distribute space evenly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62528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Create responsive layouts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51554"/>
            <a:ext cx="7680960" cy="56616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on a container with items inside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Basics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Structure: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class="item"&gt;1&lt;/div&gt;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class="item"&gt;2&lt;/div&gt;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class="item"&gt;3&lt;/div&gt;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for Flexbox: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680960" cy="128016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743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(items centered horizontally with gap):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3108960"/>
            <a:ext cx="7315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3108960"/>
            <a:ext cx="7315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3108960"/>
            <a:ext cx="7315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Properties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Container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center;  /* Align horizontally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       /* Align vertically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15px;                 /* Space between items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row;       /* or column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justify-content options: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space-between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space-around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flex-start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flex-end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Grid</a:t>
            </a:r>
            <a:endParaRPr lang="en-US" sz="2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CSS Grid?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= Two-dimensional layout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3562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= One line (row or column)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7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= Rows AND columns together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94597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for: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4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Web page layouts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Gallery grids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Dashboard layouts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Complex designs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Grid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class="grid-container"&gt;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&lt;div&gt;1&lt;/div&gt;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&lt;div&gt;2&lt;/div&gt;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&lt;div&gt;3&lt;/div&gt;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&lt;div&gt;4&lt;/div&gt;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.grid-container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1fr 1fr 1fr;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3 columns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[2] [3]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 = fraction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available space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Properties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grid-template-columns - Column widths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grid-template-columns: 200px 1fr 200px;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grid-template-rows - Row heights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grid-template-rows: 100px 1fr;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- Space between grid items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gap: 20px;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repeat() - Repeat pattern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grid-template-columns: repeat(3, 1fr);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Responsive Design</a:t>
            </a:r>
            <a:endParaRPr lang="en-US" sz="2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Responsive Design?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= Website works on all devices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255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3138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- 1024px and larger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79852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 - 768px to 1024px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66567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- Less than 768px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5328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953865"/>
            <a:ext cx="7680960" cy="663854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should look good on all sizes!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Queries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Mobile first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14px;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Tablet and up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16px;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Desktop and up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1024px)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18px;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 approach: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Start simple for mobile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 features for larger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screens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Better performance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Tips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mobile-first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percentage widths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flexible fonts (em, rem)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Flexbox and Grid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Test on real devices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viewport meta tag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&lt;meta name="viewport"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content="width=device-width"&gt;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Project - Portfolio Card</a:t>
            </a:r>
            <a:endParaRPr lang="en-US" sz="2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Project: Portfolio Card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CREATE: A professional portfolio card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991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917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Profile image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Name and title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About description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Skills list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Contact links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Responsive design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Hover effects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Card - HTML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src="profile.jpg"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alt="Profile"&gt;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&lt;h2&gt;John Doe&lt;/h2&gt;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class="title"&gt;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Web Developer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 class="about"&gt;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love building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awesome websites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href="#"&gt;Contact Me&lt;/a&gt;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HTML 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About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Contact link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Card - CSS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Card styling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white;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2px 10px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rgba(0,0,0,0.1);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img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150px;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150px;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50%;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margin-bottom: 20px;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styling: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White background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Rounded corners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Shadow for depth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Circular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(border-radius: 50%)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Centered content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JavaScript</a:t>
            </a:r>
            <a:endParaRPr lang="en-US" sz="2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JavaScript?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= Programming language for web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8734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87932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adds BEHAVIOR to websites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6944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70024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+ CSS + JavaScript 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51532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Structure + Style + Interactivity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733040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JavaScript you can: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114548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Respond to user actions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496056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Change content dynamically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877564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Validate forms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59072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Create animations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JavaScript?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Makes websites interactive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25088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Works in all browsers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44337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Easy to learn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3585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Huge ecosystem of libraries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82834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Can be used for backend too (Node.js)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602082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Always in demand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21331"/>
            <a:ext cx="7680960" cy="49638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Fun to use!</a:t>
            </a:r>
            <a:endParaRPr lang="en-US" sz="1800" dirty="0"/>
          </a:p>
        </p:txBody>
      </p:sp>
      <p:sp>
        <p:nvSpPr>
          <p:cNvPr id="11" name="Rectangle 10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Analogy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= Walls, rooms, doors (Structure)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= Paint, furniture, decor (Appearance)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12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= Lights, locks, automation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838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      (Behavior &amp; Interactivity)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657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makes the house INTERACTIVE: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Turn lights on/off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Open/close doors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Adjust temperature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Security system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Basics</a:t>
            </a:r>
            <a:endParaRPr lang="en-US" sz="28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JavaScript to HTML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INLINE - JavaScript in HTML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635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&lt;button onclick="alert('Hello!')"&gt;Click&lt;/button&gt;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8686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744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INTERNAL - In &lt;script&gt; tag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795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&lt;script&gt; ... JavaScript code ... &lt;/script&gt;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8465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6904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EXTERNAL - In .js file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5955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&lt;script src="script.js"&gt;&lt;/script&gt;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5006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External is best for large projects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JavaScript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console.log('Hello World!');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alert('Welcome to JavaScript!');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(in console):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 World!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(alert box):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to JavaScript!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in JavaScript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 line comment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line is ignored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Multi-line comment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Can span multiple 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Used for explanations */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console.log("This runs");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console.log("This doesn't");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explain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don't run.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them to document!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Variables</a:t>
            </a:r>
            <a:endParaRPr lang="en-US" sz="2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Variables?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= Container for storing values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3562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Analogy: Named box to store things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7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Box name: 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Box content: 25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1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4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has 3 ways to declare variables: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- Recommended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const - Use by default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var - Old style, avoid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Declaration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Using let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'John';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25;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Using const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city = 'Delhi';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3.14159;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Using var (avoid)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score = 95;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= Can be changed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 = Cannot be changed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Use this by default!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 = Old style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Don't use in new code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Naming Rules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Start with letter or underscore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59255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camelCase for multiple words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12671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firstName = 'John';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66086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userAge = 25;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1950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20086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Cannot start with number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73501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No spaces allowed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26917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No special characters (except _ and $)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580333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meaningful names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933748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GOOD: let userEmail = ...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87164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BAD: let ue = ...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Data Types</a:t>
            </a:r>
            <a:endParaRPr lang="en-US" sz="2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Primitive Data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- 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name = 'John';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12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message = "Hello World";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8389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- Integers and decimals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age = 25;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price = 19.99;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BOOLEAN - True or False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isStudent = true;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isValid = false;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Data Types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UNDEFINED - No value assigned yet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x;  // undefined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- Empty 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data = null;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 - List of items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colors = ['red', 'blue', 'green'];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- Collection of properties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person = { name: 'John', age: 25 };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Operators</a:t>
            </a:r>
            <a:endParaRPr lang="en-US" sz="28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Arithmetic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Addition        → 5 + 3 =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Subtraction     → 5 - 3 =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Multiplication  → 5 * 3 = 15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Division        → 6 / 3 =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Modulo (remainder) → 7 % 3 =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** Exponent       → 2 ** 3 = 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concatenation: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'Hello' + ' ' + 'World' = 'Hello World'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 Equal (loose)       → 5 == '5' is true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=== Strict equal       → 5 === '5' is false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!= Not equal           → 5 != 6 is true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!== Strict not equal   → 5 !== '5' is true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Greater than         → 5 &gt; 3 is true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Less than            → 5 &lt; 3 is false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&gt;= Greater or equal    → 5 &gt;= 5 is true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&lt;= Less or equal       → 5 &lt;= 5 is true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Logical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&amp;&amp; AND - All must be true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635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(5 &gt; 3) &amp;&amp; (3 &gt; 1)  →  true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8686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744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|| OR - One must be true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795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(5 &gt; 10) || (3 &gt; 1)  →  true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68465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6904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 NOT - Reverses boolean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5955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!true  →  false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5006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!false  →  true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29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Conditionals</a:t>
            </a:r>
            <a:endParaRPr lang="en-US" sz="28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18;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console.log('You are adult');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console.log('You are minor');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adult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condition is true,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first block.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Otherwise, run else block.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If-Else-If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75;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console.log('Grade: A');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80)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console.log('Grade: B');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70)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console.log('Grade: C');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console.log('Grade: F');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Grade: C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multiple conditions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order.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true condition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wins.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day = 3;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switch(day)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console.log('Monday');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console.log('Tuesday');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3: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console.log('Wednesday');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Wednesday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switch for many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 values.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= exit switch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Loops</a:t>
            </a:r>
            <a:endParaRPr lang="en-US" sz="2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Loop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 numbers 1 to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(start; condition; increment)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i++ = i = i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 after each loop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Loop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1;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(count &lt;= 3)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console.log(count);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(condition)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//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increment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looping while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 is true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For-Of Loop (For Arrays)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['apple', 'banana', 'orange'];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fruit of fruits)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console.log(fruit);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(value of array)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for arrays!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Gets each value directly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Functions</a:t>
            </a:r>
            <a:endParaRPr lang="en-US" sz="28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Basics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console.log('Hello, ' + name);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greet('John');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greet('Alice');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Hello, John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Hello, Alice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function once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many times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with Return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result =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 = add(5, 3);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console.log(total);  //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= Function gives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 b="1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back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Concepts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- Reusable block of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635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693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 - Inputs to function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744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function add(a, b)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795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8538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ARGUMENTS - Values passed to function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6904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add(5, 3)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5955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- Value given back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5006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return result;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 Function (Modern JS)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add(5, 3);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console.log(result);  //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Shorter syntax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way to write functions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=&gt; means 'arrow'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Arrays</a:t>
            </a:r>
            <a:endParaRPr lang="en-US" sz="28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 Basics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Creating array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colors = ['red', 'green', 'blue'];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Accessing elements (starts at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console.log(colors[0]);   // 'red'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console.log(colors[1]);   // 'green'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console.log(colors.length);  //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 store multiple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 in one variable.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Index:  0       1       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Value: 'red'  'green'  'blue'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 Methods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nums.push(4);      // Add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nums.pop();        // Remove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nums.shift();      // Remove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nums.unshift(0);   // Add start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console.log(nums);  // [0, 1, 2, 3]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push(item) = Add to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pop() = Remove from 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shift() = Remove from 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unshift(item) = Add to start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 Methods - Map &amp; Filter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3, 4];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- Transform each item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 = nums.map(n =&gt; n * 2);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[2, 4, 6, 8]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- Keep items matching condition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evens = nums.filter(n =&gt; n % 2 === 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[2, 4]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map() = Apply function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to each item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filter() = Keep only items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  that match condition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Objects</a:t>
            </a:r>
            <a:endParaRPr lang="en-US" sz="28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Basics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person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'John',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'Delhi'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console.log(person.name);    // 'John'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console.log(person['age']);  // 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person.age = 26;             // Update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= Collection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property-value pairs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with: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object.property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object['property']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with Methods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person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'John',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greet: function()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console.log('Hello, I am '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 this.name);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person.greet();  // Hello, I am John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= Function inside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= Refers to the object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DOM - Document Object Model</a:t>
            </a:r>
            <a:endParaRPr lang="en-US" sz="2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DOM?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= Document Object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635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693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DOM is how JavaScript sees HTML.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744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88028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converts HTML into a tree structure.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8538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can read and modify this tree.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16904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it as: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5955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HTML = Blueprint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5006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DOM = Live object JavaScript can manipulate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Tree Structure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&lt;title&gt;Site&lt;/title&gt;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&lt;h1&gt;Title&lt;/h1&gt;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&lt;p&gt;Text&lt;/p&gt;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Tree: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 BODY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  /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TIT. H1  P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Selectors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can find and select HTML elements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635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693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document.getElementById('id')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87444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Finds element with specific 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795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8538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document.querySelector('.class')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6904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Finds first element matching selector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5955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document.querySelectorAll('.class')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50069"/>
            <a:ext cx="7680960" cy="467650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Finds all elements matching selector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 Manipulation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heading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document.getElementById('title');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heading.textContent = 'New Title';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attribute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heading.style.color = 'red';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class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heading.classList.add('highlight');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Modify HTML through JavaScript!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textContent = Change 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= Change CSS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classList = Change classes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Events</a:t>
            </a:r>
            <a:endParaRPr lang="en-US" sz="2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Events?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= Things that happen in browser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11303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618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User clicks button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User types in input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Page finishes loading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Mouse moves over element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can respond to events!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Handling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Method 1: onclick attribute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onclick="alert('Clicked!')"&gt;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Method 2: addEventListener (Better)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btn = document.querySelector('button');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btn.addEventListener('click', function()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alert('Button clicked!');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2 is better: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Cleaner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Separate HTML &amp; 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 add multiple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listeners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Events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- Mouse click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09700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dblclick - Double click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13560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mouseover - Mouse enters element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7420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mouseout - Mouse leaves element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279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keydown - Key is pressed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25139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keyup - Key is released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28999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- Form submitted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832859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- Input value changed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236719"/>
            <a:ext cx="7680960" cy="38099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- Page finished loading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Validation with JavaScript</a:t>
            </a:r>
            <a:endParaRPr lang="en-US" sz="28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Form Validation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id="loginForm"&gt;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placeholder="Enter email"&gt;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type="password" id="password"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placeholder="Enter password"&gt;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type="submit"&gt;Login&lt;/button&gt;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form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document.getElementById('loginForm');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form.addEventListener('submit',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function(e)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email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document.getElementById('email').value;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(email === '')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alert('Email required!');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preventDefault() stops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submission.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input before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sending.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Tips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if field is empty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email format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password length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number range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Show error messages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Highlight invalid fields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validation attributes: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required, min, max, pattern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Async &amp; Fetch API</a:t>
            </a:r>
            <a:endParaRPr lang="en-US" sz="28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Asynchronous?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SYNCHRONOUS - Wait for each task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47609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Task 1 → Task 2 → Task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8937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89963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ASYNCHRONOUS - Don't wait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31732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Task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7350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Task 2 (runs without waiting)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1527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Task 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570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is async by default!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9881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for: Loading data, making requests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Fetching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fetch('https://api.example.com/data')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.then(response =&gt; response.json())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Use data 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.catch(error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console.log('Error:', error);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= Request data from URL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.then() = When data arrives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.json() = Convert to object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.catch() = If error occurs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API 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32637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fetch() sends request to server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6133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61922"/>
            <a:ext cx="7680960" cy="532637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Server sends response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742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18003"/>
            <a:ext cx="7680960" cy="532637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.then() receives response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73501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74085"/>
            <a:ext cx="7680960" cy="532637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response.json() parses JSON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529583"/>
            <a:ext cx="7680960" cy="532637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Second .then() receives data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085081"/>
            <a:ext cx="7680960" cy="532637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Use data to update page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Storage - Save Data</a:t>
            </a:r>
            <a:endParaRPr lang="en-US" sz="28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Storage Basics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Save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localStorage.setItem('name', 'John');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localStorage.setItem('age', '25');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localStorage.getItem('name');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console.log(name);  // 'John'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localStorage.removeItem('name');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Clear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localStorage.clear();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storage persists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after refresh!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for user preferences,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settings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Storage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Persists data in browser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Survives page refresh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5598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 domain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20478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~5-10MB storage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25357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Works with strings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30237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JSON.stringify() for objects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JSON.parse() to convert back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39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1 - To-Do List Application</a:t>
            </a:r>
            <a:endParaRPr lang="en-US" sz="28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To-Do List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CREATE: Interactive to-do list 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11303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618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Add new tasks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Mark as complete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Delete tasks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Save to local storage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Responsive design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To-Do HTML Structure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&lt;h1&gt;My To-Do List&lt;/h1&gt;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class="input-group"&gt;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type="text"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id="taskInput"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placeholder="Add new task"&gt;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id="addBtn"&gt;Add&lt;/button&gt;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 id="taskList"&gt;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Tasks added here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structure: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Input for new task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Button to add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List to show tasks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To-Do JavaScript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addBtn = document.getElementById('addBtn');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taskInput = document.getElementById('taskInput');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taskList = document.getElementById('taskList');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addBtn.addEventListener('click', function()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task = taskInput.value;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(task === '') return;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li = document.createElement('li');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li.textContent = task;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taskList.appendChild(li);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taskInput.value = '';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event listener to button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input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list item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list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input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2 - Calculator</a:t>
            </a:r>
            <a:endParaRPr lang="en-US" sz="28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Calculator Project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class="calculator"&gt;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id="display"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readonly&gt;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onclick="addNumber(7)"&gt;7&lt;/button&gt;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onclick="addNumber(8)"&gt;8&lt;/button&gt;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onclick="addOperator('+')"&gt;+&lt;/button&gt;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onclick="calculate()"&gt;=&lt;/button&gt;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display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document.getElementById('display');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Calculator features: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Number buttons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Operator buttons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Display result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Clear button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Calculator Logic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currentInput = '';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operator = '';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firstValue = '';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addNumber(num)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currentInput += num;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updateDisplay();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addOperator(op)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firstValue = currentInput;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operator = op;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currentInput = '';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calculate()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result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eval(firstValue + operator + currentInput);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updateDisplay(result);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using: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eval() - Evaluates math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projects 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logic, not eval()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3 - Weather App</a:t>
            </a:r>
            <a:endParaRPr lang="en-US" sz="28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App 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CREATE: Weather 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11303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618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User enters city name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Fetch data from weather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Display temperature, condition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Show weather icon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Handle errors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App - HTML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class="weather-container"&gt;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id="cityInput"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placeholder="Enter city name"&gt;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id="searchBtn"&gt;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id="result"&gt;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Weather info here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City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 button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area: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Temperature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Condition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Icon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App - Fetch API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searchBtn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document.getElementById('searchBtn');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searchBtn.addEventListener('click',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city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document.getElementById('cityInput').value;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fetch('https://api.openweathermap.org/data/2.5/weather?q=' + city + '&amp;appid=YOUR_API_KEY')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.then(res =&gt; res.json())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.then(data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Show weather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from OpenWeather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response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data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&amp; SEO Basics</a:t>
            </a:r>
            <a:endParaRPr lang="en-US" sz="28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Accessibility?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= Website works for everyone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11303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618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Blind users (screen readers)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Deaf users (captions)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Keyboard only users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Color-blind users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Mobile users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Best Practices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semantic HTML tags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Alt text for all images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Meaningful link 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Good color contrast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Keyboard navigation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Form labels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Aria attributes for complex elements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Test with screen readers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Basics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= Search Engine Optimization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991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ranking with: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917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Good page title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Meta description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Headings structure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Alt text on images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Mobile responsive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Fast loading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Quality content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Performance</a:t>
            </a:r>
            <a:endParaRPr lang="en-US" sz="28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Performance Matters?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websites =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Better user experience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12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Higher search ranking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838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More visitors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765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Better conversion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69260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websites 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✗ Users leave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✗ Lower ranking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✗ More bounce rate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Tips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Optimize images (compress)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Minimize CSS/JavaScript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CDN for assets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Lazy load images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Cache static files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Reduce server response time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Avoid unnecessary JavaScript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browser DevTools to measure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Basics</a:t>
            </a:r>
            <a:endParaRPr lang="en-US" sz="28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Security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HTTPS (not HTTP)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Don't expose API keys in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Validate user 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Escape output to prevent XSS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secure cookies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Keep dependencies updated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Don't trust user input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Content Security Policy (CSP)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Security Issues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(Cross-Site Scripting)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Attacker injects malicious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5598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Prevention: Escape output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2047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(Cross-Site Request Forgery)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Fake request from attacker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Prevention: Use tokens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hardcode passwords or keys!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&amp; GitHub Basics</a:t>
            </a:r>
            <a:endParaRPr lang="en-US" sz="28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Git?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= Version control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1071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11303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lets you: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1618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Track code changes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21062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Work with teams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2594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Go back to old versions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630821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Compare changes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35700"/>
            <a:ext cx="7680960" cy="48201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Merge code safely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Git Commands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init - Start version control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add . - Stage all changes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commit -m 'message' - Save changes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push - Upload to GitHub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pull - Download from GitHub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branch - Create new branch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merge - Combine branches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log - See history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Create repository on GitHub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69314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Clone to your computer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2788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git clone &lt;url&gt;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96262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Make changes to files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59736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Stage changes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10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git add 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86684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Commit changes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550158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git commit -m 'description'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913631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Push to GitHub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277105"/>
            <a:ext cx="7680960" cy="34061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git push</a:t>
            </a:r>
            <a:endParaRPr lang="en-US" sz="18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Deploying Your Website</a:t>
            </a:r>
            <a:endParaRPr lang="en-US" sz="28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Deployment?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= Making your website live online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476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48193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89963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Prepare files (minify, optimize)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31732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Choose hosting provider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7350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Upload files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1527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4. Set up domain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570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5. Configure DNS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19881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6. Test on live server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Options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PAGES - Free, for static sites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Perfect for portfolio projects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- Free tier available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Easy drag &amp; drop deployment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- Optimized for JavaScript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Great for React projects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HOSTING - More control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Godaddy, Bluehost, HostGator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Developer Skills</a:t>
            </a:r>
            <a:endParaRPr lang="en-US" sz="28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Skills You Now Have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HTML - Structure web pages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CSS - Style and layout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JavaScript - Add interactivity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DOM - Manipulate HTML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Events - Respond to users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Fetch API - Get data from servers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Design - Mobile-friendly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Git - Version control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Skills to Learn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JAVASCRIPT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00353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Async/Await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4866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Promises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89379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Modules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8389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84476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578989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React - Most popular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73502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Vue - Easier to learn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168015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Angular - Enterprise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462528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FRONTEND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757041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TypeScript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051554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Node.js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346067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Databases</a:t>
            </a:r>
            <a:endParaRPr lang="en-US" sz="1800" dirty="0"/>
          </a:p>
        </p:txBody>
      </p:sp>
      <p:sp>
        <p:nvSpPr>
          <p:cNvPr id="18" name="Rectangle 17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Path</a:t>
            </a:r>
            <a:endParaRPr lang="en-US" sz="28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Developer Career Path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Beginner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HTML, CSS, 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2194560"/>
            <a:ext cx="2286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697480" y="1645920"/>
            <a:ext cx="182880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974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Dev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2148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2194560"/>
            <a:ext cx="2286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182880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Mid-Level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React/Vue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194560"/>
            <a:ext cx="2286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995160" y="1645920"/>
            <a:ext cx="182880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9516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Dev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2148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0-6 months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6-12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1-3 years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years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Tips for Getting Job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Build portfolio projects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Contribute to open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Learn one framework well (React preferred)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Practice coding interviews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Build personal website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Network with developers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Practice, practice, practice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Never stop learning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49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Beginner Mistakes</a:t>
            </a:r>
            <a:endParaRPr lang="en-US" sz="28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Mistakes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Missing closing tags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&lt;p&gt;Text  (should be &lt;/p&gt;)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481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Incorrect nesting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&lt;p&gt;&lt;h1&gt;Wrong&lt;/h1&gt;&lt;/p&gt;  (h1 should be outside)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Missing alt text on images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&lt;img src="photo.jpg"&gt;  (add alt=" ")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Using &lt;div&gt; for everything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Use semantic tags instead: &lt;header&gt;, &lt;nav&gt;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Mistakes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Wrong selector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.class vs #id (common confusion)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120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917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Forgetting box-sizing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Element size differs from expected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Add: * { box-sizing: border-box; 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Specificity wars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Too many !important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Not responsive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Looks good only on desktop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Mistakes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Using == instead of ===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3503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5 == '5' is true  (type coercion)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64232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5 === '5' is false (strict equal)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9342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9401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Forgetting return statement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2320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2379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Variable scope confusion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52990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vs const vs var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782186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Trying to DOM before load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11383"/>
            <a:ext cx="7680960" cy="40633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Put script at bottom or use load event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&amp; Professional Tips</a:t>
            </a:r>
            <a:endParaRPr lang="en-US" sz="28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Write clean, readable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meaningful variable names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Keep functions small and focused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Don't repeat code (DRY principle)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Comment complex logic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Format code consistently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version control (Git)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Test your code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 Conventions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- camelCase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firstName = 'John';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912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 userAge = 25;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8389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CONSTANTS - UPPER_SNAKE_CASE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const MAX_USERS = 100;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const API_KEY = '...';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CLASSES - kebab-case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&lt;div class="user-profile"&gt;&lt;/div&gt;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.user-profile { ... }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Best Practices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Minimize HTTP requests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Optimize images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Minify CSS and JavaScript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async/defer for scripts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Lazy load images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Cache static files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Reduce render-blocking resources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 Content Delivery Network (CDN)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 - Portfolio Website</a:t>
            </a:r>
            <a:endParaRPr lang="en-US" sz="28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Project: Personal Portfolio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BUILD: Complete professional portfolio website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59255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59839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INCLUDE: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13255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Responsive navigation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66670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Hero section with image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20086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About section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73502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Portfolio/projects showcase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226917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Skills section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580333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Contact form with 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933748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Footer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87164"/>
            <a:ext cx="7680960" cy="330555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Mobile responsive layout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Requirements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277698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Semantic tags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49556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Proper 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1414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Form with inputs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9327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93856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65714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Professional styling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737572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Responsive with media queries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009431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Smooth transitions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281289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Consistent color scheme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553147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825005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Form validation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096863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Smooth scrolling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368721"/>
            <a:ext cx="7680960" cy="24899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Responsive menu</a:t>
            </a:r>
            <a:endParaRPr lang="en-US" sz="1800" dirty="0"/>
          </a:p>
        </p:txBody>
      </p:sp>
      <p:sp>
        <p:nvSpPr>
          <p:cNvPr id="19" name="Rectangle 1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NAVIGATION - Sticky navbar with links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HERO - Large header with call-to-action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ABOUT - Introduction with photo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PROJECTS - Showcase work with images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SKILLS - List of technical abilities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CONTACT - Form to get in touch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FOOTER - Social links and copyright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RESPONSIVENESS - Works on all devices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HTML Structure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&lt;nav&gt;...&lt;/nav&gt;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id="hero"&gt;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&lt;h1&gt;John Doe&lt;/h1&gt;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&lt;p&gt;Web Developer&lt;/p&gt;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id="about"&gt;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&lt;h2&gt;About Me&lt;/h2&gt;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id="projects"&gt;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class="project-card"&gt;...&lt;/div&gt;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&lt;footer&gt;...&lt;/footer&gt;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semantic 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section is separate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to style with CSS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to animate with JS</a:t>
            </a:r>
            <a:endParaRPr lang="en-US" sz="1400" dirty="0"/>
          </a:p>
        </p:txBody>
      </p:sp>
      <p:sp>
        <p:nvSpPr>
          <p:cNvPr id="9" name="Rectangle 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28600" y="2926080"/>
            <a:ext cx="8686800" cy="914400"/>
          </a:xfrm>
          <a:prstGeom prst="rect">
            <a:avLst/>
          </a:prstGeom>
          <a:noFill/>
          <a:ln/>
        </p:spPr>
        <p:txBody>
          <a:bodyPr wrap="none" rtlCol="0" anchor="ctr" lIns="0" rIns="0" tIns="0" bIns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&amp; Assessment</a:t>
            </a:r>
            <a:endParaRPr lang="en-US" sz="28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Time! Part 1 - HTML Basics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Q1: Which tag is used for the largest heading?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47609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&lt;h1&gt;  B) &lt;h2&gt;  C) &lt;h6&gt;  D) &lt;heading&gt;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8937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89963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Q2: What does alt attribute do?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31732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Alternative text  B) Alternate image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7350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Style text  D) Link 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15271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Q3: Which tag creates a hyperlink?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75704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&lt;link&gt;  B) &lt;a&gt;  C) &lt;url&gt;  D) &lt;href&gt;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198810"/>
            <a:ext cx="7680960" cy="418909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Answer: 1-A, 2-A, 3-B</a:t>
            </a:r>
            <a:endParaRPr lang="en-US" sz="18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Time! Part 2 - CSS Basics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Q1: Which syntax is correct for CSS?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27126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p {color: blue;}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8413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p [color: blue;]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9700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p: color blue;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90987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p &gt; color: blue;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1227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712858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Q2: What does margin do?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034145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Space inside  B) Space outside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355432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Border line  D) Padding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676719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Q3: How to select element with id='test'?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998006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.test  B) #test  C) *test  D) @test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319293"/>
            <a:ext cx="7680960" cy="298426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Answer: 1-A, 2-B, 3-B</a:t>
            </a:r>
            <a:endParaRPr lang="en-US" sz="1800" dirty="0"/>
          </a:p>
        </p:txBody>
      </p:sp>
      <p:sp>
        <p:nvSpPr>
          <p:cNvPr id="18" name="Rectangle 17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Time! Part 3 - JavaScript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Q1: Which declares a variable correctly?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00353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var x = 5;  B) let x = 5;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4866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const x = 5;  D) All correct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89379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89963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Q2: What does let do?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84476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Declares global var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578989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B) Declares block-scoped var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73502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Function declaration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168015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D) Loop declaration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462528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Q3: How to find element by ID?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757041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A) getElementById  B) querySelector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051554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C) getElementsById  D) selectById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346067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Answer: 1-D, 2-B, 3-A</a:t>
            </a:r>
            <a:endParaRPr lang="en-US" sz="1800" dirty="0"/>
          </a:p>
        </p:txBody>
      </p:sp>
      <p:sp>
        <p:nvSpPr>
          <p:cNvPr id="19" name="Rectangle 18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Now a Frontend Developer!</a:t>
            </a:r>
            <a:endParaRPr lang="en-US" sz="28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You've Learned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HTML - Structure &amp; semantic markup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018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CSS - Styling, layout, responsive design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1452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JavaScript - Programming &amp; DOM manipulation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6886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Forms - Validation &amp; user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23210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Accessibility - Inclusive 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277552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Performance - Speed optimization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31895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Version Control - Git &amp; GitHub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186237"/>
            <a:ext cx="7680960" cy="431482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 Projects - Build portfolios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Go Next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Keep building projects!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87348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87932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Learn a framework: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69440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→ React (most popular)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50948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→ Vue (easier)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32456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733040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Learn backend (optional):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114548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→ Node.js + Express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96056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→ Python + Flask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877564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Keep learning and growing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59072"/>
            <a:ext cx="7680960" cy="358648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→ Never stop practicing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for Continued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00353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MDN Web Docs - Complete reference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94866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CSS-Tricks - CSS tutorials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89379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JavaScript.info - Interactive course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83892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84476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PLATFORMS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578989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CodePen - Share projects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873502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FreeCodeCamp - Free courses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168015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LeetCode - Coding challenges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462528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757041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Stack Overflow - Q&amp;A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051554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Reddit r/learnprogramming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346067"/>
            <a:ext cx="7680960" cy="27165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Dev.to - Articles</a:t>
            </a:r>
            <a:endParaRPr lang="en-US" sz="1800" dirty="0"/>
          </a:p>
        </p:txBody>
      </p:sp>
      <p:sp>
        <p:nvSpPr>
          <p:cNvPr id="18" name="Rectangle 17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Happy Coding! 🚀</a:t>
            </a:r>
            <a:endParaRPr lang="en-US" sz="28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none" rtlCol="0" anchor="ctr" lIns="0" rIns="0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Thoughts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now have the foundation to build any website.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98524"/>
            <a:ext cx="7680960" cy="100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49910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9179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Start with HTML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447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Add CSS for style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77160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Enhance with JavaScript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069844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 is your canvas.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62528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build something amazing!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217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855212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Keep learning!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47896"/>
            <a:ext cx="7680960" cy="369823"/>
          </a:xfrm>
          <a:prstGeom prst="rect">
            <a:avLst/>
          </a:prstGeom>
          <a:noFill/>
          <a:ln/>
        </p:spPr>
        <p:txBody>
          <a:bodyPr wrap="none" rtlCol="0" anchor="ctr" tIns="0" bIns="0" lIns="18288" rIns="18288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makes perfect! 💪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>
            <a:off x="457200" y="667512"/>
            <a:ext cx="7772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960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222</Slides>
  <Notes>222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222</vt:i4>
      </vt:variant>
    </vt:vector>
  </HeadingPairs>
  <TitlesOfParts>
    <vt:vector size="2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2026-09-22T05:17:37Z</dcterms:created>
  <dcterms:modified xsi:type="dcterms:W3CDTF">2026-09-22T05:17:37Z</dcterms:modified>
</cp:coreProperties>
</file>
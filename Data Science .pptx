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Rubik One" charset="1" panose="02000604000000020004"/>
      <p:regular r:id="rId40"/>
    </p:embeddedFont>
    <p:embeddedFont>
      <p:font typeface="Rubik Medium" charset="1" panose="00000600000000000000"/>
      <p:regular r:id="rId41"/>
    </p:embeddedFont>
    <p:embeddedFont>
      <p:font typeface="Poppins Medium" charset="1" panose="00000600000000000000"/>
      <p:regular r:id="rId42"/>
    </p:embeddedFont>
    <p:embeddedFont>
      <p:font typeface="Decalotype Bold" charset="1" panose="00000800000000000000"/>
      <p:regular r:id="rId43"/>
    </p:embeddedFont>
    <p:embeddedFont>
      <p:font typeface="Zing Rust Base" charset="1" panose="00000500000000000000"/>
      <p:regular r:id="rId44"/>
    </p:embeddedFont>
    <p:embeddedFont>
      <p:font typeface="Montserrat Semi-Bold" charset="1" panose="00000700000000000000"/>
      <p:regular r:id="rId45"/>
    </p:embeddedFont>
    <p:embeddedFont>
      <p:font typeface="Montserrat Bold" charset="1" panose="00000800000000000000"/>
      <p:regular r:id="rId46"/>
    </p:embeddedFont>
    <p:embeddedFont>
      <p:font typeface="TT Octosquares Compressed" charset="1" panose="02010001040000080307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gif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gif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6.pn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5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5819710" y="-1191154"/>
            <a:ext cx="13126746" cy="131267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08158" y="840190"/>
            <a:ext cx="7879842" cy="8229600"/>
          </a:xfrm>
          <a:custGeom>
            <a:avLst/>
            <a:gdLst/>
            <a:ahLst/>
            <a:cxnLst/>
            <a:rect r="r" b="b" t="t" l="l"/>
            <a:pathLst>
              <a:path h="8229600" w="7879842">
                <a:moveTo>
                  <a:pt x="0" y="0"/>
                </a:moveTo>
                <a:lnTo>
                  <a:pt x="7879842" y="0"/>
                </a:lnTo>
                <a:lnTo>
                  <a:pt x="787984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09329" y="2057400"/>
            <a:ext cx="3641598" cy="8229600"/>
          </a:xfrm>
          <a:custGeom>
            <a:avLst/>
            <a:gdLst/>
            <a:ahLst/>
            <a:cxnLst/>
            <a:rect r="r" b="b" t="t" l="l"/>
            <a:pathLst>
              <a:path h="8229600" w="3641598">
                <a:moveTo>
                  <a:pt x="0" y="0"/>
                </a:moveTo>
                <a:lnTo>
                  <a:pt x="3641598" y="0"/>
                </a:lnTo>
                <a:lnTo>
                  <a:pt x="36415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92730" y="-181646"/>
            <a:ext cx="5558766" cy="1496303"/>
          </a:xfrm>
          <a:custGeom>
            <a:avLst/>
            <a:gdLst/>
            <a:ahLst/>
            <a:cxnLst/>
            <a:rect r="r" b="b" t="t" l="l"/>
            <a:pathLst>
              <a:path h="1496303" w="5558766">
                <a:moveTo>
                  <a:pt x="0" y="0"/>
                </a:moveTo>
                <a:lnTo>
                  <a:pt x="5558766" y="0"/>
                </a:lnTo>
                <a:lnTo>
                  <a:pt x="5558766" y="1496303"/>
                </a:lnTo>
                <a:lnTo>
                  <a:pt x="0" y="149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752327" y="4279751"/>
            <a:ext cx="9562055" cy="23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206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DATA</a:t>
            </a:r>
          </a:p>
          <a:p>
            <a:pPr algn="r">
              <a:lnSpc>
                <a:spcPts val="11050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9206" y="1328081"/>
            <a:ext cx="8985277" cy="543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SCIENCE </a:t>
            </a:r>
          </a:p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IS THE ART </a:t>
            </a:r>
          </a:p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OF TURNING RAW</a:t>
            </a:r>
          </a:p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INTO INSIGHTS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429383" y="5870926"/>
            <a:ext cx="5265066" cy="4416074"/>
          </a:xfrm>
          <a:custGeom>
            <a:avLst/>
            <a:gdLst/>
            <a:ahLst/>
            <a:cxnLst/>
            <a:rect r="r" b="b" t="t" l="l"/>
            <a:pathLst>
              <a:path h="4416074" w="5265066">
                <a:moveTo>
                  <a:pt x="0" y="0"/>
                </a:moveTo>
                <a:lnTo>
                  <a:pt x="5265067" y="0"/>
                </a:lnTo>
                <a:lnTo>
                  <a:pt x="5265067" y="4416074"/>
                </a:lnTo>
                <a:lnTo>
                  <a:pt x="0" y="4416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54578" y="638175"/>
            <a:ext cx="9014676" cy="360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7"/>
              </a:lnSpc>
            </a:pPr>
            <a:r>
              <a:rPr lang="en-US" b="true" sz="2938" spc="18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With the vast amounts of data available today, data science helps make sense of it all by using statistical and computational methods to extract meaningful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432" y="1465100"/>
            <a:ext cx="6087835" cy="543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SCIENCE </a:t>
            </a:r>
          </a:p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IS THE </a:t>
            </a:r>
          </a:p>
          <a:p>
            <a:pPr algn="l">
              <a:lnSpc>
                <a:spcPts val="11010"/>
              </a:lnSpc>
            </a:pPr>
            <a:r>
              <a:rPr lang="en-US" b="true" sz="5004" spc="190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FUTURE OF DECISION-MAKING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62096" y="6335747"/>
            <a:ext cx="3925904" cy="3842479"/>
          </a:xfrm>
          <a:custGeom>
            <a:avLst/>
            <a:gdLst/>
            <a:ahLst/>
            <a:cxnLst/>
            <a:rect r="r" b="b" t="t" l="l"/>
            <a:pathLst>
              <a:path h="3842479" w="3925904">
                <a:moveTo>
                  <a:pt x="0" y="0"/>
                </a:moveTo>
                <a:lnTo>
                  <a:pt x="3925904" y="0"/>
                </a:lnTo>
                <a:lnTo>
                  <a:pt x="3925904" y="3842478"/>
                </a:lnTo>
                <a:lnTo>
                  <a:pt x="0" y="3842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75484" y="206952"/>
            <a:ext cx="9485761" cy="5915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68"/>
              </a:lnSpc>
            </a:pPr>
            <a:r>
              <a:rPr lang="en-US" b="true" sz="2707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today's data-driven world, businesses and organizations of all kinds rely on data to make informed decisions. </a:t>
            </a:r>
          </a:p>
          <a:p>
            <a:pPr algn="just">
              <a:lnSpc>
                <a:spcPts val="6768"/>
              </a:lnSpc>
            </a:pPr>
          </a:p>
          <a:p>
            <a:pPr algn="just">
              <a:lnSpc>
                <a:spcPts val="6768"/>
              </a:lnSpc>
            </a:pPr>
            <a:r>
              <a:rPr lang="en-US" b="true" sz="2707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plays a critical role in this process by providing the tools and methods needed to extract valuable insights from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5420" y="3243326"/>
            <a:ext cx="3091503" cy="3027096"/>
          </a:xfrm>
          <a:custGeom>
            <a:avLst/>
            <a:gdLst/>
            <a:ahLst/>
            <a:cxnLst/>
            <a:rect r="r" b="b" t="t" l="l"/>
            <a:pathLst>
              <a:path h="3027096" w="3091503">
                <a:moveTo>
                  <a:pt x="0" y="0"/>
                </a:moveTo>
                <a:lnTo>
                  <a:pt x="3091503" y="0"/>
                </a:lnTo>
                <a:lnTo>
                  <a:pt x="3091503" y="3027096"/>
                </a:lnTo>
                <a:lnTo>
                  <a:pt x="0" y="30270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0331" y="1091831"/>
            <a:ext cx="4080336" cy="612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20"/>
              </a:lnSpc>
            </a:pPr>
            <a:r>
              <a:rPr lang="en-US" b="true" sz="5645" spc="21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SCIENCE IS FOR EVERYONE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61525" y="769619"/>
            <a:ext cx="8777462" cy="848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While data science has traditionally been associated with technical fields like computer science and statistics, it's becoming increasingly important across all industries and disciplines. </a:t>
            </a:r>
          </a:p>
          <a:p>
            <a:pPr algn="just">
              <a:lnSpc>
                <a:spcPts val="6750"/>
              </a:lnSpc>
            </a:pPr>
          </a:p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Anyone can benefit from learning data science skills, whether they're working in healthcare, finance, marketing, or any other field.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621" y="89121"/>
            <a:ext cx="10108758" cy="101087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62973" y="2489255"/>
            <a:ext cx="9562055" cy="495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APPLICATIONS OF </a:t>
            </a:r>
          </a:p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DATA SCIENCE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01452" y="2505420"/>
            <a:ext cx="2651342" cy="2319924"/>
          </a:xfrm>
          <a:custGeom>
            <a:avLst/>
            <a:gdLst/>
            <a:ahLst/>
            <a:cxnLst/>
            <a:rect r="r" b="b" t="t" l="l"/>
            <a:pathLst>
              <a:path h="2319924" w="2651342">
                <a:moveTo>
                  <a:pt x="0" y="0"/>
                </a:moveTo>
                <a:lnTo>
                  <a:pt x="2651342" y="0"/>
                </a:lnTo>
                <a:lnTo>
                  <a:pt x="2651342" y="2319924"/>
                </a:lnTo>
                <a:lnTo>
                  <a:pt x="0" y="2319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61820" y="8820716"/>
            <a:ext cx="2034300" cy="1505382"/>
          </a:xfrm>
          <a:custGeom>
            <a:avLst/>
            <a:gdLst/>
            <a:ahLst/>
            <a:cxnLst/>
            <a:rect r="r" b="b" t="t" l="l"/>
            <a:pathLst>
              <a:path h="1505382" w="2034300">
                <a:moveTo>
                  <a:pt x="0" y="0"/>
                </a:moveTo>
                <a:lnTo>
                  <a:pt x="2034300" y="0"/>
                </a:lnTo>
                <a:lnTo>
                  <a:pt x="2034300" y="1505382"/>
                </a:lnTo>
                <a:lnTo>
                  <a:pt x="0" y="15053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0331" y="1899792"/>
            <a:ext cx="4080336" cy="297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20"/>
              </a:lnSpc>
            </a:pPr>
            <a:r>
              <a:rPr lang="en-US" b="true" sz="5645" spc="21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HEALTH</a:t>
            </a:r>
          </a:p>
          <a:p>
            <a:pPr algn="l">
              <a:lnSpc>
                <a:spcPts val="12420"/>
              </a:lnSpc>
            </a:pPr>
            <a:r>
              <a:rPr lang="en-US" b="true" sz="5645" spc="21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CARE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7805" y="1771653"/>
            <a:ext cx="8732540" cy="763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Algorithms can be trained on large amounts of patient data to identify patterns and predict the likelihood of certain diseases or conditions. </a:t>
            </a:r>
          </a:p>
          <a:p>
            <a:pPr algn="just">
              <a:lnSpc>
                <a:spcPts val="6750"/>
              </a:lnSpc>
            </a:pPr>
          </a:p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example, predictive models can be used to identify patients at high risk of developing diabetes, heart disease, or other conditions.</a:t>
            </a:r>
          </a:p>
          <a:p>
            <a:pPr algn="just">
              <a:lnSpc>
                <a:spcPts val="675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80031" y="493464"/>
            <a:ext cx="7768087" cy="7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b="true" sz="3045" spc="115" u="sng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DISEASE DIAGNOSIS AND PREDICTION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15112" y="2523984"/>
            <a:ext cx="2433212" cy="2282796"/>
          </a:xfrm>
          <a:custGeom>
            <a:avLst/>
            <a:gdLst/>
            <a:ahLst/>
            <a:cxnLst/>
            <a:rect r="r" b="b" t="t" l="l"/>
            <a:pathLst>
              <a:path h="2282796" w="2433212">
                <a:moveTo>
                  <a:pt x="0" y="0"/>
                </a:moveTo>
                <a:lnTo>
                  <a:pt x="2433213" y="0"/>
                </a:lnTo>
                <a:lnTo>
                  <a:pt x="2433213" y="2282796"/>
                </a:lnTo>
                <a:lnTo>
                  <a:pt x="0" y="2282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04877" y="6854272"/>
            <a:ext cx="3983123" cy="3432728"/>
          </a:xfrm>
          <a:custGeom>
            <a:avLst/>
            <a:gdLst/>
            <a:ahLst/>
            <a:cxnLst/>
            <a:rect r="r" b="b" t="t" l="l"/>
            <a:pathLst>
              <a:path h="3432728" w="3983123">
                <a:moveTo>
                  <a:pt x="0" y="0"/>
                </a:moveTo>
                <a:lnTo>
                  <a:pt x="3983123" y="0"/>
                </a:lnTo>
                <a:lnTo>
                  <a:pt x="3983123" y="3432728"/>
                </a:lnTo>
                <a:lnTo>
                  <a:pt x="0" y="3432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0331" y="2685607"/>
            <a:ext cx="4080336" cy="140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20"/>
              </a:lnSpc>
            </a:pPr>
            <a:r>
              <a:rPr lang="en-US" b="true" sz="5645" spc="21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FINANCE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7805" y="1487653"/>
            <a:ext cx="8732540" cy="591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can be used to predict various financial outcomes, such as stock prices, interest rates, and economic indicators. </a:t>
            </a:r>
          </a:p>
          <a:p>
            <a:pPr algn="just">
              <a:lnSpc>
                <a:spcPts val="6750"/>
              </a:lnSpc>
            </a:pPr>
          </a:p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can help financial institutions make more informed decisions about investments and other financial activities.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80031" y="493464"/>
            <a:ext cx="7768087" cy="7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b="true" sz="3045" spc="115" u="sng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PREDICTIVE ANALYTICS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36924" y="5000249"/>
            <a:ext cx="1833347" cy="1576679"/>
          </a:xfrm>
          <a:custGeom>
            <a:avLst/>
            <a:gdLst/>
            <a:ahLst/>
            <a:cxnLst/>
            <a:rect r="r" b="b" t="t" l="l"/>
            <a:pathLst>
              <a:path h="1576679" w="1833347">
                <a:moveTo>
                  <a:pt x="0" y="0"/>
                </a:moveTo>
                <a:lnTo>
                  <a:pt x="1833348" y="0"/>
                </a:lnTo>
                <a:lnTo>
                  <a:pt x="1833348" y="1576679"/>
                </a:lnTo>
                <a:lnTo>
                  <a:pt x="0" y="15766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5771" y="3044465"/>
            <a:ext cx="5517827" cy="234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PHARMACEUTICAL </a:t>
            </a:r>
          </a:p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INDUSTRY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63040" y="1469295"/>
            <a:ext cx="9002070" cy="591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techniques can be used to analyze large datasets and identify new drug targets or potential therapies. </a:t>
            </a:r>
          </a:p>
          <a:p>
            <a:pPr algn="just">
              <a:lnSpc>
                <a:spcPts val="6750"/>
              </a:lnSpc>
            </a:pPr>
          </a:p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models can also be used to predict the efficacy and safety of drugs before they are tested in clinical trials.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0031" y="493464"/>
            <a:ext cx="7768087" cy="7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b="true" sz="3045" spc="115" u="sng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DRUG DISCOVERY AND DEVELOPMENT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22788" y="7158166"/>
            <a:ext cx="5465212" cy="3128834"/>
          </a:xfrm>
          <a:custGeom>
            <a:avLst/>
            <a:gdLst/>
            <a:ahLst/>
            <a:cxnLst/>
            <a:rect r="r" b="b" t="t" l="l"/>
            <a:pathLst>
              <a:path h="3128834" w="5465212">
                <a:moveTo>
                  <a:pt x="0" y="0"/>
                </a:moveTo>
                <a:lnTo>
                  <a:pt x="5465212" y="0"/>
                </a:lnTo>
                <a:lnTo>
                  <a:pt x="5465212" y="3128834"/>
                </a:lnTo>
                <a:lnTo>
                  <a:pt x="0" y="31288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71845" y="3331554"/>
            <a:ext cx="1859273" cy="1811946"/>
          </a:xfrm>
          <a:custGeom>
            <a:avLst/>
            <a:gdLst/>
            <a:ahLst/>
            <a:cxnLst/>
            <a:rect r="r" b="b" t="t" l="l"/>
            <a:pathLst>
              <a:path h="1811946" w="1859273">
                <a:moveTo>
                  <a:pt x="0" y="0"/>
                </a:moveTo>
                <a:lnTo>
                  <a:pt x="1859272" y="0"/>
                </a:lnTo>
                <a:lnTo>
                  <a:pt x="1859272" y="1811946"/>
                </a:lnTo>
                <a:lnTo>
                  <a:pt x="0" y="1811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05281" y="7861912"/>
            <a:ext cx="2882719" cy="2425088"/>
          </a:xfrm>
          <a:custGeom>
            <a:avLst/>
            <a:gdLst/>
            <a:ahLst/>
            <a:cxnLst/>
            <a:rect r="r" b="b" t="t" l="l"/>
            <a:pathLst>
              <a:path h="2425088" w="2882719">
                <a:moveTo>
                  <a:pt x="0" y="0"/>
                </a:moveTo>
                <a:lnTo>
                  <a:pt x="2882719" y="0"/>
                </a:lnTo>
                <a:lnTo>
                  <a:pt x="2882719" y="2425088"/>
                </a:lnTo>
                <a:lnTo>
                  <a:pt x="0" y="2425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26128" y="1407719"/>
            <a:ext cx="9586050" cy="657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00"/>
              </a:lnSpc>
            </a:pPr>
            <a:r>
              <a:rPr lang="en-US" b="true" sz="2600" spc="16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techniques can be used to segment customers based on </a:t>
            </a:r>
            <a:r>
              <a:rPr lang="en-US" b="true" sz="2600" spc="16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behavior and preferences, such as which products they are likely to purchase or which marketing messages they are likely to respond to. </a:t>
            </a:r>
          </a:p>
          <a:p>
            <a:pPr algn="just">
              <a:lnSpc>
                <a:spcPts val="6750"/>
              </a:lnSpc>
            </a:pPr>
          </a:p>
          <a:p>
            <a:pPr algn="just">
              <a:lnSpc>
                <a:spcPts val="6750"/>
              </a:lnSpc>
            </a:pPr>
            <a:r>
              <a:rPr lang="en-US" b="true" sz="2700" spc="16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can help marketers develop more targeted and personalized marketing campaigns.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5771" y="3663590"/>
            <a:ext cx="5517827" cy="110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MARKETING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60893" y="342753"/>
            <a:ext cx="9007969" cy="7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b="true" sz="3045" spc="115" u="sng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CUSTOMER SEGMENTATION AND TARGETING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10318" y="3231415"/>
            <a:ext cx="850320" cy="2395266"/>
          </a:xfrm>
          <a:custGeom>
            <a:avLst/>
            <a:gdLst/>
            <a:ahLst/>
            <a:cxnLst/>
            <a:rect r="r" b="b" t="t" l="l"/>
            <a:pathLst>
              <a:path h="2395266" w="850320">
                <a:moveTo>
                  <a:pt x="0" y="0"/>
                </a:moveTo>
                <a:lnTo>
                  <a:pt x="850320" y="0"/>
                </a:lnTo>
                <a:lnTo>
                  <a:pt x="850320" y="2395267"/>
                </a:lnTo>
                <a:lnTo>
                  <a:pt x="0" y="2395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60343" y="7674808"/>
            <a:ext cx="2027657" cy="2917492"/>
          </a:xfrm>
          <a:custGeom>
            <a:avLst/>
            <a:gdLst/>
            <a:ahLst/>
            <a:cxnLst/>
            <a:rect r="r" b="b" t="t" l="l"/>
            <a:pathLst>
              <a:path h="2917492" w="2027657">
                <a:moveTo>
                  <a:pt x="0" y="0"/>
                </a:moveTo>
                <a:lnTo>
                  <a:pt x="2027657" y="0"/>
                </a:lnTo>
                <a:lnTo>
                  <a:pt x="2027657" y="2917492"/>
                </a:lnTo>
                <a:lnTo>
                  <a:pt x="0" y="2917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72394" y="1339025"/>
            <a:ext cx="8930646" cy="727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99"/>
              </a:lnSpc>
            </a:pPr>
            <a:r>
              <a:rPr lang="en-US" b="true" sz="2599" spc="16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science can be used to analyze historical crop yield data and predict future yields based on various factors, such as weather patterns, soil conditions, and irrigation practices. </a:t>
            </a:r>
          </a:p>
          <a:p>
            <a:pPr algn="just">
              <a:lnSpc>
                <a:spcPts val="6499"/>
              </a:lnSpc>
            </a:pPr>
          </a:p>
          <a:p>
            <a:pPr algn="just">
              <a:lnSpc>
                <a:spcPts val="6499"/>
              </a:lnSpc>
            </a:pPr>
            <a:r>
              <a:rPr lang="en-US" b="true" sz="2599" spc="16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can help farmers better plan their operations and make more informed decisions about crop selection and planting schedules.</a:t>
            </a:r>
          </a:p>
          <a:p>
            <a:pPr algn="just">
              <a:lnSpc>
                <a:spcPts val="6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35771" y="3663590"/>
            <a:ext cx="5517827" cy="1102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AGRICULTURE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72394" y="264102"/>
            <a:ext cx="9007969" cy="76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0"/>
              </a:lnSpc>
            </a:pPr>
            <a:r>
              <a:rPr lang="en-US" b="true" sz="3045" spc="115" u="sng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CROP YIELD PREDICTION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621" y="89121"/>
            <a:ext cx="10108758" cy="101087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62973" y="2129882"/>
            <a:ext cx="9562055" cy="495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TYPES</a:t>
            </a:r>
          </a:p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0F</a:t>
            </a:r>
          </a:p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DATA SCIENCE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115300" y="7367118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10841" y="7524198"/>
            <a:ext cx="3519933" cy="2565152"/>
          </a:xfrm>
          <a:custGeom>
            <a:avLst/>
            <a:gdLst/>
            <a:ahLst/>
            <a:cxnLst/>
            <a:rect r="r" b="b" t="t" l="l"/>
            <a:pathLst>
              <a:path h="2565152" w="3519933">
                <a:moveTo>
                  <a:pt x="0" y="0"/>
                </a:moveTo>
                <a:lnTo>
                  <a:pt x="3519933" y="0"/>
                </a:lnTo>
                <a:lnTo>
                  <a:pt x="3519933" y="2565151"/>
                </a:lnTo>
                <a:lnTo>
                  <a:pt x="0" y="256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5771" y="2425340"/>
            <a:ext cx="5517827" cy="357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TYPES</a:t>
            </a:r>
          </a:p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OF</a:t>
            </a:r>
          </a:p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SCIENCE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4945" y="2199507"/>
            <a:ext cx="10842549" cy="476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0046" indent="-420023" lvl="1">
              <a:lnSpc>
                <a:spcPts val="9727"/>
              </a:lnSpc>
              <a:buAutoNum type="arabicPeriod" startAt="1"/>
            </a:pPr>
            <a:r>
              <a:rPr lang="en-US" b="true" sz="3890" spc="147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DESCRIPTIVE DATA SCIENCE</a:t>
            </a:r>
          </a:p>
          <a:p>
            <a:pPr algn="l" marL="840046" indent="-420023" lvl="1">
              <a:lnSpc>
                <a:spcPts val="9727"/>
              </a:lnSpc>
              <a:buAutoNum type="arabicPeriod" startAt="1"/>
            </a:pPr>
            <a:r>
              <a:rPr lang="en-US" b="true" sz="3890" spc="147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 DIAGNOSTIC DATA SCIENCE</a:t>
            </a:r>
          </a:p>
          <a:p>
            <a:pPr algn="l" marL="840046" indent="-420023" lvl="1">
              <a:lnSpc>
                <a:spcPts val="9727"/>
              </a:lnSpc>
              <a:buAutoNum type="arabicPeriod" startAt="1"/>
            </a:pPr>
            <a:r>
              <a:rPr lang="en-US" b="true" sz="3890" spc="147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PREDICTIVE DATA SCIENCE</a:t>
            </a:r>
          </a:p>
          <a:p>
            <a:pPr algn="l" marL="840046" indent="-420023" lvl="1">
              <a:lnSpc>
                <a:spcPts val="9727"/>
              </a:lnSpc>
              <a:buAutoNum type="arabicPeriod" startAt="1"/>
            </a:pPr>
            <a:r>
              <a:rPr lang="en-US" b="true" sz="3890" spc="147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PRESCRIPTIVE DATA SCIENCE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15300" y="7367118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4429" y="526863"/>
            <a:ext cx="17546313" cy="9760137"/>
          </a:xfrm>
          <a:custGeom>
            <a:avLst/>
            <a:gdLst/>
            <a:ahLst/>
            <a:cxnLst/>
            <a:rect r="r" b="b" t="t" l="l"/>
            <a:pathLst>
              <a:path h="9760137" w="17546313">
                <a:moveTo>
                  <a:pt x="0" y="0"/>
                </a:moveTo>
                <a:lnTo>
                  <a:pt x="17546313" y="0"/>
                </a:lnTo>
                <a:lnTo>
                  <a:pt x="17546313" y="9760137"/>
                </a:lnTo>
                <a:lnTo>
                  <a:pt x="0" y="9760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621" y="89121"/>
            <a:ext cx="10108758" cy="101087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62973" y="2129882"/>
            <a:ext cx="9562055" cy="495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TOOLS</a:t>
            </a:r>
          </a:p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FOR</a:t>
            </a:r>
          </a:p>
          <a:p>
            <a:pPr algn="ctr">
              <a:lnSpc>
                <a:spcPts val="13325"/>
              </a:lnSpc>
            </a:pPr>
            <a:r>
              <a:rPr lang="en-US" sz="8125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DATA SCIENCE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115300" y="7367118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54420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3108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9206" y="259816"/>
            <a:ext cx="3015478" cy="618173"/>
          </a:xfrm>
          <a:custGeom>
            <a:avLst/>
            <a:gdLst/>
            <a:ahLst/>
            <a:cxnLst/>
            <a:rect r="r" b="b" t="t" l="l"/>
            <a:pathLst>
              <a:path h="618173" w="3015478">
                <a:moveTo>
                  <a:pt x="0" y="0"/>
                </a:moveTo>
                <a:lnTo>
                  <a:pt x="3015478" y="0"/>
                </a:lnTo>
                <a:lnTo>
                  <a:pt x="3015478" y="618173"/>
                </a:lnTo>
                <a:lnTo>
                  <a:pt x="0" y="618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10841" y="7524198"/>
            <a:ext cx="3519933" cy="2565152"/>
          </a:xfrm>
          <a:custGeom>
            <a:avLst/>
            <a:gdLst/>
            <a:ahLst/>
            <a:cxnLst/>
            <a:rect r="r" b="b" t="t" l="l"/>
            <a:pathLst>
              <a:path h="2565152" w="3519933">
                <a:moveTo>
                  <a:pt x="0" y="0"/>
                </a:moveTo>
                <a:lnTo>
                  <a:pt x="3519933" y="0"/>
                </a:lnTo>
                <a:lnTo>
                  <a:pt x="3519933" y="2565151"/>
                </a:lnTo>
                <a:lnTo>
                  <a:pt x="0" y="256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5771" y="2425340"/>
            <a:ext cx="5517827" cy="357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TOOLS</a:t>
            </a:r>
          </a:p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FOR</a:t>
            </a:r>
          </a:p>
          <a:p>
            <a:pPr algn="l">
              <a:lnSpc>
                <a:spcPts val="9780"/>
              </a:lnSpc>
            </a:pPr>
            <a:r>
              <a:rPr lang="en-US" b="true" sz="4445" spc="16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SCIENCE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15169" y="1036887"/>
            <a:ext cx="9515606" cy="634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PYTHON PROGRAMMING</a:t>
            </a:r>
          </a:p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DATA VISUALIZATION</a:t>
            </a:r>
          </a:p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MACHINE LEARNING</a:t>
            </a:r>
          </a:p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NATURAL LANGUAGE PROCESSING</a:t>
            </a:r>
          </a:p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DEEP LEARNING</a:t>
            </a:r>
          </a:p>
          <a:p>
            <a:pPr algn="l" marL="737239" indent="-368619" lvl="1">
              <a:lnSpc>
                <a:spcPts val="8536"/>
              </a:lnSpc>
              <a:buAutoNum type="arabicPeriod" startAt="1"/>
            </a:pPr>
            <a:r>
              <a:rPr lang="en-US" b="true" sz="3414" spc="129">
                <a:solidFill>
                  <a:srgbClr val="31087B"/>
                </a:solidFill>
                <a:latin typeface="Rubik Medium"/>
                <a:ea typeface="Rubik Medium"/>
                <a:cs typeface="Rubik Medium"/>
                <a:sym typeface="Rubik Medium"/>
              </a:rPr>
              <a:t>MATHEMATICS &amp; STATISTICS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7980" y="1028700"/>
            <a:ext cx="4821320" cy="2922925"/>
          </a:xfrm>
          <a:custGeom>
            <a:avLst/>
            <a:gdLst/>
            <a:ahLst/>
            <a:cxnLst/>
            <a:rect r="r" b="b" t="t" l="l"/>
            <a:pathLst>
              <a:path h="2922925" w="4821320">
                <a:moveTo>
                  <a:pt x="0" y="0"/>
                </a:moveTo>
                <a:lnTo>
                  <a:pt x="4821320" y="0"/>
                </a:lnTo>
                <a:lnTo>
                  <a:pt x="4821320" y="2922925"/>
                </a:lnTo>
                <a:lnTo>
                  <a:pt x="0" y="2922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3400"/>
            <a:ext cx="10081279" cy="42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7"/>
              </a:lnSpc>
            </a:pPr>
            <a:r>
              <a:rPr lang="en-US" b="true" sz="10263" spc="1098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MACHINE</a:t>
            </a:r>
          </a:p>
          <a:p>
            <a:pPr algn="l">
              <a:lnSpc>
                <a:spcPts val="17447"/>
              </a:lnSpc>
            </a:pPr>
            <a:r>
              <a:rPr lang="en-US" b="true" sz="10263" spc="1098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LEARNING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23454" y="5202897"/>
            <a:ext cx="13835846" cy="46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4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creating algorithms and models capable of making informed choices or decisions by processing data and learning from it.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05871"/>
            <a:ext cx="3997613" cy="3757756"/>
          </a:xfrm>
          <a:custGeom>
            <a:avLst/>
            <a:gdLst/>
            <a:ahLst/>
            <a:cxnLst/>
            <a:rect r="r" b="b" t="t" l="l"/>
            <a:pathLst>
              <a:path h="3757756" w="3997613">
                <a:moveTo>
                  <a:pt x="0" y="0"/>
                </a:moveTo>
                <a:lnTo>
                  <a:pt x="3997613" y="0"/>
                </a:lnTo>
                <a:lnTo>
                  <a:pt x="3997613" y="3757756"/>
                </a:lnTo>
                <a:lnTo>
                  <a:pt x="0" y="375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899708" y="0"/>
            <a:ext cx="6488584" cy="5969497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13851124" y="1280661"/>
            <a:ext cx="3408176" cy="3408176"/>
          </a:xfrm>
          <a:custGeom>
            <a:avLst/>
            <a:gdLst/>
            <a:ahLst/>
            <a:cxnLst/>
            <a:rect r="r" b="b" t="t" l="l"/>
            <a:pathLst>
              <a:path h="3408176" w="3408176">
                <a:moveTo>
                  <a:pt x="0" y="0"/>
                </a:moveTo>
                <a:lnTo>
                  <a:pt x="3408176" y="0"/>
                </a:lnTo>
                <a:lnTo>
                  <a:pt x="3408176" y="3408176"/>
                </a:lnTo>
                <a:lnTo>
                  <a:pt x="0" y="3408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9849" y="6112042"/>
            <a:ext cx="2075315" cy="15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4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99708" y="5683416"/>
            <a:ext cx="6113734" cy="287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Analysis</a:t>
            </a:r>
          </a:p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&amp;</a:t>
            </a:r>
          </a:p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01361" y="5446245"/>
            <a:ext cx="3657939" cy="293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ML Algorithm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19656" y="6828825"/>
            <a:ext cx="1541505" cy="649359"/>
          </a:xfrm>
          <a:custGeom>
            <a:avLst/>
            <a:gdLst/>
            <a:ahLst/>
            <a:cxnLst/>
            <a:rect r="r" b="b" t="t" l="l"/>
            <a:pathLst>
              <a:path h="649359" w="1541505">
                <a:moveTo>
                  <a:pt x="0" y="0"/>
                </a:moveTo>
                <a:lnTo>
                  <a:pt x="1541505" y="0"/>
                </a:lnTo>
                <a:lnTo>
                  <a:pt x="1541505" y="649359"/>
                </a:lnTo>
                <a:lnTo>
                  <a:pt x="0" y="649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17539" y="6828825"/>
            <a:ext cx="1541505" cy="649359"/>
          </a:xfrm>
          <a:custGeom>
            <a:avLst/>
            <a:gdLst/>
            <a:ahLst/>
            <a:cxnLst/>
            <a:rect r="r" b="b" t="t" l="l"/>
            <a:pathLst>
              <a:path h="649359" w="1541505">
                <a:moveTo>
                  <a:pt x="0" y="0"/>
                </a:moveTo>
                <a:lnTo>
                  <a:pt x="1541506" y="0"/>
                </a:lnTo>
                <a:lnTo>
                  <a:pt x="1541506" y="649359"/>
                </a:lnTo>
                <a:lnTo>
                  <a:pt x="0" y="649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26682" y="1028700"/>
            <a:ext cx="3232618" cy="3411734"/>
          </a:xfrm>
          <a:custGeom>
            <a:avLst/>
            <a:gdLst/>
            <a:ahLst/>
            <a:cxnLst/>
            <a:rect r="r" b="b" t="t" l="l"/>
            <a:pathLst>
              <a:path h="3411734" w="3232618">
                <a:moveTo>
                  <a:pt x="0" y="0"/>
                </a:moveTo>
                <a:lnTo>
                  <a:pt x="3232618" y="0"/>
                </a:lnTo>
                <a:lnTo>
                  <a:pt x="3232618" y="3411734"/>
                </a:lnTo>
                <a:lnTo>
                  <a:pt x="0" y="341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3400"/>
            <a:ext cx="10081279" cy="42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7"/>
              </a:lnSpc>
            </a:pPr>
            <a:r>
              <a:rPr lang="en-US" b="true" sz="10263" spc="1098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DEEP</a:t>
            </a:r>
          </a:p>
          <a:p>
            <a:pPr algn="l">
              <a:lnSpc>
                <a:spcPts val="17447"/>
              </a:lnSpc>
            </a:pPr>
            <a:r>
              <a:rPr lang="en-US" b="true" sz="10263" spc="1098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LEARNING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7965" y="5202897"/>
            <a:ext cx="15691335" cy="460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4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it is a specialized field within machine learning where artificial neural networks are employed to process and analyze complex data.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05871"/>
            <a:ext cx="3997613" cy="3757756"/>
          </a:xfrm>
          <a:custGeom>
            <a:avLst/>
            <a:gdLst/>
            <a:ahLst/>
            <a:cxnLst/>
            <a:rect r="r" b="b" t="t" l="l"/>
            <a:pathLst>
              <a:path h="3757756" w="3997613">
                <a:moveTo>
                  <a:pt x="0" y="0"/>
                </a:moveTo>
                <a:lnTo>
                  <a:pt x="3997613" y="0"/>
                </a:lnTo>
                <a:lnTo>
                  <a:pt x="3997613" y="3757756"/>
                </a:lnTo>
                <a:lnTo>
                  <a:pt x="0" y="375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899708" y="0"/>
            <a:ext cx="6488584" cy="596949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89849" y="6112042"/>
            <a:ext cx="2075315" cy="15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4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9708" y="5683416"/>
            <a:ext cx="6113734" cy="287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Analysis</a:t>
            </a:r>
          </a:p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&amp;</a:t>
            </a:r>
          </a:p>
          <a:p>
            <a:pPr algn="ctr">
              <a:lnSpc>
                <a:spcPts val="719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14021" y="5493247"/>
            <a:ext cx="3657939" cy="293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Neural</a:t>
            </a:r>
          </a:p>
          <a:p>
            <a:pPr algn="ctr">
              <a:lnSpc>
                <a:spcPts val="11484"/>
              </a:lnSpc>
            </a:pPr>
            <a:r>
              <a:rPr lang="en-US" sz="66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network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19656" y="6828825"/>
            <a:ext cx="1541505" cy="649359"/>
          </a:xfrm>
          <a:custGeom>
            <a:avLst/>
            <a:gdLst/>
            <a:ahLst/>
            <a:cxnLst/>
            <a:rect r="r" b="b" t="t" l="l"/>
            <a:pathLst>
              <a:path h="649359" w="1541505">
                <a:moveTo>
                  <a:pt x="0" y="0"/>
                </a:moveTo>
                <a:lnTo>
                  <a:pt x="1541505" y="0"/>
                </a:lnTo>
                <a:lnTo>
                  <a:pt x="1541505" y="649359"/>
                </a:lnTo>
                <a:lnTo>
                  <a:pt x="0" y="649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17539" y="6828825"/>
            <a:ext cx="1541505" cy="649359"/>
          </a:xfrm>
          <a:custGeom>
            <a:avLst/>
            <a:gdLst/>
            <a:ahLst/>
            <a:cxnLst/>
            <a:rect r="r" b="b" t="t" l="l"/>
            <a:pathLst>
              <a:path h="649359" w="1541505">
                <a:moveTo>
                  <a:pt x="0" y="0"/>
                </a:moveTo>
                <a:lnTo>
                  <a:pt x="1541506" y="0"/>
                </a:lnTo>
                <a:lnTo>
                  <a:pt x="1541506" y="649359"/>
                </a:lnTo>
                <a:lnTo>
                  <a:pt x="0" y="649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26682" y="1278881"/>
            <a:ext cx="3232618" cy="3411734"/>
          </a:xfrm>
          <a:custGeom>
            <a:avLst/>
            <a:gdLst/>
            <a:ahLst/>
            <a:cxnLst/>
            <a:rect r="r" b="b" t="t" l="l"/>
            <a:pathLst>
              <a:path h="3411734" w="3232618">
                <a:moveTo>
                  <a:pt x="0" y="0"/>
                </a:moveTo>
                <a:lnTo>
                  <a:pt x="3232618" y="0"/>
                </a:lnTo>
                <a:lnTo>
                  <a:pt x="3232618" y="3411735"/>
                </a:lnTo>
                <a:lnTo>
                  <a:pt x="0" y="341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88288" y="296226"/>
            <a:ext cx="14111425" cy="9694549"/>
          </a:xfrm>
          <a:custGeom>
            <a:avLst/>
            <a:gdLst/>
            <a:ahLst/>
            <a:cxnLst/>
            <a:rect r="r" b="b" t="t" l="l"/>
            <a:pathLst>
              <a:path h="9694549" w="14111425">
                <a:moveTo>
                  <a:pt x="0" y="0"/>
                </a:moveTo>
                <a:lnTo>
                  <a:pt x="14111424" y="0"/>
                </a:lnTo>
                <a:lnTo>
                  <a:pt x="14111424" y="9694548"/>
                </a:lnTo>
                <a:lnTo>
                  <a:pt x="0" y="9694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1819" y="1083641"/>
            <a:ext cx="9164361" cy="8119719"/>
          </a:xfrm>
          <a:custGeom>
            <a:avLst/>
            <a:gdLst/>
            <a:ahLst/>
            <a:cxnLst/>
            <a:rect r="r" b="b" t="t" l="l"/>
            <a:pathLst>
              <a:path h="8119719" w="9164361">
                <a:moveTo>
                  <a:pt x="0" y="0"/>
                </a:moveTo>
                <a:lnTo>
                  <a:pt x="9164362" y="0"/>
                </a:lnTo>
                <a:lnTo>
                  <a:pt x="9164362" y="8119718"/>
                </a:lnTo>
                <a:lnTo>
                  <a:pt x="0" y="8119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98407"/>
            <a:ext cx="11294708" cy="778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30"/>
              </a:lnSpc>
            </a:pPr>
            <a:r>
              <a:rPr lang="en-US" b="true" sz="9394" spc="1005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NATURAL LANGUAGE PROCESSING</a:t>
            </a:r>
            <a:r>
              <a:rPr lang="en-US" b="true" sz="9394" spc="1005">
                <a:solidFill>
                  <a:srgbClr val="FFCF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(NLP)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11946" y="0"/>
            <a:ext cx="6676054" cy="1368591"/>
          </a:xfrm>
          <a:custGeom>
            <a:avLst/>
            <a:gdLst/>
            <a:ahLst/>
            <a:cxnLst/>
            <a:rect r="r" b="b" t="t" l="l"/>
            <a:pathLst>
              <a:path h="1368591" w="6676054">
                <a:moveTo>
                  <a:pt x="0" y="0"/>
                </a:moveTo>
                <a:lnTo>
                  <a:pt x="6676054" y="0"/>
                </a:lnTo>
                <a:lnTo>
                  <a:pt x="6676054" y="1368591"/>
                </a:lnTo>
                <a:lnTo>
                  <a:pt x="0" y="1368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79481" y="5005865"/>
            <a:ext cx="5208519" cy="5281135"/>
          </a:xfrm>
          <a:custGeom>
            <a:avLst/>
            <a:gdLst/>
            <a:ahLst/>
            <a:cxnLst/>
            <a:rect r="r" b="b" t="t" l="l"/>
            <a:pathLst>
              <a:path h="5281135" w="5208519">
                <a:moveTo>
                  <a:pt x="0" y="0"/>
                </a:moveTo>
                <a:lnTo>
                  <a:pt x="5208519" y="0"/>
                </a:lnTo>
                <a:lnTo>
                  <a:pt x="5208519" y="5281135"/>
                </a:lnTo>
                <a:lnTo>
                  <a:pt x="0" y="52811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7969" y="0"/>
            <a:ext cx="3590031" cy="3590031"/>
          </a:xfrm>
          <a:custGeom>
            <a:avLst/>
            <a:gdLst/>
            <a:ahLst/>
            <a:cxnLst/>
            <a:rect r="r" b="b" t="t" l="l"/>
            <a:pathLst>
              <a:path h="3590031" w="3590031">
                <a:moveTo>
                  <a:pt x="0" y="0"/>
                </a:moveTo>
                <a:lnTo>
                  <a:pt x="3590031" y="0"/>
                </a:lnTo>
                <a:lnTo>
                  <a:pt x="3590031" y="3590031"/>
                </a:lnTo>
                <a:lnTo>
                  <a:pt x="0" y="35900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52425"/>
            <a:ext cx="11243912" cy="392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8"/>
              </a:lnSpc>
            </a:pPr>
            <a:r>
              <a:rPr lang="en-US" b="true" sz="7766" spc="83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NATURAL LANGUAGE </a:t>
            </a:r>
          </a:p>
          <a:p>
            <a:pPr algn="l">
              <a:lnSpc>
                <a:spcPts val="16308"/>
              </a:lnSpc>
            </a:pPr>
            <a:r>
              <a:rPr lang="en-US" b="true" sz="7766" spc="830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PROCESSING </a:t>
            </a:r>
            <a:r>
              <a:rPr lang="en-US" b="true" sz="7766" spc="830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(NLP)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33089" y="5456835"/>
            <a:ext cx="14426211" cy="419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040"/>
              </a:lnSpc>
            </a:pPr>
            <a:r>
              <a:rPr lang="en-US" sz="60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NLP is a machine learning technology that gives computers the ability to interpret, manipulate, and comprehend human language.</a:t>
            </a:r>
            <a:r>
              <a:rPr lang="en-US" sz="6000">
                <a:solidFill>
                  <a:srgbClr val="FFFFFF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6586" y="2546621"/>
            <a:ext cx="15554828" cy="466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54"/>
              </a:lnSpc>
            </a:pPr>
            <a:r>
              <a:rPr lang="en-US" b="true" sz="11208" spc="1199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TYPES OF</a:t>
            </a:r>
          </a:p>
          <a:p>
            <a:pPr algn="ctr">
              <a:lnSpc>
                <a:spcPts val="19054"/>
              </a:lnSpc>
            </a:pPr>
            <a:r>
              <a:rPr lang="en-US" b="true" sz="11208" spc="1199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MACHINE </a:t>
            </a:r>
            <a:r>
              <a:rPr lang="en-US" b="true" sz="11208" spc="1199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LEARNING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57577" y="2485161"/>
            <a:ext cx="12372846" cy="6955954"/>
          </a:xfrm>
          <a:custGeom>
            <a:avLst/>
            <a:gdLst/>
            <a:ahLst/>
            <a:cxnLst/>
            <a:rect r="r" b="b" t="t" l="l"/>
            <a:pathLst>
              <a:path h="6955954" w="12372846">
                <a:moveTo>
                  <a:pt x="0" y="0"/>
                </a:moveTo>
                <a:lnTo>
                  <a:pt x="12372846" y="0"/>
                </a:lnTo>
                <a:lnTo>
                  <a:pt x="12372846" y="6955954"/>
                </a:lnTo>
                <a:lnTo>
                  <a:pt x="0" y="6955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387" y="366559"/>
            <a:ext cx="17535227" cy="14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6"/>
              </a:lnSpc>
            </a:pPr>
            <a:r>
              <a:rPr lang="en-US" b="true" sz="7062" spc="755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1. SUPERVISED</a:t>
            </a:r>
            <a:r>
              <a:rPr lang="en-US" b="true" sz="7062" spc="755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LEARNING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29633" y="2268576"/>
            <a:ext cx="9028734" cy="7281237"/>
          </a:xfrm>
          <a:custGeom>
            <a:avLst/>
            <a:gdLst/>
            <a:ahLst/>
            <a:cxnLst/>
            <a:rect r="r" b="b" t="t" l="l"/>
            <a:pathLst>
              <a:path h="7281237" w="9028734">
                <a:moveTo>
                  <a:pt x="0" y="0"/>
                </a:moveTo>
                <a:lnTo>
                  <a:pt x="9028734" y="0"/>
                </a:lnTo>
                <a:lnTo>
                  <a:pt x="9028734" y="7281237"/>
                </a:lnTo>
                <a:lnTo>
                  <a:pt x="0" y="7281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387" y="366559"/>
            <a:ext cx="17535227" cy="14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6"/>
              </a:lnSpc>
            </a:pPr>
            <a:r>
              <a:rPr lang="en-US" b="true" sz="7062" spc="755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1. SUPERVISED</a:t>
            </a:r>
            <a:r>
              <a:rPr lang="en-US" b="true" sz="7062" spc="755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LEARNING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78692" y="3120028"/>
            <a:ext cx="12530617" cy="5302129"/>
          </a:xfrm>
          <a:custGeom>
            <a:avLst/>
            <a:gdLst/>
            <a:ahLst/>
            <a:cxnLst/>
            <a:rect r="r" b="b" t="t" l="l"/>
            <a:pathLst>
              <a:path h="5302129" w="12530617">
                <a:moveTo>
                  <a:pt x="0" y="0"/>
                </a:moveTo>
                <a:lnTo>
                  <a:pt x="12530616" y="0"/>
                </a:lnTo>
                <a:lnTo>
                  <a:pt x="12530616" y="5302128"/>
                </a:lnTo>
                <a:lnTo>
                  <a:pt x="0" y="5302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246" r="0" b="-669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387" y="685800"/>
            <a:ext cx="17535227" cy="14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6"/>
              </a:lnSpc>
            </a:pPr>
            <a:r>
              <a:rPr lang="en-US" b="true" sz="7062" spc="755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2. UNSUPERVISED</a:t>
            </a:r>
            <a:r>
              <a:rPr lang="en-US" b="true" sz="7062" spc="755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LEARNING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25662" y="3167355"/>
            <a:ext cx="7436676" cy="6090945"/>
          </a:xfrm>
          <a:custGeom>
            <a:avLst/>
            <a:gdLst/>
            <a:ahLst/>
            <a:cxnLst/>
            <a:rect r="r" b="b" t="t" l="l"/>
            <a:pathLst>
              <a:path h="6090945" w="7436676">
                <a:moveTo>
                  <a:pt x="0" y="0"/>
                </a:moveTo>
                <a:lnTo>
                  <a:pt x="7436676" y="0"/>
                </a:lnTo>
                <a:lnTo>
                  <a:pt x="7436676" y="6090945"/>
                </a:lnTo>
                <a:lnTo>
                  <a:pt x="0" y="6090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397" t="-2687" r="-8072" b="-40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387" y="857718"/>
            <a:ext cx="17535227" cy="14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6"/>
              </a:lnSpc>
            </a:pPr>
            <a:r>
              <a:rPr lang="en-US" b="true" sz="7062" spc="755">
                <a:solidFill>
                  <a:srgbClr val="FFFFFF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3. REINFORCEMENT</a:t>
            </a:r>
            <a:r>
              <a:rPr lang="en-US" b="true" sz="7062" spc="755">
                <a:solidFill>
                  <a:srgbClr val="F80A1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 LEARNING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8401859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C404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6402870" y="2747460"/>
            <a:ext cx="11124631" cy="457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53"/>
              </a:lnSpc>
            </a:pPr>
            <a:r>
              <a:rPr lang="en-US" sz="5830" b="true">
                <a:solidFill>
                  <a:srgbClr val="FDFDFD"/>
                </a:solidFill>
                <a:latin typeface="Rubik Medium"/>
                <a:ea typeface="Rubik Medium"/>
                <a:cs typeface="Rubik Medium"/>
                <a:sym typeface="Rubik Medium"/>
              </a:rPr>
              <a:t>Steps</a:t>
            </a:r>
          </a:p>
          <a:p>
            <a:pPr algn="r">
              <a:lnSpc>
                <a:spcPts val="9153"/>
              </a:lnSpc>
            </a:pPr>
            <a:r>
              <a:rPr lang="en-US" sz="5830" b="true">
                <a:solidFill>
                  <a:srgbClr val="FDFDFD"/>
                </a:solidFill>
                <a:latin typeface="Rubik Medium"/>
                <a:ea typeface="Rubik Medium"/>
                <a:cs typeface="Rubik Medium"/>
                <a:sym typeface="Rubik Medium"/>
              </a:rPr>
              <a:t>in</a:t>
            </a:r>
          </a:p>
          <a:p>
            <a:pPr algn="r">
              <a:lnSpc>
                <a:spcPts val="9153"/>
              </a:lnSpc>
            </a:pPr>
            <a:r>
              <a:rPr lang="en-US" sz="5830" b="true">
                <a:solidFill>
                  <a:srgbClr val="FDFDFD"/>
                </a:solidFill>
                <a:latin typeface="Rubik Medium"/>
                <a:ea typeface="Rubik Medium"/>
                <a:cs typeface="Rubik Medium"/>
                <a:sym typeface="Rubik Medium"/>
              </a:rPr>
              <a:t>Machine</a:t>
            </a:r>
          </a:p>
          <a:p>
            <a:pPr algn="r" marL="0" indent="0" lvl="0">
              <a:lnSpc>
                <a:spcPts val="9153"/>
              </a:lnSpc>
            </a:pPr>
            <a:r>
              <a:rPr lang="en-US" b="true" sz="5830">
                <a:solidFill>
                  <a:srgbClr val="FDFDFD"/>
                </a:solidFill>
                <a:latin typeface="Rubik Medium"/>
                <a:ea typeface="Rubik Medium"/>
                <a:cs typeface="Rubik Medium"/>
                <a:sym typeface="Rubik Medium"/>
              </a:rPr>
              <a:t>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6400" y="1224320"/>
            <a:ext cx="10184440" cy="789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collection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Preprocessing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train, test, split 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selection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- selection, training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Predictions</a:t>
            </a:r>
          </a:p>
          <a:p>
            <a:pPr algn="just" marL="778250" indent="-389125" lvl="1">
              <a:lnSpc>
                <a:spcPts val="9011"/>
              </a:lnSpc>
              <a:buFont typeface="Arial"/>
              <a:buChar char="•"/>
            </a:pPr>
            <a:r>
              <a:rPr lang="en-US" b="true" sz="3604" spc="14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Evaluate and improve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68381" y="9293065"/>
            <a:ext cx="2857629" cy="585814"/>
          </a:xfrm>
          <a:custGeom>
            <a:avLst/>
            <a:gdLst/>
            <a:ahLst/>
            <a:cxnLst/>
            <a:rect r="r" b="b" t="t" l="l"/>
            <a:pathLst>
              <a:path h="585814" w="2857629">
                <a:moveTo>
                  <a:pt x="0" y="0"/>
                </a:moveTo>
                <a:lnTo>
                  <a:pt x="2857629" y="0"/>
                </a:lnTo>
                <a:lnTo>
                  <a:pt x="2857629" y="585814"/>
                </a:lnTo>
                <a:lnTo>
                  <a:pt x="0" y="585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30B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716"/>
            <a:ext cx="14500738" cy="90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DATA COLLECTION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50213" y="2658359"/>
            <a:ext cx="2892518" cy="1117170"/>
          </a:xfrm>
          <a:custGeom>
            <a:avLst/>
            <a:gdLst/>
            <a:ahLst/>
            <a:cxnLst/>
            <a:rect r="r" b="b" t="t" l="l"/>
            <a:pathLst>
              <a:path h="1117170" w="2892518">
                <a:moveTo>
                  <a:pt x="0" y="0"/>
                </a:moveTo>
                <a:lnTo>
                  <a:pt x="2892518" y="0"/>
                </a:lnTo>
                <a:lnTo>
                  <a:pt x="2892518" y="1117170"/>
                </a:lnTo>
                <a:lnTo>
                  <a:pt x="0" y="1117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74339" y="4490207"/>
            <a:ext cx="5875120" cy="1897174"/>
          </a:xfrm>
          <a:custGeom>
            <a:avLst/>
            <a:gdLst/>
            <a:ahLst/>
            <a:cxnLst/>
            <a:rect r="r" b="b" t="t" l="l"/>
            <a:pathLst>
              <a:path h="1897174" w="5875120">
                <a:moveTo>
                  <a:pt x="0" y="0"/>
                </a:moveTo>
                <a:lnTo>
                  <a:pt x="5875120" y="0"/>
                </a:lnTo>
                <a:lnTo>
                  <a:pt x="5875120" y="1897175"/>
                </a:lnTo>
                <a:lnTo>
                  <a:pt x="0" y="189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1203" y="7101757"/>
            <a:ext cx="8905459" cy="1655203"/>
          </a:xfrm>
          <a:custGeom>
            <a:avLst/>
            <a:gdLst/>
            <a:ahLst/>
            <a:cxnLst/>
            <a:rect r="r" b="b" t="t" l="l"/>
            <a:pathLst>
              <a:path h="1655203" w="8905459">
                <a:moveTo>
                  <a:pt x="0" y="0"/>
                </a:moveTo>
                <a:lnTo>
                  <a:pt x="8905459" y="0"/>
                </a:lnTo>
                <a:lnTo>
                  <a:pt x="8905459" y="1655203"/>
                </a:lnTo>
                <a:lnTo>
                  <a:pt x="0" y="165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684" t="-154086" r="-19534" b="-1447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5449" y="2417729"/>
            <a:ext cx="10227093" cy="547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5823" indent="-382911" lvl="1">
              <a:lnSpc>
                <a:spcPts val="8867"/>
              </a:lnSpc>
              <a:buFont typeface="Arial"/>
              <a:buChar char="•"/>
            </a:pPr>
            <a:r>
              <a:rPr lang="en-US" b="true" sz="3547">
                <a:solidFill>
                  <a:srgbClr val="1717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Kaggle</a:t>
            </a:r>
          </a:p>
          <a:p>
            <a:pPr algn="l">
              <a:lnSpc>
                <a:spcPts val="8867"/>
              </a:lnSpc>
            </a:pPr>
          </a:p>
          <a:p>
            <a:pPr algn="l" marL="765823" indent="-382911" lvl="1">
              <a:lnSpc>
                <a:spcPts val="8867"/>
              </a:lnSpc>
              <a:buFont typeface="Arial"/>
              <a:buChar char="•"/>
            </a:pPr>
            <a:r>
              <a:rPr lang="en-US" b="true" sz="3547">
                <a:solidFill>
                  <a:srgbClr val="1717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UCI machine learning repository</a:t>
            </a:r>
          </a:p>
          <a:p>
            <a:pPr algn="l">
              <a:lnSpc>
                <a:spcPts val="8867"/>
              </a:lnSpc>
            </a:pPr>
          </a:p>
          <a:p>
            <a:pPr algn="just" marL="765823" indent="-382911" lvl="1">
              <a:lnSpc>
                <a:spcPts val="8867"/>
              </a:lnSpc>
              <a:buFont typeface="Arial"/>
              <a:buChar char="•"/>
            </a:pPr>
            <a:r>
              <a:rPr lang="en-US" b="true" sz="3547">
                <a:solidFill>
                  <a:srgbClr val="171717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Google dataset search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7014813" y="-4010025"/>
            <a:ext cx="10287000" cy="18307050"/>
            <a:chOff x="0" y="0"/>
            <a:chExt cx="2709333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21610"/>
            </a:xfrm>
            <a:custGeom>
              <a:avLst/>
              <a:gdLst/>
              <a:ahLst/>
              <a:cxnLst/>
              <a:rect r="r" b="b" t="t" l="l"/>
              <a:pathLst>
                <a:path h="4821610" w="2709333">
                  <a:moveTo>
                    <a:pt x="21073" y="0"/>
                  </a:moveTo>
                  <a:lnTo>
                    <a:pt x="2688261" y="0"/>
                  </a:lnTo>
                  <a:cubicBezTo>
                    <a:pt x="2693850" y="0"/>
                    <a:pt x="2699209" y="2220"/>
                    <a:pt x="2703161" y="6172"/>
                  </a:cubicBezTo>
                  <a:cubicBezTo>
                    <a:pt x="2707113" y="10124"/>
                    <a:pt x="2709333" y="15484"/>
                    <a:pt x="2709333" y="21073"/>
                  </a:cubicBezTo>
                  <a:lnTo>
                    <a:pt x="2709333" y="4800537"/>
                  </a:lnTo>
                  <a:cubicBezTo>
                    <a:pt x="2709333" y="4812175"/>
                    <a:pt x="2699899" y="4821610"/>
                    <a:pt x="2688261" y="4821610"/>
                  </a:cubicBezTo>
                  <a:lnTo>
                    <a:pt x="21073" y="4821610"/>
                  </a:lnTo>
                  <a:cubicBezTo>
                    <a:pt x="15484" y="4821610"/>
                    <a:pt x="10124" y="4819390"/>
                    <a:pt x="6172" y="4815438"/>
                  </a:cubicBezTo>
                  <a:cubicBezTo>
                    <a:pt x="2220" y="4811486"/>
                    <a:pt x="0" y="4806126"/>
                    <a:pt x="0" y="4800537"/>
                  </a:cubicBezTo>
                  <a:lnTo>
                    <a:pt x="0" y="21073"/>
                  </a:lnTo>
                  <a:cubicBezTo>
                    <a:pt x="0" y="9435"/>
                    <a:pt x="9435" y="0"/>
                    <a:pt x="21073" y="0"/>
                  </a:cubicBezTo>
                  <a:close/>
                </a:path>
              </a:pathLst>
            </a:custGeom>
            <a:solidFill>
              <a:srgbClr val="AF09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8032" y="4833105"/>
            <a:ext cx="11417879" cy="70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0"/>
              </a:lnSpc>
              <a:spcBef>
                <a:spcPct val="0"/>
              </a:spcBef>
            </a:pPr>
            <a:r>
              <a:rPr lang="en-US" b="true" sz="5210" spc="208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PREPROCESSING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02194" y="2240841"/>
            <a:ext cx="10103973" cy="52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6533" indent="-458267" lvl="1">
              <a:lnSpc>
                <a:spcPts val="10612"/>
              </a:lnSpc>
              <a:buFont typeface="Arial"/>
              <a:buChar char="•"/>
            </a:pPr>
            <a:r>
              <a:rPr lang="en-US" b="true" sz="4245" spc="17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Scaling</a:t>
            </a:r>
          </a:p>
          <a:p>
            <a:pPr algn="just" marL="916533" indent="-458267" lvl="1">
              <a:lnSpc>
                <a:spcPts val="10612"/>
              </a:lnSpc>
              <a:buFont typeface="Arial"/>
              <a:buChar char="•"/>
            </a:pPr>
            <a:r>
              <a:rPr lang="en-US" b="true" sz="4245" spc="17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Encoding</a:t>
            </a:r>
          </a:p>
          <a:p>
            <a:pPr algn="just" marL="916533" indent="-458267" lvl="1">
              <a:lnSpc>
                <a:spcPts val="10612"/>
              </a:lnSpc>
              <a:buFont typeface="Arial"/>
              <a:buChar char="•"/>
            </a:pPr>
            <a:r>
              <a:rPr lang="en-US" b="true" sz="4245" spc="17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Imputing null values</a:t>
            </a:r>
          </a:p>
          <a:p>
            <a:pPr algn="just" marL="916533" indent="-458267" lvl="1">
              <a:lnSpc>
                <a:spcPts val="10612"/>
              </a:lnSpc>
              <a:buFont typeface="Arial"/>
              <a:buChar char="•"/>
            </a:pPr>
            <a:r>
              <a:rPr lang="en-US" b="true" sz="4245" spc="17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Outlier - detection &amp; Handling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33674" y="-9007385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C404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3774" y="541199"/>
            <a:ext cx="13861348" cy="62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b="true" sz="4625" spc="185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ALGORITHMS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76039" y="2056482"/>
            <a:ext cx="10954972" cy="8230518"/>
          </a:xfrm>
          <a:custGeom>
            <a:avLst/>
            <a:gdLst/>
            <a:ahLst/>
            <a:cxnLst/>
            <a:rect r="r" b="b" t="t" l="l"/>
            <a:pathLst>
              <a:path h="8230518" w="10954972">
                <a:moveTo>
                  <a:pt x="0" y="0"/>
                </a:moveTo>
                <a:lnTo>
                  <a:pt x="10954972" y="0"/>
                </a:lnTo>
                <a:lnTo>
                  <a:pt x="10954972" y="8230518"/>
                </a:lnTo>
                <a:lnTo>
                  <a:pt x="0" y="8230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33674" y="-9007385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C404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52523" y="3072064"/>
            <a:ext cx="1283064" cy="1283064"/>
          </a:xfrm>
          <a:custGeom>
            <a:avLst/>
            <a:gdLst/>
            <a:ahLst/>
            <a:cxnLst/>
            <a:rect r="r" b="b" t="t" l="l"/>
            <a:pathLst>
              <a:path h="1283064" w="1283064">
                <a:moveTo>
                  <a:pt x="0" y="0"/>
                </a:moveTo>
                <a:lnTo>
                  <a:pt x="1283064" y="0"/>
                </a:lnTo>
                <a:lnTo>
                  <a:pt x="1283064" y="1283064"/>
                </a:lnTo>
                <a:lnTo>
                  <a:pt x="0" y="1283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31875" y="2926689"/>
            <a:ext cx="1454449" cy="1573814"/>
          </a:xfrm>
          <a:custGeom>
            <a:avLst/>
            <a:gdLst/>
            <a:ahLst/>
            <a:cxnLst/>
            <a:rect r="r" b="b" t="t" l="l"/>
            <a:pathLst>
              <a:path h="1573814" w="1454449">
                <a:moveTo>
                  <a:pt x="0" y="0"/>
                </a:moveTo>
                <a:lnTo>
                  <a:pt x="1454449" y="0"/>
                </a:lnTo>
                <a:lnTo>
                  <a:pt x="1454449" y="1573814"/>
                </a:lnTo>
                <a:lnTo>
                  <a:pt x="0" y="1573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62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82024" y="3072064"/>
            <a:ext cx="1348327" cy="1348327"/>
          </a:xfrm>
          <a:custGeom>
            <a:avLst/>
            <a:gdLst/>
            <a:ahLst/>
            <a:cxnLst/>
            <a:rect r="r" b="b" t="t" l="l"/>
            <a:pathLst>
              <a:path h="1348327" w="1348327">
                <a:moveTo>
                  <a:pt x="0" y="0"/>
                </a:moveTo>
                <a:lnTo>
                  <a:pt x="1348327" y="0"/>
                </a:lnTo>
                <a:lnTo>
                  <a:pt x="1348327" y="1348327"/>
                </a:lnTo>
                <a:lnTo>
                  <a:pt x="0" y="1348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62550" y="6225507"/>
            <a:ext cx="1587049" cy="1587049"/>
          </a:xfrm>
          <a:custGeom>
            <a:avLst/>
            <a:gdLst/>
            <a:ahLst/>
            <a:cxnLst/>
            <a:rect r="r" b="b" t="t" l="l"/>
            <a:pathLst>
              <a:path h="1587049" w="1587049">
                <a:moveTo>
                  <a:pt x="0" y="0"/>
                </a:moveTo>
                <a:lnTo>
                  <a:pt x="1587049" y="0"/>
                </a:lnTo>
                <a:lnTo>
                  <a:pt x="1587049" y="1587049"/>
                </a:lnTo>
                <a:lnTo>
                  <a:pt x="0" y="1587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31875" y="6225507"/>
            <a:ext cx="2281814" cy="1400648"/>
          </a:xfrm>
          <a:custGeom>
            <a:avLst/>
            <a:gdLst/>
            <a:ahLst/>
            <a:cxnLst/>
            <a:rect r="r" b="b" t="t" l="l"/>
            <a:pathLst>
              <a:path h="1400648" w="2281814">
                <a:moveTo>
                  <a:pt x="0" y="0"/>
                </a:moveTo>
                <a:lnTo>
                  <a:pt x="2281814" y="0"/>
                </a:lnTo>
                <a:lnTo>
                  <a:pt x="2281814" y="1400649"/>
                </a:lnTo>
                <a:lnTo>
                  <a:pt x="0" y="1400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616" t="-44193" r="-7340" b="-4471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3774" y="541226"/>
            <a:ext cx="14830895" cy="62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b="true" sz="4625" spc="185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MOST COMMON USED TOOLS IN DATA SCIENCE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2523" y="4604412"/>
            <a:ext cx="1552277" cy="53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Pandas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54448" y="4604412"/>
            <a:ext cx="1809302" cy="53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Numpy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3008" y="4604412"/>
            <a:ext cx="2203694" cy="53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Matplotlib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30349" y="7905300"/>
            <a:ext cx="1741424" cy="53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Seaborn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12406" y="7905300"/>
            <a:ext cx="2482239" cy="53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Scikit-learn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43386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61681" y="3220694"/>
            <a:ext cx="10164638" cy="3464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02"/>
              </a:lnSpc>
              <a:spcBef>
                <a:spcPct val="0"/>
              </a:spcBef>
            </a:pPr>
            <a:r>
              <a:rPr lang="en-US" sz="20287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05520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0081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4226319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5323726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6268205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DAFyV8QSfc4</dc:identifier>
  <dcterms:modified xsi:type="dcterms:W3CDTF">2011-08-01T06:04:30Z</dcterms:modified>
  <cp:revision>1</cp:revision>
  <dc:title>Data Science </dc:title>
</cp:coreProperties>
</file>
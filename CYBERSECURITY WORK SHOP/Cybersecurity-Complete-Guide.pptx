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slideMasters/slideMaster220.xml" ContentType="application/vnd.openxmlformats-officedocument.presentationml.slideMaster+xml"/>
  <Override PartName="/ppt/slides/slide220.xml" ContentType="application/vnd.openxmlformats-officedocument.presentationml.slide+xml"/>
  <Override PartName="/ppt/slideMasters/slideMaster221.xml" ContentType="application/vnd.openxmlformats-officedocument.presentationml.slideMaster+xml"/>
  <Override PartName="/ppt/slides/slide221.xml" ContentType="application/vnd.openxmlformats-officedocument.presentationml.slide+xml"/>
  <Override PartName="/ppt/slideMasters/slideMaster222.xml" ContentType="application/vnd.openxmlformats-officedocument.presentationml.slideMaster+xml"/>
  <Override PartName="/ppt/slides/slide222.xml" ContentType="application/vnd.openxmlformats-officedocument.presentationml.slide+xml"/>
  <Override PartName="/ppt/slideMasters/slideMaster223.xml" ContentType="application/vnd.openxmlformats-officedocument.presentationml.slideMaster+xml"/>
  <Override PartName="/ppt/slides/slide223.xml" ContentType="application/vnd.openxmlformats-officedocument.presentationml.slide+xml"/>
  <Override PartName="/ppt/slideMasters/slideMaster224.xml" ContentType="application/vnd.openxmlformats-officedocument.presentationml.slideMaster+xml"/>
  <Override PartName="/ppt/slides/slide224.xml" ContentType="application/vnd.openxmlformats-officedocument.presentationml.slide+xml"/>
  <Override PartName="/ppt/slideMasters/slideMaster225.xml" ContentType="application/vnd.openxmlformats-officedocument.presentationml.slideMaster+xml"/>
  <Override PartName="/ppt/slides/slide225.xml" ContentType="application/vnd.openxmlformats-officedocument.presentationml.slide+xml"/>
  <Override PartName="/ppt/slideMasters/slideMaster226.xml" ContentType="application/vnd.openxmlformats-officedocument.presentationml.slideMaster+xml"/>
  <Override PartName="/ppt/slides/slide226.xml" ContentType="application/vnd.openxmlformats-officedocument.presentationml.slide+xml"/>
  <Override PartName="/ppt/slideMasters/slideMaster227.xml" ContentType="application/vnd.openxmlformats-officedocument.presentationml.slideMaster+xml"/>
  <Override PartName="/ppt/slides/slide227.xml" ContentType="application/vnd.openxmlformats-officedocument.presentationml.slide+xml"/>
  <Override PartName="/ppt/slideMasters/slideMaster228.xml" ContentType="application/vnd.openxmlformats-officedocument.presentationml.slideMaster+xml"/>
  <Override PartName="/ppt/slides/slide228.xml" ContentType="application/vnd.openxmlformats-officedocument.presentationml.slide+xml"/>
  <Override PartName="/ppt/slideMasters/slideMaster229.xml" ContentType="application/vnd.openxmlformats-officedocument.presentationml.slideMaster+xml"/>
  <Override PartName="/ppt/slides/slide229.xml" ContentType="application/vnd.openxmlformats-officedocument.presentationml.slide+xml"/>
  <Override PartName="/ppt/slideMasters/slideMaster230.xml" ContentType="application/vnd.openxmlformats-officedocument.presentationml.slideMaster+xml"/>
  <Override PartName="/ppt/slides/slide230.xml" ContentType="application/vnd.openxmlformats-officedocument.presentationml.slide+xml"/>
  <Override PartName="/ppt/slideMasters/slideMaster231.xml" ContentType="application/vnd.openxmlformats-officedocument.presentationml.slideMaster+xml"/>
  <Override PartName="/ppt/slides/slide231.xml" ContentType="application/vnd.openxmlformats-officedocument.presentationml.slide+xml"/>
  <Override PartName="/ppt/slideMasters/slideMaster232.xml" ContentType="application/vnd.openxmlformats-officedocument.presentationml.slideMaster+xml"/>
  <Override PartName="/ppt/slides/slide232.xml" ContentType="application/vnd.openxmlformats-officedocument.presentationml.slide+xml"/>
  <Override PartName="/ppt/slideMasters/slideMaster233.xml" ContentType="application/vnd.openxmlformats-officedocument.presentationml.slideMaster+xml"/>
  <Override PartName="/ppt/slides/slide233.xml" ContentType="application/vnd.openxmlformats-officedocument.presentationml.slide+xml"/>
  <Override PartName="/ppt/slideMasters/slideMaster234.xml" ContentType="application/vnd.openxmlformats-officedocument.presentationml.slideMaster+xml"/>
  <Override PartName="/ppt/slides/slide234.xml" ContentType="application/vnd.openxmlformats-officedocument.presentationml.slide+xml"/>
  <Override PartName="/ppt/slideMasters/slideMaster235.xml" ContentType="application/vnd.openxmlformats-officedocument.presentationml.slideMaster+xml"/>
  <Override PartName="/ppt/slides/slide235.xml" ContentType="application/vnd.openxmlformats-officedocument.presentationml.slide+xml"/>
  <Override PartName="/ppt/slideMasters/slideMaster236.xml" ContentType="application/vnd.openxmlformats-officedocument.presentationml.slideMaster+xml"/>
  <Override PartName="/ppt/slides/slide236.xml" ContentType="application/vnd.openxmlformats-officedocument.presentationml.slide+xml"/>
  <Override PartName="/ppt/slideMasters/slideMaster237.xml" ContentType="application/vnd.openxmlformats-officedocument.presentationml.slideMaster+xml"/>
  <Override PartName="/ppt/slides/slide237.xml" ContentType="application/vnd.openxmlformats-officedocument.presentationml.slide+xml"/>
  <Override PartName="/ppt/slideMasters/slideMaster238.xml" ContentType="application/vnd.openxmlformats-officedocument.presentationml.slideMaster+xml"/>
  <Override PartName="/ppt/slides/slide2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</p:sldIdLst>
  <p:notesMasterIdLst>
    <p:notesMasterId r:id="rId2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notesMaster" Target="notesMasters/notesMaster1.xml"/><Relationship Id="rId241" Type="http://schemas.openxmlformats.org/officeDocument/2006/relationships/presProps" Target="presProps.xml"/><Relationship Id="rId242" Type="http://schemas.openxmlformats.org/officeDocument/2006/relationships/viewProps" Target="viewProps.xml"/><Relationship Id="rId243" Type="http://schemas.openxmlformats.org/officeDocument/2006/relationships/theme" Target="theme/theme1.xml"/><Relationship Id="rId2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_rels/notesSlide2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0.xml"/>
		</Relationships>
</file>

<file path=ppt/notesSlides/_rels/notesSlide2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1.xml"/>
		</Relationships>
</file>

<file path=ppt/notesSlides/_rels/notesSlide2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2.xml"/>
		</Relationships>
</file>

<file path=ppt/notesSlides/_rels/notesSlide2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3.xml"/>
		</Relationships>
</file>

<file path=ppt/notesSlides/_rels/notesSlide2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4.xml"/>
		</Relationships>
</file>

<file path=ppt/notesSlides/_rels/notesSlide2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5.xml"/>
		</Relationships>
</file>

<file path=ppt/notesSlides/_rels/notesSlide2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6.xml"/>
		</Relationships>
</file>

<file path=ppt/notesSlides/_rels/notesSlide2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7.xml"/>
		</Relationships>
</file>

<file path=ppt/notesSlides/_rels/notesSlide2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8.xml"/>
		</Relationships>
</file>

<file path=ppt/notesSlides/_rels/notesSlide2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9.xml"/>
		</Relationships>
</file>

<file path=ppt/notesSlides/_rels/notesSlide2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0.xml"/>
		</Relationships>
</file>

<file path=ppt/notesSlides/_rels/notesSlide2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1.xml"/>
		</Relationships>
</file>

<file path=ppt/notesSlides/_rels/notesSlide2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2.xml"/>
		</Relationships>
</file>

<file path=ppt/notesSlides/_rels/notesSlide2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3.xml"/>
		</Relationships>
</file>

<file path=ppt/notesSlides/_rels/notesSlide2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4.xml"/>
		</Relationships>
</file>

<file path=ppt/notesSlides/_rels/notesSlide2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5.xml"/>
		</Relationships>
</file>

<file path=ppt/notesSlides/_rels/notesSlide2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6.xml"/>
		</Relationships>
</file>

<file path=ppt/notesSlides/_rels/notesSlide2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7.xml"/>
		</Relationships>
</file>

<file path=ppt/notesSlides/_rels/notesSlide2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Tell students that no previous cybersecurity knowledge is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every section ends with 5 easy quiz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only well-known, documented milestones are mentioned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CIA Triad is the foundation of all security. Every control supports one of these three goals.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neutral and educational. The point is to understand motives, not to admire attackers.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Stay high level. Do not describe tools or steps for attacking real accounts.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Public-key cryptography was published by Diffie and Hellman in 1976; RSA followed in 1977.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concept only. Do not show attack strings or payloads.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 analyst is the most common entry-level cybersecurity job. Mention this to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legality strongly. Students must practise only in their own lab or in legal learning platforms.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beginners start on the blue team, usually as a SOC analyst.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Point students to the roadmap slide as their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MAIN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HERO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image" Target="../media/image-34-7.png"/><Relationship Id="rId8" Type="http://schemas.openxmlformats.org/officeDocument/2006/relationships/image" Target="../media/image-3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image" Target="../media/image-48-5.png"/><Relationship Id="rId6" Type="http://schemas.openxmlformats.org/officeDocument/2006/relationships/image" Target="../media/image-4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image" Target="../media/image-6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image" Target="../media/image-61-4.png"/><Relationship Id="rId5" Type="http://schemas.openxmlformats.org/officeDocument/2006/relationships/image" Target="../media/image-61-5.png"/><Relationship Id="rId6" Type="http://schemas.openxmlformats.org/officeDocument/2006/relationships/image" Target="../media/image-6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image" Target="../media/image-63-3.png"/><Relationship Id="rId4" Type="http://schemas.openxmlformats.org/officeDocument/2006/relationships/image" Target="../media/image-63-4.png"/><Relationship Id="rId5" Type="http://schemas.openxmlformats.org/officeDocument/2006/relationships/image" Target="../media/image-6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image" Target="../media/image-6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image" Target="../media/image-66-3.png"/><Relationship Id="rId4" Type="http://schemas.openxmlformats.org/officeDocument/2006/relationships/image" Target="../media/image-66-4.png"/><Relationship Id="rId5" Type="http://schemas.openxmlformats.org/officeDocument/2006/relationships/image" Target="../media/image-66-5.png"/><Relationship Id="rId6" Type="http://schemas.openxmlformats.org/officeDocument/2006/relationships/image" Target="../media/image-6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image" Target="../media/image-6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image" Target="../media/image-6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image" Target="../media/image-70-3.png"/><Relationship Id="rId4" Type="http://schemas.openxmlformats.org/officeDocument/2006/relationships/image" Target="../media/image-7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image" Target="../media/image-71-3.png"/><Relationship Id="rId4" Type="http://schemas.openxmlformats.org/officeDocument/2006/relationships/image" Target="../media/image-7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image" Target="../media/image-72-3.png"/><Relationship Id="rId4" Type="http://schemas.openxmlformats.org/officeDocument/2006/relationships/image" Target="../media/image-72-4.png"/><Relationship Id="rId5" Type="http://schemas.openxmlformats.org/officeDocument/2006/relationships/image" Target="../media/image-72-5.png"/><Relationship Id="rId6" Type="http://schemas.openxmlformats.org/officeDocument/2006/relationships/image" Target="../media/image-7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image" Target="../media/image-7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image" Target="../media/image-7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image" Target="../media/image-76-3.png"/><Relationship Id="rId4" Type="http://schemas.openxmlformats.org/officeDocument/2006/relationships/image" Target="../media/image-76-4.png"/><Relationship Id="rId5" Type="http://schemas.openxmlformats.org/officeDocument/2006/relationships/image" Target="../media/image-7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image" Target="../media/image-78-3.png"/><Relationship Id="rId4" Type="http://schemas.openxmlformats.org/officeDocument/2006/relationships/image" Target="../media/image-7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image" Target="../media/image-79-3.png"/><Relationship Id="rId4" Type="http://schemas.openxmlformats.org/officeDocument/2006/relationships/image" Target="../media/image-7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png"/><Relationship Id="rId3" Type="http://schemas.openxmlformats.org/officeDocument/2006/relationships/image" Target="../media/image-80-3.png"/><Relationship Id="rId4" Type="http://schemas.openxmlformats.org/officeDocument/2006/relationships/image" Target="../media/image-8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image" Target="../media/image-81-3.png"/><Relationship Id="rId4" Type="http://schemas.openxmlformats.org/officeDocument/2006/relationships/image" Target="../media/image-8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image" Target="../media/image-82-3.png"/><Relationship Id="rId4" Type="http://schemas.openxmlformats.org/officeDocument/2006/relationships/image" Target="../media/image-8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image" Target="../media/image-86-2.png"/><Relationship Id="rId3" Type="http://schemas.openxmlformats.org/officeDocument/2006/relationships/image" Target="../media/image-86-3.png"/><Relationship Id="rId4" Type="http://schemas.openxmlformats.org/officeDocument/2006/relationships/image" Target="../media/image-86-4.png"/><Relationship Id="rId5" Type="http://schemas.openxmlformats.org/officeDocument/2006/relationships/image" Target="../media/image-86-5.png"/><Relationship Id="rId6" Type="http://schemas.openxmlformats.org/officeDocument/2006/relationships/image" Target="../media/image-8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png"/><Relationship Id="rId3" Type="http://schemas.openxmlformats.org/officeDocument/2006/relationships/image" Target="../media/image-88-3.png"/><Relationship Id="rId4" Type="http://schemas.openxmlformats.org/officeDocument/2006/relationships/image" Target="../media/image-88-4.png"/><Relationship Id="rId5" Type="http://schemas.openxmlformats.org/officeDocument/2006/relationships/image" Target="../media/image-8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png"/><Relationship Id="rId3" Type="http://schemas.openxmlformats.org/officeDocument/2006/relationships/image" Target="../media/image-89-3.png"/><Relationship Id="rId4" Type="http://schemas.openxmlformats.org/officeDocument/2006/relationships/image" Target="../media/image-8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image" Target="../media/image-91-2.png"/><Relationship Id="rId3" Type="http://schemas.openxmlformats.org/officeDocument/2006/relationships/image" Target="../media/image-91-3.png"/><Relationship Id="rId4" Type="http://schemas.openxmlformats.org/officeDocument/2006/relationships/image" Target="../media/image-9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image" Target="../media/image-92-2.png"/><Relationship Id="rId3" Type="http://schemas.openxmlformats.org/officeDocument/2006/relationships/image" Target="../media/image-92-3.png"/><Relationship Id="rId4" Type="http://schemas.openxmlformats.org/officeDocument/2006/relationships/image" Target="../media/image-9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image" Target="../media/image-93-2.png"/><Relationship Id="rId3" Type="http://schemas.openxmlformats.org/officeDocument/2006/relationships/image" Target="../media/image-93-3.png"/><Relationship Id="rId4" Type="http://schemas.openxmlformats.org/officeDocument/2006/relationships/image" Target="../media/image-9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image" Target="../media/image-96-2.png"/><Relationship Id="rId3" Type="http://schemas.openxmlformats.org/officeDocument/2006/relationships/image" Target="../media/image-96-3.png"/><Relationship Id="rId4" Type="http://schemas.openxmlformats.org/officeDocument/2006/relationships/image" Target="../media/image-9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image" Target="../media/image-97-2.png"/><Relationship Id="rId3" Type="http://schemas.openxmlformats.org/officeDocument/2006/relationships/image" Target="../media/image-97-3.png"/><Relationship Id="rId4" Type="http://schemas.openxmlformats.org/officeDocument/2006/relationships/image" Target="../media/image-97-4.png"/><Relationship Id="rId5" Type="http://schemas.openxmlformats.org/officeDocument/2006/relationships/image" Target="../media/image-97-5.png"/><Relationship Id="rId6" Type="http://schemas.openxmlformats.org/officeDocument/2006/relationships/image" Target="../media/image-9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image" Target="../media/image-98-2.png"/><Relationship Id="rId3" Type="http://schemas.openxmlformats.org/officeDocument/2006/relationships/image" Target="../media/image-98-3.png"/><Relationship Id="rId4" Type="http://schemas.openxmlformats.org/officeDocument/2006/relationships/image" Target="../media/image-9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image" Target="../media/image-99-2.png"/><Relationship Id="rId3" Type="http://schemas.openxmlformats.org/officeDocument/2006/relationships/image" Target="../media/image-99-3.png"/><Relationship Id="rId4" Type="http://schemas.openxmlformats.org/officeDocument/2006/relationships/image" Target="../media/image-99-4.png"/><Relationship Id="rId5" Type="http://schemas.openxmlformats.org/officeDocument/2006/relationships/image" Target="../media/image-99-5.png"/><Relationship Id="rId6" Type="http://schemas.openxmlformats.org/officeDocument/2006/relationships/image" Target="../media/image-9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image" Target="../media/image-101-2.png"/><Relationship Id="rId3" Type="http://schemas.openxmlformats.org/officeDocument/2006/relationships/image" Target="../media/image-101-3.png"/><Relationship Id="rId4" Type="http://schemas.openxmlformats.org/officeDocument/2006/relationships/image" Target="../media/image-101-4.png"/><Relationship Id="rId5" Type="http://schemas.openxmlformats.org/officeDocument/2006/relationships/image" Target="../media/image-10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image" Target="../media/image-102-2.png"/><Relationship Id="rId3" Type="http://schemas.openxmlformats.org/officeDocument/2006/relationships/image" Target="../media/image-102-3.png"/><Relationship Id="rId4" Type="http://schemas.openxmlformats.org/officeDocument/2006/relationships/image" Target="../media/image-10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image" Target="../media/image-103-2.png"/><Relationship Id="rId3" Type="http://schemas.openxmlformats.org/officeDocument/2006/relationships/image" Target="../media/image-103-3.png"/><Relationship Id="rId4" Type="http://schemas.openxmlformats.org/officeDocument/2006/relationships/image" Target="../media/image-103-4.png"/><Relationship Id="rId5" Type="http://schemas.openxmlformats.org/officeDocument/2006/relationships/image" Target="../media/image-10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image" Target="../media/image-104-2.png"/><Relationship Id="rId3" Type="http://schemas.openxmlformats.org/officeDocument/2006/relationships/image" Target="../media/image-104-3.png"/><Relationship Id="rId4" Type="http://schemas.openxmlformats.org/officeDocument/2006/relationships/image" Target="../media/image-10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image" Target="../media/image-105-2.png"/><Relationship Id="rId3" Type="http://schemas.openxmlformats.org/officeDocument/2006/relationships/image" Target="../media/image-105-3.png"/><Relationship Id="rId4" Type="http://schemas.openxmlformats.org/officeDocument/2006/relationships/image" Target="../media/image-10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image" Target="../media/image-106-2.png"/><Relationship Id="rId3" Type="http://schemas.openxmlformats.org/officeDocument/2006/relationships/image" Target="../media/image-106-3.png"/><Relationship Id="rId4" Type="http://schemas.openxmlformats.org/officeDocument/2006/relationships/image" Target="../media/image-10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image" Target="../media/image-107-2.png"/><Relationship Id="rId3" Type="http://schemas.openxmlformats.org/officeDocument/2006/relationships/image" Target="../media/image-107-3.png"/><Relationship Id="rId4" Type="http://schemas.openxmlformats.org/officeDocument/2006/relationships/image" Target="../media/image-10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image" Target="../media/image-108-2.png"/><Relationship Id="rId3" Type="http://schemas.openxmlformats.org/officeDocument/2006/relationships/image" Target="../media/image-108-3.png"/><Relationship Id="rId4" Type="http://schemas.openxmlformats.org/officeDocument/2006/relationships/image" Target="../media/image-10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image" Target="../media/image-111-2.png"/><Relationship Id="rId3" Type="http://schemas.openxmlformats.org/officeDocument/2006/relationships/image" Target="../media/image-111-3.png"/><Relationship Id="rId4" Type="http://schemas.openxmlformats.org/officeDocument/2006/relationships/image" Target="../media/image-1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image" Target="../media/image-113-2.png"/><Relationship Id="rId3" Type="http://schemas.openxmlformats.org/officeDocument/2006/relationships/image" Target="../media/image-113-3.png"/><Relationship Id="rId4" Type="http://schemas.openxmlformats.org/officeDocument/2006/relationships/image" Target="../media/image-113-4.png"/><Relationship Id="rId5" Type="http://schemas.openxmlformats.org/officeDocument/2006/relationships/image" Target="../media/image-1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image" Target="../media/image-114-2.png"/><Relationship Id="rId3" Type="http://schemas.openxmlformats.org/officeDocument/2006/relationships/image" Target="../media/image-114-3.png"/><Relationship Id="rId4" Type="http://schemas.openxmlformats.org/officeDocument/2006/relationships/image" Target="../media/image-1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image" Target="../media/image-115-2.png"/><Relationship Id="rId3" Type="http://schemas.openxmlformats.org/officeDocument/2006/relationships/image" Target="../media/image-115-3.png"/><Relationship Id="rId4" Type="http://schemas.openxmlformats.org/officeDocument/2006/relationships/image" Target="../media/image-115-4.png"/><Relationship Id="rId5" Type="http://schemas.openxmlformats.org/officeDocument/2006/relationships/image" Target="../media/image-1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image" Target="../media/image-116-2.png"/><Relationship Id="rId3" Type="http://schemas.openxmlformats.org/officeDocument/2006/relationships/image" Target="../media/image-116-3.png"/><Relationship Id="rId4" Type="http://schemas.openxmlformats.org/officeDocument/2006/relationships/image" Target="../media/image-116-4.png"/><Relationship Id="rId5" Type="http://schemas.openxmlformats.org/officeDocument/2006/relationships/image" Target="../media/image-116-5.png"/><Relationship Id="rId6" Type="http://schemas.openxmlformats.org/officeDocument/2006/relationships/image" Target="../media/image-11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image" Target="../media/image-1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png"/><Relationship Id="rId2" Type="http://schemas.openxmlformats.org/officeDocument/2006/relationships/image" Target="../media/image-118-2.png"/><Relationship Id="rId3" Type="http://schemas.openxmlformats.org/officeDocument/2006/relationships/image" Target="../media/image-118-3.png"/><Relationship Id="rId4" Type="http://schemas.openxmlformats.org/officeDocument/2006/relationships/image" Target="../media/image-118-4.png"/><Relationship Id="rId5" Type="http://schemas.openxmlformats.org/officeDocument/2006/relationships/image" Target="../media/image-118-5.png"/><Relationship Id="rId6" Type="http://schemas.openxmlformats.org/officeDocument/2006/relationships/image" Target="../media/image-11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png"/><Relationship Id="rId2" Type="http://schemas.openxmlformats.org/officeDocument/2006/relationships/image" Target="../media/image-119-2.png"/><Relationship Id="rId3" Type="http://schemas.openxmlformats.org/officeDocument/2006/relationships/image" Target="../media/image-119-3.png"/><Relationship Id="rId4" Type="http://schemas.openxmlformats.org/officeDocument/2006/relationships/image" Target="../media/image-11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png"/><Relationship Id="rId2" Type="http://schemas.openxmlformats.org/officeDocument/2006/relationships/image" Target="../media/image-121-2.png"/><Relationship Id="rId3" Type="http://schemas.openxmlformats.org/officeDocument/2006/relationships/image" Target="../media/image-121-3.png"/><Relationship Id="rId4" Type="http://schemas.openxmlformats.org/officeDocument/2006/relationships/image" Target="../media/image-121-4.png"/><Relationship Id="rId5" Type="http://schemas.openxmlformats.org/officeDocument/2006/relationships/image" Target="../media/image-121-5.png"/><Relationship Id="rId6" Type="http://schemas.openxmlformats.org/officeDocument/2006/relationships/image" Target="../media/image-12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png"/><Relationship Id="rId2" Type="http://schemas.openxmlformats.org/officeDocument/2006/relationships/image" Target="../media/image-122-2.png"/><Relationship Id="rId3" Type="http://schemas.openxmlformats.org/officeDocument/2006/relationships/image" Target="../media/image-122-3.png"/><Relationship Id="rId4" Type="http://schemas.openxmlformats.org/officeDocument/2006/relationships/image" Target="../media/image-12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png"/><Relationship Id="rId2" Type="http://schemas.openxmlformats.org/officeDocument/2006/relationships/image" Target="../media/image-123-2.png"/><Relationship Id="rId3" Type="http://schemas.openxmlformats.org/officeDocument/2006/relationships/image" Target="../media/image-123-3.png"/><Relationship Id="rId4" Type="http://schemas.openxmlformats.org/officeDocument/2006/relationships/image" Target="../media/image-123-4.png"/><Relationship Id="rId5" Type="http://schemas.openxmlformats.org/officeDocument/2006/relationships/image" Target="../media/image-123-5.png"/><Relationship Id="rId6" Type="http://schemas.openxmlformats.org/officeDocument/2006/relationships/image" Target="../media/image-12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png"/><Relationship Id="rId2" Type="http://schemas.openxmlformats.org/officeDocument/2006/relationships/image" Target="../media/image-125-2.png"/><Relationship Id="rId3" Type="http://schemas.openxmlformats.org/officeDocument/2006/relationships/image" Target="../media/image-125-3.png"/><Relationship Id="rId4" Type="http://schemas.openxmlformats.org/officeDocument/2006/relationships/image" Target="../media/image-125-4.png"/><Relationship Id="rId5" Type="http://schemas.openxmlformats.org/officeDocument/2006/relationships/image" Target="../media/image-12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png"/><Relationship Id="rId2" Type="http://schemas.openxmlformats.org/officeDocument/2006/relationships/image" Target="../media/image-126-2.png"/><Relationship Id="rId3" Type="http://schemas.openxmlformats.org/officeDocument/2006/relationships/image" Target="../media/image-126-3.png"/><Relationship Id="rId4" Type="http://schemas.openxmlformats.org/officeDocument/2006/relationships/image" Target="../media/image-12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png"/><Relationship Id="rId2" Type="http://schemas.openxmlformats.org/officeDocument/2006/relationships/image" Target="../media/image-127-2.png"/><Relationship Id="rId3" Type="http://schemas.openxmlformats.org/officeDocument/2006/relationships/image" Target="../media/image-127-3.png"/><Relationship Id="rId4" Type="http://schemas.openxmlformats.org/officeDocument/2006/relationships/image" Target="../media/image-127-4.png"/><Relationship Id="rId5" Type="http://schemas.openxmlformats.org/officeDocument/2006/relationships/image" Target="../media/image-127-5.png"/><Relationship Id="rId6" Type="http://schemas.openxmlformats.org/officeDocument/2006/relationships/image" Target="../media/image-12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8-1.png"/><Relationship Id="rId2" Type="http://schemas.openxmlformats.org/officeDocument/2006/relationships/image" Target="../media/image-128-2.png"/><Relationship Id="rId3" Type="http://schemas.openxmlformats.org/officeDocument/2006/relationships/image" Target="../media/image-128-3.png"/><Relationship Id="rId4" Type="http://schemas.openxmlformats.org/officeDocument/2006/relationships/image" Target="../media/image-128-4.png"/><Relationship Id="rId5" Type="http://schemas.openxmlformats.org/officeDocument/2006/relationships/image" Target="../media/image-128-5.png"/><Relationship Id="rId6" Type="http://schemas.openxmlformats.org/officeDocument/2006/relationships/image" Target="../media/image-12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png"/><Relationship Id="rId2" Type="http://schemas.openxmlformats.org/officeDocument/2006/relationships/image" Target="../media/image-129-2.png"/><Relationship Id="rId3" Type="http://schemas.openxmlformats.org/officeDocument/2006/relationships/image" Target="../media/image-129-3.png"/><Relationship Id="rId4" Type="http://schemas.openxmlformats.org/officeDocument/2006/relationships/image" Target="../media/image-12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1-1.png"/><Relationship Id="rId2" Type="http://schemas.openxmlformats.org/officeDocument/2006/relationships/image" Target="../media/image-131-2.png"/><Relationship Id="rId3" Type="http://schemas.openxmlformats.org/officeDocument/2006/relationships/image" Target="../media/image-131-3.png"/><Relationship Id="rId4" Type="http://schemas.openxmlformats.org/officeDocument/2006/relationships/image" Target="../media/image-13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png"/><Relationship Id="rId2" Type="http://schemas.openxmlformats.org/officeDocument/2006/relationships/image" Target="../media/image-132-2.png"/><Relationship Id="rId3" Type="http://schemas.openxmlformats.org/officeDocument/2006/relationships/image" Target="../media/image-132-3.png"/><Relationship Id="rId4" Type="http://schemas.openxmlformats.org/officeDocument/2006/relationships/image" Target="../media/image-13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3-1.png"/><Relationship Id="rId2" Type="http://schemas.openxmlformats.org/officeDocument/2006/relationships/image" Target="../media/image-133-2.png"/><Relationship Id="rId3" Type="http://schemas.openxmlformats.org/officeDocument/2006/relationships/image" Target="../media/image-133-3.png"/><Relationship Id="rId4" Type="http://schemas.openxmlformats.org/officeDocument/2006/relationships/image" Target="../media/image-133-4.png"/><Relationship Id="rId5" Type="http://schemas.openxmlformats.org/officeDocument/2006/relationships/image" Target="../media/image-133-5.png"/><Relationship Id="rId6" Type="http://schemas.openxmlformats.org/officeDocument/2006/relationships/image" Target="../media/image-13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5-1.png"/><Relationship Id="rId2" Type="http://schemas.openxmlformats.org/officeDocument/2006/relationships/image" Target="../media/image-135-2.png"/><Relationship Id="rId3" Type="http://schemas.openxmlformats.org/officeDocument/2006/relationships/image" Target="../media/image-135-3.png"/><Relationship Id="rId4" Type="http://schemas.openxmlformats.org/officeDocument/2006/relationships/image" Target="../media/image-135-4.png"/><Relationship Id="rId5" Type="http://schemas.openxmlformats.org/officeDocument/2006/relationships/image" Target="../media/image-13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6-1.png"/><Relationship Id="rId2" Type="http://schemas.openxmlformats.org/officeDocument/2006/relationships/image" Target="../media/image-136-2.png"/><Relationship Id="rId3" Type="http://schemas.openxmlformats.org/officeDocument/2006/relationships/image" Target="../media/image-136-3.png"/><Relationship Id="rId4" Type="http://schemas.openxmlformats.org/officeDocument/2006/relationships/image" Target="../media/image-13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7-1.png"/><Relationship Id="rId2" Type="http://schemas.openxmlformats.org/officeDocument/2006/relationships/image" Target="../media/image-137-2.png"/><Relationship Id="rId3" Type="http://schemas.openxmlformats.org/officeDocument/2006/relationships/image" Target="../media/image-137-3.png"/><Relationship Id="rId4" Type="http://schemas.openxmlformats.org/officeDocument/2006/relationships/image" Target="../media/image-137-4.png"/><Relationship Id="rId5" Type="http://schemas.openxmlformats.org/officeDocument/2006/relationships/image" Target="../media/image-137-5.png"/><Relationship Id="rId6" Type="http://schemas.openxmlformats.org/officeDocument/2006/relationships/image" Target="../media/image-13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8-1.png"/><Relationship Id="rId2" Type="http://schemas.openxmlformats.org/officeDocument/2006/relationships/image" Target="../media/image-138-2.png"/><Relationship Id="rId3" Type="http://schemas.openxmlformats.org/officeDocument/2006/relationships/image" Target="../media/image-138-3.png"/><Relationship Id="rId4" Type="http://schemas.openxmlformats.org/officeDocument/2006/relationships/image" Target="../media/image-13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9-1.png"/><Relationship Id="rId2" Type="http://schemas.openxmlformats.org/officeDocument/2006/relationships/image" Target="../media/image-139-2.png"/><Relationship Id="rId3" Type="http://schemas.openxmlformats.org/officeDocument/2006/relationships/image" Target="../media/image-139-3.png"/><Relationship Id="rId4" Type="http://schemas.openxmlformats.org/officeDocument/2006/relationships/image" Target="../media/image-13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1-1.png"/><Relationship Id="rId2" Type="http://schemas.openxmlformats.org/officeDocument/2006/relationships/image" Target="../media/image-141-2.png"/><Relationship Id="rId3" Type="http://schemas.openxmlformats.org/officeDocument/2006/relationships/image" Target="../media/image-141-3.png"/><Relationship Id="rId4" Type="http://schemas.openxmlformats.org/officeDocument/2006/relationships/image" Target="../media/image-14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2-1.png"/><Relationship Id="rId2" Type="http://schemas.openxmlformats.org/officeDocument/2006/relationships/image" Target="../media/image-142-2.png"/><Relationship Id="rId3" Type="http://schemas.openxmlformats.org/officeDocument/2006/relationships/image" Target="../media/image-142-3.png"/><Relationship Id="rId4" Type="http://schemas.openxmlformats.org/officeDocument/2006/relationships/image" Target="../media/image-14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3-1.png"/><Relationship Id="rId2" Type="http://schemas.openxmlformats.org/officeDocument/2006/relationships/image" Target="../media/image-143-2.png"/><Relationship Id="rId3" Type="http://schemas.openxmlformats.org/officeDocument/2006/relationships/image" Target="../media/image-143-3.png"/><Relationship Id="rId4" Type="http://schemas.openxmlformats.org/officeDocument/2006/relationships/image" Target="../media/image-143-4.png"/><Relationship Id="rId5" Type="http://schemas.openxmlformats.org/officeDocument/2006/relationships/image" Target="../media/image-143-5.png"/><Relationship Id="rId6" Type="http://schemas.openxmlformats.org/officeDocument/2006/relationships/image" Target="../media/image-14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5-1.png"/><Relationship Id="rId2" Type="http://schemas.openxmlformats.org/officeDocument/2006/relationships/image" Target="../media/image-145-2.png"/><Relationship Id="rId3" Type="http://schemas.openxmlformats.org/officeDocument/2006/relationships/image" Target="../media/image-145-3.png"/><Relationship Id="rId4" Type="http://schemas.openxmlformats.org/officeDocument/2006/relationships/image" Target="../media/image-145-4.png"/><Relationship Id="rId5" Type="http://schemas.openxmlformats.org/officeDocument/2006/relationships/image" Target="../media/image-14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6-1.png"/><Relationship Id="rId2" Type="http://schemas.openxmlformats.org/officeDocument/2006/relationships/image" Target="../media/image-146-2.png"/><Relationship Id="rId3" Type="http://schemas.openxmlformats.org/officeDocument/2006/relationships/image" Target="../media/image-146-3.png"/><Relationship Id="rId4" Type="http://schemas.openxmlformats.org/officeDocument/2006/relationships/image" Target="../media/image-14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7-1.png"/><Relationship Id="rId2" Type="http://schemas.openxmlformats.org/officeDocument/2006/relationships/image" Target="../media/image-147-2.png"/><Relationship Id="rId3" Type="http://schemas.openxmlformats.org/officeDocument/2006/relationships/image" Target="../media/image-147-3.png"/><Relationship Id="rId4" Type="http://schemas.openxmlformats.org/officeDocument/2006/relationships/image" Target="../media/image-14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9-1.png"/><Relationship Id="rId2" Type="http://schemas.openxmlformats.org/officeDocument/2006/relationships/image" Target="../media/image-149-2.png"/><Relationship Id="rId3" Type="http://schemas.openxmlformats.org/officeDocument/2006/relationships/image" Target="../media/image-149-3.png"/><Relationship Id="rId4" Type="http://schemas.openxmlformats.org/officeDocument/2006/relationships/image" Target="../media/image-14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0-1.png"/><Relationship Id="rId2" Type="http://schemas.openxmlformats.org/officeDocument/2006/relationships/image" Target="../media/image-150-2.png"/><Relationship Id="rId3" Type="http://schemas.openxmlformats.org/officeDocument/2006/relationships/image" Target="../media/image-150-3.png"/><Relationship Id="rId4" Type="http://schemas.openxmlformats.org/officeDocument/2006/relationships/image" Target="../media/image-15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1-1.png"/><Relationship Id="rId2" Type="http://schemas.openxmlformats.org/officeDocument/2006/relationships/image" Target="../media/image-151-2.png"/><Relationship Id="rId3" Type="http://schemas.openxmlformats.org/officeDocument/2006/relationships/image" Target="../media/image-151-3.png"/><Relationship Id="rId4" Type="http://schemas.openxmlformats.org/officeDocument/2006/relationships/image" Target="../media/image-15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2-1.png"/><Relationship Id="rId2" Type="http://schemas.openxmlformats.org/officeDocument/2006/relationships/image" Target="../media/image-152-2.png"/><Relationship Id="rId3" Type="http://schemas.openxmlformats.org/officeDocument/2006/relationships/image" Target="../media/image-152-3.png"/><Relationship Id="rId4" Type="http://schemas.openxmlformats.org/officeDocument/2006/relationships/image" Target="../media/image-15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5-1.png"/><Relationship Id="rId2" Type="http://schemas.openxmlformats.org/officeDocument/2006/relationships/image" Target="../media/image-155-2.png"/><Relationship Id="rId3" Type="http://schemas.openxmlformats.org/officeDocument/2006/relationships/image" Target="../media/image-155-3.png"/><Relationship Id="rId4" Type="http://schemas.openxmlformats.org/officeDocument/2006/relationships/image" Target="../media/image-155-4.png"/><Relationship Id="rId5" Type="http://schemas.openxmlformats.org/officeDocument/2006/relationships/image" Target="../media/image-15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6-1.png"/><Relationship Id="rId2" Type="http://schemas.openxmlformats.org/officeDocument/2006/relationships/image" Target="../media/image-156-2.png"/><Relationship Id="rId3" Type="http://schemas.openxmlformats.org/officeDocument/2006/relationships/image" Target="../media/image-156-3.png"/><Relationship Id="rId4" Type="http://schemas.openxmlformats.org/officeDocument/2006/relationships/image" Target="../media/image-15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8-1.png"/><Relationship Id="rId2" Type="http://schemas.openxmlformats.org/officeDocument/2006/relationships/image" Target="../media/image-158-2.png"/><Relationship Id="rId3" Type="http://schemas.openxmlformats.org/officeDocument/2006/relationships/image" Target="../media/image-158-3.png"/><Relationship Id="rId4" Type="http://schemas.openxmlformats.org/officeDocument/2006/relationships/image" Target="../media/image-158-4.png"/><Relationship Id="rId5" Type="http://schemas.openxmlformats.org/officeDocument/2006/relationships/image" Target="../media/image-15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9-1.png"/><Relationship Id="rId2" Type="http://schemas.openxmlformats.org/officeDocument/2006/relationships/image" Target="../media/image-159-2.png"/><Relationship Id="rId3" Type="http://schemas.openxmlformats.org/officeDocument/2006/relationships/image" Target="../media/image-159-3.png"/><Relationship Id="rId4" Type="http://schemas.openxmlformats.org/officeDocument/2006/relationships/image" Target="../media/image-15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0-1.png"/><Relationship Id="rId2" Type="http://schemas.openxmlformats.org/officeDocument/2006/relationships/image" Target="../media/image-16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1-1.png"/><Relationship Id="rId2" Type="http://schemas.openxmlformats.org/officeDocument/2006/relationships/image" Target="../media/image-161-2.png"/><Relationship Id="rId3" Type="http://schemas.openxmlformats.org/officeDocument/2006/relationships/image" Target="../media/image-161-3.png"/><Relationship Id="rId4" Type="http://schemas.openxmlformats.org/officeDocument/2006/relationships/image" Target="../media/image-161-4.png"/><Relationship Id="rId5" Type="http://schemas.openxmlformats.org/officeDocument/2006/relationships/image" Target="../media/image-161-5.png"/><Relationship Id="rId6" Type="http://schemas.openxmlformats.org/officeDocument/2006/relationships/image" Target="../media/image-16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4-1.png"/><Relationship Id="rId2" Type="http://schemas.openxmlformats.org/officeDocument/2006/relationships/image" Target="../media/image-164-2.png"/><Relationship Id="rId3" Type="http://schemas.openxmlformats.org/officeDocument/2006/relationships/image" Target="../media/image-164-3.png"/><Relationship Id="rId4" Type="http://schemas.openxmlformats.org/officeDocument/2006/relationships/image" Target="../media/image-164-4.png"/><Relationship Id="rId5" Type="http://schemas.openxmlformats.org/officeDocument/2006/relationships/image" Target="../media/image-16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5-1.png"/><Relationship Id="rId2" Type="http://schemas.openxmlformats.org/officeDocument/2006/relationships/image" Target="../media/image-165-2.png"/><Relationship Id="rId3" Type="http://schemas.openxmlformats.org/officeDocument/2006/relationships/image" Target="../media/image-165-3.png"/><Relationship Id="rId4" Type="http://schemas.openxmlformats.org/officeDocument/2006/relationships/image" Target="../media/image-16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6-1.png"/><Relationship Id="rId2" Type="http://schemas.openxmlformats.org/officeDocument/2006/relationships/image" Target="../media/image-166-2.png"/><Relationship Id="rId3" Type="http://schemas.openxmlformats.org/officeDocument/2006/relationships/image" Target="../media/image-166-3.png"/><Relationship Id="rId4" Type="http://schemas.openxmlformats.org/officeDocument/2006/relationships/image" Target="../media/image-166-4.png"/><Relationship Id="rId5" Type="http://schemas.openxmlformats.org/officeDocument/2006/relationships/image" Target="../media/image-16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7-1.png"/><Relationship Id="rId2" Type="http://schemas.openxmlformats.org/officeDocument/2006/relationships/image" Target="../media/image-167-2.png"/><Relationship Id="rId3" Type="http://schemas.openxmlformats.org/officeDocument/2006/relationships/image" Target="../media/image-167-3.png"/><Relationship Id="rId4" Type="http://schemas.openxmlformats.org/officeDocument/2006/relationships/image" Target="../media/image-16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9-1.png"/><Relationship Id="rId2" Type="http://schemas.openxmlformats.org/officeDocument/2006/relationships/image" Target="../media/image-169-2.png"/><Relationship Id="rId3" Type="http://schemas.openxmlformats.org/officeDocument/2006/relationships/image" Target="../media/image-169-3.png"/><Relationship Id="rId4" Type="http://schemas.openxmlformats.org/officeDocument/2006/relationships/image" Target="../media/image-169-4.png"/><Relationship Id="rId5" Type="http://schemas.openxmlformats.org/officeDocument/2006/relationships/image" Target="../media/image-169-5.png"/><Relationship Id="rId6" Type="http://schemas.openxmlformats.org/officeDocument/2006/relationships/image" Target="../media/image-16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1-1.png"/><Relationship Id="rId2" Type="http://schemas.openxmlformats.org/officeDocument/2006/relationships/image" Target="../media/image-171-2.png"/><Relationship Id="rId3" Type="http://schemas.openxmlformats.org/officeDocument/2006/relationships/image" Target="../media/image-171-3.png"/><Relationship Id="rId4" Type="http://schemas.openxmlformats.org/officeDocument/2006/relationships/image" Target="../media/image-171-4.png"/><Relationship Id="rId5" Type="http://schemas.openxmlformats.org/officeDocument/2006/relationships/image" Target="../media/image-17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2-1.png"/><Relationship Id="rId2" Type="http://schemas.openxmlformats.org/officeDocument/2006/relationships/image" Target="../media/image-172-2.png"/><Relationship Id="rId3" Type="http://schemas.openxmlformats.org/officeDocument/2006/relationships/image" Target="../media/image-172-3.png"/><Relationship Id="rId4" Type="http://schemas.openxmlformats.org/officeDocument/2006/relationships/image" Target="../media/image-17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3-1.png"/><Relationship Id="rId2" Type="http://schemas.openxmlformats.org/officeDocument/2006/relationships/image" Target="../media/image-173-2.png"/><Relationship Id="rId3" Type="http://schemas.openxmlformats.org/officeDocument/2006/relationships/image" Target="../media/image-173-3.png"/><Relationship Id="rId4" Type="http://schemas.openxmlformats.org/officeDocument/2006/relationships/image" Target="../media/image-17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4-1.png"/><Relationship Id="rId2" Type="http://schemas.openxmlformats.org/officeDocument/2006/relationships/image" Target="../media/image-17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6-1.png"/><Relationship Id="rId2" Type="http://schemas.openxmlformats.org/officeDocument/2006/relationships/image" Target="../media/image-176-2.png"/><Relationship Id="rId3" Type="http://schemas.openxmlformats.org/officeDocument/2006/relationships/image" Target="../media/image-176-3.png"/><Relationship Id="rId4" Type="http://schemas.openxmlformats.org/officeDocument/2006/relationships/image" Target="../media/image-176-4.png"/><Relationship Id="rId5" Type="http://schemas.openxmlformats.org/officeDocument/2006/relationships/image" Target="../media/image-176-5.png"/><Relationship Id="rId6" Type="http://schemas.openxmlformats.org/officeDocument/2006/relationships/image" Target="../media/image-17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7-1.png"/><Relationship Id="rId2" Type="http://schemas.openxmlformats.org/officeDocument/2006/relationships/image" Target="../media/image-177-2.png"/><Relationship Id="rId3" Type="http://schemas.openxmlformats.org/officeDocument/2006/relationships/image" Target="../media/image-177-3.png"/><Relationship Id="rId4" Type="http://schemas.openxmlformats.org/officeDocument/2006/relationships/image" Target="../media/image-177-4.png"/><Relationship Id="rId5" Type="http://schemas.openxmlformats.org/officeDocument/2006/relationships/image" Target="../media/image-177-5.png"/><Relationship Id="rId6" Type="http://schemas.openxmlformats.org/officeDocument/2006/relationships/image" Target="../media/image-17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8-1.png"/><Relationship Id="rId2" Type="http://schemas.openxmlformats.org/officeDocument/2006/relationships/image" Target="../media/image-178-2.png"/><Relationship Id="rId3" Type="http://schemas.openxmlformats.org/officeDocument/2006/relationships/image" Target="../media/image-17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0-1.png"/><Relationship Id="rId2" Type="http://schemas.openxmlformats.org/officeDocument/2006/relationships/image" Target="../media/image-180-2.png"/><Relationship Id="rId3" Type="http://schemas.openxmlformats.org/officeDocument/2006/relationships/image" Target="../media/image-180-3.png"/><Relationship Id="rId4" Type="http://schemas.openxmlformats.org/officeDocument/2006/relationships/image" Target="../media/image-180-4.png"/><Relationship Id="rId5" Type="http://schemas.openxmlformats.org/officeDocument/2006/relationships/image" Target="../media/image-18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1-1.png"/><Relationship Id="rId2" Type="http://schemas.openxmlformats.org/officeDocument/2006/relationships/image" Target="../media/image-181-2.png"/><Relationship Id="rId3" Type="http://schemas.openxmlformats.org/officeDocument/2006/relationships/image" Target="../media/image-18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2-1.png"/><Relationship Id="rId2" Type="http://schemas.openxmlformats.org/officeDocument/2006/relationships/image" Target="../media/image-182-2.png"/><Relationship Id="rId3" Type="http://schemas.openxmlformats.org/officeDocument/2006/relationships/image" Target="../media/image-182-3.png"/><Relationship Id="rId4" Type="http://schemas.openxmlformats.org/officeDocument/2006/relationships/image" Target="../media/image-18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4-1.png"/><Relationship Id="rId2" Type="http://schemas.openxmlformats.org/officeDocument/2006/relationships/image" Target="../media/image-184-2.png"/><Relationship Id="rId3" Type="http://schemas.openxmlformats.org/officeDocument/2006/relationships/image" Target="../media/image-184-3.png"/><Relationship Id="rId4" Type="http://schemas.openxmlformats.org/officeDocument/2006/relationships/image" Target="../media/image-18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5-1.png"/><Relationship Id="rId2" Type="http://schemas.openxmlformats.org/officeDocument/2006/relationships/image" Target="../media/image-185-2.png"/><Relationship Id="rId3" Type="http://schemas.openxmlformats.org/officeDocument/2006/relationships/image" Target="../media/image-185-3.png"/><Relationship Id="rId4" Type="http://schemas.openxmlformats.org/officeDocument/2006/relationships/image" Target="../media/image-18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6-1.png"/><Relationship Id="rId2" Type="http://schemas.openxmlformats.org/officeDocument/2006/relationships/image" Target="../media/image-186-2.png"/><Relationship Id="rId3" Type="http://schemas.openxmlformats.org/officeDocument/2006/relationships/image" Target="../media/image-186-3.png"/><Relationship Id="rId4" Type="http://schemas.openxmlformats.org/officeDocument/2006/relationships/image" Target="../media/image-186-4.png"/><Relationship Id="rId5" Type="http://schemas.openxmlformats.org/officeDocument/2006/relationships/image" Target="../media/image-186-5.png"/><Relationship Id="rId6" Type="http://schemas.openxmlformats.org/officeDocument/2006/relationships/image" Target="../media/image-18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8-1.png"/><Relationship Id="rId2" Type="http://schemas.openxmlformats.org/officeDocument/2006/relationships/image" Target="../media/image-188-2.png"/><Relationship Id="rId3" Type="http://schemas.openxmlformats.org/officeDocument/2006/relationships/image" Target="../media/image-188-3.png"/><Relationship Id="rId4" Type="http://schemas.openxmlformats.org/officeDocument/2006/relationships/image" Target="../media/image-188-4.png"/><Relationship Id="rId5" Type="http://schemas.openxmlformats.org/officeDocument/2006/relationships/image" Target="../media/image-18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9-1.png"/><Relationship Id="rId2" Type="http://schemas.openxmlformats.org/officeDocument/2006/relationships/image" Target="../media/image-189-2.png"/><Relationship Id="rId3" Type="http://schemas.openxmlformats.org/officeDocument/2006/relationships/image" Target="../media/image-189-3.png"/><Relationship Id="rId4" Type="http://schemas.openxmlformats.org/officeDocument/2006/relationships/image" Target="../media/image-18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0-1.png"/><Relationship Id="rId2" Type="http://schemas.openxmlformats.org/officeDocument/2006/relationships/image" Target="../media/image-19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1-1.png"/><Relationship Id="rId2" Type="http://schemas.openxmlformats.org/officeDocument/2006/relationships/image" Target="../media/image-191-2.png"/><Relationship Id="rId3" Type="http://schemas.openxmlformats.org/officeDocument/2006/relationships/image" Target="../media/image-191-3.png"/><Relationship Id="rId4" Type="http://schemas.openxmlformats.org/officeDocument/2006/relationships/image" Target="../media/image-191-4.png"/><Relationship Id="rId5" Type="http://schemas.openxmlformats.org/officeDocument/2006/relationships/image" Target="../media/image-191-5.png"/><Relationship Id="rId6" Type="http://schemas.openxmlformats.org/officeDocument/2006/relationships/image" Target="../media/image-19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3-1.png"/><Relationship Id="rId2" Type="http://schemas.openxmlformats.org/officeDocument/2006/relationships/image" Target="../media/image-19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5-1.png"/><Relationship Id="rId2" Type="http://schemas.openxmlformats.org/officeDocument/2006/relationships/image" Target="../media/image-195-2.png"/><Relationship Id="rId3" Type="http://schemas.openxmlformats.org/officeDocument/2006/relationships/image" Target="../media/image-195-3.png"/><Relationship Id="rId4" Type="http://schemas.openxmlformats.org/officeDocument/2006/relationships/image" Target="../media/image-195-4.png"/><Relationship Id="rId5" Type="http://schemas.openxmlformats.org/officeDocument/2006/relationships/image" Target="../media/image-19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6-1.png"/><Relationship Id="rId2" Type="http://schemas.openxmlformats.org/officeDocument/2006/relationships/image" Target="../media/image-196-2.png"/><Relationship Id="rId3" Type="http://schemas.openxmlformats.org/officeDocument/2006/relationships/image" Target="../media/image-196-3.png"/><Relationship Id="rId4" Type="http://schemas.openxmlformats.org/officeDocument/2006/relationships/image" Target="../media/image-19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8-1.png"/><Relationship Id="rId2" Type="http://schemas.openxmlformats.org/officeDocument/2006/relationships/image" Target="../media/image-198-2.png"/><Relationship Id="rId3" Type="http://schemas.openxmlformats.org/officeDocument/2006/relationships/image" Target="../media/image-198-3.png"/><Relationship Id="rId4" Type="http://schemas.openxmlformats.org/officeDocument/2006/relationships/image" Target="../media/image-19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9-1.png"/><Relationship Id="rId2" Type="http://schemas.openxmlformats.org/officeDocument/2006/relationships/image" Target="../media/image-199-2.png"/><Relationship Id="rId3" Type="http://schemas.openxmlformats.org/officeDocument/2006/relationships/image" Target="../media/image-199-3.png"/><Relationship Id="rId4" Type="http://schemas.openxmlformats.org/officeDocument/2006/relationships/image" Target="../media/image-19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2-1.png"/><Relationship Id="rId2" Type="http://schemas.openxmlformats.org/officeDocument/2006/relationships/image" Target="../media/image-202-2.png"/><Relationship Id="rId3" Type="http://schemas.openxmlformats.org/officeDocument/2006/relationships/image" Target="../media/image-202-3.png"/><Relationship Id="rId4" Type="http://schemas.openxmlformats.org/officeDocument/2006/relationships/image" Target="../media/image-202-4.png"/><Relationship Id="rId5" Type="http://schemas.openxmlformats.org/officeDocument/2006/relationships/image" Target="../media/image-20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0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3-1.png"/><Relationship Id="rId2" Type="http://schemas.openxmlformats.org/officeDocument/2006/relationships/image" Target="../media/image-203-2.png"/><Relationship Id="rId3" Type="http://schemas.openxmlformats.org/officeDocument/2006/relationships/image" Target="../media/image-203-3.png"/><Relationship Id="rId4" Type="http://schemas.openxmlformats.org/officeDocument/2006/relationships/image" Target="../media/image-20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4-1.png"/><Relationship Id="rId2" Type="http://schemas.openxmlformats.org/officeDocument/2006/relationships/image" Target="../media/image-204-2.png"/><Relationship Id="rId3" Type="http://schemas.openxmlformats.org/officeDocument/2006/relationships/image" Target="../media/image-204-3.png"/><Relationship Id="rId4" Type="http://schemas.openxmlformats.org/officeDocument/2006/relationships/image" Target="../media/image-20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5-1.png"/><Relationship Id="rId2" Type="http://schemas.openxmlformats.org/officeDocument/2006/relationships/image" Target="../media/image-205-2.png"/><Relationship Id="rId3" Type="http://schemas.openxmlformats.org/officeDocument/2006/relationships/image" Target="../media/image-205-3.png"/><Relationship Id="rId4" Type="http://schemas.openxmlformats.org/officeDocument/2006/relationships/image" Target="../media/image-20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6-1.png"/><Relationship Id="rId2" Type="http://schemas.openxmlformats.org/officeDocument/2006/relationships/image" Target="../media/image-206-2.png"/><Relationship Id="rId3" Type="http://schemas.openxmlformats.org/officeDocument/2006/relationships/image" Target="../media/image-206-3.png"/><Relationship Id="rId4" Type="http://schemas.openxmlformats.org/officeDocument/2006/relationships/image" Target="../media/image-20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6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7-1.png"/><Relationship Id="rId2" Type="http://schemas.openxmlformats.org/officeDocument/2006/relationships/image" Target="../media/image-207-2.png"/><Relationship Id="rId3" Type="http://schemas.openxmlformats.org/officeDocument/2006/relationships/image" Target="../media/image-207-3.png"/><Relationship Id="rId4" Type="http://schemas.openxmlformats.org/officeDocument/2006/relationships/image" Target="../media/image-20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8-1.png"/><Relationship Id="rId2" Type="http://schemas.openxmlformats.org/officeDocument/2006/relationships/image" Target="../media/image-208-2.png"/><Relationship Id="rId3" Type="http://schemas.openxmlformats.org/officeDocument/2006/relationships/image" Target="../media/image-208-3.png"/><Relationship Id="rId4" Type="http://schemas.openxmlformats.org/officeDocument/2006/relationships/image" Target="../media/image-20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8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9-1.png"/><Relationship Id="rId2" Type="http://schemas.openxmlformats.org/officeDocument/2006/relationships/image" Target="../media/image-209-2.png"/><Relationship Id="rId3" Type="http://schemas.openxmlformats.org/officeDocument/2006/relationships/image" Target="../media/image-209-3.png"/><Relationship Id="rId4" Type="http://schemas.openxmlformats.org/officeDocument/2006/relationships/image" Target="../media/image-20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9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0-1.png"/><Relationship Id="rId2" Type="http://schemas.openxmlformats.org/officeDocument/2006/relationships/image" Target="../media/image-210-2.png"/><Relationship Id="rId3" Type="http://schemas.openxmlformats.org/officeDocument/2006/relationships/image" Target="../media/image-210-3.png"/><Relationship Id="rId4" Type="http://schemas.openxmlformats.org/officeDocument/2006/relationships/image" Target="../media/image-2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0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1-1.png"/><Relationship Id="rId2" Type="http://schemas.openxmlformats.org/officeDocument/2006/relationships/image" Target="../media/image-211-2.png"/><Relationship Id="rId3" Type="http://schemas.openxmlformats.org/officeDocument/2006/relationships/image" Target="../media/image-211-3.png"/><Relationship Id="rId4" Type="http://schemas.openxmlformats.org/officeDocument/2006/relationships/image" Target="../media/image-2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1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2-1.png"/><Relationship Id="rId2" Type="http://schemas.openxmlformats.org/officeDocument/2006/relationships/image" Target="../media/image-212-2.png"/><Relationship Id="rId3" Type="http://schemas.openxmlformats.org/officeDocument/2006/relationships/image" Target="../media/image-212-3.png"/><Relationship Id="rId4" Type="http://schemas.openxmlformats.org/officeDocument/2006/relationships/image" Target="../media/image-212-4.png"/><Relationship Id="rId5" Type="http://schemas.openxmlformats.org/officeDocument/2006/relationships/image" Target="../media/image-212-5.png"/><Relationship Id="rId6" Type="http://schemas.openxmlformats.org/officeDocument/2006/relationships/image" Target="../media/image-2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1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3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4-1.png"/><Relationship Id="rId2" Type="http://schemas.openxmlformats.org/officeDocument/2006/relationships/image" Target="../media/image-214-2.png"/><Relationship Id="rId3" Type="http://schemas.openxmlformats.org/officeDocument/2006/relationships/image" Target="../media/image-214-3.png"/><Relationship Id="rId4" Type="http://schemas.openxmlformats.org/officeDocument/2006/relationships/image" Target="../media/image-214-4.png"/><Relationship Id="rId5" Type="http://schemas.openxmlformats.org/officeDocument/2006/relationships/image" Target="../media/image-2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14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5-1.png"/><Relationship Id="rId2" Type="http://schemas.openxmlformats.org/officeDocument/2006/relationships/image" Target="../media/image-215-2.png"/><Relationship Id="rId3" Type="http://schemas.openxmlformats.org/officeDocument/2006/relationships/image" Target="../media/image-215-3.png"/><Relationship Id="rId4" Type="http://schemas.openxmlformats.org/officeDocument/2006/relationships/image" Target="../media/image-215-4.png"/><Relationship Id="rId5" Type="http://schemas.openxmlformats.org/officeDocument/2006/relationships/image" Target="../media/image-215-5.png"/><Relationship Id="rId6" Type="http://schemas.openxmlformats.org/officeDocument/2006/relationships/image" Target="../media/image-21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15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6-1.png"/><Relationship Id="rId2" Type="http://schemas.openxmlformats.org/officeDocument/2006/relationships/image" Target="../media/image-216-2.png"/><Relationship Id="rId3" Type="http://schemas.openxmlformats.org/officeDocument/2006/relationships/image" Target="../media/image-216-3.png"/><Relationship Id="rId4" Type="http://schemas.openxmlformats.org/officeDocument/2006/relationships/image" Target="../media/image-2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6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7-1.png"/><Relationship Id="rId2" Type="http://schemas.openxmlformats.org/officeDocument/2006/relationships/image" Target="../media/image-217-2.png"/><Relationship Id="rId3" Type="http://schemas.openxmlformats.org/officeDocument/2006/relationships/image" Target="../media/image-217-3.png"/><Relationship Id="rId4" Type="http://schemas.openxmlformats.org/officeDocument/2006/relationships/image" Target="../media/image-2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8-1.png"/><Relationship Id="rId2" Type="http://schemas.openxmlformats.org/officeDocument/2006/relationships/image" Target="../media/image-218-2.png"/><Relationship Id="rId3" Type="http://schemas.openxmlformats.org/officeDocument/2006/relationships/image" Target="../media/image-218-3.png"/><Relationship Id="rId4" Type="http://schemas.openxmlformats.org/officeDocument/2006/relationships/image" Target="../media/image-21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8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9-1.png"/><Relationship Id="rId2" Type="http://schemas.openxmlformats.org/officeDocument/2006/relationships/image" Target="../media/image-219-2.png"/><Relationship Id="rId3" Type="http://schemas.openxmlformats.org/officeDocument/2006/relationships/image" Target="../media/image-219-3.png"/><Relationship Id="rId4" Type="http://schemas.openxmlformats.org/officeDocument/2006/relationships/image" Target="../media/image-21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9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0-1.png"/><Relationship Id="rId2" Type="http://schemas.openxmlformats.org/officeDocument/2006/relationships/image" Target="../media/image-220-2.png"/><Relationship Id="rId3" Type="http://schemas.openxmlformats.org/officeDocument/2006/relationships/image" Target="../media/image-220-3.png"/><Relationship Id="rId4" Type="http://schemas.openxmlformats.org/officeDocument/2006/relationships/image" Target="../media/image-22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0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1-1.png"/><Relationship Id="rId2" Type="http://schemas.openxmlformats.org/officeDocument/2006/relationships/image" Target="../media/image-221-2.png"/><Relationship Id="rId3" Type="http://schemas.openxmlformats.org/officeDocument/2006/relationships/image" Target="../media/image-221-3.png"/><Relationship Id="rId4" Type="http://schemas.openxmlformats.org/officeDocument/2006/relationships/image" Target="../media/image-22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1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2-1.png"/><Relationship Id="rId2" Type="http://schemas.openxmlformats.org/officeDocument/2006/relationships/image" Target="../media/image-222-2.png"/><Relationship Id="rId3" Type="http://schemas.openxmlformats.org/officeDocument/2006/relationships/image" Target="../media/image-222-3.png"/><Relationship Id="rId4" Type="http://schemas.openxmlformats.org/officeDocument/2006/relationships/image" Target="../media/image-22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3-1.png"/><Relationship Id="rId2" Type="http://schemas.openxmlformats.org/officeDocument/2006/relationships/image" Target="../media/image-223-2.png"/><Relationship Id="rId3" Type="http://schemas.openxmlformats.org/officeDocument/2006/relationships/image" Target="../media/image-223-3.png"/><Relationship Id="rId4" Type="http://schemas.openxmlformats.org/officeDocument/2006/relationships/image" Target="../media/image-22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3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4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5-1.png"/><Relationship Id="rId2" Type="http://schemas.openxmlformats.org/officeDocument/2006/relationships/image" Target="../media/image-225-2.png"/><Relationship Id="rId3" Type="http://schemas.openxmlformats.org/officeDocument/2006/relationships/image" Target="../media/image-225-3.png"/><Relationship Id="rId4" Type="http://schemas.openxmlformats.org/officeDocument/2006/relationships/image" Target="../media/image-225-4.png"/><Relationship Id="rId5" Type="http://schemas.openxmlformats.org/officeDocument/2006/relationships/image" Target="../media/image-225-5.png"/><Relationship Id="rId6" Type="http://schemas.openxmlformats.org/officeDocument/2006/relationships/image" Target="../media/image-22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25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6-1.png"/><Relationship Id="rId2" Type="http://schemas.openxmlformats.org/officeDocument/2006/relationships/image" Target="../media/image-226-2.png"/><Relationship Id="rId3" Type="http://schemas.openxmlformats.org/officeDocument/2006/relationships/image" Target="../media/image-226-3.png"/><Relationship Id="rId4" Type="http://schemas.openxmlformats.org/officeDocument/2006/relationships/image" Target="../media/image-226-4.png"/><Relationship Id="rId5" Type="http://schemas.openxmlformats.org/officeDocument/2006/relationships/image" Target="../media/image-22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26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7-1.png"/><Relationship Id="rId2" Type="http://schemas.openxmlformats.org/officeDocument/2006/relationships/image" Target="../media/image-227-2.png"/><Relationship Id="rId3" Type="http://schemas.openxmlformats.org/officeDocument/2006/relationships/image" Target="../media/image-227-3.png"/><Relationship Id="rId4" Type="http://schemas.openxmlformats.org/officeDocument/2006/relationships/image" Target="../media/image-227-4.png"/><Relationship Id="rId5" Type="http://schemas.openxmlformats.org/officeDocument/2006/relationships/image" Target="../media/image-227-5.png"/><Relationship Id="rId6" Type="http://schemas.openxmlformats.org/officeDocument/2006/relationships/image" Target="../media/image-227-6.png"/><Relationship Id="rId7" Type="http://schemas.openxmlformats.org/officeDocument/2006/relationships/image" Target="../media/image-227-7.png"/><Relationship Id="rId8" Type="http://schemas.openxmlformats.org/officeDocument/2006/relationships/image" Target="../media/image-227-8.png"/><Relationship Id="rId9" Type="http://schemas.openxmlformats.org/officeDocument/2006/relationships/image" Target="../media/image-227-9.png"/><Relationship Id="rId10" Type="http://schemas.openxmlformats.org/officeDocument/2006/relationships/image" Target="../media/image-227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27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8-1.png"/><Relationship Id="rId2" Type="http://schemas.openxmlformats.org/officeDocument/2006/relationships/image" Target="../media/image-228-2.png"/><Relationship Id="rId3" Type="http://schemas.openxmlformats.org/officeDocument/2006/relationships/image" Target="../media/image-228-3.png"/><Relationship Id="rId4" Type="http://schemas.openxmlformats.org/officeDocument/2006/relationships/image" Target="../media/image-228-4.png"/><Relationship Id="rId5" Type="http://schemas.openxmlformats.org/officeDocument/2006/relationships/image" Target="../media/image-228-5.png"/><Relationship Id="rId6" Type="http://schemas.openxmlformats.org/officeDocument/2006/relationships/image" Target="../media/image-228-6.png"/><Relationship Id="rId7" Type="http://schemas.openxmlformats.org/officeDocument/2006/relationships/image" Target="../media/image-228-7.png"/><Relationship Id="rId8" Type="http://schemas.openxmlformats.org/officeDocument/2006/relationships/image" Target="../media/image-228-8.png"/><Relationship Id="rId9" Type="http://schemas.openxmlformats.org/officeDocument/2006/relationships/image" Target="../media/image-228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28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9-1.png"/><Relationship Id="rId2" Type="http://schemas.openxmlformats.org/officeDocument/2006/relationships/image" Target="../media/image-229-2.png"/><Relationship Id="rId3" Type="http://schemas.openxmlformats.org/officeDocument/2006/relationships/image" Target="../media/image-229-3.png"/><Relationship Id="rId4" Type="http://schemas.openxmlformats.org/officeDocument/2006/relationships/image" Target="../media/image-229-4.png"/><Relationship Id="rId5" Type="http://schemas.openxmlformats.org/officeDocument/2006/relationships/image" Target="../media/image-229-5.png"/><Relationship Id="rId6" Type="http://schemas.openxmlformats.org/officeDocument/2006/relationships/image" Target="../media/image-229-6.png"/><Relationship Id="rId7" Type="http://schemas.openxmlformats.org/officeDocument/2006/relationships/image" Target="../media/image-229-7.png"/><Relationship Id="rId8" Type="http://schemas.openxmlformats.org/officeDocument/2006/relationships/image" Target="../media/image-229-8.png"/><Relationship Id="rId9" Type="http://schemas.openxmlformats.org/officeDocument/2006/relationships/image" Target="../media/image-229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29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0-1.png"/><Relationship Id="rId2" Type="http://schemas.openxmlformats.org/officeDocument/2006/relationships/image" Target="../media/image-230-2.png"/><Relationship Id="rId3" Type="http://schemas.openxmlformats.org/officeDocument/2006/relationships/image" Target="../media/image-230-3.png"/><Relationship Id="rId4" Type="http://schemas.openxmlformats.org/officeDocument/2006/relationships/image" Target="../media/image-230-4.png"/><Relationship Id="rId5" Type="http://schemas.openxmlformats.org/officeDocument/2006/relationships/image" Target="../media/image-230-5.png"/><Relationship Id="rId6" Type="http://schemas.openxmlformats.org/officeDocument/2006/relationships/image" Target="../media/image-230-6.png"/><Relationship Id="rId7" Type="http://schemas.openxmlformats.org/officeDocument/2006/relationships/image" Target="../media/image-230-7.png"/><Relationship Id="rId8" Type="http://schemas.openxmlformats.org/officeDocument/2006/relationships/image" Target="../media/image-230-8.png"/><Relationship Id="rId9" Type="http://schemas.openxmlformats.org/officeDocument/2006/relationships/image" Target="../media/image-230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30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1-1.png"/><Relationship Id="rId2" Type="http://schemas.openxmlformats.org/officeDocument/2006/relationships/image" Target="../media/image-231-2.png"/><Relationship Id="rId3" Type="http://schemas.openxmlformats.org/officeDocument/2006/relationships/image" Target="../media/image-231-3.png"/><Relationship Id="rId4" Type="http://schemas.openxmlformats.org/officeDocument/2006/relationships/image" Target="../media/image-231-4.png"/><Relationship Id="rId5" Type="http://schemas.openxmlformats.org/officeDocument/2006/relationships/image" Target="../media/image-231-5.png"/><Relationship Id="rId6" Type="http://schemas.openxmlformats.org/officeDocument/2006/relationships/image" Target="../media/image-231-6.png"/><Relationship Id="rId7" Type="http://schemas.openxmlformats.org/officeDocument/2006/relationships/image" Target="../media/image-231-7.png"/><Relationship Id="rId8" Type="http://schemas.openxmlformats.org/officeDocument/2006/relationships/image" Target="../media/image-231-8.png"/><Relationship Id="rId9" Type="http://schemas.openxmlformats.org/officeDocument/2006/relationships/image" Target="../media/image-231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31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2-1.png"/><Relationship Id="rId2" Type="http://schemas.openxmlformats.org/officeDocument/2006/relationships/image" Target="../media/image-232-2.png"/><Relationship Id="rId3" Type="http://schemas.openxmlformats.org/officeDocument/2006/relationships/image" Target="../media/image-232-3.png"/><Relationship Id="rId4" Type="http://schemas.openxmlformats.org/officeDocument/2006/relationships/image" Target="../media/image-232-4.png"/><Relationship Id="rId5" Type="http://schemas.openxmlformats.org/officeDocument/2006/relationships/image" Target="../media/image-232-5.png"/><Relationship Id="rId6" Type="http://schemas.openxmlformats.org/officeDocument/2006/relationships/image" Target="../media/image-232-6.png"/><Relationship Id="rId7" Type="http://schemas.openxmlformats.org/officeDocument/2006/relationships/image" Target="../media/image-232-7.png"/><Relationship Id="rId8" Type="http://schemas.openxmlformats.org/officeDocument/2006/relationships/image" Target="../media/image-232-8.png"/><Relationship Id="rId9" Type="http://schemas.openxmlformats.org/officeDocument/2006/relationships/image" Target="../media/image-23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3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3-1.png"/><Relationship Id="rId2" Type="http://schemas.openxmlformats.org/officeDocument/2006/relationships/image" Target="../media/image-233-2.png"/><Relationship Id="rId3" Type="http://schemas.openxmlformats.org/officeDocument/2006/relationships/image" Target="../media/image-233-3.png"/><Relationship Id="rId4" Type="http://schemas.openxmlformats.org/officeDocument/2006/relationships/image" Target="../media/image-233-4.png"/><Relationship Id="rId5" Type="http://schemas.openxmlformats.org/officeDocument/2006/relationships/image" Target="../media/image-233-5.png"/><Relationship Id="rId6" Type="http://schemas.openxmlformats.org/officeDocument/2006/relationships/image" Target="../media/image-233-6.png"/><Relationship Id="rId7" Type="http://schemas.openxmlformats.org/officeDocument/2006/relationships/image" Target="../media/image-233-7.png"/><Relationship Id="rId8" Type="http://schemas.openxmlformats.org/officeDocument/2006/relationships/image" Target="../media/image-233-8.png"/><Relationship Id="rId9" Type="http://schemas.openxmlformats.org/officeDocument/2006/relationships/image" Target="../media/image-233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33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4-1.png"/><Relationship Id="rId2" Type="http://schemas.openxmlformats.org/officeDocument/2006/relationships/image" Target="../media/image-23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4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5-1.png"/><Relationship Id="rId2" Type="http://schemas.openxmlformats.org/officeDocument/2006/relationships/image" Target="../media/image-235-2.png"/><Relationship Id="rId3" Type="http://schemas.openxmlformats.org/officeDocument/2006/relationships/image" Target="../media/image-235-3.png"/><Relationship Id="rId4" Type="http://schemas.openxmlformats.org/officeDocument/2006/relationships/image" Target="../media/image-235-4.png"/><Relationship Id="rId5" Type="http://schemas.openxmlformats.org/officeDocument/2006/relationships/image" Target="../media/image-235-5.png"/><Relationship Id="rId6" Type="http://schemas.openxmlformats.org/officeDocument/2006/relationships/image" Target="../media/image-235-6.png"/><Relationship Id="rId7" Type="http://schemas.openxmlformats.org/officeDocument/2006/relationships/image" Target="../media/image-235-7.png"/><Relationship Id="rId8" Type="http://schemas.openxmlformats.org/officeDocument/2006/relationships/image" Target="../media/image-235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35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6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7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15788" y="1170432"/>
            <a:ext cx="960120" cy="96012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5818" y="1410462"/>
            <a:ext cx="480060" cy="4800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331720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BEGINNER TO INTERMEDIATE COURSE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0" y="2697480"/>
            <a:ext cx="12191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Beginner's Guide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448056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classroom-style course for students who are learning cybersecurity for the very first time.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465680" y="5257800"/>
            <a:ext cx="2286000" cy="475488"/>
          </a:xfrm>
          <a:prstGeom prst="roundRect">
            <a:avLst>
              <a:gd name="adj" fmla="val 19231"/>
            </a:avLst>
          </a:prstGeom>
          <a:solidFill>
            <a:srgbClr val="121D31">
              <a:alpha val="90000"/>
            </a:srgbClr>
          </a:solidFill>
          <a:ln w="12700">
            <a:solidFill>
              <a:srgbClr val="22355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65680" y="52578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SECTIONS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952848" y="5257800"/>
            <a:ext cx="2286000" cy="475488"/>
          </a:xfrm>
          <a:prstGeom prst="roundRect">
            <a:avLst>
              <a:gd name="adj" fmla="val 19231"/>
            </a:avLst>
          </a:prstGeom>
          <a:solidFill>
            <a:srgbClr val="121D31">
              <a:alpha val="90000"/>
            </a:srgbClr>
          </a:solidFill>
          <a:ln w="12700">
            <a:solidFill>
              <a:srgbClr val="22355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52848" y="52578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190+ SLIDES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40016" y="5257800"/>
            <a:ext cx="2286000" cy="475488"/>
          </a:xfrm>
          <a:prstGeom prst="roundRect">
            <a:avLst>
              <a:gd name="adj" fmla="val 19231"/>
            </a:avLst>
          </a:prstGeom>
          <a:solidFill>
            <a:srgbClr val="121D31">
              <a:alpha val="90000"/>
            </a:srgbClr>
          </a:solidFill>
          <a:ln w="12700">
            <a:solidFill>
              <a:srgbClr val="22355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40016" y="52578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100+ QUIZ QUESTIONS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 · LEARNING OBJECTIVES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Learn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Cybersecurity — Complete Beginner to Intermediate Guide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course you will understand how attacks happen, how defence works, and how to start a career in cybersecurity.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Basics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cybersecurity means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Triad and AAA model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Threats, risk and vulnerability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Attacks Explained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and ransomware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and social tricks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and network attacks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 Skills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and MFA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and firewalls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and device safety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Operations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SOC, SIEM and alerts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steps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and recovery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and Standards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thinking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NIST, OWASP, MITRE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and compliance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Path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security jobs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roadmap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start learning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Cybersecurity?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Cybersecurity — Complete Beginner to Intermediate Guide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means protecting computers, phones, networks, and data from people who want to steal, damage, or misuse them.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Simple Words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you lock your house to keep thieves out, cybersecurity locks your digital world to keep attackers out.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Protects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Devices: laptop, phone, servers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photos, money, records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Networks: Wi-Fi and internet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apps and websites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Protects You From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want your money, your personal information, or who want to stop a service from working.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Example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 on your phone, an OTP from your bank, and a lock icon in your browser are all cybersecurity working for you.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 · WHY IT MATTERS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Need Cybersecurity?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Cybersecurity — Complete Beginner to Intermediate Guide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004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everything we do today is digital. If the digital part is not safe, our real life is also not safe.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11057839" cy="709574"/>
          </a:xfrm>
          <a:prstGeom prst="roundRect">
            <a:avLst>
              <a:gd name="adj" fmla="val 103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221992"/>
            <a:ext cx="471830" cy="47183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630" y="2339950"/>
            <a:ext cx="235915" cy="23591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14246" y="2212848"/>
            <a:ext cx="9836201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information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name, address, photos and ID documents can be stolen and misused by strangers.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2958998"/>
            <a:ext cx="11057839" cy="709574"/>
          </a:xfrm>
          <a:prstGeom prst="roundRect">
            <a:avLst>
              <a:gd name="adj" fmla="val 103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04672" y="3077870"/>
            <a:ext cx="471830" cy="47183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30" y="3195828"/>
            <a:ext cx="235915" cy="23591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14246" y="3068726"/>
            <a:ext cx="9836201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and payments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banking, UPI and cards move real money. One stolen password can empty an account.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66928" y="3814877"/>
            <a:ext cx="11057839" cy="709574"/>
          </a:xfrm>
          <a:prstGeom prst="roundRect">
            <a:avLst>
              <a:gd name="adj" fmla="val 103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" y="3933749"/>
            <a:ext cx="471830" cy="47183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630" y="4051706"/>
            <a:ext cx="235915" cy="23591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14246" y="3924605"/>
            <a:ext cx="9836201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hacked account can be used to cheat your friends and damage your reputation.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66928" y="4670755"/>
            <a:ext cx="11057839" cy="709574"/>
          </a:xfrm>
          <a:prstGeom prst="roundRect">
            <a:avLst>
              <a:gd name="adj" fmla="val 103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789627"/>
            <a:ext cx="471830" cy="47183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30" y="4907585"/>
            <a:ext cx="235915" cy="23591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14246" y="4780483"/>
            <a:ext cx="9836201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and government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secrets, customer records and public services must keep running without stopping.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566928" y="5526634"/>
            <a:ext cx="11057839" cy="709574"/>
          </a:xfrm>
          <a:prstGeom prst="roundRect">
            <a:avLst>
              <a:gd name="adj" fmla="val 103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04672" y="5645506"/>
            <a:ext cx="471830" cy="47183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630" y="5763463"/>
            <a:ext cx="235915" cy="23591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14246" y="5636362"/>
            <a:ext cx="9836201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systems and mobile apps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files and apps now live on the internet, so they must be protected there too.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 · WHERE IT IS USED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Cybersecurity Used?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Cybersecurity — Complete Beginner to Intermediate Guide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005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is needed everywhere that information travels or is stored.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2387270" cy="1316736"/>
          </a:xfrm>
          <a:prstGeom prst="roundRect">
            <a:avLst>
              <a:gd name="adj" fmla="val 5556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86827" y="1874520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86827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322576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779776"/>
            <a:ext cx="21312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Websites, email and browsing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45638" y="2587752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7118" y="2048256"/>
            <a:ext cx="2387270" cy="1316736"/>
          </a:xfrm>
          <a:prstGeom prst="roundRect">
            <a:avLst>
              <a:gd name="adj" fmla="val 5556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77017" y="1874520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77017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85134" y="2322576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85134" y="2779776"/>
            <a:ext cx="21312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apps and messages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35828" y="2587752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7308" y="2048256"/>
            <a:ext cx="2387270" cy="1316736"/>
          </a:xfrm>
          <a:prstGeom prst="roundRect">
            <a:avLst>
              <a:gd name="adj" fmla="val 5556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67207" y="1874520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67207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75324" y="2322576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75324" y="2779776"/>
            <a:ext cx="21312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UPI and ATMs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826017" y="2587752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7497" y="2048256"/>
            <a:ext cx="2387270" cy="1316736"/>
          </a:xfrm>
          <a:prstGeom prst="roundRect">
            <a:avLst>
              <a:gd name="adj" fmla="val 5556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57396" y="1874520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57396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365513" y="2322576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365513" y="2779776"/>
            <a:ext cx="21312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storage and servers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012023" y="3822192"/>
            <a:ext cx="2387270" cy="1316736"/>
          </a:xfrm>
          <a:prstGeom prst="roundRect">
            <a:avLst>
              <a:gd name="adj" fmla="val 5556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031922" y="3648456"/>
            <a:ext cx="347472" cy="34747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031922" y="3648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140039" y="409651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2140039" y="4553712"/>
            <a:ext cx="21312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Offices and company data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490733" y="4361688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02213" y="3822192"/>
            <a:ext cx="2387270" cy="1316736"/>
          </a:xfrm>
          <a:prstGeom prst="roundRect">
            <a:avLst>
              <a:gd name="adj" fmla="val 5556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22112" y="3648456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922112" y="3648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030229" y="409651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030229" y="4553712"/>
            <a:ext cx="21312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records and services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380923" y="4361688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92403" y="3822192"/>
            <a:ext cx="2387270" cy="1316736"/>
          </a:xfrm>
          <a:prstGeom prst="roundRect">
            <a:avLst>
              <a:gd name="adj" fmla="val 5556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812301" y="3648456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812301" y="3648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920419" y="409651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7920419" y="4553712"/>
            <a:ext cx="21312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TV, camera, watch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device can connect to a network, it needs cybersecurity.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6 · WHO NEEDS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Needs Cybersecurity?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Cybersecurity — Complete Beginner to Intermediate Guide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answer is: everyone. But each group protects different things.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money, photos and personal identity.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9996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600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30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332656" y="2816352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3674288" y="3419856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exam results, email and online accounts.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3300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165696" y="2816352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6507328" y="3419856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customer data and business secrets.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066047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322079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379" y="2930652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998735" y="2816352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9340367" y="3419856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money and payment systems.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6692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499616" y="4731317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Governments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841248" y="5334821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citizen records and public services.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339996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656000" y="4731317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0300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332656" y="4731317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3674288" y="5334821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patient records and medical machines.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623300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165696" y="4731317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</a:t>
            </a:r>
            <a:endParaRPr lang="en-US" sz="1450" dirty="0"/>
          </a:p>
        </p:txBody>
      </p:sp>
      <p:sp>
        <p:nvSpPr>
          <p:cNvPr id="43" name="Text 34"/>
          <p:cNvSpPr txBox="1"/>
          <p:nvPr/>
        </p:nvSpPr>
        <p:spPr>
          <a:xfrm>
            <a:off x="6507328" y="5334821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student data and online classes.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9066047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9322079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379" y="4845617"/>
            <a:ext cx="228600" cy="22860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9998735" y="4731317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providers</a:t>
            </a:r>
            <a:endParaRPr lang="en-US" sz="1450" dirty="0"/>
          </a:p>
        </p:txBody>
      </p:sp>
      <p:sp>
        <p:nvSpPr>
          <p:cNvPr id="48" name="Text 38"/>
          <p:cNvSpPr txBox="1"/>
          <p:nvPr/>
        </p:nvSpPr>
        <p:spPr>
          <a:xfrm>
            <a:off x="9340367" y="5334821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servers that hold everyone else data.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7 · HISTORY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of Cybersecurity — Simple Timeline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Cybersecurity — Complete Beginner to Intermediate Guide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86827" y="1307592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86827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175564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1960s–70s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212848"/>
            <a:ext cx="21312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shared computers appear. Passwords are introduced to separate users.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45638" y="21625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7118" y="14813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77017" y="1307592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77017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85134" y="175564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1970s–80s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85134" y="2212848"/>
            <a:ext cx="21312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networks grow. The first experimental self-copying programs are studied.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35828" y="21625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47308" y="14813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67207" y="130759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67207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75324" y="175564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1988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75324" y="2212848"/>
            <a:ext cx="21312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Morris Worm spreads across the early internet and shows real damage is possible.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26017" y="21625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7497" y="14813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257396" y="130759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57396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65513" y="175564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365513" y="2212848"/>
            <a:ext cx="21312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arrives. Firewalls, antivirus and SSL encryption become common.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012023" y="35387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031922" y="3364992"/>
            <a:ext cx="347472" cy="34747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31922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140039" y="381304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2140039" y="4270248"/>
            <a:ext cx="21312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worms, online banking fraud and phishing grow quickly.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490733" y="42199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02213" y="35387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22112" y="3364992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22112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030229" y="381304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2010s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030229" y="4270248"/>
            <a:ext cx="21312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breaches, ransomware and cloud security become major topics.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380923" y="42199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92403" y="35387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812301" y="3364992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812301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7920419" y="381304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2020s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920419" y="4270248"/>
            <a:ext cx="21312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work, cloud-first design, Zero Trust and AI-assisted attacks and defence.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grew step by step as technology grew. Every new technology brought new risks.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8 · EVOLUTION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Cybersecurity Evolved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Cybersecurity — Complete Beginner to Intermediate Guide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was not invented by one person. Many fields joined together over many years to form it.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Security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with user accounts and passwords on large shared computers in the 1960s and 1970s.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Security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when computers were connected. Firewalls became common products in the early 1990s.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 Defence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1988 Morris Worm pushed the creation of response teams such as CERT, and antivirus products grew in the 1990s.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Cryptography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Public-key ideas published by Diffie and Hellman in 1976 and the RSA algorithm in 1977 made secure internet communication possible.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Security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SSL, later called TLS, was created in the mid-1990s to protect web traffic, and became HTTPS.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Cybersecurity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it combines people, processes and technology, plus frameworks like NIST and OWASP.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9 · COMPARE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vs Information Security vs Network Security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Cybersecurity — Complete Beginner to Intermediate Guide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009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words are related, but they do not mean exactly the same thing.</a:t>
            </a:r>
            <a:endParaRPr lang="en-US" sz="1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48256"/>
          <a:ext cx="11057839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  <a:gridCol w="3011119"/>
              </a:tblGrid>
              <a:tr h="5019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Cybersecurity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Information Security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Security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</a:tr>
              <a:tr h="501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focus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systems and attacks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in any 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moving in a network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</a:tr>
              <a:tr h="501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Devices, cloud, apps, people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files and digital files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Routers, firewalls, Wi-Fi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</a:tr>
              <a:tr h="501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idea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from cyber attacks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the information itself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the road data travels 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</a:tr>
              <a:tr h="501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Blocking a phishing 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Locking a cabinet of records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Blocking bad traffic at the firewall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</a:tr>
              <a:tr h="5019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wide 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Widest idea of 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part of cybersecurity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is the biggest idea, cybersecurity is the digital part of it, and network security is one piece inside cybersecurity.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10 · DAILY LIFE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in Daily Life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Cybersecurity — Complete Beginner to Intermediate Guide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use cybersecurity many times a day, often without noticing it.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card plus your secret PIN proves it is really you.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9996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600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30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332656" y="2816352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and banking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3674288" y="3419856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OTP or app PIN is needed before money moves.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3300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165696" y="2816352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6507328" y="3419856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filters remove most fake and harmful emails.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066047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322079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379" y="2930652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998735" y="2816352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9340367" y="3419856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 hides your chats from outsiders.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6692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499616" y="4731317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841248" y="5334821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WPA2 or WPA3 password stops strangers joining your network.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339996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656000" y="4731317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0300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332656" y="4731317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shopping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3674288" y="5334821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padlock and HTTPS protect your card details.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623300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165696" y="4731317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storage</a:t>
            </a:r>
            <a:endParaRPr lang="en-US" sz="1450" dirty="0"/>
          </a:p>
        </p:txBody>
      </p:sp>
      <p:sp>
        <p:nvSpPr>
          <p:cNvPr id="43" name="Text 34"/>
          <p:cNvSpPr txBox="1"/>
          <p:nvPr/>
        </p:nvSpPr>
        <p:spPr>
          <a:xfrm>
            <a:off x="6507328" y="5334821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plus encryption keeps your photos private.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9066047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9322079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379" y="4845617"/>
            <a:ext cx="228600" cy="22860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9998735" y="4731317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Smartphones</a:t>
            </a:r>
            <a:endParaRPr lang="en-US" sz="1450" dirty="0"/>
          </a:p>
        </p:txBody>
      </p:sp>
      <p:sp>
        <p:nvSpPr>
          <p:cNvPr id="48" name="Text 38"/>
          <p:cNvSpPr txBox="1"/>
          <p:nvPr/>
        </p:nvSpPr>
        <p:spPr>
          <a:xfrm>
            <a:off x="9340367" y="5334821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lock, fingerprint and app updates protect the device.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1 · SLIDES 1–10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1 — Introduction to Cybersecurity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Cybersecurity — Complete Beginner to Intermediate Guide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cybersecurity mainly protect?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laptops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Computers, networks and data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websites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passwords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these is an example of cybersecurity in daily life?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on paper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OTP for a bank payment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TV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a phone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needs cybersecurity?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banks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governments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who uses digital devices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IT companies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area is one part inside cybersecurity?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filing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was created by: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single inventor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fields growing over many years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company in 2020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government office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Security Concepts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rules that every security idea in this course is built 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 Triad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AAA Model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 in Depth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Principles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 · Basic Security Concepts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11 · CORE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CIA Triad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 · Basic Security Concepts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 flipH="1">
            <a:off x="6095848" y="1938528"/>
            <a:ext cx="1508760" cy="1920240"/>
          </a:xfrm>
          <a:prstGeom prst="line">
            <a:avLst/>
          </a:prstGeom>
          <a:noFill/>
          <a:ln w="19050">
            <a:solidFill>
              <a:srgbClr val="223554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 flipH="1" flipV="1">
            <a:off x="6095848" y="3858768"/>
            <a:ext cx="1896383" cy="960120"/>
          </a:xfrm>
          <a:prstGeom prst="line">
            <a:avLst/>
          </a:prstGeom>
          <a:noFill/>
          <a:ln w="19050">
            <a:solidFill>
              <a:srgbClr val="223554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 flipV="1">
            <a:off x="4199465" y="3858768"/>
            <a:ext cx="1896383" cy="960120"/>
          </a:xfrm>
          <a:prstGeom prst="line">
            <a:avLst/>
          </a:prstGeom>
          <a:noFill/>
          <a:ln w="19050">
            <a:solidFill>
              <a:srgbClr val="223554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4587088" y="1472184"/>
            <a:ext cx="3017520" cy="932688"/>
          </a:xfrm>
          <a:prstGeom prst="roundRect">
            <a:avLst>
              <a:gd name="adj" fmla="val 7843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1680" y="1737360"/>
            <a:ext cx="402336" cy="40233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2264" y="1837944"/>
            <a:ext cx="201168" cy="20116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318608" y="1545336"/>
            <a:ext cx="21579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allowed people can see it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92230" y="4352544"/>
            <a:ext cx="3017520" cy="932688"/>
          </a:xfrm>
          <a:prstGeom prst="roundRect">
            <a:avLst>
              <a:gd name="adj" fmla="val 7843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156822" y="4617720"/>
            <a:ext cx="402336" cy="402336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406" y="4718304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723750" y="4425696"/>
            <a:ext cx="21579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correct and unchanged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1181945" y="4352544"/>
            <a:ext cx="3017520" cy="932688"/>
          </a:xfrm>
          <a:prstGeom prst="roundRect">
            <a:avLst>
              <a:gd name="adj" fmla="val 7843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346537" y="4617720"/>
            <a:ext cx="402336" cy="40233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121" y="4718304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913465" y="4425696"/>
            <a:ext cx="21579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works when you need it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769968" y="3310128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0A1120"/>
          </a:solidFill>
          <a:ln w="12700">
            <a:solidFill>
              <a:srgbClr val="0A112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769968" y="3310128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00E08A">
              <a:alpha val="20000"/>
            </a:srgbClr>
          </a:solidFill>
          <a:ln w="25400">
            <a:solidFill>
              <a:srgbClr val="00E08A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4769968" y="3310128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 TRIAD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12 · CIA PART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 — Keep It Secret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 · Basic Security Concepts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means only authorised people can see the information.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secret is shown to the wrong person, confidentiality is broken.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 and the bank can see your account balance. Your neighbour cannot.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Done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and MFA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of files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permissions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Fails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leak happens: private records become public.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13 · CIA PART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— Keep It Correct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 · Basic Security Concepts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means information stays correct, complete and is not changed by the wrong person.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must be the same as when it was created, unless an allowed person changes it.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exam mark is 85, nobody should be able to silently change it to 35.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Done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and checksums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logs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Fails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bank amount, a changed file, or a fake software update.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14 · CIA PART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— Keep It Working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 · Basic Security Concepts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means the system and data are ready to use when authorised people need them.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secrecy is useless if the website never opens.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bank app should work at 2 AM when you need to send money urgently.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Done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and spare servers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protection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maintenance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Fails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crash or a flood of fake traffic stops real users.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15 · REAL EXAMPLE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 Triad in Online Banking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 · Basic Security Concepts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017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simple example that shows all three goals working together.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47772"/>
            <a:ext cx="3350666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68525" y="2574036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68525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022092"/>
            <a:ext cx="309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479292"/>
            <a:ext cx="30946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 can see your balance, because login and encryption protect 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09034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20514" y="2747772"/>
            <a:ext cx="3350666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22112" y="2574036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22112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48530" y="3022092"/>
            <a:ext cx="309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48530" y="3479292"/>
            <a:ext cx="30946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send 500 rupees, exactly 500 must move — not 5000.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62621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4101" y="2747772"/>
            <a:ext cx="3350666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75698" y="2574036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75698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02117" y="3022092"/>
            <a:ext cx="309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402117" y="3479292"/>
            <a:ext cx="30946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app must open whenever you need to pay someone.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one of the three fails, customers lose trust in the bank.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16 · ACCESS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AAA Security Model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 · Basic Security Concepts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 flipH="1">
            <a:off x="6095848" y="1938528"/>
            <a:ext cx="1508760" cy="1920240"/>
          </a:xfrm>
          <a:prstGeom prst="line">
            <a:avLst/>
          </a:prstGeom>
          <a:noFill/>
          <a:ln w="19050">
            <a:solidFill>
              <a:srgbClr val="223554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 flipH="1" flipV="1">
            <a:off x="6095848" y="3858768"/>
            <a:ext cx="1896383" cy="960120"/>
          </a:xfrm>
          <a:prstGeom prst="line">
            <a:avLst/>
          </a:prstGeom>
          <a:noFill/>
          <a:ln w="19050">
            <a:solidFill>
              <a:srgbClr val="223554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 flipV="1">
            <a:off x="4199465" y="3858768"/>
            <a:ext cx="1896383" cy="960120"/>
          </a:xfrm>
          <a:prstGeom prst="line">
            <a:avLst/>
          </a:prstGeom>
          <a:noFill/>
          <a:ln w="19050">
            <a:solidFill>
              <a:srgbClr val="223554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4587088" y="1472184"/>
            <a:ext cx="3017520" cy="932688"/>
          </a:xfrm>
          <a:prstGeom prst="roundRect">
            <a:avLst>
              <a:gd name="adj" fmla="val 7843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1680" y="1737360"/>
            <a:ext cx="402336" cy="40233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2264" y="1837944"/>
            <a:ext cx="201168" cy="20116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318608" y="1545336"/>
            <a:ext cx="21579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you?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92230" y="4352544"/>
            <a:ext cx="3017520" cy="932688"/>
          </a:xfrm>
          <a:prstGeom prst="roundRect">
            <a:avLst>
              <a:gd name="adj" fmla="val 7843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156822" y="4617720"/>
            <a:ext cx="402336" cy="402336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406" y="4718304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723750" y="4425696"/>
            <a:ext cx="21579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may you do?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1181945" y="4352544"/>
            <a:ext cx="3017520" cy="932688"/>
          </a:xfrm>
          <a:prstGeom prst="roundRect">
            <a:avLst>
              <a:gd name="adj" fmla="val 7843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346537" y="4617720"/>
            <a:ext cx="402336" cy="40233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121" y="4718304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913465" y="4425696"/>
            <a:ext cx="21579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do?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769968" y="3310128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0A1120"/>
          </a:solidFill>
          <a:ln w="12700">
            <a:solidFill>
              <a:srgbClr val="0A112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769968" y="3310128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00E08A">
              <a:alpha val="20000"/>
            </a:srgbClr>
          </a:solidFill>
          <a:ln w="25400">
            <a:solidFill>
              <a:srgbClr val="00E08A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4769968" y="3310128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AAA MODEL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17 · AAA PART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— "Who Are You?"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 · Basic Security Concepts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checks whether you are really the person you claim to be.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say who you are, and the system asks you to prove it.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your username and password, then enter the OTP sent to your phone.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Methods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or PIN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or authenticator app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or face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Tip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your OTP with anyone, even someone claiming to be from your bank.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18 · AAA PART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— "What Can You Do?"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 · Basic Security Concepts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decides what an already-identified user is allowed to do.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in is not the same as being allowed everywhere inside.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can see their own marks. A teacher can change marks. A visitor can see nothing.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are given to users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has permissions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checks before every action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Fails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user reaches an admin page. This is called broken access control.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19 · AAA PART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 / Auditing — "What Did You Do?"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 · Basic Security Concepts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records what each user did, and when they did it.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writes a diary of actions so that nothing is invisible.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 line shows: user "ravi" logged in at 10:04 AM from a new device.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how an attack happened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who did an action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legal requirements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Is Used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are sent to monitoring tools such as a SIEM, which we study later.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20 · PRINCIPLE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 — Give Only What Is Needed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 · Basic Security Concepts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37360"/>
            <a:ext cx="530352" cy="530352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69948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91056" y="1737360"/>
            <a:ext cx="4047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Least Privilege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505456"/>
            <a:ext cx="474253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gets admin rights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intern can delete customer data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stolen account exposes everything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cause very large damage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0440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4760" y="1737360"/>
            <a:ext cx="530352" cy="530352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869948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4568" y="1737360"/>
            <a:ext cx="4047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Least Privilege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571336" y="2505456"/>
            <a:ext cx="474253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gets only the access needed for their job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 can read, but not delete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stolen account gives the attacker very little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stays small and controlled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example — an office boy gets a key to the store room only, not to the manager cabin and the cash locker.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21 · LAYERED DEFENCE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 in Depth — Many Layers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 · Basic Security Concepts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023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depend on one single protection. If one layer fails, the next layer still protects you.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97808" y="2574036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97808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people who do not click bad links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67600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9080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09960" y="2574036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09960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07096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07096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and segmentation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79752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91232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22112" y="2574036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22112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19248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19248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and updates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91904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03384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34263" y="257403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34263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631400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631400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code and input checks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404055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15535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546415" y="2574036"/>
            <a:ext cx="347472" cy="34747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46415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943551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943551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and backups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bank: guard at the gate, locked door, CCTV, strong room, and finally a safe. An attacker must beat all of them.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22 · GOLDEN RULES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Security Principles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 · Basic Security Concepts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smallest access that still lets the person do their job.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to Know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information only with people who must have it for their work.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Duties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should not control a full sensitive process alone. One requests, another approves.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automatically. Always verify every user and device, every time.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by Design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security into the product from day one, instead of adding it at the end.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Securely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breaks, the system should block access rather than open everything.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2 · SLIDES 11–22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2 — Basic Security Concepts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 · Basic Security Concepts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the letters CIA stand for in security?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Control, Internet, Access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Confidentiality, Integrity, Availability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Computer, Internet, Application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Identity, Audit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goal makes sure data is not changed wrongly?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answers which question?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do?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you?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server?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 allowed to do?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 means: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everyone admin rights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only the access that is needed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all access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one password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 in depth means: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strong firewall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layers of protection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passwords needed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antivirus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Threats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wrong, who causes it, and the words used to describe danger.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Threat, Vulnerability, Risk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Attackers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Surface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Attacks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3 · Cyber Threats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026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23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Cyber Threat?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3 · Cyber Threats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cyber threat is anything that can cause harm to a computer system, a network, or data.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threat is a possible danger. It has not happened yet, but it could happen.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Threats Come From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outside the company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Careless or angry insiders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Faulty software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events like floods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phishing email waiting in your inbox is a threat. It becomes an attack only when someone clicks it.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Learn This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protect a system until you know what could go wrong with it.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24 · COMPARE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vs Vulnerability vs Risk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3 · Cyber Threats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028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mix up these three words. This simple table makes the difference clear.</a:t>
            </a:r>
            <a:endParaRPr lang="en-US" sz="14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48256"/>
          <a:ext cx="11057839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3291840"/>
                <a:gridCol w="2462479"/>
              </a:tblGrid>
              <a:tr h="6023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 Example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 It Answers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</a:tr>
              <a:tr h="6023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Something that can cause harm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thief in the 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or what can hurt me?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</a:tr>
              <a:tr h="6023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weakness that can be 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broken door lock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am I weak?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</a:tr>
              <a:tr h="6023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chance of real damage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Thief plus broken lock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bad could it get?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</a:tr>
              <a:tr h="6023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method used on a weakness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Pushing the broken door open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is the weakness used?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weakness means low risk, even when a threat exists. Fixing weaknesses is the fastest way to reduce risk.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25 · WEAKNESS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Vulnerability?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3 · Cyber Threats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vulnerability is a weakness in a system that an attacker can use to cause harm.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Broken Lock Idea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door with a broken lock is still a door — but anyone can push it open. Software works the same way.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Examples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software that was never updated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default password like admin/admin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that does not check input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folder left open to everyone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They Are Found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 use scanners and tests. Vendors publish fixes called patches.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Tip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updates quickly. Most attacks use old weaknesses that already have a fix.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26 · HOW WEAKNESS IS USED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Exploit?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3 · Cyber Threats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030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exploit is the tool or method that turns a weakness into a real attack.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86827" y="2574036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86827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exists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 has not been updated for one year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45638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711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77017" y="2574036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77017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85134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finds it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85134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scan shows the old version number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35828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730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67207" y="2574036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67207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75324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 is used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75324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ready-made method abuses that weakness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826017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7497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57396" y="257403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57396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365513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365513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stolen or the system is controlled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zero-day is an exploit used before any fix exists. That is why detection and monitoring also matter, not only patching.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27 · MEASURING DANGER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Cyber Risk?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3 · Cyber Threats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≈ Likelihood × Impact. How likely is it to happen, and how bad would it be?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could this happen? A common phishing email is much more likely than a rare attack.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damage would it cause? Losing one test file is small. Losing all customer data is huge.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likelihood plus low impact equals low risk. High likelihood plus high impact equals urgent risk.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Teams Do With Risk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it with controls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it with insurance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it by stopping the activity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it when it is very small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28 · WHO ATTACKS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Cyber Attackers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3 · Cyber Threats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attackers have different goals. Knowing the goal helps you predict the attack.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Cybercriminals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Motive is money. They use ransomware, fraud and stolen card data.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Hacktivists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Motive is a social or political message. They deface sites or leak documents.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Insider Threats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current or former employee who misuses access, sometimes by mistake.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Nation-State Actors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Well-funded groups working for a country. Very patient and very quiet.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Kiddies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using ready-made tools without deep knowledge. Still dangerous.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Espionage Groups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goal is to steal secrets and research over a long time.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29 · EXPOSURE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Attack Surface?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3 · Cyber Threats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 surface is the total list of places where an attacker could try to get in.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house. Every door, window and gate is part of its attack surface.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Included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and public servers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laptops and phones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accounts and storage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can be tricked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It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unused ports, delete old accounts, and remove software nobody uses.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smaller attack surface means fewer things to defend and fewer chances to fail.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30 · ATTACK 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Cyber Attacks — Overview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3 · Cyber Threats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attacks we will study in detail in the coming sections.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messages that trick you into giving information.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9996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600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30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332656" y="2816352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3674288" y="3419856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software such as viruses and ransomware.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3300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165696" y="2816352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Attacks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6507328" y="3419856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or reusing stolen passwords.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066047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322079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379" y="2930652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998735" y="2816352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/ DDoS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9340367" y="3419856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Flooding a service so real users cannot use it.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6692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499616" y="4731317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841248" y="5334821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Tricking a website database into giving extra data.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339996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656000" y="4731317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0300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332656" y="4731317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Cross-Site Scripting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3674288" y="5334821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harmful script into a trusted web page.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623300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165696" y="4731317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Man-in-the-Middle</a:t>
            </a:r>
            <a:endParaRPr lang="en-US" sz="1450" dirty="0"/>
          </a:p>
        </p:txBody>
      </p:sp>
      <p:sp>
        <p:nvSpPr>
          <p:cNvPr id="43" name="Text 34"/>
          <p:cNvSpPr txBox="1"/>
          <p:nvPr/>
        </p:nvSpPr>
        <p:spPr>
          <a:xfrm>
            <a:off x="6507328" y="5334821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Secretly sitting between you and the website.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9066047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9322079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379" y="4845617"/>
            <a:ext cx="228600" cy="22860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9998735" y="4731317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Insider Misuse</a:t>
            </a:r>
            <a:endParaRPr lang="en-US" sz="1450" dirty="0"/>
          </a:p>
        </p:txBody>
      </p:sp>
      <p:sp>
        <p:nvSpPr>
          <p:cNvPr id="48" name="Text 38"/>
          <p:cNvSpPr txBox="1"/>
          <p:nvPr/>
        </p:nvSpPr>
        <p:spPr>
          <a:xfrm>
            <a:off x="9340367" y="5334821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inside taking data they should not take.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3 · SLIDES 23–30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3 — Cyber Threats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3 · Cyber Threats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weakness in a system is called a: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is usually described as: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x Impact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x Size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x Servers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x Time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attacker mainly wants money?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Hacktivist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Cybercriminal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kiddie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exploit is: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backup copy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 that uses a weakness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of firewall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password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your attack surface means: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more open ports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unused access points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more passwords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off logging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harmful software family: what each type does and how to stop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Virus, Worm, Trojan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Spyware and Keyloggers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Rootkits and Botnets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Steps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4 · Malware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036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31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Malware?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4 · Malware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is short for "malicious software" — any program written to damage, steal or take control.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software, just like a game or an app. The difference is that it works against you.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Arrives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attachments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or cracked software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Infected USB drives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websites and ads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Can Do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passwords and files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your data for money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what you type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PC to attack others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News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Updates, antivirus and careful clicking stop the large majority of malware.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32 · MALWARE TYPE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4 · Malware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virus is malware that attaches itself to a file or program and spreads when that file is opened.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a host file and a human action. No click, no spread.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copies a "free project.exe" file from a friend. Opening it infects the laptop.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Signs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becomes very slow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change or disappear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programs start alone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antivirus, avoid cracked software, and scan files before opening them.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33 · MALWARE TYPE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Worm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4 · Malware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worm is malware that copies itself across a network without needing any human action.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finds other computers on the network and copies itself to them automatically.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Dangerous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spreads extremely fast. One infected machine can reach hundreds in minutes.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1988 Morris Worm slowed down a large part of the early internet and led to the first CERT response team.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systems quickly, use network segmentation, and block unused services.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34 · MALWARE TYPE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Trojan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4 · Malware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Trojan looks like a useful program, but it secretly does something harmful.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hides inside something you want, so you install it yourself. The name comes from the Trojan Horse story.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"battery saver" app from an unknown website also steals your contacts and messages.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Often Does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secret backdoor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more malware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Steals saved passwords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apps only from official stores and official websites.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35 · MALWARE TYPE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4 · Malware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locks your files with encryption and demands money to unlock them.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encrypts your documents, then shows a note asking for payment, often in cryptocurrency.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cannot open patient records, so operations are delayed until systems are restored.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Defence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offline backups. If you can restore, you do not need to pay.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Advice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does not guarantee your files return, and it encourages more attacks. Report the incident instead.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36 · MALWARE TYPE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Spyware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4 · Malware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Spyware secretly watches what you do and sends that information to someone else.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hides in the background and collects browsing history, messages or location.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toolbar records every website you visit and sells that list to advertisers.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Signs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drains quickly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data usage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 pop-up ads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app permissions, remove apps you do not use, and run anti-malware scans.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37 · MALWARE TYPE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Keylogger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4 · Malware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keylogger records every key you press, including your passwords.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be software hidden on the computer, or a small hardware device on the cable.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shared college computer, a keylogger captures a student email password as it is typed.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MFA Helps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the password is captured, the attacker still needs your second factor.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typing passwords on public computers, use MFA, and use a password manager.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38 · MALWARE TYPE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Rootkit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4 · Malware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rootkit hides deep inside the system so that the malware cannot be seen or removed easily.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changes parts of the operating system so that harmful files do not appear in normal lists.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Hard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antivirus may not see it, because the system itself is reporting false information.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Handled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from clean external media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specialised scanners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Often, rebuild the machine fully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secure boot, keep firmware updated, and never run unknown software as administrator.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39 · MALWARE TYPE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Botnet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4 · Malware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botnet is a large group of infected computers controlled by one attacker.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infected machine is called a bot. All of them quietly wait for commands.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 Used For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Flooding websites (DDoS)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spam email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cryptocurrency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Spreading more malware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passwords on home cameras let them be joined into a botnet without the owner knowing.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default passwords on all devices and keep IoT firmware updated.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40 · COMPARE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 Comparison Table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4 · Malware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046</a:t>
            </a:r>
            <a:endParaRPr lang="en-US" sz="95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2743200"/>
                <a:gridCol w="3376879"/>
              </a:tblGrid>
              <a:tr h="5047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a Host File?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Spreads by Itself?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Goal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</a:tr>
              <a:tr h="504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needs a user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Damage and spread through files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</a:tr>
              <a:tr h="504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automatically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 fast across a network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</a:tr>
              <a:tr h="504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Trojan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Hides in useful software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Trick the user and open a door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</a:tr>
              <a:tr h="504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Ransomware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Sometimes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 files and demand payment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</a:tr>
              <a:tr h="504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Spyware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the user secretly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</a:tr>
              <a:tr h="504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Rootkit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Hide the attacker inside the 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modern attacks mix these types together — for example a Trojan that installs ransomware.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41 · ATTACK PATH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Malware Enters a Computer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4 · Malware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97808" y="2290572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97808" y="22905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2738628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arrives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195828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looks like an invoice or a result sheet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67600" y="31912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9080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09960" y="2290572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09960" y="22905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07096" y="2738628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Attachment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007096" y="3195828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carries a file or a link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79752" y="31912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91232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22112" y="229057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22112" y="22905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19248" y="2738628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opens it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19248" y="3195828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clicks "Enable content" or runs the file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91904" y="31912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03384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4263" y="229057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34263" y="22905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631400" y="2738628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 runs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631400" y="3195828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code starts quietly in the background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404055" y="31912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15535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546415" y="2290572"/>
            <a:ext cx="347472" cy="34747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46415" y="22905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943551" y="2738628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943551" y="3195828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stolen, encrypted or sent to the attacker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common entry points: cracked software downloads, infected USB drives, fake browser updates and compromised websites.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42 · DEFENCE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Protect Against Malware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4 · Malware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everything updated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operating system, browser and app updates as soon as they arrive.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antivirus or endpoint protection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switched on and let it scan automatically.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safely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official stores and official websites only. Avoid cracked software completely.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regular backups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one copy offline. This is your rescue plan against ransomware.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careful with email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open unexpected attachments, even from a name you recognise.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least privilege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a normal user account. Use the admin account only when truly needed.</a:t>
            </a:r>
            <a:endParaRPr lang="en-US" sz="13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4 · SLIDES 31–42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4 — Malware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4 · Malware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malware spreads by itself over a network?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Trojan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Spyware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malware locks files and demands money?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Keylogger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Rootkit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Botnet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program that looks useful but is harmful is a: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Trojan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defence against ransomware is: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quickly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backups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files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Disabling updates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keylogger mainly records: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screen colours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key you press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Wi-Fi speed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battery level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Engineering &amp; Phishing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attacks that target people instead of computers — and how to spot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Engineering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Types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Websites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Signs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Staying Safe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5 · Social Engineering &amp; Phishing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050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43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Social Engineering?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5 · Social Engineering &amp; Phishing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means tricking a person into giving information or access, instead of breaking the technology.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want to be helpful and they react quickly to fear or urgency. Attackers use these feelings.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Tricks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Pretending to be your boss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Pretending to be IT support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panic: "act now"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a prize or job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caller says: "I am from the bank, your account will close in 10 minutes. Give me the OTP now."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Golden Rule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banks and real IT teams never ask for your password or OTP. Stop and verify by yourself.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44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Phishing?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5 · Social Engineering &amp; Phishing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fake message that pretends to be from someone you trust, so that you share information or click a harmful link.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fishing with bait. The bait is a message, and the fish is your password.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Attackers Want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Usernames and passwords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and bank details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click that installs malware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sent to a wrong account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receives a "scholarship approved" email asking them to log in on a look-alike college page.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one of the most common starting points of real-world breaches, because it needs no advanced tools.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45 · ATTACK 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Phishing Attack Works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5 · Social Engineering &amp; Phishing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97808" y="2290572"/>
            <a:ext cx="347472" cy="34747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97808" y="22905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2738628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Email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195828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sends a message that looks official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67600" y="31912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9080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09960" y="229057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09960" y="22905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07096" y="2738628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Clicks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007096" y="3195828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opens a page that looks real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79752" y="31912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91232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22112" y="229057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22112" y="22905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19248" y="2738628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Website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19248" y="3195828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copy of the real login page appears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91904" y="31912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03384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4263" y="2290572"/>
            <a:ext cx="347472" cy="34747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34263" y="22905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631400" y="2738628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631400" y="3195828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victim types username and password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404055" y="31912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15535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546415" y="2290572"/>
            <a:ext cx="347472" cy="34747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46415" y="22905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943551" y="2738628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Wins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943551" y="3195828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details go straight to the attacker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the attack at step 2 is the easiest win. Check the sender and the web address before you click.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46 · PHISHING TYPE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Phishing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5 · Social Engineering &amp; Phishing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type: a mass email sent to thousands of people, hoping a few will click.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Looks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copies the logo and style of a bank, courier company or popular website.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Message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will be blocked today. Click here to verify immediately."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Spot It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 sender address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mistakes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text does not match the real link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Action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click. Open the official app or type the website address yourself.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47 · PHISHING TYPE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Spear Phishing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5 · Social Engineering &amp; Phishing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is a targeted message written for one specific person, using details about them.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Different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mass email. The attacker researched you first, often using social media.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uses your real name, your manager name and your project name, then asks for a file.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Dangerous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contains true details, it feels trustworthy and the success rate is much higher.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Action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unusual requests through a second channel — call the person on a known number.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48 · PHISHING TYPE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Whaling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5 · Social Engineering &amp; Phishing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 is spear phishing aimed at "big fish" — senior leaders such as a CEO, director or principal.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Target Leaders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approve payments and they can access very sensitive information.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email that looks like it is from the CEO tells the accounts team to transfer money urgently and secretly.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Pressure Words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"Confidential, do not discuss"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am in a meeting"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it before 5 PM"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Action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rule: every payment change must be confirmed by phone with a known number.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49 · PHISHING TYPE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Smishing (SMS Phishing)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5 · Social Engineering &amp; Phishing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 is phishing done through SMS or chat messages.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text message contains a shortened link, so you cannot see where it really goes.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parcel could not be delivered. Pay 25 rupees here to reschedule."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read SMS quickly on a small screen, where the full web address is hidden.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Action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pay or log in from an SMS link. Use the official app to check your order.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50 · PHISHING TYPE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Vishing (Voice Phishing)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5 · Social Engineering &amp; Phishing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 is phishing done over a phone call.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caller creates fear or urgency and asks you to share a code or install an app.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am calling from your bank about a suspicious transaction. Tell me the OTP to cancel it."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Dangerous Variation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caller asks you to install a screen-sharing app so they can "help you". They then watch everything.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Action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 up. Call back using the number printed on your card or on the official website.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51 · FAKE LOGIN PAGES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Websites — How They Steal Logins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5 · Social Engineering &amp; Phishing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37360"/>
            <a:ext cx="530352" cy="530352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69948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91056" y="1737360"/>
            <a:ext cx="4047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Fake Page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505456"/>
            <a:ext cx="474253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exactly like the real site: same logo, same colours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address is slightly wrong, for example an extra word or letter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may even show a padlock, because anyone can get a certificate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you type is sent to the attacker, not to the real service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0440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4760" y="1737360"/>
            <a:ext cx="530352" cy="530352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869948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4568" y="1737360"/>
            <a:ext cx="4047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Check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571336" y="2505456"/>
            <a:ext cx="474253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domain carefully, right before the first single slash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address yourself or use your own bookmark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 — it will not auto-fill on a wrong domain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MFA so a stolen password alone is not enough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padlock only means the connection is encrypted. It does not mean the website is honest.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52 · RED FLAGS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Engineering Warning Signs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5 · Social Engineering &amp; Phishing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and pressure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within 10 minutes or your account closes." Real organisations give you time.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good to be true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Lottery wins, free gifts or a job offer you never applied for.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for secrets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request for your password, OTP, PIN or CVV is a serious red flag.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Strange links and addresses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Look-alike domains, shortened links, or a sender name that does not match the address.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you to stay silent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not tell anyone." Attackers want to keep you away from a second opinion.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attachments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invoice, result sheet or resume you were not waiting for.</a:t>
            </a:r>
            <a:endParaRPr lang="en-US" sz="13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53 · PROTECTION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Stay Safe from Phishing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5 · Social Engineering &amp; Phishing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and check the sender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full email address, not just the display name.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before you click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computer, rest the mouse on a link to see where it really goes.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MFA everywhere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blocks most attacks even when your password is stolen.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by a second channel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person or the company using a number you already trust.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suspicious messages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IT team or use the report button. Your report protects everyone else.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clicked, act fast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password, tell IT, and watch your accounts for strange activity.</a:t>
            </a:r>
            <a:endParaRPr lang="en-US" sz="13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5 · SLIDES 43–53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5 — Social Engineering &amp; Phishing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5 · Social Engineering &amp; Phishing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attacks mainly target: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done by SMS is called: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attack aimed at a company CEO is called: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Worming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padlock on a website proves that: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is honest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 is encrypted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is verified by police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malware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action for a suspicious bank email: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link fast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with your OTP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official app yourself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it to friends</a:t>
            </a:r>
            <a:endParaRPr lang="en-US" sz="10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 &amp; Authentication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prove who you are, and how to make that proof hard to steal.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Passwords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Attacks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Managers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Multi-Factor Auth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Biometrics &amp; Keys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6 · Passwords &amp; Authentication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063</a:t>
            </a:r>
            <a:endParaRPr lang="en-US" sz="9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54 · WHY IT MATTERS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Password Security Matters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6 · Passwords &amp; Authentication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password is the front door key to your digital life. If it is weak or reused, everything behind it is at risk.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Key, Many Doors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use the same password everywhere, one leaked website exposes all your accounts.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Behind The Door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and payment apps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which can reset other accounts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and private chats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and college systems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Is The Master Key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controls your email can reset the password of almost every other account.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News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habits fix most of the problem: long passwords, unique per site, and MFA.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55 · COMPARE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vs Strong Passwords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6 · Passwords &amp; Authentication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37360"/>
            <a:ext cx="530352" cy="530352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69948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91056" y="1737360"/>
            <a:ext cx="4047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(never use)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505456"/>
            <a:ext cx="474253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for example 6 characters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words: password, qwerty, 123456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name, college name or birth year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password on many websites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 a sticky note on the monitor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0440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4760" y="1737360"/>
            <a:ext cx="530352" cy="530352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869948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4568" y="1737360"/>
            <a:ext cx="4047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(do this)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571336" y="2505456"/>
            <a:ext cx="474253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Long: at least 12 to 16 characters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passphrase: BlueTiger!Runs42Fast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on every website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a password manager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by multi-factor authentication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matters more than strange symbols. A long passphrase you can remember beats a short messy password. The examples above are fictional — never use an example from a slide as a real password.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56 · ATTACK TYPES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Attacks — High Level View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6 · Passwords &amp; Authentication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common ways attackers try to get passwords. We describe the idea only, never the method.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very many combinations until one works. Long passwords make this impractical.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Dictionary Attack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lists of common words and known passwords instead of random guesses.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Spraying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one very common password against many accounts, to avoid lockouts.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Stuffing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username and password pairs leaked from one site to log in to other sites.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asking the user for the password through a fake page or call.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Stops All Of Them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long passwords, MFA, account lockouts and monitoring of failed logins.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57 · TOOL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Manager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6 · Passwords &amp; Authentication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 manager is an app that creates, stores and fills strong passwords for you.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remember one strong master password. The app remembers all the others in an encrypted vault.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Gives You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password per site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long random passwords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 on the correct site only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when a site is breached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Protection Bonus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not fill your password on a fake look-alike domain, which warns you something is wrong.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master password well and turn on MFA for the manager itself.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58 · STRONG LOGIN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Multi-Factor Authentication (MFA)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6 · Passwords &amp; Authentication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068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means using two or more different proofs before you are allowed in.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86827" y="2574036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86827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password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know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45638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711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77017" y="2574036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77017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85134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proof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85134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from your phone or a security key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35828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730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67207" y="2574036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67207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75324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checks both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75324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must be correct and recent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826017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7497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57396" y="257403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57396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365513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granted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365513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logged in safely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attacker steals only your password, MFA still blocks them. This is the single best upgrade for any account.</a:t>
            </a:r>
            <a:endParaRPr lang="en-US" sz="13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59 · THE THREE FACTORS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Authentication Factors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6 · Passwords &amp; Authentication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MFA uses factors from different groups — not two passwords.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3621024"/>
          </a:xfrm>
          <a:prstGeom prst="roundRect">
            <a:avLst>
              <a:gd name="adj" fmla="val 20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71216"/>
            <a:ext cx="566928" cy="566928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3012948"/>
            <a:ext cx="283464" cy="28346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609344" y="2871216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You Know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639312"/>
            <a:ext cx="295442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question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3621024"/>
          </a:xfrm>
          <a:prstGeom prst="roundRect">
            <a:avLst>
              <a:gd name="adj" fmla="val 20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71216"/>
            <a:ext cx="566928" cy="566928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3012948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386730" y="2871216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You Have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639312"/>
            <a:ext cx="295442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with an authenticator app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security key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card or bank token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3621024"/>
          </a:xfrm>
          <a:prstGeom prst="roundRect">
            <a:avLst>
              <a:gd name="adj" fmla="val 20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71216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3012948"/>
            <a:ext cx="283464" cy="28346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164117" y="2871216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You Are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639312"/>
            <a:ext cx="295442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iris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60 · BIOMETRICS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6 · Passwords &amp; Authentication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Biometrics uses a part of your body — such as a fingerprint or face — to prove who you are.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turns your fingerprint into a mathematical pattern and stores it in a secure area of the phone.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 and easy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remember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guess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change your fingerprint if it leaks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fail with injury or dirt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varies between devices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biometrics together with a PIN or password, not as the only protection.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61 · STRONGER MFA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Keys and Authenticator Apps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6 · Passwords &amp; Authentication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second factors are equally strong. Some resist phishing much better than others.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OTP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nothing, but codes can be phished or the phone number can be hijacked.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Authenticator App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code on your device every 30 seconds. Works offline and is much safer than SMS.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Security Key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USB or NFC device. It checks the real website address, so it resists phishing very well.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Approval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"yes / no" prompt on your phone. Never approve a prompt you did not start yourself.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62 · 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Authentication Practices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6 · Passwords &amp; Authentication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long, unique passwords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12 to 16 characters, and never the same one on two sites.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MFA for important accounts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email, bank, and college or work accounts.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password manager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removes the need to remember or reuse anything.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share OTP or passwords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genuine support team will ever ask for them.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 login alerts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get a login alert you did not start, change your password immediately.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passwords after a breach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it only when there is a reason — forced monthly changes lead to weaker passwords.</a:t>
            </a:r>
            <a:endParaRPr lang="en-US" sz="13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6 · SLIDES 54–62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6 — Passwords &amp; Authentication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6 · Passwords &amp; Authentication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password is strongest?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123456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password1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BlueTiger!Runs42Fast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myname2004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fingerprint is which type of factor?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know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have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are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write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leaked password pairs on other sites is: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job of a password manager is to: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up the internet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create strong passwords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all viruses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your Wi-Fi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second factor resists phishing best?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code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security key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question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code</a:t>
            </a:r>
            <a:endParaRPr lang="en-US" sz="10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mathematics that keeps secrets secret — explained without heavy maths.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&amp; Decryption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Symmetric &amp; Asymmetric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Hashing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Signatures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and TLS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7 · Cryptography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074</a:t>
            </a:r>
            <a:endParaRPr lang="en-US" sz="9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63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Cryptography?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7 · Cryptography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is the science of changing information into a secret form, so that only the right person can read it.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lock a message with a key. Anyone without the key sees only meaningless characters.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Very Old Idea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letter-shifting codes were used in ancient times. Today the same idea uses strong mathematics.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HELLO might become 9f2a7c. Without the key, that value tells you nothing.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Gives Us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— keep it secret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— detect changes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 — prove who sent it</a:t>
            </a:r>
            <a:endParaRPr lang="en-US" sz="11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64 · WHY IT MATTERS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Cryptography is Important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7 · Cryptography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42262"/>
            <a:ext cx="512064" cy="512064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70278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591056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travels through many hands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message passes routers and networks you do not control. Encryption keeps it unreadable on the way.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46156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622499"/>
            <a:ext cx="512064" cy="512064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50515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2571293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needs proof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depends on knowing the amount was not changed and the sender is real.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441802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602736"/>
            <a:ext cx="512064" cy="512064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7307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551530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Stolen data becomes useless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thief takes an encrypted database without the key, the records cannot be read.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442203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582973"/>
            <a:ext cx="512064" cy="512064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10989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531766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conversations stay private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 in messaging apps keeps chats between sender and receiver only.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540227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5563210"/>
            <a:ext cx="512064" cy="512064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69122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54480" y="5512003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Laws often require it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rules and standards require encryption of personal and health data.</a:t>
            </a:r>
            <a:endParaRPr lang="en-US" sz="13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65 · BASIC WORDS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Plaintext and Ciphertext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7 · Cryptography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077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words you will see again and again in security.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47772"/>
            <a:ext cx="3350666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68525" y="2574036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68525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022092"/>
            <a:ext cx="309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Plaintext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479292"/>
            <a:ext cx="30946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 readable message: "Pay 5000 to Ravi"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09034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20514" y="2747772"/>
            <a:ext cx="3350666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22112" y="2574036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22112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48530" y="3022092"/>
            <a:ext cx="309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+ Algorithm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48530" y="3479292"/>
            <a:ext cx="30946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secret key and a maths recipe are applied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62621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4101" y="2747772"/>
            <a:ext cx="3350666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75698" y="2574036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75698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02117" y="3022092"/>
            <a:ext cx="309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Ciphertext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402117" y="3479292"/>
            <a:ext cx="30946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scrambled result: "8fA2#kd93Lm0"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can travel over an unsafe network safely, because only the key holder can turn it back into plaintext.</a:t>
            </a:r>
            <a:endParaRPr lang="en-US" sz="13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66 · PROCESS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7 · Cryptography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is the process of turning readable data into unreadable data using a key.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takes your data plus a key, and produces ciphertext.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lock your phone, the storage is encrypted. A thief who removes the chip still cannot read it.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Places It Is Used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 rest — files on a disk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transit — traffic on a network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strength comes from the key. If the key is weak or shared, the encryption is useless.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67 · PROCESS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Decryption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7 · Cryptography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 is turning the unreadable ciphertext back into readable plaintext using the correct key.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receiver applies the matching key. Only then does the original message appear.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chat app decrypts messages on your phone, which is why the message is readable only on your device.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Key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wrong key you do not get a partly correct message — you get nothing useful.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Management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Storing, rotating and protecting keys is a big part of real security work.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68 · TYPE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Symmetric Encryption — One Shared Key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7 · Cryptography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encryption uses the same key to lock and to unlock the data.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and Key Analogy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cupboard with one key. The same key locks it and opens it, so both people need a copy.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very fast, so it is used for large amounts of data such as files and video calls.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send the key safely to the other person? This is the key distribution problem.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Example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is the widely used standard for symmetric encryption, for example in disk encryption.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69 · TYPE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Asymmetric Encryption — Two Different Keys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7 · Cryptography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encryption uses a pair: a public key that anyone may have, and a private key that stays secret.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Key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openly. Anything locked with it can be opened only by the matching private key.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Key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shared. It stays on your device or in a secure module.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Letterbox Analogy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drop a letter into your letterbox slot, but only you have the key to open the box.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Is Used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certificates, digital signatures, and safely sharing a symmetric key at the start of a connection.</a:t>
            </a:r>
            <a:endParaRPr lang="en-US" sz="1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70 · ONE-WAY MATHS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7 · Cryptography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turns any data into a fixed-length code, and it cannot be reversed back into the original.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is like a fingerprint of the data. Same input always gives the same fingerprint.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Change, Big Difference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one letter produces a completely different hash. That is how we detect changes.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Storage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websites store a salted hash of your password, never the password itself.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Verification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sites publish a hash so you can check the file was not modified.</a:t>
            </a:r>
            <a:endParaRPr lang="en-US" sz="1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71 · COMPARE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vs Hashing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7 · Cryptography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083</a:t>
            </a:r>
            <a:endParaRPr lang="en-US" sz="950" dirty="0"/>
          </a:p>
        </p:txBody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69080"/>
                <a:gridCol w="4062679"/>
              </a:tblGrid>
              <a:tr h="5047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Encryption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</a:tr>
              <a:tr h="504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it be reversed?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with the correct key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it is one-way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</a:tr>
              <a:tr h="504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a key?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key needed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</a:tr>
              <a:tr h="504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length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with input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a fixed length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</a:tr>
              <a:tr h="504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data secret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that data did not change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</a:tr>
              <a:tr h="504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traffic, encrypted disks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storage, file checks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</a:tr>
              <a:tr h="5047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names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AES, RSA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SHA-256, bcrypt (for passwords)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rule — if you need the original data back, use encryption. If you only need to compare, use hashing.</a:t>
            </a:r>
            <a:endParaRPr lang="en-US" sz="13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72 · PROOF OF SENDER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Signatures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7 · Cryptography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084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signature proves who sent a message and proves it was not changed.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86827" y="2574036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86827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the message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fingerprint of the document is created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45638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711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77017" y="2574036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77017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85134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with private key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85134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sender can do this step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35828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730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67207" y="2574036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67207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75324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both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75324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plus signature travel together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826017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7497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57396" y="257403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57396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365513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with public key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365513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check the signature is genuine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authenticity (who sent it), integrity (it was not changed) and non-repudiation (the sender cannot deny it).</a:t>
            </a:r>
            <a:endParaRPr lang="en-US" sz="13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73 · SECURE WEB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and TLS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7 · Cryptography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085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is the protection used by HTTPS. It is what puts the padlock in your browser.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86827" y="2574036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86827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connects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open https://bank.example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45638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711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77017" y="2574036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77017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85134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sends certificate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85134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proves the site identity using a trusted authority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35828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730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67207" y="2574036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67207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75324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are agreed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75324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maths sets up a shared session key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826017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7497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57396" y="257403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57396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365513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session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365513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traffic is now scrambled and protected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protects the data in transit. It does not check whether the website owner is honest, so still verify the domain name.</a:t>
            </a:r>
            <a:endParaRPr lang="en-US" sz="13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74 · APPLICATIONS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Cryptography in Real Life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7 · Cryptography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Banking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is encrypted and signed between your app and the bank.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Websites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padlock means TLS is protecting the page you are using.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Apps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 means only you and the receiver can read the chat.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Signatures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PDFs and signed software updates prove the source is genuine.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Storage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are encrypted while stored and while being uploaded.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Storage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keep salted hashes, so a stolen database does not reveal passwords directly.</a:t>
            </a:r>
            <a:endParaRPr lang="en-US" sz="13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7 · SLIDES 63–74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7 — Cryptography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7 · Cryptography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data before encryption is called: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Hashtext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Keytext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Symmetric encryption uses: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keys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key both ways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 at all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password hint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process cannot be reversed?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asymmetric encryption, which key is shared?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key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key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protects a website mainly by: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all malware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Encrypting data in transit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the domain name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Backing up files</a:t>
            </a:r>
            <a:endParaRPr lang="en-US" sz="10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Security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the roads that data travels on: firewalls, IDS, IPS, VPN and Wi-Fi.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Architecture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and IPS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 &amp; Segmentation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Wi-Fi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8 · Network Security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088</a:t>
            </a:r>
            <a:endParaRPr lang="en-US" sz="9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75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Network Security?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8 · Network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protects data while it moves between devices, and controls who may enter the network.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data is a vehicle, the network is the road. Network security is the traffic police and the checkpoints.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Jobs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good traffic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bad traffic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strange behaviour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data private on the way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See It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Wi-Fi login pages, office VPNs and the firewall in your home router.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attacks must cross a network at some point, so this is a very valuable place to defend.</a:t>
            </a:r>
            <a:endParaRPr lang="en-US" sz="1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76 ·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Network Security Architecture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8 · Network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090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picture of how traffic reaches a company server safely.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97808" y="2574036"/>
            <a:ext cx="347472" cy="34747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97808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and untrusted network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67600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9080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09960" y="2574036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09960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07096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07096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 traffic to the right place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79752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91232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22112" y="2574036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22112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19248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19248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and filters every packet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91904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03384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34263" y="257403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34263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631400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Network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631400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zone with staff devices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404055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15535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546415" y="2574036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46415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943551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943551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and databases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Public-facing servers are often placed in a separate zone called a DMZ, so a break-in there does not reach the internal network.</a:t>
            </a:r>
            <a:endParaRPr lang="en-US" sz="13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77 · CONTROL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8 · Network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firewall is a security guard that checks network traffic and allows or blocks it using rules.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packet is compared with a rule list: source, destination, port and protocol. No matching allow rule means block.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web traffic on port 443 to the web server. Block everything else from the internet.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firewall (hardware)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firewall (on your PC)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firewall that also inspects applications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firewall / security group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firewall cannot stop an attack that arrives through allowed traffic, such as a phishing email.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78 · CONTROL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— Intrusion Detection System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8 · Network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IDS watches network or system activity and raises an alert when something looks like an attack.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compares traffic with known attack patterns, or looks for behaviour that is far from normal.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detects and alerts. It does not block the traffic by itself.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CCTV camera with an alarm. It tells the guard that something is wrong, but it does not lock the door.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alarms. Tuning the rules is a real, everyday job for security teams.</a:t>
            </a:r>
            <a:endParaRPr lang="en-US" sz="1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79 · CONTROL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IPS — Intrusion Prevention System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8 · Network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IPS does everything an IDS does, and it also blocks the harmful traffic automatically.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sits directly in the traffic path, so it can drop a packet before it reaches the target.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who both sees the intruder and closes the gate immediately.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happens in seconds, without waiting for a human to read an alert.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To Manage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rule is wrong, it can block genuine business traffic, so rules are tested carefully first.</a:t>
            </a:r>
            <a:endParaRPr lang="en-US" sz="1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80 · COMPARE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vs IPS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8 · Network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094</a:t>
            </a:r>
            <a:endParaRPr lang="en-US" sz="950" dirty="0"/>
          </a:p>
        </p:txBody>
      </p:sp>
      <p:graphicFrame>
        <p:nvGraphicFramePr>
          <p:cNvPr id="9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69080"/>
                <a:gridCol w="4062679"/>
              </a:tblGrid>
              <a:tr h="5888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</a:tr>
              <a:tr h="5888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and alerts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and blocks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</a:tr>
              <a:tr h="5888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Beside the traffic (copy)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 the traffic path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</a:tr>
              <a:tr h="5888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of response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 human to 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Acts automatically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</a:tr>
              <a:tr h="5888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if wrong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noise for analysts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block genuine users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</a:tr>
              <a:tr h="5888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picture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CCTV camera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 who closes the gate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products today do both. The team chooses detect-only mode first, then switches on prevention after tuning.</a:t>
            </a:r>
            <a:endParaRPr lang="en-US" sz="13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81 · SAFE TUNNEL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 — Virtual Private Network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8 · Network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095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VPN creates an encrypted tunnel between your device and a trusted network.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86827" y="2574036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86827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connect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home, hotel or public Wi-Fi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45638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711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77017" y="2574036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77017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85134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Tunnel is created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85134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traffic is encrypted end to end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35828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730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67207" y="2574036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67207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75324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reaches office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75324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appear to be inside the company network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826017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7497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57396" y="257403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57396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365513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access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365513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systems can be used securely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VPN protects data from others on the same network. It does not make you anonymous and it does not stop malware.</a:t>
            </a:r>
            <a:endParaRPr lang="en-US" sz="13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82 ·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Segmentation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8 · Network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means dividing one big network into smaller separate zones.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It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attacker breaks into one zone, they cannot easily move to the others.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keeps medical devices, staff laptops and guest Wi-Fi on three separate networks.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Analogy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ship has watertight compartments. One leak does not sink the whole ship.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Done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VLANs and subnets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rules between zones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guest Wi-Fi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Micro-segmentation in cloud</a:t>
            </a:r>
            <a:endParaRPr lang="en-US" sz="9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83 · WI-FI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Wi-Fi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8 · Network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WPA3, or WPA2 at minimum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WEP or an open network for anything important.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default router password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admin passwords are published on the internet for every model.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separate guest network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and smart devices should not sit on the same network as your laptop.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router firmware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get security fixes too, but most people never install them.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careful on public Wi-Fi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banking on free Wi-Fi, or use a VPN and check for HTTPS.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off WPS and remote admin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convenience features are common weak points.</a:t>
            </a:r>
            <a:endParaRPr lang="en-US" sz="13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84 · VISIBILITY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Monitoring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8 · Network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monitoring means constantly watching traffic to understand what is normal and to spot what is not.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Watched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volume and direction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to unknown countries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login attempts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leaving at strange hours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defend what you cannot see. Monitoring is how attacks are discovered early.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 AM a laptop uploads 50 GB to an unknown server. That is unusual and must be investigated.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Goes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and logs are sent to the SOC team and to SIEM tools, which we study in Section 12.</a:t>
            </a:r>
            <a:endParaRPr lang="en-US" sz="12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85 · 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Network Security Practices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8 · Network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deny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everything first, then allow only what the business truly needs.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the network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servers, staff and guests apart so problems stay contained.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network devices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Routers, switches and firewalls need updates just like computers.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admin access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accounts with MFA for every administrator. No shared logins.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traffic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HTTPS, SSH and VPN instead of old plain-text protocols.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and review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logs, send them to a central place, and actually read the alerts.</a:t>
            </a:r>
            <a:endParaRPr lang="en-US" sz="13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8 · SLIDES 75–85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8 — Network Security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8 · Network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firewall mainly works by: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Encrypting files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Allowing or blocking traffic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Backing up data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fingerprints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system detects but does not block?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VPN mainly provides: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encrypted tunnel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internet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antivirus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storage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Dividing a network into zones is called: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safest Wi-Fi setting from this list is: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network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WEP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WPA3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</a:t>
            </a:r>
            <a:endParaRPr lang="en-US" sz="10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&amp; Application Security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websites and apps are attacked, and how developers build them safely.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Security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Attacks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 and Access Control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Security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9 · Web &amp; Application Security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endParaRPr lang="en-US" sz="9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86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Application Security?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9 · Web &amp; Application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 means building and running software so that attackers cannot misuse it.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firewall protects the building. Application security protects what happens inside the rooms.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Covers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user input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login and permissions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handling of data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Happens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design stage, through coding and testing, and after release with updates.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Involved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Developers, testers, security engineers and the operations team together.</a:t>
            </a:r>
            <a:endParaRPr lang="en-US" sz="12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87 · WHY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Web Security Matters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9 · Web &amp; Application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42262"/>
            <a:ext cx="512064" cy="512064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70278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591056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 are open to the world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on the internet can reach them, at any time, from any country.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46156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622499"/>
            <a:ext cx="512064" cy="512064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50515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2571293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sit in front of valuable data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records, payments and passwords live just behind the web page.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441802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602736"/>
            <a:ext cx="512064" cy="512064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7307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551530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runs on them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site is down or defaced, sales stop and trust falls immediately.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442203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582973"/>
            <a:ext cx="512064" cy="512064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10989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531766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Attacks are automated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scan the internet all day looking for known weaknesses in any site.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540227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5563210"/>
            <a:ext cx="512064" cy="512064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69122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54480" y="5512003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responsibility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customer data can bring fines and legal action against the company.</a:t>
            </a:r>
            <a:endParaRPr lang="en-US" sz="13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88 · ATTACK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(High-Level Idea)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9 · Web &amp; Application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happens when user input is treated as part of a database command instead of as plain data.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Simple Idea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login box expects a name. If the app mixes that text directly into a database query, the text can change the meaning of the query.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Analogy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fill a form and write extra instructions in the name box. A careless clerk follows those instructions too.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Impact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data of other users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Bypassing a login check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or deleting records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Developers Fix It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parameterised queries (prepared statements), validate input, and give the database account least privilege.</a:t>
            </a:r>
            <a:endParaRPr lang="en-US" sz="12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89 · ATTACK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Cross-Site Scripting (XSS)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9 · Web &amp; Application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happens when a website shows user-supplied content as code, so a script runs inside another visitor browser.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Simple Idea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comment box should show text. If it also runs scripts, an attacker can place a script that every visitor executes.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Stealing session cookies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fake login forms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what the page displays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Kinds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— saved on the server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 — comes from a link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DOM-based — happens in the browser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Developers Fix It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output, validate input, and use a Content Security Policy header.</a:t>
            </a:r>
            <a:endParaRPr lang="en-US" sz="12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90 · ATTACK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Access Control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9 · Web &amp; Application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 means a user can reach data or actions that should not be allowed for them.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Simple Idea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in is not the same as being allowed everywhere. The app must check permissions on every request.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changes the invoice number in a web address and sees another student invoice.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a button but not blocking the URL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values sent by the browser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check on the server side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Developers Fix It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by default, check permissions on the server for every request, and test with different user roles.</a:t>
            </a:r>
            <a:endParaRPr lang="en-US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91 · ATTACK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Problems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9 · Web &amp; Application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login design lets attackers become another user.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Weaknesses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Allowing very weak passwords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limit on login attempts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that never expires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that is easy to abuse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Handling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tokens must be random, sent only over HTTPS, and cancelled properly at logout.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library computer keeps a session alive, so the next person opens the account without a password.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Fix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MFA, limit attempts, expire sessions, and use well-tested login libraries instead of writing your own.</a:t>
            </a:r>
            <a:endParaRPr lang="en-US" sz="12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92 · INTERFACES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Security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9 · Web &amp; Application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is the doorway that lets apps talk to each other. It must be protected just like a web page.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API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food app checks payment status, it calls an API. It is a request and a reply between programs.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Problems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 on an endpoint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more data than needed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 limiting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input from the caller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Practices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every call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 per object, not just per user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HTTPS always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monitor API usage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app API returns full customer details when only a name was needed. That extra data is a leak.</a:t>
            </a:r>
            <a:endParaRPr lang="en-US" sz="12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93 · CORE DEFENCE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9 · Web &amp; Application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109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web attacks start with input that the application trusted too much.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86827" y="2574036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86827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sends input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field, URL, header or file upload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45638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711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77017" y="2574036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77017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85134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85134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type, length, format and range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35828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730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67207" y="2574036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67207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75324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Sanitise / encode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75324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it as data, never as code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826017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7497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57396" y="257403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57396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365513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safely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365513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parameterised queries and safe APIs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 — never trust input from the user, and always validate on the server, not only in the browser.</a:t>
            </a:r>
            <a:endParaRPr lang="en-US" sz="13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94 · SDLC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Software Development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9 · Web &amp; Application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cheapest when it is built in from the beginning, not added at the end.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68525" y="1874520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68525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322576"/>
            <a:ext cx="309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779776"/>
            <a:ext cx="30946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security needs early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09034" y="2587752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20514" y="2048256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22112" y="1874520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22112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48530" y="2322576"/>
            <a:ext cx="309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48530" y="2779776"/>
            <a:ext cx="30946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modelling: what could go wrong?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62621" y="2587752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4101" y="2048256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75698" y="1874520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75698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02117" y="2322576"/>
            <a:ext cx="309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402117" y="2779776"/>
            <a:ext cx="30946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 standards and code review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822192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68525" y="364845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68525" y="3648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" y="4096512"/>
            <a:ext cx="309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" y="4553712"/>
            <a:ext cx="30946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scans and penetration testing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009034" y="4361688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20514" y="3822192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22112" y="3648456"/>
            <a:ext cx="347472" cy="34747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22112" y="3648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48530" y="4096512"/>
            <a:ext cx="309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548530" y="4553712"/>
            <a:ext cx="30946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settings and secret management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862621" y="4361688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74101" y="3822192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775698" y="3648456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775698" y="3648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402117" y="4096512"/>
            <a:ext cx="309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402117" y="4553712"/>
            <a:ext cx="30946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Patch, monitor and respond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a design flaw after release can cost many times more than fixing it during design.</a:t>
            </a:r>
            <a:endParaRPr lang="en-US" sz="13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95 · COMMUNITY STANDARD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— Open Worldwide Application Security Project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9 · Web &amp; Application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is a non-profit community that publishes free guidance to help people build safer applications.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Provides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security guides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checklists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material for beginners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OWASP Top 10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famous list of the ten most critical web application security risks, updated regularly.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Top 10 Themes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failures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design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misconfiguration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Beginners Should Use It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free, practical, and it is the common language used in interviews and real projects.</a:t>
            </a:r>
            <a:endParaRPr lang="en-US" sz="12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9 · SLIDES 86–95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9 — Web &amp; Application Security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9 · Web &amp; Application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happens when input is treated as: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a database command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 mainly runs harmful script in the: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server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browser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Seeing another user record by changing a URL is: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 should always happen: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 the browser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server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release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is best known for: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firewalls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 web risks list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routers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Issuing passports</a:t>
            </a:r>
            <a:endParaRPr lang="en-US" sz="105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Security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systems that run on AWS, Azure, Google Cloud and other platforms.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Basics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Responsibility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and Least Privilege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Protection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10 · Cloud Security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113</a:t>
            </a:r>
            <a:endParaRPr lang="en-US" sz="95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96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Cloud Security?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10 · Cloud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means protecting data, applications and services that run on someone else servers, over the internet.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Cloud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buying your own servers, you rent computing power from a provider and use it over the internet.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Analogy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in a rented apartment. The owner secures the building, but you must lock your own door.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Models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— you rent servers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— you rent a platform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— you use a ready app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is similar, but the controls are configuration-driven and mistakes become public very fast.</a:t>
            </a:r>
            <a:endParaRPr lang="en-US" sz="12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97 · WHY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Cloud Security is Important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10 · Cloud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42262"/>
            <a:ext cx="512064" cy="512064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70278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591056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reachable from the internet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setting can expose a database to the whole world in seconds.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46156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622499"/>
            <a:ext cx="512064" cy="512064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50515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2571293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happen very fast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can create fifty servers. Mistakes multiply at the same speed.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441802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602736"/>
            <a:ext cx="512064" cy="512064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7307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551530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Huge amounts of data live there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records, backups and analytics are all stored in cloud services.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442203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582973"/>
            <a:ext cx="512064" cy="512064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10989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531766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is the new perimeter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office wall. Access is decided by accounts, roles and keys.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540227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5563210"/>
            <a:ext cx="512064" cy="512064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69122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54480" y="5512003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Attacks cost real money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cloud keys are often used to run crypto-mining, creating huge bills.</a:t>
            </a:r>
            <a:endParaRPr lang="en-US" sz="135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98 · PROVIDERS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AWS, Azure and Google Cloud Security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10 · Cloud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major providers offer similar security building blocks with different names.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IAM, Microsoft Entra ID for Azure, Google Cloud IAM. All control who can do what.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Controls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groups, network security groups and firewall rules limit which traffic is allowed.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Management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KMS, Azure Key Vault and Google Cloud KMS store encryption keys and secrets safely.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CloudTrail, Azure Monitor and Google Cloud Logging record what happened and when.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Detection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provider has a service that watches for suspicious activity in your account.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Tip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concepts once. The names change between clouds, but the ideas stay the same.</a:t>
            </a:r>
            <a:endParaRPr lang="en-US" sz="12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99 ·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Shared Responsibility Model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10 · Cloud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37360"/>
            <a:ext cx="530352" cy="530352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69948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91056" y="1737360"/>
            <a:ext cx="4047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secures the cloud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505456"/>
            <a:ext cx="474253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 centres and guards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Servers, storage and networking hardware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virtualisation layer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 software and patches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0440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4760" y="1737360"/>
            <a:ext cx="530352" cy="530352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869948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4568" y="1737360"/>
            <a:ext cx="4047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secure what is in the cloud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571336" y="2505456"/>
            <a:ext cx="474253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and who can see it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accounts, roles and permissions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and firewall configuration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 code and updates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cloud breaches come from customer-side mistakes, not from the provider. Knowing your half of the model is essential.</a:t>
            </a:r>
            <a:endParaRPr lang="en-US" sz="13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100 · IDENTITY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— Identity and Access Management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10 · Cloud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decides who can log in and what each person or service is allowed to do.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and Groups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gets their own account. Groups make permissions easier to manage.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 is a set of permissions that a user or a server can take on temporarily.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is the written rule: allow this action, on this resource, for this identity.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For Admins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admin accounts must always have MFA. Losing one means losing everything.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Long-Lived Keys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short-term roles over permanent access keys that can leak in code.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Regularly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accounts of people who left and permissions nobody uses.</a:t>
            </a:r>
            <a:endParaRPr lang="en-US" sz="12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101 · PRINCIPLE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 in the Cloud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10 · Cloud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user, application and server only the cloud permissions it actually needs.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Critical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cloud, one over-powered key can create, delete or expose entire systems.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reporting script only needs to read one storage bucket. It does not need permission to delete anything.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Apply It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no access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only what is required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separate roles per job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permission reports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full administrator rights "temporarily" to make something work, and never removing it.</a:t>
            </a:r>
            <a:endParaRPr lang="en-US" sz="12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102 · NETWORK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Network Security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10 · Cloud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path showing the controls a request passes through in a cloud application.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97808" y="2574036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97808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request over the internet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67600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9080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09960" y="2574036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09960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07096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07096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identity and permission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79752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91232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22112" y="2574036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22112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19248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Network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19248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filter the traffic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91904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03384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34263" y="257403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34263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631400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631400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 private subnet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404055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15535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546415" y="2574036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46415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943551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943551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reachable from the internet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databases in private subnets. Nothing that holds sensitive data should be directly open to the internet.</a:t>
            </a:r>
            <a:endParaRPr lang="en-US" sz="13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103 ·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Data Security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10 · Cloud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data means controlling who can reach it, encrypting it, and knowing where it lives.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At Rest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storage and database encryption. In most clouds this is a single setting.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In Transit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HTTPS and TLS for every connection, including internal ones.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Public Access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buckets should be private by default. Public access needs a very good reason.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And Versions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versioned backups in a separate account so ransomware cannot delete them.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Data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which data is public, internal or confidential, and protect each level differently.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What You Do Not Need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data you no longer need is only a risk waiting to happen.</a:t>
            </a:r>
            <a:endParaRPr lang="en-US" sz="12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104 · VISIBILITY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Logging and Monitoring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10 · Cloud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records every action in your cloud account. Monitoring watches those records for danger.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Recorded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logged in and from where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resources were created or deleted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changes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events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Alerts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or admin account used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from a new country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switched off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made public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alert fires when a new user is given administrator rights at 2 AM.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Logs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logs to a separate, restricted account so an attacker cannot erase the evidence.</a:t>
            </a:r>
            <a:endParaRPr lang="en-US" sz="12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105 · MISTAKES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Cloud Security Mistakes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10 · Cloud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storage buckets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bucket set to "everyone" exposes files to the entire internet.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or over-wide IAM permissions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admin rights to everything instead of the few actions required.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credentials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keys pasted into source code or pushed to a public repository.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logging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logs you cannot investigate, and you may never learn what happened.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Unpatched systems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servers still need operating system updates — the provider does not do it for you.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MFA on admin accounts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stolen password can then control the whole environment.</a:t>
            </a:r>
            <a:endParaRPr lang="en-US" sz="135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10 · SLIDES 96–105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10 — Cloud Security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10 · Cloud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shared responsibility model, you secure: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centre building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and access settings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servers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network cables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in cloud mainly controls: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speed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do what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brightness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tape size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very common cloud mistake is: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storage buckets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HTTPS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MFA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logs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 holding sensitive data should be: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the internet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private subnet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publicly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any password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access keys should never be: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Rotated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a key vault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Pasted into public code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least privilege</a:t>
            </a:r>
            <a:endParaRPr lang="en-US" sz="105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&amp; Device Security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the laptops, phones and devices where people actually 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Security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Security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Protection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Management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Remote Work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11 · Endpoint &amp; Device Security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</a:t>
            </a:r>
            <a:endParaRPr lang="en-US" sz="95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106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Endpoint Security?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11 · Endpoint &amp; Device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endpoint is any device that connects to a network. Endpoint security protects those devices.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Counts As An Endpoint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and desktops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and tablets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devices and printers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Attackers Target Them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are used by humans, and humans click links. It is often the easiest way in.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Includes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and EDR tools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encryption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and configuration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control policies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Reality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remote work, the endpoint is often outside the office network, so it must defend itself.</a:t>
            </a:r>
            <a:endParaRPr lang="en-US" sz="12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107 · COMPUTERS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Security Basics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11 · Endpoint &amp; Device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the screen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or PIN and set automatic lock after a few minutes.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standard user account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daily as a normal user. Log in as administrator only when required.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system updated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automatic updates for the operating system and all applications.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disk encryption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BitLocker on Windows or FileVault on macOS protects data if the laptop is stolen.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host firewall on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blocks unwanted connections, especially on public networks.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up important files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at least one copy that is not connected to the computer all the time.</a:t>
            </a:r>
            <a:endParaRPr lang="en-US" sz="135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108 · PHONES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Security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11 · Endpoint &amp; Device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apps from official stores only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Side-loaded apps from unknown websites are a common source of mobile malware.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app permissions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torch app does not need your contacts, messages or location.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the phone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patches fix weaknesses that attackers already know about.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screen lock plus biometrics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 a phone with no lock — it holds your email and bank apps.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careful on public Wi-Fi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off automatic joining and avoid sensitive work on open networks.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find-my-device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lets you locate, lock or erase a lost phone remotely.</a:t>
            </a:r>
            <a:endParaRPr lang="en-US" sz="135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109 · TOOLS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and Endpoint Protection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11 · Endpoint &amp; Device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tools watch a device for harmful software and suspicious behaviour, and stop it.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Antivirus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files with a list of known malware signatures. Good, but it misses brand-new threats.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 Detection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what a program does. Encrypting hundreds of files quickly looks like ransomware and is blocked.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Detection and Response records activity, alerts the security team, and allows remote investigation.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Practice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always on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update daily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disable it for convenience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alerts it produces</a:t>
            </a:r>
            <a:endParaRPr lang="en-US" sz="95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110 · PATCHING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Updates and Patch Management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11 · Endpoint &amp; Device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patch is a small fix released by a vendor to close a security hole.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97808" y="2574036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97808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found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researcher or vendor discovers a flaw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67600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9080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09960" y="2574036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09960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07096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released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07096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vendor publishes an update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79752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91232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22112" y="2574036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22112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19248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19248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 team checks it does not break anything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91904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03384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34263" y="257403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34263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631400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631400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 is installed on all devices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404055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15535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546415" y="2574036"/>
            <a:ext cx="347472" cy="34747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46415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943551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943551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confirm every device is updated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read patch notes too. Once a fix is public, unpatched systems become easier targets.</a:t>
            </a:r>
            <a:endParaRPr lang="en-US" sz="13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111 · PROTECTION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Encryption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11 · Endpoint &amp; Device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encryption scrambles everything stored on a device, so a thief cannot read it.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disk is encrypted with a key that is unlocked by your password, PIN or fingerprint at start-up.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laptop is stolen from a car. With encryption on, the thief gets hardware but no readable data.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Turn It On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— BitLocker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— FileVault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and iOS — on by default with a lock set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drives — use encrypted drives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protects a powered-off device. It does not protect a device that is already unlocked and logged in.</a:t>
            </a:r>
            <a:endParaRPr lang="en-US" sz="12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112 · REMOVABLE MEDIA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and External Device Security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11 · Endpoint &amp; Device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drives can carry malware straight past the firewall, because they physically bypass the network.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Classic Risk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USB drive found in a car park is plugged in "just to see" whose it is. That single action can infect a network.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For Organisations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unknown USB storage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only approved, encrypted drives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any external media automatically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For Students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plug in unknown drives, and scan shared drives before opening files on a college computer.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Must Use One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encrypted USB drive so losing it does not expose your data.</a:t>
            </a:r>
            <a:endParaRPr lang="en-US" sz="12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113 · WORKING FROM HOME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Remote Work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11 · Endpoint &amp; Device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your home Wi-Fi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WPA2 or WPA3, a strong password, and a changed router admin password.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company VPN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protects traffic to internal systems, especially on shared networks.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work and personal separate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let family members use the work laptop for browsing or games.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 your surroundings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cafe, watch for shoulder surfing and never leave the laptop unlocked.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unusual requests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makes impersonation easier. Confirm money or data requests by voice call.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problems quickly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home you are the only person who can notice something wrong on your device.</a:t>
            </a:r>
            <a:endParaRPr lang="en-US" sz="135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11 · SLIDES 106–113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11 — Endpoint &amp; Device Security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11 · Endpoint &amp; Device Security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endpoint is best described as: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cable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that connects to a network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 policy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region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patch is: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feature only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 for a weakness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of virus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backup copy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encryption mainly protects data when: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is stolen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is unlocked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typing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is 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an unknown USB drive, you should: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it into your laptop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 it and report it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to a friend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every file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 tools mainly help by: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 the disk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and detecting device activity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reports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the battery</a:t>
            </a:r>
            <a:endParaRPr lang="en-US" sz="105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Operations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teams and tools that watch for attacks every hour of every day.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SOC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Analyst Role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Logs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Intelligence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12 · Security Operations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135</a:t>
            </a:r>
            <a:endParaRPr lang="en-US" sz="95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114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SOC?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12 · Security Operations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SOC, or Security Operations Centre, is the team that monitors and defends an organisation around the clock.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control room with screens. People watch alerts and react when something looks wrong.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Works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24 hours a day, 7 days a week, because attacks do not wait for office hours.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Structure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triage alerts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deeper investigation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threat hunting and experts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manager — leads the team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They Use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SIEM, EDR, threat intelligence feeds, ticketing systems and playbooks.</a:t>
            </a:r>
            <a:endParaRPr lang="en-US" sz="12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115 · ROLE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 SOC Analyst Do?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12 · Security Operations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alerts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each alert and decide whether it is a real problem or a false alarm.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logs to answer: what happened, when, which user, which machine?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serious cases to senior analysts or to the incident response team.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 quickly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a laptop or disable an account to stop the problem spreading.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everything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clear notes and timelines. Good notes make the final report possible.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detection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better rules so the same alert is clearer next time.</a:t>
            </a:r>
            <a:endParaRPr lang="en-US" sz="135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116 · RAW EVIDENCE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Logs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12 · Security Operations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 is a record written by a system describing what happened, when, and who did it.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Log Line Shows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user, action, source address and result — for example "login failed".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Logs Come From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and laptops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and routers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and databases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They Matter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are the evidence. Without them, you cannot prove what happened or how far the attacker went.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Logs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logs to a central server. An attacker who can delete logs can erase their own footprints.</a:t>
            </a:r>
            <a:endParaRPr lang="en-US" sz="12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117 · TOOL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 — Security Information and Event Management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12 · Security Operations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SIEM collects logs from everywhere, connects them together, and raises alerts about suspicious activity.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 millions of log lines from servers, firewalls, cloud and applications into one place.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separate events. Five failed logins plus one success plus a big download tells a story.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rules and raises an alert when the pattern matches something dangerous.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dashboards and reports for management and for auditors.</a:t>
            </a:r>
            <a:endParaRPr lang="en-US" sz="12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118 · PROCESS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SIEM Works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12 · Security Operations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97808" y="2290572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97808" y="22905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2738628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195828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and apps send their records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67600" y="31912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9080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09960" y="2290572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09960" y="22905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07096" y="2738628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007096" y="3195828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collected and normalised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79752" y="31912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91232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22112" y="229057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22112" y="22905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19248" y="2738628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19248" y="3195828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analytics look for patterns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91904" y="31912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03384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4263" y="229057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34263" y="22905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631400" y="2738628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631400" y="3195828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is created for the SOC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404055" y="31912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15535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546415" y="2290572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46415" y="22905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943551" y="2738628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943551" y="3195828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analyst confirms and responds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SIEM does not fix anything by itself. It gives humans the visibility needed to decide and act.</a:t>
            </a:r>
            <a:endParaRPr lang="en-US" sz="13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119 · TRIAGE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Alerts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12 · Security Operations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alert is a message saying that something may be wrong and a human should look at it.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Positive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problem was correctly detected. Respond immediately.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alert fired but nothing bad happened. Tune the rule so it stops repeating.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Negative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attack that produced no alert. This is the most dangerous case of all.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Fatigue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noisy alerts make teams miss the important one. Quality beats quantity.</a:t>
            </a:r>
            <a:endParaRPr lang="en-US" sz="12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120 · KNOWLEDGE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Intelligence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12 · Security Operations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is organised information about attackers: who they are, what they target and how they work.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like a weather forecast for attacks. It tells you what is likely to come your way.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Contains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harmful IP addresses and domains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hashes of known malware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techniques and tools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industries are targeted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Used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are loaded into firewalls and SIEM tools so known bad indicators are blocked or alerted automatically.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feed reports a domain used in a new phishing campaign, so the company blocks it before any employee sees the email.</a:t>
            </a:r>
            <a:endParaRPr lang="en-US" sz="12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121 · PRACTICE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Monitoring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12 · Security Operations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what normal looks like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only spot strange behaviour if you first understand ordinary behaviour.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continuously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often start at night, on weekends or during holidays.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crown jewels first: identity systems, financial systems and customer data.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 the data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from everywhere in one place make investigation far faster.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playbooks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steps for common alerts keep responses fast and consistent.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improve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incident, update the rules so detection gets better.</a:t>
            </a:r>
            <a:endParaRPr lang="en-US" sz="135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12 · SLIDES 114–121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12 — Security Operations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12 · Security Operations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SOC is a team that mainly: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logos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and defends systems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hardware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contracts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SIEM mainly collects and analyses: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and events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 ink levels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salaries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keys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alert that fires with no real problem is a: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dangerous alert situation is a: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alert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severity alert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intelligence gives a team: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about attackers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internet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hardware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storage space</a:t>
            </a:r>
            <a:endParaRPr lang="en-US" sz="105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team does in the first minutes, hours and days after an attack.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Incidents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Lifecycle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Containment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13 · Incident Response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145</a:t>
            </a:r>
            <a:endParaRPr lang="en-US" sz="95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122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Security Incident?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13 · Incident Response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incident is an event that actually harms, or could harm, the confidentiality, integrity or availability of systems or data.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vs Incident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failed login is an event. One thousand failed logins followed by a success is an incident.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found on a laptop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encrypting files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leaked customer database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misusing access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Levels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are rated low, medium, high or critical so the right people are involved quickly.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Speed Matters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faster you detect and contain, the smaller the damage and the cost.</a:t>
            </a:r>
            <a:endParaRPr lang="en-US" sz="12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123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Incident Response?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13 · Incident Response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is the organised plan a team follows to handle a security incident from start to finish.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Plan Is Needed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real attack there is panic. A written plan removes guesswork and saves time.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Involved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IT teams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and communications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external experts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Plan Contains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contact and when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playbooks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record evidence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communicate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It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run table-top exercises — a pretend incident on paper — so everyone knows their role.</a:t>
            </a:r>
            <a:endParaRPr lang="en-US" sz="12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124 ·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 Lifecycle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13 · Incident Response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86827" y="1307592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86827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175564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212848"/>
            <a:ext cx="21312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Plans, tools, training and contacts ready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45638" y="21625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7118" y="14813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77017" y="1307592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77017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85134" y="175564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85134" y="2212848"/>
            <a:ext cx="21312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alert or a report reveals the problem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35828" y="21625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47308" y="14813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67207" y="130759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67207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75324" y="175564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75324" y="2212848"/>
            <a:ext cx="21312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it is real and find the scope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26017" y="21625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7497" y="14813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257396" y="130759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57396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65513" y="175564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Containment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365513" y="2212848"/>
            <a:ext cx="21312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it from spreading further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012023" y="35387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031922" y="3364992"/>
            <a:ext cx="347472" cy="34747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31922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140039" y="381304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Eradication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2140039" y="4270248"/>
            <a:ext cx="21312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malware and close the hole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490733" y="42199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02213" y="35387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22112" y="3364992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22112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030229" y="381304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030229" y="4270248"/>
            <a:ext cx="21312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systems and watch closely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380923" y="42199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92403" y="35387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812301" y="3364992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812301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7920419" y="381304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920419" y="4270248"/>
            <a:ext cx="21312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so it does not repeat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cycle, not a straight line. What you learn at the end makes your preparation stronger for next time.</a:t>
            </a:r>
            <a:endParaRPr lang="en-US" sz="13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125 · STEP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Detection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13 · Incident Response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the moment you first learn that something may be wrong.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Incidents Are Found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or EDR alerts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reports something strange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or partner tells you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routine log review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Dwell Time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long an attacker stays unnoticed. Shorter dwell time means much smaller damage.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Are Sensors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employee who reports a strange email is often the fastest detection you have.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Questions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system? Which user? When did it start? Is it still happening right now?</a:t>
            </a:r>
            <a:endParaRPr lang="en-US" sz="12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126 · STEP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Containment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13 · Incident Response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means stopping the incident from spreading while you work out the full picture.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Actions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the affected machine from the network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the compromised account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the attacker address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Actions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temporary rules and segmentation so the business can keep running safely.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Balance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switch machines off immediately — you may destroy evidence stored in memory.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doors of the burning room first. Then investigate how the fire started.</a:t>
            </a:r>
            <a:endParaRPr lang="en-US" sz="12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127 · STEP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Eradication and Recovery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13 · Incident Response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Eradication removes the attacker. Recovery brings systems back to normal, safely.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Eradication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malware and attacker tools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accounts the attacker created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the weakness that was used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from clean backups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systems where needed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passwords and keys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Closely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restored systems for extra days. Attackers often try to come back the same way.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It Over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business is normal, the hole is closed, and monitoring shows no further activity.</a:t>
            </a:r>
            <a:endParaRPr lang="en-US" sz="12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128 · STEP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13 · Incident Response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incident the team meets to ask what happened and how to prevent it next time.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To Ask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they get in?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did detection take?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slowed us down?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well?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Blameless Culture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fixing the process, not on punishing a person. Blame makes people hide problems.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report plus a list of actions with owners and deadlines.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detection rules, better training, and a faster response the next time.</a:t>
            </a:r>
            <a:endParaRPr lang="en-US" sz="12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129 · FICTIONAL EXAMPLE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Ransomware Incident (Fictional)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13 · Incident Response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153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made-up company, "Sunrise Traders", is used to show the full journey. This is an example, not a real event.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68525" y="1874520"/>
            <a:ext cx="347472" cy="34747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68525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322576"/>
            <a:ext cx="309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Detect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779776"/>
            <a:ext cx="30946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staff member cannot open files. EDR alerts on mass encryption.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09034" y="2587752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20514" y="2048256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22112" y="1874520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22112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48530" y="2322576"/>
            <a:ext cx="309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Contain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48530" y="2779776"/>
            <a:ext cx="30946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laptop is isolated and the account disabled.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62621" y="2587752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4101" y="2048256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75698" y="1874520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75698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02117" y="2322576"/>
            <a:ext cx="309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Analyse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402117" y="2779776"/>
            <a:ext cx="30946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found: a fake invoice attachment.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822192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68525" y="364845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68525" y="3648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" y="4096512"/>
            <a:ext cx="309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Eradicate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" y="4553712"/>
            <a:ext cx="30946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removed, systems rebuilt, patches applied.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009034" y="4361688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20514" y="3822192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22112" y="3648456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22112" y="3648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48530" y="4096512"/>
            <a:ext cx="309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Recover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548530" y="4553712"/>
            <a:ext cx="30946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restored from offline backup. No ransom paid.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862621" y="4361688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74101" y="3822192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775698" y="3648456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775698" y="3648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402117" y="4096512"/>
            <a:ext cx="309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· Learn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402117" y="4553712"/>
            <a:ext cx="30946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filtering improved and staff training refreshed.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recovered because it had tested offline backups and a written plan ready before the attack.</a:t>
            </a:r>
            <a:endParaRPr lang="en-US" sz="13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13 · SLIDES 122–129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13 — Incident Response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13 · Incident Response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stage of the response lifecycle is: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Containment mainly aims to: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spread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new servers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the attacker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all logs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Restoring from clean backups happens during: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 meetings should be: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Blameless and improvement focused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punish staff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to save time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secret from IT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off a machine immediately can: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useful evidence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be the best step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all malware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the files</a:t>
            </a:r>
            <a:endParaRPr lang="en-US" sz="105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Backup, Disaster Recovery &amp; Continuity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organisations survive when systems fail, are destroyed, or are locked by ransomware.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Types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Recovery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Continuity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Security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14 · Backup, DR &amp; Business Continuity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155</a:t>
            </a:r>
            <a:endParaRPr lang="en-US" sz="95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130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Backup?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14 · Backup, DR &amp; Business Continuity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backup is an extra copy of your data, kept in a safe place, so you can restore it if the original is lost.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spare copy. If the first one breaks, you still have the second one.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3-2-1 Rule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copies of the data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different types of storage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copy kept off-site or offline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 is on the laptop, on an external drive, and in cloud storage. Losing the laptop loses nothing.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Mistake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backups but never testing a restore. An untested backup is only a hope.</a:t>
            </a:r>
            <a:endParaRPr lang="en-US" sz="12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131 · TYPES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Backup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14 · Backup, DR &amp; Business Continuity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157</a:t>
            </a:r>
            <a:endParaRPr lang="en-US" sz="950" dirty="0"/>
          </a:p>
        </p:txBody>
      </p:sp>
      <p:graphicFrame>
        <p:nvGraphicFramePr>
          <p:cNvPr id="1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2377440"/>
                <a:gridCol w="2462479"/>
              </a:tblGrid>
              <a:tr h="8833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Copies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 Speed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Restore Speed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</a:tr>
              <a:tr h="883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Everything, every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 — one copy needed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</a:tr>
              <a:tr h="883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changes since the last backup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— needs the full plus every increment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</a:tr>
              <a:tr h="883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changes since the last full backup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needs the full plus one differential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plan is a full backup on Sunday, then incremental or differential backups on the other days.</a:t>
            </a:r>
            <a:endParaRPr lang="en-US" sz="13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132 · WHY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Backups Matter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14 · Backup, DR &amp; Business Continuity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42262"/>
            <a:ext cx="512064" cy="512064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70278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591056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 protection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clean offline backup, you can restore instead of paying a ransom.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46156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622499"/>
            <a:ext cx="512064" cy="512064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50515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2571293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failure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Disks fail without warning. A backup turns a disaster into an inconvenience.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441802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602736"/>
            <a:ext cx="512064" cy="512064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7307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551530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mistakes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deletes the wrong folder. It happens in every organisation.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442203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582973"/>
            <a:ext cx="512064" cy="512064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10989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531766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disasters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Fire, flood or theft can destroy the building and everything inside it.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540227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5563210"/>
            <a:ext cx="512064" cy="512064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69122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54480" y="5512003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requirements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rules require records to be kept and recoverable for several years.</a:t>
            </a:r>
            <a:endParaRPr lang="en-US" sz="135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133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Recovery (DR)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14 · Backup, DR &amp; Business Continuity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 is the plan for bringing IT systems back after a major failure or disaster.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— Recovery Time Objective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quickly must the system be working again? For example, within 4 hours.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RPO — Recovery Point Objective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data can we afford to lose? For example, at most 1 hour of data.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Site Options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site — ready immediately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site — partly ready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site — space only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DR — pay as you use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must restore payments within one hour, so it keeps a hot standby site always running.</a:t>
            </a:r>
            <a:endParaRPr lang="en-US" sz="12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134 · COMPARE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Continuity vs Disaster Recovery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14 · Backup, DR &amp; Business Continuity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37360"/>
            <a:ext cx="530352" cy="530352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69948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91056" y="1737360"/>
            <a:ext cx="4047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Continuity (BCP)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505456"/>
            <a:ext cx="474253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whole business running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people, offices and processes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how do we serve customers today?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staff work from a backup office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0440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4760" y="1737360"/>
            <a:ext cx="530352" cy="530352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869948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4568" y="1737360"/>
            <a:ext cx="4047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Recovery (DR)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571336" y="2505456"/>
            <a:ext cx="474253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IT systems and data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servers, networks and applications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how do we get systems back?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restore servers at the DR site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is one important part inside the wider business continuity plan.</a:t>
            </a:r>
            <a:endParaRPr lang="en-US" sz="13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135 · PROTECTION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Security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14 · Backup, DR &amp; Business Continuity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one copy offline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encrypts everything it can reach, including connected backup drives.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backups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stolen backup tape or drive must not be readable by the thief.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 who can delete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separate credentials and MFA. Backup deletion is a favourite attacker action.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restores regularly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real restore test. Only a successful restore proves the backup works.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immutable storage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Write-once storage means backups cannot be changed or deleted for a set period.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 copy off-site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fire in one building should never destroy both the data and its backup.</a:t>
            </a:r>
            <a:endParaRPr lang="en-US" sz="135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136 · FICTIONAL EXAMPLE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Recovery Story (Fictional)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14 · Backup, DR &amp; Business Continuity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162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college, "Green Valley Institute", loses its student records server. This is an example scenario.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97808" y="2574036"/>
            <a:ext cx="347472" cy="34747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97808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server disk fails on a Monday morning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67600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9080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09960" y="2574036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09960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07096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activated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07096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 plan is opened and the team is called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79752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91232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22112" y="2574036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22112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19248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19248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full backup plus Monday incremental are restored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91904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03384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34263" y="257403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34263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631400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631400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check that recent records are present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404055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15535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546415" y="2574036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46415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943551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normal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943551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resumes within the 4-hour RTO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hour of data was lost, which matched the agreed RPO. Because expectations were set in advance, nobody was surprised.</a:t>
            </a:r>
            <a:endParaRPr lang="en-US" sz="13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14 · SLIDES 130–136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14 — Backup &amp; Recovery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14 · Backup, DR &amp; Business Continuity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3-2-1 rule says you should keep: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copies, 2 media, 1 off-site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passwords, 2 users, 1 admin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servers only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copy is enough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backup copies only the changes since the last backup?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RPO tells you: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data you can lose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the internet is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users exist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antivirus to buy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protection against ransomware is: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offline tested backup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faster CPU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RAM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screen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untested backup is risky because: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power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may fail when you restore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too fast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no space</a:t>
            </a:r>
            <a:endParaRPr lang="en-US" sz="105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Forensics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Finding, protecting and explaining digital evidence after an incident.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Forensics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Evidence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Forensic Process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Sources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of Custody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15 · Digital Forensics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164</a:t>
            </a:r>
            <a:endParaRPr lang="en-US" sz="95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137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Digital Forensics?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15 · Digital Forensics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 is the careful collection and study of digital evidence to find out exactly what happened.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detective work on computers. Every action leaves a trace, and forensics reads those traces.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It Answers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did it happen?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account or device was used?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was touched?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Does It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analysts in companies, in specialist firms, and in police cyber crime units.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Rule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must be handled so carefully that it can be trusted in a court of law.</a:t>
            </a:r>
            <a:endParaRPr lang="en-US" sz="12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138 · WHY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Digital Forensics is Important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15 · Digital Forensics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42262"/>
            <a:ext cx="512064" cy="512064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70278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591056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attack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close the door properly until you know exactly how the attacker came in.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46156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622499"/>
            <a:ext cx="512064" cy="512064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50515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2571293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legal action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Properly collected evidence allows a company to take a case to court.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441802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602736"/>
            <a:ext cx="512064" cy="512064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7307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551530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reporting duties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laws require a company to report what data was affected, and that needs proof.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442203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582973"/>
            <a:ext cx="512064" cy="512064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10989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531766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defences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findings become new detection rules and better controls.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540227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5563210"/>
            <a:ext cx="512064" cy="512064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69122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54480" y="5512003"/>
            <a:ext cx="979596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innocent people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evidence also shows when an accused person did not do it.</a:t>
            </a:r>
            <a:endParaRPr lang="en-US" sz="135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139 · EVIDENCE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Evidence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15 · Digital Forensics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evidence is any information stored or sent by a device that helps explain an event.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Evidence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and documents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records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and messages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and network captures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Volatile First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memory disappears when power is lost. Collect the most fragile evidence first.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Unchanged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a copy, and use hashes to prove the copy is identical to the original.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Of Custody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who handled the evidence, when, and why — from collection to the courtroom.</a:t>
            </a:r>
            <a:endParaRPr lang="en-US" sz="12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140 · PROCESS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Digital Forensics Process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15 · Digital Forensics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97808" y="2290572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97808" y="22905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2738628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195828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which devices and data matter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67600" y="31912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9080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09960" y="2290572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09960" y="22905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07096" y="2738628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007096" y="3195828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copies using approved methods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79752" y="31912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91232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22112" y="229057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22112" y="22905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19248" y="2738628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19248" y="3195828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and store securely, work on copies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91904" y="31912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03384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4263" y="229057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34263" y="22905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631400" y="2738628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631400" y="3195828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timeline of what happened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404055" y="31912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15535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546415" y="2290572"/>
            <a:ext cx="347472" cy="34747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46415" y="22905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943551" y="2738628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943551" y="3195828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findings clearly and simply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investigate on the original device. One careless click can change timestamps and destroy the evidence.</a:t>
            </a:r>
            <a:endParaRPr lang="en-US" sz="13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141 · SOURCES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Sources of Digital Evidence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15 · Digital Forensics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disk contents, deleted file remains, browser history and running memory.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Messages, call records, app data, photos and location history.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Server, firewall, application and authentication logs with exact timestamps.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Systems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activity records, storage access logs and administrative changes.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Devices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and firewall records showing which connections were made.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Media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drives and external disks, including which machines they were plugged into.</a:t>
            </a:r>
            <a:endParaRPr lang="en-US" sz="13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15 · SLIDES 137–141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15 — Digital Forensics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15 · Digital Forensics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forensics mainly aims to: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software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what really happened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up computers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new apps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correct order of the process starts with: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of custody records: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handled the evidence and when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of the device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Wi-Fi password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size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Investigators should analyse: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device directly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copy of the data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printed pages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at all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evidence disappears fastest?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memory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on disk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reports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tapes</a:t>
            </a:r>
            <a:endParaRPr lang="en-US" sz="105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Penetration Testing &amp; Ethical Hacking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your own defences legally, safely and with written permission.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Hacking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Penetration Testing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Lifecycle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Rules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Red, Blue, Purple Teams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16 · Penetration Testing &amp; Ethical Hacking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171</a:t>
            </a:r>
            <a:endParaRPr lang="en-US" sz="95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142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Ethical Hacking?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16 · Penetration Testing &amp; Ethical Hacking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means testing systems for weaknesses with written permission, in order to fix them.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think like an attacker, but you work for the defender and you report everything you find.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Rules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authorization first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inside the agreed scope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findings responsibly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hires a locksmith to test its locks. The locksmith has a signed contract before touching any door.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Important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 system without permission is illegal, even if your intention is good and you cause no damage.</a:t>
            </a:r>
            <a:endParaRPr lang="en-US" sz="12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143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Penetration Testing?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16 · Penetration Testing &amp; Ethical Hacking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penetration test is an authorised, time-limited project in which experts try to break into a system to find real weaknesses.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Produces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 listing each weakness, how serious it is, and exactly how to fix it.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Levels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 — no information given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box — partial information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box — full access and code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 Test vs Vulnerability Scan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scan is automatic and lists possible issues. A pen test adds human skill to confirm real impact.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Often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once a year, and again after any large change to the system.</a:t>
            </a:r>
            <a:endParaRPr lang="en-US" sz="12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144 · COMPARE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Hacker vs Malicious Hacker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16 · Penetration Testing &amp; Ethical Hacking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37360"/>
            <a:ext cx="530352" cy="530352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69948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91056" y="1737360"/>
            <a:ext cx="4047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Hacker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505456"/>
            <a:ext cx="474253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permission at all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is money, damage or theft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actions and deletes logs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or sells what is found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are criminal offences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0440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4760" y="1737360"/>
            <a:ext cx="530352" cy="530352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869948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4568" y="1737360"/>
            <a:ext cx="4047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Hacker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571336" y="2505456"/>
            <a:ext cx="474253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permission before starting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is to help the owner improve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 action carefully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findings privately to the owner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under a legal contract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knowledge can be similar. Permission, intention and reporting are what make the difference.</a:t>
            </a:r>
            <a:endParaRPr lang="en-US" sz="13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145 ·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Penetration Testing Lifecycle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16 · Penetration Testing &amp; Ethical Hacking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68525" y="1307592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68525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1755648"/>
            <a:ext cx="309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212848"/>
            <a:ext cx="30946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scope, rules and written permission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09034" y="21625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0514" y="14813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22112" y="1307592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22112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48530" y="1755648"/>
            <a:ext cx="309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Reconnaissance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48530" y="2212848"/>
            <a:ext cx="30946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public information about the target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862621" y="21625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4101" y="14813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775698" y="130759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75698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02117" y="1755648"/>
            <a:ext cx="309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402117" y="2212848"/>
            <a:ext cx="30946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weaknesses in the agreed systems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5387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68525" y="336499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068525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" y="3813048"/>
            <a:ext cx="309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" y="4270248"/>
            <a:ext cx="30946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the real business impact of each finding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009034" y="42199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20514" y="35387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22112" y="3364992"/>
            <a:ext cx="347472" cy="34747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22112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48530" y="3813048"/>
            <a:ext cx="309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48530" y="4270248"/>
            <a:ext cx="30946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findings and give clear fixes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862621" y="42199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74101" y="35387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775698" y="3364992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775698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402117" y="3813048"/>
            <a:ext cx="3094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402117" y="4270248"/>
            <a:ext cx="30946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fixes issues and a retest confirms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starts before the planning stage is signed. The signed scope document is what makes the work legal.</a:t>
            </a:r>
            <a:endParaRPr lang="en-US" sz="13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146 · COVERAGE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Security Testing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16 · Penetration Testing &amp; Ethical Hacking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 Testing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login, access control, input handling and session management in websites.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Testing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for exposed services, weak configuration and unpatched systems.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Testing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authentication, authorisation and data exposure in application interfaces.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Testing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app storage, permissions and communication with servers.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Testing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IAM permissions, storage settings and network rules in the cloud account.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Engineering Testing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phishing to measure awareness — always agreed with management first.</a:t>
            </a:r>
            <a:endParaRPr lang="en-US" sz="13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147 · LEGAL AND SAFE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and Authorization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16 · Penetration Testing &amp; Ethical Hacking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written permission first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approval is never enough. The document must name systems, dates and contacts.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inside the scope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system is not listed in the document, you do not touch it.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the agreed time window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outside agreed hours can disrupt real business operations.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data you see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copy real customer data. Record only what is needed to prove the issue.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Practise in a safe lab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own virtual machines or legal training platforms — never a random public website.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responsibly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findings to the owner privately and allow time for a fix before any disclosure.</a:t>
            </a:r>
            <a:endParaRPr lang="en-US" sz="135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148 · TEAMS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vs Blue Team vs Purple Team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16 · Penetration Testing &amp; Ethical Hacking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exercises use colour names for the attacking side, the defending side, and the team that joins them.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3621024"/>
          </a:xfrm>
          <a:prstGeom prst="roundRect">
            <a:avLst>
              <a:gd name="adj" fmla="val 20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71216"/>
            <a:ext cx="566928" cy="566928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3012948"/>
            <a:ext cx="283464" cy="28346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609344" y="2871216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639312"/>
            <a:ext cx="295442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the attacker. Simulates realistic attacks to test whether defences actually work.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3621024"/>
          </a:xfrm>
          <a:prstGeom prst="roundRect">
            <a:avLst>
              <a:gd name="adj" fmla="val 20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71216"/>
            <a:ext cx="566928" cy="566928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3012948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386730" y="2871216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Team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639312"/>
            <a:ext cx="295442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Defends. Monitors, detects, responds and hardens the systems every day.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3621024"/>
          </a:xfrm>
          <a:prstGeom prst="roundRect">
            <a:avLst>
              <a:gd name="adj" fmla="val 20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71216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3012948"/>
            <a:ext cx="283464" cy="28346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164117" y="2871216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Team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639312"/>
            <a:ext cx="295442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both sides together so every attack technique becomes a new detection rule.</a:t>
            </a:r>
            <a:endParaRPr lang="en-US" sz="13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16 · SLIDES 142–148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16 — Ethical Hacking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16 · Penetration Testing &amp; Ethical Hacking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hacking always requires: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permission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computer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website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access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useful output of a pen test is: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 with fixes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deleted database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password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firewall purchase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 that defends systems is the: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team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team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with no information about the target is: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box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box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box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should practise hacking skills: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any public site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their own lab or legal platforms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college servers secretly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friend phone</a:t>
            </a:r>
            <a:endParaRPr lang="en-US" sz="105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Governance, Risk &amp; Compliance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rules, decisions and checks that keep security organised and provable.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GRC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Policies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Auditing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Training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17 · Governance, Risk &amp; Compliance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</a:t>
            </a:r>
            <a:endParaRPr lang="en-US" sz="95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149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GRC?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17 · Governance, Risk &amp; Compliance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stands for Governance, Risk and Compliance — the management side of cybersecurity.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3621024"/>
          </a:xfrm>
          <a:prstGeom prst="roundRect">
            <a:avLst>
              <a:gd name="adj" fmla="val 20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71216"/>
            <a:ext cx="566928" cy="566928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3012948"/>
            <a:ext cx="283464" cy="28346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609344" y="2871216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639312"/>
            <a:ext cx="295442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decides the rules, who is responsible, and how security is directed from the top.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3621024"/>
          </a:xfrm>
          <a:prstGeom prst="roundRect">
            <a:avLst>
              <a:gd name="adj" fmla="val 20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71216"/>
            <a:ext cx="566928" cy="566928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3012948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386730" y="2871216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639312"/>
            <a:ext cx="295442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what could go wrong, how bad it would be, and deciding what to do about it.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3621024"/>
          </a:xfrm>
          <a:prstGeom prst="roundRect">
            <a:avLst>
              <a:gd name="adj" fmla="val 20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71216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3012948"/>
            <a:ext cx="283464" cy="28346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164117" y="2871216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639312"/>
            <a:ext cx="295442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that the organisation follows the laws, contracts and standards that apply to it.</a:t>
            </a:r>
            <a:endParaRPr lang="en-US" sz="13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150 · RULES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Policies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17 · Governance, Risk &amp; Compliance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policy is a written rule that says what people in the organisation must and must not do.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Policies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use policy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and access policy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 policy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reporting policy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They Matter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set clear expectations, so nobody has to guess what is allowed.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acceptable use policy states that company laptops must not be used to download pirated software.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Policy Qualities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and readable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by management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communicated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every year</a:t>
            </a:r>
            <a:endParaRPr lang="en-US" sz="95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151 · PROCESS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17 · Governance, Risk &amp; Compliance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183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is a repeating cycle, not a one-time activity.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86827" y="2574036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86827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assets and what could threaten them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45638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711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77017" y="2574036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77017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85134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85134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likelihood and impact of each risk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35828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730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67207" y="2574036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67207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75324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75324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Reduce, transfer, avoid or accept the risk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826017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7497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57396" y="257403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57396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365513" y="30220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365513" y="3479292"/>
            <a:ext cx="21312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and review as things change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never remove all risk. The goal is to bring risk down to a level the organisation accepts knowingly.</a:t>
            </a:r>
            <a:endParaRPr lang="en-US" sz="13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152 · CHECKING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Auditing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17 · Governance, Risk &amp; Compliance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is an independent check that controls exist, work correctly, and are actually followed.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Auditors Look At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and records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access lists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configuration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monitoring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vs External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audits are run by your own team. External audits are run by an independent organisation.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Finding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accounts belong to employees who left the company six months ago and were never removed.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Attitude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is not an exam to fear. It is a free review that shows where you are exposed.</a:t>
            </a:r>
            <a:endParaRPr lang="en-US" sz="12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153 · RULES AND LAW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17 · Governance, Risk &amp; Compliance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means following the laws, regulations, contracts and standards that apply to your organisation.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Organisations Comply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requirement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contracts demand it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heavy fines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trust in the market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Examples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card rules for shops, health data rules for hospitals, and privacy laws for personal data.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 is a well-known international standard for information security management systems.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Idea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the minimum, not the maximum. A compliant company can still be attacked successfully.</a:t>
            </a:r>
            <a:endParaRPr lang="en-US" sz="12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154 · PEOPLE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Awareness Training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17 · Governance, Risk &amp; Compliance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needed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alone cannot stop an employee from giving away a password.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phishing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test emails show who needs more help, without any blame.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and regular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focused minutes every month works far better than four hours once a year.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practical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real examples staff will actually meet: fake invoices, OTP calls, fake job offers.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reporting habits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 people who report suspicious messages, even when it turns out to be nothing.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improvement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reporting rates and click rates over time to prove the training works.</a:t>
            </a:r>
            <a:endParaRPr lang="en-US" sz="135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17 · SLIDES 149–154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17 — Governance, Risk &amp; Compliance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17 · Governance, Risk &amp; Compliance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GRC stands for: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Risk, Compliance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Router Control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Risk Coding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Recovery Centre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security policy is: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rule for staff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of firewall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backup tape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cable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ways to treat risk include: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Reduce, transfer, avoid, accept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Delete, hide, ignore, deny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Buy, sell, rent, lease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Copy, paste, cut, save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audit mainly checks that: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work and are followed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 looks clean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work overtime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is colourful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should be seen as the: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possible security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required level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encryption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all risk</a:t>
            </a:r>
            <a:endParaRPr lang="en-US" sz="105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security model: never trust automatically, always verify.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Zero Trust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Model vs New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Example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&amp; Challenges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18 · Zero Trust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188</a:t>
            </a:r>
            <a:endParaRPr lang="en-US" sz="95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155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Zero Trust?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18 · Zero Trust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is a security model that says: never trust any user or device automatically, always verify first.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Idea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inside the office network is not proof that you are safe. Every request must be checked.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hotel keycard opens only your room, and it is checked at every door — not only at the main gate.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Gets Verified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user?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device healthy?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request normal?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access still needed?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Appeared Now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and cloud services removed the clear network boundary that old designs relied on.</a:t>
            </a:r>
            <a:endParaRPr lang="en-US" sz="12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156 · COMPARE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Security vs Zero Trust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18 · Zero Trust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37360"/>
            <a:ext cx="530352" cy="530352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69948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91056" y="1737360"/>
            <a:ext cx="4047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"Castle and Moat"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505456"/>
            <a:ext cx="474253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wall around the network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is trusted, outside is not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VPN login gives broad access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inside can move freely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poorly with cloud and remote work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0440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4760" y="1737360"/>
            <a:ext cx="530352" cy="530352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869948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4568" y="1737360"/>
            <a:ext cx="4047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571336" y="2505456"/>
            <a:ext cx="474253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trust anywhere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is verified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per application, not per network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movement is limited by design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cloud, mobile and remote work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does not replace firewalls. It adds identity and context checks at every step inside as well.</a:t>
            </a:r>
            <a:endParaRPr lang="en-US" sz="13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157 · PRINCIPLES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Zero Trust Principles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18 · Zero Trust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Explicitly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identity, device health, location and behaviour for every request.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 Access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smallest access needed, and only for as long as it is needed.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Breach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as if an attacker is already inside, so damage stays contained.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Micro-Segmentation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systems into small zones so one compromise does not reach everything.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Monitoring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not permanent. Re-check during the session, not only at login.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Everywhere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traffic even inside your own network, not only on the internet.</a:t>
            </a:r>
            <a:endParaRPr lang="en-US" sz="13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158 · EXAMPLE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— A Simple Example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18 · Zero Trust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tries to open the company payroll application from a cafe.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97808" y="2574036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97808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check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plus MFA are verified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67600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9080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09960" y="2574036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09960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07096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check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07096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laptop managed, encrypted and updated?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79752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91232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22112" y="2574036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22112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19248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check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19248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country at 3 AM raises the risk score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91904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03384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34263" y="2574036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34263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631400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631400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Allow, ask for more proof, or block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404055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15535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546415" y="2574036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46415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943551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access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943551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payroll opens — not the whole network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after access is granted, activity keeps being monitored and access can be withdrawn at any moment.</a:t>
            </a:r>
            <a:endParaRPr lang="en-US" sz="13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159 · REALITY CHECK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— Benefits and Challenges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18 · Zero Trust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37360"/>
            <a:ext cx="530352" cy="530352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69948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91056" y="1737360"/>
            <a:ext cx="4047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505456"/>
            <a:ext cx="474253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passwords alone are not enough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cannot move freely inside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naturally with cloud and remote work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visibility of who accessed what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can be removed instantly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0440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4760" y="1737360"/>
            <a:ext cx="530352" cy="530352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869948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4568" y="1737360"/>
            <a:ext cx="4047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571336" y="2505456"/>
            <a:ext cx="474253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journey, not a product you buy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legacy systems are hard to include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accurate identity data to work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design can annoy users with prompts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planning, budget and time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organisations adopt Zero Trust step by step, usually starting with MFA and strong identity management.</a:t>
            </a:r>
            <a:endParaRPr lang="en-US" sz="13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18 · SLIDES 155–159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18 — Zero Trust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18 · Zero Trust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is best described as: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everyone inside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trust, always verify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passwords needed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use firewalls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traditional model is often called: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Castle and moat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first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door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only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breach means: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as if attackers are inside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all alerts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using MFA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all logs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Micro-segmentation helps by: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Limiting attacker movement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Wi-Fi range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electricity use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 printing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Zero Trust, access decisions are: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once at login only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re-checked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made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office location only</a:t>
            </a:r>
            <a:endParaRPr lang="en-US" sz="105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Frameworks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structures that tell organisations what good security looks like.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Framework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CSF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ATT&amp;CK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19 · Cybersecurity Frameworks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195</a:t>
            </a:r>
            <a:endParaRPr lang="en-US" sz="95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160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Cybersecurity Framework?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19 · Cybersecurity Frameworks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is an organised set of guidelines that helps an organisation build and measure its security.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checklist and a structure written by experts, so you do not have to invent security from zero.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Gives You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language for teams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what to cover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to measure progress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with customers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syllabus for a subject. It tells you which topics must be covered and in what order.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Used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compare their current state with the framework, find gaps, and plan improvements.</a:t>
            </a:r>
            <a:endParaRPr lang="en-US" sz="12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161 · FRAMEWORK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Cybersecurity Framework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19 · Cybersecurity Frameworks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widely used framework built around simple, memorable functions.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97808" y="2574036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97808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assets, data and risks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67600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9080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09960" y="2574036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09960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07096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07096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controls in place to prevent harm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79752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91232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22112" y="2574036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22112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19248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19248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events quickly with monitoring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91904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03384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34263" y="257403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34263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631400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631400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to contain and manage an incident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404055" y="3474720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15535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546415" y="2574036"/>
            <a:ext cx="347472" cy="34747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46415" y="25740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943551" y="3022092"/>
            <a:ext cx="155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943551" y="3479292"/>
            <a:ext cx="155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services and learn from it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five functions cover the complete life of a security programme. Version 2.0 also adds a Govern function around them.</a:t>
            </a:r>
            <a:endParaRPr lang="en-US" sz="13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162 · FRAMEWORK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ATT&amp;CK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19 · Cybersecurity Frameworks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is a free public knowledge base describing the tactics and techniques that real attackers use.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Organised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Tactics are the attacker goals, such as gaining access. Techniques are the specific ways they achieve them.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Defenders Use It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which techniques they can detect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gaps in monitoring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red team exercises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incidents in a common language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Powerful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lets two different teams describe the same attack behaviour using exactly the same words.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Tip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 the ATT&amp;CK matrix is one of the best free ways to understand how real attacks unfold.</a:t>
            </a:r>
            <a:endParaRPr lang="en-US" sz="12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163 · FRAMEWORK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in Application Security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19 · Cybersecurity Frameworks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focuses specifically on making web applications and software safer.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known list of the most critical web application risks, used by developers worldwide.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Guides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guides that help testers check an application thoroughly.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Cheat Sheets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practical pages showing the safe way to handle input, sessions and passwords.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Driven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 and maintained by volunteers from across the industry.</a:t>
            </a:r>
            <a:endParaRPr lang="en-US" sz="12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164 · COMPARE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Framework Comparison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19 · Cybersecurity Frameworks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950" dirty="0"/>
          </a:p>
        </p:txBody>
      </p:sp>
      <p:graphicFrame>
        <p:nvGraphicFramePr>
          <p:cNvPr id="20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017520"/>
                <a:gridCol w="3200400"/>
                <a:gridCol w="2462479"/>
              </a:tblGrid>
              <a:tr h="5888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Focus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Used For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Uses 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08A"/>
                    </a:solidFill>
                  </a:tcPr>
                </a:tc>
              </a:tr>
              <a:tr h="5888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CSF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security programme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Organising and measuring maturity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and security leads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</a:tr>
              <a:tr h="5888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MITRE ATT&amp;CK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Attacker behaviour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coverage and threat hunting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analysts and red teams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</a:tr>
              <a:tr h="5888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security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and testing safer software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Developers and app testers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</a:tr>
              <a:tr h="5888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ISO/IEC 27001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certification and audits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Companies and auditors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4"/>
                    </a:solidFill>
                  </a:tcPr>
                </a:tc>
              </a:tr>
              <a:tr h="5888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Controls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priority actions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Knowing what to do first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C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and medium IT teams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1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frameworks work together. A company can follow NIST overall, use ATT&amp;CK in the SOC, and give OWASP to developers.</a:t>
            </a:r>
            <a:endParaRPr lang="en-US" sz="13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19 · SLIDES 160–164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19 — Cybersecurity Frameworks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19 · Cybersecurity Frameworks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core NIST CSF functions include: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Protect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and Sell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and Scan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and Paste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ATT&amp;CK mainly describes: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tactics and techniques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 drivers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cable types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furniture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focuses mainly on: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repair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rules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cabling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framework is useful because it gives: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 and common language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hardware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Wi-Fi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immunity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framework is used for formal certification?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Controls</a:t>
            </a:r>
            <a:endParaRPr lang="en-US" sz="105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Applications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ideas in this course are used in real industries every day.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&amp; Healthcare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&amp; E-Commerce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&amp; Cloud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&amp; Mobile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&amp; Daily Life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20 · Cybersecurity Applications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</a:t>
            </a:r>
            <a:endParaRPr lang="en-US" sz="95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165 · INDUSTRY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in Banking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20 · Cybersecurity Applications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protect money, identity and trust — so they use some of the strongest controls anywhere.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Protected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balances, transactions, card data and customer identity documents.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Used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and OTP for every payment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 transit and at rest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systems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24x7 SOC monitoring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Threats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Phishing, fake banking apps, card fraud, insider misuse and ATM tampering.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For Customers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official app, never share OTP, and check statements regularly.</a:t>
            </a:r>
            <a:endParaRPr lang="en-US" sz="120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166 · INDUSTRY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in Healthcare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20 · Cybersecurity Applications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protect patient records and medical devices — here security failures can affect human life.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Protected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records, prescriptions, test results and connected medical equipment.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Availability Is Critical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systems stop during an emergency, treatment is delayed. Uptime is a safety issue.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Threats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Ransomware, old unpatched devices, and staff sharing logins during busy shifts.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Controls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 for devices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access control per role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backups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awareness training</a:t>
            </a:r>
            <a:endParaRPr lang="en-US" sz="95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167 · INDUSTRY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in Education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20 · Cybersecurity Applications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and colleges protect student data, exam systems and online learning platforms.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Protected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records, marks, fee payments and research work.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Threats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of student accounts, exam result tampering, and shared or weak passwords.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Challenge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young users, many personal devices, and open campus networks.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Controls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on student email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guest Wi-Fi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to marks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awareness sessions</a:t>
            </a:r>
            <a:endParaRPr lang="en-US" sz="95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168 · INDUSTRY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in E-Commerce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20 · Cybersecurity Applications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shops protect payments, customer accounts and product availability.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Protected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and payment data, delivery addresses, order history and the website itself.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Threats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shopping sites, credential stuffing on accounts, payment skimming scripts and DDoS during sales.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Controls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everywhere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tokenisation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and fraud detection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third-party script control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For Shoppers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domain name carefully and avoid deals that arrive by unexpected SMS links.</a:t>
            </a:r>
            <a:endParaRPr lang="en-US" sz="1200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169 · INDUSTRY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in Government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20 · Cybersecurity Applications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protect citizen data and the public services that everyone depends 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Protected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identity records, tax data, land records and critical infrastructure systems.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Threats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Nation-state espionage, hacktivism, ransomware on public services and misinformation campaigns.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Controls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classification of data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and isolated networks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CERT coordination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audits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Infrastructure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Power, water and transport systems need special protection because failures affect daily life.</a:t>
            </a:r>
            <a:endParaRPr lang="en-US" sz="120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170 · INDUSTRY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in Cloud Computing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20 · Cybersecurity Applications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industry now runs on cloud platforms, so cloud security skills are needed everywhere.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Protected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accounts, storage buckets, virtual servers, containers and the data inside them.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Risk Area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configuration. Most cloud incidents come from wrong permissions or public storage.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Responsibility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secures the platform. The customer secures data, access and configuration.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Note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is one of the fastest growing and best paid areas for new professionals.</a:t>
            </a:r>
            <a:endParaRPr lang="en-US" sz="120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171 · INDUSTRY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in IoT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20 · Cybersecurity Applications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means everyday objects connected to the internet — cameras, TVs, watches and sensors.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IoT Is Risky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devices ship with default passwords, rarely get updates, and are forgotten after installation.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Problems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admin passwords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encryption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update mechanism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directly to the internet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Impact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IoT devices are commonly recruited into botnets used for large DDoS attacks.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Steps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default passwords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IoT on a separate network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firmware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features you do not use</a:t>
            </a:r>
            <a:endParaRPr lang="en-US" sz="95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172 · INDUSTRY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in Mobile Applications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20 · Cybersecurity Applications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 hold personal data and payment access, so they need protection on the device and on the server.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Device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as little as possible, encrypt what you must store, and never keep secrets in plain text.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Network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HTTPS and verify the certificate properly.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Server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is only a front door — every permission must be checked again on the server.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Side Risks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apps, side-loaded APKs and apps that ask for far more permissions than they need.</a:t>
            </a:r>
            <a:endParaRPr lang="en-US" sz="1200" dirty="0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173 · INDUSTRY 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in Social Media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20 · Cybersecurity Applications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accounts carry your identity and reputation, which makes them a common target.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Attackers Want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takeover to scam your contacts, or personal details to help other attacks.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Oversharing Risk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Birthdays, school names and pet names are also common security answers and password hints.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Profiles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Cloned accounts of friends are used to request money or to build trust before an attack.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Steps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MFA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privacy settings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active login sessions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posting personal details</a:t>
            </a:r>
            <a:endParaRPr lang="en-US" sz="950" dirty="0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174 · EVERYDAY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in Everyday Life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20 · Cybersecurity Applications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your phone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lock, app updates and permission checks protect you every single day.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home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router password and a separate guest network keep your home devices safer.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money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OTP, transaction alerts and checking the payee name prevent most common frauds.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inbox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Pausing for five seconds before clicking is the cheapest security control that exists.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college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passwords and MFA protect your email, which protects everything else.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family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parents about OTP scams protects them more than any software can.</a:t>
            </a:r>
            <a:endParaRPr lang="en-US" sz="1350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 20 · SLIDES 165–174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20 — Cybersecurity Applications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20 · Cybersecurity Applications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hospitals, availability matters because: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can affect patient care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look better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saves electricity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speeds up printing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cloud security incidents are caused by: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hardware failure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configuration mistakes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internet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monitors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common IoT weakness is: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passwords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encryption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 updates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MFA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Oversharing on social media can help attackers to: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security answers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your Wi-Fi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phishing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your phone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e-commerce, HTTPS mainly protects: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sent to the site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speed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stock</a:t>
            </a:r>
            <a:endParaRPr lang="en-US" sz="1050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Careers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jobs in this field, what each one does, and how to prepare for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Overview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Analyst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Roles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Roles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Roadmap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21 · Cybersecurity Careers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214</a:t>
            </a:r>
            <a:endParaRPr lang="en-US" sz="950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175 ·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Career Overview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21 · Cybersecurity Careers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is not one job. It is a large family of roles for different interests and strengths.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 Roles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analyst, incident responder, security engineer. You protect and respond.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Offensive Roles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tester, red teamer. You test defences with permission.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Roles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analyst, auditor, policy specialist. You organise and prove security.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Roles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security, application security, forensics, threat intelligence.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News For Beginners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to be a coding expert to start. Curiosity and consistency matter most.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industry now needs security people, so skills transfer easily between sectors.</a:t>
            </a:r>
            <a:endParaRPr lang="en-US" sz="1200" dirty="0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176 · ROLE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Analyst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21 · Cybersecurity Careers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 analyst watches alerts and investigates suspicious activity. This is the most common entry-level role.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Work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alerts, check logs, decide real or false alarm, escalate serious cases.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SIEM, EDR, ticketing systems, threat intelligence feeds.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Needed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basics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basics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reading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written English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Leads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analyst, threat hunter, incident responder or detection engineer.</a:t>
            </a:r>
            <a:endParaRPr lang="en-US" sz="1200" dirty="0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177 · ROLE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Engineer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21 · Cybersecurity Careers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engineer builds and maintains the tools and controls that protect the organisation.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Work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firewalls, deploy endpoint tools, automate tasks, harden systems.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Needed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and systems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such as Python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basics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mindset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operations, developers and the SOC team.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Leads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architect, cloud security engineer or platform security lead.</a:t>
            </a:r>
            <a:endParaRPr lang="en-US" sz="1200" dirty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178 · ROLE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Penetration Tester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21 · Cybersecurity Careers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penetration tester legally attacks systems to find weaknesses before criminals do.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Work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the test, find weaknesses, prove impact safely, and write a clear report.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Needed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and network knowledge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comfort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report writing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Non-Negotiable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work with written authorization and inside the agreed scope.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Leads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pen tester, red team operator or application security specialist.</a:t>
            </a:r>
            <a:endParaRPr lang="en-US" sz="1200" dirty="0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179 · ROLE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Responder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21 · Cybersecurity Careers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incident responder leads the reaction when a real attack is confirmed.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Work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the incident, investigate the scope, coordinate recovery and write the report.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Needed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under pressure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 basics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analysis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communication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SOC, IT, legal, management and sometimes external experts.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 Of The Job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urgent and occasionally out of hours, but very rewarding and highly valued.</a:t>
            </a:r>
            <a:endParaRPr lang="en-US" sz="1200" dirty="0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180 · ROLE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Forensics Analyst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21 · Cybersecurity Careers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forensics analyst examines devices and data to reconstruct exactly what happened.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Work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disks, recover deleted data, build timelines and document findings.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Needed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knowledge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handling discipline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to detail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writing for non-experts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Work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companies, consulting firms, law enforcement and legal support services.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Quality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Patience. Good forensics is slow, careful and methodical work.</a:t>
            </a:r>
            <a:endParaRPr lang="en-US" sz="1200" dirty="0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181 · ROLE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Security Engineer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21 · Cybersecurity Careers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security engineer secures systems running on AWS, Azure or Google Cloud.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Work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IAM permissions, secure networks and storage, monitor cloud logs, fix misconfigurations.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Needed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cloud platform in depth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and networking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and scripting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Hot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company is moving to cloud, and skilled cloud security people are in short supply.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Leads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architect or DevSecOps engineer.</a:t>
            </a:r>
            <a:endParaRPr lang="en-US" sz="1200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182 · ROLE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Security Engineer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21 · Cybersecurity Careers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AppSec engineer helps developers write and ship safer software.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Work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code and design, run security scans, triage findings and coach developers.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Needed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basics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knowledge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modelling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people skills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developers as a partner, not as a blocker who only says no.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Leads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security lead or DevSecOps specialist.</a:t>
            </a:r>
            <a:endParaRPr lang="en-US" sz="1200" dirty="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183 · ROLE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GRC Analyst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21 · Cybersecurity Careers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GRC analyst makes sure security is organised, documented and provable.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Work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policies, run risk assessments, prepare audits and track compliance evidence.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Needed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such as ISO 27001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thinking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writing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and follow-up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Suits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like structure, documentation and working with many teams — less hands-on technical work.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Leads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manager, compliance lead or security programme manager.</a:t>
            </a:r>
            <a:endParaRPr lang="en-US" sz="1200" dirty="0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184 · 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Skills Roadmap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21 · Cybersecurity Careers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86827" y="1307592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86827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175564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Basics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212848"/>
            <a:ext cx="21312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files, operating systems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45638" y="21625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7118" y="14813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77017" y="1307592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77017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85134" y="175564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85134" y="2212848"/>
            <a:ext cx="21312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IP, DNS, ports, HTTP, firewalls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35828" y="21625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47308" y="14813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67207" y="130759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67207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75324" y="175564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75324" y="2212848"/>
            <a:ext cx="21312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line, users, permissions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26017" y="21625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7497" y="14813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257396" y="130759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57396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65513" y="175564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Fundamentals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365513" y="2212848"/>
            <a:ext cx="21312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CIA, AAA, threats, cryptography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012023" y="35387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031922" y="3364992"/>
            <a:ext cx="347472" cy="34747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31922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140039" y="381304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/ Web Security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2140039" y="4270248"/>
            <a:ext cx="21312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cloud platform, OWASP Top 10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490733" y="42199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02213" y="35387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22112" y="3364992"/>
            <a:ext cx="347472" cy="347472"/>
          </a:xfrm>
          <a:prstGeom prst="ellipse">
            <a:avLst/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22112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030229" y="381304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/ Defence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030229" y="4270248"/>
            <a:ext cx="21312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SIEM, detection, response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380923" y="4219956"/>
            <a:ext cx="320040" cy="237744"/>
          </a:xfrm>
          <a:prstGeom prst="rightArrow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92403" y="35387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21D31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812301" y="3364992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812301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7920419" y="3813048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Specialisation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920419" y="4270248"/>
            <a:ext cx="21312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testing, cloud, forensics, AppSec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order. Skipping networking and Linux is the most common reason beginners get stuck later.</a:t>
            </a:r>
            <a:endParaRPr lang="en-US" sz="1300" dirty="0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185 · ACTION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Cybersecurity Learning Roadmap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21 · Cybersecurity Careers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12-month plan for a student starting from zero.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1–3 · Foundations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basics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 line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web works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fundamentals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4–6 · Practise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home lab with virtual machines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free legal practice platforms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basic Python scripting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7–9 · Go Deeper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analysis and SIEM basics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cloud platform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hands-on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10–12 · Get Job Ready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specialisation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an entry-level certification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up your lab projects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interview explanations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Year · Community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security news, join local groups or online communities, and learn in public.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Important Advice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beats speed. One focused hour every day for a year will take you very far.</a:t>
            </a:r>
            <a:endParaRPr lang="en-US" sz="1200" dirty="0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Revision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the whole course together before the final knowledge check.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Mind Map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25 Terms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25 Safety Tips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Do's and Don'ts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Knowledge Check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226</a:t>
            </a:r>
            <a:endParaRPr lang="en-US" sz="950" dirty="0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186 · BIG PICTURE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Mind Map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584448" y="1890979"/>
            <a:ext cx="2511400" cy="1967789"/>
          </a:xfrm>
          <a:prstGeom prst="line">
            <a:avLst/>
          </a:prstGeom>
          <a:noFill/>
          <a:ln w="19050">
            <a:solidFill>
              <a:srgbClr val="223554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 flipH="1">
            <a:off x="6095848" y="1890979"/>
            <a:ext cx="2511400" cy="1967789"/>
          </a:xfrm>
          <a:prstGeom prst="line">
            <a:avLst/>
          </a:prstGeom>
          <a:noFill/>
          <a:ln w="19050">
            <a:solidFill>
              <a:srgbClr val="223554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3584448" y="2874874"/>
            <a:ext cx="2511400" cy="983894"/>
          </a:xfrm>
          <a:prstGeom prst="line">
            <a:avLst/>
          </a:prstGeom>
          <a:noFill/>
          <a:ln w="19050">
            <a:solidFill>
              <a:srgbClr val="223554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 flipH="1">
            <a:off x="6095848" y="2874874"/>
            <a:ext cx="2511400" cy="983894"/>
          </a:xfrm>
          <a:prstGeom prst="line">
            <a:avLst/>
          </a:prstGeom>
          <a:noFill/>
          <a:ln w="19050">
            <a:solidFill>
              <a:srgbClr val="223554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3584448" y="3858768"/>
            <a:ext cx="2511400" cy="0"/>
          </a:xfrm>
          <a:prstGeom prst="line">
            <a:avLst/>
          </a:prstGeom>
          <a:noFill/>
          <a:ln w="19050">
            <a:solidFill>
              <a:srgbClr val="223554"/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 flipH="1">
            <a:off x="6095848" y="3858768"/>
            <a:ext cx="2511400" cy="0"/>
          </a:xfrm>
          <a:prstGeom prst="line">
            <a:avLst/>
          </a:prstGeom>
          <a:noFill/>
          <a:ln w="19050">
            <a:solidFill>
              <a:srgbClr val="223554"/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 flipV="1">
            <a:off x="3584448" y="3858768"/>
            <a:ext cx="2511400" cy="983894"/>
          </a:xfrm>
          <a:prstGeom prst="line">
            <a:avLst/>
          </a:prstGeom>
          <a:noFill/>
          <a:ln w="19050">
            <a:solidFill>
              <a:srgbClr val="223554"/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 flipH="1" flipV="1">
            <a:off x="6095848" y="3858768"/>
            <a:ext cx="2511400" cy="983894"/>
          </a:xfrm>
          <a:prstGeom prst="line">
            <a:avLst/>
          </a:prstGeom>
          <a:noFill/>
          <a:ln w="19050">
            <a:solidFill>
              <a:srgbClr val="223554"/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 flipV="1">
            <a:off x="3584448" y="3858768"/>
            <a:ext cx="2511400" cy="1967789"/>
          </a:xfrm>
          <a:prstGeom prst="line">
            <a:avLst/>
          </a:prstGeom>
          <a:noFill/>
          <a:ln w="19050">
            <a:solidFill>
              <a:srgbClr val="223554"/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 flipH="1" flipV="1">
            <a:off x="6095848" y="3858768"/>
            <a:ext cx="2511400" cy="1967789"/>
          </a:xfrm>
          <a:prstGeom prst="line">
            <a:avLst/>
          </a:prstGeom>
          <a:noFill/>
          <a:ln w="19050">
            <a:solidFill>
              <a:srgbClr val="223554"/>
            </a:solidFill>
            <a:prstDash val="sysDot"/>
          </a:ln>
        </p:spPr>
      </p:sp>
      <p:sp>
        <p:nvSpPr>
          <p:cNvPr id="16" name="Shape 14"/>
          <p:cNvSpPr/>
          <p:nvPr/>
        </p:nvSpPr>
        <p:spPr>
          <a:xfrm>
            <a:off x="566928" y="1481328"/>
            <a:ext cx="3017520" cy="819302"/>
          </a:xfrm>
          <a:prstGeom prst="roundRect">
            <a:avLst>
              <a:gd name="adj" fmla="val 8929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1689811"/>
            <a:ext cx="402336" cy="40233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790395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298448" y="1554480"/>
            <a:ext cx="2157984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CIA, AAA, least privilege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607247" y="1481328"/>
            <a:ext cx="3017520" cy="819302"/>
          </a:xfrm>
          <a:prstGeom prst="roundRect">
            <a:avLst>
              <a:gd name="adj" fmla="val 8929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771839" y="1689811"/>
            <a:ext cx="402336" cy="402336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423" y="1790395"/>
            <a:ext cx="201168" cy="20116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338767" y="1554480"/>
            <a:ext cx="2157984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 &amp; Malware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Attackers, viruses, ransomware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66928" y="2465222"/>
            <a:ext cx="3017520" cy="819302"/>
          </a:xfrm>
          <a:prstGeom prst="roundRect">
            <a:avLst>
              <a:gd name="adj" fmla="val 8929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31520" y="2673706"/>
            <a:ext cx="402336" cy="40233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774290"/>
            <a:ext cx="201168" cy="20116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298448" y="2538374"/>
            <a:ext cx="2157984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Engineering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and human tricks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8607247" y="2465222"/>
            <a:ext cx="3017520" cy="819302"/>
          </a:xfrm>
          <a:prstGeom prst="roundRect">
            <a:avLst>
              <a:gd name="adj" fmla="val 8929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771839" y="2673706"/>
            <a:ext cx="402336" cy="40233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23" y="2774290"/>
            <a:ext cx="201168" cy="201168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338767" y="2538374"/>
            <a:ext cx="2157984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Passwords, MFA, biometrics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566928" y="3449117"/>
            <a:ext cx="3017520" cy="819302"/>
          </a:xfrm>
          <a:prstGeom prst="roundRect">
            <a:avLst>
              <a:gd name="adj" fmla="val 8929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31520" y="3657600"/>
            <a:ext cx="402336" cy="402336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3758184"/>
            <a:ext cx="201168" cy="201168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298448" y="3522269"/>
            <a:ext cx="2157984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Cryptography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hashing, TLS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8607247" y="3449117"/>
            <a:ext cx="3017520" cy="819302"/>
          </a:xfrm>
          <a:prstGeom prst="roundRect">
            <a:avLst>
              <a:gd name="adj" fmla="val 8929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771839" y="3657600"/>
            <a:ext cx="402336" cy="402336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2423" y="3758184"/>
            <a:ext cx="201168" cy="201168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338767" y="3522269"/>
            <a:ext cx="2157984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&amp; Endpoint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Firewall, IDS, VPN, devices</a:t>
            </a:r>
            <a:endParaRPr lang="en-US" sz="1250" dirty="0"/>
          </a:p>
        </p:txBody>
      </p:sp>
      <p:sp>
        <p:nvSpPr>
          <p:cNvPr id="40" name="Shape 32"/>
          <p:cNvSpPr/>
          <p:nvPr/>
        </p:nvSpPr>
        <p:spPr>
          <a:xfrm>
            <a:off x="566928" y="4433011"/>
            <a:ext cx="3017520" cy="819302"/>
          </a:xfrm>
          <a:prstGeom prst="roundRect">
            <a:avLst>
              <a:gd name="adj" fmla="val 8929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731520" y="4641494"/>
            <a:ext cx="402336" cy="402336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" y="4742078"/>
            <a:ext cx="201168" cy="201168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1298448" y="4506163"/>
            <a:ext cx="2157984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AppSec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IAM, OWASP, secure coding</a:t>
            </a:r>
            <a:endParaRPr lang="en-US" sz="1250" dirty="0"/>
          </a:p>
        </p:txBody>
      </p:sp>
      <p:sp>
        <p:nvSpPr>
          <p:cNvPr id="44" name="Shape 35"/>
          <p:cNvSpPr/>
          <p:nvPr/>
        </p:nvSpPr>
        <p:spPr>
          <a:xfrm>
            <a:off x="8607247" y="4433011"/>
            <a:ext cx="3017520" cy="819302"/>
          </a:xfrm>
          <a:prstGeom prst="roundRect">
            <a:avLst>
              <a:gd name="adj" fmla="val 8929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8771839" y="4641494"/>
            <a:ext cx="402336" cy="40233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2423" y="4742078"/>
            <a:ext cx="201168" cy="201168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9338767" y="4506163"/>
            <a:ext cx="2157984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Response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SOC, SIEM, incidents, backup</a:t>
            </a:r>
            <a:endParaRPr lang="en-US" sz="1250" dirty="0"/>
          </a:p>
        </p:txBody>
      </p:sp>
      <p:sp>
        <p:nvSpPr>
          <p:cNvPr id="48" name="Shape 38"/>
          <p:cNvSpPr/>
          <p:nvPr/>
        </p:nvSpPr>
        <p:spPr>
          <a:xfrm>
            <a:off x="566928" y="5416906"/>
            <a:ext cx="3017520" cy="819302"/>
          </a:xfrm>
          <a:prstGeom prst="roundRect">
            <a:avLst>
              <a:gd name="adj" fmla="val 8929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9" name="Shape 39"/>
          <p:cNvSpPr/>
          <p:nvPr/>
        </p:nvSpPr>
        <p:spPr>
          <a:xfrm>
            <a:off x="731520" y="5625389"/>
            <a:ext cx="402336" cy="40233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" y="5725973"/>
            <a:ext cx="201168" cy="201168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1298448" y="5490058"/>
            <a:ext cx="2157984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GRC, Zero Trust, frameworks</a:t>
            </a:r>
            <a:endParaRPr lang="en-US" sz="1250" dirty="0"/>
          </a:p>
        </p:txBody>
      </p:sp>
      <p:sp>
        <p:nvSpPr>
          <p:cNvPr id="52" name="Shape 41"/>
          <p:cNvSpPr/>
          <p:nvPr/>
        </p:nvSpPr>
        <p:spPr>
          <a:xfrm>
            <a:off x="8607247" y="5416906"/>
            <a:ext cx="3017520" cy="819302"/>
          </a:xfrm>
          <a:prstGeom prst="roundRect">
            <a:avLst>
              <a:gd name="adj" fmla="val 8929"/>
            </a:avLst>
          </a:prstGeom>
          <a:solidFill>
            <a:srgbClr val="121D31"/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53" name="Shape 42"/>
          <p:cNvSpPr/>
          <p:nvPr/>
        </p:nvSpPr>
        <p:spPr>
          <a:xfrm>
            <a:off x="8771839" y="5625389"/>
            <a:ext cx="402336" cy="402336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72423" y="5725973"/>
            <a:ext cx="201168" cy="201168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9338767" y="5490058"/>
            <a:ext cx="2157984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learning roadmap</a:t>
            </a:r>
            <a:endParaRPr lang="en-US" sz="1250" dirty="0"/>
          </a:p>
        </p:txBody>
      </p:sp>
      <p:sp>
        <p:nvSpPr>
          <p:cNvPr id="56" name="Shape 44"/>
          <p:cNvSpPr/>
          <p:nvPr/>
        </p:nvSpPr>
        <p:spPr>
          <a:xfrm>
            <a:off x="4769968" y="3310128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0A1120"/>
          </a:solidFill>
          <a:ln w="12700">
            <a:solidFill>
              <a:srgbClr val="0A1120"/>
            </a:solidFill>
            <a:prstDash val="solid"/>
          </a:ln>
        </p:spPr>
      </p:sp>
      <p:sp>
        <p:nvSpPr>
          <p:cNvPr id="57" name="Shape 45"/>
          <p:cNvSpPr/>
          <p:nvPr/>
        </p:nvSpPr>
        <p:spPr>
          <a:xfrm>
            <a:off x="4769968" y="3310128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00E08A">
              <a:alpha val="20000"/>
            </a:srgbClr>
          </a:solidFill>
          <a:ln w="25400">
            <a:solidFill>
              <a:srgbClr val="00E08A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58" name="Text 46"/>
          <p:cNvSpPr txBox="1"/>
          <p:nvPr/>
        </p:nvSpPr>
        <p:spPr>
          <a:xfrm>
            <a:off x="4769968" y="3310128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</a:t>
            </a:r>
            <a:endParaRPr lang="en-US" sz="1700" dirty="0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187A · TERMS 1–9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Cybersecurity Terms (1 of 3)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82496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96796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99616" y="16824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2860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systems, networks and data from attacks.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682496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1796796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77002" y="16824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2860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can cause harm to a system.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6824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1796796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54389" y="16824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2860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weakness that an attacker can use.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66928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33588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473196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99616" y="33588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</a:t>
            </a:r>
            <a:endParaRPr lang="en-US" sz="145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39624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 that uses a weakness to attack.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44314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3358896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3473196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277002" y="33588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45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39624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of harm multiplied by its impact.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121701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3358896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3473196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54389" y="33588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</a:t>
            </a:r>
            <a:endParaRPr lang="en-US" sz="145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39624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authorised people can see the data.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66928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22960" y="5035296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5149596"/>
            <a:ext cx="228600" cy="2286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499616" y="50352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1450" dirty="0"/>
          </a:p>
        </p:txBody>
      </p:sp>
      <p:sp>
        <p:nvSpPr>
          <p:cNvPr id="40" name="Text 31"/>
          <p:cNvSpPr txBox="1"/>
          <p:nvPr/>
        </p:nvSpPr>
        <p:spPr>
          <a:xfrm>
            <a:off x="841248" y="56388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correct and is not changed wrongly.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4344314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600346" y="50352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646" y="5149596"/>
            <a:ext cx="228600" cy="22860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5277002" y="50352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450" dirty="0"/>
          </a:p>
        </p:txBody>
      </p:sp>
      <p:sp>
        <p:nvSpPr>
          <p:cNvPr id="45" name="Text 35"/>
          <p:cNvSpPr txBox="1"/>
          <p:nvPr/>
        </p:nvSpPr>
        <p:spPr>
          <a:xfrm>
            <a:off x="4618634" y="56388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work when authorised users need them.</a:t>
            </a:r>
            <a:endParaRPr lang="en-US" sz="1200" dirty="0"/>
          </a:p>
        </p:txBody>
      </p:sp>
      <p:sp>
        <p:nvSpPr>
          <p:cNvPr id="46" name="Shape 36"/>
          <p:cNvSpPr/>
          <p:nvPr/>
        </p:nvSpPr>
        <p:spPr>
          <a:xfrm>
            <a:off x="8121701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8377733" y="50352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2033" y="5149596"/>
            <a:ext cx="228600" cy="2286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054389" y="50352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450" dirty="0"/>
          </a:p>
        </p:txBody>
      </p:sp>
      <p:sp>
        <p:nvSpPr>
          <p:cNvPr id="50" name="Text 39"/>
          <p:cNvSpPr txBox="1"/>
          <p:nvPr/>
        </p:nvSpPr>
        <p:spPr>
          <a:xfrm>
            <a:off x="8396021" y="56388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that you are who you claim to be.</a:t>
            </a:r>
            <a:endParaRPr lang="en-US" sz="1200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187B · TERMS 10–18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Cybersecurity Terms (2 of 3)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82496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96796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99616" y="16824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2860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an identified user may do.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682496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1796796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77002" y="16824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2860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two or more different proofs to log in.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6824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1796796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54389" y="16824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2860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software written to cause harm.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66928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33588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473196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99616" y="33588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</a:t>
            </a:r>
            <a:endParaRPr lang="en-US" sz="145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39624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that locks files and demands payment.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44314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3358896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3473196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277002" y="33588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</a:t>
            </a:r>
            <a:endParaRPr lang="en-US" sz="145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39624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messages that trick you into giving data.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121701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3358896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3473196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54389" y="33588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</a:t>
            </a:r>
            <a:endParaRPr lang="en-US" sz="145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39624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filter that allows or blocks network traffic.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66928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22960" y="5035296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5149596"/>
            <a:ext cx="228600" cy="2286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499616" y="50352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</a:t>
            </a:r>
            <a:endParaRPr lang="en-US" sz="1450" dirty="0"/>
          </a:p>
        </p:txBody>
      </p:sp>
      <p:sp>
        <p:nvSpPr>
          <p:cNvPr id="40" name="Text 31"/>
          <p:cNvSpPr txBox="1"/>
          <p:nvPr/>
        </p:nvSpPr>
        <p:spPr>
          <a:xfrm>
            <a:off x="841248" y="56388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encrypted tunnel to a trusted network.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4344314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600346" y="50352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646" y="5149596"/>
            <a:ext cx="228600" cy="22860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5277002" y="50352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/ TLS</a:t>
            </a:r>
            <a:endParaRPr lang="en-US" sz="1450" dirty="0"/>
          </a:p>
        </p:txBody>
      </p:sp>
      <p:sp>
        <p:nvSpPr>
          <p:cNvPr id="45" name="Text 35"/>
          <p:cNvSpPr txBox="1"/>
          <p:nvPr/>
        </p:nvSpPr>
        <p:spPr>
          <a:xfrm>
            <a:off x="4618634" y="56388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that protects web traffic in transit.</a:t>
            </a:r>
            <a:endParaRPr lang="en-US" sz="1200" dirty="0"/>
          </a:p>
        </p:txBody>
      </p:sp>
      <p:sp>
        <p:nvSpPr>
          <p:cNvPr id="46" name="Shape 36"/>
          <p:cNvSpPr/>
          <p:nvPr/>
        </p:nvSpPr>
        <p:spPr>
          <a:xfrm>
            <a:off x="8121701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8377733" y="50352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2033" y="5149596"/>
            <a:ext cx="228600" cy="2286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054389" y="50352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Hashing</a:t>
            </a:r>
            <a:endParaRPr lang="en-US" sz="1450" dirty="0"/>
          </a:p>
        </p:txBody>
      </p:sp>
      <p:sp>
        <p:nvSpPr>
          <p:cNvPr id="50" name="Text 39"/>
          <p:cNvSpPr txBox="1"/>
          <p:nvPr/>
        </p:nvSpPr>
        <p:spPr>
          <a:xfrm>
            <a:off x="8396021" y="56388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fingerprint used to detect changes.</a:t>
            </a:r>
            <a:endParaRPr lang="en-US" sz="1200" dirty="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187C · TERMS 19–25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Cybersecurity Terms (3 of 3)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82496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96796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99616" y="16824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2860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Scrambling data so only a key holder can read it.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682496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1796796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77002" y="16824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2860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collects logs and raises alerts.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6824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1796796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54389" y="16824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2860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that monitors and defends 24x7.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66928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33588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473196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99616" y="33588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</a:t>
            </a:r>
            <a:endParaRPr lang="en-US" sz="145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39624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update that fixes a security weakness.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44314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3358896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3473196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277002" y="33588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45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39624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spare copy used to restore lost data.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121701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3358896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3473196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54389" y="33588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</a:t>
            </a:r>
            <a:endParaRPr lang="en-US" sz="145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39624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automatically, always verify.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66928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22960" y="5035296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5149596"/>
            <a:ext cx="228600" cy="2286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499616" y="50352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Forensics</a:t>
            </a:r>
            <a:endParaRPr lang="en-US" sz="1450" dirty="0"/>
          </a:p>
        </p:txBody>
      </p:sp>
      <p:sp>
        <p:nvSpPr>
          <p:cNvPr id="40" name="Text 31"/>
          <p:cNvSpPr txBox="1"/>
          <p:nvPr/>
        </p:nvSpPr>
        <p:spPr>
          <a:xfrm>
            <a:off x="841248" y="56388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evidence to learn what happened.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4344314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600346" y="50352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646" y="5149596"/>
            <a:ext cx="228600" cy="22860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5277002" y="50352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</a:t>
            </a:r>
            <a:endParaRPr lang="en-US" sz="1450" dirty="0"/>
          </a:p>
        </p:txBody>
      </p:sp>
      <p:sp>
        <p:nvSpPr>
          <p:cNvPr id="45" name="Text 35"/>
          <p:cNvSpPr txBox="1"/>
          <p:nvPr/>
        </p:nvSpPr>
        <p:spPr>
          <a:xfrm>
            <a:off x="4618634" y="56388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list of web application risks.</a:t>
            </a:r>
            <a:endParaRPr lang="en-US" sz="1200" dirty="0"/>
          </a:p>
        </p:txBody>
      </p:sp>
      <p:sp>
        <p:nvSpPr>
          <p:cNvPr id="46" name="Shape 36"/>
          <p:cNvSpPr/>
          <p:nvPr/>
        </p:nvSpPr>
        <p:spPr>
          <a:xfrm>
            <a:off x="8121701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8377733" y="50352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2033" y="5149596"/>
            <a:ext cx="228600" cy="2286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054389" y="50352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GRC</a:t>
            </a:r>
            <a:endParaRPr lang="en-US" sz="1450" dirty="0"/>
          </a:p>
        </p:txBody>
      </p:sp>
      <p:sp>
        <p:nvSpPr>
          <p:cNvPr id="50" name="Text 39"/>
          <p:cNvSpPr txBox="1"/>
          <p:nvPr/>
        </p:nvSpPr>
        <p:spPr>
          <a:xfrm>
            <a:off x="8396021" y="56388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risk and compliance management.</a:t>
            </a:r>
            <a:endParaRPr lang="en-US" sz="1200" dirty="0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188A · TIPS 1–9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Safety Tips (1 of 3)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82496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96796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99616" y="16824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Long passwords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2860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 least 12 to 16 characters everywhere.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682496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1796796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77002" y="16824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Never reuse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2860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unique password for every single account.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6824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1796796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54389" y="16824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Password manager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2860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 app remember them all for you.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66928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33588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473196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99616" y="33588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Turn on MFA</a:t>
            </a:r>
            <a:endParaRPr lang="en-US" sz="145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39624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email, bank and college accounts.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44314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3358896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3473196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277002" y="33588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Never share OTP</a:t>
            </a:r>
            <a:endParaRPr lang="en-US" sz="145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39624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genuine support team will ever ask for it.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121701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3358896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3473196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54389" y="33588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Install updates</a:t>
            </a:r>
            <a:endParaRPr lang="en-US" sz="145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39624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attacks use old holes that already have fixes.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66928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22960" y="5035296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5149596"/>
            <a:ext cx="228600" cy="2286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499616" y="50352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Keep antivirus on</a:t>
            </a:r>
            <a:endParaRPr lang="en-US" sz="1450" dirty="0"/>
          </a:p>
        </p:txBody>
      </p:sp>
      <p:sp>
        <p:nvSpPr>
          <p:cNvPr id="40" name="Text 31"/>
          <p:cNvSpPr txBox="1"/>
          <p:nvPr/>
        </p:nvSpPr>
        <p:spPr>
          <a:xfrm>
            <a:off x="841248" y="56388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update and scan automatically.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4344314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600346" y="50352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646" y="5149596"/>
            <a:ext cx="228600" cy="22860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5277002" y="50352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Download safely</a:t>
            </a:r>
            <a:endParaRPr lang="en-US" sz="1450" dirty="0"/>
          </a:p>
        </p:txBody>
      </p:sp>
      <p:sp>
        <p:nvSpPr>
          <p:cNvPr id="45" name="Text 35"/>
          <p:cNvSpPr txBox="1"/>
          <p:nvPr/>
        </p:nvSpPr>
        <p:spPr>
          <a:xfrm>
            <a:off x="4618634" y="56388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stores and official sites only.</a:t>
            </a:r>
            <a:endParaRPr lang="en-US" sz="1200" dirty="0"/>
          </a:p>
        </p:txBody>
      </p:sp>
      <p:sp>
        <p:nvSpPr>
          <p:cNvPr id="46" name="Shape 36"/>
          <p:cNvSpPr/>
          <p:nvPr/>
        </p:nvSpPr>
        <p:spPr>
          <a:xfrm>
            <a:off x="8121701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8377733" y="50352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2033" y="5149596"/>
            <a:ext cx="228600" cy="2286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054389" y="50352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Back up data</a:t>
            </a:r>
            <a:endParaRPr lang="en-US" sz="1450" dirty="0"/>
          </a:p>
        </p:txBody>
      </p:sp>
      <p:sp>
        <p:nvSpPr>
          <p:cNvPr id="50" name="Text 39"/>
          <p:cNvSpPr txBox="1"/>
          <p:nvPr/>
        </p:nvSpPr>
        <p:spPr>
          <a:xfrm>
            <a:off x="8396021" y="56388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one copy offline, and test restoring it.</a:t>
            </a:r>
            <a:endParaRPr lang="en-US" sz="1200" dirty="0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188B · TIPS 10–18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Safety Tips (2 of 3)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82496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96796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99616" y="16824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Pause before clicking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2860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seconds of checking prevents most attacks.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682496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1796796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77002" y="16824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Check the sender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2860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full address, not the display name.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6824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1796796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54389" y="16824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Check the domain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2860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carefully for look-alike website names.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66928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33588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473196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99616" y="33588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Ignore SMS links</a:t>
            </a:r>
            <a:endParaRPr lang="en-US" sz="145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39624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official app instead of the link.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44314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3358896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3473196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277002" y="33588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Hang up and call back</a:t>
            </a:r>
            <a:endParaRPr lang="en-US" sz="145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39624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number on your card, not the caller number.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121701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3358896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3473196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54389" y="33588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Careful on public Wi-Fi</a:t>
            </a:r>
            <a:endParaRPr lang="en-US" sz="145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39624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banking without a VPN and HTTPS.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66928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22960" y="5035296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5149596"/>
            <a:ext cx="228600" cy="2286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499616" y="50352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 Lock your screen</a:t>
            </a:r>
            <a:endParaRPr lang="en-US" sz="1450" dirty="0"/>
          </a:p>
        </p:txBody>
      </p:sp>
      <p:sp>
        <p:nvSpPr>
          <p:cNvPr id="40" name="Text 31"/>
          <p:cNvSpPr txBox="1"/>
          <p:nvPr/>
        </p:nvSpPr>
        <p:spPr>
          <a:xfrm>
            <a:off x="841248" y="56388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Always, even for a two-minute break.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4344314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600346" y="50352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646" y="5149596"/>
            <a:ext cx="228600" cy="22860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5277002" y="50352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 No unknown USB</a:t>
            </a:r>
            <a:endParaRPr lang="en-US" sz="1450" dirty="0"/>
          </a:p>
        </p:txBody>
      </p:sp>
      <p:sp>
        <p:nvSpPr>
          <p:cNvPr id="45" name="Text 35"/>
          <p:cNvSpPr txBox="1"/>
          <p:nvPr/>
        </p:nvSpPr>
        <p:spPr>
          <a:xfrm>
            <a:off x="4618634" y="56388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plug in a drive you found somewhere.</a:t>
            </a:r>
            <a:endParaRPr lang="en-US" sz="1200" dirty="0"/>
          </a:p>
        </p:txBody>
      </p:sp>
      <p:sp>
        <p:nvSpPr>
          <p:cNvPr id="46" name="Shape 36"/>
          <p:cNvSpPr/>
          <p:nvPr/>
        </p:nvSpPr>
        <p:spPr>
          <a:xfrm>
            <a:off x="8121701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8377733" y="50352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2033" y="5149596"/>
            <a:ext cx="228600" cy="2286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054389" y="50352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 Use a normal account</a:t>
            </a:r>
            <a:endParaRPr lang="en-US" sz="1450" dirty="0"/>
          </a:p>
        </p:txBody>
      </p:sp>
      <p:sp>
        <p:nvSpPr>
          <p:cNvPr id="50" name="Text 39"/>
          <p:cNvSpPr txBox="1"/>
          <p:nvPr/>
        </p:nvSpPr>
        <p:spPr>
          <a:xfrm>
            <a:off x="8396021" y="56388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administrator rights for when you need them.</a:t>
            </a:r>
            <a:endParaRPr lang="en-US" sz="1200" dirty="0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188C · TIPS 19–25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Safety Tips (3 of 3)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82496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96796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99616" y="16824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 Check permissions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2860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app access that is not needed.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682496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1796796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77002" y="16824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 Share less online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2860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details help attackers guess answers.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6824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1796796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54389" y="16824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 Watch login alerts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2860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immediately to any login you did not make.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66928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33588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473196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99616" y="33588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 Encrypt your devices</a:t>
            </a:r>
            <a:endParaRPr lang="en-US" sz="145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39624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data if the laptop or phone is stolen.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44314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3358896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3473196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277002" y="33588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 Secure your router</a:t>
            </a:r>
            <a:endParaRPr lang="en-US" sz="145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39624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default password and update firmware.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121701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3358896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3473196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54389" y="33588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 Report quickly</a:t>
            </a:r>
            <a:endParaRPr lang="en-US" sz="145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39624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reporting limits the damage for everyone.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66928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22960" y="5035296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5149596"/>
            <a:ext cx="228600" cy="2286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499616" y="50352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 Keep learning</a:t>
            </a:r>
            <a:endParaRPr lang="en-US" sz="1450" dirty="0"/>
          </a:p>
        </p:txBody>
      </p:sp>
      <p:sp>
        <p:nvSpPr>
          <p:cNvPr id="40" name="Text 31"/>
          <p:cNvSpPr txBox="1"/>
          <p:nvPr/>
        </p:nvSpPr>
        <p:spPr>
          <a:xfrm>
            <a:off x="841248" y="56388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change, so your knowledge must too.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4344314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600346" y="50352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646" y="5149596"/>
            <a:ext cx="228600" cy="22860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5277002" y="50352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help others</a:t>
            </a:r>
            <a:endParaRPr lang="en-US" sz="1450" dirty="0"/>
          </a:p>
        </p:txBody>
      </p:sp>
      <p:sp>
        <p:nvSpPr>
          <p:cNvPr id="45" name="Text 35"/>
          <p:cNvSpPr txBox="1"/>
          <p:nvPr/>
        </p:nvSpPr>
        <p:spPr>
          <a:xfrm>
            <a:off x="4618634" y="56388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family members about OTP and payment scams.</a:t>
            </a:r>
            <a:endParaRPr lang="en-US" sz="1200" dirty="0"/>
          </a:p>
        </p:txBody>
      </p:sp>
      <p:sp>
        <p:nvSpPr>
          <p:cNvPr id="46" name="Shape 36"/>
          <p:cNvSpPr/>
          <p:nvPr/>
        </p:nvSpPr>
        <p:spPr>
          <a:xfrm>
            <a:off x="8121701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8377733" y="50352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2033" y="5149596"/>
            <a:ext cx="228600" cy="2286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054389" y="5035296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stay calm</a:t>
            </a:r>
            <a:endParaRPr lang="en-US" sz="1450" dirty="0"/>
          </a:p>
        </p:txBody>
      </p:sp>
      <p:sp>
        <p:nvSpPr>
          <p:cNvPr id="50" name="Text 39"/>
          <p:cNvSpPr txBox="1"/>
          <p:nvPr/>
        </p:nvSpPr>
        <p:spPr>
          <a:xfrm>
            <a:off x="8396021" y="5638800"/>
            <a:ext cx="295442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is a trick. Slow down and verify.</a:t>
            </a:r>
            <a:endParaRPr lang="en-US" sz="1200" dirty="0"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189 · DO'S AND DON'TS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Do's and Don'ts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37360"/>
            <a:ext cx="530352" cy="530352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69948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91056" y="1737360"/>
            <a:ext cx="4047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505456"/>
            <a:ext cx="474253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reuse the same password on many sites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share OTP, PIN or passwords with anyone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click links in unexpected messages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install cracked or side-loaded software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public Wi-Fi for banking without a VPN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test or scan systems without written permission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0440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4760" y="1737360"/>
            <a:ext cx="530352" cy="530352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869948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4568" y="1737360"/>
            <a:ext cx="4047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571336" y="2505456"/>
            <a:ext cx="474253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use long, unique passwords with a manager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turn on MFA for every important account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verify unusual requests by a second channel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install updates as soon as they arrive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keep tested offline backups of your data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report anything suspicious straight away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only three things from this course: long unique passwords, MFA everywhere, and think before you click.</a:t>
            </a:r>
            <a:endParaRPr lang="en-US" sz="1300" dirty="0"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190 · COURSE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Summary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21D31">
              <a:alpha val="96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0E08A"/>
          </a:solidFill>
          <a:ln w="12700">
            <a:solidFill>
              <a:srgbClr val="00E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protects people, data and services. It combines technology, processes and human awareness.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CIA Triad and the AAA model explain every control you will ever meet.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9996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6000" y="2816352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30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332656" y="2816352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3674288" y="3419856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and phishing remain the most common starting points of real incidents.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3300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165696" y="2816352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First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6507328" y="3419856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unique passwords plus MFA stop the majority of account attacks.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066047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322079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379" y="2930652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998735" y="2816352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Everywhere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9340367" y="3419856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protects data in transit and at rest, and proves who sent what.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6692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7185">
              <a:alpha val="16000"/>
            </a:srgbClr>
          </a:solidFill>
          <a:ln w="12700">
            <a:solidFill>
              <a:srgbClr val="FB7185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499616" y="4731317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Defence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841248" y="5334821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Network, endpoint, application and cloud controls work together, never alone.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339996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656000" y="4731317"/>
            <a:ext cx="457200" cy="4572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0300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332656" y="4731317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and Respond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3674288" y="5334821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prevent everything, so monitoring, response and backups are essential.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623300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165696" y="4731317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450" dirty="0"/>
          </a:p>
        </p:txBody>
      </p:sp>
      <p:sp>
        <p:nvSpPr>
          <p:cNvPr id="43" name="Text 34"/>
          <p:cNvSpPr txBox="1"/>
          <p:nvPr/>
        </p:nvSpPr>
        <p:spPr>
          <a:xfrm>
            <a:off x="6507328" y="5334821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risk management and frameworks keep security organised and provable.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9066047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9322079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379" y="4845617"/>
            <a:ext cx="228600" cy="22860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9998735" y="4731317"/>
            <a:ext cx="135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Next Step</a:t>
            </a:r>
            <a:endParaRPr lang="en-US" sz="1450" dirty="0"/>
          </a:p>
        </p:txBody>
      </p:sp>
      <p:sp>
        <p:nvSpPr>
          <p:cNvPr id="48" name="Text 38"/>
          <p:cNvSpPr txBox="1"/>
          <p:nvPr/>
        </p:nvSpPr>
        <p:spPr>
          <a:xfrm>
            <a:off x="9340367" y="5334821"/>
            <a:ext cx="2010080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roadmap, build a home lab, and practise a little every single day.</a:t>
            </a:r>
            <a:endParaRPr lang="en-US" sz="1200" dirty="0"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191A · FINAL CHECK 1–5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Knowledge Check (Part 1)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goal means keeping information secret?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attack tricks people with fake messages?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improves security because it requires: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proofs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longer username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faster device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storage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firewall mainly: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network traffic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backups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code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fingerprints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Hashing is different from encryption because it: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reversed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two keys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always faster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the domain</a:t>
            </a:r>
            <a:endParaRPr lang="en-US" sz="1050" dirty="0"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191B · FINAL CHECK 6–10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Knowledge Check (Part 2)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cloud, the customer is responsible for: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access settings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 security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servers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staff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SIEM is mainly used to: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logs and alert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documents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websites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passwords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stage of incident response is: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hacking always needs: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authorization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target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tools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documentation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0E1626">
              <a:alpha val="92000"/>
            </a:srgbClr>
          </a:solidFill>
          <a:ln w="12700">
            <a:solidFill>
              <a:srgbClr val="22355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means: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0E08A">
              <a:alpha val="20000"/>
            </a:srgbClr>
          </a:solidFill>
          <a:ln w="12700">
            <a:solidFill>
              <a:srgbClr val="00E08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trust, always verify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whole office network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all passwords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E9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firewall only</a:t>
            </a:r>
            <a:endParaRPr lang="en-US" sz="1050" dirty="0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648" y="1417320"/>
            <a:ext cx="914400" cy="914400"/>
          </a:xfrm>
          <a:prstGeom prst="ellipse">
            <a:avLst/>
          </a:prstGeom>
          <a:solidFill>
            <a:srgbClr val="00E08A">
              <a:alpha val="16000"/>
            </a:srgbClr>
          </a:solidFill>
          <a:ln w="12700">
            <a:solidFill>
              <a:srgbClr val="00E08A">
                <a:alpha val="45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248" y="16459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65176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4297680"/>
            <a:ext cx="7436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B4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understand the foundations of cybersecurity. Keep practising, stay curious, and always verify before you trust.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2191360" y="521208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121D31">
              <a:alpha val="90000"/>
            </a:srgbClr>
          </a:solidFill>
          <a:ln w="12700">
            <a:solidFill>
              <a:srgbClr val="22355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91360" y="5212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STAY CURIOUS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861408" y="521208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121D31">
              <a:alpha val="90000"/>
            </a:srgbClr>
          </a:solidFill>
          <a:ln w="12700">
            <a:solidFill>
              <a:srgbClr val="22355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61408" y="5212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PRACTISE DAILY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531456" y="521208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121D31">
              <a:alpha val="90000"/>
            </a:srgbClr>
          </a:solidFill>
          <a:ln w="12700">
            <a:solidFill>
              <a:srgbClr val="22355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31456" y="5212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ALWAYS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238</Slides>
  <Notes>238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238</vt:i4>
      </vt:variant>
    </vt:vector>
  </HeadingPairs>
  <TitlesOfParts>
    <vt:vector size="2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— Complete Beginner to Intermediate Guide</dc:title>
  <dc:subject>PptxGenJS Presentation</dc:subject>
  <dc:creator>Cybersecurity Course</dc:creator>
  <cp:lastModifiedBy>Cybersecurity Course</cp:lastModifiedBy>
  <cp:revision>1</cp:revision>
  <dcterms:created xsi:type="dcterms:W3CDTF">2026-09-18T09:28:29Z</dcterms:created>
  <dcterms:modified xsi:type="dcterms:W3CDTF">2026-09-18T09:28:29Z</dcterms:modified>
</cp:coreProperties>
</file>
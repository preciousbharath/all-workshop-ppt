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31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x="18288000" cy="10287000"/>
  <p:notesSz cx="6858000" cy="9144000"/>
  <p:embeddedFontLst>
    <p:embeddedFont>
      <p:font typeface="ITC Avant Garde Gothic Bold" charset="1" panose="020B0802020202020204"/>
      <p:regular r:id="rId29"/>
    </p:embeddedFont>
    <p:embeddedFont>
      <p:font typeface="Garet Bold Italics" charset="1" panose="00000000000000000000"/>
      <p:regular r:id="rId30"/>
    </p:embeddedFont>
    <p:embeddedFont>
      <p:font typeface="Crimson Pro Bold" charset="1" panose="00000000000000000000"/>
      <p:regular r:id="rId34"/>
    </p:embeddedFont>
    <p:embeddedFont>
      <p:font typeface="Open Sans" charset="1" panose="00000000000000000000"/>
      <p:regular r:id="rId35"/>
    </p:embeddedFont>
    <p:embeddedFont>
      <p:font typeface="Open Sans Bold" charset="1" panose="00000000000000000000"/>
      <p:regular r:id="rId38"/>
    </p:embeddedFont>
    <p:embeddedFont>
      <p:font typeface="Consolas" charset="1" panose="020B0609020204030204"/>
      <p:regular r:id="rId40"/>
    </p:embeddedFont>
    <p:embeddedFont>
      <p:font typeface="Open Sans Italics" charset="1" panose="00000000000000000000"/>
      <p:regular r:id="rId49"/>
    </p:embeddedFont>
    <p:embeddedFont>
      <p:font typeface="Consolas Bold" charset="1" panose="020B0709020204030204"/>
      <p:regular r:id="rId5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notesMasters/notesMaster1.xml" Type="http://schemas.openxmlformats.org/officeDocument/2006/relationships/notesMaster"/><Relationship Id="rId32" Target="theme/theme2.xml" Type="http://schemas.openxmlformats.org/officeDocument/2006/relationships/theme"/><Relationship Id="rId33" Target="notesSlides/notesSlide1.xml" Type="http://schemas.openxmlformats.org/officeDocument/2006/relationships/notesSlide"/><Relationship Id="rId34" Target="fonts/font34.fntdata" Type="http://schemas.openxmlformats.org/officeDocument/2006/relationships/font"/><Relationship Id="rId35" Target="fonts/font35.fntdata" Type="http://schemas.openxmlformats.org/officeDocument/2006/relationships/font"/><Relationship Id="rId36" Target="notesSlides/notesSlide2.xml" Type="http://schemas.openxmlformats.org/officeDocument/2006/relationships/notesSlide"/><Relationship Id="rId37" Target="notesSlides/notesSlide3.xml" Type="http://schemas.openxmlformats.org/officeDocument/2006/relationships/notesSlide"/><Relationship Id="rId38" Target="fonts/font38.fntdata" Type="http://schemas.openxmlformats.org/officeDocument/2006/relationships/font"/><Relationship Id="rId39" Target="notesSlides/notesSlide4.xml" Type="http://schemas.openxmlformats.org/officeDocument/2006/relationships/notesSlide"/><Relationship Id="rId4" Target="theme/theme1.xml" Type="http://schemas.openxmlformats.org/officeDocument/2006/relationships/theme"/><Relationship Id="rId40" Target="fonts/font40.fntdata" Type="http://schemas.openxmlformats.org/officeDocument/2006/relationships/font"/><Relationship Id="rId41" Target="notesSlides/notesSlide5.xml" Type="http://schemas.openxmlformats.org/officeDocument/2006/relationships/notesSlide"/><Relationship Id="rId42" Target="notesSlides/notesSlide6.xml" Type="http://schemas.openxmlformats.org/officeDocument/2006/relationships/notesSlide"/><Relationship Id="rId43" Target="notesSlides/notesSlide7.xml" Type="http://schemas.openxmlformats.org/officeDocument/2006/relationships/notesSlide"/><Relationship Id="rId44" Target="notesSlides/notesSlide8.xml" Type="http://schemas.openxmlformats.org/officeDocument/2006/relationships/notesSlide"/><Relationship Id="rId45" Target="notesSlides/notesSlide9.xml" Type="http://schemas.openxmlformats.org/officeDocument/2006/relationships/notesSlide"/><Relationship Id="rId46" Target="notesSlides/notesSlide10.xml" Type="http://schemas.openxmlformats.org/officeDocument/2006/relationships/notesSlide"/><Relationship Id="rId47" Target="notesSlides/notesSlide11.xml" Type="http://schemas.openxmlformats.org/officeDocument/2006/relationships/notesSlide"/><Relationship Id="rId48" Target="notesSlides/notesSlide12.xml" Type="http://schemas.openxmlformats.org/officeDocument/2006/relationships/notesSlide"/><Relationship Id="rId49" Target="fonts/font49.fntdata" Type="http://schemas.openxmlformats.org/officeDocument/2006/relationships/font"/><Relationship Id="rId5" Target="tableStyles.xml" Type="http://schemas.openxmlformats.org/officeDocument/2006/relationships/tableStyles"/><Relationship Id="rId50" Target="notesSlides/notesSlide13.xml" Type="http://schemas.openxmlformats.org/officeDocument/2006/relationships/notesSlide"/><Relationship Id="rId51" Target="notesSlides/notesSlide14.xml" Type="http://schemas.openxmlformats.org/officeDocument/2006/relationships/notesSlide"/><Relationship Id="rId52" Target="notesSlides/notesSlide15.xml" Type="http://schemas.openxmlformats.org/officeDocument/2006/relationships/notesSlide"/><Relationship Id="rId53" Target="fonts/font53.fntdata" Type="http://schemas.openxmlformats.org/officeDocument/2006/relationships/font"/><Relationship Id="rId54" Target="notesSlides/notesSlide16.xml" Type="http://schemas.openxmlformats.org/officeDocument/2006/relationships/notesSlide"/><Relationship Id="rId55" Target="notesSlides/notesSlide17.xml" Type="http://schemas.openxmlformats.org/officeDocument/2006/relationships/notesSlide"/><Relationship Id="rId56" Target="notesSlides/notesSlide18.xml" Type="http://schemas.openxmlformats.org/officeDocument/2006/relationships/notesSlide"/><Relationship Id="rId57" Target="notesSlides/notesSlide19.xml" Type="http://schemas.openxmlformats.org/officeDocument/2006/relationships/notesSlide"/><Relationship Id="rId58" Target="notesSlides/notesSlide20.xml" Type="http://schemas.openxmlformats.org/officeDocument/2006/relationships/notesSlide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0.xml" Type="http://schemas.openxmlformats.org/officeDocument/2006/relationships/slide"/></Relationships>
</file>

<file path=ppt/notesSlides/_rels/notesSlide1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1.xml" Type="http://schemas.openxmlformats.org/officeDocument/2006/relationships/slide"/></Relationships>
</file>

<file path=ppt/notesSlides/_rels/notesSlide1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2.xml" Type="http://schemas.openxmlformats.org/officeDocument/2006/relationships/slide"/></Relationships>
</file>

<file path=ppt/notesSlides/_rels/notesSlide2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3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11" Target="../media/image10.pn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10.png" Type="http://schemas.openxmlformats.org/officeDocument/2006/relationships/image"/><Relationship Id="rId7" Target="../media/image15.png" Type="http://schemas.openxmlformats.org/officeDocument/2006/relationships/image"/><Relationship Id="rId8" Target="../media/image16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10.png" Type="http://schemas.openxmlformats.org/officeDocument/2006/relationships/image"/><Relationship Id="rId7" Target="../media/image17.png" Type="http://schemas.openxmlformats.org/officeDocument/2006/relationships/image"/><Relationship Id="rId8" Target="../media/image18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9.jpeg" Type="http://schemas.openxmlformats.org/officeDocument/2006/relationships/image"/><Relationship Id="rId4" Target="../media/image10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20.jpeg" Type="http://schemas.openxmlformats.org/officeDocument/2006/relationships/image"/><Relationship Id="rId4" Target="../media/image10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21.jpeg" Type="http://schemas.openxmlformats.org/officeDocument/2006/relationships/image"/><Relationship Id="rId4" Target="../media/image22.png" Type="http://schemas.openxmlformats.org/officeDocument/2006/relationships/image"/><Relationship Id="rId5" Target="../media/image23.svg" Type="http://schemas.openxmlformats.org/officeDocument/2006/relationships/image"/><Relationship Id="rId6" Target="../media/image10.png" Type="http://schemas.openxmlformats.org/officeDocument/2006/relationships/image"/><Relationship Id="rId7" Target="../media/image24.jpeg" Type="http://schemas.openxmlformats.org/officeDocument/2006/relationships/image"/><Relationship Id="rId8" Target="../media/image2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0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0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26.png" Type="http://schemas.openxmlformats.org/officeDocument/2006/relationships/image"/><Relationship Id="rId4" Target="../media/image10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27.jpeg" Type="http://schemas.openxmlformats.org/officeDocument/2006/relationships/image"/><Relationship Id="rId4" Target="../media/image10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28.png" Type="http://schemas.openxmlformats.org/officeDocument/2006/relationships/image"/><Relationship Id="rId4" Target="../media/image10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29.jpeg" Type="http://schemas.openxmlformats.org/officeDocument/2006/relationships/image"/><Relationship Id="rId4" Target="../media/image10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30.jpeg" Type="http://schemas.openxmlformats.org/officeDocument/2006/relationships/image"/><Relationship Id="rId4" Target="../media/image31.jpeg" Type="http://schemas.openxmlformats.org/officeDocument/2006/relationships/image"/><Relationship Id="rId5" Target="../media/image32.jpeg" Type="http://schemas.openxmlformats.org/officeDocument/2006/relationships/image"/><Relationship Id="rId6" Target="../media/image10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33.png" Type="http://schemas.openxmlformats.org/officeDocument/2006/relationships/image"/><Relationship Id="rId4" Target="../media/image10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34.png" Type="http://schemas.openxmlformats.org/officeDocument/2006/relationships/image"/><Relationship Id="rId4" Target="../media/image10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Relationship Id="rId3" Target="../media/image35.jpeg" Type="http://schemas.openxmlformats.org/officeDocument/2006/relationships/image"/><Relationship Id="rId4" Target="../media/image10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4.xml" Type="http://schemas.openxmlformats.org/officeDocument/2006/relationships/notesSlide"/><Relationship Id="rId3" Target="../media/image10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5.xml" Type="http://schemas.openxmlformats.org/officeDocument/2006/relationships/notesSlide"/><Relationship Id="rId3" Target="../media/image10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6.xml" Type="http://schemas.openxmlformats.org/officeDocument/2006/relationships/notesSlide"/><Relationship Id="rId3" Target="../media/image36.png" Type="http://schemas.openxmlformats.org/officeDocument/2006/relationships/image"/><Relationship Id="rId4" Target="../media/image10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7.xml" Type="http://schemas.openxmlformats.org/officeDocument/2006/relationships/notesSlide"/><Relationship Id="rId3" Target="../media/image10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8.xml" Type="http://schemas.openxmlformats.org/officeDocument/2006/relationships/notesSlide"/><Relationship Id="rId3" Target="../media/image37.jpeg" Type="http://schemas.openxmlformats.org/officeDocument/2006/relationships/image"/><Relationship Id="rId4" Target="../media/image10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9.xml" Type="http://schemas.openxmlformats.org/officeDocument/2006/relationships/notesSlide"/><Relationship Id="rId3" Target="../media/image38.png" Type="http://schemas.openxmlformats.org/officeDocument/2006/relationships/image"/><Relationship Id="rId4" Target="../media/image10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6.svg" Type="http://schemas.openxmlformats.org/officeDocument/2006/relationships/image"/><Relationship Id="rId11" Target="../media/image10.png" Type="http://schemas.openxmlformats.org/officeDocument/2006/relationships/image"/><Relationship Id="rId2" Target="../notesSlides/notesSlide20.xml" Type="http://schemas.openxmlformats.org/officeDocument/2006/relationships/notesSlide"/><Relationship Id="rId3" Target="../media/image39.png" Type="http://schemas.openxmlformats.org/officeDocument/2006/relationships/image"/><Relationship Id="rId4" Target="../media/image40.svg" Type="http://schemas.openxmlformats.org/officeDocument/2006/relationships/image"/><Relationship Id="rId5" Target="../media/image41.png" Type="http://schemas.openxmlformats.org/officeDocument/2006/relationships/image"/><Relationship Id="rId6" Target="../media/image42.svg" Type="http://schemas.openxmlformats.org/officeDocument/2006/relationships/image"/><Relationship Id="rId7" Target="../media/image43.png" Type="http://schemas.openxmlformats.org/officeDocument/2006/relationships/image"/><Relationship Id="rId8" Target="../media/image44.svg" Type="http://schemas.openxmlformats.org/officeDocument/2006/relationships/image"/><Relationship Id="rId9" Target="../media/image4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9172" r="0" b="-9172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9581321" y="0"/>
            <a:ext cx="8706679" cy="11512963"/>
          </a:xfrm>
          <a:custGeom>
            <a:avLst/>
            <a:gdLst/>
            <a:ahLst/>
            <a:cxnLst/>
            <a:rect r="r" b="b" t="t" l="l"/>
            <a:pathLst>
              <a:path h="11512963" w="8706679">
                <a:moveTo>
                  <a:pt x="0" y="0"/>
                </a:moveTo>
                <a:lnTo>
                  <a:pt x="8706679" y="0"/>
                </a:lnTo>
                <a:lnTo>
                  <a:pt x="8706679" y="11512963"/>
                </a:lnTo>
                <a:lnTo>
                  <a:pt x="0" y="1151296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201" t="0" r="-202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788875" y="237256"/>
            <a:ext cx="10049744" cy="10049744"/>
          </a:xfrm>
          <a:custGeom>
            <a:avLst/>
            <a:gdLst/>
            <a:ahLst/>
            <a:cxnLst/>
            <a:rect r="r" b="b" t="t" l="l"/>
            <a:pathLst>
              <a:path h="10049744" w="10049744">
                <a:moveTo>
                  <a:pt x="0" y="0"/>
                </a:moveTo>
                <a:lnTo>
                  <a:pt x="10049744" y="0"/>
                </a:lnTo>
                <a:lnTo>
                  <a:pt x="10049744" y="10049744"/>
                </a:lnTo>
                <a:lnTo>
                  <a:pt x="0" y="1004974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36760" y="8700782"/>
            <a:ext cx="1082840" cy="270710"/>
          </a:xfrm>
          <a:custGeom>
            <a:avLst/>
            <a:gdLst/>
            <a:ahLst/>
            <a:cxnLst/>
            <a:rect r="r" b="b" t="t" l="l"/>
            <a:pathLst>
              <a:path h="270710" w="1082840">
                <a:moveTo>
                  <a:pt x="0" y="0"/>
                </a:moveTo>
                <a:lnTo>
                  <a:pt x="1082840" y="0"/>
                </a:lnTo>
                <a:lnTo>
                  <a:pt x="1082840" y="270710"/>
                </a:lnTo>
                <a:lnTo>
                  <a:pt x="0" y="27071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876" r="0" b="-879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176460" y="991114"/>
            <a:ext cx="1082840" cy="270710"/>
          </a:xfrm>
          <a:custGeom>
            <a:avLst/>
            <a:gdLst/>
            <a:ahLst/>
            <a:cxnLst/>
            <a:rect r="r" b="b" t="t" l="l"/>
            <a:pathLst>
              <a:path h="270710" w="1082840">
                <a:moveTo>
                  <a:pt x="0" y="0"/>
                </a:moveTo>
                <a:lnTo>
                  <a:pt x="1082840" y="0"/>
                </a:lnTo>
                <a:lnTo>
                  <a:pt x="1082840" y="270710"/>
                </a:lnTo>
                <a:lnTo>
                  <a:pt x="0" y="27071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-876" r="0" b="-879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760880" y="2546280"/>
            <a:ext cx="11256867" cy="2240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483"/>
              </a:lnSpc>
            </a:pPr>
            <a:r>
              <a:rPr lang="en-US" b="true" sz="11774" spc="-388">
                <a:solidFill>
                  <a:srgbClr val="0049AB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AI Engineering</a:t>
            </a:r>
            <a:r>
              <a:rPr lang="en-US" b="true" sz="11774" spc="-388">
                <a:solidFill>
                  <a:srgbClr val="0049AB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60880" y="4240174"/>
            <a:ext cx="13597980" cy="3044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583"/>
              </a:lnSpc>
            </a:pPr>
            <a:r>
              <a:rPr lang="en-US" b="true" sz="8273" spc="-264">
                <a:solidFill>
                  <a:srgbClr val="E91817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&amp; Intelligent Systems</a:t>
            </a:r>
          </a:p>
          <a:p>
            <a:pPr algn="l">
              <a:lnSpc>
                <a:spcPts val="11583"/>
              </a:lnSpc>
            </a:pPr>
          </a:p>
        </p:txBody>
      </p:sp>
      <p:grpSp>
        <p:nvGrpSpPr>
          <p:cNvPr name="Group 10" id="10"/>
          <p:cNvGrpSpPr/>
          <p:nvPr/>
        </p:nvGrpSpPr>
        <p:grpSpPr>
          <a:xfrm rot="0">
            <a:off x="760880" y="359840"/>
            <a:ext cx="4850540" cy="1262549"/>
            <a:chOff x="0" y="0"/>
            <a:chExt cx="4585830" cy="119364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585843" cy="1193673"/>
            </a:xfrm>
            <a:custGeom>
              <a:avLst/>
              <a:gdLst/>
              <a:ahLst/>
              <a:cxnLst/>
              <a:rect r="r" b="b" t="t" l="l"/>
              <a:pathLst>
                <a:path h="1193673" w="4585843">
                  <a:moveTo>
                    <a:pt x="0" y="0"/>
                  </a:moveTo>
                  <a:lnTo>
                    <a:pt x="4585843" y="0"/>
                  </a:lnTo>
                  <a:lnTo>
                    <a:pt x="4585843" y="1193673"/>
                  </a:lnTo>
                  <a:lnTo>
                    <a:pt x="0" y="11936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-4883" r="0" b="-4881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381125" y="6105525"/>
            <a:ext cx="8963025" cy="1745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514"/>
              </a:lnSpc>
              <a:spcBef>
                <a:spcPct val="0"/>
              </a:spcBef>
            </a:pPr>
            <a:r>
              <a:rPr lang="en-US" b="true" sz="2510" i="true" spc="-82" strike="noStrike" u="none">
                <a:solidFill>
                  <a:srgbClr val="000000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From foundational AI concepts to the design, training, and deployment of intelligent systems that solve real-world problems.</a:t>
            </a:r>
          </a:p>
          <a:p>
            <a:pPr algn="ctr">
              <a:lnSpc>
                <a:spcPts val="351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5A0A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06386" y="398712"/>
            <a:ext cx="17675228" cy="9963188"/>
          </a:xfrm>
          <a:custGeom>
            <a:avLst/>
            <a:gdLst/>
            <a:ahLst/>
            <a:cxnLst/>
            <a:rect r="r" b="b" t="t" l="l"/>
            <a:pathLst>
              <a:path h="9963188" w="17675228">
                <a:moveTo>
                  <a:pt x="0" y="0"/>
                </a:moveTo>
                <a:lnTo>
                  <a:pt x="17675228" y="0"/>
                </a:lnTo>
                <a:lnTo>
                  <a:pt x="17675228" y="9963188"/>
                </a:lnTo>
                <a:lnTo>
                  <a:pt x="0" y="99631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920807" y="-231277"/>
            <a:ext cx="3580352" cy="1259977"/>
          </a:xfrm>
          <a:custGeom>
            <a:avLst/>
            <a:gdLst/>
            <a:ahLst/>
            <a:cxnLst/>
            <a:rect r="r" b="b" t="t" l="l"/>
            <a:pathLst>
              <a:path h="1259977" w="3580352">
                <a:moveTo>
                  <a:pt x="0" y="0"/>
                </a:moveTo>
                <a:lnTo>
                  <a:pt x="3580352" y="0"/>
                </a:lnTo>
                <a:lnTo>
                  <a:pt x="3580352" y="1259977"/>
                </a:lnTo>
                <a:lnTo>
                  <a:pt x="0" y="125997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3983929" y="158039"/>
            <a:ext cx="3439373" cy="895236"/>
            <a:chOff x="0" y="0"/>
            <a:chExt cx="4585830" cy="119364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585843" cy="1193673"/>
            </a:xfrm>
            <a:custGeom>
              <a:avLst/>
              <a:gdLst/>
              <a:ahLst/>
              <a:cxnLst/>
              <a:rect r="r" b="b" t="t" l="l"/>
              <a:pathLst>
                <a:path h="1193673" w="4585843">
                  <a:moveTo>
                    <a:pt x="0" y="0"/>
                  </a:moveTo>
                  <a:lnTo>
                    <a:pt x="4585843" y="0"/>
                  </a:lnTo>
                  <a:lnTo>
                    <a:pt x="4585843" y="1193673"/>
                  </a:lnTo>
                  <a:lnTo>
                    <a:pt x="0" y="11936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4883" r="0" b="-4881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605119" y="2633878"/>
            <a:ext cx="4245917" cy="6372815"/>
          </a:xfrm>
          <a:custGeom>
            <a:avLst/>
            <a:gdLst/>
            <a:ahLst/>
            <a:cxnLst/>
            <a:rect r="r" b="b" t="t" l="l"/>
            <a:pathLst>
              <a:path h="6372815" w="4245917">
                <a:moveTo>
                  <a:pt x="0" y="0"/>
                </a:moveTo>
                <a:lnTo>
                  <a:pt x="4245918" y="0"/>
                </a:lnTo>
                <a:lnTo>
                  <a:pt x="4245918" y="6372814"/>
                </a:lnTo>
                <a:lnTo>
                  <a:pt x="0" y="637281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937115" y="4256043"/>
            <a:ext cx="11608195" cy="2728312"/>
          </a:xfrm>
          <a:custGeom>
            <a:avLst/>
            <a:gdLst/>
            <a:ahLst/>
            <a:cxnLst/>
            <a:rect r="r" b="b" t="t" l="l"/>
            <a:pathLst>
              <a:path h="2728312" w="11608195">
                <a:moveTo>
                  <a:pt x="0" y="0"/>
                </a:moveTo>
                <a:lnTo>
                  <a:pt x="11608195" y="0"/>
                </a:lnTo>
                <a:lnTo>
                  <a:pt x="11608195" y="2728312"/>
                </a:lnTo>
                <a:lnTo>
                  <a:pt x="0" y="272831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5A0A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54514" y="297043"/>
            <a:ext cx="17675228" cy="9963188"/>
          </a:xfrm>
          <a:custGeom>
            <a:avLst/>
            <a:gdLst/>
            <a:ahLst/>
            <a:cxnLst/>
            <a:rect r="r" b="b" t="t" l="l"/>
            <a:pathLst>
              <a:path h="9963188" w="17675228">
                <a:moveTo>
                  <a:pt x="0" y="0"/>
                </a:moveTo>
                <a:lnTo>
                  <a:pt x="17675228" y="0"/>
                </a:lnTo>
                <a:lnTo>
                  <a:pt x="17675228" y="9963188"/>
                </a:lnTo>
                <a:lnTo>
                  <a:pt x="0" y="99631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920807" y="-231277"/>
            <a:ext cx="3580352" cy="1259977"/>
          </a:xfrm>
          <a:custGeom>
            <a:avLst/>
            <a:gdLst/>
            <a:ahLst/>
            <a:cxnLst/>
            <a:rect r="r" b="b" t="t" l="l"/>
            <a:pathLst>
              <a:path h="1259977" w="3580352">
                <a:moveTo>
                  <a:pt x="0" y="0"/>
                </a:moveTo>
                <a:lnTo>
                  <a:pt x="3580352" y="0"/>
                </a:lnTo>
                <a:lnTo>
                  <a:pt x="3580352" y="1259977"/>
                </a:lnTo>
                <a:lnTo>
                  <a:pt x="0" y="125997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3983929" y="158039"/>
            <a:ext cx="3439373" cy="895236"/>
            <a:chOff x="0" y="0"/>
            <a:chExt cx="4585830" cy="119364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585843" cy="1193673"/>
            </a:xfrm>
            <a:custGeom>
              <a:avLst/>
              <a:gdLst/>
              <a:ahLst/>
              <a:cxnLst/>
              <a:rect r="r" b="b" t="t" l="l"/>
              <a:pathLst>
                <a:path h="1193673" w="4585843">
                  <a:moveTo>
                    <a:pt x="0" y="0"/>
                  </a:moveTo>
                  <a:lnTo>
                    <a:pt x="4585843" y="0"/>
                  </a:lnTo>
                  <a:lnTo>
                    <a:pt x="4585843" y="1193673"/>
                  </a:lnTo>
                  <a:lnTo>
                    <a:pt x="0" y="11936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4883" r="0" b="-4881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3217363" y="1926842"/>
            <a:ext cx="4283796" cy="6433316"/>
          </a:xfrm>
          <a:custGeom>
            <a:avLst/>
            <a:gdLst/>
            <a:ahLst/>
            <a:cxnLst/>
            <a:rect r="r" b="b" t="t" l="l"/>
            <a:pathLst>
              <a:path h="6433316" w="4283796">
                <a:moveTo>
                  <a:pt x="0" y="0"/>
                </a:moveTo>
                <a:lnTo>
                  <a:pt x="4283796" y="0"/>
                </a:lnTo>
                <a:lnTo>
                  <a:pt x="4283796" y="6433316"/>
                </a:lnTo>
                <a:lnTo>
                  <a:pt x="0" y="643331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778567" y="2217920"/>
            <a:ext cx="11391309" cy="6142238"/>
          </a:xfrm>
          <a:custGeom>
            <a:avLst/>
            <a:gdLst/>
            <a:ahLst/>
            <a:cxnLst/>
            <a:rect r="r" b="b" t="t" l="l"/>
            <a:pathLst>
              <a:path h="6142238" w="11391309">
                <a:moveTo>
                  <a:pt x="0" y="0"/>
                </a:moveTo>
                <a:lnTo>
                  <a:pt x="11391310" y="0"/>
                </a:lnTo>
                <a:lnTo>
                  <a:pt x="11391310" y="6142238"/>
                </a:lnTo>
                <a:lnTo>
                  <a:pt x="0" y="614223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EDE9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CF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6858000" cy="10287000"/>
            <a:chOff x="0" y="0"/>
            <a:chExt cx="9144000" cy="137160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7850238" y="3553120"/>
            <a:ext cx="9445523" cy="1810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63"/>
              </a:lnSpc>
            </a:pPr>
            <a:r>
              <a:rPr lang="en-US" sz="5499" b="true">
                <a:solidFill>
                  <a:srgbClr val="443728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Python Control Flow: Mastering Logic and Loops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850238" y="5702646"/>
            <a:ext cx="9445523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199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A step-by-step guide to conditionals, loops, and functions — the building blocks of every great Python program.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3983929" y="158039"/>
            <a:ext cx="3439373" cy="895236"/>
            <a:chOff x="0" y="0"/>
            <a:chExt cx="4585830" cy="119364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585843" cy="1193673"/>
            </a:xfrm>
            <a:custGeom>
              <a:avLst/>
              <a:gdLst/>
              <a:ahLst/>
              <a:cxnLst/>
              <a:rect r="r" b="b" t="t" l="l"/>
              <a:pathLst>
                <a:path h="1193673" w="4585843">
                  <a:moveTo>
                    <a:pt x="0" y="0"/>
                  </a:moveTo>
                  <a:lnTo>
                    <a:pt x="4585843" y="0"/>
                  </a:lnTo>
                  <a:lnTo>
                    <a:pt x="4585843" y="1193673"/>
                  </a:lnTo>
                  <a:lnTo>
                    <a:pt x="0" y="11936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4883" r="0" b="-4881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EDE9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CF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6858000" cy="10287000"/>
            <a:chOff x="0" y="0"/>
            <a:chExt cx="9144000" cy="137160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7850238" y="3535413"/>
            <a:ext cx="1508970" cy="430711"/>
            <a:chOff x="0" y="0"/>
            <a:chExt cx="2011959" cy="57428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11934" cy="574294"/>
            </a:xfrm>
            <a:custGeom>
              <a:avLst/>
              <a:gdLst/>
              <a:ahLst/>
              <a:cxnLst/>
              <a:rect r="r" b="b" t="t" l="l"/>
              <a:pathLst>
                <a:path h="574294" w="2011934">
                  <a:moveTo>
                    <a:pt x="0" y="127000"/>
                  </a:moveTo>
                  <a:cubicBezTo>
                    <a:pt x="0" y="56896"/>
                    <a:pt x="56896" y="0"/>
                    <a:pt x="127000" y="0"/>
                  </a:cubicBezTo>
                  <a:lnTo>
                    <a:pt x="1884934" y="0"/>
                  </a:lnTo>
                  <a:cubicBezTo>
                    <a:pt x="1955038" y="0"/>
                    <a:pt x="2011934" y="56896"/>
                    <a:pt x="2011934" y="127000"/>
                  </a:cubicBezTo>
                  <a:lnTo>
                    <a:pt x="2011934" y="447294"/>
                  </a:lnTo>
                  <a:cubicBezTo>
                    <a:pt x="2011934" y="517398"/>
                    <a:pt x="1955038" y="574294"/>
                    <a:pt x="1884934" y="574294"/>
                  </a:cubicBezTo>
                  <a:lnTo>
                    <a:pt x="127000" y="574294"/>
                  </a:lnTo>
                  <a:cubicBezTo>
                    <a:pt x="56896" y="574294"/>
                    <a:pt x="0" y="517398"/>
                    <a:pt x="0" y="447294"/>
                  </a:cubicBezTo>
                  <a:close/>
                </a:path>
              </a:pathLst>
            </a:custGeom>
            <a:solidFill>
              <a:srgbClr val="EBE2E0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8020345" y="3629920"/>
            <a:ext cx="2083146" cy="251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8"/>
              </a:lnSpc>
            </a:pPr>
            <a:r>
              <a:rPr lang="en-US" sz="1700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CHAPTER 1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850238" y="4041429"/>
            <a:ext cx="9445523" cy="924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63"/>
              </a:lnSpc>
            </a:pPr>
            <a:r>
              <a:rPr lang="en-US" sz="5499" b="true">
                <a:solidFill>
                  <a:srgbClr val="443728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The Foundation of Choice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850238" y="5304977"/>
            <a:ext cx="9445523" cy="1446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199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Every meaningful program makes decisions. Conditionals give your code the power to choose, branch, and respond — just like the human mind.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3983929" y="158039"/>
            <a:ext cx="3439373" cy="895236"/>
            <a:chOff x="0" y="0"/>
            <a:chExt cx="4585830" cy="119364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585843" cy="1193673"/>
            </a:xfrm>
            <a:custGeom>
              <a:avLst/>
              <a:gdLst/>
              <a:ahLst/>
              <a:cxnLst/>
              <a:rect r="r" b="b" t="t" l="l"/>
              <a:pathLst>
                <a:path h="1193673" w="4585843">
                  <a:moveTo>
                    <a:pt x="0" y="0"/>
                  </a:moveTo>
                  <a:lnTo>
                    <a:pt x="4585843" y="0"/>
                  </a:lnTo>
                  <a:lnTo>
                    <a:pt x="4585843" y="1193673"/>
                  </a:lnTo>
                  <a:lnTo>
                    <a:pt x="0" y="11936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4883" r="0" b="-4881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EDE9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CFA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759019"/>
            <a:ext cx="16303523" cy="762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40"/>
              </a:lnSpc>
            </a:pPr>
            <a:r>
              <a:rPr lang="en-US" sz="4599" b="true">
                <a:solidFill>
                  <a:srgbClr val="443728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How Computers Think: Control Flow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92238" y="2031502"/>
            <a:ext cx="5333848" cy="5333848"/>
            <a:chOff x="0" y="0"/>
            <a:chExt cx="7111797" cy="7111797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7111746" cy="7111746"/>
            </a:xfrm>
            <a:custGeom>
              <a:avLst/>
              <a:gdLst/>
              <a:ahLst/>
              <a:cxnLst/>
              <a:rect r="r" b="b" t="t" l="l"/>
              <a:pathLst>
                <a:path h="7111746" w="7111746">
                  <a:moveTo>
                    <a:pt x="0" y="0"/>
                  </a:moveTo>
                  <a:lnTo>
                    <a:pt x="7111746" y="0"/>
                  </a:lnTo>
                  <a:lnTo>
                    <a:pt x="7111746" y="7111746"/>
                  </a:lnTo>
                  <a:lnTo>
                    <a:pt x="0" y="71117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6908302" y="4065089"/>
            <a:ext cx="10396833" cy="385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0"/>
              </a:lnSpc>
            </a:pPr>
            <a:r>
              <a:rPr lang="en-US" sz="2300" b="true">
                <a:solidFill>
                  <a:srgbClr val="443728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Execution Order Matters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908302" y="4607271"/>
            <a:ext cx="10396833" cy="724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5"/>
              </a:lnSpc>
            </a:pPr>
            <a:r>
              <a:rPr lang="en-US" sz="1800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By default, Python runs statements </a:t>
            </a:r>
            <a:r>
              <a:rPr lang="en-US" sz="1800" b="true">
                <a:solidFill>
                  <a:srgbClr val="44372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top to bottom</a:t>
            </a:r>
            <a:r>
              <a:rPr lang="en-US" sz="1800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, one line at a time. Control flow breaks that linearity — letting you skip, repeat, or redirect execution based on conditions.</a:t>
            </a:r>
          </a:p>
        </p:txBody>
      </p:sp>
      <p:sp>
        <p:nvSpPr>
          <p:cNvPr name="Freeform 11" id="11" descr="preencoded.png"/>
          <p:cNvSpPr/>
          <p:nvPr/>
        </p:nvSpPr>
        <p:spPr>
          <a:xfrm flipH="false" flipV="false" rot="0">
            <a:off x="992238" y="7802613"/>
            <a:ext cx="5304834" cy="1696641"/>
          </a:xfrm>
          <a:custGeom>
            <a:avLst/>
            <a:gdLst/>
            <a:ahLst/>
            <a:cxnLst/>
            <a:rect r="r" b="b" t="t" l="l"/>
            <a:pathLst>
              <a:path h="1696641" w="5304834">
                <a:moveTo>
                  <a:pt x="0" y="0"/>
                </a:moveTo>
                <a:lnTo>
                  <a:pt x="5304835" y="0"/>
                </a:lnTo>
                <a:lnTo>
                  <a:pt x="5304835" y="1696641"/>
                </a:lnTo>
                <a:lnTo>
                  <a:pt x="0" y="16966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239" r="0" b="-24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369809" y="8046844"/>
            <a:ext cx="4663973" cy="385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0"/>
              </a:lnSpc>
            </a:pPr>
            <a:r>
              <a:rPr lang="en-US" sz="2300" b="true">
                <a:solidFill>
                  <a:srgbClr val="443728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Sequential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69809" y="8511178"/>
            <a:ext cx="4663973" cy="3814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5"/>
              </a:lnSpc>
            </a:pPr>
            <a:r>
              <a:rPr lang="en-US" sz="1800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Default top-to-bottom execution</a:t>
            </a:r>
          </a:p>
        </p:txBody>
      </p:sp>
      <p:sp>
        <p:nvSpPr>
          <p:cNvPr name="Freeform 14" id="14" descr="preencoded.png"/>
          <p:cNvSpPr/>
          <p:nvPr/>
        </p:nvSpPr>
        <p:spPr>
          <a:xfrm flipH="false" flipV="false" rot="0">
            <a:off x="6491440" y="7802613"/>
            <a:ext cx="5304977" cy="1696641"/>
          </a:xfrm>
          <a:custGeom>
            <a:avLst/>
            <a:gdLst/>
            <a:ahLst/>
            <a:cxnLst/>
            <a:rect r="r" b="b" t="t" l="l"/>
            <a:pathLst>
              <a:path h="1696641" w="5304977">
                <a:moveTo>
                  <a:pt x="0" y="0"/>
                </a:moveTo>
                <a:lnTo>
                  <a:pt x="5304977" y="0"/>
                </a:lnTo>
                <a:lnTo>
                  <a:pt x="5304977" y="1696641"/>
                </a:lnTo>
                <a:lnTo>
                  <a:pt x="0" y="16966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241" r="0" b="-241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6869011" y="8046844"/>
            <a:ext cx="4664126" cy="385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0"/>
              </a:lnSpc>
            </a:pPr>
            <a:r>
              <a:rPr lang="en-US" sz="2300" b="true">
                <a:solidFill>
                  <a:srgbClr val="443728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Conditional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869011" y="8511178"/>
            <a:ext cx="4664126" cy="3814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5"/>
              </a:lnSpc>
            </a:pPr>
            <a:r>
              <a:rPr lang="en-US" sz="1800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Skip blocks when conditions fail</a:t>
            </a:r>
          </a:p>
        </p:txBody>
      </p:sp>
      <p:sp>
        <p:nvSpPr>
          <p:cNvPr name="Freeform 17" id="17" descr="preencoded.png"/>
          <p:cNvSpPr/>
          <p:nvPr/>
        </p:nvSpPr>
        <p:spPr>
          <a:xfrm flipH="false" flipV="false" rot="0">
            <a:off x="11990784" y="7802613"/>
            <a:ext cx="5304834" cy="1696641"/>
          </a:xfrm>
          <a:custGeom>
            <a:avLst/>
            <a:gdLst/>
            <a:ahLst/>
            <a:cxnLst/>
            <a:rect r="r" b="b" t="t" l="l"/>
            <a:pathLst>
              <a:path h="1696641" w="5304834">
                <a:moveTo>
                  <a:pt x="0" y="0"/>
                </a:moveTo>
                <a:lnTo>
                  <a:pt x="5304835" y="0"/>
                </a:lnTo>
                <a:lnTo>
                  <a:pt x="5304835" y="1696641"/>
                </a:lnTo>
                <a:lnTo>
                  <a:pt x="0" y="16966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239" r="0" b="-24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2368365" y="8046844"/>
            <a:ext cx="4663973" cy="385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0"/>
              </a:lnSpc>
            </a:pPr>
            <a:r>
              <a:rPr lang="en-US" sz="2300" b="true">
                <a:solidFill>
                  <a:srgbClr val="443728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Indentation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368365" y="8511178"/>
            <a:ext cx="4663973" cy="724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5"/>
              </a:lnSpc>
            </a:pPr>
            <a:r>
              <a:rPr lang="en-US" sz="1800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Defines code blocks — no brackets needed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3983929" y="158039"/>
            <a:ext cx="3439373" cy="895236"/>
            <a:chOff x="0" y="0"/>
            <a:chExt cx="4585830" cy="119364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585843" cy="1193673"/>
            </a:xfrm>
            <a:custGeom>
              <a:avLst/>
              <a:gdLst/>
              <a:ahLst/>
              <a:cxnLst/>
              <a:rect r="r" b="b" t="t" l="l"/>
              <a:pathLst>
                <a:path h="1193673" w="4585843">
                  <a:moveTo>
                    <a:pt x="0" y="0"/>
                  </a:moveTo>
                  <a:lnTo>
                    <a:pt x="4585843" y="0"/>
                  </a:lnTo>
                  <a:lnTo>
                    <a:pt x="4585843" y="1193673"/>
                  </a:lnTo>
                  <a:lnTo>
                    <a:pt x="0" y="11936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4883" r="0" b="-4881"/>
              </a:stretch>
            </a:blipFill>
          </p:spPr>
        </p:sp>
      </p:grpSp>
      <p:grpSp>
        <p:nvGrpSpPr>
          <p:cNvPr name="Group 22" id="22"/>
          <p:cNvGrpSpPr>
            <a:grpSpLocks noChangeAspect="true"/>
          </p:cNvGrpSpPr>
          <p:nvPr/>
        </p:nvGrpSpPr>
        <p:grpSpPr>
          <a:xfrm rot="0">
            <a:off x="1741358" y="2183711"/>
            <a:ext cx="3806596" cy="4956505"/>
            <a:chOff x="0" y="0"/>
            <a:chExt cx="14630400" cy="190500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604520" y="545084"/>
              <a:ext cx="13421360" cy="17959831"/>
            </a:xfrm>
            <a:custGeom>
              <a:avLst/>
              <a:gdLst/>
              <a:ahLst/>
              <a:cxnLst/>
              <a:rect r="r" b="b" t="t" l="l"/>
              <a:pathLst>
                <a:path h="17959831" w="13421360">
                  <a:moveTo>
                    <a:pt x="13421360" y="17959831"/>
                  </a:moveTo>
                  <a:lnTo>
                    <a:pt x="0" y="17959831"/>
                  </a:lnTo>
                  <a:lnTo>
                    <a:pt x="0" y="0"/>
                  </a:lnTo>
                  <a:lnTo>
                    <a:pt x="13421360" y="0"/>
                  </a:lnTo>
                  <a:lnTo>
                    <a:pt x="13421360" y="17959831"/>
                  </a:lnTo>
                  <a:close/>
                </a:path>
              </a:pathLst>
            </a:custGeom>
            <a:blipFill>
              <a:blip r:embed="rId7"/>
              <a:stretch>
                <a:fillRect l="-93917" t="0" r="-6930" b="0"/>
              </a:stretch>
            </a:blip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4630400" cy="19050000"/>
            </a:xfrm>
            <a:custGeom>
              <a:avLst/>
              <a:gdLst/>
              <a:ahLst/>
              <a:cxnLst/>
              <a:rect r="r" b="b" t="t" l="l"/>
              <a:pathLst>
                <a:path h="19050000" w="14630400">
                  <a:moveTo>
                    <a:pt x="14630400" y="19050000"/>
                  </a:moveTo>
                  <a:lnTo>
                    <a:pt x="0" y="19050000"/>
                  </a:lnTo>
                  <a:lnTo>
                    <a:pt x="0" y="0"/>
                  </a:lnTo>
                  <a:lnTo>
                    <a:pt x="14630400" y="0"/>
                  </a:lnTo>
                  <a:lnTo>
                    <a:pt x="14630400" y="19050000"/>
                  </a:lnTo>
                  <a:close/>
                </a:path>
              </a:pathLst>
            </a:custGeom>
            <a:blipFill>
              <a:blip r:embed="rId8"/>
              <a:stretch>
                <a:fillRect l="0" t="-32" r="0" b="-32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EDE9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CFA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1277245"/>
            <a:ext cx="16303523" cy="924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63"/>
              </a:lnSpc>
            </a:pPr>
            <a:r>
              <a:rPr lang="en-US" sz="5499" b="true">
                <a:solidFill>
                  <a:srgbClr val="443728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Boolean Expressions: The True or False Switch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2682631"/>
            <a:ext cx="17217923" cy="53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199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Every decision in Python boils down to a single question: </a:t>
            </a:r>
            <a:r>
              <a:rPr lang="en-US" sz="2199" b="true">
                <a:solidFill>
                  <a:srgbClr val="44372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True or False?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87476" y="3536156"/>
            <a:ext cx="5254971" cy="2739628"/>
            <a:chOff x="0" y="0"/>
            <a:chExt cx="7006628" cy="365283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006717" cy="3652901"/>
            </a:xfrm>
            <a:custGeom>
              <a:avLst/>
              <a:gdLst/>
              <a:ahLst/>
              <a:cxnLst/>
              <a:rect r="r" b="b" t="t" l="l"/>
              <a:pathLst>
                <a:path h="3652901" w="7006717">
                  <a:moveTo>
                    <a:pt x="0" y="159385"/>
                  </a:moveTo>
                  <a:cubicBezTo>
                    <a:pt x="0" y="71374"/>
                    <a:pt x="71374" y="0"/>
                    <a:pt x="159385" y="0"/>
                  </a:cubicBezTo>
                  <a:lnTo>
                    <a:pt x="6847332" y="0"/>
                  </a:lnTo>
                  <a:cubicBezTo>
                    <a:pt x="6935343" y="0"/>
                    <a:pt x="7006717" y="71374"/>
                    <a:pt x="7006717" y="159385"/>
                  </a:cubicBezTo>
                  <a:lnTo>
                    <a:pt x="7006717" y="3493516"/>
                  </a:lnTo>
                  <a:cubicBezTo>
                    <a:pt x="7006717" y="3581527"/>
                    <a:pt x="6935343" y="3652901"/>
                    <a:pt x="6847332" y="3652901"/>
                  </a:cubicBezTo>
                  <a:lnTo>
                    <a:pt x="159385" y="3652901"/>
                  </a:lnTo>
                  <a:cubicBezTo>
                    <a:pt x="71374" y="3652901"/>
                    <a:pt x="0" y="3581527"/>
                    <a:pt x="0" y="3493516"/>
                  </a:cubicBezTo>
                  <a:close/>
                </a:path>
              </a:pathLst>
            </a:custGeom>
            <a:solidFill>
              <a:srgbClr val="EBE2E0"/>
            </a:solidFill>
            <a:ln w="9526" cap="sq">
              <a:solidFill>
                <a:srgbClr val="D1C8C6"/>
              </a:solidFill>
              <a:prstDash val="solid"/>
              <a:miter/>
            </a:ln>
          </p:spPr>
        </p:sp>
      </p:grpSp>
      <p:sp>
        <p:nvSpPr>
          <p:cNvPr name="TextBox 10" id="10"/>
          <p:cNvSpPr txBox="true"/>
          <p:nvPr/>
        </p:nvSpPr>
        <p:spPr>
          <a:xfrm rot="0">
            <a:off x="1285284" y="3814915"/>
            <a:ext cx="4659363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 b="true">
                <a:solidFill>
                  <a:srgbClr val="443728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Comparison Operators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85284" y="4361259"/>
            <a:ext cx="4659363" cy="1616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199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==  !=  &gt;  &lt;  &gt;=  &lt;=</a:t>
            </a:r>
          </a:p>
          <a:p>
            <a:pPr algn="l">
              <a:lnSpc>
                <a:spcPts val="3511"/>
              </a:lnSpc>
            </a:pPr>
            <a:r>
              <a:rPr lang="en-US" sz="2199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Compare two values and return a Boolean result.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6516443" y="3536156"/>
            <a:ext cx="5254971" cy="2739628"/>
            <a:chOff x="0" y="0"/>
            <a:chExt cx="7006628" cy="365283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006717" cy="3652901"/>
            </a:xfrm>
            <a:custGeom>
              <a:avLst/>
              <a:gdLst/>
              <a:ahLst/>
              <a:cxnLst/>
              <a:rect r="r" b="b" t="t" l="l"/>
              <a:pathLst>
                <a:path h="3652901" w="7006717">
                  <a:moveTo>
                    <a:pt x="0" y="159385"/>
                  </a:moveTo>
                  <a:cubicBezTo>
                    <a:pt x="0" y="71374"/>
                    <a:pt x="71374" y="0"/>
                    <a:pt x="159385" y="0"/>
                  </a:cubicBezTo>
                  <a:lnTo>
                    <a:pt x="6847332" y="0"/>
                  </a:lnTo>
                  <a:cubicBezTo>
                    <a:pt x="6935343" y="0"/>
                    <a:pt x="7006717" y="71374"/>
                    <a:pt x="7006717" y="159385"/>
                  </a:cubicBezTo>
                  <a:lnTo>
                    <a:pt x="7006717" y="3493516"/>
                  </a:lnTo>
                  <a:cubicBezTo>
                    <a:pt x="7006717" y="3581527"/>
                    <a:pt x="6935343" y="3652901"/>
                    <a:pt x="6847332" y="3652901"/>
                  </a:cubicBezTo>
                  <a:lnTo>
                    <a:pt x="159385" y="3652901"/>
                  </a:lnTo>
                  <a:cubicBezTo>
                    <a:pt x="71374" y="3652901"/>
                    <a:pt x="0" y="3581527"/>
                    <a:pt x="0" y="3493516"/>
                  </a:cubicBezTo>
                  <a:close/>
                </a:path>
              </a:pathLst>
            </a:custGeom>
            <a:solidFill>
              <a:srgbClr val="EBE2E0"/>
            </a:solidFill>
            <a:ln w="9526" cap="sq">
              <a:solidFill>
                <a:srgbClr val="D1C8C6"/>
              </a:solidFill>
              <a:prstDash val="solid"/>
              <a:miter/>
            </a:ln>
          </p:spPr>
        </p:sp>
      </p:grpSp>
      <p:sp>
        <p:nvSpPr>
          <p:cNvPr name="TextBox 14" id="14"/>
          <p:cNvSpPr txBox="true"/>
          <p:nvPr/>
        </p:nvSpPr>
        <p:spPr>
          <a:xfrm rot="0">
            <a:off x="6814242" y="3814915"/>
            <a:ext cx="4659363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 b="true">
                <a:solidFill>
                  <a:srgbClr val="443728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Truthy Values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814242" y="4361259"/>
            <a:ext cx="4659363" cy="1446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199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Non-zero numbers, non-empty strings and lists all evaluate as </a:t>
            </a:r>
            <a:r>
              <a:rPr lang="en-US" sz="2199" b="true">
                <a:solidFill>
                  <a:srgbClr val="44372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True</a:t>
            </a:r>
            <a:r>
              <a:rPr lang="en-US" sz="2199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 automatically.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2045401" y="3536156"/>
            <a:ext cx="5254971" cy="2739628"/>
            <a:chOff x="0" y="0"/>
            <a:chExt cx="7006628" cy="365283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006717" cy="3652901"/>
            </a:xfrm>
            <a:custGeom>
              <a:avLst/>
              <a:gdLst/>
              <a:ahLst/>
              <a:cxnLst/>
              <a:rect r="r" b="b" t="t" l="l"/>
              <a:pathLst>
                <a:path h="3652901" w="7006717">
                  <a:moveTo>
                    <a:pt x="0" y="159385"/>
                  </a:moveTo>
                  <a:cubicBezTo>
                    <a:pt x="0" y="71374"/>
                    <a:pt x="71374" y="0"/>
                    <a:pt x="159385" y="0"/>
                  </a:cubicBezTo>
                  <a:lnTo>
                    <a:pt x="6847332" y="0"/>
                  </a:lnTo>
                  <a:cubicBezTo>
                    <a:pt x="6935343" y="0"/>
                    <a:pt x="7006717" y="71374"/>
                    <a:pt x="7006717" y="159385"/>
                  </a:cubicBezTo>
                  <a:lnTo>
                    <a:pt x="7006717" y="3493516"/>
                  </a:lnTo>
                  <a:cubicBezTo>
                    <a:pt x="7006717" y="3581527"/>
                    <a:pt x="6935343" y="3652901"/>
                    <a:pt x="6847332" y="3652901"/>
                  </a:cubicBezTo>
                  <a:lnTo>
                    <a:pt x="159385" y="3652901"/>
                  </a:lnTo>
                  <a:cubicBezTo>
                    <a:pt x="71374" y="3652901"/>
                    <a:pt x="0" y="3581527"/>
                    <a:pt x="0" y="3493516"/>
                  </a:cubicBezTo>
                  <a:close/>
                </a:path>
              </a:pathLst>
            </a:custGeom>
            <a:solidFill>
              <a:srgbClr val="EBE2E0"/>
            </a:solidFill>
            <a:ln w="9526" cap="sq">
              <a:solidFill>
                <a:srgbClr val="D1C8C6"/>
              </a:solidFill>
              <a:prstDash val="solid"/>
              <a:miter/>
            </a:ln>
          </p:spPr>
        </p:sp>
      </p:grpSp>
      <p:sp>
        <p:nvSpPr>
          <p:cNvPr name="TextBox 18" id="18"/>
          <p:cNvSpPr txBox="true"/>
          <p:nvPr/>
        </p:nvSpPr>
        <p:spPr>
          <a:xfrm rot="0">
            <a:off x="12343209" y="3814915"/>
            <a:ext cx="4659363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 b="true">
                <a:solidFill>
                  <a:srgbClr val="443728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Falsy Values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343209" y="4361259"/>
            <a:ext cx="4659363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199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0, "", [], None all evaluate as </a:t>
            </a:r>
            <a:r>
              <a:rPr lang="en-US" sz="2199" b="true">
                <a:solidFill>
                  <a:srgbClr val="44372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False</a:t>
            </a:r>
            <a:r>
              <a:rPr lang="en-US" sz="2199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 — no comparison needed.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992238" y="6589957"/>
            <a:ext cx="16303523" cy="2381545"/>
            <a:chOff x="0" y="0"/>
            <a:chExt cx="21738031" cy="317539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1737955" cy="3175381"/>
            </a:xfrm>
            <a:custGeom>
              <a:avLst/>
              <a:gdLst/>
              <a:ahLst/>
              <a:cxnLst/>
              <a:rect r="r" b="b" t="t" l="l"/>
              <a:pathLst>
                <a:path h="3175381" w="21737955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21579205" y="0"/>
                  </a:lnTo>
                  <a:cubicBezTo>
                    <a:pt x="21666836" y="0"/>
                    <a:pt x="21737955" y="71120"/>
                    <a:pt x="21737955" y="158750"/>
                  </a:cubicBezTo>
                  <a:lnTo>
                    <a:pt x="21737955" y="3016631"/>
                  </a:lnTo>
                  <a:cubicBezTo>
                    <a:pt x="21737955" y="3104261"/>
                    <a:pt x="21666836" y="3175381"/>
                    <a:pt x="21579205" y="3175381"/>
                  </a:cubicBezTo>
                  <a:lnTo>
                    <a:pt x="158750" y="3175381"/>
                  </a:lnTo>
                  <a:cubicBezTo>
                    <a:pt x="71120" y="3175381"/>
                    <a:pt x="0" y="3104261"/>
                    <a:pt x="0" y="3016631"/>
                  </a:cubicBezTo>
                  <a:close/>
                </a:path>
              </a:pathLst>
            </a:custGeom>
            <a:solidFill>
              <a:srgbClr val="F2EFED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332462" y="6740128"/>
            <a:ext cx="15623086" cy="19478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199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x = 10</a:t>
            </a:r>
          </a:p>
          <a:p>
            <a:pPr algn="l">
              <a:lnSpc>
                <a:spcPts val="3511"/>
              </a:lnSpc>
            </a:pPr>
            <a:r>
              <a:rPr lang="en-US" sz="2199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print(x &gt; 5) # True</a:t>
            </a:r>
          </a:p>
          <a:p>
            <a:pPr algn="l">
              <a:lnSpc>
                <a:spcPts val="3511"/>
              </a:lnSpc>
            </a:pPr>
            <a:r>
              <a:rPr lang="en-US" sz="2199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print(x == 3) # False</a:t>
            </a:r>
          </a:p>
          <a:p>
            <a:pPr algn="l">
              <a:lnSpc>
                <a:spcPts val="3511"/>
              </a:lnSpc>
            </a:pPr>
            <a:r>
              <a:rPr lang="en-US" sz="2199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print(bool([])) # False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3983929" y="158039"/>
            <a:ext cx="3439373" cy="895236"/>
            <a:chOff x="0" y="0"/>
            <a:chExt cx="4585830" cy="119364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585843" cy="1193673"/>
            </a:xfrm>
            <a:custGeom>
              <a:avLst/>
              <a:gdLst/>
              <a:ahLst/>
              <a:cxnLst/>
              <a:rect r="r" b="b" t="t" l="l"/>
              <a:pathLst>
                <a:path h="1193673" w="4585843">
                  <a:moveTo>
                    <a:pt x="0" y="0"/>
                  </a:moveTo>
                  <a:lnTo>
                    <a:pt x="4585843" y="0"/>
                  </a:lnTo>
                  <a:lnTo>
                    <a:pt x="4585843" y="1193673"/>
                  </a:lnTo>
                  <a:lnTo>
                    <a:pt x="0" y="11936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4883" r="0" b="-4881"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EDE9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CFA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1995640"/>
            <a:ext cx="16303523" cy="924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63"/>
              </a:lnSpc>
            </a:pPr>
            <a:r>
              <a:rPr lang="en-US" sz="5499" b="true">
                <a:solidFill>
                  <a:srgbClr val="443728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The IF Statement: Simple Decision Making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3609384"/>
            <a:ext cx="7805890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 b="true">
                <a:solidFill>
                  <a:srgbClr val="443728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Syntax Rules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92238" y="4269134"/>
            <a:ext cx="7805890" cy="21975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0859" indent="-265430" lvl="1">
              <a:lnSpc>
                <a:spcPts val="3511"/>
              </a:lnSpc>
              <a:buFont typeface="Arial"/>
              <a:buChar char="•"/>
            </a:pPr>
            <a:r>
              <a:rPr lang="en-US" sz="2199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Start with the keyword if</a:t>
            </a:r>
          </a:p>
          <a:p>
            <a:pPr algn="l" marL="530859" indent="-265430" lvl="1">
              <a:lnSpc>
                <a:spcPts val="3511"/>
              </a:lnSpc>
              <a:buFont typeface="Arial"/>
              <a:buChar char="•"/>
            </a:pPr>
            <a:r>
              <a:rPr lang="en-US" sz="2199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Follow with a condition and a : colon</a:t>
            </a:r>
          </a:p>
          <a:p>
            <a:pPr algn="l" marL="530859" indent="-265430" lvl="1">
              <a:lnSpc>
                <a:spcPts val="3511"/>
              </a:lnSpc>
              <a:buFont typeface="Arial"/>
              <a:buChar char="•"/>
            </a:pPr>
            <a:r>
              <a:rPr lang="en-US" sz="2199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Indent the code block consistently (4 spaces)</a:t>
            </a:r>
          </a:p>
          <a:p>
            <a:pPr algn="l" marL="530859" indent="-265430" lvl="1">
              <a:lnSpc>
                <a:spcPts val="3511"/>
              </a:lnSpc>
              <a:buFont typeface="Arial"/>
              <a:buChar char="•"/>
            </a:pPr>
            <a:r>
              <a:rPr lang="en-US" sz="2199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The block only runs when the condition is </a:t>
            </a:r>
            <a:r>
              <a:rPr lang="en-US" b="true" sz="2199">
                <a:solidFill>
                  <a:srgbClr val="44372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True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295209" y="3344913"/>
            <a:ext cx="8214274" cy="4908204"/>
            <a:chOff x="0" y="0"/>
            <a:chExt cx="10952366" cy="654427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952353" cy="6544310"/>
            </a:xfrm>
            <a:custGeom>
              <a:avLst/>
              <a:gdLst/>
              <a:ahLst/>
              <a:cxnLst/>
              <a:rect r="r" b="b" t="t" l="l"/>
              <a:pathLst>
                <a:path h="6544310" w="10952353">
                  <a:moveTo>
                    <a:pt x="0" y="272161"/>
                  </a:moveTo>
                  <a:cubicBezTo>
                    <a:pt x="0" y="121920"/>
                    <a:pt x="121920" y="0"/>
                    <a:pt x="272161" y="0"/>
                  </a:cubicBezTo>
                  <a:lnTo>
                    <a:pt x="10680192" y="0"/>
                  </a:lnTo>
                  <a:cubicBezTo>
                    <a:pt x="10830561" y="0"/>
                    <a:pt x="10952353" y="121920"/>
                    <a:pt x="10952353" y="272161"/>
                  </a:cubicBezTo>
                  <a:lnTo>
                    <a:pt x="10952353" y="6272149"/>
                  </a:lnTo>
                  <a:cubicBezTo>
                    <a:pt x="10952353" y="6422517"/>
                    <a:pt x="10830433" y="6544310"/>
                    <a:pt x="10680192" y="6544310"/>
                  </a:cubicBezTo>
                  <a:lnTo>
                    <a:pt x="272161" y="6544310"/>
                  </a:lnTo>
                  <a:cubicBezTo>
                    <a:pt x="121920" y="6544310"/>
                    <a:pt x="0" y="6422390"/>
                    <a:pt x="0" y="6272149"/>
                  </a:cubicBezTo>
                  <a:close/>
                </a:path>
              </a:pathLst>
            </a:custGeom>
            <a:solidFill>
              <a:srgbClr val="835E54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9578731" y="3609384"/>
            <a:ext cx="7647232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 b="true">
                <a:solidFill>
                  <a:srgbClr val="FFFFFF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Example: Checking a Positive Number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578731" y="4390282"/>
            <a:ext cx="7647232" cy="2835173"/>
            <a:chOff x="0" y="0"/>
            <a:chExt cx="10196309" cy="378023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196322" cy="3780155"/>
            </a:xfrm>
            <a:custGeom>
              <a:avLst/>
              <a:gdLst/>
              <a:ahLst/>
              <a:cxnLst/>
              <a:rect r="r" b="b" t="t" l="l"/>
              <a:pathLst>
                <a:path h="3780155" w="10196322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10037572" y="0"/>
                  </a:lnTo>
                  <a:cubicBezTo>
                    <a:pt x="10125202" y="0"/>
                    <a:pt x="10196322" y="71120"/>
                    <a:pt x="10196322" y="158750"/>
                  </a:cubicBezTo>
                  <a:lnTo>
                    <a:pt x="10196322" y="3621405"/>
                  </a:lnTo>
                  <a:cubicBezTo>
                    <a:pt x="10196322" y="3709035"/>
                    <a:pt x="10125202" y="3780155"/>
                    <a:pt x="10037572" y="3780155"/>
                  </a:cubicBezTo>
                  <a:lnTo>
                    <a:pt x="158750" y="3780155"/>
                  </a:lnTo>
                  <a:cubicBezTo>
                    <a:pt x="71120" y="3780155"/>
                    <a:pt x="0" y="3709035"/>
                    <a:pt x="0" y="3621405"/>
                  </a:cubicBezTo>
                  <a:close/>
                </a:path>
              </a:pathLst>
            </a:custGeom>
            <a:solidFill>
              <a:srgbClr val="906B61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9918944" y="4540444"/>
            <a:ext cx="6966795" cy="2401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199">
                <a:solidFill>
                  <a:srgbClr val="FFA657"/>
                </a:solidFill>
                <a:latin typeface="Consolas"/>
                <a:ea typeface="Consolas"/>
                <a:cs typeface="Consolas"/>
                <a:sym typeface="Consolas"/>
              </a:rPr>
              <a:t>number = 15</a:t>
            </a:r>
          </a:p>
          <a:p>
            <a:pPr algn="l">
              <a:lnSpc>
                <a:spcPts val="3511"/>
              </a:lnSpc>
            </a:pPr>
          </a:p>
          <a:p>
            <a:pPr algn="l">
              <a:lnSpc>
                <a:spcPts val="3511"/>
              </a:lnSpc>
            </a:pPr>
            <a:r>
              <a:rPr lang="en-US" sz="2199">
                <a:solidFill>
                  <a:srgbClr val="FFA657"/>
                </a:solidFill>
                <a:latin typeface="Consolas"/>
                <a:ea typeface="Consolas"/>
                <a:cs typeface="Consolas"/>
                <a:sym typeface="Consolas"/>
              </a:rPr>
              <a:t>if number &gt; 0:</a:t>
            </a:r>
          </a:p>
          <a:p>
            <a:pPr algn="l">
              <a:lnSpc>
                <a:spcPts val="3511"/>
              </a:lnSpc>
            </a:pPr>
            <a:r>
              <a:rPr lang="en-US" sz="2199">
                <a:solidFill>
                  <a:srgbClr val="FFA657"/>
                </a:solidFill>
                <a:latin typeface="Consolas"/>
                <a:ea typeface="Consolas"/>
                <a:cs typeface="Consolas"/>
                <a:sym typeface="Consolas"/>
              </a:rPr>
              <a:t>    print("The number is positive!")</a:t>
            </a:r>
          </a:p>
          <a:p>
            <a:pPr algn="l">
              <a:lnSpc>
                <a:spcPts val="3511"/>
              </a:lnSpc>
            </a:pPr>
            <a:r>
              <a:rPr lang="en-US" sz="2199">
                <a:solidFill>
                  <a:srgbClr val="FFA657"/>
                </a:solidFill>
                <a:latin typeface="Consolas"/>
                <a:ea typeface="Consolas"/>
                <a:cs typeface="Consolas"/>
                <a:sym typeface="Consolas"/>
              </a:rPr>
              <a:t>    print("Value:", number)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578731" y="7458675"/>
            <a:ext cx="8561632" cy="53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1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The indented lines only execute when number &gt; 0 is True.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3983929" y="158039"/>
            <a:ext cx="3439373" cy="895236"/>
            <a:chOff x="0" y="0"/>
            <a:chExt cx="4585830" cy="119364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585843" cy="1193673"/>
            </a:xfrm>
            <a:custGeom>
              <a:avLst/>
              <a:gdLst/>
              <a:ahLst/>
              <a:cxnLst/>
              <a:rect r="r" b="b" t="t" l="l"/>
              <a:pathLst>
                <a:path h="1193673" w="4585843">
                  <a:moveTo>
                    <a:pt x="0" y="0"/>
                  </a:moveTo>
                  <a:lnTo>
                    <a:pt x="4585843" y="0"/>
                  </a:lnTo>
                  <a:lnTo>
                    <a:pt x="4585843" y="1193673"/>
                  </a:lnTo>
                  <a:lnTo>
                    <a:pt x="0" y="11936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4883" r="0" b="-4881"/>
              </a:stretch>
            </a:blipFill>
          </p:spPr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EDE9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CFA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1074239"/>
            <a:ext cx="16303523" cy="924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63"/>
              </a:lnSpc>
            </a:pPr>
            <a:r>
              <a:rPr lang="en-US" sz="5499" b="true">
                <a:solidFill>
                  <a:srgbClr val="443728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Alternative Execution: The IF-ELSE Pair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92238" y="3676355"/>
            <a:ext cx="10355161" cy="4245321"/>
            <a:chOff x="0" y="0"/>
            <a:chExt cx="13806881" cy="5660428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13806932" cy="5660390"/>
            </a:xfrm>
            <a:custGeom>
              <a:avLst/>
              <a:gdLst/>
              <a:ahLst/>
              <a:cxnLst/>
              <a:rect r="r" b="b" t="t" l="l"/>
              <a:pathLst>
                <a:path h="5660390" w="13806932">
                  <a:moveTo>
                    <a:pt x="0" y="0"/>
                  </a:moveTo>
                  <a:lnTo>
                    <a:pt x="13806932" y="0"/>
                  </a:lnTo>
                  <a:lnTo>
                    <a:pt x="13806932" y="5660390"/>
                  </a:lnTo>
                  <a:lnTo>
                    <a:pt x="0" y="56603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5" t="0" r="-5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5484466" y="4224395"/>
            <a:ext cx="2467242" cy="317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1"/>
              </a:lnSpc>
            </a:pPr>
            <a:r>
              <a:rPr lang="en-US" sz="1899" b="true">
                <a:solidFill>
                  <a:srgbClr val="443728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False → Run Block B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484466" y="4630055"/>
            <a:ext cx="4989319" cy="2467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2"/>
              </a:lnSpc>
            </a:pPr>
            <a:r>
              <a:rPr lang="en-US" sz="1500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Execute ELSE branch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484466" y="5452539"/>
            <a:ext cx="2467242" cy="317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1"/>
              </a:lnSpc>
            </a:pPr>
            <a:r>
              <a:rPr lang="en-US" sz="1899" b="true">
                <a:solidFill>
                  <a:srgbClr val="443728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True → Run Block 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484466" y="5858189"/>
            <a:ext cx="4989319" cy="2467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2"/>
              </a:lnSpc>
            </a:pPr>
            <a:r>
              <a:rPr lang="en-US" sz="1500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Execute IF branch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484466" y="6691646"/>
            <a:ext cx="2467242" cy="317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1"/>
              </a:lnSpc>
            </a:pPr>
            <a:r>
              <a:rPr lang="en-US" sz="1899" b="true">
                <a:solidFill>
                  <a:srgbClr val="443728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Evaluate Condition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484466" y="7097297"/>
            <a:ext cx="4989319" cy="2467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72"/>
              </a:lnSpc>
            </a:pPr>
            <a:r>
              <a:rPr lang="en-US" sz="1500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Check boolean expression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048677" y="2687984"/>
            <a:ext cx="5256457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 b="true">
                <a:solidFill>
                  <a:srgbClr val="443728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How It Works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048677" y="3347742"/>
            <a:ext cx="5256457" cy="1900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199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The else block acts as the </a:t>
            </a:r>
            <a:r>
              <a:rPr lang="en-US" sz="2199" b="true">
                <a:solidFill>
                  <a:srgbClr val="44372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default path</a:t>
            </a:r>
            <a:r>
              <a:rPr lang="en-US" sz="2199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 — it runs only when the if condition evaluates to False. Exactly one branch always executes; never both.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2048677" y="5566915"/>
            <a:ext cx="5256457" cy="3288802"/>
            <a:chOff x="0" y="0"/>
            <a:chExt cx="7008609" cy="438506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008622" cy="4385056"/>
            </a:xfrm>
            <a:custGeom>
              <a:avLst/>
              <a:gdLst/>
              <a:ahLst/>
              <a:cxnLst/>
              <a:rect r="r" b="b" t="t" l="l"/>
              <a:pathLst>
                <a:path h="4385056" w="7008622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6849872" y="0"/>
                  </a:lnTo>
                  <a:cubicBezTo>
                    <a:pt x="6937628" y="0"/>
                    <a:pt x="7008622" y="71120"/>
                    <a:pt x="7008622" y="158750"/>
                  </a:cubicBezTo>
                  <a:lnTo>
                    <a:pt x="7008622" y="4226306"/>
                  </a:lnTo>
                  <a:cubicBezTo>
                    <a:pt x="7008622" y="4314063"/>
                    <a:pt x="6937502" y="4385056"/>
                    <a:pt x="6849872" y="4385056"/>
                  </a:cubicBezTo>
                  <a:lnTo>
                    <a:pt x="158750" y="4385056"/>
                  </a:lnTo>
                  <a:cubicBezTo>
                    <a:pt x="70993" y="4385056"/>
                    <a:pt x="0" y="4313936"/>
                    <a:pt x="0" y="4226306"/>
                  </a:cubicBezTo>
                  <a:close/>
                </a:path>
              </a:pathLst>
            </a:custGeom>
            <a:solidFill>
              <a:srgbClr val="F2EFED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2388901" y="5717086"/>
            <a:ext cx="4576020" cy="28551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199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age = 16</a:t>
            </a:r>
          </a:p>
          <a:p>
            <a:pPr algn="l">
              <a:lnSpc>
                <a:spcPts val="3511"/>
              </a:lnSpc>
            </a:pPr>
          </a:p>
          <a:p>
            <a:pPr algn="l">
              <a:lnSpc>
                <a:spcPts val="3511"/>
              </a:lnSpc>
            </a:pPr>
            <a:r>
              <a:rPr lang="en-US" sz="2199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if age &gt;= 18:</a:t>
            </a:r>
          </a:p>
          <a:p>
            <a:pPr algn="l">
              <a:lnSpc>
                <a:spcPts val="3511"/>
              </a:lnSpc>
            </a:pPr>
            <a:r>
              <a:rPr lang="en-US" sz="2199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 print("Access granted.")</a:t>
            </a:r>
          </a:p>
          <a:p>
            <a:pPr algn="l">
              <a:lnSpc>
                <a:spcPts val="3511"/>
              </a:lnSpc>
            </a:pPr>
            <a:r>
              <a:rPr lang="en-US" sz="2199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else:</a:t>
            </a:r>
          </a:p>
          <a:p>
            <a:pPr algn="l">
              <a:lnSpc>
                <a:spcPts val="3511"/>
              </a:lnSpc>
            </a:pPr>
            <a:r>
              <a:rPr lang="en-US" sz="2199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 print("Too young to enter.")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3983929" y="158039"/>
            <a:ext cx="3439373" cy="895236"/>
            <a:chOff x="0" y="0"/>
            <a:chExt cx="4585830" cy="119364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585843" cy="1193673"/>
            </a:xfrm>
            <a:custGeom>
              <a:avLst/>
              <a:gdLst/>
              <a:ahLst/>
              <a:cxnLst/>
              <a:rect r="r" b="b" t="t" l="l"/>
              <a:pathLst>
                <a:path h="1193673" w="4585843">
                  <a:moveTo>
                    <a:pt x="0" y="0"/>
                  </a:moveTo>
                  <a:lnTo>
                    <a:pt x="4585843" y="0"/>
                  </a:lnTo>
                  <a:lnTo>
                    <a:pt x="4585843" y="1193673"/>
                  </a:lnTo>
                  <a:lnTo>
                    <a:pt x="0" y="11936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4883" r="0" b="-4881"/>
              </a:stretch>
            </a:blipFill>
          </p:spPr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EDE9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28575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CFA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990152"/>
            <a:ext cx="16303523" cy="766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65"/>
              </a:lnSpc>
            </a:pPr>
            <a:r>
              <a:rPr lang="en-US" sz="4700" b="true">
                <a:solidFill>
                  <a:srgbClr val="443728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Chained Conditionals: IF-ELIF-ELSE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2122294"/>
            <a:ext cx="17217923" cy="390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6"/>
              </a:lnSpc>
            </a:pPr>
            <a:r>
              <a:rPr lang="en-US" sz="1800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When you need to check </a:t>
            </a:r>
            <a:r>
              <a:rPr lang="en-US" sz="1800" b="true">
                <a:solidFill>
                  <a:srgbClr val="44372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more than two possibilities</a:t>
            </a:r>
            <a:r>
              <a:rPr lang="en-US" sz="1800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, chain conditions with elif. Python evaluates each one in order — the first True match wins.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92238" y="2740076"/>
            <a:ext cx="16303523" cy="4304700"/>
            <a:chOff x="0" y="0"/>
            <a:chExt cx="21738031" cy="57396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738082" cy="5739638"/>
            </a:xfrm>
            <a:custGeom>
              <a:avLst/>
              <a:gdLst/>
              <a:ahLst/>
              <a:cxnLst/>
              <a:rect r="r" b="b" t="t" l="l"/>
              <a:pathLst>
                <a:path h="5739638" w="21738082">
                  <a:moveTo>
                    <a:pt x="0" y="133985"/>
                  </a:moveTo>
                  <a:cubicBezTo>
                    <a:pt x="0" y="59944"/>
                    <a:pt x="59944" y="0"/>
                    <a:pt x="133985" y="0"/>
                  </a:cubicBezTo>
                  <a:lnTo>
                    <a:pt x="21604097" y="0"/>
                  </a:lnTo>
                  <a:cubicBezTo>
                    <a:pt x="21678137" y="0"/>
                    <a:pt x="21738082" y="59944"/>
                    <a:pt x="21738082" y="133985"/>
                  </a:cubicBezTo>
                  <a:lnTo>
                    <a:pt x="21738082" y="5605653"/>
                  </a:lnTo>
                  <a:cubicBezTo>
                    <a:pt x="21738082" y="5679694"/>
                    <a:pt x="21678137" y="5739638"/>
                    <a:pt x="21604097" y="5739638"/>
                  </a:cubicBezTo>
                  <a:lnTo>
                    <a:pt x="133985" y="5739638"/>
                  </a:lnTo>
                  <a:cubicBezTo>
                    <a:pt x="59944" y="5739638"/>
                    <a:pt x="0" y="5679567"/>
                    <a:pt x="0" y="5605653"/>
                  </a:cubicBezTo>
                  <a:close/>
                </a:path>
              </a:pathLst>
            </a:custGeom>
            <a:solidFill>
              <a:srgbClr val="F2EFED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279179" y="2874464"/>
            <a:ext cx="15729642" cy="3931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2"/>
              </a:lnSpc>
            </a:pPr>
            <a:r>
              <a:rPr lang="en-US" sz="1800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score = 78</a:t>
            </a:r>
          </a:p>
          <a:p>
            <a:pPr algn="l">
              <a:lnSpc>
                <a:spcPts val="2872"/>
              </a:lnSpc>
            </a:pPr>
          </a:p>
          <a:p>
            <a:pPr algn="l">
              <a:lnSpc>
                <a:spcPts val="2872"/>
              </a:lnSpc>
            </a:pPr>
            <a:r>
              <a:rPr lang="en-US" sz="1800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if score &gt;= 90:</a:t>
            </a:r>
          </a:p>
          <a:p>
            <a:pPr algn="l">
              <a:lnSpc>
                <a:spcPts val="2872"/>
              </a:lnSpc>
            </a:pPr>
            <a:r>
              <a:rPr lang="en-US" sz="1800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    print("Grade: A")</a:t>
            </a:r>
          </a:p>
          <a:p>
            <a:pPr algn="l">
              <a:lnSpc>
                <a:spcPts val="2872"/>
              </a:lnSpc>
            </a:pPr>
            <a:r>
              <a:rPr lang="en-US" sz="1800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elif score &gt;= 80:</a:t>
            </a:r>
          </a:p>
          <a:p>
            <a:pPr algn="l">
              <a:lnSpc>
                <a:spcPts val="2872"/>
              </a:lnSpc>
            </a:pPr>
            <a:r>
              <a:rPr lang="en-US" sz="1800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    print("Grade: B")</a:t>
            </a:r>
          </a:p>
          <a:p>
            <a:pPr algn="l">
              <a:lnSpc>
                <a:spcPts val="2872"/>
              </a:lnSpc>
            </a:pPr>
            <a:r>
              <a:rPr lang="en-US" sz="1800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elif score &gt;= 70:</a:t>
            </a:r>
          </a:p>
          <a:p>
            <a:pPr algn="l">
              <a:lnSpc>
                <a:spcPts val="2872"/>
              </a:lnSpc>
            </a:pPr>
            <a:r>
              <a:rPr lang="en-US" sz="1800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    print("Grade: C")</a:t>
            </a:r>
          </a:p>
          <a:p>
            <a:pPr algn="l">
              <a:lnSpc>
                <a:spcPts val="2872"/>
              </a:lnSpc>
            </a:pPr>
            <a:r>
              <a:rPr lang="en-US" sz="1800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else:</a:t>
            </a:r>
          </a:p>
          <a:p>
            <a:pPr algn="l">
              <a:lnSpc>
                <a:spcPts val="2872"/>
              </a:lnSpc>
            </a:pPr>
            <a:r>
              <a:rPr lang="en-US" sz="1800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    print("Grade: F")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987476" y="7266975"/>
            <a:ext cx="5309445" cy="727177"/>
            <a:chOff x="0" y="0"/>
            <a:chExt cx="7079259" cy="96956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079234" cy="969518"/>
            </a:xfrm>
            <a:custGeom>
              <a:avLst/>
              <a:gdLst/>
              <a:ahLst/>
              <a:cxnLst/>
              <a:rect r="r" b="b" t="t" l="l"/>
              <a:pathLst>
                <a:path h="969518" w="7079234">
                  <a:moveTo>
                    <a:pt x="0" y="484759"/>
                  </a:moveTo>
                  <a:cubicBezTo>
                    <a:pt x="0" y="217043"/>
                    <a:pt x="217043" y="0"/>
                    <a:pt x="484759" y="0"/>
                  </a:cubicBezTo>
                  <a:lnTo>
                    <a:pt x="6594475" y="0"/>
                  </a:lnTo>
                  <a:cubicBezTo>
                    <a:pt x="6862191" y="0"/>
                    <a:pt x="7079234" y="217043"/>
                    <a:pt x="7079234" y="484759"/>
                  </a:cubicBezTo>
                  <a:cubicBezTo>
                    <a:pt x="7079234" y="752475"/>
                    <a:pt x="6862191" y="969518"/>
                    <a:pt x="6594475" y="969518"/>
                  </a:cubicBezTo>
                  <a:lnTo>
                    <a:pt x="484759" y="969518"/>
                  </a:lnTo>
                  <a:cubicBezTo>
                    <a:pt x="217043" y="969518"/>
                    <a:pt x="0" y="752475"/>
                    <a:pt x="0" y="484759"/>
                  </a:cubicBezTo>
                  <a:close/>
                </a:path>
              </a:pathLst>
            </a:custGeom>
            <a:solidFill>
              <a:srgbClr val="EBE2E0"/>
            </a:solidFill>
            <a:ln w="9526" cap="sq">
              <a:solidFill>
                <a:srgbClr val="D1C8C6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3462785" y="7406278"/>
            <a:ext cx="358826" cy="448418"/>
            <a:chOff x="0" y="0"/>
            <a:chExt cx="478434" cy="59789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78432" cy="597893"/>
            </a:xfrm>
            <a:custGeom>
              <a:avLst/>
              <a:gdLst/>
              <a:ahLst/>
              <a:cxnLst/>
              <a:rect r="r" b="b" t="t" l="l"/>
              <a:pathLst>
                <a:path h="597893" w="478432">
                  <a:moveTo>
                    <a:pt x="0" y="0"/>
                  </a:moveTo>
                  <a:lnTo>
                    <a:pt x="478432" y="0"/>
                  </a:lnTo>
                  <a:lnTo>
                    <a:pt x="478432" y="597893"/>
                  </a:lnTo>
                  <a:lnTo>
                    <a:pt x="0" y="59789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0339" t="0" r="-110339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478434" cy="5978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443728"/>
                  </a:solidFill>
                  <a:latin typeface="Crimson Pro Bold"/>
                  <a:ea typeface="Crimson Pro Bold"/>
                  <a:cs typeface="Crimson Pro Bold"/>
                  <a:sym typeface="Crimson Pro Bold"/>
                </a:rPr>
                <a:t>1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231402" y="8172155"/>
            <a:ext cx="4821584" cy="3927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0"/>
              </a:lnSpc>
            </a:pPr>
            <a:r>
              <a:rPr lang="en-US" sz="2300" b="true">
                <a:solidFill>
                  <a:srgbClr val="443728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IF checks first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31402" y="8647805"/>
            <a:ext cx="4821584" cy="390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6"/>
              </a:lnSpc>
            </a:pPr>
            <a:r>
              <a:rPr lang="en-US" sz="1800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Evaluated at the top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6489202" y="7266975"/>
            <a:ext cx="5309445" cy="727177"/>
            <a:chOff x="0" y="0"/>
            <a:chExt cx="7079259" cy="96956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079234" cy="969518"/>
            </a:xfrm>
            <a:custGeom>
              <a:avLst/>
              <a:gdLst/>
              <a:ahLst/>
              <a:cxnLst/>
              <a:rect r="r" b="b" t="t" l="l"/>
              <a:pathLst>
                <a:path h="969518" w="7079234">
                  <a:moveTo>
                    <a:pt x="0" y="484759"/>
                  </a:moveTo>
                  <a:cubicBezTo>
                    <a:pt x="0" y="217043"/>
                    <a:pt x="217043" y="0"/>
                    <a:pt x="484759" y="0"/>
                  </a:cubicBezTo>
                  <a:lnTo>
                    <a:pt x="6594475" y="0"/>
                  </a:lnTo>
                  <a:cubicBezTo>
                    <a:pt x="6862191" y="0"/>
                    <a:pt x="7079234" y="217043"/>
                    <a:pt x="7079234" y="484759"/>
                  </a:cubicBezTo>
                  <a:cubicBezTo>
                    <a:pt x="7079234" y="752475"/>
                    <a:pt x="6862191" y="969518"/>
                    <a:pt x="6594475" y="969518"/>
                  </a:cubicBezTo>
                  <a:lnTo>
                    <a:pt x="484759" y="969518"/>
                  </a:lnTo>
                  <a:cubicBezTo>
                    <a:pt x="217043" y="969518"/>
                    <a:pt x="0" y="752475"/>
                    <a:pt x="0" y="484759"/>
                  </a:cubicBezTo>
                  <a:close/>
                </a:path>
              </a:pathLst>
            </a:custGeom>
            <a:solidFill>
              <a:srgbClr val="EBE2E0"/>
            </a:solidFill>
            <a:ln w="9526" cap="sq">
              <a:solidFill>
                <a:srgbClr val="D1C8C6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8964511" y="7406278"/>
            <a:ext cx="358826" cy="448418"/>
            <a:chOff x="0" y="0"/>
            <a:chExt cx="478434" cy="59789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78432" cy="597893"/>
            </a:xfrm>
            <a:custGeom>
              <a:avLst/>
              <a:gdLst/>
              <a:ahLst/>
              <a:cxnLst/>
              <a:rect r="r" b="b" t="t" l="l"/>
              <a:pathLst>
                <a:path h="597893" w="478432">
                  <a:moveTo>
                    <a:pt x="0" y="0"/>
                  </a:moveTo>
                  <a:lnTo>
                    <a:pt x="478432" y="0"/>
                  </a:lnTo>
                  <a:lnTo>
                    <a:pt x="478432" y="597893"/>
                  </a:lnTo>
                  <a:lnTo>
                    <a:pt x="0" y="59789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0339" t="0" r="-110339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0"/>
              <a:ext cx="478434" cy="5978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443728"/>
                  </a:solidFill>
                  <a:latin typeface="Crimson Pro Bold"/>
                  <a:ea typeface="Crimson Pro Bold"/>
                  <a:cs typeface="Crimson Pro Bold"/>
                  <a:sym typeface="Crimson Pro Bold"/>
                </a:rPr>
                <a:t>2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6733137" y="8172155"/>
            <a:ext cx="4821584" cy="3927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0"/>
              </a:lnSpc>
            </a:pPr>
            <a:r>
              <a:rPr lang="en-US" sz="2300" b="true">
                <a:solidFill>
                  <a:srgbClr val="443728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ELIF checks next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733137" y="8647805"/>
            <a:ext cx="4821584" cy="390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6"/>
              </a:lnSpc>
            </a:pPr>
            <a:r>
              <a:rPr lang="en-US" sz="1800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Only if prior ones are False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1990937" y="7266975"/>
            <a:ext cx="5309445" cy="727177"/>
            <a:chOff x="0" y="0"/>
            <a:chExt cx="7079259" cy="969569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079234" cy="969518"/>
            </a:xfrm>
            <a:custGeom>
              <a:avLst/>
              <a:gdLst/>
              <a:ahLst/>
              <a:cxnLst/>
              <a:rect r="r" b="b" t="t" l="l"/>
              <a:pathLst>
                <a:path h="969518" w="7079234">
                  <a:moveTo>
                    <a:pt x="0" y="484759"/>
                  </a:moveTo>
                  <a:cubicBezTo>
                    <a:pt x="0" y="217043"/>
                    <a:pt x="217043" y="0"/>
                    <a:pt x="484759" y="0"/>
                  </a:cubicBezTo>
                  <a:lnTo>
                    <a:pt x="6594475" y="0"/>
                  </a:lnTo>
                  <a:cubicBezTo>
                    <a:pt x="6862191" y="0"/>
                    <a:pt x="7079234" y="217043"/>
                    <a:pt x="7079234" y="484759"/>
                  </a:cubicBezTo>
                  <a:cubicBezTo>
                    <a:pt x="7079234" y="752475"/>
                    <a:pt x="6862191" y="969518"/>
                    <a:pt x="6594475" y="969518"/>
                  </a:cubicBezTo>
                  <a:lnTo>
                    <a:pt x="484759" y="969518"/>
                  </a:lnTo>
                  <a:cubicBezTo>
                    <a:pt x="217043" y="969518"/>
                    <a:pt x="0" y="752475"/>
                    <a:pt x="0" y="484759"/>
                  </a:cubicBezTo>
                  <a:close/>
                </a:path>
              </a:pathLst>
            </a:custGeom>
            <a:solidFill>
              <a:srgbClr val="EBE2E0"/>
            </a:solidFill>
            <a:ln w="9526" cap="sq">
              <a:solidFill>
                <a:srgbClr val="D1C8C6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14466246" y="7406278"/>
            <a:ext cx="358826" cy="448418"/>
            <a:chOff x="0" y="0"/>
            <a:chExt cx="478434" cy="597891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78432" cy="597893"/>
            </a:xfrm>
            <a:custGeom>
              <a:avLst/>
              <a:gdLst/>
              <a:ahLst/>
              <a:cxnLst/>
              <a:rect r="r" b="b" t="t" l="l"/>
              <a:pathLst>
                <a:path h="597893" w="478432">
                  <a:moveTo>
                    <a:pt x="0" y="0"/>
                  </a:moveTo>
                  <a:lnTo>
                    <a:pt x="478432" y="0"/>
                  </a:lnTo>
                  <a:lnTo>
                    <a:pt x="478432" y="597893"/>
                  </a:lnTo>
                  <a:lnTo>
                    <a:pt x="0" y="59789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0339" t="0" r="-110339" b="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0"/>
              <a:ext cx="478434" cy="5978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443728"/>
                  </a:solidFill>
                  <a:latin typeface="Crimson Pro Bold"/>
                  <a:ea typeface="Crimson Pro Bold"/>
                  <a:cs typeface="Crimson Pro Bold"/>
                  <a:sym typeface="Crimson Pro Bold"/>
                </a:rPr>
                <a:t>3</a:t>
              </a: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12234862" y="8172155"/>
            <a:ext cx="4821584" cy="3927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0"/>
              </a:lnSpc>
            </a:pPr>
            <a:r>
              <a:rPr lang="en-US" sz="2300" b="true">
                <a:solidFill>
                  <a:srgbClr val="443728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ELSE is the fallback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234862" y="8647805"/>
            <a:ext cx="4821584" cy="390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6"/>
              </a:lnSpc>
            </a:pPr>
            <a:r>
              <a:rPr lang="en-US" sz="1800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Runs when nothing else matches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13983929" y="158039"/>
            <a:ext cx="3439373" cy="895236"/>
            <a:chOff x="0" y="0"/>
            <a:chExt cx="4585830" cy="1193648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585843" cy="1193673"/>
            </a:xfrm>
            <a:custGeom>
              <a:avLst/>
              <a:gdLst/>
              <a:ahLst/>
              <a:cxnLst/>
              <a:rect r="r" b="b" t="t" l="l"/>
              <a:pathLst>
                <a:path h="1193673" w="4585843">
                  <a:moveTo>
                    <a:pt x="0" y="0"/>
                  </a:moveTo>
                  <a:lnTo>
                    <a:pt x="4585843" y="0"/>
                  </a:lnTo>
                  <a:lnTo>
                    <a:pt x="4585843" y="1193673"/>
                  </a:lnTo>
                  <a:lnTo>
                    <a:pt x="0" y="11936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4883" r="0" b="-4881"/>
              </a:stretch>
            </a:blipFill>
          </p:spPr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EDE9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CFA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1579216"/>
            <a:ext cx="16303523" cy="924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63"/>
              </a:lnSpc>
            </a:pPr>
            <a:r>
              <a:rPr lang="en-US" sz="5499" b="true">
                <a:solidFill>
                  <a:srgbClr val="443728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Nested Conditionals: Decisions Within Decisions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3192961"/>
            <a:ext cx="7805890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 b="true">
                <a:solidFill>
                  <a:srgbClr val="443728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When to Nest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92238" y="3852710"/>
            <a:ext cx="7805890" cy="1446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199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Place an if block </a:t>
            </a:r>
            <a:r>
              <a:rPr lang="en-US" sz="2199" b="true">
                <a:solidFill>
                  <a:srgbClr val="44372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inside another</a:t>
            </a:r>
            <a:r>
              <a:rPr lang="en-US" sz="2199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 if block when a second check only makes sense after the first passes. Track scope carefully with consistent indentation.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92238" y="5618264"/>
            <a:ext cx="7805890" cy="1559128"/>
            <a:chOff x="0" y="0"/>
            <a:chExt cx="10407853" cy="207883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407777" cy="2078863"/>
            </a:xfrm>
            <a:custGeom>
              <a:avLst/>
              <a:gdLst/>
              <a:ahLst/>
              <a:cxnLst/>
              <a:rect r="r" b="b" t="t" l="l"/>
              <a:pathLst>
                <a:path h="2078863" w="10407777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10249027" y="0"/>
                  </a:lnTo>
                  <a:cubicBezTo>
                    <a:pt x="10336657" y="0"/>
                    <a:pt x="10407777" y="71120"/>
                    <a:pt x="10407777" y="158750"/>
                  </a:cubicBezTo>
                  <a:lnTo>
                    <a:pt x="10407777" y="1920113"/>
                  </a:lnTo>
                  <a:cubicBezTo>
                    <a:pt x="10407777" y="2007743"/>
                    <a:pt x="10336657" y="2078863"/>
                    <a:pt x="10249027" y="2078863"/>
                  </a:cubicBezTo>
                  <a:lnTo>
                    <a:pt x="158750" y="2078863"/>
                  </a:lnTo>
                  <a:cubicBezTo>
                    <a:pt x="71120" y="2078863"/>
                    <a:pt x="0" y="2007743"/>
                    <a:pt x="0" y="1920113"/>
                  </a:cubicBezTo>
                  <a:close/>
                </a:path>
              </a:pathLst>
            </a:custGeom>
            <a:solidFill>
              <a:srgbClr val="FCF2B5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275750" y="6057900"/>
            <a:ext cx="354359" cy="283521"/>
            <a:chOff x="0" y="0"/>
            <a:chExt cx="472478" cy="378028"/>
          </a:xfrm>
        </p:grpSpPr>
        <p:sp>
          <p:nvSpPr>
            <p:cNvPr name="Freeform 12" id="12" descr="preencoded.png"/>
            <p:cNvSpPr/>
            <p:nvPr/>
          </p:nvSpPr>
          <p:spPr>
            <a:xfrm flipH="false" flipV="false" rot="0">
              <a:off x="0" y="0"/>
              <a:ext cx="472440" cy="378079"/>
            </a:xfrm>
            <a:custGeom>
              <a:avLst/>
              <a:gdLst/>
              <a:ahLst/>
              <a:cxnLst/>
              <a:rect r="r" b="b" t="t" l="l"/>
              <a:pathLst>
                <a:path h="378079" w="472440">
                  <a:moveTo>
                    <a:pt x="0" y="0"/>
                  </a:moveTo>
                  <a:lnTo>
                    <a:pt x="472440" y="0"/>
                  </a:lnTo>
                  <a:lnTo>
                    <a:pt x="472440" y="378079"/>
                  </a:lnTo>
                  <a:lnTo>
                    <a:pt x="0" y="3780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672" t="0" r="-680" b="13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913630" y="5858475"/>
            <a:ext cx="6600977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1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Deep nesting (3+ levels) makes code hard to read. Refactor with functions when possible.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9499406" y="3247434"/>
            <a:ext cx="7805890" cy="5103314"/>
            <a:chOff x="0" y="0"/>
            <a:chExt cx="10407853" cy="680441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407904" cy="6804406"/>
            </a:xfrm>
            <a:custGeom>
              <a:avLst/>
              <a:gdLst/>
              <a:ahLst/>
              <a:cxnLst/>
              <a:rect r="r" b="b" t="t" l="l"/>
              <a:pathLst>
                <a:path h="6804406" w="10407904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10249154" y="0"/>
                  </a:lnTo>
                  <a:cubicBezTo>
                    <a:pt x="10336785" y="0"/>
                    <a:pt x="10407904" y="71120"/>
                    <a:pt x="10407904" y="158750"/>
                  </a:cubicBezTo>
                  <a:lnTo>
                    <a:pt x="10407904" y="6645656"/>
                  </a:lnTo>
                  <a:cubicBezTo>
                    <a:pt x="10407904" y="6733287"/>
                    <a:pt x="10336785" y="6804406"/>
                    <a:pt x="10249154" y="6804406"/>
                  </a:cubicBezTo>
                  <a:lnTo>
                    <a:pt x="158750" y="6804406"/>
                  </a:lnTo>
                  <a:cubicBezTo>
                    <a:pt x="71120" y="6804406"/>
                    <a:pt x="0" y="6733287"/>
                    <a:pt x="0" y="6645656"/>
                  </a:cubicBezTo>
                  <a:close/>
                </a:path>
              </a:pathLst>
            </a:custGeom>
            <a:solidFill>
              <a:srgbClr val="F2EFED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9839620" y="3397596"/>
            <a:ext cx="7125443" cy="4669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199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username = "admin"</a:t>
            </a:r>
          </a:p>
          <a:p>
            <a:pPr algn="l">
              <a:lnSpc>
                <a:spcPts val="3511"/>
              </a:lnSpc>
            </a:pPr>
            <a:r>
              <a:rPr lang="en-US" sz="2199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password = "secure123"</a:t>
            </a:r>
          </a:p>
          <a:p>
            <a:pPr algn="l">
              <a:lnSpc>
                <a:spcPts val="3511"/>
              </a:lnSpc>
            </a:pPr>
          </a:p>
          <a:p>
            <a:pPr algn="l">
              <a:lnSpc>
                <a:spcPts val="3511"/>
              </a:lnSpc>
            </a:pPr>
            <a:r>
              <a:rPr lang="en-US" sz="2199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if username == "admin":</a:t>
            </a:r>
          </a:p>
          <a:p>
            <a:pPr algn="l">
              <a:lnSpc>
                <a:spcPts val="3511"/>
              </a:lnSpc>
            </a:pPr>
            <a:r>
              <a:rPr lang="en-US" sz="2199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 if password == "secure123":</a:t>
            </a:r>
          </a:p>
          <a:p>
            <a:pPr algn="l">
              <a:lnSpc>
                <a:spcPts val="3511"/>
              </a:lnSpc>
            </a:pPr>
            <a:r>
              <a:rPr lang="en-US" sz="2199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 print("Welcome, Admin!")</a:t>
            </a:r>
          </a:p>
          <a:p>
            <a:pPr algn="l">
              <a:lnSpc>
                <a:spcPts val="3511"/>
              </a:lnSpc>
            </a:pPr>
            <a:r>
              <a:rPr lang="en-US" sz="2199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 else:</a:t>
            </a:r>
          </a:p>
          <a:p>
            <a:pPr algn="l">
              <a:lnSpc>
                <a:spcPts val="3511"/>
              </a:lnSpc>
            </a:pPr>
            <a:r>
              <a:rPr lang="en-US" sz="2199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 print("Wrong password.")</a:t>
            </a:r>
          </a:p>
          <a:p>
            <a:pPr algn="l">
              <a:lnSpc>
                <a:spcPts val="3511"/>
              </a:lnSpc>
            </a:pPr>
            <a:r>
              <a:rPr lang="en-US" sz="2199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else:</a:t>
            </a:r>
          </a:p>
          <a:p>
            <a:pPr algn="l">
              <a:lnSpc>
                <a:spcPts val="3511"/>
              </a:lnSpc>
            </a:pPr>
            <a:r>
              <a:rPr lang="en-US" sz="2199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 print("Unknown user.")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3983929" y="158039"/>
            <a:ext cx="3439373" cy="895236"/>
            <a:chOff x="0" y="0"/>
            <a:chExt cx="4585830" cy="119364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585843" cy="1193673"/>
            </a:xfrm>
            <a:custGeom>
              <a:avLst/>
              <a:gdLst/>
              <a:ahLst/>
              <a:cxnLst/>
              <a:rect r="r" b="b" t="t" l="l"/>
              <a:pathLst>
                <a:path h="1193673" w="4585843">
                  <a:moveTo>
                    <a:pt x="0" y="0"/>
                  </a:moveTo>
                  <a:lnTo>
                    <a:pt x="4585843" y="0"/>
                  </a:lnTo>
                  <a:lnTo>
                    <a:pt x="4585843" y="1193673"/>
                  </a:lnTo>
                  <a:lnTo>
                    <a:pt x="0" y="11936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4883" r="0" b="-4881"/>
              </a:stretch>
            </a:blipFill>
          </p:spPr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EDE9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CF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6858000" cy="10287000"/>
            <a:chOff x="0" y="0"/>
            <a:chExt cx="9144000" cy="137160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7850238" y="3762223"/>
            <a:ext cx="1508970" cy="430711"/>
            <a:chOff x="0" y="0"/>
            <a:chExt cx="2011959" cy="57428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11934" cy="574294"/>
            </a:xfrm>
            <a:custGeom>
              <a:avLst/>
              <a:gdLst/>
              <a:ahLst/>
              <a:cxnLst/>
              <a:rect r="r" b="b" t="t" l="l"/>
              <a:pathLst>
                <a:path h="574294" w="2011934">
                  <a:moveTo>
                    <a:pt x="0" y="127000"/>
                  </a:moveTo>
                  <a:cubicBezTo>
                    <a:pt x="0" y="56896"/>
                    <a:pt x="56896" y="0"/>
                    <a:pt x="127000" y="0"/>
                  </a:cubicBezTo>
                  <a:lnTo>
                    <a:pt x="1884934" y="0"/>
                  </a:lnTo>
                  <a:cubicBezTo>
                    <a:pt x="1955038" y="0"/>
                    <a:pt x="2011934" y="56896"/>
                    <a:pt x="2011934" y="127000"/>
                  </a:cubicBezTo>
                  <a:lnTo>
                    <a:pt x="2011934" y="447294"/>
                  </a:lnTo>
                  <a:cubicBezTo>
                    <a:pt x="2011934" y="517398"/>
                    <a:pt x="1955038" y="574294"/>
                    <a:pt x="1884934" y="574294"/>
                  </a:cubicBezTo>
                  <a:lnTo>
                    <a:pt x="127000" y="574294"/>
                  </a:lnTo>
                  <a:cubicBezTo>
                    <a:pt x="56896" y="574294"/>
                    <a:pt x="0" y="517398"/>
                    <a:pt x="0" y="447294"/>
                  </a:cubicBezTo>
                  <a:close/>
                </a:path>
              </a:pathLst>
            </a:custGeom>
            <a:solidFill>
              <a:srgbClr val="EBE2E0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8020345" y="3856730"/>
            <a:ext cx="2083146" cy="251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8"/>
              </a:lnSpc>
            </a:pPr>
            <a:r>
              <a:rPr lang="en-US" sz="1700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CHAPTER 2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850238" y="4268238"/>
            <a:ext cx="9445523" cy="924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63"/>
              </a:lnSpc>
            </a:pPr>
            <a:r>
              <a:rPr lang="en-US" sz="5499" b="true">
                <a:solidFill>
                  <a:srgbClr val="443728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The Power of Repetition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850238" y="5531796"/>
            <a:ext cx="9445523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199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Loops free you from writing the same code over and over. Let the machine do the repetitive work — that's what it's built for.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3983929" y="158039"/>
            <a:ext cx="3439373" cy="895236"/>
            <a:chOff x="0" y="0"/>
            <a:chExt cx="4585830" cy="119364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585843" cy="1193673"/>
            </a:xfrm>
            <a:custGeom>
              <a:avLst/>
              <a:gdLst/>
              <a:ahLst/>
              <a:cxnLst/>
              <a:rect r="r" b="b" t="t" l="l"/>
              <a:pathLst>
                <a:path h="1193673" w="4585843">
                  <a:moveTo>
                    <a:pt x="0" y="0"/>
                  </a:moveTo>
                  <a:lnTo>
                    <a:pt x="4585843" y="0"/>
                  </a:lnTo>
                  <a:lnTo>
                    <a:pt x="4585843" y="1193673"/>
                  </a:lnTo>
                  <a:lnTo>
                    <a:pt x="0" y="11936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4883" r="0" b="-4881"/>
              </a:stretch>
            </a:blipFill>
          </p:spPr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EDE9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CFA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2071087"/>
            <a:ext cx="16303523" cy="924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63"/>
              </a:lnSpc>
            </a:pPr>
            <a:r>
              <a:rPr lang="en-US" sz="5499" b="true">
                <a:solidFill>
                  <a:srgbClr val="443728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Why Use Loops?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92238" y="3562198"/>
            <a:ext cx="2287191" cy="2287191"/>
            <a:chOff x="0" y="0"/>
            <a:chExt cx="3049588" cy="3049588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3049524" cy="3049524"/>
            </a:xfrm>
            <a:custGeom>
              <a:avLst/>
              <a:gdLst/>
              <a:ahLst/>
              <a:cxnLst/>
              <a:rect r="r" b="b" t="t" l="l"/>
              <a:pathLst>
                <a:path h="3049524" w="3049524">
                  <a:moveTo>
                    <a:pt x="0" y="0"/>
                  </a:moveTo>
                  <a:lnTo>
                    <a:pt x="3049524" y="0"/>
                  </a:lnTo>
                  <a:lnTo>
                    <a:pt x="3049524" y="3049524"/>
                  </a:lnTo>
                  <a:lnTo>
                    <a:pt x="0" y="30495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2" b="-2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992238" y="6184706"/>
            <a:ext cx="5198269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 b="true">
                <a:solidFill>
                  <a:srgbClr val="443728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Eliminate Repetition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92238" y="6731051"/>
            <a:ext cx="5198269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199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Instead of writing print() 100 times, a loop handles it in 2 lines of code.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544866" y="3562198"/>
            <a:ext cx="2287191" cy="2287191"/>
            <a:chOff x="0" y="0"/>
            <a:chExt cx="3049588" cy="3049588"/>
          </a:xfrm>
        </p:grpSpPr>
        <p:sp>
          <p:nvSpPr>
            <p:cNvPr name="Freeform 12" id="12" descr="preencoded.png"/>
            <p:cNvSpPr/>
            <p:nvPr/>
          </p:nvSpPr>
          <p:spPr>
            <a:xfrm flipH="false" flipV="false" rot="0">
              <a:off x="0" y="0"/>
              <a:ext cx="3049524" cy="3049524"/>
            </a:xfrm>
            <a:custGeom>
              <a:avLst/>
              <a:gdLst/>
              <a:ahLst/>
              <a:cxnLst/>
              <a:rect r="r" b="b" t="t" l="l"/>
              <a:pathLst>
                <a:path h="3049524" w="3049524">
                  <a:moveTo>
                    <a:pt x="0" y="0"/>
                  </a:moveTo>
                  <a:lnTo>
                    <a:pt x="3049524" y="0"/>
                  </a:lnTo>
                  <a:lnTo>
                    <a:pt x="3049524" y="3049524"/>
                  </a:lnTo>
                  <a:lnTo>
                    <a:pt x="0" y="30495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2" b="-2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6544866" y="6184706"/>
            <a:ext cx="5198269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 b="true">
                <a:solidFill>
                  <a:srgbClr val="443728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Iterate Over Data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544866" y="6731051"/>
            <a:ext cx="5198269" cy="1446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199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Traverse lists, strings, dictionaries — process every item automatically without manual indexing.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2097493" y="3562198"/>
            <a:ext cx="2287191" cy="2287191"/>
            <a:chOff x="0" y="0"/>
            <a:chExt cx="3049588" cy="3049588"/>
          </a:xfrm>
        </p:grpSpPr>
        <p:sp>
          <p:nvSpPr>
            <p:cNvPr name="Freeform 16" id="16" descr="preencoded.png"/>
            <p:cNvSpPr/>
            <p:nvPr/>
          </p:nvSpPr>
          <p:spPr>
            <a:xfrm flipH="false" flipV="false" rot="0">
              <a:off x="0" y="0"/>
              <a:ext cx="3049524" cy="3049524"/>
            </a:xfrm>
            <a:custGeom>
              <a:avLst/>
              <a:gdLst/>
              <a:ahLst/>
              <a:cxnLst/>
              <a:rect r="r" b="b" t="t" l="l"/>
              <a:pathLst>
                <a:path h="3049524" w="3049524">
                  <a:moveTo>
                    <a:pt x="0" y="0"/>
                  </a:moveTo>
                  <a:lnTo>
                    <a:pt x="3049524" y="0"/>
                  </a:lnTo>
                  <a:lnTo>
                    <a:pt x="3049524" y="3049524"/>
                  </a:lnTo>
                  <a:lnTo>
                    <a:pt x="0" y="30495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2" b="-2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2097493" y="6184706"/>
            <a:ext cx="5198269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 b="true">
                <a:solidFill>
                  <a:srgbClr val="443728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Unknown Step Count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097493" y="6731051"/>
            <a:ext cx="5198269" cy="1446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199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Some tasks run until a condition is met — like waiting for user input or reading a file until its end.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3983929" y="158039"/>
            <a:ext cx="3439373" cy="895236"/>
            <a:chOff x="0" y="0"/>
            <a:chExt cx="4585830" cy="119364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585843" cy="1193673"/>
            </a:xfrm>
            <a:custGeom>
              <a:avLst/>
              <a:gdLst/>
              <a:ahLst/>
              <a:cxnLst/>
              <a:rect r="r" b="b" t="t" l="l"/>
              <a:pathLst>
                <a:path h="1193673" w="4585843">
                  <a:moveTo>
                    <a:pt x="0" y="0"/>
                  </a:moveTo>
                  <a:lnTo>
                    <a:pt x="4585843" y="0"/>
                  </a:lnTo>
                  <a:lnTo>
                    <a:pt x="4585843" y="1193673"/>
                  </a:lnTo>
                  <a:lnTo>
                    <a:pt x="0" y="11936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4883" r="0" b="-4881"/>
              </a:stretch>
            </a:blipFill>
          </p:spPr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EDE9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CFA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1905295"/>
            <a:ext cx="16303523" cy="924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63"/>
              </a:lnSpc>
            </a:pPr>
            <a:r>
              <a:rPr lang="en-US" sz="5499" b="true">
                <a:solidFill>
                  <a:srgbClr val="443728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The WHILE Loop: Running Until Finished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3519040"/>
            <a:ext cx="7805890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 b="true">
                <a:solidFill>
                  <a:srgbClr val="443728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Core Concept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92238" y="4178798"/>
            <a:ext cx="7805890" cy="1446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199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A while loop keeps executing its block </a:t>
            </a:r>
            <a:r>
              <a:rPr lang="en-US" sz="2199" b="true">
                <a:solidFill>
                  <a:srgbClr val="44372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as long as its condition remains True</a:t>
            </a:r>
            <a:r>
              <a:rPr lang="en-US" sz="2199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. When the condition becomes False, execution moves past the loop.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92238" y="5944343"/>
            <a:ext cx="7805890" cy="2012756"/>
            <a:chOff x="0" y="0"/>
            <a:chExt cx="10407853" cy="268367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407777" cy="2683637"/>
            </a:xfrm>
            <a:custGeom>
              <a:avLst/>
              <a:gdLst/>
              <a:ahLst/>
              <a:cxnLst/>
              <a:rect r="r" b="b" t="t" l="l"/>
              <a:pathLst>
                <a:path h="2683637" w="10407777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10249027" y="0"/>
                  </a:lnTo>
                  <a:cubicBezTo>
                    <a:pt x="10336784" y="0"/>
                    <a:pt x="10407777" y="71120"/>
                    <a:pt x="10407777" y="158750"/>
                  </a:cubicBezTo>
                  <a:lnTo>
                    <a:pt x="10407777" y="2524887"/>
                  </a:lnTo>
                  <a:cubicBezTo>
                    <a:pt x="10407777" y="2612644"/>
                    <a:pt x="10336657" y="2683637"/>
                    <a:pt x="10249027" y="2683637"/>
                  </a:cubicBezTo>
                  <a:lnTo>
                    <a:pt x="158750" y="2683637"/>
                  </a:lnTo>
                  <a:cubicBezTo>
                    <a:pt x="70993" y="2683637"/>
                    <a:pt x="0" y="2612517"/>
                    <a:pt x="0" y="2524887"/>
                  </a:cubicBezTo>
                  <a:close/>
                </a:path>
              </a:pathLst>
            </a:custGeom>
            <a:solidFill>
              <a:srgbClr val="FFB3B4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275750" y="6383979"/>
            <a:ext cx="354359" cy="283521"/>
            <a:chOff x="0" y="0"/>
            <a:chExt cx="472478" cy="378028"/>
          </a:xfrm>
        </p:grpSpPr>
        <p:sp>
          <p:nvSpPr>
            <p:cNvPr name="Freeform 12" id="12" descr="preencoded.png"/>
            <p:cNvSpPr/>
            <p:nvPr/>
          </p:nvSpPr>
          <p:spPr>
            <a:xfrm flipH="false" flipV="false" rot="0">
              <a:off x="0" y="0"/>
              <a:ext cx="472440" cy="378079"/>
            </a:xfrm>
            <a:custGeom>
              <a:avLst/>
              <a:gdLst/>
              <a:ahLst/>
              <a:cxnLst/>
              <a:rect r="r" b="b" t="t" l="l"/>
              <a:pathLst>
                <a:path h="378079" w="472440">
                  <a:moveTo>
                    <a:pt x="0" y="0"/>
                  </a:moveTo>
                  <a:lnTo>
                    <a:pt x="472440" y="0"/>
                  </a:lnTo>
                  <a:lnTo>
                    <a:pt x="472440" y="378079"/>
                  </a:lnTo>
                  <a:lnTo>
                    <a:pt x="0" y="3780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672" t="0" r="-680" b="13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913630" y="6184554"/>
            <a:ext cx="6600977" cy="1446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1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Always update the loop variable inside the body — forgetting to do so causes an </a:t>
            </a:r>
            <a:r>
              <a:rPr lang="en-US" sz="21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infinite loop</a:t>
            </a:r>
            <a:r>
              <a:rPr lang="en-US" sz="21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that freezes your program.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9499406" y="3573513"/>
            <a:ext cx="7805890" cy="3742430"/>
            <a:chOff x="0" y="0"/>
            <a:chExt cx="10407853" cy="498990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407777" cy="4989830"/>
            </a:xfrm>
            <a:custGeom>
              <a:avLst/>
              <a:gdLst/>
              <a:ahLst/>
              <a:cxnLst/>
              <a:rect r="r" b="b" t="t" l="l"/>
              <a:pathLst>
                <a:path h="4989830" w="10407777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10249027" y="0"/>
                  </a:lnTo>
                  <a:cubicBezTo>
                    <a:pt x="10336657" y="0"/>
                    <a:pt x="10407777" y="71120"/>
                    <a:pt x="10407777" y="158750"/>
                  </a:cubicBezTo>
                  <a:lnTo>
                    <a:pt x="10407777" y="4831080"/>
                  </a:lnTo>
                  <a:cubicBezTo>
                    <a:pt x="10407777" y="4918710"/>
                    <a:pt x="10336657" y="4989830"/>
                    <a:pt x="10249027" y="4989830"/>
                  </a:cubicBezTo>
                  <a:lnTo>
                    <a:pt x="158750" y="4989830"/>
                  </a:lnTo>
                  <a:cubicBezTo>
                    <a:pt x="71120" y="4989830"/>
                    <a:pt x="0" y="4918710"/>
                    <a:pt x="0" y="4831080"/>
                  </a:cubicBezTo>
                  <a:close/>
                </a:path>
              </a:pathLst>
            </a:custGeom>
            <a:solidFill>
              <a:srgbClr val="F2EFED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9839620" y="3723684"/>
            <a:ext cx="7125443" cy="3308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199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count = 1</a:t>
            </a:r>
          </a:p>
          <a:p>
            <a:pPr algn="l">
              <a:lnSpc>
                <a:spcPts val="3511"/>
              </a:lnSpc>
            </a:pPr>
          </a:p>
          <a:p>
            <a:pPr algn="l">
              <a:lnSpc>
                <a:spcPts val="3511"/>
              </a:lnSpc>
            </a:pPr>
            <a:r>
              <a:rPr lang="en-US" sz="2199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while count &lt;= 5:</a:t>
            </a:r>
          </a:p>
          <a:p>
            <a:pPr algn="l">
              <a:lnSpc>
                <a:spcPts val="3511"/>
              </a:lnSpc>
            </a:pPr>
            <a:r>
              <a:rPr lang="en-US" sz="2199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    print("Count:", count)</a:t>
            </a:r>
          </a:p>
          <a:p>
            <a:pPr algn="l">
              <a:lnSpc>
                <a:spcPts val="3511"/>
              </a:lnSpc>
            </a:pPr>
            <a:r>
              <a:rPr lang="en-US" sz="2199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    count += 1  # crucial update!</a:t>
            </a:r>
          </a:p>
          <a:p>
            <a:pPr algn="l">
              <a:lnSpc>
                <a:spcPts val="3511"/>
              </a:lnSpc>
            </a:pPr>
          </a:p>
          <a:p>
            <a:pPr algn="l">
              <a:lnSpc>
                <a:spcPts val="3511"/>
              </a:lnSpc>
            </a:pPr>
            <a:r>
              <a:rPr lang="en-US" sz="2199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print("Loop complete.")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499406" y="7549153"/>
            <a:ext cx="8720290" cy="53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199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Output: Count 1 through 5, then "Loop complete."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3983929" y="158039"/>
            <a:ext cx="3439373" cy="895236"/>
            <a:chOff x="0" y="0"/>
            <a:chExt cx="4585830" cy="119364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585843" cy="1193673"/>
            </a:xfrm>
            <a:custGeom>
              <a:avLst/>
              <a:gdLst/>
              <a:ahLst/>
              <a:cxnLst/>
              <a:rect r="r" b="b" t="t" l="l"/>
              <a:pathLst>
                <a:path h="1193673" w="4585843">
                  <a:moveTo>
                    <a:pt x="0" y="0"/>
                  </a:moveTo>
                  <a:lnTo>
                    <a:pt x="4585843" y="0"/>
                  </a:lnTo>
                  <a:lnTo>
                    <a:pt x="4585843" y="1193673"/>
                  </a:lnTo>
                  <a:lnTo>
                    <a:pt x="0" y="11936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4883" r="0" b="-4881"/>
              </a:stretch>
            </a:blipFill>
          </p:spPr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EDE9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CFA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864546"/>
            <a:ext cx="16303523" cy="924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63"/>
              </a:lnSpc>
            </a:pPr>
            <a:r>
              <a:rPr lang="en-US" sz="5499" b="true">
                <a:solidFill>
                  <a:srgbClr val="443728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WHILE Loop Mechanics: Step-by-Step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2804817" y="2355656"/>
            <a:ext cx="12678366" cy="5802506"/>
            <a:chOff x="0" y="0"/>
            <a:chExt cx="16904487" cy="7736675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16904463" cy="7736713"/>
            </a:xfrm>
            <a:custGeom>
              <a:avLst/>
              <a:gdLst/>
              <a:ahLst/>
              <a:cxnLst/>
              <a:rect r="r" b="b" t="t" l="l"/>
              <a:pathLst>
                <a:path h="7736713" w="16904463">
                  <a:moveTo>
                    <a:pt x="0" y="0"/>
                  </a:moveTo>
                  <a:lnTo>
                    <a:pt x="16904463" y="0"/>
                  </a:lnTo>
                  <a:lnTo>
                    <a:pt x="16904463" y="7736713"/>
                  </a:lnTo>
                  <a:lnTo>
                    <a:pt x="0" y="77367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1" r="0" b="-31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2512726" y="6770722"/>
            <a:ext cx="2380288" cy="4680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4"/>
              </a:lnSpc>
            </a:pPr>
            <a:r>
              <a:rPr lang="en-US" sz="2799" b="true">
                <a:solidFill>
                  <a:srgbClr val="443728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Update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512913" y="6770722"/>
            <a:ext cx="2380288" cy="4680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4"/>
              </a:lnSpc>
            </a:pPr>
            <a:r>
              <a:rPr lang="en-US" sz="2799" b="true">
                <a:solidFill>
                  <a:srgbClr val="443728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Execute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529407" y="6770722"/>
            <a:ext cx="2380288" cy="4680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4"/>
              </a:lnSpc>
            </a:pPr>
            <a:r>
              <a:rPr lang="en-US" sz="2799" b="true">
                <a:solidFill>
                  <a:srgbClr val="443728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Check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480683" y="6770722"/>
            <a:ext cx="2380288" cy="4680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4"/>
              </a:lnSpc>
            </a:pPr>
            <a:r>
              <a:rPr lang="en-US" sz="2799" b="true">
                <a:solidFill>
                  <a:srgbClr val="443728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Initialize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92238" y="8391373"/>
            <a:ext cx="16303523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199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This cycle repeats continuously. Skip the </a:t>
            </a:r>
            <a:r>
              <a:rPr lang="en-US" sz="2199" b="true">
                <a:solidFill>
                  <a:srgbClr val="44372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Update</a:t>
            </a:r>
            <a:r>
              <a:rPr lang="en-US" sz="2199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 step and the condition never changes — your loop runs forever. Always initialize </a:t>
            </a:r>
            <a:r>
              <a:rPr lang="en-US" sz="2199" i="true">
                <a:solidFill>
                  <a:srgbClr val="443728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before</a:t>
            </a:r>
            <a:r>
              <a:rPr lang="en-US" sz="2199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 the loop and update </a:t>
            </a:r>
            <a:r>
              <a:rPr lang="en-US" sz="2199" i="true">
                <a:solidFill>
                  <a:srgbClr val="443728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inside</a:t>
            </a:r>
            <a:r>
              <a:rPr lang="en-US" sz="2199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 the body.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3983929" y="158039"/>
            <a:ext cx="3439373" cy="895236"/>
            <a:chOff x="0" y="0"/>
            <a:chExt cx="4585830" cy="119364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585843" cy="1193673"/>
            </a:xfrm>
            <a:custGeom>
              <a:avLst/>
              <a:gdLst/>
              <a:ahLst/>
              <a:cxnLst/>
              <a:rect r="r" b="b" t="t" l="l"/>
              <a:pathLst>
                <a:path h="1193673" w="4585843">
                  <a:moveTo>
                    <a:pt x="0" y="0"/>
                  </a:moveTo>
                  <a:lnTo>
                    <a:pt x="4585843" y="0"/>
                  </a:lnTo>
                  <a:lnTo>
                    <a:pt x="4585843" y="1193673"/>
                  </a:lnTo>
                  <a:lnTo>
                    <a:pt x="0" y="11936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4883" r="0" b="-4881"/>
              </a:stretch>
            </a:blipFill>
          </p:spPr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EDE9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CF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1430000" y="0"/>
            <a:ext cx="6858000" cy="10287000"/>
            <a:chOff x="0" y="0"/>
            <a:chExt cx="9144000" cy="137160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992238" y="3762223"/>
            <a:ext cx="1508970" cy="430711"/>
            <a:chOff x="0" y="0"/>
            <a:chExt cx="2011959" cy="57428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11934" cy="574294"/>
            </a:xfrm>
            <a:custGeom>
              <a:avLst/>
              <a:gdLst/>
              <a:ahLst/>
              <a:cxnLst/>
              <a:rect r="r" b="b" t="t" l="l"/>
              <a:pathLst>
                <a:path h="574294" w="2011934">
                  <a:moveTo>
                    <a:pt x="0" y="127000"/>
                  </a:moveTo>
                  <a:cubicBezTo>
                    <a:pt x="0" y="56896"/>
                    <a:pt x="56896" y="0"/>
                    <a:pt x="127000" y="0"/>
                  </a:cubicBezTo>
                  <a:lnTo>
                    <a:pt x="1884934" y="0"/>
                  </a:lnTo>
                  <a:cubicBezTo>
                    <a:pt x="1955038" y="0"/>
                    <a:pt x="2011934" y="56896"/>
                    <a:pt x="2011934" y="127000"/>
                  </a:cubicBezTo>
                  <a:lnTo>
                    <a:pt x="2011934" y="447294"/>
                  </a:lnTo>
                  <a:cubicBezTo>
                    <a:pt x="2011934" y="517398"/>
                    <a:pt x="1955038" y="574294"/>
                    <a:pt x="1884934" y="574294"/>
                  </a:cubicBezTo>
                  <a:lnTo>
                    <a:pt x="127000" y="574294"/>
                  </a:lnTo>
                  <a:cubicBezTo>
                    <a:pt x="56896" y="574294"/>
                    <a:pt x="0" y="517398"/>
                    <a:pt x="0" y="447294"/>
                  </a:cubicBezTo>
                  <a:close/>
                </a:path>
              </a:pathLst>
            </a:custGeom>
            <a:solidFill>
              <a:srgbClr val="EBE2E0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162345" y="3856730"/>
            <a:ext cx="2083146" cy="251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8"/>
              </a:lnSpc>
            </a:pPr>
            <a:r>
              <a:rPr lang="en-US" sz="1700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CHAPTER 3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2238" y="4268238"/>
            <a:ext cx="9445523" cy="924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63"/>
              </a:lnSpc>
            </a:pPr>
            <a:r>
              <a:rPr lang="en-US" sz="5499" b="true">
                <a:solidFill>
                  <a:srgbClr val="443728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Mastering Iteration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92238" y="5531796"/>
            <a:ext cx="9445523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199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The for loop is Python's most elegant tool — precise, readable, and perfectly suited for working through sequences of data.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3983929" y="158039"/>
            <a:ext cx="3439373" cy="895236"/>
            <a:chOff x="0" y="0"/>
            <a:chExt cx="4585830" cy="119364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585843" cy="1193673"/>
            </a:xfrm>
            <a:custGeom>
              <a:avLst/>
              <a:gdLst/>
              <a:ahLst/>
              <a:cxnLst/>
              <a:rect r="r" b="b" t="t" l="l"/>
              <a:pathLst>
                <a:path h="1193673" w="4585843">
                  <a:moveTo>
                    <a:pt x="0" y="0"/>
                  </a:moveTo>
                  <a:lnTo>
                    <a:pt x="4585843" y="0"/>
                  </a:lnTo>
                  <a:lnTo>
                    <a:pt x="4585843" y="1193673"/>
                  </a:lnTo>
                  <a:lnTo>
                    <a:pt x="0" y="11936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4883" r="0" b="-4881"/>
              </a:stretch>
            </a:blipFill>
          </p:spPr>
        </p:sp>
      </p:grp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EDE9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CFA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898769"/>
            <a:ext cx="16303523" cy="924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63"/>
              </a:lnSpc>
            </a:pPr>
            <a:r>
              <a:rPr lang="en-US" sz="5499" b="true">
                <a:solidFill>
                  <a:srgbClr val="443728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The FOR Loop: Iterating Over Sequences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2512514"/>
            <a:ext cx="7805890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 b="true">
                <a:solidFill>
                  <a:srgbClr val="443728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Syntax &amp; Behavior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92238" y="3293421"/>
            <a:ext cx="7805890" cy="1927917"/>
            <a:chOff x="0" y="0"/>
            <a:chExt cx="10407853" cy="257055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407777" cy="2570480"/>
            </a:xfrm>
            <a:custGeom>
              <a:avLst/>
              <a:gdLst/>
              <a:ahLst/>
              <a:cxnLst/>
              <a:rect r="r" b="b" t="t" l="l"/>
              <a:pathLst>
                <a:path h="2570480" w="10407777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10249027" y="0"/>
                  </a:lnTo>
                  <a:cubicBezTo>
                    <a:pt x="10336784" y="0"/>
                    <a:pt x="10407777" y="71120"/>
                    <a:pt x="10407777" y="158750"/>
                  </a:cubicBezTo>
                  <a:lnTo>
                    <a:pt x="10407777" y="2411730"/>
                  </a:lnTo>
                  <a:cubicBezTo>
                    <a:pt x="10407777" y="2499487"/>
                    <a:pt x="10336657" y="2570480"/>
                    <a:pt x="10249027" y="2570480"/>
                  </a:cubicBezTo>
                  <a:lnTo>
                    <a:pt x="158750" y="2570480"/>
                  </a:lnTo>
                  <a:cubicBezTo>
                    <a:pt x="70993" y="2570480"/>
                    <a:pt x="0" y="2499360"/>
                    <a:pt x="0" y="2411730"/>
                  </a:cubicBezTo>
                  <a:close/>
                </a:path>
              </a:pathLst>
            </a:custGeom>
            <a:solidFill>
              <a:srgbClr val="F2EFED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332462" y="3443583"/>
            <a:ext cx="7125443" cy="14942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199">
                <a:solidFill>
                  <a:srgbClr val="005CC5"/>
                </a:solidFill>
                <a:latin typeface="Consolas"/>
                <a:ea typeface="Consolas"/>
                <a:cs typeface="Consolas"/>
                <a:sym typeface="Consolas"/>
              </a:rPr>
              <a:t>for target in sequence:</a:t>
            </a:r>
          </a:p>
          <a:p>
            <a:pPr algn="l">
              <a:lnSpc>
                <a:spcPts val="3511"/>
              </a:lnSpc>
            </a:pPr>
            <a:r>
              <a:rPr lang="en-US" sz="2199">
                <a:solidFill>
                  <a:srgbClr val="005CC5"/>
                </a:solidFill>
                <a:latin typeface="Consolas"/>
                <a:ea typeface="Consolas"/>
                <a:cs typeface="Consolas"/>
                <a:sym typeface="Consolas"/>
              </a:rPr>
              <a:t>    # body executes once</a:t>
            </a:r>
          </a:p>
          <a:p>
            <a:pPr algn="l">
              <a:lnSpc>
                <a:spcPts val="3511"/>
              </a:lnSpc>
            </a:pPr>
            <a:r>
              <a:rPr lang="en-US" sz="2199">
                <a:solidFill>
                  <a:srgbClr val="005CC5"/>
                </a:solidFill>
                <a:latin typeface="Consolas"/>
                <a:ea typeface="Consolas"/>
                <a:cs typeface="Consolas"/>
                <a:sym typeface="Consolas"/>
              </a:rPr>
              <a:t>    # per item in sequence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2238" y="5454548"/>
            <a:ext cx="7805890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199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Python automatically advances through each item — no manual counter or index management required.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92238" y="6712001"/>
            <a:ext cx="7805890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 b="true">
                <a:solidFill>
                  <a:srgbClr val="443728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Works With: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92238" y="7324134"/>
            <a:ext cx="7805890" cy="1692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0859" indent="-265430" lvl="1">
              <a:lnSpc>
                <a:spcPts val="3511"/>
              </a:lnSpc>
              <a:buFont typeface="Arial"/>
              <a:buChar char="•"/>
            </a:pPr>
            <a:r>
              <a:rPr lang="en-US" sz="2199">
                <a:solidFill>
                  <a:srgbClr val="443728"/>
                </a:solidFill>
                <a:latin typeface="Consolas"/>
                <a:ea typeface="Consolas"/>
                <a:cs typeface="Consolas"/>
                <a:sym typeface="Consolas"/>
              </a:rPr>
              <a:t>Lists: ["apple","banana","cherry"]</a:t>
            </a:r>
          </a:p>
          <a:p>
            <a:pPr algn="l" marL="530859" indent="-265430" lvl="1">
              <a:lnSpc>
                <a:spcPts val="3511"/>
              </a:lnSpc>
              <a:buFont typeface="Arial"/>
              <a:buChar char="•"/>
            </a:pPr>
            <a:r>
              <a:rPr lang="en-US" sz="2199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Strings: "Python"</a:t>
            </a:r>
          </a:p>
          <a:p>
            <a:pPr algn="l" marL="530859" indent="-265430" lvl="1">
              <a:lnSpc>
                <a:spcPts val="3511"/>
              </a:lnSpc>
              <a:buFont typeface="Arial"/>
              <a:buChar char="•"/>
            </a:pPr>
            <a:r>
              <a:rPr lang="en-US" sz="2199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Tuples, dictionaries, and more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9499406" y="2566988"/>
            <a:ext cx="7805890" cy="6464198"/>
            <a:chOff x="0" y="0"/>
            <a:chExt cx="10407853" cy="861893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407777" cy="8618982"/>
            </a:xfrm>
            <a:custGeom>
              <a:avLst/>
              <a:gdLst/>
              <a:ahLst/>
              <a:cxnLst/>
              <a:rect r="r" b="b" t="t" l="l"/>
              <a:pathLst>
                <a:path h="8618982" w="10407777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10249027" y="0"/>
                  </a:lnTo>
                  <a:cubicBezTo>
                    <a:pt x="10336657" y="0"/>
                    <a:pt x="10407777" y="71120"/>
                    <a:pt x="10407777" y="158750"/>
                  </a:cubicBezTo>
                  <a:lnTo>
                    <a:pt x="10407777" y="8460232"/>
                  </a:lnTo>
                  <a:cubicBezTo>
                    <a:pt x="10407777" y="8547862"/>
                    <a:pt x="10336657" y="8618982"/>
                    <a:pt x="10249027" y="8618982"/>
                  </a:cubicBezTo>
                  <a:lnTo>
                    <a:pt x="158750" y="8618982"/>
                  </a:lnTo>
                  <a:cubicBezTo>
                    <a:pt x="71120" y="8618982"/>
                    <a:pt x="0" y="8547862"/>
                    <a:pt x="0" y="8460232"/>
                  </a:cubicBezTo>
                  <a:close/>
                </a:path>
              </a:pathLst>
            </a:custGeom>
            <a:solidFill>
              <a:srgbClr val="F2EFED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9839620" y="2717159"/>
            <a:ext cx="7125443" cy="60305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199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fruits = ["apple", "banana", "cherry"]</a:t>
            </a:r>
          </a:p>
          <a:p>
            <a:pPr algn="l">
              <a:lnSpc>
                <a:spcPts val="3511"/>
              </a:lnSpc>
            </a:pPr>
          </a:p>
          <a:p>
            <a:pPr algn="l">
              <a:lnSpc>
                <a:spcPts val="3511"/>
              </a:lnSpc>
            </a:pPr>
            <a:r>
              <a:rPr lang="en-US" sz="2199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for fruit in fruits:</a:t>
            </a:r>
          </a:p>
          <a:p>
            <a:pPr algn="l">
              <a:lnSpc>
                <a:spcPts val="3511"/>
              </a:lnSpc>
            </a:pPr>
            <a:r>
              <a:rPr lang="en-US" sz="2199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 print("I like", fruit)</a:t>
            </a:r>
          </a:p>
          <a:p>
            <a:pPr algn="l">
              <a:lnSpc>
                <a:spcPts val="3511"/>
              </a:lnSpc>
            </a:pPr>
          </a:p>
          <a:p>
            <a:pPr algn="l">
              <a:lnSpc>
                <a:spcPts val="3511"/>
              </a:lnSpc>
            </a:pPr>
            <a:r>
              <a:rPr lang="en-US" sz="2199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# Output:</a:t>
            </a:r>
          </a:p>
          <a:p>
            <a:pPr algn="l">
              <a:lnSpc>
                <a:spcPts val="3511"/>
              </a:lnSpc>
            </a:pPr>
            <a:r>
              <a:rPr lang="en-US" sz="2199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# I like apple</a:t>
            </a:r>
          </a:p>
          <a:p>
            <a:pPr algn="l">
              <a:lnSpc>
                <a:spcPts val="3511"/>
              </a:lnSpc>
            </a:pPr>
            <a:r>
              <a:rPr lang="en-US" sz="2199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# I like banana</a:t>
            </a:r>
          </a:p>
          <a:p>
            <a:pPr algn="l">
              <a:lnSpc>
                <a:spcPts val="3511"/>
              </a:lnSpc>
            </a:pPr>
            <a:r>
              <a:rPr lang="en-US" sz="2199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# I like cherry</a:t>
            </a:r>
          </a:p>
          <a:p>
            <a:pPr algn="l">
              <a:lnSpc>
                <a:spcPts val="3511"/>
              </a:lnSpc>
            </a:pPr>
          </a:p>
          <a:p>
            <a:pPr algn="l">
              <a:lnSpc>
                <a:spcPts val="3511"/>
              </a:lnSpc>
            </a:pPr>
            <a:r>
              <a:rPr lang="en-US" sz="2199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name = "Python"</a:t>
            </a:r>
          </a:p>
          <a:p>
            <a:pPr algn="l">
              <a:lnSpc>
                <a:spcPts val="3511"/>
              </a:lnSpc>
            </a:pPr>
            <a:r>
              <a:rPr lang="en-US" sz="2199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for letter in name:</a:t>
            </a:r>
          </a:p>
          <a:p>
            <a:pPr algn="l">
              <a:lnSpc>
                <a:spcPts val="3511"/>
              </a:lnSpc>
            </a:pPr>
            <a:r>
              <a:rPr lang="en-US" sz="2199">
                <a:solidFill>
                  <a:srgbClr val="24292E"/>
                </a:solidFill>
                <a:latin typeface="Consolas"/>
                <a:ea typeface="Consolas"/>
                <a:cs typeface="Consolas"/>
                <a:sym typeface="Consolas"/>
              </a:rPr>
              <a:t> print(letter)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3983929" y="158039"/>
            <a:ext cx="3439373" cy="895236"/>
            <a:chOff x="0" y="0"/>
            <a:chExt cx="4585830" cy="119364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585843" cy="1193673"/>
            </a:xfrm>
            <a:custGeom>
              <a:avLst/>
              <a:gdLst/>
              <a:ahLst/>
              <a:cxnLst/>
              <a:rect r="r" b="b" t="t" l="l"/>
              <a:pathLst>
                <a:path h="1193673" w="4585843">
                  <a:moveTo>
                    <a:pt x="0" y="0"/>
                  </a:moveTo>
                  <a:lnTo>
                    <a:pt x="4585843" y="0"/>
                  </a:lnTo>
                  <a:lnTo>
                    <a:pt x="4585843" y="1193673"/>
                  </a:lnTo>
                  <a:lnTo>
                    <a:pt x="0" y="11936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4883" r="0" b="-4881"/>
              </a:stretch>
            </a:blipFill>
          </p:spPr>
        </p:sp>
      </p:grp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EDE9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3810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CFA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2345084"/>
            <a:ext cx="16303523" cy="924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63"/>
              </a:lnSpc>
            </a:pPr>
            <a:r>
              <a:rPr lang="en-US" sz="5499" b="true">
                <a:solidFill>
                  <a:srgbClr val="443728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The Range Function: Controlling Loop Counts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3750469"/>
            <a:ext cx="17217923" cy="53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199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range() generates a sequence of numbers on demand — perfect for running a loop a </a:t>
            </a:r>
            <a:r>
              <a:rPr lang="en-US" sz="2199" b="true">
                <a:solidFill>
                  <a:srgbClr val="44372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specific number of times</a:t>
            </a:r>
            <a:r>
              <a:rPr lang="en-US" sz="2199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87476" y="4603994"/>
            <a:ext cx="5254971" cy="3304432"/>
            <a:chOff x="0" y="0"/>
            <a:chExt cx="7006628" cy="440590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006717" cy="4405884"/>
            </a:xfrm>
            <a:custGeom>
              <a:avLst/>
              <a:gdLst/>
              <a:ahLst/>
              <a:cxnLst/>
              <a:rect r="r" b="b" t="t" l="l"/>
              <a:pathLst>
                <a:path h="4405884" w="7006717">
                  <a:moveTo>
                    <a:pt x="0" y="159258"/>
                  </a:moveTo>
                  <a:cubicBezTo>
                    <a:pt x="0" y="71247"/>
                    <a:pt x="71247" y="0"/>
                    <a:pt x="159258" y="0"/>
                  </a:cubicBezTo>
                  <a:lnTo>
                    <a:pt x="6847459" y="0"/>
                  </a:lnTo>
                  <a:cubicBezTo>
                    <a:pt x="6935343" y="0"/>
                    <a:pt x="7006717" y="71247"/>
                    <a:pt x="7006717" y="159258"/>
                  </a:cubicBezTo>
                  <a:lnTo>
                    <a:pt x="7006717" y="4246626"/>
                  </a:lnTo>
                  <a:cubicBezTo>
                    <a:pt x="7006717" y="4334510"/>
                    <a:pt x="6935470" y="4405884"/>
                    <a:pt x="6847459" y="4405884"/>
                  </a:cubicBezTo>
                  <a:lnTo>
                    <a:pt x="159258" y="4405884"/>
                  </a:lnTo>
                  <a:cubicBezTo>
                    <a:pt x="71247" y="4405884"/>
                    <a:pt x="0" y="4334637"/>
                    <a:pt x="0" y="4246626"/>
                  </a:cubicBezTo>
                  <a:close/>
                </a:path>
              </a:pathLst>
            </a:custGeom>
            <a:solidFill>
              <a:srgbClr val="EBE2E0"/>
            </a:solidFill>
            <a:ln w="9526" cap="sq">
              <a:solidFill>
                <a:srgbClr val="D1C8C6"/>
              </a:solidFill>
              <a:prstDash val="solid"/>
              <a:miter/>
            </a:ln>
          </p:spPr>
        </p:sp>
      </p:grpSp>
      <p:sp>
        <p:nvSpPr>
          <p:cNvPr name="TextBox 10" id="10"/>
          <p:cNvSpPr txBox="true"/>
          <p:nvPr/>
        </p:nvSpPr>
        <p:spPr>
          <a:xfrm rot="0">
            <a:off x="1285284" y="4835128"/>
            <a:ext cx="4659363" cy="528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 b="true">
                <a:solidFill>
                  <a:srgbClr val="443728"/>
                </a:solidFill>
                <a:latin typeface="Consolas Bold"/>
                <a:ea typeface="Consolas Bold"/>
                <a:cs typeface="Consolas Bold"/>
                <a:sym typeface="Consolas Bold"/>
              </a:rPr>
              <a:t>range(stop)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285284" y="5682701"/>
            <a:ext cx="4659363" cy="1927917"/>
            <a:chOff x="0" y="0"/>
            <a:chExt cx="6212484" cy="257055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212459" cy="2570480"/>
            </a:xfrm>
            <a:custGeom>
              <a:avLst/>
              <a:gdLst/>
              <a:ahLst/>
              <a:cxnLst/>
              <a:rect r="r" b="b" t="t" l="l"/>
              <a:pathLst>
                <a:path h="2570480" w="6212459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6053709" y="0"/>
                  </a:lnTo>
                  <a:cubicBezTo>
                    <a:pt x="6141466" y="0"/>
                    <a:pt x="6212459" y="71120"/>
                    <a:pt x="6212459" y="158750"/>
                  </a:cubicBezTo>
                  <a:lnTo>
                    <a:pt x="6212459" y="2411730"/>
                  </a:lnTo>
                  <a:cubicBezTo>
                    <a:pt x="6212459" y="2499487"/>
                    <a:pt x="6141339" y="2570480"/>
                    <a:pt x="6053709" y="2570480"/>
                  </a:cubicBezTo>
                  <a:lnTo>
                    <a:pt x="158750" y="2570480"/>
                  </a:lnTo>
                  <a:cubicBezTo>
                    <a:pt x="70993" y="2570480"/>
                    <a:pt x="0" y="2499360"/>
                    <a:pt x="0" y="2411730"/>
                  </a:cubicBezTo>
                  <a:close/>
                </a:path>
              </a:pathLst>
            </a:custGeom>
            <a:solidFill>
              <a:srgbClr val="F2EFED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625498" y="5832872"/>
            <a:ext cx="3978916" cy="14942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199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for i in range(5):</a:t>
            </a:r>
          </a:p>
          <a:p>
            <a:pPr algn="l">
              <a:lnSpc>
                <a:spcPts val="3511"/>
              </a:lnSpc>
            </a:pPr>
            <a:r>
              <a:rPr lang="en-US" sz="2199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    print(i)</a:t>
            </a:r>
          </a:p>
          <a:p>
            <a:pPr algn="l">
              <a:lnSpc>
                <a:spcPts val="3511"/>
              </a:lnSpc>
            </a:pPr>
            <a:r>
              <a:rPr lang="en-US" sz="2199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# 0, 1, 2, 3, 4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6516443" y="4603994"/>
            <a:ext cx="5254971" cy="3304432"/>
            <a:chOff x="0" y="0"/>
            <a:chExt cx="7006628" cy="440590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006717" cy="4405884"/>
            </a:xfrm>
            <a:custGeom>
              <a:avLst/>
              <a:gdLst/>
              <a:ahLst/>
              <a:cxnLst/>
              <a:rect r="r" b="b" t="t" l="l"/>
              <a:pathLst>
                <a:path h="4405884" w="7006717">
                  <a:moveTo>
                    <a:pt x="0" y="159258"/>
                  </a:moveTo>
                  <a:cubicBezTo>
                    <a:pt x="0" y="71247"/>
                    <a:pt x="71247" y="0"/>
                    <a:pt x="159258" y="0"/>
                  </a:cubicBezTo>
                  <a:lnTo>
                    <a:pt x="6847459" y="0"/>
                  </a:lnTo>
                  <a:cubicBezTo>
                    <a:pt x="6935343" y="0"/>
                    <a:pt x="7006717" y="71247"/>
                    <a:pt x="7006717" y="159258"/>
                  </a:cubicBezTo>
                  <a:lnTo>
                    <a:pt x="7006717" y="4246626"/>
                  </a:lnTo>
                  <a:cubicBezTo>
                    <a:pt x="7006717" y="4334510"/>
                    <a:pt x="6935470" y="4405884"/>
                    <a:pt x="6847459" y="4405884"/>
                  </a:cubicBezTo>
                  <a:lnTo>
                    <a:pt x="159258" y="4405884"/>
                  </a:lnTo>
                  <a:cubicBezTo>
                    <a:pt x="71247" y="4405884"/>
                    <a:pt x="0" y="4334637"/>
                    <a:pt x="0" y="4246626"/>
                  </a:cubicBezTo>
                  <a:close/>
                </a:path>
              </a:pathLst>
            </a:custGeom>
            <a:solidFill>
              <a:srgbClr val="EBE2E0"/>
            </a:solidFill>
            <a:ln w="9526" cap="sq">
              <a:solidFill>
                <a:srgbClr val="D1C8C6"/>
              </a:solidFill>
              <a:prstDash val="solid"/>
              <a:miter/>
            </a:ln>
          </p:spPr>
        </p:sp>
      </p:grpSp>
      <p:sp>
        <p:nvSpPr>
          <p:cNvPr name="TextBox 16" id="16"/>
          <p:cNvSpPr txBox="true"/>
          <p:nvPr/>
        </p:nvSpPr>
        <p:spPr>
          <a:xfrm rot="0">
            <a:off x="6814242" y="4835128"/>
            <a:ext cx="4659363" cy="528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 b="true">
                <a:solidFill>
                  <a:srgbClr val="443728"/>
                </a:solidFill>
                <a:latin typeface="Consolas Bold"/>
                <a:ea typeface="Consolas Bold"/>
                <a:cs typeface="Consolas Bold"/>
                <a:sym typeface="Consolas Bold"/>
              </a:rPr>
              <a:t>range(start, stop)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6814242" y="5682701"/>
            <a:ext cx="4659363" cy="1927917"/>
            <a:chOff x="0" y="0"/>
            <a:chExt cx="6212484" cy="257055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212459" cy="2570480"/>
            </a:xfrm>
            <a:custGeom>
              <a:avLst/>
              <a:gdLst/>
              <a:ahLst/>
              <a:cxnLst/>
              <a:rect r="r" b="b" t="t" l="l"/>
              <a:pathLst>
                <a:path h="2570480" w="6212459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6053709" y="0"/>
                  </a:lnTo>
                  <a:cubicBezTo>
                    <a:pt x="6141466" y="0"/>
                    <a:pt x="6212459" y="71120"/>
                    <a:pt x="6212459" y="158750"/>
                  </a:cubicBezTo>
                  <a:lnTo>
                    <a:pt x="6212459" y="2411730"/>
                  </a:lnTo>
                  <a:cubicBezTo>
                    <a:pt x="6212459" y="2499487"/>
                    <a:pt x="6141339" y="2570480"/>
                    <a:pt x="6053709" y="2570480"/>
                  </a:cubicBezTo>
                  <a:lnTo>
                    <a:pt x="158750" y="2570480"/>
                  </a:lnTo>
                  <a:cubicBezTo>
                    <a:pt x="70993" y="2570480"/>
                    <a:pt x="0" y="2499360"/>
                    <a:pt x="0" y="2411730"/>
                  </a:cubicBezTo>
                  <a:close/>
                </a:path>
              </a:pathLst>
            </a:custGeom>
            <a:solidFill>
              <a:srgbClr val="F2EFED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7154466" y="5832872"/>
            <a:ext cx="3978916" cy="14942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199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for i in range(2, 6):</a:t>
            </a:r>
          </a:p>
          <a:p>
            <a:pPr algn="l">
              <a:lnSpc>
                <a:spcPts val="3511"/>
              </a:lnSpc>
            </a:pPr>
            <a:r>
              <a:rPr lang="en-US" sz="2199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    print(i)</a:t>
            </a:r>
          </a:p>
          <a:p>
            <a:pPr algn="l">
              <a:lnSpc>
                <a:spcPts val="3511"/>
              </a:lnSpc>
            </a:pPr>
            <a:r>
              <a:rPr lang="en-US" sz="2199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# 2, 3, 4, 5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2045401" y="4603994"/>
            <a:ext cx="5254971" cy="3304432"/>
            <a:chOff x="0" y="0"/>
            <a:chExt cx="7006628" cy="440590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006717" cy="4405884"/>
            </a:xfrm>
            <a:custGeom>
              <a:avLst/>
              <a:gdLst/>
              <a:ahLst/>
              <a:cxnLst/>
              <a:rect r="r" b="b" t="t" l="l"/>
              <a:pathLst>
                <a:path h="4405884" w="7006717">
                  <a:moveTo>
                    <a:pt x="0" y="159258"/>
                  </a:moveTo>
                  <a:cubicBezTo>
                    <a:pt x="0" y="71247"/>
                    <a:pt x="71247" y="0"/>
                    <a:pt x="159258" y="0"/>
                  </a:cubicBezTo>
                  <a:lnTo>
                    <a:pt x="6847459" y="0"/>
                  </a:lnTo>
                  <a:cubicBezTo>
                    <a:pt x="6935343" y="0"/>
                    <a:pt x="7006717" y="71247"/>
                    <a:pt x="7006717" y="159258"/>
                  </a:cubicBezTo>
                  <a:lnTo>
                    <a:pt x="7006717" y="4246626"/>
                  </a:lnTo>
                  <a:cubicBezTo>
                    <a:pt x="7006717" y="4334510"/>
                    <a:pt x="6935470" y="4405884"/>
                    <a:pt x="6847459" y="4405884"/>
                  </a:cubicBezTo>
                  <a:lnTo>
                    <a:pt x="159258" y="4405884"/>
                  </a:lnTo>
                  <a:cubicBezTo>
                    <a:pt x="71247" y="4405884"/>
                    <a:pt x="0" y="4334637"/>
                    <a:pt x="0" y="4246626"/>
                  </a:cubicBezTo>
                  <a:close/>
                </a:path>
              </a:pathLst>
            </a:custGeom>
            <a:solidFill>
              <a:srgbClr val="EBE2E0"/>
            </a:solidFill>
            <a:ln w="9526" cap="sq">
              <a:solidFill>
                <a:srgbClr val="D1C8C6"/>
              </a:solidFill>
              <a:prstDash val="solid"/>
              <a:miter/>
            </a:ln>
          </p:spPr>
        </p:sp>
      </p:grpSp>
      <p:sp>
        <p:nvSpPr>
          <p:cNvPr name="TextBox 22" id="22"/>
          <p:cNvSpPr txBox="true"/>
          <p:nvPr/>
        </p:nvSpPr>
        <p:spPr>
          <a:xfrm rot="0">
            <a:off x="12343209" y="4835128"/>
            <a:ext cx="4659363" cy="528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 b="true">
                <a:solidFill>
                  <a:srgbClr val="443728"/>
                </a:solidFill>
                <a:latin typeface="Consolas Bold"/>
                <a:ea typeface="Consolas Bold"/>
                <a:cs typeface="Consolas Bold"/>
                <a:sym typeface="Consolas Bold"/>
              </a:rPr>
              <a:t>range(start, stop, step)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2343209" y="5682701"/>
            <a:ext cx="4659363" cy="1927917"/>
            <a:chOff x="0" y="0"/>
            <a:chExt cx="6212484" cy="257055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212459" cy="2570480"/>
            </a:xfrm>
            <a:custGeom>
              <a:avLst/>
              <a:gdLst/>
              <a:ahLst/>
              <a:cxnLst/>
              <a:rect r="r" b="b" t="t" l="l"/>
              <a:pathLst>
                <a:path h="2570480" w="6212459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6053709" y="0"/>
                  </a:lnTo>
                  <a:cubicBezTo>
                    <a:pt x="6141466" y="0"/>
                    <a:pt x="6212459" y="71120"/>
                    <a:pt x="6212459" y="158750"/>
                  </a:cubicBezTo>
                  <a:lnTo>
                    <a:pt x="6212459" y="2411730"/>
                  </a:lnTo>
                  <a:cubicBezTo>
                    <a:pt x="6212459" y="2499487"/>
                    <a:pt x="6141339" y="2570480"/>
                    <a:pt x="6053709" y="2570480"/>
                  </a:cubicBezTo>
                  <a:lnTo>
                    <a:pt x="158750" y="2570480"/>
                  </a:lnTo>
                  <a:cubicBezTo>
                    <a:pt x="70993" y="2570480"/>
                    <a:pt x="0" y="2499360"/>
                    <a:pt x="0" y="2411730"/>
                  </a:cubicBezTo>
                  <a:close/>
                </a:path>
              </a:pathLst>
            </a:custGeom>
            <a:solidFill>
              <a:srgbClr val="F2EFED"/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12683433" y="5832872"/>
            <a:ext cx="3978916" cy="14942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199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for i in range(0, 10, 2):</a:t>
            </a:r>
          </a:p>
          <a:p>
            <a:pPr algn="l">
              <a:lnSpc>
                <a:spcPts val="3511"/>
              </a:lnSpc>
            </a:pPr>
            <a:r>
              <a:rPr lang="en-US" sz="2199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 print(i)</a:t>
            </a:r>
          </a:p>
          <a:p>
            <a:pPr algn="l">
              <a:lnSpc>
                <a:spcPts val="3511"/>
              </a:lnSpc>
            </a:pPr>
            <a:r>
              <a:rPr lang="en-US" sz="2199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# 0, 2, 4, 6, 8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3983929" y="158039"/>
            <a:ext cx="3439373" cy="895236"/>
            <a:chOff x="0" y="0"/>
            <a:chExt cx="4585830" cy="119364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585843" cy="1193673"/>
            </a:xfrm>
            <a:custGeom>
              <a:avLst/>
              <a:gdLst/>
              <a:ahLst/>
              <a:cxnLst/>
              <a:rect r="r" b="b" t="t" l="l"/>
              <a:pathLst>
                <a:path h="1193673" w="4585843">
                  <a:moveTo>
                    <a:pt x="0" y="0"/>
                  </a:moveTo>
                  <a:lnTo>
                    <a:pt x="4585843" y="0"/>
                  </a:lnTo>
                  <a:lnTo>
                    <a:pt x="4585843" y="1193673"/>
                  </a:lnTo>
                  <a:lnTo>
                    <a:pt x="0" y="11936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4883" r="0" b="-4881"/>
              </a:stretch>
            </a:blipFill>
          </p:spPr>
        </p:sp>
      </p:grp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EDE9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CFA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903532"/>
            <a:ext cx="16303523" cy="8963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39"/>
              </a:lnSpc>
            </a:pPr>
            <a:r>
              <a:rPr lang="en-US" sz="5400" b="true">
                <a:solidFill>
                  <a:srgbClr val="443728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Nested Loops: Loops Within Loops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2445839"/>
            <a:ext cx="7816748" cy="448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 b="true">
                <a:solidFill>
                  <a:srgbClr val="443728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How It Works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92238" y="3083719"/>
            <a:ext cx="7816748" cy="1374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1"/>
              </a:lnSpc>
            </a:pPr>
            <a:r>
              <a:rPr lang="en-US" sz="2100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For every </a:t>
            </a:r>
            <a:r>
              <a:rPr lang="en-US" sz="2100" b="true">
                <a:solidFill>
                  <a:srgbClr val="44372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single iteration</a:t>
            </a:r>
            <a:r>
              <a:rPr lang="en-US" sz="2100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 of the outer loop, the inner loop runs </a:t>
            </a:r>
            <a:r>
              <a:rPr lang="en-US" sz="2100" b="true">
                <a:solidFill>
                  <a:srgbClr val="44372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completely</a:t>
            </a:r>
            <a:r>
              <a:rPr lang="en-US" sz="2100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 from start to finish. This is ideal for processing grids, tables, or multi-dimensional data.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92238" y="4757137"/>
            <a:ext cx="7816748" cy="2746619"/>
            <a:chOff x="0" y="0"/>
            <a:chExt cx="10422331" cy="366215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422382" cy="3662172"/>
            </a:xfrm>
            <a:custGeom>
              <a:avLst/>
              <a:gdLst/>
              <a:ahLst/>
              <a:cxnLst/>
              <a:rect r="r" b="b" t="t" l="l"/>
              <a:pathLst>
                <a:path h="3662172" w="10422382">
                  <a:moveTo>
                    <a:pt x="0" y="153797"/>
                  </a:moveTo>
                  <a:cubicBezTo>
                    <a:pt x="0" y="68834"/>
                    <a:pt x="68834" y="0"/>
                    <a:pt x="153797" y="0"/>
                  </a:cubicBezTo>
                  <a:lnTo>
                    <a:pt x="10268585" y="0"/>
                  </a:lnTo>
                  <a:cubicBezTo>
                    <a:pt x="10353548" y="0"/>
                    <a:pt x="10422382" y="68834"/>
                    <a:pt x="10422382" y="153797"/>
                  </a:cubicBezTo>
                  <a:lnTo>
                    <a:pt x="10422382" y="3508375"/>
                  </a:lnTo>
                  <a:cubicBezTo>
                    <a:pt x="10422382" y="3593338"/>
                    <a:pt x="10353548" y="3662172"/>
                    <a:pt x="10268585" y="3662172"/>
                  </a:cubicBezTo>
                  <a:lnTo>
                    <a:pt x="153797" y="3662172"/>
                  </a:lnTo>
                  <a:cubicBezTo>
                    <a:pt x="68834" y="3662172"/>
                    <a:pt x="0" y="3593338"/>
                    <a:pt x="0" y="3508375"/>
                  </a:cubicBezTo>
                  <a:close/>
                </a:path>
              </a:pathLst>
            </a:custGeom>
            <a:solidFill>
              <a:srgbClr val="F2EFED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321746" y="4907909"/>
            <a:ext cx="7157742" cy="2321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1"/>
              </a:lnSpc>
            </a:pPr>
            <a:r>
              <a:rPr lang="en-US" sz="2100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for row in range(1, 4):</a:t>
            </a:r>
          </a:p>
          <a:p>
            <a:pPr algn="l">
              <a:lnSpc>
                <a:spcPts val="3351"/>
              </a:lnSpc>
            </a:pPr>
            <a:r>
              <a:rPr lang="en-US" sz="2100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    for col in range(1, 4):</a:t>
            </a:r>
          </a:p>
          <a:p>
            <a:pPr algn="l">
              <a:lnSpc>
                <a:spcPts val="3351"/>
              </a:lnSpc>
            </a:pPr>
            <a:r>
              <a:rPr lang="en-US" sz="2100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        print(row, "x", col,</a:t>
            </a:r>
          </a:p>
          <a:p>
            <a:pPr algn="l">
              <a:lnSpc>
                <a:spcPts val="3351"/>
              </a:lnSpc>
            </a:pPr>
            <a:r>
              <a:rPr lang="en-US" sz="2100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              "=", row * col)</a:t>
            </a:r>
          </a:p>
          <a:p>
            <a:pPr algn="l">
              <a:lnSpc>
                <a:spcPts val="3351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9488538" y="2445839"/>
            <a:ext cx="7816748" cy="448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 b="true">
                <a:solidFill>
                  <a:srgbClr val="443728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Visualizing the Output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488538" y="3193256"/>
            <a:ext cx="7816748" cy="4504582"/>
            <a:chOff x="0" y="0"/>
            <a:chExt cx="10422331" cy="600610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422255" cy="6006084"/>
            </a:xfrm>
            <a:custGeom>
              <a:avLst/>
              <a:gdLst/>
              <a:ahLst/>
              <a:cxnLst/>
              <a:rect r="r" b="b" t="t" l="l"/>
              <a:pathLst>
                <a:path h="6006084" w="10422255">
                  <a:moveTo>
                    <a:pt x="0" y="153797"/>
                  </a:moveTo>
                  <a:cubicBezTo>
                    <a:pt x="0" y="68834"/>
                    <a:pt x="68834" y="0"/>
                    <a:pt x="153797" y="0"/>
                  </a:cubicBezTo>
                  <a:lnTo>
                    <a:pt x="10268458" y="0"/>
                  </a:lnTo>
                  <a:cubicBezTo>
                    <a:pt x="10353421" y="0"/>
                    <a:pt x="10422255" y="68834"/>
                    <a:pt x="10422255" y="153797"/>
                  </a:cubicBezTo>
                  <a:lnTo>
                    <a:pt x="10422255" y="5852287"/>
                  </a:lnTo>
                  <a:cubicBezTo>
                    <a:pt x="10422255" y="5937250"/>
                    <a:pt x="10353421" y="6006084"/>
                    <a:pt x="10268458" y="6006084"/>
                  </a:cubicBezTo>
                  <a:lnTo>
                    <a:pt x="153797" y="6006084"/>
                  </a:lnTo>
                  <a:cubicBezTo>
                    <a:pt x="68834" y="6006084"/>
                    <a:pt x="0" y="5937250"/>
                    <a:pt x="0" y="5852287"/>
                  </a:cubicBezTo>
                  <a:close/>
                </a:path>
              </a:pathLst>
            </a:custGeom>
            <a:solidFill>
              <a:srgbClr val="F2EFED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9818046" y="3344018"/>
            <a:ext cx="7157742" cy="40792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1"/>
              </a:lnSpc>
            </a:pPr>
            <a:r>
              <a:rPr lang="en-US" sz="2100">
                <a:solidFill>
                  <a:srgbClr val="005CC5"/>
                </a:solidFill>
                <a:latin typeface="Consolas"/>
                <a:ea typeface="Consolas"/>
                <a:cs typeface="Consolas"/>
                <a:sym typeface="Consolas"/>
              </a:rPr>
              <a:t>1 x 1 = 1</a:t>
            </a:r>
          </a:p>
          <a:p>
            <a:pPr algn="l">
              <a:lnSpc>
                <a:spcPts val="3351"/>
              </a:lnSpc>
            </a:pPr>
            <a:r>
              <a:rPr lang="en-US" sz="2100">
                <a:solidFill>
                  <a:srgbClr val="005CC5"/>
                </a:solidFill>
                <a:latin typeface="Consolas"/>
                <a:ea typeface="Consolas"/>
                <a:cs typeface="Consolas"/>
                <a:sym typeface="Consolas"/>
              </a:rPr>
              <a:t>1 x 2 = 2</a:t>
            </a:r>
          </a:p>
          <a:p>
            <a:pPr algn="l">
              <a:lnSpc>
                <a:spcPts val="3351"/>
              </a:lnSpc>
            </a:pPr>
            <a:r>
              <a:rPr lang="en-US" sz="2100">
                <a:solidFill>
                  <a:srgbClr val="005CC5"/>
                </a:solidFill>
                <a:latin typeface="Consolas"/>
                <a:ea typeface="Consolas"/>
                <a:cs typeface="Consolas"/>
                <a:sym typeface="Consolas"/>
              </a:rPr>
              <a:t>1 x 3 = 3</a:t>
            </a:r>
          </a:p>
          <a:p>
            <a:pPr algn="l">
              <a:lnSpc>
                <a:spcPts val="3351"/>
              </a:lnSpc>
            </a:pPr>
            <a:r>
              <a:rPr lang="en-US" sz="2100">
                <a:solidFill>
                  <a:srgbClr val="005CC5"/>
                </a:solidFill>
                <a:latin typeface="Consolas"/>
                <a:ea typeface="Consolas"/>
                <a:cs typeface="Consolas"/>
                <a:sym typeface="Consolas"/>
              </a:rPr>
              <a:t>2 x 1 = 2</a:t>
            </a:r>
          </a:p>
          <a:p>
            <a:pPr algn="l">
              <a:lnSpc>
                <a:spcPts val="3351"/>
              </a:lnSpc>
            </a:pPr>
            <a:r>
              <a:rPr lang="en-US" sz="2100">
                <a:solidFill>
                  <a:srgbClr val="005CC5"/>
                </a:solidFill>
                <a:latin typeface="Consolas"/>
                <a:ea typeface="Consolas"/>
                <a:cs typeface="Consolas"/>
                <a:sym typeface="Consolas"/>
              </a:rPr>
              <a:t>2 x 2 = 4</a:t>
            </a:r>
          </a:p>
          <a:p>
            <a:pPr algn="l">
              <a:lnSpc>
                <a:spcPts val="3351"/>
              </a:lnSpc>
            </a:pPr>
            <a:r>
              <a:rPr lang="en-US" sz="2100">
                <a:solidFill>
                  <a:srgbClr val="005CC5"/>
                </a:solidFill>
                <a:latin typeface="Consolas"/>
                <a:ea typeface="Consolas"/>
                <a:cs typeface="Consolas"/>
                <a:sym typeface="Consolas"/>
              </a:rPr>
              <a:t>2 x 3 = 6</a:t>
            </a:r>
          </a:p>
          <a:p>
            <a:pPr algn="l">
              <a:lnSpc>
                <a:spcPts val="3351"/>
              </a:lnSpc>
            </a:pPr>
            <a:r>
              <a:rPr lang="en-US" sz="2100">
                <a:solidFill>
                  <a:srgbClr val="005CC5"/>
                </a:solidFill>
                <a:latin typeface="Consolas"/>
                <a:ea typeface="Consolas"/>
                <a:cs typeface="Consolas"/>
                <a:sym typeface="Consolas"/>
              </a:rPr>
              <a:t>3 x 1 = 3</a:t>
            </a:r>
          </a:p>
          <a:p>
            <a:pPr algn="l">
              <a:lnSpc>
                <a:spcPts val="3351"/>
              </a:lnSpc>
            </a:pPr>
            <a:r>
              <a:rPr lang="en-US" sz="2100">
                <a:solidFill>
                  <a:srgbClr val="005CC5"/>
                </a:solidFill>
                <a:latin typeface="Consolas"/>
                <a:ea typeface="Consolas"/>
                <a:cs typeface="Consolas"/>
                <a:sym typeface="Consolas"/>
              </a:rPr>
              <a:t>3 x 2 = 6</a:t>
            </a:r>
          </a:p>
          <a:p>
            <a:pPr algn="l">
              <a:lnSpc>
                <a:spcPts val="3351"/>
              </a:lnSpc>
            </a:pPr>
            <a:r>
              <a:rPr lang="en-US" sz="2100">
                <a:solidFill>
                  <a:srgbClr val="005CC5"/>
                </a:solidFill>
                <a:latin typeface="Consolas"/>
                <a:ea typeface="Consolas"/>
                <a:cs typeface="Consolas"/>
                <a:sym typeface="Consolas"/>
              </a:rPr>
              <a:t>3 x 3 = 9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9488538" y="7997133"/>
            <a:ext cx="7816748" cy="1048788"/>
            <a:chOff x="0" y="0"/>
            <a:chExt cx="10422331" cy="139838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422255" cy="1398397"/>
            </a:xfrm>
            <a:custGeom>
              <a:avLst/>
              <a:gdLst/>
              <a:ahLst/>
              <a:cxnLst/>
              <a:rect r="r" b="b" t="t" l="l"/>
              <a:pathLst>
                <a:path h="1398397" w="10422255">
                  <a:moveTo>
                    <a:pt x="0" y="153797"/>
                  </a:moveTo>
                  <a:cubicBezTo>
                    <a:pt x="0" y="68834"/>
                    <a:pt x="68834" y="0"/>
                    <a:pt x="153797" y="0"/>
                  </a:cubicBezTo>
                  <a:lnTo>
                    <a:pt x="10268458" y="0"/>
                  </a:lnTo>
                  <a:cubicBezTo>
                    <a:pt x="10353421" y="0"/>
                    <a:pt x="10422255" y="68834"/>
                    <a:pt x="10422255" y="153797"/>
                  </a:cubicBezTo>
                  <a:lnTo>
                    <a:pt x="10422255" y="1244600"/>
                  </a:lnTo>
                  <a:cubicBezTo>
                    <a:pt x="10422255" y="1329563"/>
                    <a:pt x="10353421" y="1398397"/>
                    <a:pt x="10268458" y="1398397"/>
                  </a:cubicBezTo>
                  <a:lnTo>
                    <a:pt x="153797" y="1398397"/>
                  </a:lnTo>
                  <a:cubicBezTo>
                    <a:pt x="68834" y="1398397"/>
                    <a:pt x="0" y="1329563"/>
                    <a:pt x="0" y="1244600"/>
                  </a:cubicBezTo>
                  <a:close/>
                </a:path>
              </a:pathLst>
            </a:custGeom>
            <a:solidFill>
              <a:srgbClr val="EBE2E0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9763125" y="8423824"/>
            <a:ext cx="343195" cy="274587"/>
            <a:chOff x="0" y="0"/>
            <a:chExt cx="457594" cy="366116"/>
          </a:xfrm>
        </p:grpSpPr>
        <p:sp>
          <p:nvSpPr>
            <p:cNvPr name="Freeform 19" id="19" descr="preencoded.png"/>
            <p:cNvSpPr/>
            <p:nvPr/>
          </p:nvSpPr>
          <p:spPr>
            <a:xfrm flipH="false" flipV="false" rot="0">
              <a:off x="0" y="0"/>
              <a:ext cx="457581" cy="366141"/>
            </a:xfrm>
            <a:custGeom>
              <a:avLst/>
              <a:gdLst/>
              <a:ahLst/>
              <a:cxnLst/>
              <a:rect r="r" b="b" t="t" l="l"/>
              <a:pathLst>
                <a:path h="366141" w="457581">
                  <a:moveTo>
                    <a:pt x="0" y="0"/>
                  </a:moveTo>
                  <a:lnTo>
                    <a:pt x="457581" y="0"/>
                  </a:lnTo>
                  <a:lnTo>
                    <a:pt x="457581" y="366141"/>
                  </a:lnTo>
                  <a:lnTo>
                    <a:pt x="0" y="3661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040" t="0" r="-1043" b="6"/>
              </a:stretch>
            </a:blip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0380907" y="8229000"/>
            <a:ext cx="7564193" cy="508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1"/>
              </a:lnSpc>
            </a:pPr>
            <a:r>
              <a:rPr lang="en-US" sz="21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Outer loop ran 3 times. Inner loop ran 9 times total.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3983929" y="158039"/>
            <a:ext cx="3439373" cy="895236"/>
            <a:chOff x="0" y="0"/>
            <a:chExt cx="4585830" cy="119364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585843" cy="1193673"/>
            </a:xfrm>
            <a:custGeom>
              <a:avLst/>
              <a:gdLst/>
              <a:ahLst/>
              <a:cxnLst/>
              <a:rect r="r" b="b" t="t" l="l"/>
              <a:pathLst>
                <a:path h="1193673" w="4585843">
                  <a:moveTo>
                    <a:pt x="0" y="0"/>
                  </a:moveTo>
                  <a:lnTo>
                    <a:pt x="4585843" y="0"/>
                  </a:lnTo>
                  <a:lnTo>
                    <a:pt x="4585843" y="1193673"/>
                  </a:lnTo>
                  <a:lnTo>
                    <a:pt x="0" y="11936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4883" r="0" b="-4881"/>
              </a:stretch>
            </a:blipFill>
          </p:spPr>
        </p:sp>
      </p:grp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EDE9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CFA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1754686"/>
            <a:ext cx="16303523" cy="924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63"/>
              </a:lnSpc>
            </a:pPr>
            <a:r>
              <a:rPr lang="en-US" sz="5499" b="true">
                <a:solidFill>
                  <a:srgbClr val="443728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Loop Control: Break and Continue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788041" y="3103959"/>
            <a:ext cx="8214274" cy="5390255"/>
            <a:chOff x="0" y="0"/>
            <a:chExt cx="10952366" cy="718700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952353" cy="7187057"/>
            </a:xfrm>
            <a:custGeom>
              <a:avLst/>
              <a:gdLst/>
              <a:ahLst/>
              <a:cxnLst/>
              <a:rect r="r" b="b" t="t" l="l"/>
              <a:pathLst>
                <a:path h="7187057" w="10952353">
                  <a:moveTo>
                    <a:pt x="0" y="272161"/>
                  </a:moveTo>
                  <a:cubicBezTo>
                    <a:pt x="0" y="121793"/>
                    <a:pt x="121793" y="0"/>
                    <a:pt x="272161" y="0"/>
                  </a:cubicBezTo>
                  <a:lnTo>
                    <a:pt x="10680192" y="0"/>
                  </a:lnTo>
                  <a:cubicBezTo>
                    <a:pt x="10830561" y="0"/>
                    <a:pt x="10952353" y="121793"/>
                    <a:pt x="10952353" y="272161"/>
                  </a:cubicBezTo>
                  <a:lnTo>
                    <a:pt x="10952353" y="6914896"/>
                  </a:lnTo>
                  <a:cubicBezTo>
                    <a:pt x="10952353" y="7065264"/>
                    <a:pt x="10830561" y="7187057"/>
                    <a:pt x="10680192" y="7187057"/>
                  </a:cubicBezTo>
                  <a:lnTo>
                    <a:pt x="272161" y="7187057"/>
                  </a:lnTo>
                  <a:cubicBezTo>
                    <a:pt x="121793" y="7187057"/>
                    <a:pt x="0" y="7065137"/>
                    <a:pt x="0" y="6914896"/>
                  </a:cubicBezTo>
                  <a:close/>
                </a:path>
              </a:pathLst>
            </a:custGeom>
            <a:solidFill>
              <a:srgbClr val="835E54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1071562" y="3368431"/>
            <a:ext cx="7647232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 b="true">
                <a:solidFill>
                  <a:srgbClr val="FFFFFF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Break — Exit Immediately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71562" y="4028180"/>
            <a:ext cx="7647232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1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Stops the loop entirely and jumps past it, regardless of the condition.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071562" y="5340106"/>
            <a:ext cx="7647232" cy="2835173"/>
            <a:chOff x="0" y="0"/>
            <a:chExt cx="10196309" cy="378023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196322" cy="3780155"/>
            </a:xfrm>
            <a:custGeom>
              <a:avLst/>
              <a:gdLst/>
              <a:ahLst/>
              <a:cxnLst/>
              <a:rect r="r" b="b" t="t" l="l"/>
              <a:pathLst>
                <a:path h="3780155" w="10196322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10037572" y="0"/>
                  </a:lnTo>
                  <a:cubicBezTo>
                    <a:pt x="10125202" y="0"/>
                    <a:pt x="10196322" y="71120"/>
                    <a:pt x="10196322" y="158750"/>
                  </a:cubicBezTo>
                  <a:lnTo>
                    <a:pt x="10196322" y="3621405"/>
                  </a:lnTo>
                  <a:cubicBezTo>
                    <a:pt x="10196322" y="3709035"/>
                    <a:pt x="10125202" y="3780155"/>
                    <a:pt x="10037572" y="3780155"/>
                  </a:cubicBezTo>
                  <a:lnTo>
                    <a:pt x="158750" y="3780155"/>
                  </a:lnTo>
                  <a:cubicBezTo>
                    <a:pt x="71120" y="3780155"/>
                    <a:pt x="0" y="3709035"/>
                    <a:pt x="0" y="3621405"/>
                  </a:cubicBezTo>
                  <a:close/>
                </a:path>
              </a:pathLst>
            </a:custGeom>
            <a:solidFill>
              <a:srgbClr val="906B61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411786" y="5490267"/>
            <a:ext cx="6966795" cy="2401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199">
                <a:solidFill>
                  <a:srgbClr val="FF7B72"/>
                </a:solidFill>
                <a:latin typeface="Consolas"/>
                <a:ea typeface="Consolas"/>
                <a:cs typeface="Consolas"/>
                <a:sym typeface="Consolas"/>
              </a:rPr>
              <a:t>for i in range(10):</a:t>
            </a:r>
          </a:p>
          <a:p>
            <a:pPr algn="l">
              <a:lnSpc>
                <a:spcPts val="3511"/>
              </a:lnSpc>
            </a:pPr>
            <a:r>
              <a:rPr lang="en-US" sz="2199">
                <a:solidFill>
                  <a:srgbClr val="FF7B72"/>
                </a:solidFill>
                <a:latin typeface="Consolas"/>
                <a:ea typeface="Consolas"/>
                <a:cs typeface="Consolas"/>
                <a:sym typeface="Consolas"/>
              </a:rPr>
              <a:t>    if i == 5:</a:t>
            </a:r>
          </a:p>
          <a:p>
            <a:pPr algn="l">
              <a:lnSpc>
                <a:spcPts val="3511"/>
              </a:lnSpc>
            </a:pPr>
            <a:r>
              <a:rPr lang="en-US" sz="2199">
                <a:solidFill>
                  <a:srgbClr val="FF7B72"/>
                </a:solidFill>
                <a:latin typeface="Consolas"/>
                <a:ea typeface="Consolas"/>
                <a:cs typeface="Consolas"/>
                <a:sym typeface="Consolas"/>
              </a:rPr>
              <a:t>        break</a:t>
            </a:r>
          </a:p>
          <a:p>
            <a:pPr algn="l">
              <a:lnSpc>
                <a:spcPts val="3511"/>
              </a:lnSpc>
            </a:pPr>
            <a:r>
              <a:rPr lang="en-US" sz="2199">
                <a:solidFill>
                  <a:srgbClr val="FF7B72"/>
                </a:solidFill>
                <a:latin typeface="Consolas"/>
                <a:ea typeface="Consolas"/>
                <a:cs typeface="Consolas"/>
                <a:sym typeface="Consolas"/>
              </a:rPr>
              <a:t>    print(i)</a:t>
            </a:r>
          </a:p>
          <a:p>
            <a:pPr algn="l">
              <a:lnSpc>
                <a:spcPts val="3511"/>
              </a:lnSpc>
            </a:pPr>
            <a:r>
              <a:rPr lang="en-US" sz="2199">
                <a:solidFill>
                  <a:srgbClr val="FF7B72"/>
                </a:solidFill>
                <a:latin typeface="Consolas"/>
                <a:ea typeface="Consolas"/>
                <a:cs typeface="Consolas"/>
                <a:sym typeface="Consolas"/>
              </a:rPr>
              <a:t># Prints 0 to 4, then stops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499406" y="3368431"/>
            <a:ext cx="7805890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 b="true">
                <a:solidFill>
                  <a:srgbClr val="443728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Continue — Skip This Round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499406" y="4028180"/>
            <a:ext cx="7805890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199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Skips the rest of the current iteration and moves to the next one.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9499406" y="5340106"/>
            <a:ext cx="7805890" cy="2835173"/>
            <a:chOff x="0" y="0"/>
            <a:chExt cx="10407853" cy="378023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407777" cy="3780155"/>
            </a:xfrm>
            <a:custGeom>
              <a:avLst/>
              <a:gdLst/>
              <a:ahLst/>
              <a:cxnLst/>
              <a:rect r="r" b="b" t="t" l="l"/>
              <a:pathLst>
                <a:path h="3780155" w="10407777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10249027" y="0"/>
                  </a:lnTo>
                  <a:cubicBezTo>
                    <a:pt x="10336657" y="0"/>
                    <a:pt x="10407777" y="71120"/>
                    <a:pt x="10407777" y="158750"/>
                  </a:cubicBezTo>
                  <a:lnTo>
                    <a:pt x="10407777" y="3621405"/>
                  </a:lnTo>
                  <a:cubicBezTo>
                    <a:pt x="10407777" y="3709035"/>
                    <a:pt x="10336657" y="3780155"/>
                    <a:pt x="10249027" y="3780155"/>
                  </a:cubicBezTo>
                  <a:lnTo>
                    <a:pt x="158750" y="3780155"/>
                  </a:lnTo>
                  <a:cubicBezTo>
                    <a:pt x="71120" y="3780155"/>
                    <a:pt x="0" y="3709035"/>
                    <a:pt x="0" y="3621405"/>
                  </a:cubicBezTo>
                  <a:close/>
                </a:path>
              </a:pathLst>
            </a:custGeom>
            <a:solidFill>
              <a:srgbClr val="F2EFED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9839620" y="5490267"/>
            <a:ext cx="7125443" cy="2401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199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for i in range(6):</a:t>
            </a:r>
          </a:p>
          <a:p>
            <a:pPr algn="l">
              <a:lnSpc>
                <a:spcPts val="3511"/>
              </a:lnSpc>
            </a:pPr>
            <a:r>
              <a:rPr lang="en-US" sz="2199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 if i == 3:</a:t>
            </a:r>
          </a:p>
          <a:p>
            <a:pPr algn="l">
              <a:lnSpc>
                <a:spcPts val="3511"/>
              </a:lnSpc>
            </a:pPr>
            <a:r>
              <a:rPr lang="en-US" sz="2199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 continue</a:t>
            </a:r>
          </a:p>
          <a:p>
            <a:pPr algn="l">
              <a:lnSpc>
                <a:spcPts val="3511"/>
              </a:lnSpc>
            </a:pPr>
            <a:r>
              <a:rPr lang="en-US" sz="2199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 print(i)</a:t>
            </a:r>
          </a:p>
          <a:p>
            <a:pPr algn="l">
              <a:lnSpc>
                <a:spcPts val="3511"/>
              </a:lnSpc>
            </a:pPr>
            <a:r>
              <a:rPr lang="en-US" sz="2199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# Prints 0,1,2,4,5 — skips 3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3983929" y="158039"/>
            <a:ext cx="3439373" cy="895236"/>
            <a:chOff x="0" y="0"/>
            <a:chExt cx="4585830" cy="119364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585843" cy="1193673"/>
            </a:xfrm>
            <a:custGeom>
              <a:avLst/>
              <a:gdLst/>
              <a:ahLst/>
              <a:cxnLst/>
              <a:rect r="r" b="b" t="t" l="l"/>
              <a:pathLst>
                <a:path h="1193673" w="4585843">
                  <a:moveTo>
                    <a:pt x="0" y="0"/>
                  </a:moveTo>
                  <a:lnTo>
                    <a:pt x="4585843" y="0"/>
                  </a:lnTo>
                  <a:lnTo>
                    <a:pt x="4585843" y="1193673"/>
                  </a:lnTo>
                  <a:lnTo>
                    <a:pt x="0" y="11936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4883" r="0" b="-4881"/>
              </a:stretch>
            </a:blipFill>
          </p:spPr>
        </p:sp>
      </p:grp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EDE9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CF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1430000" y="0"/>
            <a:ext cx="6858000" cy="10287000"/>
            <a:chOff x="0" y="0"/>
            <a:chExt cx="9144000" cy="137160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992238" y="3762223"/>
            <a:ext cx="1508970" cy="430711"/>
            <a:chOff x="0" y="0"/>
            <a:chExt cx="2011959" cy="57428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11934" cy="574294"/>
            </a:xfrm>
            <a:custGeom>
              <a:avLst/>
              <a:gdLst/>
              <a:ahLst/>
              <a:cxnLst/>
              <a:rect r="r" b="b" t="t" l="l"/>
              <a:pathLst>
                <a:path h="574294" w="2011934">
                  <a:moveTo>
                    <a:pt x="0" y="127000"/>
                  </a:moveTo>
                  <a:cubicBezTo>
                    <a:pt x="0" y="56896"/>
                    <a:pt x="56896" y="0"/>
                    <a:pt x="127000" y="0"/>
                  </a:cubicBezTo>
                  <a:lnTo>
                    <a:pt x="1884934" y="0"/>
                  </a:lnTo>
                  <a:cubicBezTo>
                    <a:pt x="1955038" y="0"/>
                    <a:pt x="2011934" y="56896"/>
                    <a:pt x="2011934" y="127000"/>
                  </a:cubicBezTo>
                  <a:lnTo>
                    <a:pt x="2011934" y="447294"/>
                  </a:lnTo>
                  <a:cubicBezTo>
                    <a:pt x="2011934" y="517398"/>
                    <a:pt x="1955038" y="574294"/>
                    <a:pt x="1884934" y="574294"/>
                  </a:cubicBezTo>
                  <a:lnTo>
                    <a:pt x="127000" y="574294"/>
                  </a:lnTo>
                  <a:cubicBezTo>
                    <a:pt x="56896" y="574294"/>
                    <a:pt x="0" y="517398"/>
                    <a:pt x="0" y="447294"/>
                  </a:cubicBezTo>
                  <a:close/>
                </a:path>
              </a:pathLst>
            </a:custGeom>
            <a:solidFill>
              <a:srgbClr val="EBE2E0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162345" y="3856730"/>
            <a:ext cx="2083146" cy="251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8"/>
              </a:lnSpc>
            </a:pPr>
            <a:r>
              <a:rPr lang="en-US" sz="1700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CHAPTER 4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2238" y="4268238"/>
            <a:ext cx="9445523" cy="924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63"/>
              </a:lnSpc>
            </a:pPr>
            <a:r>
              <a:rPr lang="en-US" sz="5499" b="true">
                <a:solidFill>
                  <a:srgbClr val="443728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Functions and Clean Logic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92238" y="5531796"/>
            <a:ext cx="9445523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199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Functions are the cornerstone of professional Python. Package your logic once — reuse it everywhere.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3983929" y="158039"/>
            <a:ext cx="3439373" cy="895236"/>
            <a:chOff x="0" y="0"/>
            <a:chExt cx="4585830" cy="119364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585843" cy="1193673"/>
            </a:xfrm>
            <a:custGeom>
              <a:avLst/>
              <a:gdLst/>
              <a:ahLst/>
              <a:cxnLst/>
              <a:rect r="r" b="b" t="t" l="l"/>
              <a:pathLst>
                <a:path h="1193673" w="4585843">
                  <a:moveTo>
                    <a:pt x="0" y="0"/>
                  </a:moveTo>
                  <a:lnTo>
                    <a:pt x="4585843" y="0"/>
                  </a:lnTo>
                  <a:lnTo>
                    <a:pt x="4585843" y="1193673"/>
                  </a:lnTo>
                  <a:lnTo>
                    <a:pt x="0" y="11936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4883" r="0" b="-4881"/>
              </a:stretch>
            </a:blipFill>
          </p:spPr>
        </p:sp>
      </p:grp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EDE9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525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CFA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792509"/>
            <a:ext cx="16303523" cy="8963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39"/>
              </a:lnSpc>
            </a:pPr>
            <a:r>
              <a:rPr lang="en-US" sz="5400" b="true">
                <a:solidFill>
                  <a:srgbClr val="443728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Introduction to Functions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3076727"/>
            <a:ext cx="10362752" cy="448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 b="true">
                <a:solidFill>
                  <a:srgbClr val="443728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Anatomy of a Function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2305945" y="3824135"/>
            <a:ext cx="7735195" cy="4590898"/>
            <a:chOff x="0" y="0"/>
            <a:chExt cx="10313594" cy="6121197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10313543" cy="6121146"/>
            </a:xfrm>
            <a:custGeom>
              <a:avLst/>
              <a:gdLst/>
              <a:ahLst/>
              <a:cxnLst/>
              <a:rect r="r" b="b" t="t" l="l"/>
              <a:pathLst>
                <a:path h="6121146" w="10313543">
                  <a:moveTo>
                    <a:pt x="0" y="0"/>
                  </a:moveTo>
                  <a:lnTo>
                    <a:pt x="10313543" y="0"/>
                  </a:lnTo>
                  <a:lnTo>
                    <a:pt x="10313543" y="6121146"/>
                  </a:lnTo>
                  <a:lnTo>
                    <a:pt x="0" y="61211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54" t="0" r="-54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7689771" y="7331107"/>
            <a:ext cx="1922812" cy="3894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0"/>
              </a:lnSpc>
            </a:pPr>
            <a:r>
              <a:rPr lang="en-US" sz="2300" b="true">
                <a:solidFill>
                  <a:srgbClr val="443728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Return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266496" y="7331107"/>
            <a:ext cx="1922812" cy="3894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0"/>
              </a:lnSpc>
            </a:pPr>
            <a:r>
              <a:rPr lang="en-US" sz="2300" b="true">
                <a:solidFill>
                  <a:srgbClr val="443728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Execute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803722" y="7331107"/>
            <a:ext cx="1922812" cy="3894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0"/>
              </a:lnSpc>
            </a:pPr>
            <a:r>
              <a:rPr lang="en-US" sz="2300" b="true">
                <a:solidFill>
                  <a:srgbClr val="443728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Define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034542" y="2334816"/>
            <a:ext cx="5270602" cy="448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 b="true">
                <a:solidFill>
                  <a:srgbClr val="443728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A Complete Example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2034542" y="3082233"/>
            <a:ext cx="5270602" cy="4065089"/>
            <a:chOff x="0" y="0"/>
            <a:chExt cx="7027469" cy="542011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027418" cy="5420106"/>
            </a:xfrm>
            <a:custGeom>
              <a:avLst/>
              <a:gdLst/>
              <a:ahLst/>
              <a:cxnLst/>
              <a:rect r="r" b="b" t="t" l="l"/>
              <a:pathLst>
                <a:path h="5420106" w="7027418">
                  <a:moveTo>
                    <a:pt x="0" y="153797"/>
                  </a:moveTo>
                  <a:cubicBezTo>
                    <a:pt x="0" y="68834"/>
                    <a:pt x="68834" y="0"/>
                    <a:pt x="153797" y="0"/>
                  </a:cubicBezTo>
                  <a:lnTo>
                    <a:pt x="6873621" y="0"/>
                  </a:lnTo>
                  <a:cubicBezTo>
                    <a:pt x="6958584" y="0"/>
                    <a:pt x="7027418" y="68834"/>
                    <a:pt x="7027418" y="153797"/>
                  </a:cubicBezTo>
                  <a:lnTo>
                    <a:pt x="7027418" y="5266309"/>
                  </a:lnTo>
                  <a:cubicBezTo>
                    <a:pt x="7027418" y="5351272"/>
                    <a:pt x="6958584" y="5420106"/>
                    <a:pt x="6873621" y="5420106"/>
                  </a:cubicBezTo>
                  <a:lnTo>
                    <a:pt x="153797" y="5420106"/>
                  </a:lnTo>
                  <a:cubicBezTo>
                    <a:pt x="68834" y="5420106"/>
                    <a:pt x="0" y="5351272"/>
                    <a:pt x="0" y="5266309"/>
                  </a:cubicBezTo>
                  <a:close/>
                </a:path>
              </a:pathLst>
            </a:custGeom>
            <a:solidFill>
              <a:srgbClr val="F2EFED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2364050" y="3232995"/>
            <a:ext cx="4611586" cy="3639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1"/>
              </a:lnSpc>
            </a:pPr>
            <a:r>
              <a:rPr lang="en-US" sz="2100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def greet(name):</a:t>
            </a:r>
          </a:p>
          <a:p>
            <a:pPr algn="l">
              <a:lnSpc>
                <a:spcPts val="3351"/>
              </a:lnSpc>
            </a:pPr>
            <a:r>
              <a:rPr lang="en-US" sz="2100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    """Returns a greeting."""</a:t>
            </a:r>
          </a:p>
          <a:p>
            <a:pPr algn="l">
              <a:lnSpc>
                <a:spcPts val="3351"/>
              </a:lnSpc>
            </a:pPr>
            <a:r>
              <a:rPr lang="en-US" sz="2100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    message = "Hello, " + name + "!"</a:t>
            </a:r>
          </a:p>
          <a:p>
            <a:pPr algn="l">
              <a:lnSpc>
                <a:spcPts val="3351"/>
              </a:lnSpc>
            </a:pPr>
            <a:r>
              <a:rPr lang="en-US" sz="2100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    return message</a:t>
            </a:r>
          </a:p>
          <a:p>
            <a:pPr algn="l">
              <a:lnSpc>
                <a:spcPts val="3351"/>
              </a:lnSpc>
            </a:pPr>
          </a:p>
          <a:p>
            <a:pPr algn="l">
              <a:lnSpc>
                <a:spcPts val="3351"/>
              </a:lnSpc>
            </a:pPr>
            <a:r>
              <a:rPr lang="en-US" sz="2100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result = greet("Alice")</a:t>
            </a:r>
          </a:p>
          <a:p>
            <a:pPr algn="l">
              <a:lnSpc>
                <a:spcPts val="3351"/>
              </a:lnSpc>
            </a:pPr>
            <a:r>
              <a:rPr lang="en-US" sz="2100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print(result)</a:t>
            </a:r>
          </a:p>
          <a:p>
            <a:pPr algn="l">
              <a:lnSpc>
                <a:spcPts val="3351"/>
              </a:lnSpc>
            </a:pPr>
            <a:r>
              <a:rPr lang="en-US" sz="2100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# Hello, Alice!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034542" y="7370416"/>
            <a:ext cx="5270602" cy="1992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06730" indent="-253365" lvl="1">
              <a:lnSpc>
                <a:spcPts val="3301"/>
              </a:lnSpc>
              <a:buFont typeface="Arial"/>
              <a:buChar char="•"/>
            </a:pPr>
            <a:r>
              <a:rPr lang="en-US" sz="2100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def declares the function and names it</a:t>
            </a:r>
          </a:p>
          <a:p>
            <a:pPr algn="l" marL="506730" indent="-253365" lvl="1">
              <a:lnSpc>
                <a:spcPts val="3301"/>
              </a:lnSpc>
              <a:buFont typeface="Arial"/>
              <a:buChar char="•"/>
            </a:pPr>
            <a:r>
              <a:rPr lang="en-US" sz="2100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Parameters receive input values</a:t>
            </a:r>
          </a:p>
          <a:p>
            <a:pPr algn="l" marL="506730" indent="-253365" lvl="1">
              <a:lnSpc>
                <a:spcPts val="3301"/>
              </a:lnSpc>
              <a:buFont typeface="Arial"/>
              <a:buChar char="•"/>
            </a:pPr>
            <a:r>
              <a:rPr lang="en-US" sz="2100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return exits and sends back a result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3983929" y="158039"/>
            <a:ext cx="3439373" cy="895236"/>
            <a:chOff x="0" y="0"/>
            <a:chExt cx="4585830" cy="119364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585843" cy="1193673"/>
            </a:xfrm>
            <a:custGeom>
              <a:avLst/>
              <a:gdLst/>
              <a:ahLst/>
              <a:cxnLst/>
              <a:rect r="r" b="b" t="t" l="l"/>
              <a:pathLst>
                <a:path h="1193673" w="4585843">
                  <a:moveTo>
                    <a:pt x="0" y="0"/>
                  </a:moveTo>
                  <a:lnTo>
                    <a:pt x="4585843" y="0"/>
                  </a:lnTo>
                  <a:lnTo>
                    <a:pt x="4585843" y="1193673"/>
                  </a:lnTo>
                  <a:lnTo>
                    <a:pt x="0" y="11936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4883" r="0" b="-4881"/>
              </a:stretch>
            </a:blipFill>
          </p:spPr>
        </p:sp>
      </p:grp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EDE9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CFA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1194787"/>
            <a:ext cx="16303523" cy="1810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63"/>
              </a:lnSpc>
            </a:pPr>
            <a:r>
              <a:rPr lang="en-US" sz="5499" b="true">
                <a:solidFill>
                  <a:srgbClr val="443728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The Architect's Toolkit: Functions &amp; Control Flow Together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3486150"/>
            <a:ext cx="17217923" cy="53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199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The real power of Python emerges when you </a:t>
            </a:r>
            <a:r>
              <a:rPr lang="en-US" sz="2199" b="true">
                <a:solidFill>
                  <a:srgbClr val="44372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combine</a:t>
            </a:r>
            <a:r>
              <a:rPr lang="en-US" sz="2199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 functions, conditionals, and loops into clean, reusable solutions.</a:t>
            </a:r>
          </a:p>
        </p:txBody>
      </p:sp>
      <p:sp>
        <p:nvSpPr>
          <p:cNvPr name="Freeform 8" id="8" descr="preencoded.png"/>
          <p:cNvSpPr/>
          <p:nvPr/>
        </p:nvSpPr>
        <p:spPr>
          <a:xfrm flipH="false" flipV="false" rot="0">
            <a:off x="992238" y="4344438"/>
            <a:ext cx="567033" cy="567033"/>
          </a:xfrm>
          <a:custGeom>
            <a:avLst/>
            <a:gdLst/>
            <a:ahLst/>
            <a:cxnLst/>
            <a:rect r="r" b="b" t="t" l="l"/>
            <a:pathLst>
              <a:path h="567033" w="567033">
                <a:moveTo>
                  <a:pt x="0" y="0"/>
                </a:moveTo>
                <a:lnTo>
                  <a:pt x="567033" y="0"/>
                </a:lnTo>
                <a:lnTo>
                  <a:pt x="567033" y="567033"/>
                </a:lnTo>
                <a:lnTo>
                  <a:pt x="0" y="56703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22500" r="0" b="-22499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913630" y="4422724"/>
            <a:ext cx="7053110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 b="true">
                <a:solidFill>
                  <a:srgbClr val="443728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Modular Design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913630" y="4969069"/>
            <a:ext cx="7053110" cy="1446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199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Wrap if-elif-else logic inside a for loop inside a function — batch-process any dataset with a single function call.</a:t>
            </a:r>
          </a:p>
        </p:txBody>
      </p:sp>
      <p:sp>
        <p:nvSpPr>
          <p:cNvPr name="Freeform 11" id="11" descr="preencoded.png"/>
          <p:cNvSpPr/>
          <p:nvPr/>
        </p:nvSpPr>
        <p:spPr>
          <a:xfrm flipH="false" flipV="false" rot="0">
            <a:off x="9321108" y="4344438"/>
            <a:ext cx="567033" cy="567033"/>
          </a:xfrm>
          <a:custGeom>
            <a:avLst/>
            <a:gdLst/>
            <a:ahLst/>
            <a:cxnLst/>
            <a:rect r="r" b="b" t="t" l="l"/>
            <a:pathLst>
              <a:path h="567033" w="567033">
                <a:moveTo>
                  <a:pt x="0" y="0"/>
                </a:moveTo>
                <a:lnTo>
                  <a:pt x="567033" y="0"/>
                </a:lnTo>
                <a:lnTo>
                  <a:pt x="567033" y="567033"/>
                </a:lnTo>
                <a:lnTo>
                  <a:pt x="0" y="56703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-833" r="0" b="-834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0242499" y="4422724"/>
            <a:ext cx="7053262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 b="true">
                <a:solidFill>
                  <a:srgbClr val="443728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Scope &amp; Flow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42499" y="4969069"/>
            <a:ext cx="7053262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199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A return inside a loop exits both the loop </a:t>
            </a:r>
            <a:r>
              <a:rPr lang="en-US" sz="2199" i="true">
                <a:solidFill>
                  <a:srgbClr val="443728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and</a:t>
            </a:r>
            <a:r>
              <a:rPr lang="en-US" sz="2199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 the function instantly — a powerful early-exit pattern.</a:t>
            </a:r>
          </a:p>
        </p:txBody>
      </p:sp>
      <p:sp>
        <p:nvSpPr>
          <p:cNvPr name="Freeform 14" id="14" descr="preencoded.png"/>
          <p:cNvSpPr/>
          <p:nvPr/>
        </p:nvSpPr>
        <p:spPr>
          <a:xfrm flipH="false" flipV="false" rot="0">
            <a:off x="992238" y="6982720"/>
            <a:ext cx="567033" cy="567033"/>
          </a:xfrm>
          <a:custGeom>
            <a:avLst/>
            <a:gdLst/>
            <a:ahLst/>
            <a:cxnLst/>
            <a:rect r="r" b="b" t="t" l="l"/>
            <a:pathLst>
              <a:path h="567033" w="567033">
                <a:moveTo>
                  <a:pt x="0" y="0"/>
                </a:moveTo>
                <a:lnTo>
                  <a:pt x="567033" y="0"/>
                </a:lnTo>
                <a:lnTo>
                  <a:pt x="567033" y="567033"/>
                </a:lnTo>
                <a:lnTo>
                  <a:pt x="0" y="56703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7500" r="0" b="-750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913630" y="7061006"/>
            <a:ext cx="7053110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 b="true">
                <a:solidFill>
                  <a:srgbClr val="443728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Real-World Automation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913630" y="7607351"/>
            <a:ext cx="7053110" cy="99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199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Use while loops for event-driven logic: ATM simulations, LED fade controllers, interactive menus.</a:t>
            </a:r>
          </a:p>
        </p:txBody>
      </p:sp>
      <p:sp>
        <p:nvSpPr>
          <p:cNvPr name="Freeform 17" id="17" descr="preencoded.png"/>
          <p:cNvSpPr/>
          <p:nvPr/>
        </p:nvSpPr>
        <p:spPr>
          <a:xfrm flipH="false" flipV="false" rot="0">
            <a:off x="9321108" y="6982720"/>
            <a:ext cx="567033" cy="567033"/>
          </a:xfrm>
          <a:custGeom>
            <a:avLst/>
            <a:gdLst/>
            <a:ahLst/>
            <a:cxnLst/>
            <a:rect r="r" b="b" t="t" l="l"/>
            <a:pathLst>
              <a:path h="567033" w="567033">
                <a:moveTo>
                  <a:pt x="0" y="0"/>
                </a:moveTo>
                <a:lnTo>
                  <a:pt x="567033" y="0"/>
                </a:lnTo>
                <a:lnTo>
                  <a:pt x="567033" y="567033"/>
                </a:lnTo>
                <a:lnTo>
                  <a:pt x="0" y="56703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-30832" t="0" r="-30834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0242499" y="7061006"/>
            <a:ext cx="7053262" cy="461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 b="true">
                <a:solidFill>
                  <a:srgbClr val="443728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DRY Principle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242499" y="7607351"/>
            <a:ext cx="7053262" cy="1446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199" b="true">
                <a:solidFill>
                  <a:srgbClr val="44372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Don't Repeat Yourself.</a:t>
            </a:r>
            <a:r>
              <a:rPr lang="en-US" sz="2199">
                <a:solidFill>
                  <a:srgbClr val="443728"/>
                </a:solidFill>
                <a:latin typeface="Open Sans"/>
                <a:ea typeface="Open Sans"/>
                <a:cs typeface="Open Sans"/>
                <a:sym typeface="Open Sans"/>
              </a:rPr>
              <a:t> Clean, reusable functions transform chaotic scripts into professional, maintainable software.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3983929" y="158039"/>
            <a:ext cx="3439373" cy="895236"/>
            <a:chOff x="0" y="0"/>
            <a:chExt cx="4585830" cy="119364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585843" cy="1193673"/>
            </a:xfrm>
            <a:custGeom>
              <a:avLst/>
              <a:gdLst/>
              <a:ahLst/>
              <a:cxnLst/>
              <a:rect r="r" b="b" t="t" l="l"/>
              <a:pathLst>
                <a:path h="1193673" w="4585843">
                  <a:moveTo>
                    <a:pt x="0" y="0"/>
                  </a:moveTo>
                  <a:lnTo>
                    <a:pt x="4585843" y="0"/>
                  </a:lnTo>
                  <a:lnTo>
                    <a:pt x="4585843" y="1193673"/>
                  </a:lnTo>
                  <a:lnTo>
                    <a:pt x="0" y="11936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-4883" r="0" b="-4881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DAHQ8FDuV48</dc:identifier>
  <dcterms:modified xsi:type="dcterms:W3CDTF">2011-08-01T06:04:30Z</dcterms:modified>
  <cp:revision>1</cp:revision>
  <dc:title>5.Python-Control-Flow-Mastering-Logic-and-Loops.pptx</dc:title>
</cp:coreProperties>
</file>
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8288000" cy="10287000"/>
  <p:notesSz cx="6858000" cy="9144000"/>
  <p:embeddedFontLst>
    <p:embeddedFont>
      <p:font typeface="Arial" charset="1" panose="020B0604020202020204"/>
      <p:regular r:id="rId47"/>
    </p:embeddedFont>
    <p:embeddedFont>
      <p:font typeface="Arial Bold" charset="1" panose="020B0704020202020204"/>
      <p:regular r:id="rId48"/>
    </p:embeddedFont>
    <p:embeddedFont>
      <p:font typeface="Calibri (MS)" charset="1" panose="020F0502020204030204"/>
      <p:regular r:id="rId49"/>
    </p:embeddedFont>
    <p:embeddedFont>
      <p:font typeface="Times New Roman" charset="1" panose="02020603050405020304"/>
      <p:regular r:id="rId50"/>
    </p:embeddedFont>
    <p:embeddedFont>
      <p:font typeface="Times New Roman Bold" charset="1" panose="02020803070505020304"/>
      <p:regular r:id="rId51"/>
    </p:embeddedFont>
    <p:embeddedFont>
      <p:font typeface="ITC Franklin Gothic LT Condensed" charset="1" panose="020B0506030503020204"/>
      <p:regular r:id="rId52"/>
    </p:embeddedFont>
    <p:embeddedFont>
      <p:font typeface="ITC Franklin Gothic LT Condensed Semi-Bold" charset="1" panose="020B0706030502020204"/>
      <p:regular r:id="rId53"/>
    </p:embeddedFont>
    <p:embeddedFont>
      <p:font typeface="TT Rounds Condensed" charset="1" panose="02000506030000020003"/>
      <p:regular r:id="rId54"/>
    </p:embeddedFont>
    <p:embeddedFont>
      <p:font typeface="Calibri (MS) Bold" charset="1" panose="020F0702030404030204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3" y="0"/>
            <a:ext cx="18287048" cy="10287952"/>
            <a:chOff x="0" y="0"/>
            <a:chExt cx="24382730" cy="13717270"/>
          </a:xfrm>
        </p:grpSpPr>
        <p:sp>
          <p:nvSpPr>
            <p:cNvPr name="Freeform 9" id="9" descr="pngtree-blue-technology-sense-of-science-and-technology-city-building-image_807992"/>
            <p:cNvSpPr/>
            <p:nvPr/>
          </p:nvSpPr>
          <p:spPr>
            <a:xfrm flipH="false" flipV="false" rot="0">
              <a:off x="0" y="0"/>
              <a:ext cx="24382730" cy="13717270"/>
            </a:xfrm>
            <a:custGeom>
              <a:avLst/>
              <a:gdLst/>
              <a:ahLst/>
              <a:cxnLst/>
              <a:rect r="r" b="b" t="t" l="l"/>
              <a:pathLst>
                <a:path h="13717270" w="24382730">
                  <a:moveTo>
                    <a:pt x="0" y="0"/>
                  </a:moveTo>
                  <a:lnTo>
                    <a:pt x="24382730" y="0"/>
                  </a:lnTo>
                  <a:lnTo>
                    <a:pt x="24382730" y="13717270"/>
                  </a:lnTo>
                  <a:lnTo>
                    <a:pt x="0" y="13717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48" t="0" r="-9948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05840" y="3158490"/>
            <a:ext cx="16944023" cy="132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</a:t>
            </a:r>
            <a:r>
              <a:rPr lang="en-US" sz="8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PROMPT ENGINEERING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" y="8754428"/>
            <a:ext cx="5263515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</a:t>
            </a: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DAY - 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377440" y="1537335"/>
            <a:ext cx="12344400" cy="119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lang="en-US" sz="7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Topics  Covered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0168" y="3957637"/>
            <a:ext cx="15618143" cy="4722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ITC Franklin Gothic LT Condensed"/>
                <a:ea typeface="ITC Franklin Gothic LT Condensed"/>
                <a:cs typeface="ITC Franklin Gothic LT Condensed"/>
                <a:sym typeface="ITC Franklin Gothic LT Condensed"/>
              </a:rPr>
              <a:t>  </a:t>
            </a:r>
            <a:r>
              <a:rPr lang="en-US" sz="5400">
                <a:solidFill>
                  <a:srgbClr val="002060"/>
                </a:solidFill>
                <a:latin typeface="ITC Franklin Gothic LT Condensed"/>
                <a:ea typeface="ITC Franklin Gothic LT Condensed"/>
                <a:cs typeface="ITC Franklin Gothic LT Condensed"/>
                <a:sym typeface="ITC Franklin Gothic LT Condensed"/>
              </a:rPr>
              <a:t>Research Work  </a:t>
            </a: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2060"/>
                </a:solidFill>
                <a:latin typeface="ITC Franklin Gothic LT Condensed"/>
                <a:ea typeface="ITC Franklin Gothic LT Condensed"/>
                <a:cs typeface="ITC Franklin Gothic LT Condensed"/>
                <a:sym typeface="ITC Franklin Gothic LT Condensed"/>
              </a:rPr>
              <a:t>Education(lesson,plan,quizzes)</a:t>
            </a: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2060"/>
                </a:solidFill>
                <a:latin typeface="ITC Franklin Gothic LT Condensed"/>
                <a:ea typeface="ITC Franklin Gothic LT Condensed"/>
                <a:cs typeface="ITC Franklin Gothic LT Condensed"/>
                <a:sym typeface="ITC Franklin Gothic LT Condensed"/>
              </a:rPr>
              <a:t>Business(reports,dashboards insights)</a:t>
            </a: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2060"/>
                </a:solidFill>
                <a:latin typeface="ITC Franklin Gothic LT Condensed"/>
                <a:ea typeface="ITC Franklin Gothic LT Condensed"/>
                <a:cs typeface="ITC Franklin Gothic LT Condensed"/>
                <a:sym typeface="ITC Franklin Gothic LT Condensed"/>
              </a:rPr>
              <a:t>Technical tasks(code generation,debugging)</a:t>
            </a:r>
          </a:p>
          <a:p>
            <a:pPr algn="l" marL="977265" indent="-488632" lvl="1">
              <a:lnSpc>
                <a:spcPts val="648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" y="2989897"/>
            <a:ext cx="8886825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ITC Franklin Gothic LT Condensed"/>
                <a:ea typeface="ITC Franklin Gothic LT Condensed"/>
                <a:cs typeface="ITC Franklin Gothic LT Condensed"/>
                <a:sym typeface="ITC Franklin Gothic LT Condensed"/>
              </a:rPr>
              <a:t>   </a:t>
            </a:r>
            <a:r>
              <a:rPr lang="en-US" sz="5400" b="true">
                <a:solidFill>
                  <a:srgbClr val="000000"/>
                </a:solidFill>
                <a:latin typeface="ITC Franklin Gothic LT Condensed Semi-Bold"/>
                <a:ea typeface="ITC Franklin Gothic LT Condensed Semi-Bold"/>
                <a:cs typeface="ITC Franklin Gothic LT Condensed Semi-Bold"/>
                <a:sym typeface="ITC Franklin Gothic LT Condensed Semi-Bold"/>
              </a:rPr>
              <a:t> </a:t>
            </a:r>
            <a:r>
              <a:rPr lang="en-US" sz="5400" b="true">
                <a:solidFill>
                  <a:srgbClr val="002060"/>
                </a:solidFill>
                <a:latin typeface="ITC Franklin Gothic LT Condensed Semi-Bold"/>
                <a:ea typeface="ITC Franklin Gothic LT Condensed Semi-Bold"/>
                <a:cs typeface="ITC Franklin Gothic LT Condensed Semi-Bold"/>
                <a:sym typeface="ITC Franklin Gothic LT Condensed Semi-Bold"/>
              </a:rPr>
              <a:t>Prompting For </a:t>
            </a:r>
            <a:r>
              <a:rPr lang="en-US" sz="5400">
                <a:solidFill>
                  <a:srgbClr val="000000"/>
                </a:solidFill>
                <a:latin typeface="ITC Franklin Gothic LT Condensed"/>
                <a:ea typeface="ITC Franklin Gothic LT Condensed"/>
                <a:cs typeface="ITC Franklin Gothic LT Condensed"/>
                <a:sym typeface="ITC Franklin Gothic LT Condensed"/>
              </a:rPr>
              <a:t>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0" y="1683544"/>
            <a:ext cx="13716000" cy="3581400"/>
            <a:chOff x="0" y="0"/>
            <a:chExt cx="18288000" cy="477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623" r="0" b="-2462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0"/>
              <a:ext cx="18288000" cy="467995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spc="-54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v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0" id="10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53502" y="1547813"/>
            <a:ext cx="12819698" cy="222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 and  Analysis  Prompts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Designing prompts for effective data gathering,evaluation and analytical thinking</a:t>
            </a:r>
          </a:p>
          <a:p>
            <a:pPr algn="l">
              <a:lnSpc>
                <a:spcPts val="432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2873692" y="4064317"/>
            <a:ext cx="8914448" cy="5161597"/>
            <a:chOff x="0" y="0"/>
            <a:chExt cx="11885930" cy="68821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85930" cy="6882130"/>
            </a:xfrm>
            <a:custGeom>
              <a:avLst/>
              <a:gdLst/>
              <a:ahLst/>
              <a:cxnLst/>
              <a:rect r="r" b="b" t="t" l="l"/>
              <a:pathLst>
                <a:path h="6882130" w="11885930">
                  <a:moveTo>
                    <a:pt x="0" y="0"/>
                  </a:moveTo>
                  <a:lnTo>
                    <a:pt x="11885930" y="0"/>
                  </a:lnTo>
                  <a:lnTo>
                    <a:pt x="11885930" y="6882130"/>
                  </a:lnTo>
                  <a:lnTo>
                    <a:pt x="0" y="6882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464" r="0" b="-7464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445" y="2667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377440" y="2776538"/>
            <a:ext cx="11689080" cy="596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85850" indent="-542925" lvl="1">
              <a:lnSpc>
                <a:spcPts val="7200"/>
              </a:lnSpc>
              <a:buFont typeface="Arial"/>
              <a:buChar char="•"/>
            </a:pPr>
            <a:r>
              <a:rPr lang="en-US" b="true" sz="6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Extracting Insights</a:t>
            </a:r>
          </a:p>
          <a:p>
            <a:pPr algn="l" marL="1085850" indent="-542925" lvl="1">
              <a:lnSpc>
                <a:spcPts val="7200"/>
              </a:lnSpc>
              <a:buFont typeface="Arial"/>
              <a:buChar char="•"/>
            </a:pPr>
            <a:r>
              <a:rPr lang="en-US" b="true" sz="6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Synthesizing Information</a:t>
            </a:r>
          </a:p>
          <a:p>
            <a:pPr algn="l" marL="1085850" indent="-542925" lvl="1">
              <a:lnSpc>
                <a:spcPts val="7200"/>
              </a:lnSpc>
              <a:buFont typeface="Arial"/>
              <a:buChar char="•"/>
            </a:pPr>
            <a:r>
              <a:rPr lang="en-US" b="true" sz="6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reviews</a:t>
            </a:r>
          </a:p>
          <a:p>
            <a:pPr algn="l" marL="1085850" indent="-542925" lvl="1">
              <a:lnSpc>
                <a:spcPts val="7200"/>
              </a:lnSpc>
              <a:buFont typeface="Arial"/>
              <a:buChar char="•"/>
            </a:pPr>
            <a:r>
              <a:rPr lang="en-US" b="true" sz="6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Bias Checking</a:t>
            </a:r>
          </a:p>
          <a:p>
            <a:pPr algn="l" marL="1085850" indent="-542925" lvl="1">
              <a:lnSpc>
                <a:spcPts val="7200"/>
              </a:lnSpc>
              <a:buFont typeface="Arial"/>
              <a:buChar char="•"/>
            </a:pPr>
            <a:r>
              <a:rPr lang="en-US" b="true" sz="6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Citation generation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92692" y="1790700"/>
            <a:ext cx="5906453" cy="1006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318" y="3191827"/>
            <a:ext cx="16257270" cy="450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 and  analysis prompts are structured instructions to guide AI in collecting information,evaluating sources and generating actionable insights.They are crucial for academic research,market analysis,competitive intelligence,and strategic decision-making.</a:t>
            </a:r>
          </a:p>
          <a:p>
            <a:pPr algn="l" marL="868680" indent="-434340" lvl="1">
              <a:lnSpc>
                <a:spcPts val="57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74407" y="1463040"/>
            <a:ext cx="15079980" cy="730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Prompt  Strategies</a:t>
            </a:r>
          </a:p>
          <a:p>
            <a:pPr algn="l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the reasearch objective clearly.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Specify sources,datasets,or domains for information retrieval.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step-by-step instructions to structure the analysis.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Incorporate context or background to improve relevance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structured outputs like tables,summaries or categorized insights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 validation or cross-referencing instructions to improve accuracy.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428750" y="2667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-460057" y="2043112"/>
            <a:ext cx="18407062" cy="331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Extracting    Insights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 extraction prompting helps  researchers filter meaningful patterns,trends and conclusions from large volumes of text or data.Instead of  just  summarizing,the model highlights key findings and actionable takeaways.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8157" y="6105525"/>
            <a:ext cx="15412402" cy="1736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Tip</a:t>
            </a: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:Be specific about the type of Insights you want trends       challenges,opportunities,or implications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58290" y="2207895"/>
            <a:ext cx="15340965" cy="450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Extracting Insights Matters</a:t>
            </a:r>
          </a:p>
          <a:p>
            <a:pPr algn="l">
              <a:lnSpc>
                <a:spcPts val="5759"/>
              </a:lnSpc>
            </a:pP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Transforms raw information into actionable knowledge.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identify trends,gaps,and opportunities in research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decision-making by highlighting key take-ways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time by condensing complex material into insights.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980670" y="26670"/>
            <a:ext cx="5307330" cy="1009650"/>
            <a:chOff x="0" y="0"/>
            <a:chExt cx="7076440" cy="134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76440" cy="1346200"/>
            </a:xfrm>
            <a:custGeom>
              <a:avLst/>
              <a:gdLst/>
              <a:ahLst/>
              <a:cxnLst/>
              <a:rect r="r" b="b" t="t" l="l"/>
              <a:pathLst>
                <a:path h="1346200" w="7076440">
                  <a:moveTo>
                    <a:pt x="0" y="0"/>
                  </a:moveTo>
                  <a:lnTo>
                    <a:pt x="7076440" y="0"/>
                  </a:lnTo>
                  <a:lnTo>
                    <a:pt x="7076440" y="1346200"/>
                  </a:lnTo>
                  <a:lnTo>
                    <a:pt x="0" y="134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411" r="0" b="-2041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78193" y="1331595"/>
            <a:ext cx="16998315" cy="675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           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  It   Works</a:t>
            </a:r>
          </a:p>
          <a:p>
            <a:pPr algn="l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provide the model with research material(article,reports,datasets) and ask it to extract insights.Prompts often include instructions like ‘identify key findings’,’highlight trends’,or ‘list implications’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Prompt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“Extract the main insights from this research on renewable energy adoption.”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58165" y="1473517"/>
            <a:ext cx="16692562" cy="432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Synthesizing Information</a:t>
            </a:r>
          </a:p>
          <a:p>
            <a:pPr algn="l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Synthesizing information prompting helps researchers combine insights from multiple sources into organized explanation.It goes beyond summarizing by identifying connections,contradictions,and overall themes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8690" y="6497955"/>
            <a:ext cx="16889730" cy="155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Tip : </a:t>
            </a: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clear about whether you want similarities,differences,or overall themes synthesized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8735" y="26670"/>
            <a:ext cx="5549265" cy="1393508"/>
            <a:chOff x="0" y="0"/>
            <a:chExt cx="7399020" cy="18580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99020" cy="1858010"/>
            </a:xfrm>
            <a:custGeom>
              <a:avLst/>
              <a:gdLst/>
              <a:ahLst/>
              <a:cxnLst/>
              <a:rect r="r" b="b" t="t" l="l"/>
              <a:pathLst>
                <a:path h="1858010" w="7399020">
                  <a:moveTo>
                    <a:pt x="0" y="0"/>
                  </a:moveTo>
                  <a:lnTo>
                    <a:pt x="7399020" y="0"/>
                  </a:lnTo>
                  <a:lnTo>
                    <a:pt x="7399020" y="1858010"/>
                  </a:lnTo>
                  <a:lnTo>
                    <a:pt x="0" y="1858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341" r="0" b="-334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13523" y="1380173"/>
            <a:ext cx="14126527" cy="749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Synthesizing Information Matters</a:t>
            </a:r>
          </a:p>
          <a:p>
            <a:pPr algn="l">
              <a:lnSpc>
                <a:spcPts val="5759"/>
              </a:lnSpc>
            </a:pP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Transforms fragmented data into a unified understanding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Highlights relationships and patterns across different studies.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literature reviews and academic writing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identify gaps and opportunities for further research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667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05765" y="1814512"/>
            <a:ext cx="17344073" cy="351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                     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 it Works</a:t>
            </a:r>
          </a:p>
          <a:p>
            <a:pPr algn="l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Provide the model with multiple sources or summaries and ask it to synthesize them.Prompts often include instructions like ‘combine insights’,’compare and contrast’,or ‘integrate findings into single narrative’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6338" y="6136958"/>
            <a:ext cx="15801975" cy="200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 Prompt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“Synthesize the findings from three studies on the impact of social media on mental health”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53428" y="1734502"/>
            <a:ext cx="16409670" cy="385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prompting helps researchers compile, organize and evaluate existing studies on a topic.It goes beyond summarizing by identifying themes,gaps and debates in the field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4475" y="6018847"/>
            <a:ext cx="15930562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Tip</a:t>
            </a: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Specify the timeframe,scope,and level of detail to make literature reviews more effective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36257" y="1641158"/>
            <a:ext cx="16735425" cy="675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 It Works</a:t>
            </a:r>
          </a:p>
          <a:p>
            <a:pPr algn="l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provide the model with a research topic and ask it to generate a literature review.Prompts can specify the scope (recent studies,historical overview),depth(summary vs critical analysis),and format(bullets,narrative,thematic)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</a:t>
            </a:r>
          </a:p>
          <a:p>
            <a:pPr algn="l" marL="760095" indent="-380048" lvl="1">
              <a:lnSpc>
                <a:spcPts val="5040"/>
              </a:lnSpc>
            </a:pP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“Write a literature review on the impact of artificail intelligence in healthcare over the last 10 years.”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3448" y="2107883"/>
            <a:ext cx="16106775" cy="395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Bias Checking</a:t>
            </a:r>
          </a:p>
          <a:p>
            <a:pPr algn="l">
              <a:lnSpc>
                <a:spcPts val="5759"/>
              </a:lnSpc>
            </a:pP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Bias checking prompting helps researchers identify potential biases in texts,datasets or arguments.It ensures that conclusions are fair,balanced and not one-sided by hidden assumptions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8752" y="6485572"/>
            <a:ext cx="15996285" cy="200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Tip : </a:t>
            </a: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Specify the type of bias you want checked (political,cultural,gender,economic,etc.) to make the analysis more targeted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667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17755" y="26670"/>
            <a:ext cx="5770245" cy="1306830"/>
            <a:chOff x="0" y="0"/>
            <a:chExt cx="7693660" cy="1742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93660" cy="1742440"/>
            </a:xfrm>
            <a:custGeom>
              <a:avLst/>
              <a:gdLst/>
              <a:ahLst/>
              <a:cxnLst/>
              <a:rect r="r" b="b" t="t" l="l"/>
              <a:pathLst>
                <a:path h="1742440" w="7693660">
                  <a:moveTo>
                    <a:pt x="0" y="0"/>
                  </a:moveTo>
                  <a:lnTo>
                    <a:pt x="7693660" y="0"/>
                  </a:lnTo>
                  <a:lnTo>
                    <a:pt x="7693660" y="1742440"/>
                  </a:lnTo>
                  <a:lnTo>
                    <a:pt x="0" y="1742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144" r="0" b="-914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62012" y="2310765"/>
            <a:ext cx="16887825" cy="450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Bias Checking Matters</a:t>
            </a:r>
          </a:p>
          <a:p>
            <a:pPr algn="l">
              <a:lnSpc>
                <a:spcPts val="5759"/>
              </a:lnSpc>
            </a:pP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credibility and reliability of research.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uncover hidden assumptions or one-sided perspectives.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ethical and balanced academic riting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Encouages critical thinking and fair analysis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145155" y="1771650"/>
            <a:ext cx="8124825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 It Works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1458" y="3136583"/>
            <a:ext cx="17280255" cy="200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provide the model with a passage,dataset,or argument and ask it to check for bias.Prompts can include instructions like ‘Identify political bias’,’highlight cultural assumptions’,or check for gender bias in this text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4350" y="5833110"/>
            <a:ext cx="16714470" cy="264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lang="en-US" sz="4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Prompt</a:t>
            </a:r>
          </a:p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“Analyze this research article for bias. Identify any subjective language, one-sided arguments, or missing perspectives. Provide examples from the text.”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231833" y="1539240"/>
            <a:ext cx="6602730" cy="81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Ciation Generation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8660" y="2996565"/>
            <a:ext cx="16410623" cy="228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Ciation generation prompting helps researchers and students automatically format references in styles such as APA(American Psychological Association) MLA(Modern Language Association),Chicago or IEEE.It ensures consistency and saves time when compiling  bibilographies.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9675" y="6084570"/>
            <a:ext cx="14699932" cy="175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Tip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:Always specify the ciation style (APA,MLA,Chicago,IEEE,etc). to get accurate Formatting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97367" y="2265997"/>
            <a:ext cx="15061882" cy="528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Citation Generation Matters</a:t>
            </a:r>
          </a:p>
          <a:p>
            <a:pPr algn="l">
              <a:lnSpc>
                <a:spcPts val="5759"/>
              </a:lnSpc>
            </a:pP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proper credit is given to original authors.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Maintains academic integrity and avoids plagiarism.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time by automating formatting rules.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multiple citation styles for different disciplines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667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48628" y="1988820"/>
            <a:ext cx="17540288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 it Works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provide the model with details of a source(author,title,year,publisher,etc) and specify the citation style.The model then generates a properly formatted citation.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8227" y="5805487"/>
            <a:ext cx="16171545" cy="228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Prompt</a:t>
            </a:r>
          </a:p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an APA citation for the book ‘The Selfish Gene’ by Richard Dawkins,published in 1976”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667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" y="1701165"/>
            <a:ext cx="13283565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Research and Analysis Prompts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4852" y="2668905"/>
            <a:ext cx="16838295" cy="321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 Research</a:t>
            </a:r>
          </a:p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You are a market research analyst.</a:t>
            </a:r>
          </a:p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Objective:   </a:t>
            </a: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the current electric vehicle (EV) market.</a:t>
            </a:r>
          </a:p>
          <a:p>
            <a:pPr algn="l">
              <a:lnSpc>
                <a:spcPts val="648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4419600" y="5403532"/>
            <a:ext cx="7439025" cy="4222432"/>
            <a:chOff x="0" y="0"/>
            <a:chExt cx="9918700" cy="56299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18700" cy="5629910"/>
            </a:xfrm>
            <a:custGeom>
              <a:avLst/>
              <a:gdLst/>
              <a:ahLst/>
              <a:cxnLst/>
              <a:rect r="r" b="b" t="t" l="l"/>
              <a:pathLst>
                <a:path h="5629910" w="9918700">
                  <a:moveTo>
                    <a:pt x="0" y="0"/>
                  </a:moveTo>
                  <a:lnTo>
                    <a:pt x="9918700" y="0"/>
                  </a:lnTo>
                  <a:lnTo>
                    <a:pt x="9918700" y="5629910"/>
                  </a:lnTo>
                  <a:lnTo>
                    <a:pt x="0" y="5629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034" r="0" b="-12034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26782" y="1691640"/>
            <a:ext cx="16181070" cy="733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Academic  Literature  Analysis</a:t>
            </a:r>
          </a:p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You are a research assistant</a:t>
            </a:r>
          </a:p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Task:   </a:t>
            </a: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literature on prompt engineering techniques.</a:t>
            </a:r>
          </a:p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772150" y="4233862"/>
            <a:ext cx="5486400" cy="4839653"/>
            <a:chOff x="0" y="0"/>
            <a:chExt cx="7315200" cy="6452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6452870"/>
            </a:xfrm>
            <a:custGeom>
              <a:avLst/>
              <a:gdLst/>
              <a:ahLst/>
              <a:cxnLst/>
              <a:rect r="r" b="b" t="t" l="l"/>
              <a:pathLst>
                <a:path h="645287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52870"/>
                  </a:lnTo>
                  <a:lnTo>
                    <a:pt x="0" y="6452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681" r="0" b="-6681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90612" y="1418273"/>
            <a:ext cx="12873038" cy="1006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Competitive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6330" y="2487930"/>
            <a:ext cx="16335375" cy="256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You are a Business Analyst.</a:t>
            </a:r>
          </a:p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:Compare two SaaS competitors.</a:t>
            </a:r>
          </a:p>
          <a:p>
            <a:pPr algn="l">
              <a:lnSpc>
                <a:spcPts val="648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3981450" y="4665345"/>
            <a:ext cx="5981700" cy="5108258"/>
            <a:chOff x="0" y="0"/>
            <a:chExt cx="7975600" cy="68110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75600" cy="6811010"/>
            </a:xfrm>
            <a:custGeom>
              <a:avLst/>
              <a:gdLst/>
              <a:ahLst/>
              <a:cxnLst/>
              <a:rect r="r" b="b" t="t" l="l"/>
              <a:pathLst>
                <a:path h="6811010" w="7975600">
                  <a:moveTo>
                    <a:pt x="0" y="0"/>
                  </a:moveTo>
                  <a:lnTo>
                    <a:pt x="7975600" y="0"/>
                  </a:lnTo>
                  <a:lnTo>
                    <a:pt x="7975600" y="6811010"/>
                  </a:lnTo>
                  <a:lnTo>
                    <a:pt x="0" y="681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549" r="0" b="-8549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53490" y="1949767"/>
            <a:ext cx="15721965" cy="589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Common Beginner Mistakes</a:t>
            </a: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vague research objectives</a:t>
            </a: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Failing to specify sources or datasets for analysis</a:t>
            </a: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structuring analysis steps clearly</a:t>
            </a: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Ignoring validation and cross referencing of data</a:t>
            </a: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Overloading prompts without separating research and synthesis tasks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35392" y="1407795"/>
            <a:ext cx="15951518" cy="675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Best Practices</a:t>
            </a: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clear research objectives and scope</a:t>
            </a: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prompts step-by-step for collection,analysis,and synthesis</a:t>
            </a: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structured outputs(tables,summaries) for clarity and reusability</a:t>
            </a: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findings with multiple sources.</a:t>
            </a: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Iterate and refine prompts based on output quality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08660" y="1691640"/>
            <a:ext cx="1410557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Prompting for Learning &amp; Education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45030" y="3185160"/>
            <a:ext cx="8167688" cy="231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</a:t>
            </a: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Study Notes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Explain Concepts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Summaries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74382" y="1702117"/>
            <a:ext cx="16517302" cy="643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Study   Notes</a:t>
            </a:r>
          </a:p>
          <a:p>
            <a:pPr algn="l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notes prompting guides the model to genrate concise,organized notes from complex material.It helps learners break down information into digestible points for easier review and memorization.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Tip: </a:t>
            </a: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Specify the format you want (bullets,outlines,or summaries) to make notes more effective.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40105" y="1386840"/>
            <a:ext cx="16387762" cy="383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How  It  Works</a:t>
            </a:r>
          </a:p>
          <a:p>
            <a:pPr algn="l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 provide the model with a topic,passage or lecture content,and ask it to produce study notes.The notes are usually structured as bullet points, outlines, or key takeways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0105" y="5599747"/>
            <a:ext cx="16302990" cy="176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Example Prompt</a:t>
            </a:r>
          </a:p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“Create concise study notes on the causes of World War I”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19150" y="1988820"/>
            <a:ext cx="15560040" cy="545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Explain Concepts</a:t>
            </a:r>
          </a:p>
          <a:p>
            <a:pPr algn="l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Explanation prompting guides the model to break down complex topics into clear,understandable explanations.It is especially useful for teaching ,self-study and clarifying difficult ideas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Tip</a:t>
            </a: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-Specify the level of detail (beginner,intermediate,advanced) to tailor the explanation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83858" y="1539240"/>
            <a:ext cx="16453485" cy="542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How  It   Works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ask the model to explain a concept in simple terms or at a specific level of detail.Promts can include instructions like’explain as if to a beginner’ or ‘give a detailed breakdown’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Example Prompt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 the concept of photosynthesis in simple terms.”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91615" y="1701165"/>
            <a:ext cx="11409045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Summaries  (Basic-&gt;PhD -level)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2568" y="2952750"/>
            <a:ext cx="15561945" cy="173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prompting guides the model to condense information into different levels of complexity.You can request a simple overview for beginners or a highly detailed,technical summary suitable for advanced learners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01215" y="5354955"/>
            <a:ext cx="15496223" cy="324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4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Prompt: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“Summarize the theory of evolution at three  levels:Basic ,intermediate and advanced”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2392" y="1736408"/>
            <a:ext cx="17093565" cy="616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</a:t>
            </a:r>
            <a:r>
              <a:rPr lang="en-US" sz="5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 it Works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ask the model to summarize a topic at a specific level of detail.For example ,Explain photosynthesis for a 10-year-old’ versus ‘Summarize photosynthesis at a Phd level.</a:t>
            </a:r>
          </a:p>
          <a:p>
            <a:pPr algn="l" marL="868680" indent="-434340" lvl="1">
              <a:lnSpc>
                <a:spcPts val="5759"/>
              </a:lnSpc>
            </a:pPr>
          </a:p>
          <a:p>
            <a:pPr algn="l" marL="868680" indent="-434340" lvl="1">
              <a:lnSpc>
                <a:spcPts val="5759"/>
              </a:lnSpc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Prompt</a:t>
            </a:r>
          </a:p>
          <a:p>
            <a:pPr algn="l" marL="868680" indent="-434340" lvl="1">
              <a:lnSpc>
                <a:spcPts val="5759"/>
              </a:lnSpc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Summarize the theory of evolution at three levels:Basic,intermediate and advanced.</a:t>
            </a: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”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65798" y="2148840"/>
            <a:ext cx="16952595" cy="598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Prompting for Technical Tasks(Code generation,Debugging)</a:t>
            </a:r>
          </a:p>
          <a:p>
            <a:pPr algn="l">
              <a:lnSpc>
                <a:spcPts val="5759"/>
              </a:lnSpc>
            </a:pP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Writing Functions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Improving Code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Debugging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Converting logic to code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Writing documentation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Multi-file code generation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1908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1552" y="1386840"/>
            <a:ext cx="16780192" cy="542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Writing Functions</a:t>
            </a:r>
          </a:p>
          <a:p>
            <a:pPr algn="l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Coding functions prompting guides the model to generate reusable,modular pieces of code.Instead of riting entire programs,you ask the model to produce specific functions that solve well-defined tasks.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Prompt</a:t>
            </a:r>
          </a:p>
          <a:p>
            <a:pPr algn="l" marL="760095" indent="-380048" lvl="1">
              <a:lnSpc>
                <a:spcPts val="5040"/>
              </a:lnSpc>
            </a:pP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python function that calculates the factorial of a number</a:t>
            </a: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”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19150" y="1473517"/>
            <a:ext cx="15668625" cy="607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it Works</a:t>
            </a:r>
          </a:p>
          <a:p>
            <a:pPr algn="l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provide a clear description of the function’s purpose ,inputs and outputs.The model then generates a function in the requested programming language.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Tip:Always specify the programming language and function requirements (inputs,outputs,constraints). 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65798" y="1256348"/>
            <a:ext cx="15953423" cy="598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Debugging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Debugging prompting helps identify and fix errors in code.Instead of writing existing code,points out mistakes and suggests  corrections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Note</a:t>
            </a: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:Be clear about whether you want syntax  fixes,logical corrections,or performance improvements.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83478" y="26670"/>
            <a:ext cx="5704522" cy="1298258"/>
            <a:chOff x="0" y="0"/>
            <a:chExt cx="7606030" cy="17310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06030" cy="1731010"/>
            </a:xfrm>
            <a:custGeom>
              <a:avLst/>
              <a:gdLst/>
              <a:ahLst/>
              <a:cxnLst/>
              <a:rect r="r" b="b" t="t" l="l"/>
              <a:pathLst>
                <a:path h="1731010" w="7606030">
                  <a:moveTo>
                    <a:pt x="0" y="0"/>
                  </a:moveTo>
                  <a:lnTo>
                    <a:pt x="7606030" y="0"/>
                  </a:lnTo>
                  <a:lnTo>
                    <a:pt x="7606030" y="1731010"/>
                  </a:lnTo>
                  <a:lnTo>
                    <a:pt x="0" y="173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856" r="0" b="-885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90562" y="1146810"/>
            <a:ext cx="16916400" cy="873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Example Prompt</a:t>
            </a:r>
          </a:p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and fix the errors in the following Python code</a:t>
            </a:r>
          </a:p>
          <a:p>
            <a:pPr algn="l">
              <a:lnSpc>
                <a:spcPts val="6480"/>
              </a:lnSpc>
            </a:pPr>
          </a:p>
          <a:p>
            <a:pPr algn="l">
              <a:lnSpc>
                <a:spcPts val="6480"/>
              </a:lnSpc>
            </a:pPr>
          </a:p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Original Code</a:t>
            </a: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         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Debugged Code:</a:t>
            </a:r>
          </a:p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 divide(a,b):                     def divide(a,b):</a:t>
            </a:r>
          </a:p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return a/b                                 if b==0:</a:t>
            </a:r>
          </a:p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print(divide(10,0))                   return “Error:Division by zero”</a:t>
            </a:r>
          </a:p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return a/b</a:t>
            </a:r>
          </a:p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print(divide(10,0))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8575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47738" y="1495425"/>
            <a:ext cx="15562898" cy="672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Converting   Logic to Code</a:t>
            </a:r>
          </a:p>
          <a:p>
            <a:pPr algn="l">
              <a:lnSpc>
                <a:spcPts val="5759"/>
              </a:lnSpc>
            </a:pP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Converting logic to code prompting helps transform plain-language instructions or algorithms into executable code.The model takes a step-by-step description of logic and generates a function or program that implements it.</a:t>
            </a:r>
          </a:p>
          <a:p>
            <a:pPr algn="l" marL="868680" indent="-434340" lvl="1">
              <a:lnSpc>
                <a:spcPts val="5759"/>
              </a:lnSpc>
            </a:pPr>
          </a:p>
          <a:p>
            <a:pPr algn="l" marL="868680" indent="-434340" lvl="1">
              <a:lnSpc>
                <a:spcPts val="5759"/>
              </a:lnSpc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Tip</a:t>
            </a: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:Always specify the programming language and clearly outline the logic steps for best results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63918" y="1701165"/>
            <a:ext cx="16586835" cy="801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How   It    Works</a:t>
            </a:r>
          </a:p>
          <a:p>
            <a:pPr algn="l">
              <a:lnSpc>
                <a:spcPts val="5759"/>
              </a:lnSpc>
            </a:pP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describe the logic in plain language,such as ‘check if a number is prime’ The model then converts this description into code in the requested programming language</a:t>
            </a:r>
          </a:p>
          <a:p>
            <a:pPr algn="l" marL="868680" indent="-434340" lvl="1">
              <a:lnSpc>
                <a:spcPts val="5759"/>
              </a:lnSpc>
            </a:pPr>
          </a:p>
          <a:p>
            <a:pPr algn="l" marL="760095" indent="-380048" lvl="1">
              <a:lnSpc>
                <a:spcPts val="5040"/>
              </a:lnSpc>
            </a:pP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 Prompt</a:t>
            </a:r>
          </a:p>
          <a:p>
            <a:pPr algn="l" marL="868680" indent="-434340" lvl="1">
              <a:lnSpc>
                <a:spcPts val="5759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the following logic into Python code: If a number is divisible only by 1 and itself,return True; otherwise return False.”</a:t>
            </a:r>
          </a:p>
          <a:p>
            <a:pPr algn="l" marL="868680" indent="-434340" lvl="1">
              <a:lnSpc>
                <a:spcPts val="5759"/>
              </a:lnSpc>
            </a:pP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667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05815" y="2005013"/>
            <a:ext cx="16276320" cy="173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Create Prompts for field engineers dashboard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5815" y="4107180"/>
            <a:ext cx="16102965" cy="422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General Dashboard Insight Prompt</a:t>
            </a:r>
          </a:p>
          <a:p>
            <a:pPr algn="l">
              <a:lnSpc>
                <a:spcPts val="6480"/>
              </a:lnSpc>
            </a:pPr>
          </a:p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field engineer performance data and provide key insights on productivity,task completion rate,and downtime.Present results in bullet points.”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1036" y="0"/>
            <a:ext cx="6186488" cy="1657350"/>
            <a:chOff x="0" y="0"/>
            <a:chExt cx="8248650" cy="220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ChatGPT Image Apr 21, 2026, 10_55_30 PM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01036" y="26670"/>
            <a:ext cx="6186488" cy="1657350"/>
            <a:chOff x="0" y="0"/>
            <a:chExt cx="8248650" cy="220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86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248650">
                  <a:moveTo>
                    <a:pt x="0" y="0"/>
                  </a:moveTo>
                  <a:lnTo>
                    <a:pt x="8248650" y="0"/>
                  </a:lnTo>
                  <a:lnTo>
                    <a:pt x="8248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529138" y="1684020"/>
            <a:ext cx="7572375" cy="7572375"/>
            <a:chOff x="0" y="0"/>
            <a:chExt cx="10096500" cy="10096500"/>
          </a:xfrm>
        </p:grpSpPr>
        <p:sp>
          <p:nvSpPr>
            <p:cNvPr name="Freeform 11" id="11" descr="3d_man_with_thank_you_text_board_stock_photo_Slide01"/>
            <p:cNvSpPr/>
            <p:nvPr/>
          </p:nvSpPr>
          <p:spPr>
            <a:xfrm flipH="false" flipV="false" rot="0">
              <a:off x="0" y="0"/>
              <a:ext cx="10096500" cy="10096500"/>
            </a:xfrm>
            <a:custGeom>
              <a:avLst/>
              <a:gdLst/>
              <a:ahLst/>
              <a:cxnLst/>
              <a:rect r="r" b="b" t="t" l="l"/>
              <a:pathLst>
                <a:path h="10096500" w="10096500">
                  <a:moveTo>
                    <a:pt x="0" y="0"/>
                  </a:moveTo>
                  <a:lnTo>
                    <a:pt x="10096500" y="0"/>
                  </a:lnTo>
                  <a:lnTo>
                    <a:pt x="10096500" y="10096500"/>
                  </a:lnTo>
                  <a:lnTo>
                    <a:pt x="0" y="10096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DAHQX9BWzUc</dc:identifier>
  <dcterms:modified xsi:type="dcterms:W3CDTF">2011-08-01T06:04:30Z</dcterms:modified>
  <cp:revision>1</cp:revision>
  <dc:title>PROMPT4.pptx</dc:title>
</cp:coreProperties>
</file>
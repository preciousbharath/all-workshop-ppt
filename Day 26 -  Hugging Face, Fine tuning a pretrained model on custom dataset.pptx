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x="18288000" cy="10287000"/>
  <p:notesSz cx="6858000" cy="9144000"/>
  <p:embeddedFontLst>
    <p:embeddedFont>
      <p:font typeface="Norwester" charset="1" panose="00000506000000000000"/>
      <p:regular r:id="rId42"/>
    </p:embeddedFont>
    <p:embeddedFont>
      <p:font typeface="Knockout Cruiserweight" charset="1" panose="02000503030000020004"/>
      <p:regular r:id="rId43"/>
    </p:embeddedFont>
    <p:embeddedFont>
      <p:font typeface="Open Sans Bold Bold" charset="1" panose="00000000000000000000"/>
      <p:regular r:id="rId44"/>
    </p:embeddedFont>
    <p:embeddedFont>
      <p:font typeface="Knockout Featherweight Bold" charset="1" panose="02000506040000020004"/>
      <p:regular r:id="rId45"/>
    </p:embeddedFont>
    <p:embeddedFont>
      <p:font typeface="Arimo" charset="1" panose="020B0604020202020204"/>
      <p:regular r:id="rId46"/>
    </p:embeddedFont>
    <p:embeddedFont>
      <p:font typeface="Arimo Bold" charset="1" panose="020B0704020202020204"/>
      <p:regular r:id="rId47"/>
    </p:embeddedFont>
    <p:embeddedFont>
      <p:font typeface="Squada One" charset="1" panose="02000000000000000000"/>
      <p:regular r:id="rId48"/>
    </p:embeddedFont>
    <p:embeddedFont>
      <p:font typeface="Fira Sans Italics" charset="1" panose="020B0503050000020004"/>
      <p:regular r:id="rId49"/>
    </p:embeddedFont>
    <p:embeddedFont>
      <p:font typeface="Intro Rust" charset="1" panose="00000500000000000000"/>
      <p:regular r:id="rId50"/>
    </p:embeddedFont>
    <p:embeddedFont>
      <p:font typeface="Knockout Welterweight Bold" charset="1" panose="02000506050000020004"/>
      <p:regular r:id="rId51"/>
    </p:embeddedFont>
    <p:embeddedFont>
      <p:font typeface="Glacial Indifference Bold" charset="1" panose="00000800000000000000"/>
      <p:regular r:id="rId52"/>
    </p:embeddedFont>
    <p:embeddedFont>
      <p:font typeface="Knockout Cruiserweight Bold" charset="1" panose="02000503060000020004"/>
      <p:regular r:id="rId5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 Id="rId6" Target="../media/image2.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media/image32.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media/image33.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media/image2.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media/image2.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media/image2.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media/image36.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media/image2.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11845729" y="-256318"/>
            <a:ext cx="7721348" cy="1883594"/>
          </a:xfrm>
          <a:custGeom>
            <a:avLst/>
            <a:gdLst/>
            <a:ahLst/>
            <a:cxnLst/>
            <a:rect r="r" b="b" t="t" l="l"/>
            <a:pathLst>
              <a:path h="1883594" w="7721348">
                <a:moveTo>
                  <a:pt x="0" y="0"/>
                </a:moveTo>
                <a:lnTo>
                  <a:pt x="7721348" y="0"/>
                </a:lnTo>
                <a:lnTo>
                  <a:pt x="7721348" y="1883594"/>
                </a:lnTo>
                <a:lnTo>
                  <a:pt x="0" y="1883594"/>
                </a:lnTo>
                <a:lnTo>
                  <a:pt x="0" y="0"/>
                </a:lnTo>
                <a:close/>
              </a:path>
            </a:pathLst>
          </a:custGeom>
          <a:blipFill>
            <a:blip r:embed="rId3"/>
            <a:stretch>
              <a:fillRect l="0" t="0" r="0" b="-10343"/>
            </a:stretch>
          </a:blipFill>
        </p:spPr>
      </p:sp>
      <p:sp>
        <p:nvSpPr>
          <p:cNvPr name="TextBox 4" id="4"/>
          <p:cNvSpPr txBox="true"/>
          <p:nvPr/>
        </p:nvSpPr>
        <p:spPr>
          <a:xfrm rot="0">
            <a:off x="865043" y="1543939"/>
            <a:ext cx="13852910" cy="4571410"/>
          </a:xfrm>
          <a:prstGeom prst="rect">
            <a:avLst/>
          </a:prstGeom>
        </p:spPr>
        <p:txBody>
          <a:bodyPr anchor="t" rtlCol="false" tIns="0" lIns="0" bIns="0" rIns="0">
            <a:spAutoFit/>
          </a:bodyPr>
          <a:lstStyle/>
          <a:p>
            <a:pPr algn="l" marL="0" indent="0" lvl="0">
              <a:lnSpc>
                <a:spcPts val="18514"/>
              </a:lnSpc>
            </a:pPr>
            <a:r>
              <a:rPr lang="en-US" sz="12022" spc="336">
                <a:solidFill>
                  <a:srgbClr val="FFFFFF"/>
                </a:solidFill>
                <a:latin typeface="Norwester"/>
                <a:ea typeface="Norwester"/>
                <a:cs typeface="Norwester"/>
                <a:sym typeface="Norwester"/>
              </a:rPr>
              <a:t>NATURAL LANGUAGE PROCESSING</a:t>
            </a:r>
          </a:p>
        </p:txBody>
      </p:sp>
      <p:sp>
        <p:nvSpPr>
          <p:cNvPr name="TextBox 5" id="5"/>
          <p:cNvSpPr txBox="true"/>
          <p:nvPr/>
        </p:nvSpPr>
        <p:spPr>
          <a:xfrm rot="0">
            <a:off x="865043" y="6856434"/>
            <a:ext cx="14841360" cy="1120425"/>
          </a:xfrm>
          <a:prstGeom prst="rect">
            <a:avLst/>
          </a:prstGeom>
        </p:spPr>
        <p:txBody>
          <a:bodyPr anchor="t" rtlCol="false" tIns="0" lIns="0" bIns="0" rIns="0">
            <a:spAutoFit/>
          </a:bodyPr>
          <a:lstStyle/>
          <a:p>
            <a:pPr algn="l" marL="0" indent="0" lvl="0">
              <a:lnSpc>
                <a:spcPts val="8287"/>
              </a:lnSpc>
            </a:pPr>
            <a:r>
              <a:rPr lang="en-US" sz="9008" spc="-189">
                <a:solidFill>
                  <a:srgbClr val="DF4D60"/>
                </a:solidFill>
                <a:latin typeface="Norwester"/>
                <a:ea typeface="Norwester"/>
                <a:cs typeface="Norwester"/>
                <a:sym typeface="Norwester"/>
              </a:rPr>
              <a:t>FINE TUNING PRETRAINED LLM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C1920"/>
        </a:solidFill>
      </p:bgPr>
    </p:bg>
    <p:spTree>
      <p:nvGrpSpPr>
        <p:cNvPr id="1" name=""/>
        <p:cNvGrpSpPr/>
        <p:nvPr/>
      </p:nvGrpSpPr>
      <p:grpSpPr>
        <a:xfrm>
          <a:off x="0" y="0"/>
          <a:ext cx="0" cy="0"/>
          <a:chOff x="0" y="0"/>
          <a:chExt cx="0" cy="0"/>
        </a:xfrm>
      </p:grpSpPr>
      <p:grpSp>
        <p:nvGrpSpPr>
          <p:cNvPr name="Group 2" id="2"/>
          <p:cNvGrpSpPr/>
          <p:nvPr/>
        </p:nvGrpSpPr>
        <p:grpSpPr>
          <a:xfrm rot="0">
            <a:off x="-1654874" y="8541434"/>
            <a:ext cx="21731927" cy="2646012"/>
            <a:chOff x="0" y="0"/>
            <a:chExt cx="29495140" cy="3591236"/>
          </a:xfrm>
        </p:grpSpPr>
        <p:sp>
          <p:nvSpPr>
            <p:cNvPr name="Freeform 3" id="3"/>
            <p:cNvSpPr/>
            <p:nvPr/>
          </p:nvSpPr>
          <p:spPr>
            <a:xfrm flipH="false" flipV="false" rot="0">
              <a:off x="0" y="0"/>
              <a:ext cx="29495139" cy="3591237"/>
            </a:xfrm>
            <a:custGeom>
              <a:avLst/>
              <a:gdLst/>
              <a:ahLst/>
              <a:cxnLst/>
              <a:rect r="r" b="b" t="t" l="l"/>
              <a:pathLst>
                <a:path h="3591237" w="29495139">
                  <a:moveTo>
                    <a:pt x="0" y="0"/>
                  </a:moveTo>
                  <a:lnTo>
                    <a:pt x="29495139" y="0"/>
                  </a:lnTo>
                  <a:lnTo>
                    <a:pt x="29495139" y="3591237"/>
                  </a:lnTo>
                  <a:lnTo>
                    <a:pt x="0" y="3591237"/>
                  </a:lnTo>
                  <a:close/>
                </a:path>
              </a:pathLst>
            </a:custGeom>
            <a:solidFill>
              <a:srgbClr val="000000"/>
            </a:solidFill>
          </p:spPr>
        </p:sp>
      </p:grpSp>
      <p:sp>
        <p:nvSpPr>
          <p:cNvPr name="Freeform 4" id="4"/>
          <p:cNvSpPr/>
          <p:nvPr/>
        </p:nvSpPr>
        <p:spPr>
          <a:xfrm flipH="false" flipV="false" rot="0">
            <a:off x="10614286" y="-622918"/>
            <a:ext cx="7673714" cy="9164352"/>
          </a:xfrm>
          <a:custGeom>
            <a:avLst/>
            <a:gdLst/>
            <a:ahLst/>
            <a:cxnLst/>
            <a:rect r="r" b="b" t="t" l="l"/>
            <a:pathLst>
              <a:path h="9164352" w="7673714">
                <a:moveTo>
                  <a:pt x="0" y="0"/>
                </a:moveTo>
                <a:lnTo>
                  <a:pt x="7673714" y="0"/>
                </a:lnTo>
                <a:lnTo>
                  <a:pt x="7673714" y="9164352"/>
                </a:lnTo>
                <a:lnTo>
                  <a:pt x="0" y="9164352"/>
                </a:lnTo>
                <a:lnTo>
                  <a:pt x="0" y="0"/>
                </a:lnTo>
                <a:close/>
              </a:path>
            </a:pathLst>
          </a:custGeom>
          <a:blipFill>
            <a:blip r:embed="rId2">
              <a:alphaModFix amt="69000"/>
            </a:blip>
            <a:stretch>
              <a:fillRect l="-140266" t="0" r="0" b="-15789"/>
            </a:stretch>
          </a:blipFill>
        </p:spPr>
      </p:sp>
      <p:sp>
        <p:nvSpPr>
          <p:cNvPr name="Freeform 5" id="5"/>
          <p:cNvSpPr/>
          <p:nvPr/>
        </p:nvSpPr>
        <p:spPr>
          <a:xfrm flipH="false" flipV="false" rot="0">
            <a:off x="0" y="-622918"/>
            <a:ext cx="10614286" cy="9164352"/>
          </a:xfrm>
          <a:custGeom>
            <a:avLst/>
            <a:gdLst/>
            <a:ahLst/>
            <a:cxnLst/>
            <a:rect r="r" b="b" t="t" l="l"/>
            <a:pathLst>
              <a:path h="9164352" w="10614286">
                <a:moveTo>
                  <a:pt x="0" y="0"/>
                </a:moveTo>
                <a:lnTo>
                  <a:pt x="10614286" y="0"/>
                </a:lnTo>
                <a:lnTo>
                  <a:pt x="10614286" y="9164352"/>
                </a:lnTo>
                <a:lnTo>
                  <a:pt x="0" y="9164352"/>
                </a:lnTo>
                <a:lnTo>
                  <a:pt x="0" y="0"/>
                </a:lnTo>
                <a:close/>
              </a:path>
            </a:pathLst>
          </a:custGeom>
          <a:blipFill>
            <a:blip r:embed="rId3">
              <a:alphaModFix amt="69000"/>
            </a:blip>
            <a:stretch>
              <a:fillRect l="0" t="0" r="-73703" b="-15789"/>
            </a:stretch>
          </a:blipFill>
        </p:spPr>
      </p:sp>
      <p:sp>
        <p:nvSpPr>
          <p:cNvPr name="Freeform 6" id="6"/>
          <p:cNvSpPr/>
          <p:nvPr/>
        </p:nvSpPr>
        <p:spPr>
          <a:xfrm flipH="true" flipV="false" rot="0">
            <a:off x="0" y="0"/>
            <a:ext cx="18507039" cy="8541434"/>
          </a:xfrm>
          <a:custGeom>
            <a:avLst/>
            <a:gdLst/>
            <a:ahLst/>
            <a:cxnLst/>
            <a:rect r="r" b="b" t="t" l="l"/>
            <a:pathLst>
              <a:path h="8541434" w="18507039">
                <a:moveTo>
                  <a:pt x="18507039" y="0"/>
                </a:moveTo>
                <a:lnTo>
                  <a:pt x="0" y="0"/>
                </a:lnTo>
                <a:lnTo>
                  <a:pt x="0" y="8541434"/>
                </a:lnTo>
                <a:lnTo>
                  <a:pt x="18507039" y="8541434"/>
                </a:lnTo>
                <a:lnTo>
                  <a:pt x="18507039" y="0"/>
                </a:lnTo>
                <a:close/>
              </a:path>
            </a:pathLst>
          </a:custGeom>
          <a:blipFill>
            <a:blip r:embed="rId4">
              <a:alphaModFix amt="32999"/>
            </a:blip>
            <a:stretch>
              <a:fillRect l="0" t="-22179" r="0" b="-22179"/>
            </a:stretch>
          </a:blipFill>
        </p:spPr>
      </p:sp>
      <p:sp>
        <p:nvSpPr>
          <p:cNvPr name="TextBox 7" id="7"/>
          <p:cNvSpPr txBox="true"/>
          <p:nvPr/>
        </p:nvSpPr>
        <p:spPr>
          <a:xfrm rot="0">
            <a:off x="274667" y="8843135"/>
            <a:ext cx="17718659" cy="1064059"/>
          </a:xfrm>
          <a:prstGeom prst="rect">
            <a:avLst/>
          </a:prstGeom>
        </p:spPr>
        <p:txBody>
          <a:bodyPr anchor="t" rtlCol="false" tIns="0" lIns="0" bIns="0" rIns="0">
            <a:spAutoFit/>
          </a:bodyPr>
          <a:lstStyle/>
          <a:p>
            <a:pPr algn="r" marL="0" indent="0" lvl="0">
              <a:lnSpc>
                <a:spcPts val="8028"/>
              </a:lnSpc>
              <a:spcBef>
                <a:spcPct val="0"/>
              </a:spcBef>
            </a:pPr>
            <a:r>
              <a:rPr lang="en-US" sz="8028">
                <a:solidFill>
                  <a:srgbClr val="FFFFFF"/>
                </a:solidFill>
                <a:latin typeface="Knockout Cruiserweight"/>
                <a:ea typeface="Knockout Cruiserweight"/>
                <a:cs typeface="Knockout Cruiserweight"/>
                <a:sym typeface="Knockout Cruiserweight"/>
              </a:rPr>
              <a:t>FINE TUNING PRETRAINED LLM</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1C1920"/>
        </a:solidFill>
      </p:bgPr>
    </p:bg>
    <p:spTree>
      <p:nvGrpSpPr>
        <p:cNvPr id="1" name=""/>
        <p:cNvGrpSpPr/>
        <p:nvPr/>
      </p:nvGrpSpPr>
      <p:grpSpPr>
        <a:xfrm>
          <a:off x="0" y="0"/>
          <a:ext cx="0" cy="0"/>
          <a:chOff x="0" y="0"/>
          <a:chExt cx="0" cy="0"/>
        </a:xfrm>
      </p:grpSpPr>
      <p:grpSp>
        <p:nvGrpSpPr>
          <p:cNvPr name="Group 2" id="2"/>
          <p:cNvGrpSpPr/>
          <p:nvPr/>
        </p:nvGrpSpPr>
        <p:grpSpPr>
          <a:xfrm rot="0">
            <a:off x="-1654874" y="8541434"/>
            <a:ext cx="21731927" cy="2646012"/>
            <a:chOff x="0" y="0"/>
            <a:chExt cx="29495140" cy="3591236"/>
          </a:xfrm>
        </p:grpSpPr>
        <p:sp>
          <p:nvSpPr>
            <p:cNvPr name="Freeform 3" id="3"/>
            <p:cNvSpPr/>
            <p:nvPr/>
          </p:nvSpPr>
          <p:spPr>
            <a:xfrm flipH="false" flipV="false" rot="0">
              <a:off x="0" y="0"/>
              <a:ext cx="29495139" cy="3591237"/>
            </a:xfrm>
            <a:custGeom>
              <a:avLst/>
              <a:gdLst/>
              <a:ahLst/>
              <a:cxnLst/>
              <a:rect r="r" b="b" t="t" l="l"/>
              <a:pathLst>
                <a:path h="3591237" w="29495139">
                  <a:moveTo>
                    <a:pt x="0" y="0"/>
                  </a:moveTo>
                  <a:lnTo>
                    <a:pt x="29495139" y="0"/>
                  </a:lnTo>
                  <a:lnTo>
                    <a:pt x="29495139" y="3591237"/>
                  </a:lnTo>
                  <a:lnTo>
                    <a:pt x="0" y="3591237"/>
                  </a:lnTo>
                  <a:close/>
                </a:path>
              </a:pathLst>
            </a:custGeom>
            <a:solidFill>
              <a:srgbClr val="000000"/>
            </a:solidFill>
          </p:spPr>
        </p:sp>
      </p:grpSp>
      <p:sp>
        <p:nvSpPr>
          <p:cNvPr name="TextBox 4" id="4"/>
          <p:cNvSpPr txBox="true"/>
          <p:nvPr/>
        </p:nvSpPr>
        <p:spPr>
          <a:xfrm rot="0">
            <a:off x="10762999" y="8896033"/>
            <a:ext cx="7525001" cy="848360"/>
          </a:xfrm>
          <a:prstGeom prst="rect">
            <a:avLst/>
          </a:prstGeom>
        </p:spPr>
        <p:txBody>
          <a:bodyPr anchor="t" rtlCol="false" tIns="0" lIns="0" bIns="0" rIns="0">
            <a:spAutoFit/>
          </a:bodyPr>
          <a:lstStyle/>
          <a:p>
            <a:pPr algn="l" marL="0" indent="0" lvl="0">
              <a:lnSpc>
                <a:spcPts val="6399"/>
              </a:lnSpc>
              <a:spcBef>
                <a:spcPct val="0"/>
              </a:spcBef>
            </a:pPr>
            <a:r>
              <a:rPr lang="en-US" sz="6399">
                <a:solidFill>
                  <a:srgbClr val="FFFFFF"/>
                </a:solidFill>
                <a:latin typeface="Knockout Cruiserweight"/>
                <a:ea typeface="Knockout Cruiserweight"/>
                <a:cs typeface="Knockout Cruiserweight"/>
                <a:sym typeface="Knockout Cruiserweight"/>
              </a:rPr>
              <a:t>FINE TUNING LLM</a:t>
            </a:r>
          </a:p>
        </p:txBody>
      </p:sp>
      <p:sp>
        <p:nvSpPr>
          <p:cNvPr name="TextBox 5" id="5"/>
          <p:cNvSpPr txBox="true"/>
          <p:nvPr/>
        </p:nvSpPr>
        <p:spPr>
          <a:xfrm rot="0">
            <a:off x="192073" y="428625"/>
            <a:ext cx="17522854" cy="7529843"/>
          </a:xfrm>
          <a:prstGeom prst="rect">
            <a:avLst/>
          </a:prstGeom>
        </p:spPr>
        <p:txBody>
          <a:bodyPr anchor="t" rtlCol="false" tIns="0" lIns="0" bIns="0" rIns="0">
            <a:spAutoFit/>
          </a:bodyPr>
          <a:lstStyle/>
          <a:p>
            <a:pPr algn="just" marL="789914" indent="-394957" lvl="1">
              <a:lnSpc>
                <a:spcPts val="7500"/>
              </a:lnSpc>
              <a:buFont typeface="Arial"/>
              <a:buChar char="•"/>
            </a:pPr>
            <a:r>
              <a:rPr lang="en-US" sz="3658">
                <a:solidFill>
                  <a:srgbClr val="FFFFFF"/>
                </a:solidFill>
                <a:latin typeface="Knockout Cruiserweight"/>
                <a:ea typeface="Knockout Cruiserweight"/>
                <a:cs typeface="Knockout Cruiserweight"/>
                <a:sym typeface="Knockout Cruiserweight"/>
              </a:rPr>
              <a:t>Fine-tuning is the process of adjusting the parameters of a pre-trained large language model to a specific task or domain. </a:t>
            </a:r>
          </a:p>
          <a:p>
            <a:pPr algn="just">
              <a:lnSpc>
                <a:spcPts val="7500"/>
              </a:lnSpc>
            </a:pPr>
          </a:p>
          <a:p>
            <a:pPr algn="just" marL="789914" indent="-394957" lvl="1">
              <a:lnSpc>
                <a:spcPts val="7500"/>
              </a:lnSpc>
              <a:buFont typeface="Arial"/>
              <a:buChar char="•"/>
            </a:pPr>
            <a:r>
              <a:rPr lang="en-US" sz="3658">
                <a:solidFill>
                  <a:srgbClr val="FFFFFF"/>
                </a:solidFill>
                <a:latin typeface="Knockout Cruiserweight"/>
                <a:ea typeface="Knockout Cruiserweight"/>
                <a:cs typeface="Knockout Cruiserweight"/>
                <a:sym typeface="Knockout Cruiserweight"/>
              </a:rPr>
              <a:t>Although pre-trained language models like GPT possess vast language knowledge, they lack specialization in specific areas. </a:t>
            </a:r>
          </a:p>
          <a:p>
            <a:pPr algn="just">
              <a:lnSpc>
                <a:spcPts val="7500"/>
              </a:lnSpc>
            </a:pPr>
          </a:p>
          <a:p>
            <a:pPr algn="just" marL="789914" indent="-394957" lvl="1">
              <a:lnSpc>
                <a:spcPts val="7500"/>
              </a:lnSpc>
              <a:buFont typeface="Arial"/>
              <a:buChar char="•"/>
            </a:pPr>
            <a:r>
              <a:rPr lang="en-US" sz="3658">
                <a:solidFill>
                  <a:srgbClr val="FFFFFF"/>
                </a:solidFill>
                <a:latin typeface="Knockout Cruiserweight"/>
                <a:ea typeface="Knockout Cruiserweight"/>
                <a:cs typeface="Knockout Cruiserweight"/>
                <a:sym typeface="Knockout Cruiserweight"/>
              </a:rPr>
              <a:t>Fine-tuning addresses this limitation by allowing the model to learn from domain-specific data to make it more accurate for targeted applications.</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1C1920"/>
        </a:solidFill>
      </p:bgPr>
    </p:bg>
    <p:spTree>
      <p:nvGrpSpPr>
        <p:cNvPr id="1" name=""/>
        <p:cNvGrpSpPr/>
        <p:nvPr/>
      </p:nvGrpSpPr>
      <p:grpSpPr>
        <a:xfrm>
          <a:off x="0" y="0"/>
          <a:ext cx="0" cy="0"/>
          <a:chOff x="0" y="0"/>
          <a:chExt cx="0" cy="0"/>
        </a:xfrm>
      </p:grpSpPr>
      <p:grpSp>
        <p:nvGrpSpPr>
          <p:cNvPr name="Group 2" id="2"/>
          <p:cNvGrpSpPr/>
          <p:nvPr/>
        </p:nvGrpSpPr>
        <p:grpSpPr>
          <a:xfrm rot="0">
            <a:off x="-1654874" y="8541434"/>
            <a:ext cx="21731927" cy="2646012"/>
            <a:chOff x="0" y="0"/>
            <a:chExt cx="29495140" cy="3591236"/>
          </a:xfrm>
        </p:grpSpPr>
        <p:sp>
          <p:nvSpPr>
            <p:cNvPr name="Freeform 3" id="3"/>
            <p:cNvSpPr/>
            <p:nvPr/>
          </p:nvSpPr>
          <p:spPr>
            <a:xfrm flipH="false" flipV="false" rot="0">
              <a:off x="0" y="0"/>
              <a:ext cx="29495139" cy="3591237"/>
            </a:xfrm>
            <a:custGeom>
              <a:avLst/>
              <a:gdLst/>
              <a:ahLst/>
              <a:cxnLst/>
              <a:rect r="r" b="b" t="t" l="l"/>
              <a:pathLst>
                <a:path h="3591237" w="29495139">
                  <a:moveTo>
                    <a:pt x="0" y="0"/>
                  </a:moveTo>
                  <a:lnTo>
                    <a:pt x="29495139" y="0"/>
                  </a:lnTo>
                  <a:lnTo>
                    <a:pt x="29495139" y="3591237"/>
                  </a:lnTo>
                  <a:lnTo>
                    <a:pt x="0" y="3591237"/>
                  </a:lnTo>
                  <a:close/>
                </a:path>
              </a:pathLst>
            </a:custGeom>
            <a:solidFill>
              <a:srgbClr val="000000"/>
            </a:solidFill>
          </p:spPr>
        </p:sp>
      </p:grpSp>
      <p:sp>
        <p:nvSpPr>
          <p:cNvPr name="TextBox 4" id="4"/>
          <p:cNvSpPr txBox="true"/>
          <p:nvPr/>
        </p:nvSpPr>
        <p:spPr>
          <a:xfrm rot="0">
            <a:off x="10286484" y="8896033"/>
            <a:ext cx="8001516" cy="848360"/>
          </a:xfrm>
          <a:prstGeom prst="rect">
            <a:avLst/>
          </a:prstGeom>
        </p:spPr>
        <p:txBody>
          <a:bodyPr anchor="t" rtlCol="false" tIns="0" lIns="0" bIns="0" rIns="0">
            <a:spAutoFit/>
          </a:bodyPr>
          <a:lstStyle/>
          <a:p>
            <a:pPr algn="l" marL="0" indent="0" lvl="0">
              <a:lnSpc>
                <a:spcPts val="6399"/>
              </a:lnSpc>
              <a:spcBef>
                <a:spcPct val="0"/>
              </a:spcBef>
            </a:pPr>
            <a:r>
              <a:rPr lang="en-US" sz="6399">
                <a:solidFill>
                  <a:srgbClr val="FFFFFF"/>
                </a:solidFill>
                <a:latin typeface="Knockout Cruiserweight"/>
                <a:ea typeface="Knockout Cruiserweight"/>
                <a:cs typeface="Knockout Cruiserweight"/>
                <a:sym typeface="Knockout Cruiserweight"/>
              </a:rPr>
              <a:t>LLM FINE-TUNING</a:t>
            </a:r>
          </a:p>
        </p:txBody>
      </p:sp>
      <p:sp>
        <p:nvSpPr>
          <p:cNvPr name="TextBox 5" id="5"/>
          <p:cNvSpPr txBox="true"/>
          <p:nvPr/>
        </p:nvSpPr>
        <p:spPr>
          <a:xfrm rot="0">
            <a:off x="472376" y="390525"/>
            <a:ext cx="17242551" cy="7239014"/>
          </a:xfrm>
          <a:prstGeom prst="rect">
            <a:avLst/>
          </a:prstGeom>
        </p:spPr>
        <p:txBody>
          <a:bodyPr anchor="t" rtlCol="false" tIns="0" lIns="0" bIns="0" rIns="0">
            <a:spAutoFit/>
          </a:bodyPr>
          <a:lstStyle/>
          <a:p>
            <a:pPr algn="just" marL="876272" indent="-438136" lvl="1">
              <a:lnSpc>
                <a:spcPts val="8320"/>
              </a:lnSpc>
              <a:buFont typeface="Arial"/>
              <a:buChar char="•"/>
            </a:pPr>
            <a:r>
              <a:rPr lang="en-US" sz="4058">
                <a:solidFill>
                  <a:srgbClr val="FFFFFF"/>
                </a:solidFill>
                <a:latin typeface="Knockout Cruiserweight"/>
                <a:ea typeface="Knockout Cruiserweight"/>
                <a:cs typeface="Knockout Cruiserweight"/>
                <a:sym typeface="Knockout Cruiserweight"/>
              </a:rPr>
              <a:t>By exposing the model to task-specific examples during fine-tuning, the model can acquire a deeper understanding of the nuances of the domain. </a:t>
            </a:r>
          </a:p>
          <a:p>
            <a:pPr algn="just">
              <a:lnSpc>
                <a:spcPts val="8320"/>
              </a:lnSpc>
            </a:pPr>
          </a:p>
          <a:p>
            <a:pPr algn="just" marL="876272" indent="-438136" lvl="1">
              <a:lnSpc>
                <a:spcPts val="8320"/>
              </a:lnSpc>
              <a:buFont typeface="Arial"/>
              <a:buChar char="•"/>
            </a:pPr>
            <a:r>
              <a:rPr lang="en-US" sz="4058">
                <a:solidFill>
                  <a:srgbClr val="FFFFFF"/>
                </a:solidFill>
                <a:latin typeface="Knockout Cruiserweight"/>
                <a:ea typeface="Knockout Cruiserweight"/>
                <a:cs typeface="Knockout Cruiserweight"/>
                <a:sym typeface="Knockout Cruiserweight"/>
              </a:rPr>
              <a:t>This bridges the gap between a general-purpose language model and a specialized one, unlocking the full potential of LLMs in specific domains or applications.</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1C1920"/>
        </a:solidFill>
      </p:bgPr>
    </p:bg>
    <p:spTree>
      <p:nvGrpSpPr>
        <p:cNvPr id="1" name=""/>
        <p:cNvGrpSpPr/>
        <p:nvPr/>
      </p:nvGrpSpPr>
      <p:grpSpPr>
        <a:xfrm>
          <a:off x="0" y="0"/>
          <a:ext cx="0" cy="0"/>
          <a:chOff x="0" y="0"/>
          <a:chExt cx="0" cy="0"/>
        </a:xfrm>
      </p:grpSpPr>
      <p:grpSp>
        <p:nvGrpSpPr>
          <p:cNvPr name="Group 2" id="2"/>
          <p:cNvGrpSpPr/>
          <p:nvPr/>
        </p:nvGrpSpPr>
        <p:grpSpPr>
          <a:xfrm rot="0">
            <a:off x="-1654874" y="8541434"/>
            <a:ext cx="21731927" cy="2646012"/>
            <a:chOff x="0" y="0"/>
            <a:chExt cx="29495140" cy="3591236"/>
          </a:xfrm>
        </p:grpSpPr>
        <p:sp>
          <p:nvSpPr>
            <p:cNvPr name="Freeform 3" id="3"/>
            <p:cNvSpPr/>
            <p:nvPr/>
          </p:nvSpPr>
          <p:spPr>
            <a:xfrm flipH="false" flipV="false" rot="0">
              <a:off x="0" y="0"/>
              <a:ext cx="29495139" cy="3591237"/>
            </a:xfrm>
            <a:custGeom>
              <a:avLst/>
              <a:gdLst/>
              <a:ahLst/>
              <a:cxnLst/>
              <a:rect r="r" b="b" t="t" l="l"/>
              <a:pathLst>
                <a:path h="3591237" w="29495139">
                  <a:moveTo>
                    <a:pt x="0" y="0"/>
                  </a:moveTo>
                  <a:lnTo>
                    <a:pt x="29495139" y="0"/>
                  </a:lnTo>
                  <a:lnTo>
                    <a:pt x="29495139" y="3591237"/>
                  </a:lnTo>
                  <a:lnTo>
                    <a:pt x="0" y="3591237"/>
                  </a:lnTo>
                  <a:close/>
                </a:path>
              </a:pathLst>
            </a:custGeom>
            <a:solidFill>
              <a:srgbClr val="000000"/>
            </a:solidFill>
          </p:spPr>
        </p:sp>
      </p:grpSp>
      <p:sp>
        <p:nvSpPr>
          <p:cNvPr name="TextBox 4" id="4"/>
          <p:cNvSpPr txBox="true"/>
          <p:nvPr/>
        </p:nvSpPr>
        <p:spPr>
          <a:xfrm rot="0">
            <a:off x="2353917" y="8896033"/>
            <a:ext cx="15934083" cy="848360"/>
          </a:xfrm>
          <a:prstGeom prst="rect">
            <a:avLst/>
          </a:prstGeom>
        </p:spPr>
        <p:txBody>
          <a:bodyPr anchor="t" rtlCol="false" tIns="0" lIns="0" bIns="0" rIns="0">
            <a:spAutoFit/>
          </a:bodyPr>
          <a:lstStyle/>
          <a:p>
            <a:pPr algn="l" marL="0" indent="0" lvl="0">
              <a:lnSpc>
                <a:spcPts val="6399"/>
              </a:lnSpc>
              <a:spcBef>
                <a:spcPct val="0"/>
              </a:spcBef>
            </a:pPr>
            <a:r>
              <a:rPr lang="en-US" sz="6399">
                <a:solidFill>
                  <a:srgbClr val="FFFFFF"/>
                </a:solidFill>
                <a:latin typeface="Knockout Cruiserweight"/>
                <a:ea typeface="Knockout Cruiserweight"/>
                <a:cs typeface="Knockout Cruiserweight"/>
                <a:sym typeface="Knockout Cruiserweight"/>
              </a:rPr>
              <a:t>STEPS INVOLVED IN LLM FINE-TUNING</a:t>
            </a:r>
          </a:p>
        </p:txBody>
      </p:sp>
      <p:sp>
        <p:nvSpPr>
          <p:cNvPr name="TextBox 5" id="5"/>
          <p:cNvSpPr txBox="true"/>
          <p:nvPr/>
        </p:nvSpPr>
        <p:spPr>
          <a:xfrm rot="0">
            <a:off x="3914598" y="1294840"/>
            <a:ext cx="10458804" cy="5428421"/>
          </a:xfrm>
          <a:prstGeom prst="rect">
            <a:avLst/>
          </a:prstGeom>
        </p:spPr>
        <p:txBody>
          <a:bodyPr anchor="t" rtlCol="false" tIns="0" lIns="0" bIns="0" rIns="0">
            <a:spAutoFit/>
          </a:bodyPr>
          <a:lstStyle/>
          <a:p>
            <a:pPr algn="just" marL="1162975" indent="-581487" lvl="1">
              <a:lnSpc>
                <a:spcPts val="11042"/>
              </a:lnSpc>
              <a:buFont typeface="Arial"/>
              <a:buChar char="•"/>
            </a:pPr>
            <a:r>
              <a:rPr lang="en-US" sz="5386">
                <a:solidFill>
                  <a:srgbClr val="FFFFFF"/>
                </a:solidFill>
                <a:latin typeface="Knockout Cruiserweight"/>
                <a:ea typeface="Knockout Cruiserweight"/>
                <a:cs typeface="Knockout Cruiserweight"/>
                <a:sym typeface="Knockout Cruiserweight"/>
              </a:rPr>
              <a:t>Select a pre-trained model</a:t>
            </a:r>
          </a:p>
          <a:p>
            <a:pPr algn="just" marL="1162975" indent="-581487" lvl="1">
              <a:lnSpc>
                <a:spcPts val="11042"/>
              </a:lnSpc>
              <a:buFont typeface="Arial"/>
              <a:buChar char="•"/>
            </a:pPr>
            <a:r>
              <a:rPr lang="en-US" sz="5386">
                <a:solidFill>
                  <a:srgbClr val="FFFFFF"/>
                </a:solidFill>
                <a:latin typeface="Knockout Cruiserweight"/>
                <a:ea typeface="Knockout Cruiserweight"/>
                <a:cs typeface="Knockout Cruiserweight"/>
                <a:sym typeface="Knockout Cruiserweight"/>
              </a:rPr>
              <a:t>Gather relevant Dataset</a:t>
            </a:r>
          </a:p>
          <a:p>
            <a:pPr algn="just" marL="1162975" indent="-581487" lvl="1">
              <a:lnSpc>
                <a:spcPts val="11042"/>
              </a:lnSpc>
              <a:buFont typeface="Arial"/>
              <a:buChar char="•"/>
            </a:pPr>
            <a:r>
              <a:rPr lang="en-US" sz="5386">
                <a:solidFill>
                  <a:srgbClr val="FFFFFF"/>
                </a:solidFill>
                <a:latin typeface="Knockout Cruiserweight"/>
                <a:ea typeface="Knockout Cruiserweight"/>
                <a:cs typeface="Knockout Cruiserweight"/>
                <a:sym typeface="Knockout Cruiserweight"/>
              </a:rPr>
              <a:t>Preprocess Dataset</a:t>
            </a:r>
          </a:p>
          <a:p>
            <a:pPr algn="just" marL="1162975" indent="-581487" lvl="1">
              <a:lnSpc>
                <a:spcPts val="11042"/>
              </a:lnSpc>
              <a:buFont typeface="Arial"/>
              <a:buChar char="•"/>
            </a:pPr>
            <a:r>
              <a:rPr lang="en-US" sz="5386">
                <a:solidFill>
                  <a:srgbClr val="FFFFFF"/>
                </a:solidFill>
                <a:latin typeface="Knockout Cruiserweight"/>
                <a:ea typeface="Knockout Cruiserweight"/>
                <a:cs typeface="Knockout Cruiserweight"/>
                <a:sym typeface="Knockout Cruiserweight"/>
              </a:rPr>
              <a:t>Fine-tuning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C1920"/>
        </a:solidFill>
      </p:bgPr>
    </p:bg>
    <p:spTree>
      <p:nvGrpSpPr>
        <p:cNvPr id="1" name=""/>
        <p:cNvGrpSpPr/>
        <p:nvPr/>
      </p:nvGrpSpPr>
      <p:grpSpPr>
        <a:xfrm>
          <a:off x="0" y="0"/>
          <a:ext cx="0" cy="0"/>
          <a:chOff x="0" y="0"/>
          <a:chExt cx="0" cy="0"/>
        </a:xfrm>
      </p:grpSpPr>
      <p:grpSp>
        <p:nvGrpSpPr>
          <p:cNvPr name="Group 2" id="2"/>
          <p:cNvGrpSpPr/>
          <p:nvPr/>
        </p:nvGrpSpPr>
        <p:grpSpPr>
          <a:xfrm rot="0">
            <a:off x="-1654874" y="8541434"/>
            <a:ext cx="21731927" cy="2646012"/>
            <a:chOff x="0" y="0"/>
            <a:chExt cx="29495140" cy="3591236"/>
          </a:xfrm>
        </p:grpSpPr>
        <p:sp>
          <p:nvSpPr>
            <p:cNvPr name="Freeform 3" id="3"/>
            <p:cNvSpPr/>
            <p:nvPr/>
          </p:nvSpPr>
          <p:spPr>
            <a:xfrm flipH="false" flipV="false" rot="0">
              <a:off x="0" y="0"/>
              <a:ext cx="29495139" cy="3591237"/>
            </a:xfrm>
            <a:custGeom>
              <a:avLst/>
              <a:gdLst/>
              <a:ahLst/>
              <a:cxnLst/>
              <a:rect r="r" b="b" t="t" l="l"/>
              <a:pathLst>
                <a:path h="3591237" w="29495139">
                  <a:moveTo>
                    <a:pt x="0" y="0"/>
                  </a:moveTo>
                  <a:lnTo>
                    <a:pt x="29495139" y="0"/>
                  </a:lnTo>
                  <a:lnTo>
                    <a:pt x="29495139" y="3591237"/>
                  </a:lnTo>
                  <a:lnTo>
                    <a:pt x="0" y="3591237"/>
                  </a:lnTo>
                  <a:close/>
                </a:path>
              </a:pathLst>
            </a:custGeom>
            <a:solidFill>
              <a:srgbClr val="000000"/>
            </a:solidFill>
          </p:spPr>
        </p:sp>
      </p:grpSp>
      <p:sp>
        <p:nvSpPr>
          <p:cNvPr name="Freeform 4" id="4"/>
          <p:cNvSpPr/>
          <p:nvPr/>
        </p:nvSpPr>
        <p:spPr>
          <a:xfrm flipH="false" flipV="false" rot="0">
            <a:off x="13302710" y="6168482"/>
            <a:ext cx="4462565" cy="1817416"/>
          </a:xfrm>
          <a:custGeom>
            <a:avLst/>
            <a:gdLst/>
            <a:ahLst/>
            <a:cxnLst/>
            <a:rect r="r" b="b" t="t" l="l"/>
            <a:pathLst>
              <a:path h="1817416" w="4462565">
                <a:moveTo>
                  <a:pt x="0" y="0"/>
                </a:moveTo>
                <a:lnTo>
                  <a:pt x="4462565" y="0"/>
                </a:lnTo>
                <a:lnTo>
                  <a:pt x="4462565" y="1817416"/>
                </a:lnTo>
                <a:lnTo>
                  <a:pt x="0" y="1817416"/>
                </a:lnTo>
                <a:lnTo>
                  <a:pt x="0" y="0"/>
                </a:lnTo>
                <a:close/>
              </a:path>
            </a:pathLst>
          </a:custGeom>
          <a:blipFill>
            <a:blip r:embed="rId2"/>
            <a:stretch>
              <a:fillRect l="0" t="0" r="0" b="0"/>
            </a:stretch>
          </a:blipFill>
        </p:spPr>
      </p:sp>
      <p:sp>
        <p:nvSpPr>
          <p:cNvPr name="Freeform 5" id="5"/>
          <p:cNvSpPr/>
          <p:nvPr/>
        </p:nvSpPr>
        <p:spPr>
          <a:xfrm flipH="false" flipV="false" rot="0">
            <a:off x="746967" y="5612946"/>
            <a:ext cx="3971217" cy="2928488"/>
          </a:xfrm>
          <a:custGeom>
            <a:avLst/>
            <a:gdLst/>
            <a:ahLst/>
            <a:cxnLst/>
            <a:rect r="r" b="b" t="t" l="l"/>
            <a:pathLst>
              <a:path h="2928488" w="3971217">
                <a:moveTo>
                  <a:pt x="0" y="0"/>
                </a:moveTo>
                <a:lnTo>
                  <a:pt x="3971217" y="0"/>
                </a:lnTo>
                <a:lnTo>
                  <a:pt x="3971217" y="2928488"/>
                </a:lnTo>
                <a:lnTo>
                  <a:pt x="0" y="2928488"/>
                </a:lnTo>
                <a:lnTo>
                  <a:pt x="0" y="0"/>
                </a:lnTo>
                <a:close/>
              </a:path>
            </a:pathLst>
          </a:custGeom>
          <a:blipFill>
            <a:blip r:embed="rId3"/>
            <a:stretch>
              <a:fillRect l="-74483" t="-44967" r="-75013" b="-45345"/>
            </a:stretch>
          </a:blipFill>
        </p:spPr>
      </p:sp>
      <p:sp>
        <p:nvSpPr>
          <p:cNvPr name="Freeform 6" id="6"/>
          <p:cNvSpPr/>
          <p:nvPr/>
        </p:nvSpPr>
        <p:spPr>
          <a:xfrm flipH="false" flipV="false" rot="0">
            <a:off x="6855090" y="5556418"/>
            <a:ext cx="5260503" cy="2761764"/>
          </a:xfrm>
          <a:custGeom>
            <a:avLst/>
            <a:gdLst/>
            <a:ahLst/>
            <a:cxnLst/>
            <a:rect r="r" b="b" t="t" l="l"/>
            <a:pathLst>
              <a:path h="2761764" w="5260503">
                <a:moveTo>
                  <a:pt x="0" y="0"/>
                </a:moveTo>
                <a:lnTo>
                  <a:pt x="5260503" y="0"/>
                </a:lnTo>
                <a:lnTo>
                  <a:pt x="5260503" y="2761764"/>
                </a:lnTo>
                <a:lnTo>
                  <a:pt x="0" y="2761764"/>
                </a:lnTo>
                <a:lnTo>
                  <a:pt x="0" y="0"/>
                </a:lnTo>
                <a:close/>
              </a:path>
            </a:pathLst>
          </a:custGeom>
          <a:blipFill>
            <a:blip r:embed="rId4"/>
            <a:stretch>
              <a:fillRect l="0" t="0" r="0" b="0"/>
            </a:stretch>
          </a:blipFill>
        </p:spPr>
      </p:sp>
      <p:sp>
        <p:nvSpPr>
          <p:cNvPr name="TextBox 7" id="7"/>
          <p:cNvSpPr txBox="true"/>
          <p:nvPr/>
        </p:nvSpPr>
        <p:spPr>
          <a:xfrm rot="0">
            <a:off x="5465277" y="8896033"/>
            <a:ext cx="12822723" cy="848360"/>
          </a:xfrm>
          <a:prstGeom prst="rect">
            <a:avLst/>
          </a:prstGeom>
        </p:spPr>
        <p:txBody>
          <a:bodyPr anchor="t" rtlCol="false" tIns="0" lIns="0" bIns="0" rIns="0">
            <a:spAutoFit/>
          </a:bodyPr>
          <a:lstStyle/>
          <a:p>
            <a:pPr algn="l" marL="0" indent="0" lvl="0">
              <a:lnSpc>
                <a:spcPts val="6399"/>
              </a:lnSpc>
              <a:spcBef>
                <a:spcPct val="0"/>
              </a:spcBef>
            </a:pPr>
            <a:r>
              <a:rPr lang="en-US" sz="6399">
                <a:solidFill>
                  <a:srgbClr val="FFFFFF"/>
                </a:solidFill>
                <a:latin typeface="Knockout Cruiserweight"/>
                <a:ea typeface="Knockout Cruiserweight"/>
                <a:cs typeface="Knockout Cruiserweight"/>
                <a:sym typeface="Knockout Cruiserweight"/>
              </a:rPr>
              <a:t>SELECT A PRE-TRAINED MODEL</a:t>
            </a:r>
          </a:p>
        </p:txBody>
      </p:sp>
      <p:sp>
        <p:nvSpPr>
          <p:cNvPr name="TextBox 8" id="8"/>
          <p:cNvSpPr txBox="true"/>
          <p:nvPr/>
        </p:nvSpPr>
        <p:spPr>
          <a:xfrm rot="0">
            <a:off x="298482" y="339617"/>
            <a:ext cx="17466793" cy="4098334"/>
          </a:xfrm>
          <a:prstGeom prst="rect">
            <a:avLst/>
          </a:prstGeom>
        </p:spPr>
        <p:txBody>
          <a:bodyPr anchor="t" rtlCol="false" tIns="0" lIns="0" bIns="0" rIns="0">
            <a:spAutoFit/>
          </a:bodyPr>
          <a:lstStyle/>
          <a:p>
            <a:pPr algn="just" marL="876272" indent="-438136" lvl="1">
              <a:lnSpc>
                <a:spcPts val="6575"/>
              </a:lnSpc>
              <a:buFont typeface="Arial"/>
              <a:buChar char="•"/>
            </a:pPr>
            <a:r>
              <a:rPr lang="en-US" sz="4058" spc="-12">
                <a:solidFill>
                  <a:srgbClr val="FFFFFF"/>
                </a:solidFill>
                <a:latin typeface="Knockout Cruiserweight"/>
                <a:ea typeface="Knockout Cruiserweight"/>
                <a:cs typeface="Knockout Cruiserweight"/>
                <a:sym typeface="Knockout Cruiserweight"/>
              </a:rPr>
              <a:t>For LLM Fine-tuning first step is to carefully select a base pre-trained model that aligns with our desired architecture and functionalities.</a:t>
            </a:r>
          </a:p>
          <a:p>
            <a:pPr algn="just">
              <a:lnSpc>
                <a:spcPts val="6575"/>
              </a:lnSpc>
            </a:pPr>
            <a:r>
              <a:rPr lang="en-US" sz="4058" spc="-12">
                <a:solidFill>
                  <a:srgbClr val="FFFFFF"/>
                </a:solidFill>
                <a:latin typeface="Knockout Cruiserweight"/>
                <a:ea typeface="Knockout Cruiserweight"/>
                <a:cs typeface="Knockout Cruiserweight"/>
                <a:sym typeface="Knockout Cruiserweight"/>
              </a:rPr>
              <a:t> </a:t>
            </a:r>
          </a:p>
          <a:p>
            <a:pPr algn="just" marL="876272" indent="-438136" lvl="1">
              <a:lnSpc>
                <a:spcPts val="6575"/>
              </a:lnSpc>
              <a:buFont typeface="Arial"/>
              <a:buChar char="•"/>
            </a:pPr>
            <a:r>
              <a:rPr lang="en-US" sz="4058" spc="-12">
                <a:solidFill>
                  <a:srgbClr val="FFFFFF"/>
                </a:solidFill>
                <a:latin typeface="Knockout Cruiserweight"/>
                <a:ea typeface="Knockout Cruiserweight"/>
                <a:cs typeface="Knockout Cruiserweight"/>
                <a:sym typeface="Knockout Cruiserweight"/>
              </a:rPr>
              <a:t>Pre-trained models are generic purpose models that have been trained on a large corpus of unlabeled data.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C1920"/>
        </a:solidFill>
      </p:bgPr>
    </p:bg>
    <p:spTree>
      <p:nvGrpSpPr>
        <p:cNvPr id="1" name=""/>
        <p:cNvGrpSpPr/>
        <p:nvPr/>
      </p:nvGrpSpPr>
      <p:grpSpPr>
        <a:xfrm>
          <a:off x="0" y="0"/>
          <a:ext cx="0" cy="0"/>
          <a:chOff x="0" y="0"/>
          <a:chExt cx="0" cy="0"/>
        </a:xfrm>
      </p:grpSpPr>
      <p:grpSp>
        <p:nvGrpSpPr>
          <p:cNvPr name="Group 2" id="2"/>
          <p:cNvGrpSpPr/>
          <p:nvPr/>
        </p:nvGrpSpPr>
        <p:grpSpPr>
          <a:xfrm rot="0">
            <a:off x="-1654874" y="8541434"/>
            <a:ext cx="21731927" cy="2646012"/>
            <a:chOff x="0" y="0"/>
            <a:chExt cx="29495140" cy="3591236"/>
          </a:xfrm>
        </p:grpSpPr>
        <p:sp>
          <p:nvSpPr>
            <p:cNvPr name="Freeform 3" id="3"/>
            <p:cNvSpPr/>
            <p:nvPr/>
          </p:nvSpPr>
          <p:spPr>
            <a:xfrm flipH="false" flipV="false" rot="0">
              <a:off x="0" y="0"/>
              <a:ext cx="29495139" cy="3591237"/>
            </a:xfrm>
            <a:custGeom>
              <a:avLst/>
              <a:gdLst/>
              <a:ahLst/>
              <a:cxnLst/>
              <a:rect r="r" b="b" t="t" l="l"/>
              <a:pathLst>
                <a:path h="3591237" w="29495139">
                  <a:moveTo>
                    <a:pt x="0" y="0"/>
                  </a:moveTo>
                  <a:lnTo>
                    <a:pt x="29495139" y="0"/>
                  </a:lnTo>
                  <a:lnTo>
                    <a:pt x="29495139" y="3591237"/>
                  </a:lnTo>
                  <a:lnTo>
                    <a:pt x="0" y="3591237"/>
                  </a:lnTo>
                  <a:close/>
                </a:path>
              </a:pathLst>
            </a:custGeom>
            <a:solidFill>
              <a:srgbClr val="000000"/>
            </a:solidFill>
          </p:spPr>
        </p:sp>
      </p:grpSp>
      <p:grpSp>
        <p:nvGrpSpPr>
          <p:cNvPr name="Group 4" id="4"/>
          <p:cNvGrpSpPr/>
          <p:nvPr/>
        </p:nvGrpSpPr>
        <p:grpSpPr>
          <a:xfrm rot="0">
            <a:off x="733168" y="0"/>
            <a:ext cx="16821665" cy="8541434"/>
            <a:chOff x="0" y="0"/>
            <a:chExt cx="22428886" cy="11388578"/>
          </a:xfrm>
        </p:grpSpPr>
        <p:sp>
          <p:nvSpPr>
            <p:cNvPr name="Freeform 5" id="5"/>
            <p:cNvSpPr/>
            <p:nvPr/>
          </p:nvSpPr>
          <p:spPr>
            <a:xfrm flipH="false" flipV="false" rot="0">
              <a:off x="0" y="0"/>
              <a:ext cx="22428886" cy="11388578"/>
            </a:xfrm>
            <a:custGeom>
              <a:avLst/>
              <a:gdLst/>
              <a:ahLst/>
              <a:cxnLst/>
              <a:rect r="r" b="b" t="t" l="l"/>
              <a:pathLst>
                <a:path h="11388578" w="22428886">
                  <a:moveTo>
                    <a:pt x="0" y="0"/>
                  </a:moveTo>
                  <a:lnTo>
                    <a:pt x="22428886" y="0"/>
                  </a:lnTo>
                  <a:lnTo>
                    <a:pt x="22428886" y="11388578"/>
                  </a:lnTo>
                  <a:lnTo>
                    <a:pt x="0" y="11388578"/>
                  </a:lnTo>
                  <a:lnTo>
                    <a:pt x="0" y="0"/>
                  </a:lnTo>
                  <a:close/>
                </a:path>
              </a:pathLst>
            </a:custGeom>
            <a:blipFill>
              <a:blip r:embed="rId2"/>
              <a:stretch>
                <a:fillRect l="0" t="0" r="0" b="-2701"/>
              </a:stretch>
            </a:blipFill>
          </p:spPr>
        </p:sp>
        <p:sp>
          <p:nvSpPr>
            <p:cNvPr name="Freeform 6" id="6"/>
            <p:cNvSpPr/>
            <p:nvPr/>
          </p:nvSpPr>
          <p:spPr>
            <a:xfrm flipH="false" flipV="false" rot="0">
              <a:off x="3809073" y="3201399"/>
              <a:ext cx="5203186" cy="1899828"/>
            </a:xfrm>
            <a:custGeom>
              <a:avLst/>
              <a:gdLst/>
              <a:ahLst/>
              <a:cxnLst/>
              <a:rect r="r" b="b" t="t" l="l"/>
              <a:pathLst>
                <a:path h="1899828" w="5203186">
                  <a:moveTo>
                    <a:pt x="0" y="0"/>
                  </a:moveTo>
                  <a:lnTo>
                    <a:pt x="5203186" y="0"/>
                  </a:lnTo>
                  <a:lnTo>
                    <a:pt x="5203186" y="1899828"/>
                  </a:lnTo>
                  <a:lnTo>
                    <a:pt x="0" y="1899828"/>
                  </a:lnTo>
                  <a:lnTo>
                    <a:pt x="0" y="0"/>
                  </a:lnTo>
                  <a:close/>
                </a:path>
              </a:pathLst>
            </a:custGeom>
            <a:blipFill>
              <a:blip r:embed="rId3"/>
              <a:stretch>
                <a:fillRect l="-37350" t="0" r="0" b="0"/>
              </a:stretch>
            </a:blipFill>
          </p:spPr>
        </p:sp>
      </p:grpSp>
      <p:sp>
        <p:nvSpPr>
          <p:cNvPr name="TextBox 7" id="7"/>
          <p:cNvSpPr txBox="true"/>
          <p:nvPr/>
        </p:nvSpPr>
        <p:spPr>
          <a:xfrm rot="0">
            <a:off x="10678908" y="8896033"/>
            <a:ext cx="7609092" cy="848360"/>
          </a:xfrm>
          <a:prstGeom prst="rect">
            <a:avLst/>
          </a:prstGeom>
        </p:spPr>
        <p:txBody>
          <a:bodyPr anchor="t" rtlCol="false" tIns="0" lIns="0" bIns="0" rIns="0">
            <a:spAutoFit/>
          </a:bodyPr>
          <a:lstStyle/>
          <a:p>
            <a:pPr algn="l" marL="0" indent="0" lvl="0">
              <a:lnSpc>
                <a:spcPts val="6399"/>
              </a:lnSpc>
              <a:spcBef>
                <a:spcPct val="0"/>
              </a:spcBef>
            </a:pPr>
            <a:r>
              <a:rPr lang="en-US" sz="6399">
                <a:solidFill>
                  <a:srgbClr val="FFFFFF"/>
                </a:solidFill>
                <a:latin typeface="Knockout Cruiserweight"/>
                <a:ea typeface="Knockout Cruiserweight"/>
                <a:cs typeface="Knockout Cruiserweight"/>
                <a:sym typeface="Knockout Cruiserweight"/>
              </a:rPr>
              <a:t>HUGGING FACE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C1920"/>
        </a:solidFill>
      </p:bgPr>
    </p:bg>
    <p:spTree>
      <p:nvGrpSpPr>
        <p:cNvPr id="1" name=""/>
        <p:cNvGrpSpPr/>
        <p:nvPr/>
      </p:nvGrpSpPr>
      <p:grpSpPr>
        <a:xfrm>
          <a:off x="0" y="0"/>
          <a:ext cx="0" cy="0"/>
          <a:chOff x="0" y="0"/>
          <a:chExt cx="0" cy="0"/>
        </a:xfrm>
      </p:grpSpPr>
      <p:grpSp>
        <p:nvGrpSpPr>
          <p:cNvPr name="Group 2" id="2"/>
          <p:cNvGrpSpPr/>
          <p:nvPr/>
        </p:nvGrpSpPr>
        <p:grpSpPr>
          <a:xfrm rot="0">
            <a:off x="-1654874" y="8541434"/>
            <a:ext cx="21731927" cy="2646012"/>
            <a:chOff x="0" y="0"/>
            <a:chExt cx="29495140" cy="3591236"/>
          </a:xfrm>
        </p:grpSpPr>
        <p:sp>
          <p:nvSpPr>
            <p:cNvPr name="Freeform 3" id="3"/>
            <p:cNvSpPr/>
            <p:nvPr/>
          </p:nvSpPr>
          <p:spPr>
            <a:xfrm flipH="false" flipV="false" rot="0">
              <a:off x="0" y="0"/>
              <a:ext cx="29495139" cy="3591237"/>
            </a:xfrm>
            <a:custGeom>
              <a:avLst/>
              <a:gdLst/>
              <a:ahLst/>
              <a:cxnLst/>
              <a:rect r="r" b="b" t="t" l="l"/>
              <a:pathLst>
                <a:path h="3591237" w="29495139">
                  <a:moveTo>
                    <a:pt x="0" y="0"/>
                  </a:moveTo>
                  <a:lnTo>
                    <a:pt x="29495139" y="0"/>
                  </a:lnTo>
                  <a:lnTo>
                    <a:pt x="29495139" y="3591237"/>
                  </a:lnTo>
                  <a:lnTo>
                    <a:pt x="0" y="3591237"/>
                  </a:lnTo>
                  <a:close/>
                </a:path>
              </a:pathLst>
            </a:custGeom>
            <a:solidFill>
              <a:srgbClr val="000000"/>
            </a:solidFill>
          </p:spPr>
        </p:sp>
      </p:grpSp>
      <p:sp>
        <p:nvSpPr>
          <p:cNvPr name="Freeform 4" id="4"/>
          <p:cNvSpPr/>
          <p:nvPr/>
        </p:nvSpPr>
        <p:spPr>
          <a:xfrm flipH="false" flipV="false" rot="0">
            <a:off x="7045800" y="3609277"/>
            <a:ext cx="11242200" cy="4975333"/>
          </a:xfrm>
          <a:custGeom>
            <a:avLst/>
            <a:gdLst/>
            <a:ahLst/>
            <a:cxnLst/>
            <a:rect r="r" b="b" t="t" l="l"/>
            <a:pathLst>
              <a:path h="4975333" w="11242200">
                <a:moveTo>
                  <a:pt x="0" y="0"/>
                </a:moveTo>
                <a:lnTo>
                  <a:pt x="11242200" y="0"/>
                </a:lnTo>
                <a:lnTo>
                  <a:pt x="11242200" y="4975333"/>
                </a:lnTo>
                <a:lnTo>
                  <a:pt x="0" y="4975333"/>
                </a:lnTo>
                <a:lnTo>
                  <a:pt x="0" y="0"/>
                </a:lnTo>
                <a:close/>
              </a:path>
            </a:pathLst>
          </a:custGeom>
          <a:blipFill>
            <a:blip r:embed="rId2"/>
            <a:stretch>
              <a:fillRect l="-997" t="0" r="0" b="0"/>
            </a:stretch>
          </a:blipFill>
        </p:spPr>
      </p:sp>
      <p:sp>
        <p:nvSpPr>
          <p:cNvPr name="TextBox 5" id="5"/>
          <p:cNvSpPr txBox="true"/>
          <p:nvPr/>
        </p:nvSpPr>
        <p:spPr>
          <a:xfrm rot="0">
            <a:off x="6306186" y="8896033"/>
            <a:ext cx="11981814" cy="848360"/>
          </a:xfrm>
          <a:prstGeom prst="rect">
            <a:avLst/>
          </a:prstGeom>
        </p:spPr>
        <p:txBody>
          <a:bodyPr anchor="t" rtlCol="false" tIns="0" lIns="0" bIns="0" rIns="0">
            <a:spAutoFit/>
          </a:bodyPr>
          <a:lstStyle/>
          <a:p>
            <a:pPr algn="l" marL="0" indent="0" lvl="0">
              <a:lnSpc>
                <a:spcPts val="6399"/>
              </a:lnSpc>
              <a:spcBef>
                <a:spcPct val="0"/>
              </a:spcBef>
            </a:pPr>
            <a:r>
              <a:rPr lang="en-US" sz="6399">
                <a:solidFill>
                  <a:srgbClr val="FFFFFF"/>
                </a:solidFill>
                <a:latin typeface="Knockout Cruiserweight"/>
                <a:ea typeface="Knockout Cruiserweight"/>
                <a:cs typeface="Knockout Cruiserweight"/>
                <a:sym typeface="Knockout Cruiserweight"/>
              </a:rPr>
              <a:t>GATHER RELEVANT DATASET</a:t>
            </a:r>
          </a:p>
        </p:txBody>
      </p:sp>
      <p:sp>
        <p:nvSpPr>
          <p:cNvPr name="TextBox 6" id="6"/>
          <p:cNvSpPr txBox="true"/>
          <p:nvPr/>
        </p:nvSpPr>
        <p:spPr>
          <a:xfrm rot="0">
            <a:off x="298482" y="339617"/>
            <a:ext cx="17466793" cy="3269659"/>
          </a:xfrm>
          <a:prstGeom prst="rect">
            <a:avLst/>
          </a:prstGeom>
        </p:spPr>
        <p:txBody>
          <a:bodyPr anchor="t" rtlCol="false" tIns="0" lIns="0" bIns="0" rIns="0">
            <a:spAutoFit/>
          </a:bodyPr>
          <a:lstStyle/>
          <a:p>
            <a:pPr algn="just" marL="876272" indent="-438136" lvl="1">
              <a:lnSpc>
                <a:spcPts val="6575"/>
              </a:lnSpc>
              <a:buFont typeface="Arial"/>
              <a:buChar char="•"/>
            </a:pPr>
            <a:r>
              <a:rPr lang="en-US" sz="4058" spc="-12">
                <a:solidFill>
                  <a:srgbClr val="FFFFFF"/>
                </a:solidFill>
                <a:latin typeface="Knockout Cruiserweight"/>
                <a:ea typeface="Knockout Cruiserweight"/>
                <a:cs typeface="Knockout Cruiserweight"/>
                <a:sym typeface="Knockout Cruiserweight"/>
              </a:rPr>
              <a:t>Then we need to gather a dataset that is relevant to our task. </a:t>
            </a:r>
          </a:p>
          <a:p>
            <a:pPr algn="just">
              <a:lnSpc>
                <a:spcPts val="6575"/>
              </a:lnSpc>
            </a:pPr>
          </a:p>
          <a:p>
            <a:pPr algn="just" marL="876272" indent="-438136" lvl="1">
              <a:lnSpc>
                <a:spcPts val="6575"/>
              </a:lnSpc>
              <a:buFont typeface="Arial"/>
              <a:buChar char="•"/>
            </a:pPr>
            <a:r>
              <a:rPr lang="en-US" sz="4058" spc="-12">
                <a:solidFill>
                  <a:srgbClr val="FFFFFF"/>
                </a:solidFill>
                <a:latin typeface="Knockout Cruiserweight"/>
                <a:ea typeface="Knockout Cruiserweight"/>
                <a:cs typeface="Knockout Cruiserweight"/>
                <a:sym typeface="Knockout Cruiserweight"/>
              </a:rPr>
              <a:t>The dataset should be labeled or structured in a way that the model can learn from it.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C1920"/>
        </a:solidFill>
      </p:bgPr>
    </p:bg>
    <p:spTree>
      <p:nvGrpSpPr>
        <p:cNvPr id="1" name=""/>
        <p:cNvGrpSpPr/>
        <p:nvPr/>
      </p:nvGrpSpPr>
      <p:grpSpPr>
        <a:xfrm>
          <a:off x="0" y="0"/>
          <a:ext cx="0" cy="0"/>
          <a:chOff x="0" y="0"/>
          <a:chExt cx="0" cy="0"/>
        </a:xfrm>
      </p:grpSpPr>
      <p:grpSp>
        <p:nvGrpSpPr>
          <p:cNvPr name="Group 2" id="2"/>
          <p:cNvGrpSpPr/>
          <p:nvPr/>
        </p:nvGrpSpPr>
        <p:grpSpPr>
          <a:xfrm rot="0">
            <a:off x="-1654874" y="8541434"/>
            <a:ext cx="21731927" cy="2646012"/>
            <a:chOff x="0" y="0"/>
            <a:chExt cx="29495140" cy="3591236"/>
          </a:xfrm>
        </p:grpSpPr>
        <p:sp>
          <p:nvSpPr>
            <p:cNvPr name="Freeform 3" id="3"/>
            <p:cNvSpPr/>
            <p:nvPr/>
          </p:nvSpPr>
          <p:spPr>
            <a:xfrm flipH="false" flipV="false" rot="0">
              <a:off x="0" y="0"/>
              <a:ext cx="29495139" cy="3591237"/>
            </a:xfrm>
            <a:custGeom>
              <a:avLst/>
              <a:gdLst/>
              <a:ahLst/>
              <a:cxnLst/>
              <a:rect r="r" b="b" t="t" l="l"/>
              <a:pathLst>
                <a:path h="3591237" w="29495139">
                  <a:moveTo>
                    <a:pt x="0" y="0"/>
                  </a:moveTo>
                  <a:lnTo>
                    <a:pt x="29495139" y="0"/>
                  </a:lnTo>
                  <a:lnTo>
                    <a:pt x="29495139" y="3591237"/>
                  </a:lnTo>
                  <a:lnTo>
                    <a:pt x="0" y="3591237"/>
                  </a:lnTo>
                  <a:close/>
                </a:path>
              </a:pathLst>
            </a:custGeom>
            <a:solidFill>
              <a:srgbClr val="000000"/>
            </a:solidFill>
          </p:spPr>
        </p:sp>
      </p:grpSp>
      <p:sp>
        <p:nvSpPr>
          <p:cNvPr name="Freeform 4" id="4"/>
          <p:cNvSpPr/>
          <p:nvPr/>
        </p:nvSpPr>
        <p:spPr>
          <a:xfrm flipH="false" flipV="false" rot="0">
            <a:off x="13901433" y="4706936"/>
            <a:ext cx="3660304" cy="3587098"/>
          </a:xfrm>
          <a:custGeom>
            <a:avLst/>
            <a:gdLst/>
            <a:ahLst/>
            <a:cxnLst/>
            <a:rect r="r" b="b" t="t" l="l"/>
            <a:pathLst>
              <a:path h="3587098" w="3660304">
                <a:moveTo>
                  <a:pt x="0" y="0"/>
                </a:moveTo>
                <a:lnTo>
                  <a:pt x="3660303" y="0"/>
                </a:lnTo>
                <a:lnTo>
                  <a:pt x="3660303" y="3587098"/>
                </a:lnTo>
                <a:lnTo>
                  <a:pt x="0" y="35870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8464516" y="8896033"/>
            <a:ext cx="9823484" cy="848360"/>
          </a:xfrm>
          <a:prstGeom prst="rect">
            <a:avLst/>
          </a:prstGeom>
        </p:spPr>
        <p:txBody>
          <a:bodyPr anchor="t" rtlCol="false" tIns="0" lIns="0" bIns="0" rIns="0">
            <a:spAutoFit/>
          </a:bodyPr>
          <a:lstStyle/>
          <a:p>
            <a:pPr algn="l" marL="0" indent="0" lvl="0">
              <a:lnSpc>
                <a:spcPts val="6399"/>
              </a:lnSpc>
              <a:spcBef>
                <a:spcPct val="0"/>
              </a:spcBef>
            </a:pPr>
            <a:r>
              <a:rPr lang="en-US" sz="6399">
                <a:solidFill>
                  <a:srgbClr val="FFFFFF"/>
                </a:solidFill>
                <a:latin typeface="Knockout Cruiserweight"/>
                <a:ea typeface="Knockout Cruiserweight"/>
                <a:cs typeface="Knockout Cruiserweight"/>
                <a:sym typeface="Knockout Cruiserweight"/>
              </a:rPr>
              <a:t>PREPROCESS DATASET</a:t>
            </a:r>
          </a:p>
        </p:txBody>
      </p:sp>
      <p:sp>
        <p:nvSpPr>
          <p:cNvPr name="TextBox 6" id="6"/>
          <p:cNvSpPr txBox="true"/>
          <p:nvPr/>
        </p:nvSpPr>
        <p:spPr>
          <a:xfrm rot="0">
            <a:off x="410603" y="79719"/>
            <a:ext cx="17466793" cy="5571962"/>
          </a:xfrm>
          <a:prstGeom prst="rect">
            <a:avLst/>
          </a:prstGeom>
        </p:spPr>
        <p:txBody>
          <a:bodyPr anchor="t" rtlCol="false" tIns="0" lIns="0" bIns="0" rIns="0">
            <a:spAutoFit/>
          </a:bodyPr>
          <a:lstStyle/>
          <a:p>
            <a:pPr algn="just" marL="984219" indent="-492110" lvl="1">
              <a:lnSpc>
                <a:spcPts val="11396"/>
              </a:lnSpc>
              <a:buFont typeface="Arial"/>
              <a:buChar char="•"/>
            </a:pPr>
            <a:r>
              <a:rPr lang="en-US" sz="4558" spc="-13">
                <a:solidFill>
                  <a:srgbClr val="FFFFFF"/>
                </a:solidFill>
                <a:latin typeface="Knockout Cruiserweight"/>
                <a:ea typeface="Knockout Cruiserweight"/>
                <a:cs typeface="Knockout Cruiserweight"/>
                <a:sym typeface="Knockout Cruiserweight"/>
              </a:rPr>
              <a:t>Once the dataset is ready, we need to do some preprocessing for fine-tuning by cleaning it, splitting it into training, validation, and test sets, and ensuring it’s compatible with the model on which we want to fine-tune.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C1920"/>
        </a:solidFill>
      </p:bgPr>
    </p:bg>
    <p:spTree>
      <p:nvGrpSpPr>
        <p:cNvPr id="1" name=""/>
        <p:cNvGrpSpPr/>
        <p:nvPr/>
      </p:nvGrpSpPr>
      <p:grpSpPr>
        <a:xfrm>
          <a:off x="0" y="0"/>
          <a:ext cx="0" cy="0"/>
          <a:chOff x="0" y="0"/>
          <a:chExt cx="0" cy="0"/>
        </a:xfrm>
      </p:grpSpPr>
      <p:grpSp>
        <p:nvGrpSpPr>
          <p:cNvPr name="Group 2" id="2"/>
          <p:cNvGrpSpPr/>
          <p:nvPr/>
        </p:nvGrpSpPr>
        <p:grpSpPr>
          <a:xfrm rot="0">
            <a:off x="-1654874" y="8541434"/>
            <a:ext cx="21731927" cy="2646012"/>
            <a:chOff x="0" y="0"/>
            <a:chExt cx="29495140" cy="3591236"/>
          </a:xfrm>
        </p:grpSpPr>
        <p:sp>
          <p:nvSpPr>
            <p:cNvPr name="Freeform 3" id="3"/>
            <p:cNvSpPr/>
            <p:nvPr/>
          </p:nvSpPr>
          <p:spPr>
            <a:xfrm flipH="false" flipV="false" rot="0">
              <a:off x="0" y="0"/>
              <a:ext cx="29495139" cy="3591237"/>
            </a:xfrm>
            <a:custGeom>
              <a:avLst/>
              <a:gdLst/>
              <a:ahLst/>
              <a:cxnLst/>
              <a:rect r="r" b="b" t="t" l="l"/>
              <a:pathLst>
                <a:path h="3591237" w="29495139">
                  <a:moveTo>
                    <a:pt x="0" y="0"/>
                  </a:moveTo>
                  <a:lnTo>
                    <a:pt x="29495139" y="0"/>
                  </a:lnTo>
                  <a:lnTo>
                    <a:pt x="29495139" y="3591237"/>
                  </a:lnTo>
                  <a:lnTo>
                    <a:pt x="0" y="3591237"/>
                  </a:lnTo>
                  <a:close/>
                </a:path>
              </a:pathLst>
            </a:custGeom>
            <a:solidFill>
              <a:srgbClr val="000000"/>
            </a:solidFill>
          </p:spPr>
        </p:sp>
      </p:grpSp>
      <p:sp>
        <p:nvSpPr>
          <p:cNvPr name="TextBox 4" id="4"/>
          <p:cNvSpPr txBox="true"/>
          <p:nvPr/>
        </p:nvSpPr>
        <p:spPr>
          <a:xfrm rot="0">
            <a:off x="153726" y="-143979"/>
            <a:ext cx="17485248" cy="6723133"/>
          </a:xfrm>
          <a:prstGeom prst="rect">
            <a:avLst/>
          </a:prstGeom>
        </p:spPr>
        <p:txBody>
          <a:bodyPr anchor="t" rtlCol="false" tIns="0" lIns="0" bIns="0" rIns="0">
            <a:spAutoFit/>
          </a:bodyPr>
          <a:lstStyle/>
          <a:p>
            <a:pPr algn="just" marL="944701" indent="-472350" lvl="1">
              <a:lnSpc>
                <a:spcPts val="10939"/>
              </a:lnSpc>
              <a:buFont typeface="Arial"/>
              <a:buChar char="•"/>
            </a:pPr>
            <a:r>
              <a:rPr lang="en-US" sz="4375" spc="-13">
                <a:solidFill>
                  <a:srgbClr val="FFFFFF"/>
                </a:solidFill>
                <a:latin typeface="Knockout Cruiserweight"/>
                <a:ea typeface="Knockout Cruiserweight"/>
                <a:cs typeface="Knockout Cruiserweight"/>
                <a:sym typeface="Knockout Cruiserweight"/>
              </a:rPr>
              <a:t>After selecting a pre-trained model we need to fine tune it on our preprocessed relevant dataset which is more specific to the task at hand. The dataset which we will select might be related to a particular domain or application, allowing the model to adapt and specialize for that context.</a:t>
            </a:r>
          </a:p>
        </p:txBody>
      </p:sp>
      <p:sp>
        <p:nvSpPr>
          <p:cNvPr name="Freeform 5" id="5"/>
          <p:cNvSpPr/>
          <p:nvPr/>
        </p:nvSpPr>
        <p:spPr>
          <a:xfrm flipH="false" flipV="false" rot="0">
            <a:off x="15737796" y="5787577"/>
            <a:ext cx="2241871" cy="2529615"/>
          </a:xfrm>
          <a:custGeom>
            <a:avLst/>
            <a:gdLst/>
            <a:ahLst/>
            <a:cxnLst/>
            <a:rect r="r" b="b" t="t" l="l"/>
            <a:pathLst>
              <a:path h="2529615" w="2241871">
                <a:moveTo>
                  <a:pt x="0" y="0"/>
                </a:moveTo>
                <a:lnTo>
                  <a:pt x="2241871" y="0"/>
                </a:lnTo>
                <a:lnTo>
                  <a:pt x="2241871" y="2529614"/>
                </a:lnTo>
                <a:lnTo>
                  <a:pt x="0" y="25296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2416785" y="8896033"/>
            <a:ext cx="5871215" cy="848360"/>
          </a:xfrm>
          <a:prstGeom prst="rect">
            <a:avLst/>
          </a:prstGeom>
        </p:spPr>
        <p:txBody>
          <a:bodyPr anchor="t" rtlCol="false" tIns="0" lIns="0" bIns="0" rIns="0">
            <a:spAutoFit/>
          </a:bodyPr>
          <a:lstStyle/>
          <a:p>
            <a:pPr algn="l" marL="0" indent="0" lvl="0">
              <a:lnSpc>
                <a:spcPts val="6399"/>
              </a:lnSpc>
              <a:spcBef>
                <a:spcPct val="0"/>
              </a:spcBef>
            </a:pPr>
            <a:r>
              <a:rPr lang="en-US" sz="6399">
                <a:solidFill>
                  <a:srgbClr val="FFFFFF"/>
                </a:solidFill>
                <a:latin typeface="Knockout Cruiserweight"/>
                <a:ea typeface="Knockout Cruiserweight"/>
                <a:cs typeface="Knockout Cruiserweight"/>
                <a:sym typeface="Knockout Cruiserweight"/>
              </a:rPr>
              <a:t>FINE TUNING</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1C1920"/>
        </a:solidFill>
      </p:bgPr>
    </p:bg>
    <p:spTree>
      <p:nvGrpSpPr>
        <p:cNvPr id="1" name=""/>
        <p:cNvGrpSpPr/>
        <p:nvPr/>
      </p:nvGrpSpPr>
      <p:grpSpPr>
        <a:xfrm>
          <a:off x="0" y="0"/>
          <a:ext cx="0" cy="0"/>
          <a:chOff x="0" y="0"/>
          <a:chExt cx="0" cy="0"/>
        </a:xfrm>
      </p:grpSpPr>
      <p:grpSp>
        <p:nvGrpSpPr>
          <p:cNvPr name="Group 2" id="2"/>
          <p:cNvGrpSpPr/>
          <p:nvPr/>
        </p:nvGrpSpPr>
        <p:grpSpPr>
          <a:xfrm rot="0">
            <a:off x="-1654874" y="8541434"/>
            <a:ext cx="21731927" cy="2646012"/>
            <a:chOff x="0" y="0"/>
            <a:chExt cx="29495140" cy="3591236"/>
          </a:xfrm>
        </p:grpSpPr>
        <p:sp>
          <p:nvSpPr>
            <p:cNvPr name="Freeform 3" id="3"/>
            <p:cNvSpPr/>
            <p:nvPr/>
          </p:nvSpPr>
          <p:spPr>
            <a:xfrm flipH="false" flipV="false" rot="0">
              <a:off x="0" y="0"/>
              <a:ext cx="29495139" cy="3591237"/>
            </a:xfrm>
            <a:custGeom>
              <a:avLst/>
              <a:gdLst/>
              <a:ahLst/>
              <a:cxnLst/>
              <a:rect r="r" b="b" t="t" l="l"/>
              <a:pathLst>
                <a:path h="3591237" w="29495139">
                  <a:moveTo>
                    <a:pt x="0" y="0"/>
                  </a:moveTo>
                  <a:lnTo>
                    <a:pt x="29495139" y="0"/>
                  </a:lnTo>
                  <a:lnTo>
                    <a:pt x="29495139" y="3591237"/>
                  </a:lnTo>
                  <a:lnTo>
                    <a:pt x="0" y="3591237"/>
                  </a:lnTo>
                  <a:close/>
                </a:path>
              </a:pathLst>
            </a:custGeom>
            <a:solidFill>
              <a:srgbClr val="000000"/>
            </a:solidFill>
          </p:spPr>
        </p:sp>
      </p:grpSp>
      <p:sp>
        <p:nvSpPr>
          <p:cNvPr name="TextBox 4" id="4"/>
          <p:cNvSpPr txBox="true"/>
          <p:nvPr/>
        </p:nvSpPr>
        <p:spPr>
          <a:xfrm rot="0">
            <a:off x="2436588" y="2294655"/>
            <a:ext cx="13414823" cy="2582756"/>
          </a:xfrm>
          <a:prstGeom prst="rect">
            <a:avLst/>
          </a:prstGeom>
        </p:spPr>
        <p:txBody>
          <a:bodyPr anchor="t" rtlCol="false" tIns="0" lIns="0" bIns="0" rIns="0">
            <a:spAutoFit/>
          </a:bodyPr>
          <a:lstStyle/>
          <a:p>
            <a:pPr algn="just" marL="944701" indent="-472351" lvl="1">
              <a:lnSpc>
                <a:spcPts val="10939"/>
              </a:lnSpc>
              <a:buFont typeface="Arial"/>
              <a:buChar char="•"/>
            </a:pPr>
            <a:r>
              <a:rPr lang="en-US" sz="4375" spc="-13">
                <a:solidFill>
                  <a:srgbClr val="FFFFFF"/>
                </a:solidFill>
                <a:latin typeface="Knockout Cruiserweight"/>
                <a:ea typeface="Knockout Cruiserweight"/>
                <a:cs typeface="Knockout Cruiserweight"/>
                <a:sym typeface="Knockout Cruiserweight"/>
              </a:rPr>
              <a:t>Full Fine Tuning (Instruction fine-tuning)</a:t>
            </a:r>
          </a:p>
          <a:p>
            <a:pPr algn="just" marL="944701" indent="-472351" lvl="1">
              <a:lnSpc>
                <a:spcPts val="10939"/>
              </a:lnSpc>
              <a:buFont typeface="Arial"/>
              <a:buChar char="•"/>
            </a:pPr>
            <a:r>
              <a:rPr lang="en-US" sz="4375" spc="-13">
                <a:solidFill>
                  <a:srgbClr val="FFFFFF"/>
                </a:solidFill>
                <a:latin typeface="Knockout Cruiserweight"/>
                <a:ea typeface="Knockout Cruiserweight"/>
                <a:cs typeface="Knockout Cruiserweight"/>
                <a:sym typeface="Knockout Cruiserweight"/>
              </a:rPr>
              <a:t>Parameter Efficient Fine-Tuning (PEFT) </a:t>
            </a:r>
          </a:p>
        </p:txBody>
      </p:sp>
      <p:sp>
        <p:nvSpPr>
          <p:cNvPr name="TextBox 5" id="5"/>
          <p:cNvSpPr txBox="true"/>
          <p:nvPr/>
        </p:nvSpPr>
        <p:spPr>
          <a:xfrm rot="0">
            <a:off x="8268305" y="8896033"/>
            <a:ext cx="10019695" cy="848360"/>
          </a:xfrm>
          <a:prstGeom prst="rect">
            <a:avLst/>
          </a:prstGeom>
        </p:spPr>
        <p:txBody>
          <a:bodyPr anchor="t" rtlCol="false" tIns="0" lIns="0" bIns="0" rIns="0">
            <a:spAutoFit/>
          </a:bodyPr>
          <a:lstStyle/>
          <a:p>
            <a:pPr algn="l" marL="0" indent="0" lvl="0">
              <a:lnSpc>
                <a:spcPts val="6399"/>
              </a:lnSpc>
              <a:spcBef>
                <a:spcPct val="0"/>
              </a:spcBef>
            </a:pPr>
            <a:r>
              <a:rPr lang="en-US" sz="6399">
                <a:solidFill>
                  <a:srgbClr val="FFFFFF"/>
                </a:solidFill>
                <a:latin typeface="Knockout Cruiserweight"/>
                <a:ea typeface="Knockout Cruiserweight"/>
                <a:cs typeface="Knockout Cruiserweight"/>
                <a:sym typeface="Knockout Cruiserweight"/>
              </a:rPr>
              <a:t>FINE TUNING METHODS</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1C1920"/>
        </a:solidFill>
      </p:bgPr>
    </p:bg>
    <p:spTree>
      <p:nvGrpSpPr>
        <p:cNvPr id="1" name=""/>
        <p:cNvGrpSpPr/>
        <p:nvPr/>
      </p:nvGrpSpPr>
      <p:grpSpPr>
        <a:xfrm>
          <a:off x="0" y="0"/>
          <a:ext cx="0" cy="0"/>
          <a:chOff x="0" y="0"/>
          <a:chExt cx="0" cy="0"/>
        </a:xfrm>
      </p:grpSpPr>
      <p:grpSp>
        <p:nvGrpSpPr>
          <p:cNvPr name="Group 2" id="2"/>
          <p:cNvGrpSpPr/>
          <p:nvPr/>
        </p:nvGrpSpPr>
        <p:grpSpPr>
          <a:xfrm rot="0">
            <a:off x="-1654874" y="8541434"/>
            <a:ext cx="21731927" cy="2646012"/>
            <a:chOff x="0" y="0"/>
            <a:chExt cx="29495140" cy="3591236"/>
          </a:xfrm>
        </p:grpSpPr>
        <p:sp>
          <p:nvSpPr>
            <p:cNvPr name="Freeform 3" id="3"/>
            <p:cNvSpPr/>
            <p:nvPr/>
          </p:nvSpPr>
          <p:spPr>
            <a:xfrm flipH="false" flipV="false" rot="0">
              <a:off x="0" y="0"/>
              <a:ext cx="29495139" cy="3591237"/>
            </a:xfrm>
            <a:custGeom>
              <a:avLst/>
              <a:gdLst/>
              <a:ahLst/>
              <a:cxnLst/>
              <a:rect r="r" b="b" t="t" l="l"/>
              <a:pathLst>
                <a:path h="3591237" w="29495139">
                  <a:moveTo>
                    <a:pt x="0" y="0"/>
                  </a:moveTo>
                  <a:lnTo>
                    <a:pt x="29495139" y="0"/>
                  </a:lnTo>
                  <a:lnTo>
                    <a:pt x="29495139" y="3591237"/>
                  </a:lnTo>
                  <a:lnTo>
                    <a:pt x="0" y="3591237"/>
                  </a:lnTo>
                  <a:close/>
                </a:path>
              </a:pathLst>
            </a:custGeom>
            <a:solidFill>
              <a:srgbClr val="000000"/>
            </a:solidFill>
          </p:spPr>
        </p:sp>
      </p:grpSp>
      <p:sp>
        <p:nvSpPr>
          <p:cNvPr name="TextBox 4" id="4"/>
          <p:cNvSpPr txBox="true"/>
          <p:nvPr/>
        </p:nvSpPr>
        <p:spPr>
          <a:xfrm rot="0">
            <a:off x="455066" y="280833"/>
            <a:ext cx="17377868" cy="7613128"/>
          </a:xfrm>
          <a:prstGeom prst="rect">
            <a:avLst/>
          </a:prstGeom>
        </p:spPr>
        <p:txBody>
          <a:bodyPr anchor="t" rtlCol="false" tIns="0" lIns="0" bIns="0" rIns="0">
            <a:spAutoFit/>
          </a:bodyPr>
          <a:lstStyle/>
          <a:p>
            <a:pPr algn="just" marL="790701" indent="-395350" lvl="1">
              <a:lnSpc>
                <a:spcPts val="7617"/>
              </a:lnSpc>
              <a:buFont typeface="Arial"/>
              <a:buChar char="•"/>
            </a:pPr>
            <a:r>
              <a:rPr lang="en-US" sz="3662" spc="-10">
                <a:solidFill>
                  <a:srgbClr val="FFFFFF"/>
                </a:solidFill>
                <a:latin typeface="Knockout Cruiserweight"/>
                <a:ea typeface="Knockout Cruiserweight"/>
                <a:cs typeface="Knockout Cruiserweight"/>
                <a:sym typeface="Knockout Cruiserweight"/>
              </a:rPr>
              <a:t>Instruction fine-tuning is a strategy to enhance a model’s performance across various tasks by training it on examples that guide its responses to queries. </a:t>
            </a:r>
          </a:p>
          <a:p>
            <a:pPr algn="just">
              <a:lnSpc>
                <a:spcPts val="7617"/>
              </a:lnSpc>
            </a:pPr>
          </a:p>
          <a:p>
            <a:pPr algn="just" marL="790701" indent="-395350" lvl="1">
              <a:lnSpc>
                <a:spcPts val="7617"/>
              </a:lnSpc>
              <a:buFont typeface="Arial"/>
              <a:buChar char="•"/>
            </a:pPr>
            <a:r>
              <a:rPr lang="en-US" sz="3662" spc="-10">
                <a:solidFill>
                  <a:srgbClr val="FFFFFF"/>
                </a:solidFill>
                <a:latin typeface="Knockout Cruiserweight"/>
                <a:ea typeface="Knockout Cruiserweight"/>
                <a:cs typeface="Knockout Cruiserweight"/>
                <a:sym typeface="Knockout Cruiserweight"/>
              </a:rPr>
              <a:t>T</a:t>
            </a:r>
            <a:r>
              <a:rPr lang="en-US" sz="3662" spc="-10">
                <a:solidFill>
                  <a:srgbClr val="FFFFFF"/>
                </a:solidFill>
                <a:latin typeface="Knockout Cruiserweight"/>
                <a:ea typeface="Knockout Cruiserweight"/>
                <a:cs typeface="Knockout Cruiserweight"/>
                <a:sym typeface="Knockout Cruiserweight"/>
              </a:rPr>
              <a:t>he choice of the dataset is crucial and tailored to the specific task, such as summarization or translation. </a:t>
            </a:r>
          </a:p>
          <a:p>
            <a:pPr algn="just">
              <a:lnSpc>
                <a:spcPts val="7617"/>
              </a:lnSpc>
            </a:pPr>
          </a:p>
          <a:p>
            <a:pPr algn="just" marL="790701" indent="-395350" lvl="1">
              <a:lnSpc>
                <a:spcPts val="7617"/>
              </a:lnSpc>
              <a:buFont typeface="Arial"/>
              <a:buChar char="•"/>
            </a:pPr>
            <a:r>
              <a:rPr lang="en-US" sz="3662" spc="-10">
                <a:solidFill>
                  <a:srgbClr val="FFFFFF"/>
                </a:solidFill>
                <a:latin typeface="Knockout Cruiserweight"/>
                <a:ea typeface="Knockout Cruiserweight"/>
                <a:cs typeface="Knockout Cruiserweight"/>
                <a:sym typeface="Knockout Cruiserweight"/>
              </a:rPr>
              <a:t>This approach, known as full fine-tuning, updates all model weights, creating a new version with improved capabilities. </a:t>
            </a:r>
          </a:p>
        </p:txBody>
      </p:sp>
      <p:sp>
        <p:nvSpPr>
          <p:cNvPr name="TextBox 5" id="5"/>
          <p:cNvSpPr txBox="true"/>
          <p:nvPr/>
        </p:nvSpPr>
        <p:spPr>
          <a:xfrm rot="0">
            <a:off x="2867037" y="9107049"/>
            <a:ext cx="16149750" cy="671666"/>
          </a:xfrm>
          <a:prstGeom prst="rect">
            <a:avLst/>
          </a:prstGeom>
        </p:spPr>
        <p:txBody>
          <a:bodyPr anchor="t" rtlCol="false" tIns="0" lIns="0" bIns="0" rIns="0">
            <a:spAutoFit/>
          </a:bodyPr>
          <a:lstStyle/>
          <a:p>
            <a:pPr algn="l" marL="0" indent="0" lvl="0">
              <a:lnSpc>
                <a:spcPts val="5069"/>
              </a:lnSpc>
              <a:spcBef>
                <a:spcPct val="0"/>
              </a:spcBef>
            </a:pPr>
            <a:r>
              <a:rPr lang="en-US" sz="5069">
                <a:solidFill>
                  <a:srgbClr val="FFFFFF"/>
                </a:solidFill>
                <a:latin typeface="Knockout Cruiserweight"/>
                <a:ea typeface="Knockout Cruiserweight"/>
                <a:cs typeface="Knockout Cruiserweight"/>
                <a:sym typeface="Knockout Cruiserweight"/>
              </a:rPr>
              <a:t>FULL FINE TUNING (INSTRUCTION FINE-TUNING)</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C1920"/>
        </a:solidFill>
      </p:bgPr>
    </p:bg>
    <p:spTree>
      <p:nvGrpSpPr>
        <p:cNvPr id="1" name=""/>
        <p:cNvGrpSpPr/>
        <p:nvPr/>
      </p:nvGrpSpPr>
      <p:grpSpPr>
        <a:xfrm>
          <a:off x="0" y="0"/>
          <a:ext cx="0" cy="0"/>
          <a:chOff x="0" y="0"/>
          <a:chExt cx="0" cy="0"/>
        </a:xfrm>
      </p:grpSpPr>
      <p:grpSp>
        <p:nvGrpSpPr>
          <p:cNvPr name="Group 2" id="2"/>
          <p:cNvGrpSpPr/>
          <p:nvPr/>
        </p:nvGrpSpPr>
        <p:grpSpPr>
          <a:xfrm rot="0">
            <a:off x="-1654874" y="8541434"/>
            <a:ext cx="21731927" cy="2646012"/>
            <a:chOff x="0" y="0"/>
            <a:chExt cx="29495140" cy="3591236"/>
          </a:xfrm>
        </p:grpSpPr>
        <p:sp>
          <p:nvSpPr>
            <p:cNvPr name="Freeform 3" id="3"/>
            <p:cNvSpPr/>
            <p:nvPr/>
          </p:nvSpPr>
          <p:spPr>
            <a:xfrm flipH="false" flipV="false" rot="0">
              <a:off x="0" y="0"/>
              <a:ext cx="29495139" cy="3591237"/>
            </a:xfrm>
            <a:custGeom>
              <a:avLst/>
              <a:gdLst/>
              <a:ahLst/>
              <a:cxnLst/>
              <a:rect r="r" b="b" t="t" l="l"/>
              <a:pathLst>
                <a:path h="3591237" w="29495139">
                  <a:moveTo>
                    <a:pt x="0" y="0"/>
                  </a:moveTo>
                  <a:lnTo>
                    <a:pt x="29495139" y="0"/>
                  </a:lnTo>
                  <a:lnTo>
                    <a:pt x="29495139" y="3591237"/>
                  </a:lnTo>
                  <a:lnTo>
                    <a:pt x="0" y="3591237"/>
                  </a:lnTo>
                  <a:close/>
                </a:path>
              </a:pathLst>
            </a:custGeom>
            <a:solidFill>
              <a:srgbClr val="000000"/>
            </a:solidFill>
          </p:spPr>
        </p:sp>
      </p:grpSp>
      <p:sp>
        <p:nvSpPr>
          <p:cNvPr name="Freeform 4" id="4"/>
          <p:cNvSpPr/>
          <p:nvPr/>
        </p:nvSpPr>
        <p:spPr>
          <a:xfrm flipH="false" flipV="false" rot="0">
            <a:off x="6346916" y="4123056"/>
            <a:ext cx="11941084" cy="4418377"/>
          </a:xfrm>
          <a:custGeom>
            <a:avLst/>
            <a:gdLst/>
            <a:ahLst/>
            <a:cxnLst/>
            <a:rect r="r" b="b" t="t" l="l"/>
            <a:pathLst>
              <a:path h="4418377" w="11941084">
                <a:moveTo>
                  <a:pt x="0" y="0"/>
                </a:moveTo>
                <a:lnTo>
                  <a:pt x="11941084" y="0"/>
                </a:lnTo>
                <a:lnTo>
                  <a:pt x="11941084" y="4418378"/>
                </a:lnTo>
                <a:lnTo>
                  <a:pt x="0" y="4418378"/>
                </a:lnTo>
                <a:lnTo>
                  <a:pt x="0" y="0"/>
                </a:lnTo>
                <a:close/>
              </a:path>
            </a:pathLst>
          </a:custGeom>
          <a:blipFill>
            <a:blip r:embed="rId2"/>
            <a:stretch>
              <a:fillRect l="0" t="-27913" r="0" b="-24107"/>
            </a:stretch>
          </a:blipFill>
        </p:spPr>
      </p:sp>
      <p:sp>
        <p:nvSpPr>
          <p:cNvPr name="TextBox 5" id="5"/>
          <p:cNvSpPr txBox="true"/>
          <p:nvPr/>
        </p:nvSpPr>
        <p:spPr>
          <a:xfrm rot="0">
            <a:off x="455066" y="242733"/>
            <a:ext cx="17377868" cy="3098817"/>
          </a:xfrm>
          <a:prstGeom prst="rect">
            <a:avLst/>
          </a:prstGeom>
        </p:spPr>
        <p:txBody>
          <a:bodyPr anchor="t" rtlCol="false" tIns="0" lIns="0" bIns="0" rIns="0">
            <a:spAutoFit/>
          </a:bodyPr>
          <a:lstStyle/>
          <a:p>
            <a:pPr algn="just" marL="877060" indent="-438530" lvl="1">
              <a:lnSpc>
                <a:spcPts val="8449"/>
              </a:lnSpc>
              <a:buFont typeface="Arial"/>
              <a:buChar char="•"/>
            </a:pPr>
            <a:r>
              <a:rPr lang="en-US" sz="4062" spc="-12">
                <a:solidFill>
                  <a:srgbClr val="FFFFFF"/>
                </a:solidFill>
                <a:latin typeface="Knockout Cruiserweight"/>
                <a:ea typeface="Knockout Cruiserweight"/>
                <a:cs typeface="Knockout Cruiserweight"/>
                <a:sym typeface="Knockout Cruiserweight"/>
              </a:rPr>
              <a:t>However, it demands sufficient memory and computational resources, similar to pre-training, to handle the storage and processing of gradients, optimizers, and other components during training.</a:t>
            </a:r>
          </a:p>
        </p:txBody>
      </p:sp>
      <p:sp>
        <p:nvSpPr>
          <p:cNvPr name="TextBox 6" id="6"/>
          <p:cNvSpPr txBox="true"/>
          <p:nvPr/>
        </p:nvSpPr>
        <p:spPr>
          <a:xfrm rot="0">
            <a:off x="2867037" y="9107049"/>
            <a:ext cx="16149750" cy="671666"/>
          </a:xfrm>
          <a:prstGeom prst="rect">
            <a:avLst/>
          </a:prstGeom>
        </p:spPr>
        <p:txBody>
          <a:bodyPr anchor="t" rtlCol="false" tIns="0" lIns="0" bIns="0" rIns="0">
            <a:spAutoFit/>
          </a:bodyPr>
          <a:lstStyle/>
          <a:p>
            <a:pPr algn="l" marL="0" indent="0" lvl="0">
              <a:lnSpc>
                <a:spcPts val="5069"/>
              </a:lnSpc>
              <a:spcBef>
                <a:spcPct val="0"/>
              </a:spcBef>
            </a:pPr>
            <a:r>
              <a:rPr lang="en-US" sz="5069">
                <a:solidFill>
                  <a:srgbClr val="FFFFFF"/>
                </a:solidFill>
                <a:latin typeface="Knockout Cruiserweight"/>
                <a:ea typeface="Knockout Cruiserweight"/>
                <a:cs typeface="Knockout Cruiserweight"/>
                <a:sym typeface="Knockout Cruiserweight"/>
              </a:rPr>
              <a:t>FULL FINE TUNING (INSTRUCTION FINE-TUNING)</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1C1920"/>
        </a:solidFill>
      </p:bgPr>
    </p:bg>
    <p:spTree>
      <p:nvGrpSpPr>
        <p:cNvPr id="1" name=""/>
        <p:cNvGrpSpPr/>
        <p:nvPr/>
      </p:nvGrpSpPr>
      <p:grpSpPr>
        <a:xfrm>
          <a:off x="0" y="0"/>
          <a:ext cx="0" cy="0"/>
          <a:chOff x="0" y="0"/>
          <a:chExt cx="0" cy="0"/>
        </a:xfrm>
      </p:grpSpPr>
      <p:grpSp>
        <p:nvGrpSpPr>
          <p:cNvPr name="Group 2" id="2"/>
          <p:cNvGrpSpPr/>
          <p:nvPr/>
        </p:nvGrpSpPr>
        <p:grpSpPr>
          <a:xfrm rot="0">
            <a:off x="-1654874" y="8541434"/>
            <a:ext cx="21731927" cy="2646012"/>
            <a:chOff x="0" y="0"/>
            <a:chExt cx="29495140" cy="3591236"/>
          </a:xfrm>
        </p:grpSpPr>
        <p:sp>
          <p:nvSpPr>
            <p:cNvPr name="Freeform 3" id="3"/>
            <p:cNvSpPr/>
            <p:nvPr/>
          </p:nvSpPr>
          <p:spPr>
            <a:xfrm flipH="false" flipV="false" rot="0">
              <a:off x="0" y="0"/>
              <a:ext cx="29495139" cy="3591237"/>
            </a:xfrm>
            <a:custGeom>
              <a:avLst/>
              <a:gdLst/>
              <a:ahLst/>
              <a:cxnLst/>
              <a:rect r="r" b="b" t="t" l="l"/>
              <a:pathLst>
                <a:path h="3591237" w="29495139">
                  <a:moveTo>
                    <a:pt x="0" y="0"/>
                  </a:moveTo>
                  <a:lnTo>
                    <a:pt x="29495139" y="0"/>
                  </a:lnTo>
                  <a:lnTo>
                    <a:pt x="29495139" y="3591237"/>
                  </a:lnTo>
                  <a:lnTo>
                    <a:pt x="0" y="3591237"/>
                  </a:lnTo>
                  <a:close/>
                </a:path>
              </a:pathLst>
            </a:custGeom>
            <a:solidFill>
              <a:srgbClr val="000000"/>
            </a:solidFill>
          </p:spPr>
        </p:sp>
      </p:grpSp>
      <p:sp>
        <p:nvSpPr>
          <p:cNvPr name="TextBox 4" id="4"/>
          <p:cNvSpPr txBox="true"/>
          <p:nvPr/>
        </p:nvSpPr>
        <p:spPr>
          <a:xfrm rot="0">
            <a:off x="57150" y="385608"/>
            <a:ext cx="17658171" cy="7838291"/>
          </a:xfrm>
          <a:prstGeom prst="rect">
            <a:avLst/>
          </a:prstGeom>
        </p:spPr>
        <p:txBody>
          <a:bodyPr anchor="t" rtlCol="false" tIns="0" lIns="0" bIns="0" rIns="0">
            <a:spAutoFit/>
          </a:bodyPr>
          <a:lstStyle/>
          <a:p>
            <a:pPr algn="just" marL="877060" indent="-438530" lvl="1">
              <a:lnSpc>
                <a:spcPts val="6905"/>
              </a:lnSpc>
              <a:buFont typeface="Arial"/>
              <a:buChar char="•"/>
            </a:pPr>
            <a:r>
              <a:rPr lang="en-US" sz="4062" spc="-12">
                <a:solidFill>
                  <a:srgbClr val="FFFFFF"/>
                </a:solidFill>
                <a:latin typeface="Knockout Cruiserweight"/>
                <a:ea typeface="Knockout Cruiserweight"/>
                <a:cs typeface="Knockout Cruiserweight"/>
                <a:sym typeface="Knockout Cruiserweight"/>
              </a:rPr>
              <a:t>Parameter Efficient Fine-Tuning (PEFT) is a form of instruction fine-tuning that is much more efficient than full fine-tuning. </a:t>
            </a:r>
          </a:p>
          <a:p>
            <a:pPr algn="just">
              <a:lnSpc>
                <a:spcPts val="6905"/>
              </a:lnSpc>
            </a:pPr>
          </a:p>
          <a:p>
            <a:pPr algn="just" marL="877060" indent="-438530" lvl="1">
              <a:lnSpc>
                <a:spcPts val="6905"/>
              </a:lnSpc>
              <a:buFont typeface="Arial"/>
              <a:buChar char="•"/>
            </a:pPr>
            <a:r>
              <a:rPr lang="en-US" sz="4062" spc="-12">
                <a:solidFill>
                  <a:srgbClr val="FFFFFF"/>
                </a:solidFill>
                <a:latin typeface="Knockout Cruiserweight"/>
                <a:ea typeface="Knockout Cruiserweight"/>
                <a:cs typeface="Knockout Cruiserweight"/>
                <a:sym typeface="Knockout Cruiserweight"/>
              </a:rPr>
              <a:t>Training a language model, especially for full LLM fine-tuning, demands significant computational resources. </a:t>
            </a:r>
          </a:p>
          <a:p>
            <a:pPr algn="just">
              <a:lnSpc>
                <a:spcPts val="6905"/>
              </a:lnSpc>
            </a:pPr>
          </a:p>
          <a:p>
            <a:pPr algn="just" marL="877060" indent="-438530" lvl="1">
              <a:lnSpc>
                <a:spcPts val="6905"/>
              </a:lnSpc>
              <a:buFont typeface="Arial"/>
              <a:buChar char="•"/>
            </a:pPr>
            <a:r>
              <a:rPr lang="en-US" sz="4062" spc="-12">
                <a:solidFill>
                  <a:srgbClr val="FFFFFF"/>
                </a:solidFill>
                <a:latin typeface="Knockout Cruiserweight"/>
                <a:ea typeface="Knockout Cruiserweight"/>
                <a:cs typeface="Knockout Cruiserweight"/>
                <a:sym typeface="Knockout Cruiserweight"/>
              </a:rPr>
              <a:t>Memory allocation is not only required for storing the model but also for essential parameters during training, presenting a challenge for simple hardware.</a:t>
            </a:r>
          </a:p>
        </p:txBody>
      </p:sp>
      <p:sp>
        <p:nvSpPr>
          <p:cNvPr name="TextBox 5" id="5"/>
          <p:cNvSpPr txBox="true"/>
          <p:nvPr/>
        </p:nvSpPr>
        <p:spPr>
          <a:xfrm rot="0">
            <a:off x="3820067" y="9107049"/>
            <a:ext cx="15196720" cy="671666"/>
          </a:xfrm>
          <a:prstGeom prst="rect">
            <a:avLst/>
          </a:prstGeom>
        </p:spPr>
        <p:txBody>
          <a:bodyPr anchor="t" rtlCol="false" tIns="0" lIns="0" bIns="0" rIns="0">
            <a:spAutoFit/>
          </a:bodyPr>
          <a:lstStyle/>
          <a:p>
            <a:pPr algn="l" marL="0" indent="0" lvl="0">
              <a:lnSpc>
                <a:spcPts val="5069"/>
              </a:lnSpc>
              <a:spcBef>
                <a:spcPct val="0"/>
              </a:spcBef>
            </a:pPr>
            <a:r>
              <a:rPr lang="en-US" sz="5069">
                <a:solidFill>
                  <a:srgbClr val="FFFFFF"/>
                </a:solidFill>
                <a:latin typeface="Knockout Cruiserweight"/>
                <a:ea typeface="Knockout Cruiserweight"/>
                <a:cs typeface="Knockout Cruiserweight"/>
                <a:sym typeface="Knockout Cruiserweight"/>
              </a:rPr>
              <a:t>PARAMETER EFFICIENT FINE-TUNING (PEFT)</a:t>
            </a:r>
            <a:r>
              <a:rPr lang="en-US" sz="5069">
                <a:solidFill>
                  <a:srgbClr val="FFFFFF"/>
                </a:solidFill>
                <a:latin typeface="Knockout Cruiserweight"/>
                <a:ea typeface="Knockout Cruiserweight"/>
                <a:cs typeface="Knockout Cruiserweight"/>
                <a:sym typeface="Knockout Cruiserweight"/>
              </a:rPr>
              <a:t> </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1C1920"/>
        </a:solidFill>
      </p:bgPr>
    </p:bg>
    <p:spTree>
      <p:nvGrpSpPr>
        <p:cNvPr id="1" name=""/>
        <p:cNvGrpSpPr/>
        <p:nvPr/>
      </p:nvGrpSpPr>
      <p:grpSpPr>
        <a:xfrm>
          <a:off x="0" y="0"/>
          <a:ext cx="0" cy="0"/>
          <a:chOff x="0" y="0"/>
          <a:chExt cx="0" cy="0"/>
        </a:xfrm>
      </p:grpSpPr>
      <p:grpSp>
        <p:nvGrpSpPr>
          <p:cNvPr name="Group 2" id="2"/>
          <p:cNvGrpSpPr/>
          <p:nvPr/>
        </p:nvGrpSpPr>
        <p:grpSpPr>
          <a:xfrm rot="0">
            <a:off x="-1654874" y="8541434"/>
            <a:ext cx="21731927" cy="2646012"/>
            <a:chOff x="0" y="0"/>
            <a:chExt cx="29495140" cy="3591236"/>
          </a:xfrm>
        </p:grpSpPr>
        <p:sp>
          <p:nvSpPr>
            <p:cNvPr name="Freeform 3" id="3"/>
            <p:cNvSpPr/>
            <p:nvPr/>
          </p:nvSpPr>
          <p:spPr>
            <a:xfrm flipH="false" flipV="false" rot="0">
              <a:off x="0" y="0"/>
              <a:ext cx="29495139" cy="3591237"/>
            </a:xfrm>
            <a:custGeom>
              <a:avLst/>
              <a:gdLst/>
              <a:ahLst/>
              <a:cxnLst/>
              <a:rect r="r" b="b" t="t" l="l"/>
              <a:pathLst>
                <a:path h="3591237" w="29495139">
                  <a:moveTo>
                    <a:pt x="0" y="0"/>
                  </a:moveTo>
                  <a:lnTo>
                    <a:pt x="29495139" y="0"/>
                  </a:lnTo>
                  <a:lnTo>
                    <a:pt x="29495139" y="3591237"/>
                  </a:lnTo>
                  <a:lnTo>
                    <a:pt x="0" y="3591237"/>
                  </a:lnTo>
                  <a:close/>
                </a:path>
              </a:pathLst>
            </a:custGeom>
            <a:solidFill>
              <a:srgbClr val="000000"/>
            </a:solidFill>
          </p:spPr>
        </p:sp>
      </p:grpSp>
      <p:sp>
        <p:nvSpPr>
          <p:cNvPr name="TextBox 4" id="4"/>
          <p:cNvSpPr txBox="true"/>
          <p:nvPr/>
        </p:nvSpPr>
        <p:spPr>
          <a:xfrm rot="0">
            <a:off x="455066" y="458540"/>
            <a:ext cx="17377868" cy="7238475"/>
          </a:xfrm>
          <a:prstGeom prst="rect">
            <a:avLst/>
          </a:prstGeom>
        </p:spPr>
        <p:txBody>
          <a:bodyPr anchor="t" rtlCol="false" tIns="0" lIns="0" bIns="0" rIns="0">
            <a:spAutoFit/>
          </a:bodyPr>
          <a:lstStyle/>
          <a:p>
            <a:pPr algn="just" marL="920239" indent="-460120" lvl="1">
              <a:lnSpc>
                <a:spcPts val="8268"/>
              </a:lnSpc>
              <a:buFont typeface="Arial"/>
              <a:buChar char="•"/>
            </a:pPr>
            <a:r>
              <a:rPr lang="en-US" sz="4262" spc="-12">
                <a:solidFill>
                  <a:srgbClr val="FFFFFF"/>
                </a:solidFill>
                <a:latin typeface="Knockout Cruiserweight"/>
                <a:ea typeface="Knockout Cruiserweight"/>
                <a:cs typeface="Knockout Cruiserweight"/>
                <a:sym typeface="Knockout Cruiserweight"/>
              </a:rPr>
              <a:t>PEFT addresses this by updating only a subset of parameters, effectively “freezing” the rest. </a:t>
            </a:r>
          </a:p>
          <a:p>
            <a:pPr algn="just">
              <a:lnSpc>
                <a:spcPts val="8268"/>
              </a:lnSpc>
            </a:pPr>
          </a:p>
          <a:p>
            <a:pPr algn="just" marL="920239" indent="-460120" lvl="1">
              <a:lnSpc>
                <a:spcPts val="8268"/>
              </a:lnSpc>
              <a:buFont typeface="Arial"/>
              <a:buChar char="•"/>
            </a:pPr>
            <a:r>
              <a:rPr lang="en-US" sz="4262" spc="-12">
                <a:solidFill>
                  <a:srgbClr val="FFFFFF"/>
                </a:solidFill>
                <a:latin typeface="Knockout Cruiserweight"/>
                <a:ea typeface="Knockout Cruiserweight"/>
                <a:cs typeface="Knockout Cruiserweight"/>
                <a:sym typeface="Knockout Cruiserweight"/>
              </a:rPr>
              <a:t>This reduces the number of trainable parameters, making memory requirements more manageable and preventing catastrophic forgetting. Unlike full fine-tuning, PEFT maintains the original LLM weights, avoiding the loss of previously learned information. </a:t>
            </a:r>
          </a:p>
        </p:txBody>
      </p:sp>
      <p:sp>
        <p:nvSpPr>
          <p:cNvPr name="TextBox 5" id="5"/>
          <p:cNvSpPr txBox="true"/>
          <p:nvPr/>
        </p:nvSpPr>
        <p:spPr>
          <a:xfrm rot="0">
            <a:off x="3820067" y="9107049"/>
            <a:ext cx="15196720" cy="671666"/>
          </a:xfrm>
          <a:prstGeom prst="rect">
            <a:avLst/>
          </a:prstGeom>
        </p:spPr>
        <p:txBody>
          <a:bodyPr anchor="t" rtlCol="false" tIns="0" lIns="0" bIns="0" rIns="0">
            <a:spAutoFit/>
          </a:bodyPr>
          <a:lstStyle/>
          <a:p>
            <a:pPr algn="l" marL="0" indent="0" lvl="0">
              <a:lnSpc>
                <a:spcPts val="5069"/>
              </a:lnSpc>
              <a:spcBef>
                <a:spcPct val="0"/>
              </a:spcBef>
            </a:pPr>
            <a:r>
              <a:rPr lang="en-US" sz="5069">
                <a:solidFill>
                  <a:srgbClr val="FFFFFF"/>
                </a:solidFill>
                <a:latin typeface="Knockout Cruiserweight"/>
                <a:ea typeface="Knockout Cruiserweight"/>
                <a:cs typeface="Knockout Cruiserweight"/>
                <a:sym typeface="Knockout Cruiserweight"/>
              </a:rPr>
              <a:t>PARAMETER EFFICIENT FINE-TUNING (PEFT)</a:t>
            </a:r>
            <a:r>
              <a:rPr lang="en-US" sz="5069">
                <a:solidFill>
                  <a:srgbClr val="FFFFFF"/>
                </a:solidFill>
                <a:latin typeface="Knockout Cruiserweight"/>
                <a:ea typeface="Knockout Cruiserweight"/>
                <a:cs typeface="Knockout Cruiserweight"/>
                <a:sym typeface="Knockout Cruiserweight"/>
              </a:rPr>
              <a:t> </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1C1920"/>
        </a:solidFill>
      </p:bgPr>
    </p:bg>
    <p:spTree>
      <p:nvGrpSpPr>
        <p:cNvPr id="1" name=""/>
        <p:cNvGrpSpPr/>
        <p:nvPr/>
      </p:nvGrpSpPr>
      <p:grpSpPr>
        <a:xfrm>
          <a:off x="0" y="0"/>
          <a:ext cx="0" cy="0"/>
          <a:chOff x="0" y="0"/>
          <a:chExt cx="0" cy="0"/>
        </a:xfrm>
      </p:grpSpPr>
      <p:grpSp>
        <p:nvGrpSpPr>
          <p:cNvPr name="Group 2" id="2"/>
          <p:cNvGrpSpPr/>
          <p:nvPr/>
        </p:nvGrpSpPr>
        <p:grpSpPr>
          <a:xfrm rot="0">
            <a:off x="-1654874" y="8541434"/>
            <a:ext cx="21731927" cy="2646012"/>
            <a:chOff x="0" y="0"/>
            <a:chExt cx="29495140" cy="3591236"/>
          </a:xfrm>
        </p:grpSpPr>
        <p:sp>
          <p:nvSpPr>
            <p:cNvPr name="Freeform 3" id="3"/>
            <p:cNvSpPr/>
            <p:nvPr/>
          </p:nvSpPr>
          <p:spPr>
            <a:xfrm flipH="false" flipV="false" rot="0">
              <a:off x="0" y="0"/>
              <a:ext cx="29495139" cy="3591237"/>
            </a:xfrm>
            <a:custGeom>
              <a:avLst/>
              <a:gdLst/>
              <a:ahLst/>
              <a:cxnLst/>
              <a:rect r="r" b="b" t="t" l="l"/>
              <a:pathLst>
                <a:path h="3591237" w="29495139">
                  <a:moveTo>
                    <a:pt x="0" y="0"/>
                  </a:moveTo>
                  <a:lnTo>
                    <a:pt x="29495139" y="0"/>
                  </a:lnTo>
                  <a:lnTo>
                    <a:pt x="29495139" y="3591237"/>
                  </a:lnTo>
                  <a:lnTo>
                    <a:pt x="0" y="3591237"/>
                  </a:lnTo>
                  <a:close/>
                </a:path>
              </a:pathLst>
            </a:custGeom>
            <a:solidFill>
              <a:srgbClr val="000000"/>
            </a:solidFill>
          </p:spPr>
        </p:sp>
      </p:grpSp>
      <p:sp>
        <p:nvSpPr>
          <p:cNvPr name="TextBox 4" id="4"/>
          <p:cNvSpPr txBox="true"/>
          <p:nvPr/>
        </p:nvSpPr>
        <p:spPr>
          <a:xfrm rot="0">
            <a:off x="455066" y="87027"/>
            <a:ext cx="17377868" cy="8286225"/>
          </a:xfrm>
          <a:prstGeom prst="rect">
            <a:avLst/>
          </a:prstGeom>
        </p:spPr>
        <p:txBody>
          <a:bodyPr anchor="t" rtlCol="false" tIns="0" lIns="0" bIns="0" rIns="0">
            <a:spAutoFit/>
          </a:bodyPr>
          <a:lstStyle/>
          <a:p>
            <a:pPr algn="just" marL="920239" indent="-460120" lvl="1">
              <a:lnSpc>
                <a:spcPts val="8268"/>
              </a:lnSpc>
              <a:buFont typeface="Arial"/>
              <a:buChar char="•"/>
            </a:pPr>
            <a:r>
              <a:rPr lang="en-US" sz="4262" spc="-12">
                <a:solidFill>
                  <a:srgbClr val="FFFFFF"/>
                </a:solidFill>
                <a:latin typeface="Knockout Cruiserweight"/>
                <a:ea typeface="Knockout Cruiserweight"/>
                <a:cs typeface="Knockout Cruiserweight"/>
                <a:sym typeface="Knockout Cruiserweight"/>
              </a:rPr>
              <a:t>This approach proves beneficial for handling storage issues when fine-tuning for multiple tasks. </a:t>
            </a:r>
          </a:p>
          <a:p>
            <a:pPr algn="just">
              <a:lnSpc>
                <a:spcPts val="8268"/>
              </a:lnSpc>
            </a:pPr>
          </a:p>
          <a:p>
            <a:pPr algn="just" marL="920239" indent="-460120" lvl="1">
              <a:lnSpc>
                <a:spcPts val="8268"/>
              </a:lnSpc>
              <a:buFont typeface="Arial"/>
              <a:buChar char="•"/>
            </a:pPr>
            <a:r>
              <a:rPr lang="en-US" sz="4262" spc="-12">
                <a:solidFill>
                  <a:srgbClr val="FFFFFF"/>
                </a:solidFill>
                <a:latin typeface="Knockout Cruiserweight"/>
                <a:ea typeface="Knockout Cruiserweight"/>
                <a:cs typeface="Knockout Cruiserweight"/>
                <a:sym typeface="Knockout Cruiserweight"/>
              </a:rPr>
              <a:t>There are various ways of achieving Parameter efficient fine-tuning. </a:t>
            </a:r>
          </a:p>
          <a:p>
            <a:pPr algn="just">
              <a:lnSpc>
                <a:spcPts val="8268"/>
              </a:lnSpc>
            </a:pPr>
          </a:p>
          <a:p>
            <a:pPr algn="just" marL="920239" indent="-460120" lvl="1">
              <a:lnSpc>
                <a:spcPts val="8268"/>
              </a:lnSpc>
              <a:buFont typeface="Arial"/>
              <a:buChar char="•"/>
            </a:pPr>
            <a:r>
              <a:rPr lang="en-US" sz="4262" spc="-12">
                <a:solidFill>
                  <a:srgbClr val="FFFFFF"/>
                </a:solidFill>
                <a:latin typeface="Knockout Cruiserweight"/>
                <a:ea typeface="Knockout Cruiserweight"/>
                <a:cs typeface="Knockout Cruiserweight"/>
                <a:sym typeface="Knockout Cruiserweight"/>
              </a:rPr>
              <a:t>Low-Rank Adaptation LoRA &amp; QLoRA are the most widely used and effective.</a:t>
            </a:r>
          </a:p>
        </p:txBody>
      </p:sp>
      <p:sp>
        <p:nvSpPr>
          <p:cNvPr name="TextBox 5" id="5"/>
          <p:cNvSpPr txBox="true"/>
          <p:nvPr/>
        </p:nvSpPr>
        <p:spPr>
          <a:xfrm rot="0">
            <a:off x="3820067" y="9107049"/>
            <a:ext cx="15196720" cy="671666"/>
          </a:xfrm>
          <a:prstGeom prst="rect">
            <a:avLst/>
          </a:prstGeom>
        </p:spPr>
        <p:txBody>
          <a:bodyPr anchor="t" rtlCol="false" tIns="0" lIns="0" bIns="0" rIns="0">
            <a:spAutoFit/>
          </a:bodyPr>
          <a:lstStyle/>
          <a:p>
            <a:pPr algn="l" marL="0" indent="0" lvl="0">
              <a:lnSpc>
                <a:spcPts val="5069"/>
              </a:lnSpc>
              <a:spcBef>
                <a:spcPct val="0"/>
              </a:spcBef>
            </a:pPr>
            <a:r>
              <a:rPr lang="en-US" sz="5069">
                <a:solidFill>
                  <a:srgbClr val="FFFFFF"/>
                </a:solidFill>
                <a:latin typeface="Knockout Cruiserweight"/>
                <a:ea typeface="Knockout Cruiserweight"/>
                <a:cs typeface="Knockout Cruiserweight"/>
                <a:sym typeface="Knockout Cruiserweight"/>
              </a:rPr>
              <a:t>PARAMETER EFFICIENT FINE-TUNING (PEFT)</a:t>
            </a:r>
            <a:r>
              <a:rPr lang="en-US" sz="5069">
                <a:solidFill>
                  <a:srgbClr val="FFFFFF"/>
                </a:solidFill>
                <a:latin typeface="Knockout Cruiserweight"/>
                <a:ea typeface="Knockout Cruiserweight"/>
                <a:cs typeface="Knockout Cruiserweight"/>
                <a:sym typeface="Knockout Cruiserweight"/>
              </a:rPr>
              <a:t>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C1920"/>
        </a:solidFill>
      </p:bgPr>
    </p:bg>
    <p:spTree>
      <p:nvGrpSpPr>
        <p:cNvPr id="1" name=""/>
        <p:cNvGrpSpPr/>
        <p:nvPr/>
      </p:nvGrpSpPr>
      <p:grpSpPr>
        <a:xfrm>
          <a:off x="0" y="0"/>
          <a:ext cx="0" cy="0"/>
          <a:chOff x="0" y="0"/>
          <a:chExt cx="0" cy="0"/>
        </a:xfrm>
      </p:grpSpPr>
      <p:grpSp>
        <p:nvGrpSpPr>
          <p:cNvPr name="Group 2" id="2"/>
          <p:cNvGrpSpPr/>
          <p:nvPr/>
        </p:nvGrpSpPr>
        <p:grpSpPr>
          <a:xfrm rot="0">
            <a:off x="-1654874" y="8541434"/>
            <a:ext cx="21731927" cy="2646012"/>
            <a:chOff x="0" y="0"/>
            <a:chExt cx="29495140" cy="3591236"/>
          </a:xfrm>
        </p:grpSpPr>
        <p:sp>
          <p:nvSpPr>
            <p:cNvPr name="Freeform 3" id="3"/>
            <p:cNvSpPr/>
            <p:nvPr/>
          </p:nvSpPr>
          <p:spPr>
            <a:xfrm flipH="false" flipV="false" rot="0">
              <a:off x="0" y="0"/>
              <a:ext cx="29495139" cy="3591237"/>
            </a:xfrm>
            <a:custGeom>
              <a:avLst/>
              <a:gdLst/>
              <a:ahLst/>
              <a:cxnLst/>
              <a:rect r="r" b="b" t="t" l="l"/>
              <a:pathLst>
                <a:path h="3591237" w="29495139">
                  <a:moveTo>
                    <a:pt x="0" y="0"/>
                  </a:moveTo>
                  <a:lnTo>
                    <a:pt x="29495139" y="0"/>
                  </a:lnTo>
                  <a:lnTo>
                    <a:pt x="29495139" y="3591237"/>
                  </a:lnTo>
                  <a:lnTo>
                    <a:pt x="0" y="3591237"/>
                  </a:lnTo>
                  <a:close/>
                </a:path>
              </a:pathLst>
            </a:custGeom>
            <a:solidFill>
              <a:srgbClr val="000000"/>
            </a:solidFill>
          </p:spPr>
        </p:sp>
      </p:grpSp>
      <p:sp>
        <p:nvSpPr>
          <p:cNvPr name="Freeform 4" id="4"/>
          <p:cNvSpPr/>
          <p:nvPr/>
        </p:nvSpPr>
        <p:spPr>
          <a:xfrm flipH="false" flipV="false" rot="0">
            <a:off x="3037046" y="2315507"/>
            <a:ext cx="12348086" cy="3896454"/>
          </a:xfrm>
          <a:custGeom>
            <a:avLst/>
            <a:gdLst/>
            <a:ahLst/>
            <a:cxnLst/>
            <a:rect r="r" b="b" t="t" l="l"/>
            <a:pathLst>
              <a:path h="3896454" w="12348086">
                <a:moveTo>
                  <a:pt x="0" y="0"/>
                </a:moveTo>
                <a:lnTo>
                  <a:pt x="12348087" y="0"/>
                </a:lnTo>
                <a:lnTo>
                  <a:pt x="12348087" y="3896453"/>
                </a:lnTo>
                <a:lnTo>
                  <a:pt x="0" y="3896453"/>
                </a:lnTo>
                <a:lnTo>
                  <a:pt x="0" y="0"/>
                </a:lnTo>
                <a:close/>
              </a:path>
            </a:pathLst>
          </a:custGeom>
          <a:blipFill>
            <a:blip r:embed="rId2"/>
            <a:stretch>
              <a:fillRect l="0" t="-11591" r="0" b="-24010"/>
            </a:stretch>
          </a:blipFill>
        </p:spPr>
      </p:sp>
      <p:sp>
        <p:nvSpPr>
          <p:cNvPr name="TextBox 5" id="5"/>
          <p:cNvSpPr txBox="true"/>
          <p:nvPr/>
        </p:nvSpPr>
        <p:spPr>
          <a:xfrm rot="0">
            <a:off x="3820067" y="9107049"/>
            <a:ext cx="15196720" cy="705358"/>
          </a:xfrm>
          <a:prstGeom prst="rect">
            <a:avLst/>
          </a:prstGeom>
        </p:spPr>
        <p:txBody>
          <a:bodyPr anchor="t" rtlCol="false" tIns="0" lIns="0" bIns="0" rIns="0">
            <a:spAutoFit/>
          </a:bodyPr>
          <a:lstStyle/>
          <a:p>
            <a:pPr algn="l" marL="0" indent="0" lvl="0">
              <a:lnSpc>
                <a:spcPts val="5269"/>
              </a:lnSpc>
              <a:spcBef>
                <a:spcPct val="0"/>
              </a:spcBef>
            </a:pPr>
            <a:r>
              <a:rPr lang="en-US" sz="5269">
                <a:solidFill>
                  <a:srgbClr val="FFFFFF"/>
                </a:solidFill>
                <a:latin typeface="Knockout Cruiserweight"/>
                <a:ea typeface="Knockout Cruiserweight"/>
                <a:cs typeface="Knockout Cruiserweight"/>
                <a:sym typeface="Knockout Cruiserweight"/>
              </a:rPr>
              <a:t>HUGGING FACE TRANSFORMERS LIBRARY</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C1920"/>
        </a:solidFill>
      </p:bgPr>
    </p:bg>
    <p:spTree>
      <p:nvGrpSpPr>
        <p:cNvPr id="1" name=""/>
        <p:cNvGrpSpPr/>
        <p:nvPr/>
      </p:nvGrpSpPr>
      <p:grpSpPr>
        <a:xfrm>
          <a:off x="0" y="0"/>
          <a:ext cx="0" cy="0"/>
          <a:chOff x="0" y="0"/>
          <a:chExt cx="0" cy="0"/>
        </a:xfrm>
      </p:grpSpPr>
      <p:grpSp>
        <p:nvGrpSpPr>
          <p:cNvPr name="Group 2" id="2"/>
          <p:cNvGrpSpPr/>
          <p:nvPr/>
        </p:nvGrpSpPr>
        <p:grpSpPr>
          <a:xfrm rot="0">
            <a:off x="-1654874" y="8541434"/>
            <a:ext cx="21731927" cy="2646012"/>
            <a:chOff x="0" y="0"/>
            <a:chExt cx="29495140" cy="3591236"/>
          </a:xfrm>
        </p:grpSpPr>
        <p:sp>
          <p:nvSpPr>
            <p:cNvPr name="Freeform 3" id="3"/>
            <p:cNvSpPr/>
            <p:nvPr/>
          </p:nvSpPr>
          <p:spPr>
            <a:xfrm flipH="false" flipV="false" rot="0">
              <a:off x="0" y="0"/>
              <a:ext cx="29495139" cy="3591237"/>
            </a:xfrm>
            <a:custGeom>
              <a:avLst/>
              <a:gdLst/>
              <a:ahLst/>
              <a:cxnLst/>
              <a:rect r="r" b="b" t="t" l="l"/>
              <a:pathLst>
                <a:path h="3591237" w="29495139">
                  <a:moveTo>
                    <a:pt x="0" y="0"/>
                  </a:moveTo>
                  <a:lnTo>
                    <a:pt x="29495139" y="0"/>
                  </a:lnTo>
                  <a:lnTo>
                    <a:pt x="29495139" y="3591237"/>
                  </a:lnTo>
                  <a:lnTo>
                    <a:pt x="0" y="3591237"/>
                  </a:lnTo>
                  <a:close/>
                </a:path>
              </a:pathLst>
            </a:custGeom>
            <a:solidFill>
              <a:srgbClr val="000000"/>
            </a:solidFill>
          </p:spPr>
        </p:sp>
      </p:grpSp>
      <p:sp>
        <p:nvSpPr>
          <p:cNvPr name="Freeform 4" id="4"/>
          <p:cNvSpPr/>
          <p:nvPr/>
        </p:nvSpPr>
        <p:spPr>
          <a:xfrm flipH="false" flipV="false" rot="0">
            <a:off x="12849775" y="6031748"/>
            <a:ext cx="2034784" cy="2175523"/>
          </a:xfrm>
          <a:custGeom>
            <a:avLst/>
            <a:gdLst/>
            <a:ahLst/>
            <a:cxnLst/>
            <a:rect r="r" b="b" t="t" l="l"/>
            <a:pathLst>
              <a:path h="2175523" w="2034784">
                <a:moveTo>
                  <a:pt x="0" y="0"/>
                </a:moveTo>
                <a:lnTo>
                  <a:pt x="2034784" y="0"/>
                </a:lnTo>
                <a:lnTo>
                  <a:pt x="2034784" y="2175523"/>
                </a:lnTo>
                <a:lnTo>
                  <a:pt x="0" y="2175523"/>
                </a:lnTo>
                <a:lnTo>
                  <a:pt x="0" y="0"/>
                </a:lnTo>
                <a:close/>
              </a:path>
            </a:pathLst>
          </a:custGeom>
          <a:blipFill>
            <a:blip r:embed="rId2"/>
            <a:stretch>
              <a:fillRect l="0" t="0" r="0" b="0"/>
            </a:stretch>
          </a:blipFill>
        </p:spPr>
      </p:sp>
      <p:sp>
        <p:nvSpPr>
          <p:cNvPr name="TextBox 5" id="5"/>
          <p:cNvSpPr txBox="true"/>
          <p:nvPr/>
        </p:nvSpPr>
        <p:spPr>
          <a:xfrm rot="0">
            <a:off x="109310" y="199148"/>
            <a:ext cx="17574080" cy="6190725"/>
          </a:xfrm>
          <a:prstGeom prst="rect">
            <a:avLst/>
          </a:prstGeom>
        </p:spPr>
        <p:txBody>
          <a:bodyPr anchor="t" rtlCol="false" tIns="0" lIns="0" bIns="0" rIns="0">
            <a:spAutoFit/>
          </a:bodyPr>
          <a:lstStyle/>
          <a:p>
            <a:pPr algn="just" marL="920239" indent="-460120" lvl="1">
              <a:lnSpc>
                <a:spcPts val="8268"/>
              </a:lnSpc>
              <a:buFont typeface="Arial"/>
              <a:buChar char="•"/>
            </a:pPr>
            <a:r>
              <a:rPr lang="en-US" sz="4262" spc="-12">
                <a:solidFill>
                  <a:srgbClr val="FFFFFF"/>
                </a:solidFill>
                <a:latin typeface="Knockout Cruiserweight"/>
                <a:ea typeface="Knockout Cruiserweight"/>
                <a:cs typeface="Knockout Cruiserweight"/>
                <a:sym typeface="Knockout Cruiserweight"/>
              </a:rPr>
              <a:t>The Hugging Face Transformer Library is an open-source library that provides a vast array of pre-trained models primarily focused on NLP. </a:t>
            </a:r>
          </a:p>
          <a:p>
            <a:pPr algn="just">
              <a:lnSpc>
                <a:spcPts val="8268"/>
              </a:lnSpc>
            </a:pPr>
          </a:p>
          <a:p>
            <a:pPr algn="just" marL="920239" indent="-460120" lvl="1">
              <a:lnSpc>
                <a:spcPts val="8268"/>
              </a:lnSpc>
              <a:buFont typeface="Arial"/>
              <a:buChar char="•"/>
            </a:pPr>
            <a:r>
              <a:rPr lang="en-US" sz="4262" spc="-12">
                <a:solidFill>
                  <a:srgbClr val="FFFFFF"/>
                </a:solidFill>
                <a:latin typeface="Knockout Cruiserweight"/>
                <a:ea typeface="Knockout Cruiserweight"/>
                <a:cs typeface="Knockout Cruiserweight"/>
                <a:sym typeface="Knockout Cruiserweight"/>
              </a:rPr>
              <a:t>It’s built on PyTorch and TensorFlow, making it incredibly versatile and powerful.</a:t>
            </a:r>
          </a:p>
        </p:txBody>
      </p:sp>
      <p:sp>
        <p:nvSpPr>
          <p:cNvPr name="Freeform 6" id="6"/>
          <p:cNvSpPr/>
          <p:nvPr/>
        </p:nvSpPr>
        <p:spPr>
          <a:xfrm flipH="false" flipV="false" rot="0">
            <a:off x="15998418" y="5945757"/>
            <a:ext cx="1976467" cy="2347507"/>
          </a:xfrm>
          <a:custGeom>
            <a:avLst/>
            <a:gdLst/>
            <a:ahLst/>
            <a:cxnLst/>
            <a:rect r="r" b="b" t="t" l="l"/>
            <a:pathLst>
              <a:path h="2347507" w="1976467">
                <a:moveTo>
                  <a:pt x="0" y="0"/>
                </a:moveTo>
                <a:lnTo>
                  <a:pt x="1976468" y="0"/>
                </a:lnTo>
                <a:lnTo>
                  <a:pt x="1976468" y="2347506"/>
                </a:lnTo>
                <a:lnTo>
                  <a:pt x="0" y="2347506"/>
                </a:lnTo>
                <a:lnTo>
                  <a:pt x="0" y="0"/>
                </a:lnTo>
                <a:close/>
              </a:path>
            </a:pathLst>
          </a:custGeom>
          <a:blipFill>
            <a:blip r:embed="rId3"/>
            <a:stretch>
              <a:fillRect l="0" t="0" r="-488825" b="-22906"/>
            </a:stretch>
          </a:blipFill>
        </p:spPr>
      </p:sp>
      <p:sp>
        <p:nvSpPr>
          <p:cNvPr name="Freeform 7" id="7"/>
          <p:cNvSpPr/>
          <p:nvPr/>
        </p:nvSpPr>
        <p:spPr>
          <a:xfrm flipH="false" flipV="false" rot="0">
            <a:off x="9211089" y="5678736"/>
            <a:ext cx="2862697" cy="2862697"/>
          </a:xfrm>
          <a:custGeom>
            <a:avLst/>
            <a:gdLst/>
            <a:ahLst/>
            <a:cxnLst/>
            <a:rect r="r" b="b" t="t" l="l"/>
            <a:pathLst>
              <a:path h="2862697" w="2862697">
                <a:moveTo>
                  <a:pt x="0" y="0"/>
                </a:moveTo>
                <a:lnTo>
                  <a:pt x="2862698" y="0"/>
                </a:lnTo>
                <a:lnTo>
                  <a:pt x="2862698" y="2862698"/>
                </a:lnTo>
                <a:lnTo>
                  <a:pt x="0" y="2862698"/>
                </a:lnTo>
                <a:lnTo>
                  <a:pt x="0" y="0"/>
                </a:lnTo>
                <a:close/>
              </a:path>
            </a:pathLst>
          </a:custGeom>
          <a:blipFill>
            <a:blip r:embed="rId4"/>
            <a:stretch>
              <a:fillRect l="0" t="0" r="0" b="0"/>
            </a:stretch>
          </a:blipFill>
        </p:spPr>
      </p:sp>
      <p:sp>
        <p:nvSpPr>
          <p:cNvPr name="TextBox 8" id="8"/>
          <p:cNvSpPr txBox="true"/>
          <p:nvPr/>
        </p:nvSpPr>
        <p:spPr>
          <a:xfrm rot="0">
            <a:off x="3820067" y="9107049"/>
            <a:ext cx="15196720" cy="671666"/>
          </a:xfrm>
          <a:prstGeom prst="rect">
            <a:avLst/>
          </a:prstGeom>
        </p:spPr>
        <p:txBody>
          <a:bodyPr anchor="t" rtlCol="false" tIns="0" lIns="0" bIns="0" rIns="0">
            <a:spAutoFit/>
          </a:bodyPr>
          <a:lstStyle/>
          <a:p>
            <a:pPr algn="l" marL="0" indent="0" lvl="0">
              <a:lnSpc>
                <a:spcPts val="5069"/>
              </a:lnSpc>
              <a:spcBef>
                <a:spcPct val="0"/>
              </a:spcBef>
            </a:pPr>
            <a:r>
              <a:rPr lang="en-US" sz="5069">
                <a:solidFill>
                  <a:srgbClr val="FFFFFF"/>
                </a:solidFill>
                <a:latin typeface="Knockout Cruiserweight"/>
                <a:ea typeface="Knockout Cruiserweight"/>
                <a:cs typeface="Knockout Cruiserweight"/>
                <a:sym typeface="Knockout Cruiserweight"/>
              </a:rPr>
              <a:t>HUGGING FACE TRANSFORMERS LIBRARY</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C1920"/>
        </a:solidFill>
      </p:bgPr>
    </p:bg>
    <p:spTree>
      <p:nvGrpSpPr>
        <p:cNvPr id="1" name=""/>
        <p:cNvGrpSpPr/>
        <p:nvPr/>
      </p:nvGrpSpPr>
      <p:grpSpPr>
        <a:xfrm>
          <a:off x="0" y="0"/>
          <a:ext cx="0" cy="0"/>
          <a:chOff x="0" y="0"/>
          <a:chExt cx="0" cy="0"/>
        </a:xfrm>
      </p:grpSpPr>
      <p:grpSp>
        <p:nvGrpSpPr>
          <p:cNvPr name="Group 2" id="2"/>
          <p:cNvGrpSpPr/>
          <p:nvPr/>
        </p:nvGrpSpPr>
        <p:grpSpPr>
          <a:xfrm rot="0">
            <a:off x="-1654874" y="8541434"/>
            <a:ext cx="21731927" cy="2646012"/>
            <a:chOff x="0" y="0"/>
            <a:chExt cx="29495140" cy="3591236"/>
          </a:xfrm>
        </p:grpSpPr>
        <p:sp>
          <p:nvSpPr>
            <p:cNvPr name="Freeform 3" id="3"/>
            <p:cNvSpPr/>
            <p:nvPr/>
          </p:nvSpPr>
          <p:spPr>
            <a:xfrm flipH="false" flipV="false" rot="0">
              <a:off x="0" y="0"/>
              <a:ext cx="29495139" cy="3591237"/>
            </a:xfrm>
            <a:custGeom>
              <a:avLst/>
              <a:gdLst/>
              <a:ahLst/>
              <a:cxnLst/>
              <a:rect r="r" b="b" t="t" l="l"/>
              <a:pathLst>
                <a:path h="3591237" w="29495139">
                  <a:moveTo>
                    <a:pt x="0" y="0"/>
                  </a:moveTo>
                  <a:lnTo>
                    <a:pt x="29495139" y="0"/>
                  </a:lnTo>
                  <a:lnTo>
                    <a:pt x="29495139" y="3591237"/>
                  </a:lnTo>
                  <a:lnTo>
                    <a:pt x="0" y="3591237"/>
                  </a:lnTo>
                  <a:close/>
                </a:path>
              </a:pathLst>
            </a:custGeom>
            <a:solidFill>
              <a:srgbClr val="000000"/>
            </a:solidFill>
          </p:spPr>
        </p:sp>
      </p:grpSp>
      <p:sp>
        <p:nvSpPr>
          <p:cNvPr name="Freeform 4" id="4"/>
          <p:cNvSpPr/>
          <p:nvPr/>
        </p:nvSpPr>
        <p:spPr>
          <a:xfrm flipH="false" flipV="false" rot="0">
            <a:off x="2541988" y="3309309"/>
            <a:ext cx="13204025" cy="4646440"/>
          </a:xfrm>
          <a:custGeom>
            <a:avLst/>
            <a:gdLst/>
            <a:ahLst/>
            <a:cxnLst/>
            <a:rect r="r" b="b" t="t" l="l"/>
            <a:pathLst>
              <a:path h="4646440" w="13204025">
                <a:moveTo>
                  <a:pt x="0" y="0"/>
                </a:moveTo>
                <a:lnTo>
                  <a:pt x="13204024" y="0"/>
                </a:lnTo>
                <a:lnTo>
                  <a:pt x="13204024" y="4646440"/>
                </a:lnTo>
                <a:lnTo>
                  <a:pt x="0" y="4646440"/>
                </a:lnTo>
                <a:lnTo>
                  <a:pt x="0" y="0"/>
                </a:lnTo>
                <a:close/>
              </a:path>
            </a:pathLst>
          </a:custGeom>
          <a:blipFill>
            <a:blip r:embed="rId2"/>
            <a:stretch>
              <a:fillRect l="0" t="0" r="0" b="0"/>
            </a:stretch>
          </a:blipFill>
        </p:spPr>
      </p:sp>
      <p:sp>
        <p:nvSpPr>
          <p:cNvPr name="TextBox 5" id="5"/>
          <p:cNvSpPr txBox="true"/>
          <p:nvPr/>
        </p:nvSpPr>
        <p:spPr>
          <a:xfrm rot="0">
            <a:off x="539157" y="723900"/>
            <a:ext cx="17209687" cy="1999725"/>
          </a:xfrm>
          <a:prstGeom prst="rect">
            <a:avLst/>
          </a:prstGeom>
        </p:spPr>
        <p:txBody>
          <a:bodyPr anchor="t" rtlCol="false" tIns="0" lIns="0" bIns="0" rIns="0">
            <a:spAutoFit/>
          </a:bodyPr>
          <a:lstStyle/>
          <a:p>
            <a:pPr algn="just" marL="920239" indent="-460120" lvl="1">
              <a:lnSpc>
                <a:spcPts val="8268"/>
              </a:lnSpc>
              <a:buFont typeface="Arial"/>
              <a:buChar char="•"/>
            </a:pPr>
            <a:r>
              <a:rPr lang="en-US" sz="4262" spc="-12">
                <a:solidFill>
                  <a:srgbClr val="FFFFFF"/>
                </a:solidFill>
                <a:latin typeface="Knockout Cruiserweight"/>
                <a:ea typeface="Knockout Cruiserweight"/>
                <a:cs typeface="Knockout Cruiserweight"/>
                <a:sym typeface="Knockout Cruiserweight"/>
              </a:rPr>
              <a:t>The tokenizer API is used to preprocess text data and tokenize it into input features for transformer models.</a:t>
            </a:r>
          </a:p>
        </p:txBody>
      </p:sp>
      <p:sp>
        <p:nvSpPr>
          <p:cNvPr name="TextBox 6" id="6"/>
          <p:cNvSpPr txBox="true"/>
          <p:nvPr/>
        </p:nvSpPr>
        <p:spPr>
          <a:xfrm rot="0">
            <a:off x="13154147" y="9107049"/>
            <a:ext cx="5862640" cy="671666"/>
          </a:xfrm>
          <a:prstGeom prst="rect">
            <a:avLst/>
          </a:prstGeom>
        </p:spPr>
        <p:txBody>
          <a:bodyPr anchor="t" rtlCol="false" tIns="0" lIns="0" bIns="0" rIns="0">
            <a:spAutoFit/>
          </a:bodyPr>
          <a:lstStyle/>
          <a:p>
            <a:pPr algn="l" marL="0" indent="0" lvl="0">
              <a:lnSpc>
                <a:spcPts val="5069"/>
              </a:lnSpc>
              <a:spcBef>
                <a:spcPct val="0"/>
              </a:spcBef>
            </a:pPr>
            <a:r>
              <a:rPr lang="en-US" sz="5069">
                <a:solidFill>
                  <a:srgbClr val="FFFFFF"/>
                </a:solidFill>
                <a:latin typeface="Knockout Cruiserweight"/>
                <a:ea typeface="Knockout Cruiserweight"/>
                <a:cs typeface="Knockout Cruiserweight"/>
                <a:sym typeface="Knockout Cruiserweight"/>
              </a:rPr>
              <a:t>TOKENIZER API</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1C1920"/>
        </a:solidFill>
      </p:bgPr>
    </p:bg>
    <p:spTree>
      <p:nvGrpSpPr>
        <p:cNvPr id="1" name=""/>
        <p:cNvGrpSpPr/>
        <p:nvPr/>
      </p:nvGrpSpPr>
      <p:grpSpPr>
        <a:xfrm>
          <a:off x="0" y="0"/>
          <a:ext cx="0" cy="0"/>
          <a:chOff x="0" y="0"/>
          <a:chExt cx="0" cy="0"/>
        </a:xfrm>
      </p:grpSpPr>
      <p:grpSp>
        <p:nvGrpSpPr>
          <p:cNvPr name="Group 2" id="2"/>
          <p:cNvGrpSpPr/>
          <p:nvPr/>
        </p:nvGrpSpPr>
        <p:grpSpPr>
          <a:xfrm rot="0">
            <a:off x="-1654874" y="8541434"/>
            <a:ext cx="21731927" cy="2646012"/>
            <a:chOff x="0" y="0"/>
            <a:chExt cx="29495140" cy="3591236"/>
          </a:xfrm>
        </p:grpSpPr>
        <p:sp>
          <p:nvSpPr>
            <p:cNvPr name="Freeform 3" id="3"/>
            <p:cNvSpPr/>
            <p:nvPr/>
          </p:nvSpPr>
          <p:spPr>
            <a:xfrm flipH="false" flipV="false" rot="0">
              <a:off x="0" y="0"/>
              <a:ext cx="29495139" cy="3591237"/>
            </a:xfrm>
            <a:custGeom>
              <a:avLst/>
              <a:gdLst/>
              <a:ahLst/>
              <a:cxnLst/>
              <a:rect r="r" b="b" t="t" l="l"/>
              <a:pathLst>
                <a:path h="3591237" w="29495139">
                  <a:moveTo>
                    <a:pt x="0" y="0"/>
                  </a:moveTo>
                  <a:lnTo>
                    <a:pt x="29495139" y="0"/>
                  </a:lnTo>
                  <a:lnTo>
                    <a:pt x="29495139" y="3591237"/>
                  </a:lnTo>
                  <a:lnTo>
                    <a:pt x="0" y="3591237"/>
                  </a:lnTo>
                  <a:close/>
                </a:path>
              </a:pathLst>
            </a:custGeom>
            <a:solidFill>
              <a:srgbClr val="000000"/>
            </a:solidFill>
          </p:spPr>
        </p:sp>
      </p:grpSp>
      <p:sp>
        <p:nvSpPr>
          <p:cNvPr name="Freeform 4" id="4"/>
          <p:cNvSpPr/>
          <p:nvPr/>
        </p:nvSpPr>
        <p:spPr>
          <a:xfrm flipH="false" flipV="false" rot="0">
            <a:off x="1467575" y="3823765"/>
            <a:ext cx="15487028" cy="3617530"/>
          </a:xfrm>
          <a:custGeom>
            <a:avLst/>
            <a:gdLst/>
            <a:ahLst/>
            <a:cxnLst/>
            <a:rect r="r" b="b" t="t" l="l"/>
            <a:pathLst>
              <a:path h="3617530" w="15487028">
                <a:moveTo>
                  <a:pt x="0" y="0"/>
                </a:moveTo>
                <a:lnTo>
                  <a:pt x="15487028" y="0"/>
                </a:lnTo>
                <a:lnTo>
                  <a:pt x="15487028" y="3617529"/>
                </a:lnTo>
                <a:lnTo>
                  <a:pt x="0" y="3617529"/>
                </a:lnTo>
                <a:lnTo>
                  <a:pt x="0" y="0"/>
                </a:lnTo>
                <a:close/>
              </a:path>
            </a:pathLst>
          </a:custGeom>
          <a:blipFill>
            <a:blip r:embed="rId2"/>
            <a:stretch>
              <a:fillRect l="0" t="0" r="0" b="0"/>
            </a:stretch>
          </a:blipFill>
        </p:spPr>
      </p:sp>
      <p:sp>
        <p:nvSpPr>
          <p:cNvPr name="TextBox 5" id="5"/>
          <p:cNvSpPr txBox="true"/>
          <p:nvPr/>
        </p:nvSpPr>
        <p:spPr>
          <a:xfrm rot="0">
            <a:off x="539157" y="723900"/>
            <a:ext cx="17209687" cy="1999725"/>
          </a:xfrm>
          <a:prstGeom prst="rect">
            <a:avLst/>
          </a:prstGeom>
        </p:spPr>
        <p:txBody>
          <a:bodyPr anchor="t" rtlCol="false" tIns="0" lIns="0" bIns="0" rIns="0">
            <a:spAutoFit/>
          </a:bodyPr>
          <a:lstStyle/>
          <a:p>
            <a:pPr algn="just" marL="920239" indent="-460120" lvl="1">
              <a:lnSpc>
                <a:spcPts val="8268"/>
              </a:lnSpc>
              <a:buFont typeface="Arial"/>
              <a:buChar char="•"/>
            </a:pPr>
            <a:r>
              <a:rPr lang="en-US" sz="4262" spc="-12">
                <a:solidFill>
                  <a:srgbClr val="FFFFFF"/>
                </a:solidFill>
                <a:latin typeface="Knockout Cruiserweight"/>
                <a:ea typeface="Knockout Cruiserweight"/>
                <a:cs typeface="Knockout Cruiserweight"/>
                <a:sym typeface="Knockout Cruiserweight"/>
              </a:rPr>
              <a:t>The model API allows you to load pre-trained transformer models for various NLP tasks.</a:t>
            </a:r>
          </a:p>
        </p:txBody>
      </p:sp>
      <p:sp>
        <p:nvSpPr>
          <p:cNvPr name="TextBox 6" id="6"/>
          <p:cNvSpPr txBox="true"/>
          <p:nvPr/>
        </p:nvSpPr>
        <p:spPr>
          <a:xfrm rot="0">
            <a:off x="13154147" y="9107049"/>
            <a:ext cx="5862640" cy="671666"/>
          </a:xfrm>
          <a:prstGeom prst="rect">
            <a:avLst/>
          </a:prstGeom>
        </p:spPr>
        <p:txBody>
          <a:bodyPr anchor="t" rtlCol="false" tIns="0" lIns="0" bIns="0" rIns="0">
            <a:spAutoFit/>
          </a:bodyPr>
          <a:lstStyle/>
          <a:p>
            <a:pPr algn="l" marL="0" indent="0" lvl="0">
              <a:lnSpc>
                <a:spcPts val="5069"/>
              </a:lnSpc>
              <a:spcBef>
                <a:spcPct val="0"/>
              </a:spcBef>
            </a:pPr>
            <a:r>
              <a:rPr lang="en-US" sz="5069">
                <a:solidFill>
                  <a:srgbClr val="FFFFFF"/>
                </a:solidFill>
                <a:latin typeface="Knockout Cruiserweight"/>
                <a:ea typeface="Knockout Cruiserweight"/>
                <a:cs typeface="Knockout Cruiserweight"/>
                <a:sym typeface="Knockout Cruiserweight"/>
              </a:rPr>
              <a:t>MODEL API</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1C1920"/>
        </a:solidFill>
      </p:bgPr>
    </p:bg>
    <p:spTree>
      <p:nvGrpSpPr>
        <p:cNvPr id="1" name=""/>
        <p:cNvGrpSpPr/>
        <p:nvPr/>
      </p:nvGrpSpPr>
      <p:grpSpPr>
        <a:xfrm>
          <a:off x="0" y="0"/>
          <a:ext cx="0" cy="0"/>
          <a:chOff x="0" y="0"/>
          <a:chExt cx="0" cy="0"/>
        </a:xfrm>
      </p:grpSpPr>
      <p:grpSp>
        <p:nvGrpSpPr>
          <p:cNvPr name="Group 2" id="2"/>
          <p:cNvGrpSpPr/>
          <p:nvPr/>
        </p:nvGrpSpPr>
        <p:grpSpPr>
          <a:xfrm rot="0">
            <a:off x="-1654874" y="8541434"/>
            <a:ext cx="21731927" cy="2646012"/>
            <a:chOff x="0" y="0"/>
            <a:chExt cx="29495140" cy="3591236"/>
          </a:xfrm>
        </p:grpSpPr>
        <p:sp>
          <p:nvSpPr>
            <p:cNvPr name="Freeform 3" id="3"/>
            <p:cNvSpPr/>
            <p:nvPr/>
          </p:nvSpPr>
          <p:spPr>
            <a:xfrm flipH="false" flipV="false" rot="0">
              <a:off x="0" y="0"/>
              <a:ext cx="29495139" cy="3591237"/>
            </a:xfrm>
            <a:custGeom>
              <a:avLst/>
              <a:gdLst/>
              <a:ahLst/>
              <a:cxnLst/>
              <a:rect r="r" b="b" t="t" l="l"/>
              <a:pathLst>
                <a:path h="3591237" w="29495139">
                  <a:moveTo>
                    <a:pt x="0" y="0"/>
                  </a:moveTo>
                  <a:lnTo>
                    <a:pt x="29495139" y="0"/>
                  </a:lnTo>
                  <a:lnTo>
                    <a:pt x="29495139" y="3591237"/>
                  </a:lnTo>
                  <a:lnTo>
                    <a:pt x="0" y="3591237"/>
                  </a:lnTo>
                  <a:close/>
                </a:path>
              </a:pathLst>
            </a:custGeom>
            <a:solidFill>
              <a:srgbClr val="000000"/>
            </a:solidFill>
          </p:spPr>
        </p:sp>
      </p:grpSp>
      <p:sp>
        <p:nvSpPr>
          <p:cNvPr name="Freeform 4" id="4"/>
          <p:cNvSpPr/>
          <p:nvPr/>
        </p:nvSpPr>
        <p:spPr>
          <a:xfrm flipH="false" flipV="false" rot="0">
            <a:off x="3012975" y="3898856"/>
            <a:ext cx="12396229" cy="4424312"/>
          </a:xfrm>
          <a:custGeom>
            <a:avLst/>
            <a:gdLst/>
            <a:ahLst/>
            <a:cxnLst/>
            <a:rect r="r" b="b" t="t" l="l"/>
            <a:pathLst>
              <a:path h="4424312" w="12396229">
                <a:moveTo>
                  <a:pt x="0" y="0"/>
                </a:moveTo>
                <a:lnTo>
                  <a:pt x="12396229" y="0"/>
                </a:lnTo>
                <a:lnTo>
                  <a:pt x="12396229" y="4424312"/>
                </a:lnTo>
                <a:lnTo>
                  <a:pt x="0" y="4424312"/>
                </a:lnTo>
                <a:lnTo>
                  <a:pt x="0" y="0"/>
                </a:lnTo>
                <a:close/>
              </a:path>
            </a:pathLst>
          </a:custGeom>
          <a:blipFill>
            <a:blip r:embed="rId2"/>
            <a:stretch>
              <a:fillRect l="0" t="0" r="0" b="0"/>
            </a:stretch>
          </a:blipFill>
        </p:spPr>
      </p:sp>
      <p:sp>
        <p:nvSpPr>
          <p:cNvPr name="TextBox 5" id="5"/>
          <p:cNvSpPr txBox="true"/>
          <p:nvPr/>
        </p:nvSpPr>
        <p:spPr>
          <a:xfrm rot="0">
            <a:off x="204560" y="162750"/>
            <a:ext cx="17574080" cy="3047475"/>
          </a:xfrm>
          <a:prstGeom prst="rect">
            <a:avLst/>
          </a:prstGeom>
        </p:spPr>
        <p:txBody>
          <a:bodyPr anchor="t" rtlCol="false" tIns="0" lIns="0" bIns="0" rIns="0">
            <a:spAutoFit/>
          </a:bodyPr>
          <a:lstStyle/>
          <a:p>
            <a:pPr algn="just" marL="920239" indent="-460120" lvl="1">
              <a:lnSpc>
                <a:spcPts val="8268"/>
              </a:lnSpc>
              <a:buFont typeface="Arial"/>
              <a:buChar char="•"/>
            </a:pPr>
            <a:r>
              <a:rPr lang="en-US" sz="4262" spc="-12">
                <a:solidFill>
                  <a:srgbClr val="FFFFFF"/>
                </a:solidFill>
                <a:latin typeface="Knockout Cruiserweight"/>
                <a:ea typeface="Knockout Cruiserweight"/>
                <a:cs typeface="Knockout Cruiserweight"/>
                <a:sym typeface="Knockout Cruiserweight"/>
              </a:rPr>
              <a:t>The pipeline API simplifies the process of using pre-trained models for specific tasks like text generation, question-answering, sentiment analysis, etc.</a:t>
            </a:r>
          </a:p>
        </p:txBody>
      </p:sp>
      <p:sp>
        <p:nvSpPr>
          <p:cNvPr name="TextBox 6" id="6"/>
          <p:cNvSpPr txBox="true"/>
          <p:nvPr/>
        </p:nvSpPr>
        <p:spPr>
          <a:xfrm rot="0">
            <a:off x="13154147" y="9107049"/>
            <a:ext cx="5862640" cy="671666"/>
          </a:xfrm>
          <a:prstGeom prst="rect">
            <a:avLst/>
          </a:prstGeom>
        </p:spPr>
        <p:txBody>
          <a:bodyPr anchor="t" rtlCol="false" tIns="0" lIns="0" bIns="0" rIns="0">
            <a:spAutoFit/>
          </a:bodyPr>
          <a:lstStyle/>
          <a:p>
            <a:pPr algn="l" marL="0" indent="0" lvl="0">
              <a:lnSpc>
                <a:spcPts val="5069"/>
              </a:lnSpc>
              <a:spcBef>
                <a:spcPct val="0"/>
              </a:spcBef>
            </a:pPr>
            <a:r>
              <a:rPr lang="en-US" sz="5069">
                <a:solidFill>
                  <a:srgbClr val="FFFFFF"/>
                </a:solidFill>
                <a:latin typeface="Knockout Cruiserweight"/>
                <a:ea typeface="Knockout Cruiserweight"/>
                <a:cs typeface="Knockout Cruiserweight"/>
                <a:sym typeface="Knockout Cruiserweight"/>
              </a:rPr>
              <a:t>PIPELINE API</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1C1920"/>
        </a:solidFill>
      </p:bgPr>
    </p:bg>
    <p:spTree>
      <p:nvGrpSpPr>
        <p:cNvPr id="1" name=""/>
        <p:cNvGrpSpPr/>
        <p:nvPr/>
      </p:nvGrpSpPr>
      <p:grpSpPr>
        <a:xfrm>
          <a:off x="0" y="0"/>
          <a:ext cx="0" cy="0"/>
          <a:chOff x="0" y="0"/>
          <a:chExt cx="0" cy="0"/>
        </a:xfrm>
      </p:grpSpPr>
      <p:grpSp>
        <p:nvGrpSpPr>
          <p:cNvPr name="Group 2" id="2"/>
          <p:cNvGrpSpPr/>
          <p:nvPr/>
        </p:nvGrpSpPr>
        <p:grpSpPr>
          <a:xfrm rot="0">
            <a:off x="-1654874" y="8541434"/>
            <a:ext cx="21731927" cy="2646012"/>
            <a:chOff x="0" y="0"/>
            <a:chExt cx="29495140" cy="3591236"/>
          </a:xfrm>
        </p:grpSpPr>
        <p:sp>
          <p:nvSpPr>
            <p:cNvPr name="Freeform 3" id="3"/>
            <p:cNvSpPr/>
            <p:nvPr/>
          </p:nvSpPr>
          <p:spPr>
            <a:xfrm flipH="false" flipV="false" rot="0">
              <a:off x="0" y="0"/>
              <a:ext cx="29495139" cy="3591237"/>
            </a:xfrm>
            <a:custGeom>
              <a:avLst/>
              <a:gdLst/>
              <a:ahLst/>
              <a:cxnLst/>
              <a:rect r="r" b="b" t="t" l="l"/>
              <a:pathLst>
                <a:path h="3591237" w="29495139">
                  <a:moveTo>
                    <a:pt x="0" y="0"/>
                  </a:moveTo>
                  <a:lnTo>
                    <a:pt x="29495139" y="0"/>
                  </a:lnTo>
                  <a:lnTo>
                    <a:pt x="29495139" y="3591237"/>
                  </a:lnTo>
                  <a:lnTo>
                    <a:pt x="0" y="3591237"/>
                  </a:lnTo>
                  <a:close/>
                </a:path>
              </a:pathLst>
            </a:custGeom>
            <a:solidFill>
              <a:srgbClr val="000000"/>
            </a:solidFill>
          </p:spPr>
        </p:sp>
      </p:grpSp>
      <p:sp>
        <p:nvSpPr>
          <p:cNvPr name="Freeform 4" id="4"/>
          <p:cNvSpPr/>
          <p:nvPr/>
        </p:nvSpPr>
        <p:spPr>
          <a:xfrm flipH="false" flipV="false" rot="0">
            <a:off x="5354349" y="2600197"/>
            <a:ext cx="7579302" cy="5941236"/>
          </a:xfrm>
          <a:custGeom>
            <a:avLst/>
            <a:gdLst/>
            <a:ahLst/>
            <a:cxnLst/>
            <a:rect r="r" b="b" t="t" l="l"/>
            <a:pathLst>
              <a:path h="5941236" w="7579302">
                <a:moveTo>
                  <a:pt x="0" y="0"/>
                </a:moveTo>
                <a:lnTo>
                  <a:pt x="7579302" y="0"/>
                </a:lnTo>
                <a:lnTo>
                  <a:pt x="7579302" y="5941237"/>
                </a:lnTo>
                <a:lnTo>
                  <a:pt x="0" y="5941237"/>
                </a:lnTo>
                <a:lnTo>
                  <a:pt x="0" y="0"/>
                </a:lnTo>
                <a:close/>
              </a:path>
            </a:pathLst>
          </a:custGeom>
          <a:blipFill>
            <a:blip r:embed="rId2"/>
            <a:stretch>
              <a:fillRect l="0" t="0" r="0" b="0"/>
            </a:stretch>
          </a:blipFill>
        </p:spPr>
      </p:sp>
      <p:sp>
        <p:nvSpPr>
          <p:cNvPr name="TextBox 5" id="5"/>
          <p:cNvSpPr txBox="true"/>
          <p:nvPr/>
        </p:nvSpPr>
        <p:spPr>
          <a:xfrm rot="0">
            <a:off x="204560" y="162750"/>
            <a:ext cx="17574080" cy="1999725"/>
          </a:xfrm>
          <a:prstGeom prst="rect">
            <a:avLst/>
          </a:prstGeom>
        </p:spPr>
        <p:txBody>
          <a:bodyPr anchor="t" rtlCol="false" tIns="0" lIns="0" bIns="0" rIns="0">
            <a:spAutoFit/>
          </a:bodyPr>
          <a:lstStyle/>
          <a:p>
            <a:pPr algn="just" marL="920239" indent="-460120" lvl="1">
              <a:lnSpc>
                <a:spcPts val="8268"/>
              </a:lnSpc>
              <a:buFont typeface="Arial"/>
              <a:buChar char="•"/>
            </a:pPr>
            <a:r>
              <a:rPr lang="en-US" sz="4262" spc="-12">
                <a:solidFill>
                  <a:srgbClr val="FFFFFF"/>
                </a:solidFill>
                <a:latin typeface="Knockout Cruiserweight"/>
                <a:ea typeface="Knockout Cruiserweight"/>
                <a:cs typeface="Knockout Cruiserweight"/>
                <a:sym typeface="Knockout Cruiserweight"/>
              </a:rPr>
              <a:t>The trainer API helps you fine-tune pre-trained models on custom datasets for specific tasks.</a:t>
            </a:r>
          </a:p>
        </p:txBody>
      </p:sp>
      <p:sp>
        <p:nvSpPr>
          <p:cNvPr name="TextBox 6" id="6"/>
          <p:cNvSpPr txBox="true"/>
          <p:nvPr/>
        </p:nvSpPr>
        <p:spPr>
          <a:xfrm rot="0">
            <a:off x="13154147" y="9107049"/>
            <a:ext cx="5862640" cy="671666"/>
          </a:xfrm>
          <a:prstGeom prst="rect">
            <a:avLst/>
          </a:prstGeom>
        </p:spPr>
        <p:txBody>
          <a:bodyPr anchor="t" rtlCol="false" tIns="0" lIns="0" bIns="0" rIns="0">
            <a:spAutoFit/>
          </a:bodyPr>
          <a:lstStyle/>
          <a:p>
            <a:pPr algn="l" marL="0" indent="0" lvl="0">
              <a:lnSpc>
                <a:spcPts val="5069"/>
              </a:lnSpc>
              <a:spcBef>
                <a:spcPct val="0"/>
              </a:spcBef>
            </a:pPr>
            <a:r>
              <a:rPr lang="en-US" sz="5069">
                <a:solidFill>
                  <a:srgbClr val="FFFFFF"/>
                </a:solidFill>
                <a:latin typeface="Knockout Cruiserweight"/>
                <a:ea typeface="Knockout Cruiserweight"/>
                <a:cs typeface="Knockout Cruiserweight"/>
                <a:sym typeface="Knockout Cruiserweight"/>
              </a:rPr>
              <a:t>TRAINER API</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1C1920"/>
        </a:solidFill>
      </p:bgPr>
    </p:bg>
    <p:spTree>
      <p:nvGrpSpPr>
        <p:cNvPr id="1" name=""/>
        <p:cNvGrpSpPr/>
        <p:nvPr/>
      </p:nvGrpSpPr>
      <p:grpSpPr>
        <a:xfrm>
          <a:off x="0" y="0"/>
          <a:ext cx="0" cy="0"/>
          <a:chOff x="0" y="0"/>
          <a:chExt cx="0" cy="0"/>
        </a:xfrm>
      </p:grpSpPr>
      <p:grpSp>
        <p:nvGrpSpPr>
          <p:cNvPr name="Group 2" id="2"/>
          <p:cNvGrpSpPr/>
          <p:nvPr/>
        </p:nvGrpSpPr>
        <p:grpSpPr>
          <a:xfrm rot="0">
            <a:off x="-1654874" y="8541434"/>
            <a:ext cx="21731927" cy="2646012"/>
            <a:chOff x="0" y="0"/>
            <a:chExt cx="29495140" cy="3591236"/>
          </a:xfrm>
        </p:grpSpPr>
        <p:sp>
          <p:nvSpPr>
            <p:cNvPr name="Freeform 3" id="3"/>
            <p:cNvSpPr/>
            <p:nvPr/>
          </p:nvSpPr>
          <p:spPr>
            <a:xfrm flipH="false" flipV="false" rot="0">
              <a:off x="0" y="0"/>
              <a:ext cx="29495139" cy="3591237"/>
            </a:xfrm>
            <a:custGeom>
              <a:avLst/>
              <a:gdLst/>
              <a:ahLst/>
              <a:cxnLst/>
              <a:rect r="r" b="b" t="t" l="l"/>
              <a:pathLst>
                <a:path h="3591237" w="29495139">
                  <a:moveTo>
                    <a:pt x="0" y="0"/>
                  </a:moveTo>
                  <a:lnTo>
                    <a:pt x="29495139" y="0"/>
                  </a:lnTo>
                  <a:lnTo>
                    <a:pt x="29495139" y="3591237"/>
                  </a:lnTo>
                  <a:lnTo>
                    <a:pt x="0" y="3591237"/>
                  </a:lnTo>
                  <a:close/>
                </a:path>
              </a:pathLst>
            </a:custGeom>
            <a:solidFill>
              <a:srgbClr val="000000"/>
            </a:solidFill>
          </p:spPr>
        </p:sp>
      </p:grpSp>
      <p:sp>
        <p:nvSpPr>
          <p:cNvPr name="Freeform 4" id="4"/>
          <p:cNvSpPr/>
          <p:nvPr/>
        </p:nvSpPr>
        <p:spPr>
          <a:xfrm flipH="false" flipV="false" rot="0">
            <a:off x="3255805" y="2976742"/>
            <a:ext cx="11776389" cy="4333515"/>
          </a:xfrm>
          <a:custGeom>
            <a:avLst/>
            <a:gdLst/>
            <a:ahLst/>
            <a:cxnLst/>
            <a:rect r="r" b="b" t="t" l="l"/>
            <a:pathLst>
              <a:path h="4333515" w="11776389">
                <a:moveTo>
                  <a:pt x="0" y="0"/>
                </a:moveTo>
                <a:lnTo>
                  <a:pt x="11776390" y="0"/>
                </a:lnTo>
                <a:lnTo>
                  <a:pt x="11776390" y="4333516"/>
                </a:lnTo>
                <a:lnTo>
                  <a:pt x="0" y="4333516"/>
                </a:lnTo>
                <a:lnTo>
                  <a:pt x="0" y="0"/>
                </a:lnTo>
                <a:close/>
              </a:path>
            </a:pathLst>
          </a:custGeom>
          <a:blipFill>
            <a:blip r:embed="rId2"/>
            <a:stretch>
              <a:fillRect l="0" t="0" r="0" b="0"/>
            </a:stretch>
          </a:blipFill>
        </p:spPr>
      </p:sp>
      <p:sp>
        <p:nvSpPr>
          <p:cNvPr name="TextBox 5" id="5"/>
          <p:cNvSpPr txBox="true"/>
          <p:nvPr/>
        </p:nvSpPr>
        <p:spPr>
          <a:xfrm rot="0">
            <a:off x="204560" y="162750"/>
            <a:ext cx="17574080" cy="1999725"/>
          </a:xfrm>
          <a:prstGeom prst="rect">
            <a:avLst/>
          </a:prstGeom>
        </p:spPr>
        <p:txBody>
          <a:bodyPr anchor="t" rtlCol="false" tIns="0" lIns="0" bIns="0" rIns="0">
            <a:spAutoFit/>
          </a:bodyPr>
          <a:lstStyle/>
          <a:p>
            <a:pPr algn="just" marL="920239" indent="-460120" lvl="1">
              <a:lnSpc>
                <a:spcPts val="8268"/>
              </a:lnSpc>
              <a:buFont typeface="Arial"/>
              <a:buChar char="•"/>
            </a:pPr>
            <a:r>
              <a:rPr lang="en-US" sz="4262" spc="-12">
                <a:solidFill>
                  <a:srgbClr val="FFFFFF"/>
                </a:solidFill>
                <a:latin typeface="Knockout Cruiserweight"/>
                <a:ea typeface="Knockout Cruiserweight"/>
                <a:cs typeface="Knockout Cruiserweight"/>
                <a:sym typeface="Knockout Cruiserweight"/>
              </a:rPr>
              <a:t>The datasets API allows you to load and preprocess various datasets for NLP tasks.</a:t>
            </a:r>
          </a:p>
        </p:txBody>
      </p:sp>
      <p:sp>
        <p:nvSpPr>
          <p:cNvPr name="TextBox 6" id="6"/>
          <p:cNvSpPr txBox="true"/>
          <p:nvPr/>
        </p:nvSpPr>
        <p:spPr>
          <a:xfrm rot="0">
            <a:off x="13154147" y="9107049"/>
            <a:ext cx="5862640" cy="671666"/>
          </a:xfrm>
          <a:prstGeom prst="rect">
            <a:avLst/>
          </a:prstGeom>
        </p:spPr>
        <p:txBody>
          <a:bodyPr anchor="t" rtlCol="false" tIns="0" lIns="0" bIns="0" rIns="0">
            <a:spAutoFit/>
          </a:bodyPr>
          <a:lstStyle/>
          <a:p>
            <a:pPr algn="l" marL="0" indent="0" lvl="0">
              <a:lnSpc>
                <a:spcPts val="5069"/>
              </a:lnSpc>
              <a:spcBef>
                <a:spcPct val="0"/>
              </a:spcBef>
            </a:pPr>
            <a:r>
              <a:rPr lang="en-US" sz="5069">
                <a:solidFill>
                  <a:srgbClr val="FFFFFF"/>
                </a:solidFill>
                <a:latin typeface="Knockout Cruiserweight"/>
                <a:ea typeface="Knockout Cruiserweight"/>
                <a:cs typeface="Knockout Cruiserweight"/>
                <a:sym typeface="Knockout Cruiserweight"/>
              </a:rPr>
              <a:t>DATASETS API</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1C1920"/>
        </a:solidFill>
      </p:bgPr>
    </p:bg>
    <p:spTree>
      <p:nvGrpSpPr>
        <p:cNvPr id="1" name=""/>
        <p:cNvGrpSpPr/>
        <p:nvPr/>
      </p:nvGrpSpPr>
      <p:grpSpPr>
        <a:xfrm>
          <a:off x="0" y="0"/>
          <a:ext cx="0" cy="0"/>
          <a:chOff x="0" y="0"/>
          <a:chExt cx="0" cy="0"/>
        </a:xfrm>
      </p:grpSpPr>
      <p:grpSp>
        <p:nvGrpSpPr>
          <p:cNvPr name="Group 2" id="2"/>
          <p:cNvGrpSpPr/>
          <p:nvPr/>
        </p:nvGrpSpPr>
        <p:grpSpPr>
          <a:xfrm rot="0">
            <a:off x="-1654874" y="8541434"/>
            <a:ext cx="21731927" cy="2646012"/>
            <a:chOff x="0" y="0"/>
            <a:chExt cx="29495140" cy="3591236"/>
          </a:xfrm>
        </p:grpSpPr>
        <p:sp>
          <p:nvSpPr>
            <p:cNvPr name="Freeform 3" id="3"/>
            <p:cNvSpPr/>
            <p:nvPr/>
          </p:nvSpPr>
          <p:spPr>
            <a:xfrm flipH="false" flipV="false" rot="0">
              <a:off x="0" y="0"/>
              <a:ext cx="29495139" cy="3591237"/>
            </a:xfrm>
            <a:custGeom>
              <a:avLst/>
              <a:gdLst/>
              <a:ahLst/>
              <a:cxnLst/>
              <a:rect r="r" b="b" t="t" l="l"/>
              <a:pathLst>
                <a:path h="3591237" w="29495139">
                  <a:moveTo>
                    <a:pt x="0" y="0"/>
                  </a:moveTo>
                  <a:lnTo>
                    <a:pt x="29495139" y="0"/>
                  </a:lnTo>
                  <a:lnTo>
                    <a:pt x="29495139" y="3591237"/>
                  </a:lnTo>
                  <a:lnTo>
                    <a:pt x="0" y="3591237"/>
                  </a:lnTo>
                  <a:close/>
                </a:path>
              </a:pathLst>
            </a:custGeom>
            <a:solidFill>
              <a:srgbClr val="000000"/>
            </a:solidFill>
          </p:spPr>
        </p:sp>
      </p:grpSp>
      <p:sp>
        <p:nvSpPr>
          <p:cNvPr name="Freeform 4" id="4"/>
          <p:cNvSpPr/>
          <p:nvPr/>
        </p:nvSpPr>
        <p:spPr>
          <a:xfrm flipH="false" flipV="false" rot="0">
            <a:off x="1028700" y="4011441"/>
            <a:ext cx="16516695" cy="2681027"/>
          </a:xfrm>
          <a:custGeom>
            <a:avLst/>
            <a:gdLst/>
            <a:ahLst/>
            <a:cxnLst/>
            <a:rect r="r" b="b" t="t" l="l"/>
            <a:pathLst>
              <a:path h="2681027" w="16516695">
                <a:moveTo>
                  <a:pt x="0" y="0"/>
                </a:moveTo>
                <a:lnTo>
                  <a:pt x="16516695" y="0"/>
                </a:lnTo>
                <a:lnTo>
                  <a:pt x="16516695" y="2681027"/>
                </a:lnTo>
                <a:lnTo>
                  <a:pt x="0" y="2681027"/>
                </a:lnTo>
                <a:lnTo>
                  <a:pt x="0" y="0"/>
                </a:lnTo>
                <a:close/>
              </a:path>
            </a:pathLst>
          </a:custGeom>
          <a:blipFill>
            <a:blip r:embed="rId2"/>
            <a:stretch>
              <a:fillRect l="0" t="0" r="0" b="0"/>
            </a:stretch>
          </a:blipFill>
        </p:spPr>
      </p:sp>
      <p:sp>
        <p:nvSpPr>
          <p:cNvPr name="TextBox 5" id="5"/>
          <p:cNvSpPr txBox="true"/>
          <p:nvPr/>
        </p:nvSpPr>
        <p:spPr>
          <a:xfrm rot="0">
            <a:off x="204560" y="162750"/>
            <a:ext cx="17574080" cy="1999725"/>
          </a:xfrm>
          <a:prstGeom prst="rect">
            <a:avLst/>
          </a:prstGeom>
        </p:spPr>
        <p:txBody>
          <a:bodyPr anchor="t" rtlCol="false" tIns="0" lIns="0" bIns="0" rIns="0">
            <a:spAutoFit/>
          </a:bodyPr>
          <a:lstStyle/>
          <a:p>
            <a:pPr algn="just" marL="920239" indent="-460120" lvl="1">
              <a:lnSpc>
                <a:spcPts val="8268"/>
              </a:lnSpc>
              <a:buFont typeface="Arial"/>
              <a:buChar char="•"/>
            </a:pPr>
            <a:r>
              <a:rPr lang="en-US" sz="4262" spc="-12">
                <a:solidFill>
                  <a:srgbClr val="FFFFFF"/>
                </a:solidFill>
                <a:latin typeface="Knockout Cruiserweight"/>
                <a:ea typeface="Knockout Cruiserweight"/>
                <a:cs typeface="Knockout Cruiserweight"/>
                <a:sym typeface="Knockout Cruiserweight"/>
              </a:rPr>
              <a:t>You can load a pre-trained model checkpoint and resume training or use it for inference.</a:t>
            </a:r>
          </a:p>
        </p:txBody>
      </p:sp>
      <p:sp>
        <p:nvSpPr>
          <p:cNvPr name="TextBox 6" id="6"/>
          <p:cNvSpPr txBox="true"/>
          <p:nvPr/>
        </p:nvSpPr>
        <p:spPr>
          <a:xfrm rot="0">
            <a:off x="11696573" y="9107049"/>
            <a:ext cx="7320214" cy="671666"/>
          </a:xfrm>
          <a:prstGeom prst="rect">
            <a:avLst/>
          </a:prstGeom>
        </p:spPr>
        <p:txBody>
          <a:bodyPr anchor="t" rtlCol="false" tIns="0" lIns="0" bIns="0" rIns="0">
            <a:spAutoFit/>
          </a:bodyPr>
          <a:lstStyle/>
          <a:p>
            <a:pPr algn="l" marL="0" indent="0" lvl="0">
              <a:lnSpc>
                <a:spcPts val="5069"/>
              </a:lnSpc>
              <a:spcBef>
                <a:spcPct val="0"/>
              </a:spcBef>
            </a:pPr>
            <a:r>
              <a:rPr lang="en-US" sz="5069">
                <a:solidFill>
                  <a:srgbClr val="FFFFFF"/>
                </a:solidFill>
                <a:latin typeface="Knockout Cruiserweight"/>
                <a:ea typeface="Knockout Cruiserweight"/>
                <a:cs typeface="Knockout Cruiserweight"/>
                <a:sym typeface="Knockout Cruiserweight"/>
              </a:rPr>
              <a:t>LOAD CHECKPOINT</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1C1920"/>
        </a:solidFill>
      </p:bgPr>
    </p:bg>
    <p:spTree>
      <p:nvGrpSpPr>
        <p:cNvPr id="1" name=""/>
        <p:cNvGrpSpPr/>
        <p:nvPr/>
      </p:nvGrpSpPr>
      <p:grpSpPr>
        <a:xfrm>
          <a:off x="0" y="0"/>
          <a:ext cx="0" cy="0"/>
          <a:chOff x="0" y="0"/>
          <a:chExt cx="0" cy="0"/>
        </a:xfrm>
      </p:grpSpPr>
      <p:grpSp>
        <p:nvGrpSpPr>
          <p:cNvPr name="Group 2" id="2"/>
          <p:cNvGrpSpPr/>
          <p:nvPr/>
        </p:nvGrpSpPr>
        <p:grpSpPr>
          <a:xfrm rot="0">
            <a:off x="-1654874" y="8541434"/>
            <a:ext cx="21731927" cy="2646012"/>
            <a:chOff x="0" y="0"/>
            <a:chExt cx="29495140" cy="3591236"/>
          </a:xfrm>
        </p:grpSpPr>
        <p:sp>
          <p:nvSpPr>
            <p:cNvPr name="Freeform 3" id="3"/>
            <p:cNvSpPr/>
            <p:nvPr/>
          </p:nvSpPr>
          <p:spPr>
            <a:xfrm flipH="false" flipV="false" rot="0">
              <a:off x="0" y="0"/>
              <a:ext cx="29495139" cy="3591237"/>
            </a:xfrm>
            <a:custGeom>
              <a:avLst/>
              <a:gdLst/>
              <a:ahLst/>
              <a:cxnLst/>
              <a:rect r="r" b="b" t="t" l="l"/>
              <a:pathLst>
                <a:path h="3591237" w="29495139">
                  <a:moveTo>
                    <a:pt x="0" y="0"/>
                  </a:moveTo>
                  <a:lnTo>
                    <a:pt x="29495139" y="0"/>
                  </a:lnTo>
                  <a:lnTo>
                    <a:pt x="29495139" y="3591237"/>
                  </a:lnTo>
                  <a:lnTo>
                    <a:pt x="0" y="3591237"/>
                  </a:lnTo>
                  <a:close/>
                </a:path>
              </a:pathLst>
            </a:custGeom>
            <a:solidFill>
              <a:srgbClr val="000000"/>
            </a:solidFill>
          </p:spPr>
        </p:sp>
      </p:grpSp>
      <p:sp>
        <p:nvSpPr>
          <p:cNvPr name="Freeform 4" id="4"/>
          <p:cNvSpPr/>
          <p:nvPr/>
        </p:nvSpPr>
        <p:spPr>
          <a:xfrm flipH="false" flipV="false" rot="0">
            <a:off x="1028700" y="4011441"/>
            <a:ext cx="16516695" cy="2681027"/>
          </a:xfrm>
          <a:custGeom>
            <a:avLst/>
            <a:gdLst/>
            <a:ahLst/>
            <a:cxnLst/>
            <a:rect r="r" b="b" t="t" l="l"/>
            <a:pathLst>
              <a:path h="2681027" w="16516695">
                <a:moveTo>
                  <a:pt x="0" y="0"/>
                </a:moveTo>
                <a:lnTo>
                  <a:pt x="16516695" y="0"/>
                </a:lnTo>
                <a:lnTo>
                  <a:pt x="16516695" y="2681027"/>
                </a:lnTo>
                <a:lnTo>
                  <a:pt x="0" y="2681027"/>
                </a:lnTo>
                <a:lnTo>
                  <a:pt x="0" y="0"/>
                </a:lnTo>
                <a:close/>
              </a:path>
            </a:pathLst>
          </a:custGeom>
          <a:blipFill>
            <a:blip r:embed="rId2"/>
            <a:stretch>
              <a:fillRect l="0" t="0" r="0" b="0"/>
            </a:stretch>
          </a:blipFill>
        </p:spPr>
      </p:sp>
      <p:sp>
        <p:nvSpPr>
          <p:cNvPr name="TextBox 5" id="5"/>
          <p:cNvSpPr txBox="true"/>
          <p:nvPr/>
        </p:nvSpPr>
        <p:spPr>
          <a:xfrm rot="0">
            <a:off x="204560" y="162750"/>
            <a:ext cx="17574080" cy="1999725"/>
          </a:xfrm>
          <a:prstGeom prst="rect">
            <a:avLst/>
          </a:prstGeom>
        </p:spPr>
        <p:txBody>
          <a:bodyPr anchor="t" rtlCol="false" tIns="0" lIns="0" bIns="0" rIns="0">
            <a:spAutoFit/>
          </a:bodyPr>
          <a:lstStyle/>
          <a:p>
            <a:pPr algn="just" marL="920239" indent="-460120" lvl="1">
              <a:lnSpc>
                <a:spcPts val="8268"/>
              </a:lnSpc>
              <a:buFont typeface="Arial"/>
              <a:buChar char="•"/>
            </a:pPr>
            <a:r>
              <a:rPr lang="en-US" sz="4262" spc="-12">
                <a:solidFill>
                  <a:srgbClr val="FFFFFF"/>
                </a:solidFill>
                <a:latin typeface="Knockout Cruiserweight"/>
                <a:ea typeface="Knockout Cruiserweight"/>
                <a:cs typeface="Knockout Cruiserweight"/>
                <a:sym typeface="Knockout Cruiserweight"/>
              </a:rPr>
              <a:t>You can load a pre-trained model checkpoint and resume training or use it for inference.</a:t>
            </a:r>
          </a:p>
        </p:txBody>
      </p:sp>
      <p:sp>
        <p:nvSpPr>
          <p:cNvPr name="TextBox 6" id="6"/>
          <p:cNvSpPr txBox="true"/>
          <p:nvPr/>
        </p:nvSpPr>
        <p:spPr>
          <a:xfrm rot="0">
            <a:off x="11696573" y="9107049"/>
            <a:ext cx="7320214" cy="671666"/>
          </a:xfrm>
          <a:prstGeom prst="rect">
            <a:avLst/>
          </a:prstGeom>
        </p:spPr>
        <p:txBody>
          <a:bodyPr anchor="t" rtlCol="false" tIns="0" lIns="0" bIns="0" rIns="0">
            <a:spAutoFit/>
          </a:bodyPr>
          <a:lstStyle/>
          <a:p>
            <a:pPr algn="l" marL="0" indent="0" lvl="0">
              <a:lnSpc>
                <a:spcPts val="5069"/>
              </a:lnSpc>
              <a:spcBef>
                <a:spcPct val="0"/>
              </a:spcBef>
            </a:pPr>
            <a:r>
              <a:rPr lang="en-US" sz="5069">
                <a:solidFill>
                  <a:srgbClr val="FFFFFF"/>
                </a:solidFill>
                <a:latin typeface="Knockout Cruiserweight"/>
                <a:ea typeface="Knockout Cruiserweight"/>
                <a:cs typeface="Knockout Cruiserweight"/>
                <a:sym typeface="Knockout Cruiserweight"/>
              </a:rPr>
              <a:t>LOAD CHECKPOINT</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1C1920"/>
        </a:solidFill>
      </p:bgPr>
    </p:bg>
    <p:spTree>
      <p:nvGrpSpPr>
        <p:cNvPr id="1" name=""/>
        <p:cNvGrpSpPr/>
        <p:nvPr/>
      </p:nvGrpSpPr>
      <p:grpSpPr>
        <a:xfrm>
          <a:off x="0" y="0"/>
          <a:ext cx="0" cy="0"/>
          <a:chOff x="0" y="0"/>
          <a:chExt cx="0" cy="0"/>
        </a:xfrm>
      </p:grpSpPr>
      <p:grpSp>
        <p:nvGrpSpPr>
          <p:cNvPr name="Group 2" id="2"/>
          <p:cNvGrpSpPr/>
          <p:nvPr/>
        </p:nvGrpSpPr>
        <p:grpSpPr>
          <a:xfrm rot="0">
            <a:off x="-1654874" y="8541434"/>
            <a:ext cx="21731927" cy="2646012"/>
            <a:chOff x="0" y="0"/>
            <a:chExt cx="29495140" cy="3591236"/>
          </a:xfrm>
        </p:grpSpPr>
        <p:sp>
          <p:nvSpPr>
            <p:cNvPr name="Freeform 3" id="3"/>
            <p:cNvSpPr/>
            <p:nvPr/>
          </p:nvSpPr>
          <p:spPr>
            <a:xfrm flipH="false" flipV="false" rot="0">
              <a:off x="0" y="0"/>
              <a:ext cx="29495139" cy="3591237"/>
            </a:xfrm>
            <a:custGeom>
              <a:avLst/>
              <a:gdLst/>
              <a:ahLst/>
              <a:cxnLst/>
              <a:rect r="r" b="b" t="t" l="l"/>
              <a:pathLst>
                <a:path h="3591237" w="29495139">
                  <a:moveTo>
                    <a:pt x="0" y="0"/>
                  </a:moveTo>
                  <a:lnTo>
                    <a:pt x="29495139" y="0"/>
                  </a:lnTo>
                  <a:lnTo>
                    <a:pt x="29495139" y="3591237"/>
                  </a:lnTo>
                  <a:lnTo>
                    <a:pt x="0" y="3591237"/>
                  </a:lnTo>
                  <a:close/>
                </a:path>
              </a:pathLst>
            </a:custGeom>
            <a:solidFill>
              <a:srgbClr val="000000"/>
            </a:solidFill>
          </p:spPr>
        </p:sp>
      </p:grpSp>
      <p:sp>
        <p:nvSpPr>
          <p:cNvPr name="Freeform 4" id="4"/>
          <p:cNvSpPr/>
          <p:nvPr/>
        </p:nvSpPr>
        <p:spPr>
          <a:xfrm flipH="false" flipV="false" rot="0">
            <a:off x="6052389" y="1028700"/>
            <a:ext cx="6183222" cy="6253575"/>
          </a:xfrm>
          <a:custGeom>
            <a:avLst/>
            <a:gdLst/>
            <a:ahLst/>
            <a:cxnLst/>
            <a:rect r="r" b="b" t="t" l="l"/>
            <a:pathLst>
              <a:path h="6253575" w="6183222">
                <a:moveTo>
                  <a:pt x="0" y="0"/>
                </a:moveTo>
                <a:lnTo>
                  <a:pt x="6183222" y="0"/>
                </a:lnTo>
                <a:lnTo>
                  <a:pt x="6183222" y="6253575"/>
                </a:lnTo>
                <a:lnTo>
                  <a:pt x="0" y="6253575"/>
                </a:lnTo>
                <a:lnTo>
                  <a:pt x="0" y="0"/>
                </a:lnTo>
                <a:close/>
              </a:path>
            </a:pathLst>
          </a:custGeom>
          <a:blipFill>
            <a:blip r:embed="rId2"/>
            <a:stretch>
              <a:fillRect l="0" t="0" r="0" b="0"/>
            </a:stretch>
          </a:blipFill>
        </p:spPr>
      </p:sp>
      <p:sp>
        <p:nvSpPr>
          <p:cNvPr name="TextBox 5" id="5"/>
          <p:cNvSpPr txBox="true"/>
          <p:nvPr/>
        </p:nvSpPr>
        <p:spPr>
          <a:xfrm rot="0">
            <a:off x="11696573" y="9107049"/>
            <a:ext cx="7320214" cy="671666"/>
          </a:xfrm>
          <a:prstGeom prst="rect">
            <a:avLst/>
          </a:prstGeom>
        </p:spPr>
        <p:txBody>
          <a:bodyPr anchor="t" rtlCol="false" tIns="0" lIns="0" bIns="0" rIns="0">
            <a:spAutoFit/>
          </a:bodyPr>
          <a:lstStyle/>
          <a:p>
            <a:pPr algn="l" marL="0" indent="0" lvl="0">
              <a:lnSpc>
                <a:spcPts val="5069"/>
              </a:lnSpc>
              <a:spcBef>
                <a:spcPct val="0"/>
              </a:spcBef>
            </a:pPr>
            <a:r>
              <a:rPr lang="en-US" sz="5069">
                <a:solidFill>
                  <a:srgbClr val="FFFFFF"/>
                </a:solidFill>
                <a:latin typeface="Knockout Cruiserweight"/>
                <a:ea typeface="Knockout Cruiserweight"/>
                <a:cs typeface="Knockout Cruiserweight"/>
                <a:sym typeface="Knockout Cruiserweight"/>
              </a:rPr>
              <a:t>HANDSON</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1C1920"/>
        </a:solidFill>
      </p:bgPr>
    </p:bg>
    <p:spTree>
      <p:nvGrpSpPr>
        <p:cNvPr id="1" name=""/>
        <p:cNvGrpSpPr/>
        <p:nvPr/>
      </p:nvGrpSpPr>
      <p:grpSpPr>
        <a:xfrm>
          <a:off x="0" y="0"/>
          <a:ext cx="0" cy="0"/>
          <a:chOff x="0" y="0"/>
          <a:chExt cx="0" cy="0"/>
        </a:xfrm>
      </p:grpSpPr>
      <p:sp>
        <p:nvSpPr>
          <p:cNvPr name="Freeform 2" id="2"/>
          <p:cNvSpPr/>
          <p:nvPr/>
        </p:nvSpPr>
        <p:spPr>
          <a:xfrm flipH="false" flipV="false" rot="0">
            <a:off x="10269266" y="-416019"/>
            <a:ext cx="8973769" cy="8957453"/>
          </a:xfrm>
          <a:custGeom>
            <a:avLst/>
            <a:gdLst/>
            <a:ahLst/>
            <a:cxnLst/>
            <a:rect r="r" b="b" t="t" l="l"/>
            <a:pathLst>
              <a:path h="8957453" w="8973769">
                <a:moveTo>
                  <a:pt x="0" y="0"/>
                </a:moveTo>
                <a:lnTo>
                  <a:pt x="8973769" y="0"/>
                </a:lnTo>
                <a:lnTo>
                  <a:pt x="8973769" y="8957453"/>
                </a:lnTo>
                <a:lnTo>
                  <a:pt x="0" y="8957453"/>
                </a:lnTo>
                <a:lnTo>
                  <a:pt x="0" y="0"/>
                </a:lnTo>
                <a:close/>
              </a:path>
            </a:pathLst>
          </a:custGeom>
          <a:blipFill>
            <a:blip r:embed="rId2">
              <a:alphaModFix amt="27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25377" y="4306015"/>
            <a:ext cx="4751449" cy="4751449"/>
          </a:xfrm>
          <a:custGeom>
            <a:avLst/>
            <a:gdLst/>
            <a:ahLst/>
            <a:cxnLst/>
            <a:rect r="r" b="b" t="t" l="l"/>
            <a:pathLst>
              <a:path h="4751449" w="4751449">
                <a:moveTo>
                  <a:pt x="0" y="0"/>
                </a:moveTo>
                <a:lnTo>
                  <a:pt x="4751449" y="0"/>
                </a:lnTo>
                <a:lnTo>
                  <a:pt x="4751449" y="4751449"/>
                </a:lnTo>
                <a:lnTo>
                  <a:pt x="0" y="47514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7179979" y="8250380"/>
            <a:ext cx="10869765" cy="546920"/>
          </a:xfrm>
          <a:prstGeom prst="rect">
            <a:avLst/>
          </a:prstGeom>
        </p:spPr>
        <p:txBody>
          <a:bodyPr anchor="t" rtlCol="false" tIns="0" lIns="0" bIns="0" rIns="0">
            <a:spAutoFit/>
          </a:bodyPr>
          <a:lstStyle/>
          <a:p>
            <a:pPr algn="r">
              <a:lnSpc>
                <a:spcPts val="4104"/>
              </a:lnSpc>
            </a:pPr>
            <a:r>
              <a:rPr lang="en-US" b="true" sz="3908" spc="54">
                <a:solidFill>
                  <a:srgbClr val="5CE4FE"/>
                </a:solidFill>
                <a:latin typeface="Open Sans Bold Bold"/>
                <a:ea typeface="Open Sans Bold Bold"/>
                <a:cs typeface="Open Sans Bold Bold"/>
                <a:sym typeface="Open Sans Bold Bold"/>
              </a:rPr>
              <a:t>NLP (NATURAL LANGUAGE  PROCESSING) </a:t>
            </a:r>
          </a:p>
        </p:txBody>
      </p:sp>
      <p:sp>
        <p:nvSpPr>
          <p:cNvPr name="TextBox 5" id="5"/>
          <p:cNvSpPr txBox="true"/>
          <p:nvPr/>
        </p:nvSpPr>
        <p:spPr>
          <a:xfrm rot="0">
            <a:off x="5976849" y="5530577"/>
            <a:ext cx="11887779" cy="2416626"/>
          </a:xfrm>
          <a:prstGeom prst="rect">
            <a:avLst/>
          </a:prstGeom>
        </p:spPr>
        <p:txBody>
          <a:bodyPr anchor="t" rtlCol="false" tIns="0" lIns="0" bIns="0" rIns="0">
            <a:spAutoFit/>
          </a:bodyPr>
          <a:lstStyle/>
          <a:p>
            <a:pPr algn="r">
              <a:lnSpc>
                <a:spcPts val="9307"/>
              </a:lnSpc>
            </a:pPr>
            <a:r>
              <a:rPr lang="en-US" b="true" sz="8863" spc="124">
                <a:solidFill>
                  <a:srgbClr val="FFFFFF"/>
                </a:solidFill>
                <a:latin typeface="Open Sans Bold Bold"/>
                <a:ea typeface="Open Sans Bold Bold"/>
                <a:cs typeface="Open Sans Bold Bold"/>
                <a:sym typeface="Open Sans Bold Bold"/>
              </a:rPr>
              <a:t>1 MONTH CERTIFIED INTERNSHIP </a:t>
            </a:r>
          </a:p>
        </p:txBody>
      </p:sp>
      <p:sp>
        <p:nvSpPr>
          <p:cNvPr name="Freeform 6" id="6"/>
          <p:cNvSpPr/>
          <p:nvPr/>
        </p:nvSpPr>
        <p:spPr>
          <a:xfrm flipH="false" flipV="false" rot="0">
            <a:off x="8000799" y="1576255"/>
            <a:ext cx="9258501" cy="3086714"/>
          </a:xfrm>
          <a:custGeom>
            <a:avLst/>
            <a:gdLst/>
            <a:ahLst/>
            <a:cxnLst/>
            <a:rect r="r" b="b" t="t" l="l"/>
            <a:pathLst>
              <a:path h="3086714" w="9258501">
                <a:moveTo>
                  <a:pt x="0" y="0"/>
                </a:moveTo>
                <a:lnTo>
                  <a:pt x="9258501" y="0"/>
                </a:lnTo>
                <a:lnTo>
                  <a:pt x="9258501" y="3086713"/>
                </a:lnTo>
                <a:lnTo>
                  <a:pt x="0" y="3086713"/>
                </a:lnTo>
                <a:lnTo>
                  <a:pt x="0" y="0"/>
                </a:lnTo>
                <a:close/>
              </a:path>
            </a:pathLst>
          </a:custGeom>
          <a:blipFill>
            <a:blip r:embed="rId6"/>
            <a:stretch>
              <a:fillRect l="-18999" t="0" r="-17666" b="-10343"/>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1C1920"/>
        </a:solidFill>
      </p:bgPr>
    </p:bg>
    <p:spTree>
      <p:nvGrpSpPr>
        <p:cNvPr id="1" name=""/>
        <p:cNvGrpSpPr/>
        <p:nvPr/>
      </p:nvGrpSpPr>
      <p:grpSpPr>
        <a:xfrm>
          <a:off x="0" y="0"/>
          <a:ext cx="0" cy="0"/>
          <a:chOff x="0" y="0"/>
          <a:chExt cx="0" cy="0"/>
        </a:xfrm>
      </p:grpSpPr>
      <p:sp>
        <p:nvSpPr>
          <p:cNvPr name="Freeform 2" id="2"/>
          <p:cNvSpPr/>
          <p:nvPr/>
        </p:nvSpPr>
        <p:spPr>
          <a:xfrm flipH="false" flipV="false" rot="0">
            <a:off x="10269266" y="-416019"/>
            <a:ext cx="8973769" cy="8957453"/>
          </a:xfrm>
          <a:custGeom>
            <a:avLst/>
            <a:gdLst/>
            <a:ahLst/>
            <a:cxnLst/>
            <a:rect r="r" b="b" t="t" l="l"/>
            <a:pathLst>
              <a:path h="8957453" w="8973769">
                <a:moveTo>
                  <a:pt x="0" y="0"/>
                </a:moveTo>
                <a:lnTo>
                  <a:pt x="8973769" y="0"/>
                </a:lnTo>
                <a:lnTo>
                  <a:pt x="8973769" y="8957453"/>
                </a:lnTo>
                <a:lnTo>
                  <a:pt x="0" y="8957453"/>
                </a:lnTo>
                <a:lnTo>
                  <a:pt x="0" y="0"/>
                </a:lnTo>
                <a:close/>
              </a:path>
            </a:pathLst>
          </a:custGeom>
          <a:blipFill>
            <a:blip r:embed="rId2">
              <a:alphaModFix amt="27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791600" y="910459"/>
            <a:ext cx="7598633" cy="1158841"/>
            <a:chOff x="0" y="0"/>
            <a:chExt cx="2888884" cy="440573"/>
          </a:xfrm>
        </p:grpSpPr>
        <p:sp>
          <p:nvSpPr>
            <p:cNvPr name="Freeform 4" id="4"/>
            <p:cNvSpPr/>
            <p:nvPr/>
          </p:nvSpPr>
          <p:spPr>
            <a:xfrm flipH="false" flipV="false" rot="0">
              <a:off x="0" y="0"/>
              <a:ext cx="2888884" cy="440573"/>
            </a:xfrm>
            <a:custGeom>
              <a:avLst/>
              <a:gdLst/>
              <a:ahLst/>
              <a:cxnLst/>
              <a:rect r="r" b="b" t="t" l="l"/>
              <a:pathLst>
                <a:path h="440573" w="2888884">
                  <a:moveTo>
                    <a:pt x="2685684" y="0"/>
                  </a:moveTo>
                  <a:lnTo>
                    <a:pt x="0" y="0"/>
                  </a:lnTo>
                  <a:lnTo>
                    <a:pt x="203200" y="440573"/>
                  </a:lnTo>
                  <a:lnTo>
                    <a:pt x="2888884" y="440573"/>
                  </a:lnTo>
                  <a:lnTo>
                    <a:pt x="2685684" y="0"/>
                  </a:lnTo>
                  <a:close/>
                </a:path>
              </a:pathLst>
            </a:custGeom>
            <a:solidFill>
              <a:srgbClr val="92C3FE"/>
            </a:solidFill>
          </p:spPr>
        </p:sp>
        <p:sp>
          <p:nvSpPr>
            <p:cNvPr name="TextBox 5" id="5"/>
            <p:cNvSpPr txBox="true"/>
            <p:nvPr/>
          </p:nvSpPr>
          <p:spPr>
            <a:xfrm>
              <a:off x="101600" y="-76200"/>
              <a:ext cx="2685684" cy="516773"/>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1603743" y="8361716"/>
            <a:ext cx="6144698" cy="1259663"/>
          </a:xfrm>
          <a:custGeom>
            <a:avLst/>
            <a:gdLst/>
            <a:ahLst/>
            <a:cxnLst/>
            <a:rect r="r" b="b" t="t" l="l"/>
            <a:pathLst>
              <a:path h="1259663" w="6144698">
                <a:moveTo>
                  <a:pt x="0" y="0"/>
                </a:moveTo>
                <a:lnTo>
                  <a:pt x="6144698" y="0"/>
                </a:lnTo>
                <a:lnTo>
                  <a:pt x="6144698" y="1259663"/>
                </a:lnTo>
                <a:lnTo>
                  <a:pt x="0" y="1259663"/>
                </a:lnTo>
                <a:lnTo>
                  <a:pt x="0" y="0"/>
                </a:lnTo>
                <a:close/>
              </a:path>
            </a:pathLst>
          </a:custGeom>
          <a:blipFill>
            <a:blip r:embed="rId4"/>
            <a:stretch>
              <a:fillRect l="0" t="0" r="0" b="0"/>
            </a:stretch>
          </a:blipFill>
        </p:spPr>
      </p:sp>
      <p:sp>
        <p:nvSpPr>
          <p:cNvPr name="TextBox 7" id="7"/>
          <p:cNvSpPr txBox="true"/>
          <p:nvPr/>
        </p:nvSpPr>
        <p:spPr>
          <a:xfrm rot="0">
            <a:off x="11603743" y="939395"/>
            <a:ext cx="6655696" cy="986669"/>
          </a:xfrm>
          <a:prstGeom prst="rect">
            <a:avLst/>
          </a:prstGeom>
        </p:spPr>
        <p:txBody>
          <a:bodyPr anchor="t" rtlCol="false" tIns="0" lIns="0" bIns="0" rIns="0">
            <a:spAutoFit/>
          </a:bodyPr>
          <a:lstStyle/>
          <a:p>
            <a:pPr algn="r">
              <a:lnSpc>
                <a:spcPts val="8089"/>
              </a:lnSpc>
            </a:pPr>
            <a:r>
              <a:rPr lang="en-US" sz="5778" spc="115">
                <a:solidFill>
                  <a:srgbClr val="000000"/>
                </a:solidFill>
                <a:latin typeface="Knockout Featherweight Bold"/>
                <a:ea typeface="Knockout Featherweight Bold"/>
                <a:cs typeface="Knockout Featherweight Bold"/>
                <a:sym typeface="Knockout Featherweight Bold"/>
              </a:rPr>
              <a:t>BENEFITS OF INTERNSHIP</a:t>
            </a:r>
          </a:p>
        </p:txBody>
      </p:sp>
      <p:sp>
        <p:nvSpPr>
          <p:cNvPr name="TextBox 8" id="8"/>
          <p:cNvSpPr txBox="true"/>
          <p:nvPr/>
        </p:nvSpPr>
        <p:spPr>
          <a:xfrm rot="0">
            <a:off x="1028700" y="1727789"/>
            <a:ext cx="10762900" cy="7263759"/>
          </a:xfrm>
          <a:prstGeom prst="rect">
            <a:avLst/>
          </a:prstGeom>
        </p:spPr>
        <p:txBody>
          <a:bodyPr anchor="t" rtlCol="false" tIns="0" lIns="0" bIns="0" rIns="0">
            <a:spAutoFit/>
          </a:bodyPr>
          <a:lstStyle/>
          <a:p>
            <a:pPr algn="l" marL="1349771" indent="-674886" lvl="1">
              <a:lnSpc>
                <a:spcPts val="7189"/>
              </a:lnSpc>
              <a:buFont typeface="Arial"/>
              <a:buChar char="•"/>
            </a:pPr>
            <a:r>
              <a:rPr lang="en-US" sz="6251">
                <a:solidFill>
                  <a:srgbClr val="B50021"/>
                </a:solidFill>
                <a:latin typeface="Knockout Featherweight Bold"/>
                <a:ea typeface="Knockout Featherweight Bold"/>
                <a:cs typeface="Knockout Featherweight Bold"/>
                <a:sym typeface="Knockout Featherweight Bold"/>
              </a:rPr>
              <a:t>30 DAYS </a:t>
            </a:r>
            <a:r>
              <a:rPr lang="en-US" sz="6251">
                <a:solidFill>
                  <a:srgbClr val="E8EAF6"/>
                </a:solidFill>
                <a:latin typeface="Knockout Featherweight Bold"/>
                <a:ea typeface="Knockout Featherweight Bold"/>
                <a:cs typeface="Knockout Featherweight Bold"/>
                <a:sym typeface="Knockout Featherweight Bold"/>
              </a:rPr>
              <a:t>OF RECORDED SESSIONS</a:t>
            </a:r>
          </a:p>
          <a:p>
            <a:pPr algn="l" marL="1349771" indent="-674886" lvl="1">
              <a:lnSpc>
                <a:spcPts val="7189"/>
              </a:lnSpc>
              <a:buFont typeface="Arial"/>
              <a:buChar char="•"/>
            </a:pPr>
            <a:r>
              <a:rPr lang="en-US" sz="6251">
                <a:solidFill>
                  <a:srgbClr val="B50021"/>
                </a:solidFill>
                <a:latin typeface="Knockout Featherweight Bold"/>
                <a:ea typeface="Knockout Featherweight Bold"/>
                <a:cs typeface="Knockout Featherweight Bold"/>
                <a:sym typeface="Knockout Featherweight Bold"/>
              </a:rPr>
              <a:t>30 DAYS </a:t>
            </a:r>
            <a:r>
              <a:rPr lang="en-US" sz="6251">
                <a:solidFill>
                  <a:srgbClr val="E8EAF6"/>
                </a:solidFill>
                <a:latin typeface="Knockout Featherweight Bold"/>
                <a:ea typeface="Knockout Featherweight Bold"/>
                <a:cs typeface="Knockout Featherweight Bold"/>
                <a:sym typeface="Knockout Featherweight Bold"/>
              </a:rPr>
              <a:t>OF PRESENTATION FOR </a:t>
            </a:r>
            <a:r>
              <a:rPr lang="en-US" sz="6251">
                <a:solidFill>
                  <a:srgbClr val="B50021"/>
                </a:solidFill>
                <a:latin typeface="Knockout Featherweight Bold"/>
                <a:ea typeface="Knockout Featherweight Bold"/>
                <a:cs typeface="Knockout Featherweight Bold"/>
                <a:sym typeface="Knockout Featherweight Bold"/>
              </a:rPr>
              <a:t>DOWNLOAD</a:t>
            </a:r>
            <a:r>
              <a:rPr lang="en-US" sz="6251">
                <a:solidFill>
                  <a:srgbClr val="E8EAF6"/>
                </a:solidFill>
                <a:latin typeface="Knockout Featherweight Bold"/>
                <a:ea typeface="Knockout Featherweight Bold"/>
                <a:cs typeface="Knockout Featherweight Bold"/>
                <a:sym typeface="Knockout Featherweight Bold"/>
              </a:rPr>
              <a:t> </a:t>
            </a:r>
          </a:p>
          <a:p>
            <a:pPr algn="l" marL="1349771" indent="-674886" lvl="1">
              <a:lnSpc>
                <a:spcPts val="7189"/>
              </a:lnSpc>
              <a:buFont typeface="Arial"/>
              <a:buChar char="•"/>
            </a:pPr>
            <a:r>
              <a:rPr lang="en-US" sz="6251">
                <a:solidFill>
                  <a:srgbClr val="B50021"/>
                </a:solidFill>
                <a:latin typeface="Knockout Featherweight Bold"/>
                <a:ea typeface="Knockout Featherweight Bold"/>
                <a:cs typeface="Knockout Featherweight Bold"/>
                <a:sym typeface="Knockout Featherweight Bold"/>
              </a:rPr>
              <a:t>10 </a:t>
            </a:r>
            <a:r>
              <a:rPr lang="en-US" sz="6251">
                <a:solidFill>
                  <a:srgbClr val="E8EAF6"/>
                </a:solidFill>
                <a:latin typeface="Knockout Featherweight Bold"/>
                <a:ea typeface="Knockout Featherweight Bold"/>
                <a:cs typeface="Knockout Featherweight Bold"/>
                <a:sym typeface="Knockout Featherweight Bold"/>
              </a:rPr>
              <a:t>PROJECT SOURCE CODES FOR </a:t>
            </a:r>
            <a:r>
              <a:rPr lang="en-US" sz="6251">
                <a:solidFill>
                  <a:srgbClr val="B50021"/>
                </a:solidFill>
                <a:latin typeface="Knockout Featherweight Bold"/>
                <a:ea typeface="Knockout Featherweight Bold"/>
                <a:cs typeface="Knockout Featherweight Bold"/>
                <a:sym typeface="Knockout Featherweight Bold"/>
              </a:rPr>
              <a:t>DOWNLOAD</a:t>
            </a:r>
          </a:p>
          <a:p>
            <a:pPr algn="l" marL="1349771" indent="-674886" lvl="1">
              <a:lnSpc>
                <a:spcPts val="7189"/>
              </a:lnSpc>
              <a:buFont typeface="Arial"/>
              <a:buChar char="•"/>
            </a:pPr>
            <a:r>
              <a:rPr lang="en-US" sz="6251">
                <a:solidFill>
                  <a:srgbClr val="E8EAF6"/>
                </a:solidFill>
                <a:latin typeface="Knockout Featherweight Bold"/>
                <a:ea typeface="Knockout Featherweight Bold"/>
                <a:cs typeface="Knockout Featherweight Bold"/>
                <a:sym typeface="Knockout Featherweight Bold"/>
              </a:rPr>
              <a:t>1 MONTH INTERNSHIP CERTIFICATE</a:t>
            </a:r>
          </a:p>
          <a:p>
            <a:pPr algn="l" marL="1349771" indent="-674886" lvl="1">
              <a:lnSpc>
                <a:spcPts val="7189"/>
              </a:lnSpc>
              <a:buFont typeface="Arial"/>
              <a:buChar char="•"/>
            </a:pPr>
            <a:r>
              <a:rPr lang="en-US" sz="6251">
                <a:solidFill>
                  <a:srgbClr val="E8EAF6"/>
                </a:solidFill>
                <a:latin typeface="Knockout Featherweight Bold"/>
                <a:ea typeface="Knockout Featherweight Bold"/>
                <a:cs typeface="Knockout Featherweight Bold"/>
                <a:sym typeface="Knockout Featherweight Bold"/>
              </a:rPr>
              <a:t>PARTICIPATION CERTIFICATE</a:t>
            </a:r>
          </a:p>
          <a:p>
            <a:pPr algn="l" marL="1349771" indent="-674886" lvl="1">
              <a:lnSpc>
                <a:spcPts val="7189"/>
              </a:lnSpc>
              <a:buFont typeface="Arial"/>
              <a:buChar char="•"/>
            </a:pPr>
            <a:r>
              <a:rPr lang="en-US" sz="6251">
                <a:solidFill>
                  <a:srgbClr val="B50021"/>
                </a:solidFill>
                <a:latin typeface="Knockout Featherweight Bold"/>
                <a:ea typeface="Knockout Featherweight Bold"/>
                <a:cs typeface="Knockout Featherweight Bold"/>
                <a:sym typeface="Knockout Featherweight Bold"/>
              </a:rPr>
              <a:t>90 DAYS</a:t>
            </a:r>
            <a:r>
              <a:rPr lang="en-US" sz="6251">
                <a:solidFill>
                  <a:srgbClr val="E8EAF6"/>
                </a:solidFill>
                <a:latin typeface="Knockout Featherweight Bold"/>
                <a:ea typeface="Knockout Featherweight Bold"/>
                <a:cs typeface="Knockout Featherweight Bold"/>
                <a:sym typeface="Knockout Featherweight Bold"/>
              </a:rPr>
              <a:t> OF ACCESS TO COURSES</a:t>
            </a:r>
          </a:p>
          <a:p>
            <a:pPr algn="l" marL="1349771" indent="-674886" lvl="1">
              <a:lnSpc>
                <a:spcPts val="7189"/>
              </a:lnSpc>
              <a:buFont typeface="Arial"/>
              <a:buChar char="•"/>
            </a:pPr>
            <a:r>
              <a:rPr lang="en-US" sz="6251">
                <a:solidFill>
                  <a:srgbClr val="B50021"/>
                </a:solidFill>
                <a:latin typeface="Knockout Featherweight Bold"/>
                <a:ea typeface="Knockout Featherweight Bold"/>
                <a:cs typeface="Knockout Featherweight Bold"/>
                <a:sym typeface="Knockout Featherweight Bold"/>
              </a:rPr>
              <a:t>4 </a:t>
            </a:r>
            <a:r>
              <a:rPr lang="en-US" sz="6251">
                <a:solidFill>
                  <a:srgbClr val="E8EAF6"/>
                </a:solidFill>
                <a:latin typeface="Knockout Featherweight Bold"/>
                <a:ea typeface="Knockout Featherweight Bold"/>
                <a:cs typeface="Knockout Featherweight Bold"/>
                <a:sym typeface="Knockout Featherweight Bold"/>
              </a:rPr>
              <a:t>HACKATHON LIVE SESSIONS </a:t>
            </a:r>
          </a:p>
          <a:p>
            <a:pPr algn="l" marL="1349771" indent="-674886" lvl="1">
              <a:lnSpc>
                <a:spcPts val="7189"/>
              </a:lnSpc>
              <a:buFont typeface="Arial"/>
              <a:buChar char="•"/>
            </a:pPr>
            <a:r>
              <a:rPr lang="en-US" sz="6251">
                <a:solidFill>
                  <a:srgbClr val="B50021"/>
                </a:solidFill>
                <a:latin typeface="Knockout Featherweight Bold"/>
                <a:ea typeface="Knockout Featherweight Bold"/>
                <a:cs typeface="Knockout Featherweight Bold"/>
                <a:sym typeface="Knockout Featherweight Bold"/>
              </a:rPr>
              <a:t>COMMUNITY GROUP</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1C1920"/>
        </a:solidFill>
      </p:bgPr>
    </p:bg>
    <p:spTree>
      <p:nvGrpSpPr>
        <p:cNvPr id="1" name=""/>
        <p:cNvGrpSpPr/>
        <p:nvPr/>
      </p:nvGrpSpPr>
      <p:grpSpPr>
        <a:xfrm>
          <a:off x="0" y="0"/>
          <a:ext cx="0" cy="0"/>
          <a:chOff x="0" y="0"/>
          <a:chExt cx="0" cy="0"/>
        </a:xfrm>
      </p:grpSpPr>
      <p:sp>
        <p:nvSpPr>
          <p:cNvPr name="Freeform 2" id="2"/>
          <p:cNvSpPr/>
          <p:nvPr/>
        </p:nvSpPr>
        <p:spPr>
          <a:xfrm flipH="false" flipV="false" rot="0">
            <a:off x="10269266" y="-416019"/>
            <a:ext cx="8973769" cy="8957453"/>
          </a:xfrm>
          <a:custGeom>
            <a:avLst/>
            <a:gdLst/>
            <a:ahLst/>
            <a:cxnLst/>
            <a:rect r="r" b="b" t="t" l="l"/>
            <a:pathLst>
              <a:path h="8957453" w="8973769">
                <a:moveTo>
                  <a:pt x="0" y="0"/>
                </a:moveTo>
                <a:lnTo>
                  <a:pt x="8973769" y="0"/>
                </a:lnTo>
                <a:lnTo>
                  <a:pt x="8973769" y="8957453"/>
                </a:lnTo>
                <a:lnTo>
                  <a:pt x="0" y="8957453"/>
                </a:lnTo>
                <a:lnTo>
                  <a:pt x="0" y="0"/>
                </a:lnTo>
                <a:close/>
              </a:path>
            </a:pathLst>
          </a:custGeom>
          <a:blipFill>
            <a:blip r:embed="rId2">
              <a:alphaModFix amt="27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55446" y="8164855"/>
            <a:ext cx="10058030" cy="1158841"/>
            <a:chOff x="0" y="0"/>
            <a:chExt cx="3823909" cy="440573"/>
          </a:xfrm>
        </p:grpSpPr>
        <p:sp>
          <p:nvSpPr>
            <p:cNvPr name="Freeform 4" id="4"/>
            <p:cNvSpPr/>
            <p:nvPr/>
          </p:nvSpPr>
          <p:spPr>
            <a:xfrm flipH="false" flipV="false" rot="0">
              <a:off x="0" y="0"/>
              <a:ext cx="3823909" cy="440573"/>
            </a:xfrm>
            <a:custGeom>
              <a:avLst/>
              <a:gdLst/>
              <a:ahLst/>
              <a:cxnLst/>
              <a:rect r="r" b="b" t="t" l="l"/>
              <a:pathLst>
                <a:path h="440573" w="3823909">
                  <a:moveTo>
                    <a:pt x="3620709" y="0"/>
                  </a:moveTo>
                  <a:lnTo>
                    <a:pt x="0" y="0"/>
                  </a:lnTo>
                  <a:lnTo>
                    <a:pt x="203200" y="440573"/>
                  </a:lnTo>
                  <a:lnTo>
                    <a:pt x="3823909" y="440573"/>
                  </a:lnTo>
                  <a:lnTo>
                    <a:pt x="3620709" y="0"/>
                  </a:lnTo>
                  <a:close/>
                </a:path>
              </a:pathLst>
            </a:custGeom>
            <a:solidFill>
              <a:srgbClr val="407AD6"/>
            </a:solidFill>
          </p:spPr>
        </p:sp>
        <p:sp>
          <p:nvSpPr>
            <p:cNvPr name="TextBox 5" id="5"/>
            <p:cNvSpPr txBox="true"/>
            <p:nvPr/>
          </p:nvSpPr>
          <p:spPr>
            <a:xfrm>
              <a:off x="101600" y="-76200"/>
              <a:ext cx="3620709" cy="516773"/>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71341" y="9588327"/>
            <a:ext cx="11638032" cy="828814"/>
            <a:chOff x="0" y="0"/>
            <a:chExt cx="4424601" cy="315102"/>
          </a:xfrm>
        </p:grpSpPr>
        <p:sp>
          <p:nvSpPr>
            <p:cNvPr name="Freeform 7" id="7"/>
            <p:cNvSpPr/>
            <p:nvPr/>
          </p:nvSpPr>
          <p:spPr>
            <a:xfrm flipH="false" flipV="false" rot="0">
              <a:off x="0" y="0"/>
              <a:ext cx="4424601" cy="315102"/>
            </a:xfrm>
            <a:custGeom>
              <a:avLst/>
              <a:gdLst/>
              <a:ahLst/>
              <a:cxnLst/>
              <a:rect r="r" b="b" t="t" l="l"/>
              <a:pathLst>
                <a:path h="315102" w="4424601">
                  <a:moveTo>
                    <a:pt x="4221401" y="0"/>
                  </a:moveTo>
                  <a:lnTo>
                    <a:pt x="0" y="0"/>
                  </a:lnTo>
                  <a:lnTo>
                    <a:pt x="203200" y="315102"/>
                  </a:lnTo>
                  <a:lnTo>
                    <a:pt x="4424601" y="315102"/>
                  </a:lnTo>
                  <a:lnTo>
                    <a:pt x="4221401" y="0"/>
                  </a:lnTo>
                  <a:close/>
                </a:path>
              </a:pathLst>
            </a:custGeom>
            <a:solidFill>
              <a:srgbClr val="407AD6"/>
            </a:solidFill>
          </p:spPr>
        </p:sp>
        <p:sp>
          <p:nvSpPr>
            <p:cNvPr name="TextBox 8" id="8"/>
            <p:cNvSpPr txBox="true"/>
            <p:nvPr/>
          </p:nvSpPr>
          <p:spPr>
            <a:xfrm>
              <a:off x="101600" y="-76200"/>
              <a:ext cx="4221401" cy="39130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0807008" y="773017"/>
            <a:ext cx="7110760" cy="8972859"/>
          </a:xfrm>
          <a:custGeom>
            <a:avLst/>
            <a:gdLst/>
            <a:ahLst/>
            <a:cxnLst/>
            <a:rect r="r" b="b" t="t" l="l"/>
            <a:pathLst>
              <a:path h="8972859" w="7110760">
                <a:moveTo>
                  <a:pt x="0" y="0"/>
                </a:moveTo>
                <a:lnTo>
                  <a:pt x="7110760" y="0"/>
                </a:lnTo>
                <a:lnTo>
                  <a:pt x="7110760" y="8972859"/>
                </a:lnTo>
                <a:lnTo>
                  <a:pt x="0" y="8972859"/>
                </a:lnTo>
                <a:lnTo>
                  <a:pt x="0" y="0"/>
                </a:lnTo>
                <a:close/>
              </a:path>
            </a:pathLst>
          </a:custGeom>
          <a:blipFill>
            <a:blip r:embed="rId4"/>
            <a:stretch>
              <a:fillRect l="0" t="0" r="0" b="0"/>
            </a:stretch>
          </a:blipFill>
        </p:spPr>
      </p:sp>
      <p:sp>
        <p:nvSpPr>
          <p:cNvPr name="TextBox 10" id="10"/>
          <p:cNvSpPr txBox="true"/>
          <p:nvPr/>
        </p:nvSpPr>
        <p:spPr>
          <a:xfrm rot="0">
            <a:off x="579133" y="3461007"/>
            <a:ext cx="7802601" cy="1117011"/>
          </a:xfrm>
          <a:prstGeom prst="rect">
            <a:avLst/>
          </a:prstGeom>
        </p:spPr>
        <p:txBody>
          <a:bodyPr anchor="t" rtlCol="false" tIns="0" lIns="0" bIns="0" rIns="0">
            <a:spAutoFit/>
          </a:bodyPr>
          <a:lstStyle/>
          <a:p>
            <a:pPr algn="r">
              <a:lnSpc>
                <a:spcPts val="8980"/>
              </a:lnSpc>
            </a:pPr>
            <a:r>
              <a:rPr lang="en-US" sz="6414" spc="128">
                <a:solidFill>
                  <a:srgbClr val="FFFFFF"/>
                </a:solidFill>
                <a:latin typeface="Arimo"/>
                <a:ea typeface="Arimo"/>
                <a:cs typeface="Arimo"/>
                <a:sym typeface="Arimo"/>
              </a:rPr>
              <a:t>REG FEE : RS.1999</a:t>
            </a:r>
          </a:p>
        </p:txBody>
      </p:sp>
      <p:sp>
        <p:nvSpPr>
          <p:cNvPr name="TextBox 11" id="11"/>
          <p:cNvSpPr txBox="true"/>
          <p:nvPr/>
        </p:nvSpPr>
        <p:spPr>
          <a:xfrm rot="0">
            <a:off x="675655" y="4699950"/>
            <a:ext cx="9694228" cy="993964"/>
          </a:xfrm>
          <a:prstGeom prst="rect">
            <a:avLst/>
          </a:prstGeom>
        </p:spPr>
        <p:txBody>
          <a:bodyPr anchor="t" rtlCol="false" tIns="0" lIns="0" bIns="0" rIns="0">
            <a:spAutoFit/>
          </a:bodyPr>
          <a:lstStyle/>
          <a:p>
            <a:pPr algn="r">
              <a:lnSpc>
                <a:spcPts val="7869"/>
              </a:lnSpc>
            </a:pPr>
            <a:r>
              <a:rPr lang="en-US" b="true" sz="5620" spc="112">
                <a:solidFill>
                  <a:srgbClr val="FFFFFF"/>
                </a:solidFill>
                <a:latin typeface="Arimo Bold"/>
                <a:ea typeface="Arimo Bold"/>
                <a:cs typeface="Arimo Bold"/>
                <a:sym typeface="Arimo Bold"/>
              </a:rPr>
              <a:t>DISCOUNTED FEE : </a:t>
            </a:r>
            <a:r>
              <a:rPr lang="en-US" b="true" sz="5620" spc="112">
                <a:solidFill>
                  <a:srgbClr val="88FF55"/>
                </a:solidFill>
                <a:latin typeface="Arimo Bold"/>
                <a:ea typeface="Arimo Bold"/>
                <a:cs typeface="Arimo Bold"/>
                <a:sym typeface="Arimo Bold"/>
              </a:rPr>
              <a:t>RS.799</a:t>
            </a:r>
          </a:p>
        </p:txBody>
      </p:sp>
      <p:sp>
        <p:nvSpPr>
          <p:cNvPr name="TextBox 12" id="12"/>
          <p:cNvSpPr txBox="true"/>
          <p:nvPr/>
        </p:nvSpPr>
        <p:spPr>
          <a:xfrm rot="0">
            <a:off x="675655" y="5999294"/>
            <a:ext cx="9378425" cy="642512"/>
          </a:xfrm>
          <a:prstGeom prst="rect">
            <a:avLst/>
          </a:prstGeom>
        </p:spPr>
        <p:txBody>
          <a:bodyPr anchor="t" rtlCol="false" tIns="0" lIns="0" bIns="0" rIns="0">
            <a:spAutoFit/>
          </a:bodyPr>
          <a:lstStyle/>
          <a:p>
            <a:pPr algn="r">
              <a:lnSpc>
                <a:spcPts val="5031"/>
              </a:lnSpc>
            </a:pPr>
            <a:r>
              <a:rPr lang="en-US" b="true" sz="3593" spc="71">
                <a:solidFill>
                  <a:srgbClr val="FFFFFF"/>
                </a:solidFill>
                <a:latin typeface="Arimo Bold"/>
                <a:ea typeface="Arimo Bold"/>
                <a:cs typeface="Arimo Bold"/>
                <a:sym typeface="Arimo Bold"/>
              </a:rPr>
              <a:t>REG LINK - HTTPS://RZP.IO/L/UEQE4WM</a:t>
            </a:r>
          </a:p>
        </p:txBody>
      </p:sp>
      <p:sp>
        <p:nvSpPr>
          <p:cNvPr name="TextBox 13" id="13"/>
          <p:cNvSpPr txBox="true"/>
          <p:nvPr/>
        </p:nvSpPr>
        <p:spPr>
          <a:xfrm rot="0">
            <a:off x="-775919" y="8054678"/>
            <a:ext cx="9919919" cy="1236320"/>
          </a:xfrm>
          <a:prstGeom prst="rect">
            <a:avLst/>
          </a:prstGeom>
        </p:spPr>
        <p:txBody>
          <a:bodyPr anchor="t" rtlCol="false" tIns="0" lIns="0" bIns="0" rIns="0">
            <a:spAutoFit/>
          </a:bodyPr>
          <a:lstStyle/>
          <a:p>
            <a:pPr algn="r">
              <a:lnSpc>
                <a:spcPts val="10080"/>
              </a:lnSpc>
            </a:pPr>
            <a:r>
              <a:rPr lang="en-US" sz="7200" spc="144">
                <a:solidFill>
                  <a:srgbClr val="000000"/>
                </a:solidFill>
                <a:latin typeface="Squada One"/>
                <a:ea typeface="Squada One"/>
                <a:cs typeface="Squada One"/>
                <a:sym typeface="Squada One"/>
              </a:rPr>
              <a:t>JOIN AS INTERNSHIP USER</a:t>
            </a:r>
          </a:p>
        </p:txBody>
      </p:sp>
      <p:sp>
        <p:nvSpPr>
          <p:cNvPr name="TextBox 14" id="14"/>
          <p:cNvSpPr txBox="true"/>
          <p:nvPr/>
        </p:nvSpPr>
        <p:spPr>
          <a:xfrm rot="0">
            <a:off x="0" y="9679201"/>
            <a:ext cx="10369883" cy="580259"/>
          </a:xfrm>
          <a:prstGeom prst="rect">
            <a:avLst/>
          </a:prstGeom>
        </p:spPr>
        <p:txBody>
          <a:bodyPr anchor="t" rtlCol="false" tIns="0" lIns="0" bIns="0" rIns="0">
            <a:spAutoFit/>
          </a:bodyPr>
          <a:lstStyle/>
          <a:p>
            <a:pPr algn="ctr">
              <a:lnSpc>
                <a:spcPts val="4759"/>
              </a:lnSpc>
            </a:pPr>
            <a:r>
              <a:rPr lang="en-US" sz="3399" i="true" spc="50">
                <a:solidFill>
                  <a:srgbClr val="000000"/>
                </a:solidFill>
                <a:latin typeface="Fira Sans Italics"/>
                <a:ea typeface="Fira Sans Italics"/>
                <a:cs typeface="Fira Sans Italics"/>
                <a:sym typeface="Fira Sans Italics"/>
              </a:rPr>
              <a:t>NLP INTERNSHIP</a:t>
            </a:r>
          </a:p>
        </p:txBody>
      </p:sp>
      <p:sp>
        <p:nvSpPr>
          <p:cNvPr name="TextBox 15" id="15"/>
          <p:cNvSpPr txBox="true"/>
          <p:nvPr/>
        </p:nvSpPr>
        <p:spPr>
          <a:xfrm rot="0">
            <a:off x="767617" y="2118137"/>
            <a:ext cx="8490479" cy="811880"/>
          </a:xfrm>
          <a:prstGeom prst="rect">
            <a:avLst/>
          </a:prstGeom>
        </p:spPr>
        <p:txBody>
          <a:bodyPr anchor="t" rtlCol="false" tIns="0" lIns="0" bIns="0" rIns="0">
            <a:spAutoFit/>
          </a:bodyPr>
          <a:lstStyle/>
          <a:p>
            <a:pPr algn="ctr">
              <a:lnSpc>
                <a:spcPts val="6092"/>
              </a:lnSpc>
              <a:spcBef>
                <a:spcPct val="0"/>
              </a:spcBef>
            </a:pPr>
            <a:r>
              <a:rPr lang="en-US" sz="6092">
                <a:solidFill>
                  <a:srgbClr val="DF4D60"/>
                </a:solidFill>
                <a:latin typeface="Intro Rust"/>
                <a:ea typeface="Intro Rust"/>
                <a:cs typeface="Intro Rust"/>
                <a:sym typeface="Intro Rust"/>
              </a:rPr>
              <a:t>1 MONTH INTERNSHIP</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1C1920"/>
        </a:solidFill>
      </p:bgPr>
    </p:bg>
    <p:spTree>
      <p:nvGrpSpPr>
        <p:cNvPr id="1" name=""/>
        <p:cNvGrpSpPr/>
        <p:nvPr/>
      </p:nvGrpSpPr>
      <p:grpSpPr>
        <a:xfrm>
          <a:off x="0" y="0"/>
          <a:ext cx="0" cy="0"/>
          <a:chOff x="0" y="0"/>
          <a:chExt cx="0" cy="0"/>
        </a:xfrm>
      </p:grpSpPr>
      <p:sp>
        <p:nvSpPr>
          <p:cNvPr name="Freeform 2" id="2"/>
          <p:cNvSpPr/>
          <p:nvPr/>
        </p:nvSpPr>
        <p:spPr>
          <a:xfrm flipH="false" flipV="false" rot="0">
            <a:off x="10269266" y="-416019"/>
            <a:ext cx="8973769" cy="8957453"/>
          </a:xfrm>
          <a:custGeom>
            <a:avLst/>
            <a:gdLst/>
            <a:ahLst/>
            <a:cxnLst/>
            <a:rect r="r" b="b" t="t" l="l"/>
            <a:pathLst>
              <a:path h="8957453" w="8973769">
                <a:moveTo>
                  <a:pt x="0" y="0"/>
                </a:moveTo>
                <a:lnTo>
                  <a:pt x="8973769" y="0"/>
                </a:lnTo>
                <a:lnTo>
                  <a:pt x="8973769" y="8957453"/>
                </a:lnTo>
                <a:lnTo>
                  <a:pt x="0" y="8957453"/>
                </a:lnTo>
                <a:lnTo>
                  <a:pt x="0" y="0"/>
                </a:lnTo>
                <a:close/>
              </a:path>
            </a:pathLst>
          </a:custGeom>
          <a:blipFill>
            <a:blip r:embed="rId2">
              <a:alphaModFix amt="27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52358" y="616244"/>
            <a:ext cx="8780185" cy="948738"/>
          </a:xfrm>
          <a:prstGeom prst="rect">
            <a:avLst/>
          </a:prstGeom>
        </p:spPr>
        <p:txBody>
          <a:bodyPr anchor="t" rtlCol="false" tIns="0" lIns="0" bIns="0" rIns="0">
            <a:spAutoFit/>
          </a:bodyPr>
          <a:lstStyle/>
          <a:p>
            <a:pPr algn="ctr">
              <a:lnSpc>
                <a:spcPts val="7056"/>
              </a:lnSpc>
              <a:spcBef>
                <a:spcPct val="0"/>
              </a:spcBef>
            </a:pPr>
            <a:r>
              <a:rPr lang="en-US" sz="7056">
                <a:solidFill>
                  <a:srgbClr val="DF4D60"/>
                </a:solidFill>
                <a:latin typeface="Knockout Welterweight Bold"/>
                <a:ea typeface="Knockout Welterweight Bold"/>
                <a:cs typeface="Knockout Welterweight Bold"/>
                <a:sym typeface="Knockout Welterweight Bold"/>
              </a:rPr>
              <a:t>DAY WISE LEARNING PLAN</a:t>
            </a:r>
          </a:p>
        </p:txBody>
      </p:sp>
      <p:sp>
        <p:nvSpPr>
          <p:cNvPr name="TextBox 4" id="4"/>
          <p:cNvSpPr txBox="true"/>
          <p:nvPr/>
        </p:nvSpPr>
        <p:spPr>
          <a:xfrm rot="0">
            <a:off x="704715" y="2029367"/>
            <a:ext cx="17583285" cy="7646587"/>
          </a:xfrm>
          <a:prstGeom prst="rect">
            <a:avLst/>
          </a:prstGeom>
        </p:spPr>
        <p:txBody>
          <a:bodyPr anchor="t" rtlCol="false" tIns="0" lIns="0" bIns="0" rIns="0">
            <a:spAutoFit/>
          </a:bodyPr>
          <a:lstStyle/>
          <a:p>
            <a:pPr algn="l">
              <a:lnSpc>
                <a:spcPts val="6098"/>
              </a:lnSpc>
            </a:pPr>
            <a:r>
              <a:rPr lang="en-US" sz="3388" b="true">
                <a:solidFill>
                  <a:srgbClr val="E8E8E8"/>
                </a:solidFill>
                <a:latin typeface="Glacial Indifference Bold"/>
                <a:ea typeface="Glacial Indifference Bold"/>
                <a:cs typeface="Glacial Indifference Bold"/>
                <a:sym typeface="Glacial Indifference Bold"/>
              </a:rPr>
              <a:t>DAY 1 : INTRODUCTION TO NLP, AND MACHINE LEARNING</a:t>
            </a:r>
          </a:p>
          <a:p>
            <a:pPr algn="l">
              <a:lnSpc>
                <a:spcPts val="6098"/>
              </a:lnSpc>
            </a:pPr>
            <a:r>
              <a:rPr lang="en-US" sz="3388" b="true">
                <a:solidFill>
                  <a:srgbClr val="E8E8E8"/>
                </a:solidFill>
                <a:latin typeface="Glacial Indifference Bold"/>
                <a:ea typeface="Glacial Indifference Bold"/>
                <a:cs typeface="Glacial Indifference Bold"/>
                <a:sym typeface="Glacial Indifference Bold"/>
              </a:rPr>
              <a:t>Day 2 : Data collection, Pandas Library</a:t>
            </a:r>
          </a:p>
          <a:p>
            <a:pPr algn="l">
              <a:lnSpc>
                <a:spcPts val="6098"/>
              </a:lnSpc>
            </a:pPr>
            <a:r>
              <a:rPr lang="en-US" sz="3388" b="true">
                <a:solidFill>
                  <a:srgbClr val="E8E8E8"/>
                </a:solidFill>
                <a:latin typeface="Glacial Indifference Bold"/>
                <a:ea typeface="Glacial Indifference Bold"/>
                <a:cs typeface="Glacial Indifference Bold"/>
                <a:sym typeface="Glacial Indifference Bold"/>
              </a:rPr>
              <a:t>Day 3 : Numpy library</a:t>
            </a:r>
          </a:p>
          <a:p>
            <a:pPr algn="l">
              <a:lnSpc>
                <a:spcPts val="6098"/>
              </a:lnSpc>
            </a:pPr>
            <a:r>
              <a:rPr lang="en-US" sz="3388" b="true">
                <a:solidFill>
                  <a:srgbClr val="E8E8E8"/>
                </a:solidFill>
                <a:latin typeface="Glacial Indifference Bold"/>
                <a:ea typeface="Glacial Indifference Bold"/>
                <a:cs typeface="Glacial Indifference Bold"/>
                <a:sym typeface="Glacial Indifference Bold"/>
              </a:rPr>
              <a:t>Day 4 : Matplotlib, Seaborn</a:t>
            </a:r>
          </a:p>
          <a:p>
            <a:pPr algn="l">
              <a:lnSpc>
                <a:spcPts val="6098"/>
              </a:lnSpc>
            </a:pPr>
            <a:r>
              <a:rPr lang="en-US" sz="3388" b="true">
                <a:solidFill>
                  <a:srgbClr val="E8E8E8"/>
                </a:solidFill>
                <a:latin typeface="Glacial Indifference Bold"/>
                <a:ea typeface="Glacial Indifference Bold"/>
                <a:cs typeface="Glacial Indifference Bold"/>
                <a:sym typeface="Glacial Indifference Bold"/>
              </a:rPr>
              <a:t>Day 5 : Machine learning basics, preprocessing</a:t>
            </a:r>
          </a:p>
          <a:p>
            <a:pPr algn="l">
              <a:lnSpc>
                <a:spcPts val="6098"/>
              </a:lnSpc>
            </a:pPr>
            <a:r>
              <a:rPr lang="en-US" sz="3388" b="true">
                <a:solidFill>
                  <a:srgbClr val="E8E8E8"/>
                </a:solidFill>
                <a:latin typeface="Glacial Indifference Bold"/>
                <a:ea typeface="Glacial Indifference Bold"/>
                <a:cs typeface="Glacial Indifference Bold"/>
                <a:sym typeface="Glacial Indifference Bold"/>
              </a:rPr>
              <a:t>Day 6 : Encoding, Outlier detection, handling</a:t>
            </a:r>
          </a:p>
          <a:p>
            <a:pPr algn="l">
              <a:lnSpc>
                <a:spcPts val="6098"/>
              </a:lnSpc>
            </a:pPr>
            <a:r>
              <a:rPr lang="en-US" sz="3388" b="true">
                <a:solidFill>
                  <a:srgbClr val="E8E8E8"/>
                </a:solidFill>
                <a:latin typeface="Glacial Indifference Bold"/>
                <a:ea typeface="Glacial Indifference Bold"/>
                <a:cs typeface="Glacial Indifference Bold"/>
                <a:sym typeface="Glacial Indifference Bold"/>
              </a:rPr>
              <a:t>Day 7 : Train test split, feature selection</a:t>
            </a:r>
          </a:p>
          <a:p>
            <a:pPr algn="l">
              <a:lnSpc>
                <a:spcPts val="6098"/>
              </a:lnSpc>
            </a:pPr>
            <a:r>
              <a:rPr lang="en-US" sz="3388" b="true">
                <a:solidFill>
                  <a:srgbClr val="E8E8E8"/>
                </a:solidFill>
                <a:latin typeface="Glacial Indifference Bold"/>
                <a:ea typeface="Glacial Indifference Bold"/>
                <a:cs typeface="Glacial Indifference Bold"/>
                <a:sym typeface="Glacial Indifference Bold"/>
              </a:rPr>
              <a:t>Day 8 : Machine learning Modeling, model evaluation</a:t>
            </a:r>
          </a:p>
          <a:p>
            <a:pPr algn="l">
              <a:lnSpc>
                <a:spcPts val="6098"/>
              </a:lnSpc>
            </a:pPr>
            <a:r>
              <a:rPr lang="en-US" sz="3388" b="true">
                <a:solidFill>
                  <a:srgbClr val="E8E8E8"/>
                </a:solidFill>
                <a:latin typeface="Glacial Indifference Bold"/>
                <a:ea typeface="Glacial Indifference Bold"/>
                <a:cs typeface="Glacial Indifference Bold"/>
                <a:sym typeface="Glacial Indifference Bold"/>
              </a:rPr>
              <a:t>Day 9 : </a:t>
            </a:r>
            <a:r>
              <a:rPr lang="en-US" sz="3388" b="true">
                <a:solidFill>
                  <a:srgbClr val="71D6FC"/>
                </a:solidFill>
                <a:latin typeface="Glacial Indifference Bold"/>
                <a:ea typeface="Glacial Indifference Bold"/>
                <a:cs typeface="Glacial Indifference Bold"/>
                <a:sym typeface="Glacial Indifference Bold"/>
              </a:rPr>
              <a:t>ML Classification project - Churn prediction</a:t>
            </a:r>
          </a:p>
          <a:p>
            <a:pPr algn="l">
              <a:lnSpc>
                <a:spcPts val="6098"/>
              </a:lnSpc>
            </a:pPr>
            <a:r>
              <a:rPr lang="en-US" sz="3388" b="true">
                <a:solidFill>
                  <a:srgbClr val="E8E8E8"/>
                </a:solidFill>
                <a:latin typeface="Glacial Indifference Bold"/>
                <a:ea typeface="Glacial Indifference Bold"/>
                <a:cs typeface="Glacial Indifference Bold"/>
                <a:sym typeface="Glacial Indifference Bold"/>
              </a:rPr>
              <a:t>Day 10 : </a:t>
            </a:r>
            <a:r>
              <a:rPr lang="en-US" sz="3388" b="true">
                <a:solidFill>
                  <a:srgbClr val="71D6FC"/>
                </a:solidFill>
                <a:latin typeface="Glacial Indifference Bold"/>
                <a:ea typeface="Glacial Indifference Bold"/>
                <a:cs typeface="Glacial Indifference Bold"/>
                <a:sym typeface="Glacial Indifference Bold"/>
              </a:rPr>
              <a:t>ML Regression project - Sale prediction for a FMCG company</a:t>
            </a:r>
          </a:p>
        </p:txBody>
      </p:sp>
      <p:sp>
        <p:nvSpPr>
          <p:cNvPr name="Freeform 5" id="5"/>
          <p:cNvSpPr/>
          <p:nvPr/>
        </p:nvSpPr>
        <p:spPr>
          <a:xfrm flipH="false" flipV="false" rot="0">
            <a:off x="11521687" y="86903"/>
            <a:ext cx="7721348" cy="1883594"/>
          </a:xfrm>
          <a:custGeom>
            <a:avLst/>
            <a:gdLst/>
            <a:ahLst/>
            <a:cxnLst/>
            <a:rect r="r" b="b" t="t" l="l"/>
            <a:pathLst>
              <a:path h="1883594" w="7721348">
                <a:moveTo>
                  <a:pt x="0" y="0"/>
                </a:moveTo>
                <a:lnTo>
                  <a:pt x="7721348" y="0"/>
                </a:lnTo>
                <a:lnTo>
                  <a:pt x="7721348" y="1883594"/>
                </a:lnTo>
                <a:lnTo>
                  <a:pt x="0" y="1883594"/>
                </a:lnTo>
                <a:lnTo>
                  <a:pt x="0" y="0"/>
                </a:lnTo>
                <a:close/>
              </a:path>
            </a:pathLst>
          </a:custGeom>
          <a:blipFill>
            <a:blip r:embed="rId4"/>
            <a:stretch>
              <a:fillRect l="0" t="0" r="0" b="-10343"/>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1C1920"/>
        </a:solidFill>
      </p:bgPr>
    </p:bg>
    <p:spTree>
      <p:nvGrpSpPr>
        <p:cNvPr id="1" name=""/>
        <p:cNvGrpSpPr/>
        <p:nvPr/>
      </p:nvGrpSpPr>
      <p:grpSpPr>
        <a:xfrm>
          <a:off x="0" y="0"/>
          <a:ext cx="0" cy="0"/>
          <a:chOff x="0" y="0"/>
          <a:chExt cx="0" cy="0"/>
        </a:xfrm>
      </p:grpSpPr>
      <p:sp>
        <p:nvSpPr>
          <p:cNvPr name="Freeform 2" id="2"/>
          <p:cNvSpPr/>
          <p:nvPr/>
        </p:nvSpPr>
        <p:spPr>
          <a:xfrm flipH="false" flipV="false" rot="0">
            <a:off x="10269266" y="-416019"/>
            <a:ext cx="8973769" cy="8957453"/>
          </a:xfrm>
          <a:custGeom>
            <a:avLst/>
            <a:gdLst/>
            <a:ahLst/>
            <a:cxnLst/>
            <a:rect r="r" b="b" t="t" l="l"/>
            <a:pathLst>
              <a:path h="8957453" w="8973769">
                <a:moveTo>
                  <a:pt x="0" y="0"/>
                </a:moveTo>
                <a:lnTo>
                  <a:pt x="8973769" y="0"/>
                </a:lnTo>
                <a:lnTo>
                  <a:pt x="8973769" y="8957453"/>
                </a:lnTo>
                <a:lnTo>
                  <a:pt x="0" y="8957453"/>
                </a:lnTo>
                <a:lnTo>
                  <a:pt x="0" y="0"/>
                </a:lnTo>
                <a:close/>
              </a:path>
            </a:pathLst>
          </a:custGeom>
          <a:blipFill>
            <a:blip r:embed="rId2">
              <a:alphaModFix amt="27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96411" y="1152525"/>
            <a:ext cx="8780185" cy="948738"/>
          </a:xfrm>
          <a:prstGeom prst="rect">
            <a:avLst/>
          </a:prstGeom>
        </p:spPr>
        <p:txBody>
          <a:bodyPr anchor="t" rtlCol="false" tIns="0" lIns="0" bIns="0" rIns="0">
            <a:spAutoFit/>
          </a:bodyPr>
          <a:lstStyle/>
          <a:p>
            <a:pPr algn="ctr">
              <a:lnSpc>
                <a:spcPts val="7056"/>
              </a:lnSpc>
              <a:spcBef>
                <a:spcPct val="0"/>
              </a:spcBef>
            </a:pPr>
            <a:r>
              <a:rPr lang="en-US" sz="7056">
                <a:solidFill>
                  <a:srgbClr val="DF4D60"/>
                </a:solidFill>
                <a:latin typeface="Knockout Welterweight Bold"/>
                <a:ea typeface="Knockout Welterweight Bold"/>
                <a:cs typeface="Knockout Welterweight Bold"/>
                <a:sym typeface="Knockout Welterweight Bold"/>
              </a:rPr>
              <a:t>DAY WISE LEARNING PLAN</a:t>
            </a:r>
          </a:p>
        </p:txBody>
      </p:sp>
      <p:sp>
        <p:nvSpPr>
          <p:cNvPr name="TextBox 4" id="4"/>
          <p:cNvSpPr txBox="true"/>
          <p:nvPr/>
        </p:nvSpPr>
        <p:spPr>
          <a:xfrm rot="0">
            <a:off x="596411" y="2489033"/>
            <a:ext cx="16506507" cy="7186146"/>
          </a:xfrm>
          <a:prstGeom prst="rect">
            <a:avLst/>
          </a:prstGeom>
        </p:spPr>
        <p:txBody>
          <a:bodyPr anchor="t" rtlCol="false" tIns="0" lIns="0" bIns="0" rIns="0">
            <a:spAutoFit/>
          </a:bodyPr>
          <a:lstStyle/>
          <a:p>
            <a:pPr algn="l">
              <a:lnSpc>
                <a:spcPts val="5725"/>
              </a:lnSpc>
            </a:pPr>
            <a:r>
              <a:rPr lang="en-US" sz="3180" b="true">
                <a:solidFill>
                  <a:srgbClr val="E8E8E8"/>
                </a:solidFill>
                <a:latin typeface="Glacial Indifference Bold"/>
                <a:ea typeface="Glacial Indifference Bold"/>
                <a:cs typeface="Glacial Indifference Bold"/>
                <a:sym typeface="Glacial Indifference Bold"/>
              </a:rPr>
              <a:t>DAY 11 : </a:t>
            </a:r>
            <a:r>
              <a:rPr lang="en-US" sz="3180" b="true">
                <a:solidFill>
                  <a:srgbClr val="71D6FC"/>
                </a:solidFill>
                <a:latin typeface="Glacial Indifference Bold"/>
                <a:ea typeface="Glacial Indifference Bold"/>
                <a:cs typeface="Glacial Indifference Bold"/>
                <a:sym typeface="Glacial Indifference Bold"/>
              </a:rPr>
              <a:t>CLUSTERING PROJECT - MALL CUSTOMER CLUSTERING </a:t>
            </a:r>
          </a:p>
          <a:p>
            <a:pPr algn="l">
              <a:lnSpc>
                <a:spcPts val="5725"/>
              </a:lnSpc>
            </a:pPr>
            <a:r>
              <a:rPr lang="en-US" sz="3180" b="true">
                <a:solidFill>
                  <a:srgbClr val="E8E8E8"/>
                </a:solidFill>
                <a:latin typeface="Glacial Indifference Bold"/>
                <a:ea typeface="Glacial Indifference Bold"/>
                <a:cs typeface="Glacial Indifference Bold"/>
                <a:sym typeface="Glacial Indifference Bold"/>
              </a:rPr>
              <a:t>Day 12 : Regex</a:t>
            </a:r>
          </a:p>
          <a:p>
            <a:pPr algn="l">
              <a:lnSpc>
                <a:spcPts val="5725"/>
              </a:lnSpc>
            </a:pPr>
            <a:r>
              <a:rPr lang="en-US" sz="3180" b="true">
                <a:solidFill>
                  <a:srgbClr val="E8E8E8"/>
                </a:solidFill>
                <a:latin typeface="Glacial Indifference Bold"/>
                <a:ea typeface="Glacial Indifference Bold"/>
                <a:cs typeface="Glacial Indifference Bold"/>
                <a:sym typeface="Glacial Indifference Bold"/>
              </a:rPr>
              <a:t>Day 13 : Text preprocessing -1 : Tokenization,  Lemmatization, Stop words</a:t>
            </a:r>
          </a:p>
          <a:p>
            <a:pPr algn="l">
              <a:lnSpc>
                <a:spcPts val="5725"/>
              </a:lnSpc>
            </a:pPr>
            <a:r>
              <a:rPr lang="en-US" sz="3180" b="true">
                <a:solidFill>
                  <a:srgbClr val="E8E8E8"/>
                </a:solidFill>
                <a:latin typeface="Glacial Indifference Bold"/>
                <a:ea typeface="Glacial Indifference Bold"/>
                <a:cs typeface="Glacial Indifference Bold"/>
                <a:sym typeface="Glacial Indifference Bold"/>
              </a:rPr>
              <a:t>Day 14 : Text preprocessing -2: POS, NER, Bag of Words, TFIDF, Ngrams,</a:t>
            </a:r>
          </a:p>
          <a:p>
            <a:pPr algn="l">
              <a:lnSpc>
                <a:spcPts val="5725"/>
              </a:lnSpc>
            </a:pPr>
            <a:r>
              <a:rPr lang="en-US" sz="3180" b="true">
                <a:solidFill>
                  <a:srgbClr val="E8E8E8"/>
                </a:solidFill>
                <a:latin typeface="Glacial Indifference Bold"/>
                <a:ea typeface="Glacial Indifference Bold"/>
                <a:cs typeface="Glacial Indifference Bold"/>
                <a:sym typeface="Glacial Indifference Bold"/>
              </a:rPr>
              <a:t>Day 15 : </a:t>
            </a:r>
            <a:r>
              <a:rPr lang="en-US" sz="3180" b="true">
                <a:solidFill>
                  <a:srgbClr val="71D6FC"/>
                </a:solidFill>
                <a:latin typeface="Glacial Indifference Bold"/>
                <a:ea typeface="Glacial Indifference Bold"/>
                <a:cs typeface="Glacial Indifference Bold"/>
                <a:sym typeface="Glacial Indifference Bold"/>
              </a:rPr>
              <a:t>Sentiment Classification on Amazon Reviews using Machine Learning</a:t>
            </a:r>
          </a:p>
          <a:p>
            <a:pPr algn="l">
              <a:lnSpc>
                <a:spcPts val="5725"/>
              </a:lnSpc>
            </a:pPr>
            <a:r>
              <a:rPr lang="en-US" sz="3180" b="true">
                <a:solidFill>
                  <a:srgbClr val="E8E8E8"/>
                </a:solidFill>
                <a:latin typeface="Glacial Indifference Bold"/>
                <a:ea typeface="Glacial Indifference Bold"/>
                <a:cs typeface="Glacial Indifference Bold"/>
                <a:sym typeface="Glacial Indifference Bold"/>
              </a:rPr>
              <a:t>Day 16 : Introduction to Deep learning, Tensorflow basics</a:t>
            </a:r>
          </a:p>
          <a:p>
            <a:pPr algn="l">
              <a:lnSpc>
                <a:spcPts val="5725"/>
              </a:lnSpc>
            </a:pPr>
            <a:r>
              <a:rPr lang="en-US" sz="3180" b="true">
                <a:solidFill>
                  <a:srgbClr val="E8E8E8"/>
                </a:solidFill>
                <a:latin typeface="Glacial Indifference Bold"/>
                <a:ea typeface="Glacial Indifference Bold"/>
                <a:cs typeface="Glacial Indifference Bold"/>
                <a:sym typeface="Glacial Indifference Bold"/>
              </a:rPr>
              <a:t>Day 17 : Advanced preprocessing - word2vec, average word2vec.</a:t>
            </a:r>
          </a:p>
          <a:p>
            <a:pPr algn="l">
              <a:lnSpc>
                <a:spcPts val="5725"/>
              </a:lnSpc>
            </a:pPr>
            <a:r>
              <a:rPr lang="en-US" sz="3180" b="true">
                <a:solidFill>
                  <a:srgbClr val="E8E8E8"/>
                </a:solidFill>
                <a:latin typeface="Glacial Indifference Bold"/>
                <a:ea typeface="Glacial Indifference Bold"/>
                <a:cs typeface="Glacial Indifference Bold"/>
                <a:sym typeface="Glacial Indifference Bold"/>
              </a:rPr>
              <a:t>Day 18 : Advanced preprocessing implementation</a:t>
            </a:r>
          </a:p>
          <a:p>
            <a:pPr algn="l">
              <a:lnSpc>
                <a:spcPts val="5725"/>
              </a:lnSpc>
            </a:pPr>
            <a:r>
              <a:rPr lang="en-US" sz="3180" b="true">
                <a:solidFill>
                  <a:srgbClr val="E8E8E8"/>
                </a:solidFill>
                <a:latin typeface="Glacial Indifference Bold"/>
                <a:ea typeface="Glacial Indifference Bold"/>
                <a:cs typeface="Glacial Indifference Bold"/>
                <a:sym typeface="Glacial Indifference Bold"/>
              </a:rPr>
              <a:t>Day 19 : RNN , LSTM architecture walkthrough</a:t>
            </a:r>
          </a:p>
          <a:p>
            <a:pPr algn="l">
              <a:lnSpc>
                <a:spcPts val="5725"/>
              </a:lnSpc>
            </a:pPr>
            <a:r>
              <a:rPr lang="en-US" sz="3180" b="true">
                <a:solidFill>
                  <a:srgbClr val="E8E8E8"/>
                </a:solidFill>
                <a:latin typeface="Glacial Indifference Bold"/>
                <a:ea typeface="Glacial Indifference Bold"/>
                <a:cs typeface="Glacial Indifference Bold"/>
                <a:sym typeface="Glacial Indifference Bold"/>
              </a:rPr>
              <a:t>Day 20 :</a:t>
            </a:r>
            <a:r>
              <a:rPr lang="en-US" sz="3180" b="true">
                <a:solidFill>
                  <a:srgbClr val="39A1FF"/>
                </a:solidFill>
                <a:latin typeface="Glacial Indifference Bold"/>
                <a:ea typeface="Glacial Indifference Bold"/>
                <a:cs typeface="Glacial Indifference Bold"/>
                <a:sym typeface="Glacial Indifference Bold"/>
              </a:rPr>
              <a:t> </a:t>
            </a:r>
            <a:r>
              <a:rPr lang="en-US" sz="3180" b="true">
                <a:solidFill>
                  <a:srgbClr val="71D6FC"/>
                </a:solidFill>
                <a:latin typeface="Glacial Indifference Bold"/>
                <a:ea typeface="Glacial Indifference Bold"/>
                <a:cs typeface="Glacial Indifference Bold"/>
                <a:sym typeface="Glacial Indifference Bold"/>
              </a:rPr>
              <a:t>Next word Prediction using LSTM</a:t>
            </a:r>
          </a:p>
        </p:txBody>
      </p:sp>
      <p:sp>
        <p:nvSpPr>
          <p:cNvPr name="Freeform 5" id="5"/>
          <p:cNvSpPr/>
          <p:nvPr/>
        </p:nvSpPr>
        <p:spPr>
          <a:xfrm flipH="false" flipV="false" rot="0">
            <a:off x="11316826" y="404810"/>
            <a:ext cx="7721348" cy="1883594"/>
          </a:xfrm>
          <a:custGeom>
            <a:avLst/>
            <a:gdLst/>
            <a:ahLst/>
            <a:cxnLst/>
            <a:rect r="r" b="b" t="t" l="l"/>
            <a:pathLst>
              <a:path h="1883594" w="7721348">
                <a:moveTo>
                  <a:pt x="0" y="0"/>
                </a:moveTo>
                <a:lnTo>
                  <a:pt x="7721348" y="0"/>
                </a:lnTo>
                <a:lnTo>
                  <a:pt x="7721348" y="1883594"/>
                </a:lnTo>
                <a:lnTo>
                  <a:pt x="0" y="1883594"/>
                </a:lnTo>
                <a:lnTo>
                  <a:pt x="0" y="0"/>
                </a:lnTo>
                <a:close/>
              </a:path>
            </a:pathLst>
          </a:custGeom>
          <a:blipFill>
            <a:blip r:embed="rId4"/>
            <a:stretch>
              <a:fillRect l="0" t="0" r="0" b="-10343"/>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1C1920"/>
        </a:solidFill>
      </p:bgPr>
    </p:bg>
    <p:spTree>
      <p:nvGrpSpPr>
        <p:cNvPr id="1" name=""/>
        <p:cNvGrpSpPr/>
        <p:nvPr/>
      </p:nvGrpSpPr>
      <p:grpSpPr>
        <a:xfrm>
          <a:off x="0" y="0"/>
          <a:ext cx="0" cy="0"/>
          <a:chOff x="0" y="0"/>
          <a:chExt cx="0" cy="0"/>
        </a:xfrm>
      </p:grpSpPr>
      <p:sp>
        <p:nvSpPr>
          <p:cNvPr name="Freeform 2" id="2"/>
          <p:cNvSpPr/>
          <p:nvPr/>
        </p:nvSpPr>
        <p:spPr>
          <a:xfrm flipH="false" flipV="false" rot="0">
            <a:off x="10269266" y="-416019"/>
            <a:ext cx="8973769" cy="8957453"/>
          </a:xfrm>
          <a:custGeom>
            <a:avLst/>
            <a:gdLst/>
            <a:ahLst/>
            <a:cxnLst/>
            <a:rect r="r" b="b" t="t" l="l"/>
            <a:pathLst>
              <a:path h="8957453" w="8973769">
                <a:moveTo>
                  <a:pt x="0" y="0"/>
                </a:moveTo>
                <a:lnTo>
                  <a:pt x="8973769" y="0"/>
                </a:lnTo>
                <a:lnTo>
                  <a:pt x="8973769" y="8957453"/>
                </a:lnTo>
                <a:lnTo>
                  <a:pt x="0" y="8957453"/>
                </a:lnTo>
                <a:lnTo>
                  <a:pt x="0" y="0"/>
                </a:lnTo>
                <a:close/>
              </a:path>
            </a:pathLst>
          </a:custGeom>
          <a:blipFill>
            <a:blip r:embed="rId2">
              <a:alphaModFix amt="27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35747" y="986475"/>
            <a:ext cx="8780185" cy="948738"/>
          </a:xfrm>
          <a:prstGeom prst="rect">
            <a:avLst/>
          </a:prstGeom>
        </p:spPr>
        <p:txBody>
          <a:bodyPr anchor="t" rtlCol="false" tIns="0" lIns="0" bIns="0" rIns="0">
            <a:spAutoFit/>
          </a:bodyPr>
          <a:lstStyle/>
          <a:p>
            <a:pPr algn="ctr">
              <a:lnSpc>
                <a:spcPts val="7056"/>
              </a:lnSpc>
              <a:spcBef>
                <a:spcPct val="0"/>
              </a:spcBef>
            </a:pPr>
            <a:r>
              <a:rPr lang="en-US" sz="7056">
                <a:solidFill>
                  <a:srgbClr val="DF4D60"/>
                </a:solidFill>
                <a:latin typeface="Knockout Welterweight Bold"/>
                <a:ea typeface="Knockout Welterweight Bold"/>
                <a:cs typeface="Knockout Welterweight Bold"/>
                <a:sym typeface="Knockout Welterweight Bold"/>
              </a:rPr>
              <a:t>DAY WISE LEARNING PLAN</a:t>
            </a:r>
          </a:p>
        </p:txBody>
      </p:sp>
      <p:sp>
        <p:nvSpPr>
          <p:cNvPr name="TextBox 4" id="4"/>
          <p:cNvSpPr txBox="true"/>
          <p:nvPr/>
        </p:nvSpPr>
        <p:spPr>
          <a:xfrm rot="0">
            <a:off x="735747" y="2331135"/>
            <a:ext cx="16816507" cy="7277507"/>
          </a:xfrm>
          <a:prstGeom prst="rect">
            <a:avLst/>
          </a:prstGeom>
        </p:spPr>
        <p:txBody>
          <a:bodyPr anchor="t" rtlCol="false" tIns="0" lIns="0" bIns="0" rIns="0">
            <a:spAutoFit/>
          </a:bodyPr>
          <a:lstStyle/>
          <a:p>
            <a:pPr algn="l">
              <a:lnSpc>
                <a:spcPts val="5832"/>
              </a:lnSpc>
            </a:pPr>
            <a:r>
              <a:rPr lang="en-US" sz="3240" b="true">
                <a:solidFill>
                  <a:srgbClr val="E8E8E8"/>
                </a:solidFill>
                <a:latin typeface="Glacial Indifference Bold"/>
                <a:ea typeface="Glacial Indifference Bold"/>
                <a:cs typeface="Glacial Indifference Bold"/>
                <a:sym typeface="Glacial Indifference Bold"/>
              </a:rPr>
              <a:t>DAY 21 : </a:t>
            </a:r>
            <a:r>
              <a:rPr lang="en-US" sz="3240" b="true">
                <a:solidFill>
                  <a:srgbClr val="71D6FC"/>
                </a:solidFill>
                <a:latin typeface="Glacial Indifference Bold"/>
                <a:ea typeface="Glacial Indifference Bold"/>
                <a:cs typeface="Glacial Indifference Bold"/>
                <a:sym typeface="Glacial Indifference Bold"/>
              </a:rPr>
              <a:t>GENERATING POETIC TEXT USING LSTM</a:t>
            </a:r>
          </a:p>
          <a:p>
            <a:pPr algn="l">
              <a:lnSpc>
                <a:spcPts val="5832"/>
              </a:lnSpc>
            </a:pPr>
            <a:r>
              <a:rPr lang="en-US" sz="3240" b="true">
                <a:solidFill>
                  <a:srgbClr val="E8E8E8"/>
                </a:solidFill>
                <a:latin typeface="Glacial Indifference Bold"/>
                <a:ea typeface="Glacial Indifference Bold"/>
                <a:cs typeface="Glacial Indifference Bold"/>
                <a:sym typeface="Glacial Indifference Bold"/>
              </a:rPr>
              <a:t>Day 22 : Fake News Classifier using Bidirectional LSTM</a:t>
            </a:r>
          </a:p>
          <a:p>
            <a:pPr algn="l">
              <a:lnSpc>
                <a:spcPts val="5832"/>
              </a:lnSpc>
            </a:pPr>
            <a:r>
              <a:rPr lang="en-US" sz="3240" b="true">
                <a:solidFill>
                  <a:srgbClr val="E8E8E8"/>
                </a:solidFill>
                <a:latin typeface="Glacial Indifference Bold"/>
                <a:ea typeface="Glacial Indifference Bold"/>
                <a:cs typeface="Glacial Indifference Bold"/>
                <a:sym typeface="Glacial Indifference Bold"/>
              </a:rPr>
              <a:t>Day 23 : Seq2Seq Models</a:t>
            </a:r>
          </a:p>
          <a:p>
            <a:pPr algn="l">
              <a:lnSpc>
                <a:spcPts val="5832"/>
              </a:lnSpc>
            </a:pPr>
            <a:r>
              <a:rPr lang="en-US" sz="3240" b="true">
                <a:solidFill>
                  <a:srgbClr val="E8E8E8"/>
                </a:solidFill>
                <a:latin typeface="Glacial Indifference Bold"/>
                <a:ea typeface="Glacial Indifference Bold"/>
                <a:cs typeface="Glacial Indifference Bold"/>
                <a:sym typeface="Glacial Indifference Bold"/>
              </a:rPr>
              <a:t>Day 24 : </a:t>
            </a:r>
            <a:r>
              <a:rPr lang="en-US" sz="3240" b="true">
                <a:solidFill>
                  <a:srgbClr val="71D6FC"/>
                </a:solidFill>
                <a:latin typeface="Glacial Indifference Bold"/>
                <a:ea typeface="Glacial Indifference Bold"/>
                <a:cs typeface="Glacial Indifference Bold"/>
                <a:sym typeface="Glacial Indifference Bold"/>
              </a:rPr>
              <a:t>Text Summarization using LSTM encoder-decoder architecture</a:t>
            </a:r>
          </a:p>
          <a:p>
            <a:pPr algn="l">
              <a:lnSpc>
                <a:spcPts val="5832"/>
              </a:lnSpc>
            </a:pPr>
            <a:r>
              <a:rPr lang="en-US" sz="3240" b="true">
                <a:solidFill>
                  <a:srgbClr val="E8E8E8"/>
                </a:solidFill>
                <a:latin typeface="Glacial Indifference Bold"/>
                <a:ea typeface="Glacial Indifference Bold"/>
                <a:cs typeface="Glacial Indifference Bold"/>
                <a:sym typeface="Glacial Indifference Bold"/>
              </a:rPr>
              <a:t>Day 25 : LLM introduction, Transformer Architecture</a:t>
            </a:r>
          </a:p>
          <a:p>
            <a:pPr algn="l">
              <a:lnSpc>
                <a:spcPts val="5832"/>
              </a:lnSpc>
            </a:pPr>
            <a:r>
              <a:rPr lang="en-US" sz="3240" b="true">
                <a:solidFill>
                  <a:srgbClr val="E8E8E8"/>
                </a:solidFill>
                <a:latin typeface="Glacial Indifference Bold"/>
                <a:ea typeface="Glacial Indifference Bold"/>
                <a:cs typeface="Glacial Indifference Bold"/>
                <a:sym typeface="Glacial Indifference Bold"/>
              </a:rPr>
              <a:t>Day 26 : Hugging Face, Fine tuning a pretrained model on custom dataset</a:t>
            </a:r>
          </a:p>
          <a:p>
            <a:pPr algn="l">
              <a:lnSpc>
                <a:spcPts val="5832"/>
              </a:lnSpc>
            </a:pPr>
            <a:r>
              <a:rPr lang="en-US" sz="3240" b="true">
                <a:solidFill>
                  <a:srgbClr val="E8E8E8"/>
                </a:solidFill>
                <a:latin typeface="Glacial Indifference Bold"/>
                <a:ea typeface="Glacial Indifference Bold"/>
                <a:cs typeface="Glacial Indifference Bold"/>
                <a:sym typeface="Glacial Indifference Bold"/>
              </a:rPr>
              <a:t>Day 27 : </a:t>
            </a:r>
            <a:r>
              <a:rPr lang="en-US" sz="3240" b="true">
                <a:solidFill>
                  <a:srgbClr val="71D6FC"/>
                </a:solidFill>
                <a:latin typeface="Glacial Indifference Bold"/>
                <a:ea typeface="Glacial Indifference Bold"/>
                <a:cs typeface="Glacial Indifference Bold"/>
                <a:sym typeface="Glacial Indifference Bold"/>
              </a:rPr>
              <a:t>LangChain, Chat with Books and PDF Files with Llama 2 and Pinecone</a:t>
            </a:r>
          </a:p>
          <a:p>
            <a:pPr algn="l">
              <a:lnSpc>
                <a:spcPts val="5832"/>
              </a:lnSpc>
            </a:pPr>
            <a:r>
              <a:rPr lang="en-US" sz="3240" b="true">
                <a:solidFill>
                  <a:srgbClr val="E8E8E8"/>
                </a:solidFill>
                <a:latin typeface="Glacial Indifference Bold"/>
                <a:ea typeface="Glacial Indifference Bold"/>
                <a:cs typeface="Glacial Indifference Bold"/>
                <a:sym typeface="Glacial Indifference Bold"/>
              </a:rPr>
              <a:t>Day 28 : </a:t>
            </a:r>
            <a:r>
              <a:rPr lang="en-US" sz="3240" b="true">
                <a:solidFill>
                  <a:srgbClr val="71D6FC"/>
                </a:solidFill>
                <a:latin typeface="Glacial Indifference Bold"/>
                <a:ea typeface="Glacial Indifference Bold"/>
                <a:cs typeface="Glacial Indifference Bold"/>
                <a:sym typeface="Glacial Indifference Bold"/>
              </a:rPr>
              <a:t>Blog Generation LLM app using Llama 2</a:t>
            </a:r>
          </a:p>
          <a:p>
            <a:pPr algn="l">
              <a:lnSpc>
                <a:spcPts val="5832"/>
              </a:lnSpc>
            </a:pPr>
            <a:r>
              <a:rPr lang="en-US" sz="3240" b="true">
                <a:solidFill>
                  <a:srgbClr val="E8E8E8"/>
                </a:solidFill>
                <a:latin typeface="Glacial Indifference Bold"/>
                <a:ea typeface="Glacial Indifference Bold"/>
                <a:cs typeface="Glacial Indifference Bold"/>
                <a:sym typeface="Glacial Indifference Bold"/>
              </a:rPr>
              <a:t>Day 29: </a:t>
            </a:r>
            <a:r>
              <a:rPr lang="en-US" sz="3240" b="true">
                <a:solidFill>
                  <a:srgbClr val="71D6FC"/>
                </a:solidFill>
                <a:latin typeface="Glacial Indifference Bold"/>
                <a:ea typeface="Glacial Indifference Bold"/>
                <a:cs typeface="Glacial Indifference Bold"/>
                <a:sym typeface="Glacial Indifference Bold"/>
              </a:rPr>
              <a:t>SQL Query LLM using Google Gemini</a:t>
            </a:r>
          </a:p>
          <a:p>
            <a:pPr algn="l">
              <a:lnSpc>
                <a:spcPts val="5832"/>
              </a:lnSpc>
            </a:pPr>
            <a:r>
              <a:rPr lang="en-US" sz="3240" b="true">
                <a:solidFill>
                  <a:srgbClr val="E8E8E8"/>
                </a:solidFill>
                <a:latin typeface="Glacial Indifference Bold"/>
                <a:ea typeface="Glacial Indifference Bold"/>
                <a:cs typeface="Glacial Indifference Bold"/>
                <a:sym typeface="Glacial Indifference Bold"/>
              </a:rPr>
              <a:t>Day 30 :</a:t>
            </a:r>
            <a:r>
              <a:rPr lang="en-US" sz="3240" b="true">
                <a:solidFill>
                  <a:srgbClr val="71D6FC"/>
                </a:solidFill>
                <a:latin typeface="Glacial Indifference Bold"/>
                <a:ea typeface="Glacial Indifference Bold"/>
                <a:cs typeface="Glacial Indifference Bold"/>
                <a:sym typeface="Glacial Indifference Bold"/>
              </a:rPr>
              <a:t> Youtube Video Transcribe Summarizer LLM App With Google Gemini</a:t>
            </a:r>
          </a:p>
        </p:txBody>
      </p:sp>
      <p:sp>
        <p:nvSpPr>
          <p:cNvPr name="Freeform 5" id="5"/>
          <p:cNvSpPr/>
          <p:nvPr/>
        </p:nvSpPr>
        <p:spPr>
          <a:xfrm flipH="false" flipV="false" rot="0">
            <a:off x="10566652" y="638041"/>
            <a:ext cx="7721348" cy="1883594"/>
          </a:xfrm>
          <a:custGeom>
            <a:avLst/>
            <a:gdLst/>
            <a:ahLst/>
            <a:cxnLst/>
            <a:rect r="r" b="b" t="t" l="l"/>
            <a:pathLst>
              <a:path h="1883594" w="7721348">
                <a:moveTo>
                  <a:pt x="0" y="0"/>
                </a:moveTo>
                <a:lnTo>
                  <a:pt x="7721348" y="0"/>
                </a:lnTo>
                <a:lnTo>
                  <a:pt x="7721348" y="1883594"/>
                </a:lnTo>
                <a:lnTo>
                  <a:pt x="0" y="1883594"/>
                </a:lnTo>
                <a:lnTo>
                  <a:pt x="0" y="0"/>
                </a:lnTo>
                <a:close/>
              </a:path>
            </a:pathLst>
          </a:custGeom>
          <a:blipFill>
            <a:blip r:embed="rId4"/>
            <a:stretch>
              <a:fillRect l="0" t="0" r="0" b="-10343"/>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1C1920"/>
        </a:solidFill>
      </p:bgPr>
    </p:bg>
    <p:spTree>
      <p:nvGrpSpPr>
        <p:cNvPr id="1" name=""/>
        <p:cNvGrpSpPr/>
        <p:nvPr/>
      </p:nvGrpSpPr>
      <p:grpSpPr>
        <a:xfrm>
          <a:off x="0" y="0"/>
          <a:ext cx="0" cy="0"/>
          <a:chOff x="0" y="0"/>
          <a:chExt cx="0" cy="0"/>
        </a:xfrm>
      </p:grpSpPr>
      <p:sp>
        <p:nvSpPr>
          <p:cNvPr name="Freeform 2" id="2"/>
          <p:cNvSpPr/>
          <p:nvPr/>
        </p:nvSpPr>
        <p:spPr>
          <a:xfrm flipH="false" flipV="false" rot="0">
            <a:off x="6563591" y="4347230"/>
            <a:ext cx="1555491" cy="1555491"/>
          </a:xfrm>
          <a:custGeom>
            <a:avLst/>
            <a:gdLst/>
            <a:ahLst/>
            <a:cxnLst/>
            <a:rect r="r" b="b" t="t" l="l"/>
            <a:pathLst>
              <a:path h="1555491" w="1555491">
                <a:moveTo>
                  <a:pt x="0" y="0"/>
                </a:moveTo>
                <a:lnTo>
                  <a:pt x="1555491" y="0"/>
                </a:lnTo>
                <a:lnTo>
                  <a:pt x="1555491" y="1555491"/>
                </a:lnTo>
                <a:lnTo>
                  <a:pt x="0" y="15554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26036" y="856311"/>
            <a:ext cx="16835928" cy="2416626"/>
          </a:xfrm>
          <a:prstGeom prst="rect">
            <a:avLst/>
          </a:prstGeom>
        </p:spPr>
        <p:txBody>
          <a:bodyPr anchor="t" rtlCol="false" tIns="0" lIns="0" bIns="0" rIns="0">
            <a:spAutoFit/>
          </a:bodyPr>
          <a:lstStyle/>
          <a:p>
            <a:pPr algn="ctr">
              <a:lnSpc>
                <a:spcPts val="9307"/>
              </a:lnSpc>
            </a:pPr>
            <a:r>
              <a:rPr lang="en-US" b="true" sz="8863" spc="124">
                <a:solidFill>
                  <a:srgbClr val="DF4D60"/>
                </a:solidFill>
                <a:latin typeface="Open Sans Bold Bold"/>
                <a:ea typeface="Open Sans Bold Bold"/>
                <a:cs typeface="Open Sans Bold Bold"/>
                <a:sym typeface="Open Sans Bold Bold"/>
              </a:rPr>
              <a:t>YOU CAN REGISTER FOR OUR 4 IN 1 BUNDLE OFFER</a:t>
            </a:r>
          </a:p>
        </p:txBody>
      </p:sp>
      <p:sp>
        <p:nvSpPr>
          <p:cNvPr name="TextBox 4" id="4"/>
          <p:cNvSpPr txBox="true"/>
          <p:nvPr/>
        </p:nvSpPr>
        <p:spPr>
          <a:xfrm rot="0">
            <a:off x="1693437" y="4156730"/>
            <a:ext cx="4062512" cy="1666930"/>
          </a:xfrm>
          <a:prstGeom prst="rect">
            <a:avLst/>
          </a:prstGeom>
        </p:spPr>
        <p:txBody>
          <a:bodyPr anchor="t" rtlCol="false" tIns="0" lIns="0" bIns="0" rIns="0">
            <a:spAutoFit/>
          </a:bodyPr>
          <a:lstStyle/>
          <a:p>
            <a:pPr algn="ctr">
              <a:lnSpc>
                <a:spcPts val="13641"/>
              </a:lnSpc>
            </a:pPr>
            <a:r>
              <a:rPr lang="en-US" sz="9743">
                <a:solidFill>
                  <a:srgbClr val="C0D6E1"/>
                </a:solidFill>
                <a:latin typeface="Norwester"/>
                <a:ea typeface="Norwester"/>
                <a:cs typeface="Norwester"/>
                <a:sym typeface="Norwester"/>
              </a:rPr>
              <a:t>PYTHON </a:t>
            </a:r>
          </a:p>
        </p:txBody>
      </p:sp>
      <p:sp>
        <p:nvSpPr>
          <p:cNvPr name="TextBox 5" id="5"/>
          <p:cNvSpPr txBox="true"/>
          <p:nvPr/>
        </p:nvSpPr>
        <p:spPr>
          <a:xfrm rot="0">
            <a:off x="1693437" y="7029286"/>
            <a:ext cx="2043410" cy="1807164"/>
          </a:xfrm>
          <a:prstGeom prst="rect">
            <a:avLst/>
          </a:prstGeom>
        </p:spPr>
        <p:txBody>
          <a:bodyPr anchor="t" rtlCol="false" tIns="0" lIns="0" bIns="0" rIns="0">
            <a:spAutoFit/>
          </a:bodyPr>
          <a:lstStyle/>
          <a:p>
            <a:pPr algn="ctr">
              <a:lnSpc>
                <a:spcPts val="14849"/>
              </a:lnSpc>
            </a:pPr>
            <a:r>
              <a:rPr lang="en-US" sz="10606">
                <a:solidFill>
                  <a:srgbClr val="C0D6E1"/>
                </a:solidFill>
                <a:latin typeface="Norwester"/>
                <a:ea typeface="Norwester"/>
                <a:cs typeface="Norwester"/>
                <a:sym typeface="Norwester"/>
              </a:rPr>
              <a:t>NLP</a:t>
            </a:r>
          </a:p>
        </p:txBody>
      </p:sp>
      <p:sp>
        <p:nvSpPr>
          <p:cNvPr name="TextBox 6" id="6"/>
          <p:cNvSpPr txBox="true"/>
          <p:nvPr/>
        </p:nvSpPr>
        <p:spPr>
          <a:xfrm rot="0">
            <a:off x="8926724" y="4185305"/>
            <a:ext cx="8332576" cy="1434238"/>
          </a:xfrm>
          <a:prstGeom prst="rect">
            <a:avLst/>
          </a:prstGeom>
        </p:spPr>
        <p:txBody>
          <a:bodyPr anchor="t" rtlCol="false" tIns="0" lIns="0" bIns="0" rIns="0">
            <a:spAutoFit/>
          </a:bodyPr>
          <a:lstStyle/>
          <a:p>
            <a:pPr algn="ctr">
              <a:lnSpc>
                <a:spcPts val="11767"/>
              </a:lnSpc>
            </a:pPr>
            <a:r>
              <a:rPr lang="en-US" sz="8405">
                <a:solidFill>
                  <a:srgbClr val="C0D6E1"/>
                </a:solidFill>
                <a:latin typeface="Norwester"/>
                <a:ea typeface="Norwester"/>
                <a:cs typeface="Norwester"/>
                <a:sym typeface="Norwester"/>
              </a:rPr>
              <a:t>MACHINE LEARNING</a:t>
            </a:r>
          </a:p>
        </p:txBody>
      </p:sp>
      <p:sp>
        <p:nvSpPr>
          <p:cNvPr name="TextBox 7" id="7"/>
          <p:cNvSpPr txBox="true"/>
          <p:nvPr/>
        </p:nvSpPr>
        <p:spPr>
          <a:xfrm rot="0">
            <a:off x="9102070" y="7225925"/>
            <a:ext cx="7046701" cy="1494110"/>
          </a:xfrm>
          <a:prstGeom prst="rect">
            <a:avLst/>
          </a:prstGeom>
        </p:spPr>
        <p:txBody>
          <a:bodyPr anchor="t" rtlCol="false" tIns="0" lIns="0" bIns="0" rIns="0">
            <a:spAutoFit/>
          </a:bodyPr>
          <a:lstStyle/>
          <a:p>
            <a:pPr algn="ctr">
              <a:lnSpc>
                <a:spcPts val="12232"/>
              </a:lnSpc>
            </a:pPr>
            <a:r>
              <a:rPr lang="en-US" sz="8737">
                <a:solidFill>
                  <a:srgbClr val="C0D6E1"/>
                </a:solidFill>
                <a:latin typeface="Norwester"/>
                <a:ea typeface="Norwester"/>
                <a:cs typeface="Norwester"/>
                <a:sym typeface="Norwester"/>
              </a:rPr>
              <a:t>GENERATIVE AI</a:t>
            </a:r>
          </a:p>
        </p:txBody>
      </p:sp>
      <p:sp>
        <p:nvSpPr>
          <p:cNvPr name="Freeform 8" id="8"/>
          <p:cNvSpPr/>
          <p:nvPr/>
        </p:nvSpPr>
        <p:spPr>
          <a:xfrm flipH="false" flipV="false" rot="0">
            <a:off x="6563591" y="7280959"/>
            <a:ext cx="1555491" cy="1555491"/>
          </a:xfrm>
          <a:custGeom>
            <a:avLst/>
            <a:gdLst/>
            <a:ahLst/>
            <a:cxnLst/>
            <a:rect r="r" b="b" t="t" l="l"/>
            <a:pathLst>
              <a:path h="1555491" w="1555491">
                <a:moveTo>
                  <a:pt x="0" y="0"/>
                </a:moveTo>
                <a:lnTo>
                  <a:pt x="1555491" y="0"/>
                </a:lnTo>
                <a:lnTo>
                  <a:pt x="1555491" y="1555491"/>
                </a:lnTo>
                <a:lnTo>
                  <a:pt x="0" y="15554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1C1920"/>
        </a:solidFill>
      </p:bgPr>
    </p:bg>
    <p:spTree>
      <p:nvGrpSpPr>
        <p:cNvPr id="1" name=""/>
        <p:cNvGrpSpPr/>
        <p:nvPr/>
      </p:nvGrpSpPr>
      <p:grpSpPr>
        <a:xfrm>
          <a:off x="0" y="0"/>
          <a:ext cx="0" cy="0"/>
          <a:chOff x="0" y="0"/>
          <a:chExt cx="0" cy="0"/>
        </a:xfrm>
      </p:grpSpPr>
      <p:sp>
        <p:nvSpPr>
          <p:cNvPr name="Freeform 2" id="2"/>
          <p:cNvSpPr/>
          <p:nvPr/>
        </p:nvSpPr>
        <p:spPr>
          <a:xfrm flipH="false" flipV="false" rot="0">
            <a:off x="10269266" y="-416019"/>
            <a:ext cx="8973769" cy="8957453"/>
          </a:xfrm>
          <a:custGeom>
            <a:avLst/>
            <a:gdLst/>
            <a:ahLst/>
            <a:cxnLst/>
            <a:rect r="r" b="b" t="t" l="l"/>
            <a:pathLst>
              <a:path h="8957453" w="8973769">
                <a:moveTo>
                  <a:pt x="0" y="0"/>
                </a:moveTo>
                <a:lnTo>
                  <a:pt x="8973769" y="0"/>
                </a:lnTo>
                <a:lnTo>
                  <a:pt x="8973769" y="8957453"/>
                </a:lnTo>
                <a:lnTo>
                  <a:pt x="0" y="8957453"/>
                </a:lnTo>
                <a:lnTo>
                  <a:pt x="0" y="0"/>
                </a:lnTo>
                <a:close/>
              </a:path>
            </a:pathLst>
          </a:custGeom>
          <a:blipFill>
            <a:blip r:embed="rId2">
              <a:alphaModFix amt="27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617962" y="721299"/>
            <a:ext cx="6276377" cy="8834990"/>
          </a:xfrm>
          <a:custGeom>
            <a:avLst/>
            <a:gdLst/>
            <a:ahLst/>
            <a:cxnLst/>
            <a:rect r="r" b="b" t="t" l="l"/>
            <a:pathLst>
              <a:path h="8834990" w="6276377">
                <a:moveTo>
                  <a:pt x="0" y="0"/>
                </a:moveTo>
                <a:lnTo>
                  <a:pt x="6276377" y="0"/>
                </a:lnTo>
                <a:lnTo>
                  <a:pt x="6276377" y="8834990"/>
                </a:lnTo>
                <a:lnTo>
                  <a:pt x="0" y="8834990"/>
                </a:lnTo>
                <a:lnTo>
                  <a:pt x="0" y="0"/>
                </a:lnTo>
                <a:close/>
              </a:path>
            </a:pathLst>
          </a:custGeom>
          <a:blipFill>
            <a:blip r:embed="rId4"/>
            <a:stretch>
              <a:fillRect l="0" t="0" r="0" b="0"/>
            </a:stretch>
          </a:blipFill>
        </p:spPr>
      </p:sp>
      <p:sp>
        <p:nvSpPr>
          <p:cNvPr name="TextBox 4" id="4"/>
          <p:cNvSpPr txBox="true"/>
          <p:nvPr/>
        </p:nvSpPr>
        <p:spPr>
          <a:xfrm rot="0">
            <a:off x="687823" y="4042651"/>
            <a:ext cx="10442604" cy="1096143"/>
          </a:xfrm>
          <a:prstGeom prst="rect">
            <a:avLst/>
          </a:prstGeom>
        </p:spPr>
        <p:txBody>
          <a:bodyPr anchor="t" rtlCol="false" tIns="0" lIns="0" bIns="0" rIns="0">
            <a:spAutoFit/>
          </a:bodyPr>
          <a:lstStyle/>
          <a:p>
            <a:pPr algn="l">
              <a:lnSpc>
                <a:spcPts val="4266"/>
              </a:lnSpc>
            </a:pPr>
            <a:r>
              <a:rPr lang="en-US" b="true" sz="4063" spc="56">
                <a:solidFill>
                  <a:srgbClr val="92C3FE"/>
                </a:solidFill>
                <a:latin typeface="Open Sans Bold Bold"/>
                <a:ea typeface="Open Sans Bold Bold"/>
                <a:cs typeface="Open Sans Bold Bold"/>
                <a:sym typeface="Open Sans Bold Bold"/>
              </a:rPr>
              <a:t>REGISTRATION FEE: RS.1299</a:t>
            </a:r>
          </a:p>
          <a:p>
            <a:pPr algn="l">
              <a:lnSpc>
                <a:spcPts val="4266"/>
              </a:lnSpc>
            </a:pPr>
            <a:r>
              <a:rPr lang="en-US" b="true" sz="4063" spc="56">
                <a:solidFill>
                  <a:srgbClr val="92C3FE"/>
                </a:solidFill>
                <a:latin typeface="Open Sans Bold Bold"/>
                <a:ea typeface="Open Sans Bold Bold"/>
                <a:cs typeface="Open Sans Bold Bold"/>
                <a:sym typeface="Open Sans Bold Bold"/>
              </a:rPr>
              <a:t>REG.LINK - HTTPS://RZP.IO/L/DPWKJUI</a:t>
            </a:r>
          </a:p>
        </p:txBody>
      </p:sp>
      <p:sp>
        <p:nvSpPr>
          <p:cNvPr name="TextBox 5" id="5"/>
          <p:cNvSpPr txBox="true"/>
          <p:nvPr/>
        </p:nvSpPr>
        <p:spPr>
          <a:xfrm rot="0">
            <a:off x="427691" y="5772502"/>
            <a:ext cx="9679492" cy="1651018"/>
          </a:xfrm>
          <a:prstGeom prst="rect">
            <a:avLst/>
          </a:prstGeom>
        </p:spPr>
        <p:txBody>
          <a:bodyPr anchor="t" rtlCol="false" tIns="0" lIns="0" bIns="0" rIns="0">
            <a:spAutoFit/>
          </a:bodyPr>
          <a:lstStyle/>
          <a:p>
            <a:pPr algn="l">
              <a:lnSpc>
                <a:spcPts val="6486"/>
              </a:lnSpc>
            </a:pPr>
            <a:r>
              <a:rPr lang="en-US" b="true" sz="6178" spc="86">
                <a:solidFill>
                  <a:srgbClr val="DF4D60"/>
                </a:solidFill>
                <a:latin typeface="Open Sans Bold Bold"/>
                <a:ea typeface="Open Sans Bold Bold"/>
                <a:cs typeface="Open Sans Bold Bold"/>
                <a:sym typeface="Open Sans Bold Bold"/>
              </a:rPr>
              <a:t>FEE: RS.1299</a:t>
            </a:r>
          </a:p>
          <a:p>
            <a:pPr algn="l">
              <a:lnSpc>
                <a:spcPts val="6486"/>
              </a:lnSpc>
            </a:pPr>
            <a:r>
              <a:rPr lang="en-US" b="true" sz="6178" spc="86">
                <a:solidFill>
                  <a:srgbClr val="DF4D60"/>
                </a:solidFill>
                <a:latin typeface="Open Sans Bold Bold"/>
                <a:ea typeface="Open Sans Bold Bold"/>
                <a:cs typeface="Open Sans Bold Bold"/>
                <a:sym typeface="Open Sans Bold Bold"/>
              </a:rPr>
              <a:t>LIMITED OFFER ONLY/-</a:t>
            </a:r>
          </a:p>
        </p:txBody>
      </p:sp>
      <p:sp>
        <p:nvSpPr>
          <p:cNvPr name="TextBox 6" id="6"/>
          <p:cNvSpPr txBox="true"/>
          <p:nvPr/>
        </p:nvSpPr>
        <p:spPr>
          <a:xfrm rot="0">
            <a:off x="687823" y="2054657"/>
            <a:ext cx="9975878" cy="998266"/>
          </a:xfrm>
          <a:prstGeom prst="rect">
            <a:avLst/>
          </a:prstGeom>
        </p:spPr>
        <p:txBody>
          <a:bodyPr anchor="t" rtlCol="false" tIns="0" lIns="0" bIns="0" rIns="0">
            <a:spAutoFit/>
          </a:bodyPr>
          <a:lstStyle/>
          <a:p>
            <a:pPr algn="ctr">
              <a:lnSpc>
                <a:spcPts val="7507"/>
              </a:lnSpc>
              <a:spcBef>
                <a:spcPct val="0"/>
              </a:spcBef>
            </a:pPr>
            <a:r>
              <a:rPr lang="en-US" sz="7507">
                <a:solidFill>
                  <a:srgbClr val="92C3FE"/>
                </a:solidFill>
                <a:latin typeface="Knockout Cruiserweight Bold"/>
                <a:ea typeface="Knockout Cruiserweight Bold"/>
                <a:cs typeface="Knockout Cruiserweight Bold"/>
                <a:sym typeface="Knockout Cruiserweight Bold"/>
              </a:rPr>
              <a:t>4 IN 1 BUNDLE OFFER</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1C1920"/>
        </a:solidFill>
      </p:bgPr>
    </p:bg>
    <p:spTree>
      <p:nvGrpSpPr>
        <p:cNvPr id="1" name=""/>
        <p:cNvGrpSpPr/>
        <p:nvPr/>
      </p:nvGrpSpPr>
      <p:grpSpPr>
        <a:xfrm>
          <a:off x="0" y="0"/>
          <a:ext cx="0" cy="0"/>
          <a:chOff x="0" y="0"/>
          <a:chExt cx="0" cy="0"/>
        </a:xfrm>
      </p:grpSpPr>
      <p:sp>
        <p:nvSpPr>
          <p:cNvPr name="Freeform 2" id="2"/>
          <p:cNvSpPr/>
          <p:nvPr/>
        </p:nvSpPr>
        <p:spPr>
          <a:xfrm flipH="false" flipV="false" rot="0">
            <a:off x="10269266" y="-416019"/>
            <a:ext cx="8973769" cy="8957453"/>
          </a:xfrm>
          <a:custGeom>
            <a:avLst/>
            <a:gdLst/>
            <a:ahLst/>
            <a:cxnLst/>
            <a:rect r="r" b="b" t="t" l="l"/>
            <a:pathLst>
              <a:path h="8957453" w="8973769">
                <a:moveTo>
                  <a:pt x="0" y="0"/>
                </a:moveTo>
                <a:lnTo>
                  <a:pt x="8973769" y="0"/>
                </a:lnTo>
                <a:lnTo>
                  <a:pt x="8973769" y="8957453"/>
                </a:lnTo>
                <a:lnTo>
                  <a:pt x="0" y="8957453"/>
                </a:lnTo>
                <a:lnTo>
                  <a:pt x="0" y="0"/>
                </a:lnTo>
                <a:close/>
              </a:path>
            </a:pathLst>
          </a:custGeom>
          <a:blipFill>
            <a:blip r:embed="rId2">
              <a:alphaModFix amt="27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95687" y="2754453"/>
            <a:ext cx="16963411" cy="6662517"/>
          </a:xfrm>
          <a:prstGeom prst="rect">
            <a:avLst/>
          </a:prstGeom>
        </p:spPr>
        <p:txBody>
          <a:bodyPr anchor="t" rtlCol="false" tIns="0" lIns="0" bIns="0" rIns="0">
            <a:spAutoFit/>
          </a:bodyPr>
          <a:lstStyle/>
          <a:p>
            <a:pPr algn="l" marL="1198023" indent="-599012" lvl="1">
              <a:lnSpc>
                <a:spcPts val="6603"/>
              </a:lnSpc>
              <a:buFont typeface="Arial"/>
              <a:buChar char="•"/>
            </a:pPr>
            <a:r>
              <a:rPr lang="en-US" sz="5548">
                <a:solidFill>
                  <a:srgbClr val="C0D6E1"/>
                </a:solidFill>
                <a:latin typeface="Knockout Welterweight Bold"/>
                <a:ea typeface="Knockout Welterweight Bold"/>
                <a:cs typeface="Knockout Welterweight Bold"/>
                <a:sym typeface="Knockout Welterweight Bold"/>
              </a:rPr>
              <a:t>SELF-PACED </a:t>
            </a:r>
            <a:r>
              <a:rPr lang="en-US" sz="5548">
                <a:solidFill>
                  <a:srgbClr val="F0002C"/>
                </a:solidFill>
                <a:latin typeface="Knockout Welterweight Bold"/>
                <a:ea typeface="Knockout Welterweight Bold"/>
                <a:cs typeface="Knockout Welterweight Bold"/>
                <a:sym typeface="Knockout Welterweight Bold"/>
              </a:rPr>
              <a:t>120 RECORDS </a:t>
            </a:r>
          </a:p>
          <a:p>
            <a:pPr algn="l" marL="1198023" indent="-599012" lvl="1">
              <a:lnSpc>
                <a:spcPts val="6603"/>
              </a:lnSpc>
              <a:buFont typeface="Arial"/>
              <a:buChar char="•"/>
            </a:pPr>
            <a:r>
              <a:rPr lang="en-US" sz="5548">
                <a:solidFill>
                  <a:srgbClr val="F0002C"/>
                </a:solidFill>
                <a:latin typeface="Knockout Welterweight Bold"/>
                <a:ea typeface="Knockout Welterweight Bold"/>
                <a:cs typeface="Knockout Welterweight Bold"/>
                <a:sym typeface="Knockout Welterweight Bold"/>
              </a:rPr>
              <a:t>WEEKLY LIVE SESSIONS</a:t>
            </a:r>
          </a:p>
          <a:p>
            <a:pPr algn="l" marL="1198023" indent="-599012" lvl="1">
              <a:lnSpc>
                <a:spcPts val="6603"/>
              </a:lnSpc>
              <a:buFont typeface="Arial"/>
              <a:buChar char="•"/>
            </a:pPr>
            <a:r>
              <a:rPr lang="en-US" sz="5548">
                <a:solidFill>
                  <a:srgbClr val="F0002C"/>
                </a:solidFill>
                <a:latin typeface="Knockout Welterweight Bold"/>
                <a:ea typeface="Knockout Welterweight Bold"/>
                <a:cs typeface="Knockout Welterweight Bold"/>
                <a:sym typeface="Knockout Welterweight Bold"/>
              </a:rPr>
              <a:t>4 CERTIFICATIONS </a:t>
            </a:r>
            <a:r>
              <a:rPr lang="en-US" sz="5548">
                <a:solidFill>
                  <a:srgbClr val="C0D6E1"/>
                </a:solidFill>
                <a:latin typeface="Knockout Welterweight Bold"/>
                <a:ea typeface="Knockout Welterweight Bold"/>
                <a:cs typeface="Knockout Welterweight Bold"/>
                <a:sym typeface="Knockout Welterweight Bold"/>
              </a:rPr>
              <a:t>- 1  MONTH INTERNSHIP CERTIFICATION</a:t>
            </a:r>
          </a:p>
          <a:p>
            <a:pPr algn="l" marL="1198023" indent="-599012" lvl="1">
              <a:lnSpc>
                <a:spcPts val="6603"/>
              </a:lnSpc>
              <a:buFont typeface="Arial"/>
              <a:buChar char="•"/>
            </a:pPr>
            <a:r>
              <a:rPr lang="en-US" sz="5548">
                <a:solidFill>
                  <a:srgbClr val="F0002C"/>
                </a:solidFill>
                <a:latin typeface="Knockout Welterweight Bold"/>
                <a:ea typeface="Knockout Welterweight Bold"/>
                <a:cs typeface="Knockout Welterweight Bold"/>
                <a:sym typeface="Knockout Welterweight Bold"/>
              </a:rPr>
              <a:t>30+PROJECTS </a:t>
            </a:r>
          </a:p>
          <a:p>
            <a:pPr algn="l" marL="1198023" indent="-599012" lvl="1">
              <a:lnSpc>
                <a:spcPts val="6603"/>
              </a:lnSpc>
              <a:buFont typeface="Arial"/>
              <a:buChar char="•"/>
            </a:pPr>
            <a:r>
              <a:rPr lang="en-US" sz="5548">
                <a:solidFill>
                  <a:srgbClr val="C0D6E1"/>
                </a:solidFill>
                <a:latin typeface="Knockout Welterweight Bold"/>
                <a:ea typeface="Knockout Welterweight Bold"/>
                <a:cs typeface="Knockout Welterweight Bold"/>
                <a:sym typeface="Knockout Welterweight Bold"/>
              </a:rPr>
              <a:t>DOWNLOADABLE PRESENTATIONS</a:t>
            </a:r>
          </a:p>
          <a:p>
            <a:pPr algn="l" marL="1198023" indent="-599012" lvl="1">
              <a:lnSpc>
                <a:spcPts val="6603"/>
              </a:lnSpc>
              <a:buFont typeface="Arial"/>
              <a:buChar char="•"/>
            </a:pPr>
            <a:r>
              <a:rPr lang="en-US" sz="5548">
                <a:solidFill>
                  <a:srgbClr val="C0D6E1"/>
                </a:solidFill>
                <a:latin typeface="Knockout Welterweight Bold"/>
                <a:ea typeface="Knockout Welterweight Bold"/>
                <a:cs typeface="Knockout Welterweight Bold"/>
                <a:sym typeface="Knockout Welterweight Bold"/>
              </a:rPr>
              <a:t>INTERNSHIP CONFIRMATION LETTER</a:t>
            </a:r>
          </a:p>
          <a:p>
            <a:pPr algn="l" marL="1198023" indent="-599012" lvl="1">
              <a:lnSpc>
                <a:spcPts val="6603"/>
              </a:lnSpc>
              <a:buFont typeface="Arial"/>
              <a:buChar char="•"/>
            </a:pPr>
            <a:r>
              <a:rPr lang="en-US" sz="5548">
                <a:solidFill>
                  <a:srgbClr val="F0002C"/>
                </a:solidFill>
                <a:latin typeface="Knockout Welterweight Bold"/>
                <a:ea typeface="Knockout Welterweight Bold"/>
                <a:cs typeface="Knockout Welterweight Bold"/>
                <a:sym typeface="Knockout Welterweight Bold"/>
              </a:rPr>
              <a:t>1 YEAR VALIDITY</a:t>
            </a:r>
          </a:p>
          <a:p>
            <a:pPr algn="l" marL="1198023" indent="-599012" lvl="1">
              <a:lnSpc>
                <a:spcPts val="6603"/>
              </a:lnSpc>
              <a:buFont typeface="Arial"/>
              <a:buChar char="•"/>
            </a:pPr>
            <a:r>
              <a:rPr lang="en-US" sz="5548">
                <a:solidFill>
                  <a:srgbClr val="F0002C"/>
                </a:solidFill>
                <a:latin typeface="Knockout Welterweight Bold"/>
                <a:ea typeface="Knockout Welterweight Bold"/>
                <a:cs typeface="Knockout Welterweight Bold"/>
                <a:sym typeface="Knockout Welterweight Bold"/>
              </a:rPr>
              <a:t>COMMUNITY SUPPORT</a:t>
            </a:r>
          </a:p>
        </p:txBody>
      </p:sp>
      <p:grpSp>
        <p:nvGrpSpPr>
          <p:cNvPr name="Group 4" id="4"/>
          <p:cNvGrpSpPr/>
          <p:nvPr/>
        </p:nvGrpSpPr>
        <p:grpSpPr>
          <a:xfrm rot="0">
            <a:off x="12003161" y="910459"/>
            <a:ext cx="7387072" cy="1158841"/>
            <a:chOff x="0" y="0"/>
            <a:chExt cx="2808452" cy="440573"/>
          </a:xfrm>
        </p:grpSpPr>
        <p:sp>
          <p:nvSpPr>
            <p:cNvPr name="Freeform 5" id="5"/>
            <p:cNvSpPr/>
            <p:nvPr/>
          </p:nvSpPr>
          <p:spPr>
            <a:xfrm flipH="false" flipV="false" rot="0">
              <a:off x="0" y="0"/>
              <a:ext cx="2808452" cy="440573"/>
            </a:xfrm>
            <a:custGeom>
              <a:avLst/>
              <a:gdLst/>
              <a:ahLst/>
              <a:cxnLst/>
              <a:rect r="r" b="b" t="t" l="l"/>
              <a:pathLst>
                <a:path h="440573" w="2808452">
                  <a:moveTo>
                    <a:pt x="2605252" y="0"/>
                  </a:moveTo>
                  <a:lnTo>
                    <a:pt x="0" y="0"/>
                  </a:lnTo>
                  <a:lnTo>
                    <a:pt x="203200" y="440573"/>
                  </a:lnTo>
                  <a:lnTo>
                    <a:pt x="2808452" y="440573"/>
                  </a:lnTo>
                  <a:lnTo>
                    <a:pt x="2605252" y="0"/>
                  </a:lnTo>
                  <a:close/>
                </a:path>
              </a:pathLst>
            </a:custGeom>
            <a:solidFill>
              <a:srgbClr val="71D6FC"/>
            </a:solidFill>
          </p:spPr>
        </p:sp>
        <p:sp>
          <p:nvSpPr>
            <p:cNvPr name="TextBox 6" id="6"/>
            <p:cNvSpPr txBox="true"/>
            <p:nvPr/>
          </p:nvSpPr>
          <p:spPr>
            <a:xfrm>
              <a:off x="101600" y="-76200"/>
              <a:ext cx="2605252" cy="516773"/>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12480798" y="959671"/>
            <a:ext cx="5278299" cy="946116"/>
          </a:xfrm>
          <a:prstGeom prst="rect">
            <a:avLst/>
          </a:prstGeom>
        </p:spPr>
        <p:txBody>
          <a:bodyPr anchor="t" rtlCol="false" tIns="0" lIns="0" bIns="0" rIns="0">
            <a:spAutoFit/>
          </a:bodyPr>
          <a:lstStyle/>
          <a:p>
            <a:pPr algn="r">
              <a:lnSpc>
                <a:spcPts val="7700"/>
              </a:lnSpc>
            </a:pPr>
            <a:r>
              <a:rPr lang="en-US" sz="5500" spc="110">
                <a:solidFill>
                  <a:srgbClr val="000000"/>
                </a:solidFill>
                <a:latin typeface="Knockout Featherweight Bold"/>
                <a:ea typeface="Knockout Featherweight Bold"/>
                <a:cs typeface="Knockout Featherweight Bold"/>
                <a:sym typeface="Knockout Featherweight Bold"/>
              </a:rPr>
              <a:t>BENEFITS OF  THE OFFER</a:t>
            </a:r>
          </a:p>
        </p:txBody>
      </p:sp>
      <p:sp>
        <p:nvSpPr>
          <p:cNvPr name="Freeform 8" id="8"/>
          <p:cNvSpPr/>
          <p:nvPr/>
        </p:nvSpPr>
        <p:spPr>
          <a:xfrm flipH="false" flipV="false" rot="0">
            <a:off x="10566652" y="7599637"/>
            <a:ext cx="7721348" cy="1883594"/>
          </a:xfrm>
          <a:custGeom>
            <a:avLst/>
            <a:gdLst/>
            <a:ahLst/>
            <a:cxnLst/>
            <a:rect r="r" b="b" t="t" l="l"/>
            <a:pathLst>
              <a:path h="1883594" w="7721348">
                <a:moveTo>
                  <a:pt x="0" y="0"/>
                </a:moveTo>
                <a:lnTo>
                  <a:pt x="7721348" y="0"/>
                </a:lnTo>
                <a:lnTo>
                  <a:pt x="7721348" y="1883594"/>
                </a:lnTo>
                <a:lnTo>
                  <a:pt x="0" y="1883594"/>
                </a:lnTo>
                <a:lnTo>
                  <a:pt x="0" y="0"/>
                </a:lnTo>
                <a:close/>
              </a:path>
            </a:pathLst>
          </a:custGeom>
          <a:blipFill>
            <a:blip r:embed="rId4"/>
            <a:stretch>
              <a:fillRect l="0" t="0" r="0" b="-10343"/>
            </a:stretch>
          </a:blipFill>
        </p:spPr>
      </p:sp>
    </p:spTree>
  </p:cSld>
  <p:clrMapOvr>
    <a:masterClrMapping/>
  </p:clrMapOvr>
</p:sld>
</file>

<file path=ppt/slides/slide36.xml><?xml version="1.0" encoding="utf-8"?>
<p:sld xmlns:p="http://schemas.openxmlformats.org/presentationml/2006/main" xmlns:a="http://schemas.openxmlformats.org/drawingml/2006/main">
  <p:cSld>
    <p:bg>
      <p:bgPr>
        <a:solidFill>
          <a:srgbClr val="1C1920"/>
        </a:solidFill>
      </p:bgPr>
    </p:bg>
    <p:spTree>
      <p:nvGrpSpPr>
        <p:cNvPr id="1" name=""/>
        <p:cNvGrpSpPr/>
        <p:nvPr/>
      </p:nvGrpSpPr>
      <p:grpSpPr>
        <a:xfrm>
          <a:off x="0" y="0"/>
          <a:ext cx="0" cy="0"/>
          <a:chOff x="0" y="0"/>
          <a:chExt cx="0" cy="0"/>
        </a:xfrm>
      </p:grpSpPr>
      <p:grpSp>
        <p:nvGrpSpPr>
          <p:cNvPr name="Group 2" id="2"/>
          <p:cNvGrpSpPr/>
          <p:nvPr/>
        </p:nvGrpSpPr>
        <p:grpSpPr>
          <a:xfrm rot="0">
            <a:off x="-1654874" y="8541434"/>
            <a:ext cx="21731927" cy="2646012"/>
            <a:chOff x="0" y="0"/>
            <a:chExt cx="29495140" cy="3591236"/>
          </a:xfrm>
        </p:grpSpPr>
        <p:sp>
          <p:nvSpPr>
            <p:cNvPr name="Freeform 3" id="3"/>
            <p:cNvSpPr/>
            <p:nvPr/>
          </p:nvSpPr>
          <p:spPr>
            <a:xfrm flipH="false" flipV="false" rot="0">
              <a:off x="0" y="0"/>
              <a:ext cx="29495139" cy="3591237"/>
            </a:xfrm>
            <a:custGeom>
              <a:avLst/>
              <a:gdLst/>
              <a:ahLst/>
              <a:cxnLst/>
              <a:rect r="r" b="b" t="t" l="l"/>
              <a:pathLst>
                <a:path h="3591237" w="29495139">
                  <a:moveTo>
                    <a:pt x="0" y="0"/>
                  </a:moveTo>
                  <a:lnTo>
                    <a:pt x="29495139" y="0"/>
                  </a:lnTo>
                  <a:lnTo>
                    <a:pt x="29495139" y="3591237"/>
                  </a:lnTo>
                  <a:lnTo>
                    <a:pt x="0" y="3591237"/>
                  </a:lnTo>
                  <a:close/>
                </a:path>
              </a:pathLst>
            </a:custGeom>
            <a:solidFill>
              <a:srgbClr val="000000"/>
            </a:solidFill>
          </p:spPr>
        </p:sp>
      </p:grpSp>
      <p:sp>
        <p:nvSpPr>
          <p:cNvPr name="TextBox 4" id="4"/>
          <p:cNvSpPr txBox="true"/>
          <p:nvPr/>
        </p:nvSpPr>
        <p:spPr>
          <a:xfrm rot="0">
            <a:off x="2545119" y="8843135"/>
            <a:ext cx="15448207" cy="1063929"/>
          </a:xfrm>
          <a:prstGeom prst="rect">
            <a:avLst/>
          </a:prstGeom>
        </p:spPr>
        <p:txBody>
          <a:bodyPr anchor="t" rtlCol="false" tIns="0" lIns="0" bIns="0" rIns="0">
            <a:spAutoFit/>
          </a:bodyPr>
          <a:lstStyle/>
          <a:p>
            <a:pPr algn="r" marL="0" indent="0" lvl="0">
              <a:lnSpc>
                <a:spcPts val="8028"/>
              </a:lnSpc>
              <a:spcBef>
                <a:spcPct val="0"/>
              </a:spcBef>
            </a:pPr>
            <a:r>
              <a:rPr lang="en-US" sz="8028">
                <a:solidFill>
                  <a:srgbClr val="FFFFFF"/>
                </a:solidFill>
                <a:latin typeface="Knockout Cruiserweight"/>
                <a:ea typeface="Knockout Cruiserweight"/>
                <a:cs typeface="Knockout Cruiserweight"/>
                <a:sym typeface="Knockout Cruiserweigh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DAGDgeM8GTw</dc:identifier>
  <dcterms:modified xsi:type="dcterms:W3CDTF">2011-08-01T06:04:30Z</dcterms:modified>
  <cp:revision>1</cp:revision>
  <dc:title>Day 26 -  Hugging Face, Fine tuning a pretrained model on custom dataset</dc:title>
</cp:coreProperties>
</file>
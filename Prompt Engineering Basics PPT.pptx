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Poppins Bold" charset="1" panose="00000800000000000000"/>
      <p:regular r:id="rId21"/>
    </p:embeddedFont>
    <p:embeddedFont>
      <p:font typeface="Montaser Arabic" charset="1" panose="00000500000000000000"/>
      <p:regular r:id="rId22"/>
    </p:embeddedFont>
    <p:embeddedFont>
      <p:font typeface="Montaser Arabic Bold" charset="1" panose="00000800000000000000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449345" y="1568428"/>
            <a:ext cx="13389310" cy="7150144"/>
            <a:chOff x="0" y="0"/>
            <a:chExt cx="3526403" cy="18831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26403" cy="1883165"/>
            </a:xfrm>
            <a:custGeom>
              <a:avLst/>
              <a:gdLst/>
              <a:ahLst/>
              <a:cxnLst/>
              <a:rect r="r" b="b" t="t" l="l"/>
              <a:pathLst>
                <a:path h="1883165" w="3526403">
                  <a:moveTo>
                    <a:pt x="0" y="0"/>
                  </a:moveTo>
                  <a:lnTo>
                    <a:pt x="3526403" y="0"/>
                  </a:lnTo>
                  <a:lnTo>
                    <a:pt x="3526403" y="1883165"/>
                  </a:lnTo>
                  <a:lnTo>
                    <a:pt x="0" y="1883165"/>
                  </a:lnTo>
                  <a:close/>
                </a:path>
              </a:pathLst>
            </a:custGeom>
            <a:solidFill>
              <a:srgbClr val="F4FFFC">
                <a:alpha val="8000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26403" cy="1921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5400000">
            <a:off x="1494140" y="1451314"/>
            <a:ext cx="1910411" cy="953259"/>
            <a:chOff x="0" y="0"/>
            <a:chExt cx="503153" cy="2510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3153" cy="251064"/>
            </a:xfrm>
            <a:custGeom>
              <a:avLst/>
              <a:gdLst/>
              <a:ahLst/>
              <a:cxnLst/>
              <a:rect r="r" b="b" t="t" l="l"/>
              <a:pathLst>
                <a:path h="251064" w="503153">
                  <a:moveTo>
                    <a:pt x="0" y="0"/>
                  </a:moveTo>
                  <a:lnTo>
                    <a:pt x="503153" y="0"/>
                  </a:lnTo>
                  <a:lnTo>
                    <a:pt x="503153" y="251064"/>
                  </a:lnTo>
                  <a:lnTo>
                    <a:pt x="0" y="251064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3153" cy="2891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2449345" y="7222868"/>
            <a:ext cx="13389310" cy="1495704"/>
            <a:chOff x="0" y="0"/>
            <a:chExt cx="3526403" cy="3939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26403" cy="393930"/>
            </a:xfrm>
            <a:custGeom>
              <a:avLst/>
              <a:gdLst/>
              <a:ahLst/>
              <a:cxnLst/>
              <a:rect r="r" b="b" t="t" l="l"/>
              <a:pathLst>
                <a:path h="393930" w="3526403">
                  <a:moveTo>
                    <a:pt x="0" y="0"/>
                  </a:moveTo>
                  <a:lnTo>
                    <a:pt x="3526403" y="0"/>
                  </a:lnTo>
                  <a:lnTo>
                    <a:pt x="3526403" y="393930"/>
                  </a:lnTo>
                  <a:lnTo>
                    <a:pt x="0" y="393930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526403" cy="432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140739" y="2606923"/>
            <a:ext cx="11991128" cy="345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529"/>
              </a:lnSpc>
              <a:spcBef>
                <a:spcPct val="0"/>
              </a:spcBef>
            </a:pPr>
            <a:r>
              <a:rPr lang="en-US" b="true" sz="966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Prompt Engineering Basics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140739" y="7602453"/>
            <a:ext cx="11991128" cy="596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sz="3497">
                <a:solidFill>
                  <a:srgbClr val="F1F8E9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Day 6: Learn how to ask AI the right way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2459701"/>
            <a:ext cx="8115300" cy="6798599"/>
            <a:chOff x="0" y="0"/>
            <a:chExt cx="2137363" cy="17905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363" cy="1790577"/>
            </a:xfrm>
            <a:custGeom>
              <a:avLst/>
              <a:gdLst/>
              <a:ahLst/>
              <a:cxnLst/>
              <a:rect r="r" b="b" t="t" l="l"/>
              <a:pathLst>
                <a:path h="1790577" w="2137363">
                  <a:moveTo>
                    <a:pt x="0" y="0"/>
                  </a:moveTo>
                  <a:lnTo>
                    <a:pt x="2137363" y="0"/>
                  </a:lnTo>
                  <a:lnTo>
                    <a:pt x="2137363" y="1790577"/>
                  </a:lnTo>
                  <a:lnTo>
                    <a:pt x="0" y="1790577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7363" cy="18286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708875" y="6948090"/>
            <a:ext cx="4314338" cy="4114800"/>
          </a:xfrm>
          <a:custGeom>
            <a:avLst/>
            <a:gdLst/>
            <a:ahLst/>
            <a:cxnLst/>
            <a:rect r="r" b="b" t="t" l="l"/>
            <a:pathLst>
              <a:path h="4114800" w="4314338">
                <a:moveTo>
                  <a:pt x="0" y="0"/>
                </a:moveTo>
                <a:lnTo>
                  <a:pt x="4314339" y="0"/>
                </a:lnTo>
                <a:lnTo>
                  <a:pt x="43143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2459701"/>
            <a:ext cx="7433273" cy="6798599"/>
            <a:chOff x="0" y="0"/>
            <a:chExt cx="871205" cy="7968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1205" cy="796819"/>
            </a:xfrm>
            <a:custGeom>
              <a:avLst/>
              <a:gdLst/>
              <a:ahLst/>
              <a:cxnLst/>
              <a:rect r="r" b="b" t="t" l="l"/>
              <a:pathLst>
                <a:path h="796819" w="871205">
                  <a:moveTo>
                    <a:pt x="0" y="0"/>
                  </a:moveTo>
                  <a:lnTo>
                    <a:pt x="871205" y="0"/>
                  </a:lnTo>
                  <a:lnTo>
                    <a:pt x="871205" y="796819"/>
                  </a:lnTo>
                  <a:lnTo>
                    <a:pt x="0" y="796819"/>
                  </a:lnTo>
                  <a:close/>
                </a:path>
              </a:pathLst>
            </a:custGeom>
            <a:blipFill>
              <a:blip r:embed="rId4"/>
              <a:stretch>
                <a:fillRect l="-47" t="0" r="-47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35741" y="1056133"/>
            <a:ext cx="2523725" cy="2054683"/>
          </a:xfrm>
          <a:custGeom>
            <a:avLst/>
            <a:gdLst/>
            <a:ahLst/>
            <a:cxnLst/>
            <a:rect r="r" b="b" t="t" l="l"/>
            <a:pathLst>
              <a:path h="2054683" w="2523725">
                <a:moveTo>
                  <a:pt x="0" y="0"/>
                </a:moveTo>
                <a:lnTo>
                  <a:pt x="2523725" y="0"/>
                </a:lnTo>
                <a:lnTo>
                  <a:pt x="2523725" y="2054684"/>
                </a:lnTo>
                <a:lnTo>
                  <a:pt x="0" y="20546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33483" y="857250"/>
            <a:ext cx="13925817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Prompt?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22589" y="3016726"/>
            <a:ext cx="6186742" cy="613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F1F8E9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Definition: A Prompt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22589" y="5105400"/>
            <a:ext cx="6186742" cy="327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1F8E9"/>
                </a:solidFill>
                <a:latin typeface="Open Sans"/>
                <a:ea typeface="Open Sans"/>
                <a:cs typeface="Open Sans"/>
                <a:sym typeface="Open Sans"/>
              </a:rPr>
              <a:t>A prompt is an instruction or question you give to AI.</a:t>
            </a:r>
          </a:p>
          <a:p>
            <a:pPr algn="just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1F8E9"/>
                </a:solidFill>
                <a:latin typeface="Open Sans"/>
                <a:ea typeface="Open Sans"/>
                <a:cs typeface="Open Sans"/>
                <a:sym typeface="Open Sans"/>
              </a:rPr>
              <a:t>• We ask AI a question or give a command</a:t>
            </a:r>
          </a:p>
          <a:p>
            <a:pPr algn="just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1F8E9"/>
                </a:solidFill>
                <a:latin typeface="Open Sans"/>
                <a:ea typeface="Open Sans"/>
                <a:cs typeface="Open Sans"/>
                <a:sym typeface="Open Sans"/>
              </a:rPr>
              <a:t>• AI understands our prompt and responds</a:t>
            </a:r>
          </a:p>
          <a:p>
            <a:pPr algn="just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1F8E9"/>
                </a:solidFill>
                <a:latin typeface="Open Sans"/>
                <a:ea typeface="Open Sans"/>
                <a:cs typeface="Open Sans"/>
                <a:sym typeface="Open Sans"/>
              </a:rPr>
              <a:t>Example:</a:t>
            </a:r>
          </a:p>
          <a:p>
            <a:pPr algn="just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1F8E9"/>
                </a:solidFill>
                <a:latin typeface="Open Sans"/>
                <a:ea typeface="Open Sans"/>
                <a:cs typeface="Open Sans"/>
                <a:sym typeface="Open Sans"/>
              </a:rPr>
              <a:t>💬 Prompt: "Explain AI in simple words."</a:t>
            </a:r>
          </a:p>
          <a:p>
            <a:pPr algn="just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1F8E9"/>
                </a:solidFill>
                <a:latin typeface="Open Sans"/>
                <a:ea typeface="Open Sans"/>
                <a:cs typeface="Open Sans"/>
                <a:sym typeface="Open Sans"/>
              </a:rPr>
              <a:t>🤖 AI: Gives an easy explanation of AI</a:t>
            </a:r>
          </a:p>
          <a:p>
            <a:pPr algn="just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1F8E9"/>
                </a:solidFill>
                <a:latin typeface="Open Sans"/>
                <a:ea typeface="Open Sans"/>
                <a:cs typeface="Open Sans"/>
                <a:sym typeface="Open Sans"/>
              </a:rPr>
              <a:t>Simple Formula:</a:t>
            </a:r>
          </a:p>
          <a:p>
            <a:pPr algn="just" marL="0" indent="0" lvl="0">
              <a:lnSpc>
                <a:spcPts val="2948"/>
              </a:lnSpc>
              <a:spcBef>
                <a:spcPct val="0"/>
              </a:spcBef>
            </a:pPr>
            <a:r>
              <a:rPr lang="en-US" sz="2106">
                <a:solidFill>
                  <a:srgbClr val="F1F8E9"/>
                </a:solidFill>
                <a:latin typeface="Open Sans"/>
                <a:ea typeface="Open Sans"/>
                <a:cs typeface="Open Sans"/>
                <a:sym typeface="Open Sans"/>
              </a:rPr>
              <a:t>Prompt → AI → Answer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44670" y="-2166583"/>
            <a:ext cx="4546740" cy="4114800"/>
          </a:xfrm>
          <a:custGeom>
            <a:avLst/>
            <a:gdLst/>
            <a:ahLst/>
            <a:cxnLst/>
            <a:rect r="r" b="b" t="t" l="l"/>
            <a:pathLst>
              <a:path h="4114800" w="4546740">
                <a:moveTo>
                  <a:pt x="0" y="0"/>
                </a:moveTo>
                <a:lnTo>
                  <a:pt x="4546740" y="0"/>
                </a:lnTo>
                <a:lnTo>
                  <a:pt x="45467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047490" y="0"/>
            <a:ext cx="5240510" cy="10287000"/>
            <a:chOff x="0" y="0"/>
            <a:chExt cx="1380217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0217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80217">
                  <a:moveTo>
                    <a:pt x="0" y="0"/>
                  </a:moveTo>
                  <a:lnTo>
                    <a:pt x="1380217" y="0"/>
                  </a:lnTo>
                  <a:lnTo>
                    <a:pt x="138021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80217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0" y="1028700"/>
            <a:ext cx="8115300" cy="3771360"/>
            <a:chOff x="0" y="0"/>
            <a:chExt cx="1345294" cy="6251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5294" cy="625188"/>
            </a:xfrm>
            <a:custGeom>
              <a:avLst/>
              <a:gdLst/>
              <a:ahLst/>
              <a:cxnLst/>
              <a:rect r="r" b="b" t="t" l="l"/>
              <a:pathLst>
                <a:path h="625188" w="1345294">
                  <a:moveTo>
                    <a:pt x="0" y="0"/>
                  </a:moveTo>
                  <a:lnTo>
                    <a:pt x="1345294" y="0"/>
                  </a:lnTo>
                  <a:lnTo>
                    <a:pt x="1345294" y="625188"/>
                  </a:lnTo>
                  <a:lnTo>
                    <a:pt x="0" y="625188"/>
                  </a:lnTo>
                  <a:close/>
                </a:path>
              </a:pathLst>
            </a:custGeom>
            <a:blipFill>
              <a:blip r:embed="rId4"/>
              <a:stretch>
                <a:fillRect l="0" t="-298" r="0" b="-29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5486940"/>
            <a:ext cx="8115300" cy="3771360"/>
            <a:chOff x="0" y="0"/>
            <a:chExt cx="1345294" cy="6251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5294" cy="625188"/>
            </a:xfrm>
            <a:custGeom>
              <a:avLst/>
              <a:gdLst/>
              <a:ahLst/>
              <a:cxnLst/>
              <a:rect r="r" b="b" t="t" l="l"/>
              <a:pathLst>
                <a:path h="625188" w="1345294">
                  <a:moveTo>
                    <a:pt x="0" y="0"/>
                  </a:moveTo>
                  <a:lnTo>
                    <a:pt x="1345294" y="0"/>
                  </a:lnTo>
                  <a:lnTo>
                    <a:pt x="1345294" y="625188"/>
                  </a:lnTo>
                  <a:lnTo>
                    <a:pt x="0" y="625188"/>
                  </a:lnTo>
                  <a:close/>
                </a:path>
              </a:pathLst>
            </a:custGeom>
            <a:blipFill>
              <a:blip r:embed="rId5"/>
              <a:stretch>
                <a:fillRect l="0" t="-298" r="0" b="-29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189641"/>
            <a:ext cx="7514279" cy="981819"/>
            <a:chOff x="0" y="0"/>
            <a:chExt cx="10019039" cy="130909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1805922" y="308470"/>
              <a:ext cx="8213118" cy="644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7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Write Better Instructions</a:t>
              </a:r>
            </a:p>
          </p:txBody>
        </p:sp>
        <p:grpSp>
          <p:nvGrpSpPr>
            <p:cNvPr name="Group 12" id="12"/>
            <p:cNvGrpSpPr/>
            <p:nvPr/>
          </p:nvGrpSpPr>
          <p:grpSpPr>
            <a:xfrm rot="0">
              <a:off x="0" y="0"/>
              <a:ext cx="1432310" cy="1309092"/>
              <a:chOff x="0" y="0"/>
              <a:chExt cx="282925" cy="25858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82925" cy="258586"/>
              </a:xfrm>
              <a:custGeom>
                <a:avLst/>
                <a:gdLst/>
                <a:ahLst/>
                <a:cxnLst/>
                <a:rect r="r" b="b" t="t" l="l"/>
                <a:pathLst>
                  <a:path h="258586" w="282925">
                    <a:moveTo>
                      <a:pt x="0" y="0"/>
                    </a:moveTo>
                    <a:lnTo>
                      <a:pt x="282925" y="0"/>
                    </a:lnTo>
                    <a:lnTo>
                      <a:pt x="282925" y="258586"/>
                    </a:lnTo>
                    <a:lnTo>
                      <a:pt x="0" y="258586"/>
                    </a:lnTo>
                    <a:close/>
                  </a:path>
                </a:pathLst>
              </a:custGeom>
              <a:solidFill>
                <a:srgbClr val="06B6D4"/>
              </a:solidFill>
              <a:ln w="38100" cap="sq">
                <a:solidFill>
                  <a:srgbClr val="1E40A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82925" cy="2966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283742" y="308470"/>
              <a:ext cx="864827" cy="644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7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01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6318024"/>
            <a:ext cx="7514279" cy="981819"/>
            <a:chOff x="0" y="0"/>
            <a:chExt cx="10019039" cy="1309092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432310" cy="1309092"/>
              <a:chOff x="0" y="0"/>
              <a:chExt cx="282925" cy="25858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82925" cy="258586"/>
              </a:xfrm>
              <a:custGeom>
                <a:avLst/>
                <a:gdLst/>
                <a:ahLst/>
                <a:cxnLst/>
                <a:rect r="r" b="b" t="t" l="l"/>
                <a:pathLst>
                  <a:path h="258586" w="282925">
                    <a:moveTo>
                      <a:pt x="0" y="0"/>
                    </a:moveTo>
                    <a:lnTo>
                      <a:pt x="282925" y="0"/>
                    </a:lnTo>
                    <a:lnTo>
                      <a:pt x="282925" y="258586"/>
                    </a:lnTo>
                    <a:lnTo>
                      <a:pt x="0" y="258586"/>
                    </a:lnTo>
                    <a:close/>
                  </a:path>
                </a:pathLst>
              </a:custGeom>
              <a:solidFill>
                <a:srgbClr val="06B6D4"/>
              </a:solidFill>
              <a:ln w="38100" cap="sq">
                <a:solidFill>
                  <a:srgbClr val="1E40A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82925" cy="2966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83742" y="308470"/>
              <a:ext cx="864827" cy="644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7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02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05922" y="308470"/>
              <a:ext cx="8213118" cy="6445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7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Good vs Bad Prompt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866775"/>
            <a:ext cx="7514279" cy="200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34"/>
              </a:lnSpc>
              <a:spcBef>
                <a:spcPct val="0"/>
              </a:spcBef>
            </a:pPr>
            <a:r>
              <a:rPr lang="en-US" b="true" sz="5596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Prompt Engineering?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4323860"/>
            <a:ext cx="7514279" cy="161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77"/>
              </a:lnSpc>
              <a:spcBef>
                <a:spcPct val="0"/>
              </a:spcBef>
            </a:pPr>
            <a:r>
              <a:rPr lang="en-US" sz="23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Writing good instructions for AI to get better answers. It helps you get correct information, save time, get answers in the format you want, and improve overall AI output quality.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7530836"/>
            <a:ext cx="7514279" cy="1616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77"/>
              </a:lnSpc>
              <a:spcBef>
                <a:spcPct val="0"/>
              </a:spcBef>
            </a:pPr>
            <a:r>
              <a:rPr lang="en-US" sz="23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❌ Bad: "Tell me about AI."</a:t>
            </a:r>
          </a:p>
          <a:p>
            <a:pPr algn="just" marL="0" indent="0" lvl="0">
              <a:lnSpc>
                <a:spcPts val="3277"/>
              </a:lnSpc>
              <a:spcBef>
                <a:spcPct val="0"/>
              </a:spcBef>
            </a:pPr>
            <a:r>
              <a:rPr lang="en-US" sz="23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 Good: "Explain AI in simple words with 3 examples."</a:t>
            </a:r>
          </a:p>
          <a:p>
            <a:pPr algn="just" marL="0" indent="0" lvl="0">
              <a:lnSpc>
                <a:spcPts val="3277"/>
              </a:lnSpc>
              <a:spcBef>
                <a:spcPct val="0"/>
              </a:spcBef>
            </a:pPr>
            <a:r>
              <a:rPr lang="en-US" sz="234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Adding details to your prompt always leads to better, more useful answers from AI.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98564"/>
            <a:ext cx="16230600" cy="7689872"/>
            <a:chOff x="0" y="0"/>
            <a:chExt cx="4274726" cy="2025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025316"/>
            </a:xfrm>
            <a:custGeom>
              <a:avLst/>
              <a:gdLst/>
              <a:ahLst/>
              <a:cxnLst/>
              <a:rect r="r" b="b" t="t" l="l"/>
              <a:pathLst>
                <a:path h="2025316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25316"/>
                  </a:lnTo>
                  <a:lnTo>
                    <a:pt x="0" y="2025316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063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3923528" y="-1862481"/>
            <a:ext cx="444592" cy="6226953"/>
            <a:chOff x="0" y="0"/>
            <a:chExt cx="117094" cy="16400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094" cy="1640021"/>
            </a:xfrm>
            <a:custGeom>
              <a:avLst/>
              <a:gdLst/>
              <a:ahLst/>
              <a:cxnLst/>
              <a:rect r="r" b="b" t="t" l="l"/>
              <a:pathLst>
                <a:path h="1640021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640021"/>
                  </a:lnTo>
                  <a:lnTo>
                    <a:pt x="0" y="1640021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7094" cy="1678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0445530" y="2955308"/>
            <a:ext cx="1272959" cy="1633100"/>
            <a:chOff x="0" y="0"/>
            <a:chExt cx="335265" cy="4301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5265" cy="430117"/>
            </a:xfrm>
            <a:custGeom>
              <a:avLst/>
              <a:gdLst/>
              <a:ahLst/>
              <a:cxnLst/>
              <a:rect r="r" b="b" t="t" l="l"/>
              <a:pathLst>
                <a:path h="430117" w="335265">
                  <a:moveTo>
                    <a:pt x="0" y="0"/>
                  </a:moveTo>
                  <a:lnTo>
                    <a:pt x="335265" y="0"/>
                  </a:lnTo>
                  <a:lnTo>
                    <a:pt x="335265" y="430117"/>
                  </a:lnTo>
                  <a:lnTo>
                    <a:pt x="0" y="43011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5265" cy="46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2243255" y="2955308"/>
            <a:ext cx="1272959" cy="1633100"/>
            <a:chOff x="0" y="0"/>
            <a:chExt cx="335265" cy="4301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5265" cy="430117"/>
            </a:xfrm>
            <a:custGeom>
              <a:avLst/>
              <a:gdLst/>
              <a:ahLst/>
              <a:cxnLst/>
              <a:rect r="r" b="b" t="t" l="l"/>
              <a:pathLst>
                <a:path h="430117" w="335265">
                  <a:moveTo>
                    <a:pt x="0" y="0"/>
                  </a:moveTo>
                  <a:lnTo>
                    <a:pt x="335265" y="0"/>
                  </a:lnTo>
                  <a:lnTo>
                    <a:pt x="335265" y="430117"/>
                  </a:lnTo>
                  <a:lnTo>
                    <a:pt x="0" y="43011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5265" cy="46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304961" y="2813430"/>
            <a:ext cx="1572880" cy="1569610"/>
          </a:xfrm>
          <a:custGeom>
            <a:avLst/>
            <a:gdLst/>
            <a:ahLst/>
            <a:cxnLst/>
            <a:rect r="r" b="b" t="t" l="l"/>
            <a:pathLst>
              <a:path h="1569610" w="1572880">
                <a:moveTo>
                  <a:pt x="0" y="0"/>
                </a:moveTo>
                <a:lnTo>
                  <a:pt x="1572881" y="0"/>
                </a:lnTo>
                <a:lnTo>
                  <a:pt x="1572881" y="1569610"/>
                </a:lnTo>
                <a:lnTo>
                  <a:pt x="0" y="15696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159701" y="2861847"/>
            <a:ext cx="1577112" cy="1574624"/>
          </a:xfrm>
          <a:custGeom>
            <a:avLst/>
            <a:gdLst/>
            <a:ahLst/>
            <a:cxnLst/>
            <a:rect r="r" b="b" t="t" l="l"/>
            <a:pathLst>
              <a:path h="1574624" w="1577112">
                <a:moveTo>
                  <a:pt x="0" y="0"/>
                </a:moveTo>
                <a:lnTo>
                  <a:pt x="1577112" y="0"/>
                </a:lnTo>
                <a:lnTo>
                  <a:pt x="1577112" y="1574624"/>
                </a:lnTo>
                <a:lnTo>
                  <a:pt x="0" y="1574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11875" y="6776581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3" y="0"/>
                </a:lnTo>
                <a:lnTo>
                  <a:pt x="3605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101984" y="-1697784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3" y="0"/>
                </a:lnTo>
                <a:lnTo>
                  <a:pt x="3605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63184" y="1540128"/>
            <a:ext cx="14108532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Prompt vs Bad Prompt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063184" y="4822522"/>
            <a:ext cx="5906256" cy="3007398"/>
            <a:chOff x="0" y="0"/>
            <a:chExt cx="7875008" cy="4009863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66675"/>
              <a:ext cx="7875008" cy="76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7"/>
                </a:lnSpc>
                <a:spcBef>
                  <a:spcPct val="0"/>
                </a:spcBef>
              </a:pPr>
              <a:r>
                <a:rPr lang="en-US" b="true" sz="3448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❌ Bad Prompt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3702" y="973907"/>
              <a:ext cx="7851307" cy="3035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"Explain Python."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Not specific — AI doesn't know your level, language, or how many examples you need. You get a generic, unhelpful answer.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65460" y="4822522"/>
            <a:ext cx="5906256" cy="3467516"/>
            <a:chOff x="0" y="0"/>
            <a:chExt cx="7875008" cy="4623354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66675"/>
              <a:ext cx="7875008" cy="76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7"/>
                </a:lnSpc>
                <a:spcBef>
                  <a:spcPct val="0"/>
                </a:spcBef>
              </a:pPr>
              <a:r>
                <a:rPr lang="en-US" b="true" sz="3448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✅ Good Prompt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3702" y="973907"/>
              <a:ext cx="7851307" cy="364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"Explain Python to beginners in simple words with 3 examples."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Topic → Python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Level → Beginner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Language → Simple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Examples → 3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1100" y="1450964"/>
            <a:ext cx="16230600" cy="7689872"/>
            <a:chOff x="0" y="0"/>
            <a:chExt cx="4274726" cy="20253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74726" cy="2025316"/>
            </a:xfrm>
            <a:custGeom>
              <a:avLst/>
              <a:gdLst/>
              <a:ahLst/>
              <a:cxnLst/>
              <a:rect r="r" b="b" t="t" l="l"/>
              <a:pathLst>
                <a:path h="2025316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25316"/>
                  </a:lnTo>
                  <a:lnTo>
                    <a:pt x="0" y="2025316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74726" cy="2063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14075928" y="-1710081"/>
            <a:ext cx="444592" cy="6226953"/>
            <a:chOff x="0" y="0"/>
            <a:chExt cx="117094" cy="164002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7094" cy="1640021"/>
            </a:xfrm>
            <a:custGeom>
              <a:avLst/>
              <a:gdLst/>
              <a:ahLst/>
              <a:cxnLst/>
              <a:rect r="r" b="b" t="t" l="l"/>
              <a:pathLst>
                <a:path h="1640021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640021"/>
                  </a:lnTo>
                  <a:lnTo>
                    <a:pt x="0" y="1640021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7094" cy="1678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10597930" y="3107708"/>
            <a:ext cx="1272959" cy="1633100"/>
            <a:chOff x="0" y="0"/>
            <a:chExt cx="335265" cy="4301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5265" cy="430117"/>
            </a:xfrm>
            <a:custGeom>
              <a:avLst/>
              <a:gdLst/>
              <a:ahLst/>
              <a:cxnLst/>
              <a:rect r="r" b="b" t="t" l="l"/>
              <a:pathLst>
                <a:path h="430117" w="335265">
                  <a:moveTo>
                    <a:pt x="0" y="0"/>
                  </a:moveTo>
                  <a:lnTo>
                    <a:pt x="335265" y="0"/>
                  </a:lnTo>
                  <a:lnTo>
                    <a:pt x="335265" y="430117"/>
                  </a:lnTo>
                  <a:lnTo>
                    <a:pt x="0" y="43011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5265" cy="46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5400000">
            <a:off x="2395655" y="3107708"/>
            <a:ext cx="1272959" cy="1633100"/>
            <a:chOff x="0" y="0"/>
            <a:chExt cx="335265" cy="4301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5265" cy="430117"/>
            </a:xfrm>
            <a:custGeom>
              <a:avLst/>
              <a:gdLst/>
              <a:ahLst/>
              <a:cxnLst/>
              <a:rect r="r" b="b" t="t" l="l"/>
              <a:pathLst>
                <a:path h="430117" w="335265">
                  <a:moveTo>
                    <a:pt x="0" y="0"/>
                  </a:moveTo>
                  <a:lnTo>
                    <a:pt x="335265" y="0"/>
                  </a:lnTo>
                  <a:lnTo>
                    <a:pt x="335265" y="430117"/>
                  </a:lnTo>
                  <a:lnTo>
                    <a:pt x="0" y="43011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35265" cy="46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0456977" y="2967192"/>
            <a:ext cx="1573586" cy="1573586"/>
          </a:xfrm>
          <a:custGeom>
            <a:avLst/>
            <a:gdLst/>
            <a:ahLst/>
            <a:cxnLst/>
            <a:rect r="r" b="b" t="t" l="l"/>
            <a:pathLst>
              <a:path h="1573586" w="1573586">
                <a:moveTo>
                  <a:pt x="0" y="0"/>
                </a:moveTo>
                <a:lnTo>
                  <a:pt x="1573587" y="0"/>
                </a:lnTo>
                <a:lnTo>
                  <a:pt x="1573587" y="1573586"/>
                </a:lnTo>
                <a:lnTo>
                  <a:pt x="0" y="15735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250718" y="2985154"/>
            <a:ext cx="1768127" cy="1540480"/>
          </a:xfrm>
          <a:custGeom>
            <a:avLst/>
            <a:gdLst/>
            <a:ahLst/>
            <a:cxnLst/>
            <a:rect r="r" b="b" t="t" l="l"/>
            <a:pathLst>
              <a:path h="1540480" w="1768127">
                <a:moveTo>
                  <a:pt x="0" y="0"/>
                </a:moveTo>
                <a:lnTo>
                  <a:pt x="1768127" y="0"/>
                </a:lnTo>
                <a:lnTo>
                  <a:pt x="1768127" y="1540480"/>
                </a:lnTo>
                <a:lnTo>
                  <a:pt x="0" y="15404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7064275" y="6928981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3" y="0"/>
                </a:lnTo>
                <a:lnTo>
                  <a:pt x="3605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1949584" y="-1545384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3" y="0"/>
                </a:lnTo>
                <a:lnTo>
                  <a:pt x="3605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215584" y="1692528"/>
            <a:ext cx="14108532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Good Prompt vs Bad Prompt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215584" y="4974922"/>
            <a:ext cx="5906256" cy="3007398"/>
            <a:chOff x="0" y="0"/>
            <a:chExt cx="7875008" cy="4009863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-66675"/>
              <a:ext cx="7875008" cy="76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7"/>
                </a:lnSpc>
                <a:spcBef>
                  <a:spcPct val="0"/>
                </a:spcBef>
              </a:pPr>
              <a:r>
                <a:rPr lang="en-US" b="true" sz="3448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❌ Bad Prompt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23702" y="973907"/>
              <a:ext cx="7851307" cy="30359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"Explain Python."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Not specific — AI doesn't know your level, language, or how many examples you need. You get a generic, unhelpful answer.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17860" y="4974922"/>
            <a:ext cx="5906256" cy="3467516"/>
            <a:chOff x="0" y="0"/>
            <a:chExt cx="7875008" cy="4623354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-66675"/>
              <a:ext cx="7875008" cy="76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7"/>
                </a:lnSpc>
                <a:spcBef>
                  <a:spcPct val="0"/>
                </a:spcBef>
              </a:pPr>
              <a:r>
                <a:rPr lang="en-US" b="true" sz="3448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✅ Good Prompt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3702" y="973907"/>
              <a:ext cx="7851307" cy="36494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"Explain Python to beginners in simple words with 3 examples."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Topic → Python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Level → Beginner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Language → Simple</a:t>
              </a:r>
            </a:p>
            <a:p>
              <a:pPr algn="just" marL="0" indent="0" lvl="0">
                <a:lnSpc>
                  <a:spcPts val="3664"/>
                </a:lnSpc>
                <a:spcBef>
                  <a:spcPct val="0"/>
                </a:spcBef>
              </a:pPr>
              <a:r>
                <a:rPr lang="en-US" sz="2617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Examples → 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7025926"/>
            <a:ext cx="4129926" cy="3737583"/>
          </a:xfrm>
          <a:custGeom>
            <a:avLst/>
            <a:gdLst/>
            <a:ahLst/>
            <a:cxnLst/>
            <a:rect r="r" b="b" t="t" l="l"/>
            <a:pathLst>
              <a:path h="3737583" w="4129926">
                <a:moveTo>
                  <a:pt x="0" y="3737583"/>
                </a:moveTo>
                <a:lnTo>
                  <a:pt x="4129926" y="3737583"/>
                </a:lnTo>
                <a:lnTo>
                  <a:pt x="4129926" y="0"/>
                </a:lnTo>
                <a:lnTo>
                  <a:pt x="0" y="0"/>
                </a:lnTo>
                <a:lnTo>
                  <a:pt x="0" y="37375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158074" y="-2708883"/>
            <a:ext cx="4129926" cy="3737583"/>
          </a:xfrm>
          <a:custGeom>
            <a:avLst/>
            <a:gdLst/>
            <a:ahLst/>
            <a:cxnLst/>
            <a:rect r="r" b="b" t="t" l="l"/>
            <a:pathLst>
              <a:path h="3737583" w="4129926">
                <a:moveTo>
                  <a:pt x="0" y="3737583"/>
                </a:moveTo>
                <a:lnTo>
                  <a:pt x="4129926" y="3737583"/>
                </a:lnTo>
                <a:lnTo>
                  <a:pt x="4129926" y="0"/>
                </a:lnTo>
                <a:lnTo>
                  <a:pt x="0" y="0"/>
                </a:lnTo>
                <a:lnTo>
                  <a:pt x="0" y="37375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6044338"/>
            <a:ext cx="8115300" cy="3213962"/>
            <a:chOff x="0" y="0"/>
            <a:chExt cx="1345294" cy="5327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5294" cy="532787"/>
            </a:xfrm>
            <a:custGeom>
              <a:avLst/>
              <a:gdLst/>
              <a:ahLst/>
              <a:cxnLst/>
              <a:rect r="r" b="b" t="t" l="l"/>
              <a:pathLst>
                <a:path h="532787" w="1345294">
                  <a:moveTo>
                    <a:pt x="0" y="0"/>
                  </a:moveTo>
                  <a:lnTo>
                    <a:pt x="1345294" y="0"/>
                  </a:lnTo>
                  <a:lnTo>
                    <a:pt x="1345294" y="532787"/>
                  </a:lnTo>
                  <a:lnTo>
                    <a:pt x="0" y="532787"/>
                  </a:lnTo>
                  <a:close/>
                </a:path>
              </a:pathLst>
            </a:custGeom>
            <a:blipFill>
              <a:blip r:embed="rId4"/>
              <a:stretch>
                <a:fillRect l="0" t="-500" r="0" b="-50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8001613" y="1720670"/>
            <a:ext cx="444592" cy="1840182"/>
            <a:chOff x="0" y="0"/>
            <a:chExt cx="117094" cy="484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94" cy="484657"/>
            </a:xfrm>
            <a:custGeom>
              <a:avLst/>
              <a:gdLst/>
              <a:ahLst/>
              <a:cxnLst/>
              <a:rect r="r" b="b" t="t" l="l"/>
              <a:pathLst>
                <a:path h="484657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484657"/>
                  </a:lnTo>
                  <a:lnTo>
                    <a:pt x="0" y="48465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7094" cy="522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57250"/>
            <a:ext cx="8115300" cy="2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Write a Good Prompt?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39568" y="3974439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Simple &amp; Detailed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9568" y="1970750"/>
            <a:ext cx="7319732" cy="129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Give exact information. Tell AI the topic, level, and scope. The more specific your prompt, the more accurate and useful the answer will be.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39568" y="1196806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Specific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39568" y="4746030"/>
            <a:ext cx="7319732" cy="129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Don't confuse AI with complex language. At the same time, provide necessary instructions and context so AI can give a complete answer.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39568" y="6749719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Well-Structured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9568" y="7521311"/>
            <a:ext cx="7319732" cy="129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Tell AI how you want the answer — bullet points, paragraphs, or a list. 💡 Reminder: Clear Prompt = Better Answer!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241050"/>
            <a:ext cx="8115300" cy="129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Easy to understand. Use simple, direct language so AI knows exactly what you want. Avoid vague or ambiguous words.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467106"/>
            <a:ext cx="8115300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Clear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481983" y="0"/>
            <a:ext cx="4129926" cy="3737583"/>
          </a:xfrm>
          <a:custGeom>
            <a:avLst/>
            <a:gdLst/>
            <a:ahLst/>
            <a:cxnLst/>
            <a:rect r="r" b="b" t="t" l="l"/>
            <a:pathLst>
              <a:path h="3737583" w="4129926">
                <a:moveTo>
                  <a:pt x="4129926" y="0"/>
                </a:moveTo>
                <a:lnTo>
                  <a:pt x="0" y="0"/>
                </a:lnTo>
                <a:lnTo>
                  <a:pt x="0" y="3737583"/>
                </a:lnTo>
                <a:lnTo>
                  <a:pt x="4129926" y="3737583"/>
                </a:lnTo>
                <a:lnTo>
                  <a:pt x="4129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446818"/>
            <a:ext cx="18288000" cy="1840182"/>
            <a:chOff x="0" y="0"/>
            <a:chExt cx="4816593" cy="484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84657"/>
            </a:xfrm>
            <a:custGeom>
              <a:avLst/>
              <a:gdLst/>
              <a:ahLst/>
              <a:cxnLst/>
              <a:rect r="r" b="b" t="t" l="l"/>
              <a:pathLst>
                <a:path h="484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4657"/>
                  </a:lnTo>
                  <a:lnTo>
                    <a:pt x="0" y="484657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522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71015" y="5143500"/>
            <a:ext cx="4544154" cy="4114800"/>
            <a:chOff x="0" y="0"/>
            <a:chExt cx="1334148" cy="1208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4148" cy="1208091"/>
            </a:xfrm>
            <a:custGeom>
              <a:avLst/>
              <a:gdLst/>
              <a:ahLst/>
              <a:cxnLst/>
              <a:rect r="r" b="b" t="t" l="l"/>
              <a:pathLst>
                <a:path h="1208091" w="1334148">
                  <a:moveTo>
                    <a:pt x="0" y="0"/>
                  </a:moveTo>
                  <a:lnTo>
                    <a:pt x="1334148" y="0"/>
                  </a:lnTo>
                  <a:lnTo>
                    <a:pt x="1334148" y="1208091"/>
                  </a:lnTo>
                  <a:lnTo>
                    <a:pt x="0" y="1208091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34148" cy="1246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58094" y="1028700"/>
            <a:ext cx="4601206" cy="4114800"/>
            <a:chOff x="0" y="0"/>
            <a:chExt cx="1350899" cy="12080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0899" cy="1208091"/>
            </a:xfrm>
            <a:custGeom>
              <a:avLst/>
              <a:gdLst/>
              <a:ahLst/>
              <a:cxnLst/>
              <a:rect r="r" b="b" t="t" l="l"/>
              <a:pathLst>
                <a:path h="1208091" w="1350899">
                  <a:moveTo>
                    <a:pt x="0" y="0"/>
                  </a:moveTo>
                  <a:lnTo>
                    <a:pt x="1350899" y="0"/>
                  </a:lnTo>
                  <a:lnTo>
                    <a:pt x="1350899" y="1208091"/>
                  </a:lnTo>
                  <a:lnTo>
                    <a:pt x="0" y="1208091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50899" cy="1246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71015" y="1028700"/>
            <a:ext cx="4544154" cy="3850785"/>
            <a:chOff x="0" y="0"/>
            <a:chExt cx="840450" cy="7122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0450" cy="712210"/>
            </a:xfrm>
            <a:custGeom>
              <a:avLst/>
              <a:gdLst/>
              <a:ahLst/>
              <a:cxnLst/>
              <a:rect r="r" b="b" t="t" l="l"/>
              <a:pathLst>
                <a:path h="712210" w="840450">
                  <a:moveTo>
                    <a:pt x="0" y="0"/>
                  </a:moveTo>
                  <a:lnTo>
                    <a:pt x="840450" y="0"/>
                  </a:lnTo>
                  <a:lnTo>
                    <a:pt x="840450" y="712210"/>
                  </a:lnTo>
                  <a:lnTo>
                    <a:pt x="0" y="71221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-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58094" y="5567068"/>
            <a:ext cx="4601206" cy="3691232"/>
            <a:chOff x="0" y="0"/>
            <a:chExt cx="851002" cy="68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1002" cy="682700"/>
            </a:xfrm>
            <a:custGeom>
              <a:avLst/>
              <a:gdLst/>
              <a:ahLst/>
              <a:cxnLst/>
              <a:rect r="r" b="b" t="t" l="l"/>
              <a:pathLst>
                <a:path h="682700" w="851002">
                  <a:moveTo>
                    <a:pt x="0" y="0"/>
                  </a:moveTo>
                  <a:lnTo>
                    <a:pt x="851002" y="0"/>
                  </a:lnTo>
                  <a:lnTo>
                    <a:pt x="851002" y="682700"/>
                  </a:lnTo>
                  <a:lnTo>
                    <a:pt x="0" y="682700"/>
                  </a:lnTo>
                  <a:close/>
                </a:path>
              </a:pathLst>
            </a:custGeom>
            <a:blipFill>
              <a:blip r:embed="rId5"/>
              <a:stretch>
                <a:fillRect l="0" t="-16" r="0" b="-1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857250"/>
            <a:ext cx="5999619" cy="2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Simple Prompt Framework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942344" y="5461603"/>
            <a:ext cx="3801725" cy="3520034"/>
            <a:chOff x="0" y="0"/>
            <a:chExt cx="5068966" cy="4693379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47625"/>
              <a:ext cx="4637550" cy="514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1"/>
                </a:lnSpc>
                <a:spcBef>
                  <a:spcPct val="0"/>
                </a:spcBef>
              </a:pPr>
              <a:r>
                <a:rPr lang="en-US" b="true" sz="2343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Details &amp; Format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37451"/>
              <a:ext cx="5068966" cy="3855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355008" indent="-177504" lvl="1">
                <a:lnSpc>
                  <a:spcPts val="2302"/>
                </a:lnSpc>
                <a:spcBef>
                  <a:spcPct val="0"/>
                </a:spcBef>
                <a:buAutoNum type="arabicPeriod" startAt="1"/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Details – What information is needed?</a:t>
              </a:r>
            </a:p>
            <a:p>
              <a:pPr algn="just" marL="355008" indent="-177504" lvl="1">
                <a:lnSpc>
                  <a:spcPts val="2302"/>
                </a:lnSpc>
                <a:spcBef>
                  <a:spcPct val="0"/>
                </a:spcBef>
                <a:buAutoNum type="arabicPeriod" startAt="1"/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Provide context, level, and audience.</a:t>
              </a:r>
            </a:p>
            <a:p>
              <a:pPr algn="just" marL="355008" indent="-177504" lvl="1">
                <a:lnSpc>
                  <a:spcPts val="2302"/>
                </a:lnSpc>
                <a:spcBef>
                  <a:spcPct val="0"/>
                </a:spcBef>
                <a:buAutoNum type="arabicPeriod" startAt="1"/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Example: "For beginners."</a:t>
              </a:r>
            </a:p>
            <a:p>
              <a:pPr algn="just" marL="355008" indent="-177504" lvl="1">
                <a:lnSpc>
                  <a:spcPts val="2302"/>
                </a:lnSpc>
                <a:spcBef>
                  <a:spcPct val="0"/>
                </a:spcBef>
                <a:buAutoNum type="arabicPeriod" startAt="1"/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Format – How should the answer look?</a:t>
              </a:r>
            </a:p>
            <a:p>
              <a:pPr algn="just" marL="355008" indent="-177504" lvl="1">
                <a:lnSpc>
                  <a:spcPts val="2302"/>
                </a:lnSpc>
                <a:spcBef>
                  <a:spcPct val="0"/>
                </a:spcBef>
                <a:buAutoNum type="arabicPeriod" startAt="1"/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Specify structure of the response.</a:t>
              </a:r>
            </a:p>
            <a:p>
              <a:pPr algn="just" marL="355008" indent="-177504" lvl="1">
                <a:lnSpc>
                  <a:spcPts val="2302"/>
                </a:lnSpc>
                <a:spcBef>
                  <a:spcPct val="0"/>
                </a:spcBef>
                <a:buAutoNum type="arabicPeriod" startAt="1"/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Example: "In 5 bullet points with examples."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4005182"/>
            <a:ext cx="5999619" cy="3777610"/>
            <a:chOff x="0" y="0"/>
            <a:chExt cx="7999492" cy="503681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7999492" cy="624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4"/>
                </a:lnSpc>
                <a:spcBef>
                  <a:spcPct val="0"/>
                </a:spcBef>
              </a:pPr>
              <a:r>
                <a:rPr lang="en-US" b="true" sz="2845">
                  <a:solidFill>
                    <a:srgbClr val="1E40AF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Role &amp; Task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975305"/>
              <a:ext cx="7999492" cy="4061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42146" indent="-271073" lvl="1">
                <a:lnSpc>
                  <a:spcPts val="3515"/>
                </a:lnSpc>
                <a:spcBef>
                  <a:spcPct val="0"/>
                </a:spcBef>
                <a:buAutoNum type="arabicPeriod" startAt="1"/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Role – Who should AI act as?</a:t>
              </a:r>
            </a:p>
            <a:p>
              <a:pPr algn="just" marL="542146" indent="-271073" lvl="1">
                <a:lnSpc>
                  <a:spcPts val="3515"/>
                </a:lnSpc>
                <a:spcBef>
                  <a:spcPct val="0"/>
                </a:spcBef>
                <a:buAutoNum type="arabicPeriod" startAt="1"/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Tell AI to take on a specific role.</a:t>
              </a:r>
            </a:p>
            <a:p>
              <a:pPr algn="just" marL="542146" indent="-271073" lvl="1">
                <a:lnSpc>
                  <a:spcPts val="3515"/>
                </a:lnSpc>
                <a:spcBef>
                  <a:spcPct val="0"/>
                </a:spcBef>
                <a:buAutoNum type="arabicPeriod" startAt="1"/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Example: "Act as a teacher."</a:t>
              </a:r>
            </a:p>
            <a:p>
              <a:pPr algn="just" marL="542146" indent="-271073" lvl="1">
                <a:lnSpc>
                  <a:spcPts val="3515"/>
                </a:lnSpc>
                <a:spcBef>
                  <a:spcPct val="0"/>
                </a:spcBef>
                <a:buAutoNum type="arabicPeriod" startAt="1"/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– What should AI do?</a:t>
              </a:r>
            </a:p>
            <a:p>
              <a:pPr algn="just" marL="542146" indent="-271073" lvl="1">
                <a:lnSpc>
                  <a:spcPts val="3515"/>
                </a:lnSpc>
                <a:spcBef>
                  <a:spcPct val="0"/>
                </a:spcBef>
                <a:buAutoNum type="arabicPeriod" startAt="1"/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Give AI a clear action to perform.</a:t>
              </a:r>
            </a:p>
            <a:p>
              <a:pPr algn="just" marL="542146" indent="-271073" lvl="1">
                <a:lnSpc>
                  <a:spcPts val="3515"/>
                </a:lnSpc>
                <a:spcBef>
                  <a:spcPct val="0"/>
                </a:spcBef>
                <a:buAutoNum type="arabicPeriod" startAt="1"/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Example: "Explain Machine Learning."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33969" y="1372491"/>
            <a:ext cx="3849456" cy="2648493"/>
            <a:chOff x="0" y="0"/>
            <a:chExt cx="5132608" cy="3531324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47625"/>
              <a:ext cx="4695775" cy="514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1"/>
                </a:lnSpc>
                <a:spcBef>
                  <a:spcPct val="0"/>
                </a:spcBef>
              </a:pPr>
              <a:r>
                <a:rPr lang="en-US" b="true" sz="2343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Full Example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837451"/>
              <a:ext cx="5132608" cy="26938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302"/>
                </a:lnSpc>
                <a:spcBef>
                  <a:spcPct val="0"/>
                </a:spcBef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"Act as a teacher. Explain Machine Learning to beginners in 5 bullet points with examples."</a:t>
              </a:r>
            </a:p>
            <a:p>
              <a:pPr algn="just" marL="0" indent="0" lvl="0">
                <a:lnSpc>
                  <a:spcPts val="2302"/>
                </a:lnSpc>
                <a:spcBef>
                  <a:spcPct val="0"/>
                </a:spcBef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Role → Teacher</a:t>
              </a:r>
            </a:p>
            <a:p>
              <a:pPr algn="just" marL="0" indent="0" lvl="0">
                <a:lnSpc>
                  <a:spcPts val="2302"/>
                </a:lnSpc>
                <a:spcBef>
                  <a:spcPct val="0"/>
                </a:spcBef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→ Explain ML</a:t>
              </a:r>
            </a:p>
            <a:p>
              <a:pPr algn="just" marL="0" indent="0" lvl="0">
                <a:lnSpc>
                  <a:spcPts val="2302"/>
                </a:lnSpc>
                <a:spcBef>
                  <a:spcPct val="0"/>
                </a:spcBef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Details → Beginners</a:t>
              </a:r>
            </a:p>
            <a:p>
              <a:pPr algn="just" marL="0" indent="0" lvl="0">
                <a:lnSpc>
                  <a:spcPts val="2302"/>
                </a:lnSpc>
                <a:spcBef>
                  <a:spcPct val="0"/>
                </a:spcBef>
              </a:pPr>
              <a:r>
                <a:rPr lang="en-US" sz="164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Format → 5 bullet points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02131" y="6831348"/>
            <a:ext cx="4314338" cy="4114800"/>
          </a:xfrm>
          <a:custGeom>
            <a:avLst/>
            <a:gdLst/>
            <a:ahLst/>
            <a:cxnLst/>
            <a:rect r="r" b="b" t="t" l="l"/>
            <a:pathLst>
              <a:path h="4114800" w="4314338">
                <a:moveTo>
                  <a:pt x="0" y="0"/>
                </a:moveTo>
                <a:lnTo>
                  <a:pt x="4314338" y="0"/>
                </a:lnTo>
                <a:lnTo>
                  <a:pt x="43143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91942" y="-2057400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4" y="0"/>
                </a:lnTo>
                <a:lnTo>
                  <a:pt x="3605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858154" y="1028700"/>
            <a:ext cx="4401146" cy="8229600"/>
            <a:chOff x="0" y="0"/>
            <a:chExt cx="729589" cy="13642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9589" cy="1364241"/>
            </a:xfrm>
            <a:custGeom>
              <a:avLst/>
              <a:gdLst/>
              <a:ahLst/>
              <a:cxnLst/>
              <a:rect r="r" b="b" t="t" l="l"/>
              <a:pathLst>
                <a:path h="1364241" w="729589">
                  <a:moveTo>
                    <a:pt x="0" y="0"/>
                  </a:moveTo>
                  <a:lnTo>
                    <a:pt x="729589" y="0"/>
                  </a:lnTo>
                  <a:lnTo>
                    <a:pt x="729589" y="1364241"/>
                  </a:lnTo>
                  <a:lnTo>
                    <a:pt x="0" y="1364241"/>
                  </a:lnTo>
                  <a:close/>
                </a:path>
              </a:pathLst>
            </a:custGeom>
            <a:blipFill>
              <a:blip r:embed="rId6"/>
              <a:stretch>
                <a:fillRect l="0" t="-97" r="0" b="-9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857250"/>
            <a:ext cx="11442829" cy="106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4"/>
              </a:lnSpc>
              <a:spcBef>
                <a:spcPct val="0"/>
              </a:spcBef>
            </a:pPr>
            <a:r>
              <a:rPr lang="en-US" b="true" sz="58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Prompt Framework – RTF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477720"/>
            <a:ext cx="11028277" cy="1425548"/>
            <a:chOff x="0" y="0"/>
            <a:chExt cx="14704369" cy="1900731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4704369" cy="644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7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R → Role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256" y="850163"/>
              <a:ext cx="14660113" cy="1050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296"/>
                </a:lnSpc>
                <a:spcBef>
                  <a:spcPct val="0"/>
                </a:spcBef>
              </a:pPr>
              <a:r>
                <a:rPr lang="en-US" sz="235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Tell AI who to act as. Assigning a role helps AI respond with the right tone, expertise, and perspective for your specific need.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904568"/>
            <a:ext cx="11028277" cy="1425548"/>
            <a:chOff x="0" y="0"/>
            <a:chExt cx="14704369" cy="190073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14704369" cy="644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7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T → Task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4256" y="850163"/>
              <a:ext cx="14660113" cy="1050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296"/>
                </a:lnSpc>
                <a:spcBef>
                  <a:spcPct val="0"/>
                </a:spcBef>
              </a:pPr>
              <a:r>
                <a:rPr lang="en-US" sz="2354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Tell AI what to do. Be clear and specific about the action you want AI to perform — explain, summarize, create, list, compare, etc.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7283792"/>
            <a:ext cx="11028277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 → Format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969052"/>
            <a:ext cx="10995084" cy="1207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96"/>
              </a:lnSpc>
              <a:spcBef>
                <a:spcPct val="0"/>
              </a:spcBef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Tell AI how to answer. Specify the structure: bullet points, paragraph, table, numbered list, etc.</a:t>
            </a:r>
          </a:p>
          <a:p>
            <a:pPr algn="just" marL="0" indent="0" lvl="0">
              <a:lnSpc>
                <a:spcPts val="3296"/>
              </a:lnSpc>
              <a:spcBef>
                <a:spcPct val="0"/>
              </a:spcBef>
            </a:pPr>
            <a:r>
              <a:rPr lang="en-US" sz="235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Example: "Act as a teacher. Explain AI. Give the answer in simple bullet points."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8579" y="-900326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4" y="0"/>
                </a:lnTo>
                <a:lnTo>
                  <a:pt x="3605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259300" y="-624101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3605594" y="0"/>
                </a:moveTo>
                <a:lnTo>
                  <a:pt x="0" y="0"/>
                </a:lnTo>
                <a:lnTo>
                  <a:pt x="0" y="4114800"/>
                </a:lnTo>
                <a:lnTo>
                  <a:pt x="3605594" y="4114800"/>
                </a:lnTo>
                <a:lnTo>
                  <a:pt x="36055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7228420"/>
            <a:ext cx="18288000" cy="3058580"/>
            <a:chOff x="0" y="0"/>
            <a:chExt cx="3031648" cy="5070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31648" cy="507028"/>
            </a:xfrm>
            <a:custGeom>
              <a:avLst/>
              <a:gdLst/>
              <a:ahLst/>
              <a:cxnLst/>
              <a:rect r="r" b="b" t="t" l="l"/>
              <a:pathLst>
                <a:path h="507028" w="3031648">
                  <a:moveTo>
                    <a:pt x="0" y="0"/>
                  </a:moveTo>
                  <a:lnTo>
                    <a:pt x="3031648" y="0"/>
                  </a:lnTo>
                  <a:lnTo>
                    <a:pt x="3031648" y="507028"/>
                  </a:lnTo>
                  <a:lnTo>
                    <a:pt x="0" y="507028"/>
                  </a:lnTo>
                  <a:close/>
                </a:path>
              </a:pathLst>
            </a:custGeom>
            <a:blipFill>
              <a:blip r:embed="rId4"/>
              <a:stretch>
                <a:fillRect l="0" t="-76" r="0" b="-7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266276"/>
            <a:ext cx="16230600" cy="3330048"/>
            <a:chOff x="0" y="0"/>
            <a:chExt cx="4274726" cy="877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877050"/>
            </a:xfrm>
            <a:custGeom>
              <a:avLst/>
              <a:gdLst/>
              <a:ahLst/>
              <a:cxnLst/>
              <a:rect r="r" b="b" t="t" l="l"/>
              <a:pathLst>
                <a:path h="87705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877050"/>
                  </a:lnTo>
                  <a:lnTo>
                    <a:pt x="0" y="877050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91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806404" y="1485884"/>
            <a:ext cx="444592" cy="4384664"/>
            <a:chOff x="0" y="0"/>
            <a:chExt cx="117094" cy="11548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094" cy="1154809"/>
            </a:xfrm>
            <a:custGeom>
              <a:avLst/>
              <a:gdLst/>
              <a:ahLst/>
              <a:cxnLst/>
              <a:rect r="r" b="b" t="t" l="l"/>
              <a:pathLst>
                <a:path h="1154809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154809"/>
                  </a:lnTo>
                  <a:lnTo>
                    <a:pt x="0" y="1154809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094" cy="1192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120199"/>
            <a:ext cx="16230600" cy="3138101"/>
            <a:chOff x="0" y="0"/>
            <a:chExt cx="4274726" cy="8264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4726" cy="826496"/>
            </a:xfrm>
            <a:custGeom>
              <a:avLst/>
              <a:gdLst/>
              <a:ahLst/>
              <a:cxnLst/>
              <a:rect r="r" b="b" t="t" l="l"/>
              <a:pathLst>
                <a:path h="826496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826496"/>
                  </a:lnTo>
                  <a:lnTo>
                    <a:pt x="0" y="826496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74726" cy="864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806404" y="4873636"/>
            <a:ext cx="444592" cy="4384664"/>
            <a:chOff x="0" y="0"/>
            <a:chExt cx="117094" cy="11548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094" cy="1154809"/>
            </a:xfrm>
            <a:custGeom>
              <a:avLst/>
              <a:gdLst/>
              <a:ahLst/>
              <a:cxnLst/>
              <a:rect r="r" b="b" t="t" l="l"/>
              <a:pathLst>
                <a:path h="1154809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154809"/>
                  </a:lnTo>
                  <a:lnTo>
                    <a:pt x="0" y="1154809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7094" cy="1192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06404" y="857250"/>
            <a:ext cx="16452896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Practical Example – Assignment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7934" y="2510815"/>
            <a:ext cx="14812133" cy="66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The Prompt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37934" y="3433549"/>
            <a:ext cx="14767552" cy="182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96"/>
              </a:lnSpc>
              <a:spcBef>
                <a:spcPct val="0"/>
              </a:spcBef>
            </a:pPr>
            <a:r>
              <a:rPr lang="en-US" sz="3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"Create an assignment about Artificial Intelligence. Include introduction, applications, advantages, disadvantages, and conclusion. Use simple English."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7934" y="6287815"/>
            <a:ext cx="14812133" cy="66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AI Can Help You Create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7934" y="7191498"/>
            <a:ext cx="14767552" cy="120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96"/>
              </a:lnSpc>
              <a:spcBef>
                <a:spcPct val="0"/>
              </a:spcBef>
            </a:pPr>
            <a:r>
              <a:rPr lang="en-US" sz="3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Introduction   ✅ Main Content   ✅ Examples</a:t>
            </a:r>
          </a:p>
          <a:p>
            <a:pPr algn="just" marL="0" indent="0" lvl="0">
              <a:lnSpc>
                <a:spcPts val="4896"/>
              </a:lnSpc>
              <a:spcBef>
                <a:spcPct val="0"/>
              </a:spcBef>
            </a:pPr>
            <a:r>
              <a:rPr lang="en-US" sz="3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✅ Advantages   ✅ Disadvantages   ✅ Conclusion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28579" y="-900326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4" y="0"/>
                </a:lnTo>
                <a:lnTo>
                  <a:pt x="3605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7259300" y="-624101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3605594" y="0"/>
                </a:moveTo>
                <a:lnTo>
                  <a:pt x="0" y="0"/>
                </a:lnTo>
                <a:lnTo>
                  <a:pt x="0" y="4114800"/>
                </a:lnTo>
                <a:lnTo>
                  <a:pt x="3605594" y="4114800"/>
                </a:lnTo>
                <a:lnTo>
                  <a:pt x="360559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7228420"/>
            <a:ext cx="18288000" cy="3058580"/>
            <a:chOff x="0" y="0"/>
            <a:chExt cx="3031648" cy="5070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31648" cy="507028"/>
            </a:xfrm>
            <a:custGeom>
              <a:avLst/>
              <a:gdLst/>
              <a:ahLst/>
              <a:cxnLst/>
              <a:rect r="r" b="b" t="t" l="l"/>
              <a:pathLst>
                <a:path h="507028" w="3031648">
                  <a:moveTo>
                    <a:pt x="0" y="0"/>
                  </a:moveTo>
                  <a:lnTo>
                    <a:pt x="3031648" y="0"/>
                  </a:lnTo>
                  <a:lnTo>
                    <a:pt x="3031648" y="507028"/>
                  </a:lnTo>
                  <a:lnTo>
                    <a:pt x="0" y="507028"/>
                  </a:lnTo>
                  <a:close/>
                </a:path>
              </a:pathLst>
            </a:custGeom>
            <a:blipFill>
              <a:blip r:embed="rId4"/>
              <a:stretch>
                <a:fillRect l="0" t="-76" r="0" b="-7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266276"/>
            <a:ext cx="16230600" cy="3330048"/>
            <a:chOff x="0" y="0"/>
            <a:chExt cx="4274726" cy="8770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877050"/>
            </a:xfrm>
            <a:custGeom>
              <a:avLst/>
              <a:gdLst/>
              <a:ahLst/>
              <a:cxnLst/>
              <a:rect r="r" b="b" t="t" l="l"/>
              <a:pathLst>
                <a:path h="877050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877050"/>
                  </a:lnTo>
                  <a:lnTo>
                    <a:pt x="0" y="877050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915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806404" y="1485884"/>
            <a:ext cx="444592" cy="4384664"/>
            <a:chOff x="0" y="0"/>
            <a:chExt cx="117094" cy="11548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094" cy="1154809"/>
            </a:xfrm>
            <a:custGeom>
              <a:avLst/>
              <a:gdLst/>
              <a:ahLst/>
              <a:cxnLst/>
              <a:rect r="r" b="b" t="t" l="l"/>
              <a:pathLst>
                <a:path h="1154809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154809"/>
                  </a:lnTo>
                  <a:lnTo>
                    <a:pt x="0" y="1154809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094" cy="1192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6120199"/>
            <a:ext cx="16230600" cy="3138101"/>
            <a:chOff x="0" y="0"/>
            <a:chExt cx="4274726" cy="8264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4726" cy="826496"/>
            </a:xfrm>
            <a:custGeom>
              <a:avLst/>
              <a:gdLst/>
              <a:ahLst/>
              <a:cxnLst/>
              <a:rect r="r" b="b" t="t" l="l"/>
              <a:pathLst>
                <a:path h="826496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826496"/>
                  </a:lnTo>
                  <a:lnTo>
                    <a:pt x="0" y="826496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74726" cy="864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806404" y="4873636"/>
            <a:ext cx="444592" cy="4384664"/>
            <a:chOff x="0" y="0"/>
            <a:chExt cx="117094" cy="11548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094" cy="1154809"/>
            </a:xfrm>
            <a:custGeom>
              <a:avLst/>
              <a:gdLst/>
              <a:ahLst/>
              <a:cxnLst/>
              <a:rect r="r" b="b" t="t" l="l"/>
              <a:pathLst>
                <a:path h="1154809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154809"/>
                  </a:lnTo>
                  <a:lnTo>
                    <a:pt x="0" y="1154809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7094" cy="11929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06404" y="857250"/>
            <a:ext cx="16452896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Practical Example – Summary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37934" y="2510815"/>
            <a:ext cx="14812133" cy="66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Prompt 1: Summarize a Topic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37934" y="3433549"/>
            <a:ext cx="14767552" cy="182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96"/>
              </a:lnSpc>
              <a:spcBef>
                <a:spcPct val="0"/>
              </a:spcBef>
            </a:pPr>
            <a:r>
              <a:rPr lang="en-US" sz="3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"Summarize Artificial Intelligence in 100 words using simple English."</a:t>
            </a:r>
          </a:p>
          <a:p>
            <a:pPr algn="just" marL="0" indent="0" lvl="0">
              <a:lnSpc>
                <a:spcPts val="4896"/>
              </a:lnSpc>
              <a:spcBef>
                <a:spcPct val="0"/>
              </a:spcBef>
            </a:pPr>
            <a:r>
              <a:rPr lang="en-US" sz="3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Result: AI provides the most important points in short, easy-to-read form — perfect for quick understanding and revision.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37934" y="6287815"/>
            <a:ext cx="14812133" cy="663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56"/>
              </a:lnSpc>
              <a:spcBef>
                <a:spcPct val="0"/>
              </a:spcBef>
            </a:pPr>
            <a:r>
              <a:rPr lang="en-US" b="true" sz="3897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Prompt 2: Summarize a Paragraph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37934" y="7191498"/>
            <a:ext cx="14767552" cy="182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896"/>
              </a:lnSpc>
              <a:spcBef>
                <a:spcPct val="0"/>
              </a:spcBef>
            </a:pPr>
            <a:r>
              <a:rPr lang="en-US" sz="3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"Summarize this paragraph in 5 simple bullet points."</a:t>
            </a:r>
          </a:p>
          <a:p>
            <a:pPr algn="just" marL="0" indent="0" lvl="0">
              <a:lnSpc>
                <a:spcPts val="4896"/>
              </a:lnSpc>
              <a:spcBef>
                <a:spcPct val="0"/>
              </a:spcBef>
            </a:pPr>
            <a:r>
              <a:rPr lang="en-US" sz="3497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Result: AI breaks down any text into clear, concise bullet points — making long content easy to understand and remember.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02131" y="6831348"/>
            <a:ext cx="4314338" cy="4114800"/>
          </a:xfrm>
          <a:custGeom>
            <a:avLst/>
            <a:gdLst/>
            <a:ahLst/>
            <a:cxnLst/>
            <a:rect r="r" b="b" t="t" l="l"/>
            <a:pathLst>
              <a:path h="4114800" w="4314338">
                <a:moveTo>
                  <a:pt x="0" y="0"/>
                </a:moveTo>
                <a:lnTo>
                  <a:pt x="4314338" y="0"/>
                </a:lnTo>
                <a:lnTo>
                  <a:pt x="43143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391942" y="-2057400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4" y="0"/>
                </a:lnTo>
                <a:lnTo>
                  <a:pt x="3605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858154" y="1028700"/>
            <a:ext cx="4401146" cy="8229600"/>
            <a:chOff x="0" y="0"/>
            <a:chExt cx="729589" cy="13642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9589" cy="1364241"/>
            </a:xfrm>
            <a:custGeom>
              <a:avLst/>
              <a:gdLst/>
              <a:ahLst/>
              <a:cxnLst/>
              <a:rect r="r" b="b" t="t" l="l"/>
              <a:pathLst>
                <a:path h="1364241" w="729589">
                  <a:moveTo>
                    <a:pt x="0" y="0"/>
                  </a:moveTo>
                  <a:lnTo>
                    <a:pt x="729589" y="0"/>
                  </a:lnTo>
                  <a:lnTo>
                    <a:pt x="729589" y="1364241"/>
                  </a:lnTo>
                  <a:lnTo>
                    <a:pt x="0" y="1364241"/>
                  </a:lnTo>
                  <a:close/>
                </a:path>
              </a:pathLst>
            </a:custGeom>
            <a:blipFill>
              <a:blip r:embed="rId6"/>
              <a:stretch>
                <a:fillRect l="0" t="-97" r="0" b="-9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8700" y="857250"/>
            <a:ext cx="11442829" cy="1069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54"/>
              </a:lnSpc>
              <a:spcBef>
                <a:spcPct val="0"/>
              </a:spcBef>
            </a:pPr>
            <a:r>
              <a:rPr lang="en-US" b="true" sz="58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Improve a Prompt?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2477720"/>
            <a:ext cx="11028277" cy="1479042"/>
            <a:chOff x="0" y="0"/>
            <a:chExt cx="14704369" cy="1972056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-47625"/>
              <a:ext cx="14704369" cy="644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7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Simple Prompt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4256" y="840638"/>
              <a:ext cx="14660113" cy="1131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497"/>
                </a:lnSpc>
                <a:spcBef>
                  <a:spcPct val="0"/>
                </a:spcBef>
              </a:pPr>
              <a:r>
                <a:rPr lang="en-US" sz="24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"Explain AI."</a:t>
              </a:r>
            </a:p>
            <a:p>
              <a:pPr algn="just" marL="0" indent="0" lvl="0">
                <a:lnSpc>
                  <a:spcPts val="3497"/>
                </a:lnSpc>
                <a:spcBef>
                  <a:spcPct val="0"/>
                </a:spcBef>
              </a:pPr>
              <a:r>
                <a:rPr lang="en-US" sz="24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Basic and vague — AI gives a generic answer with little useful detail.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904568"/>
            <a:ext cx="11028277" cy="1479042"/>
            <a:chOff x="0" y="0"/>
            <a:chExt cx="14704369" cy="197205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47625"/>
              <a:ext cx="14704369" cy="644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7"/>
                </a:lnSpc>
                <a:spcBef>
                  <a:spcPct val="0"/>
                </a:spcBef>
              </a:pPr>
              <a:r>
                <a:rPr lang="en-US" b="true" sz="2997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Better Prompt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4256" y="840638"/>
              <a:ext cx="14660113" cy="11314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497"/>
                </a:lnSpc>
                <a:spcBef>
                  <a:spcPct val="0"/>
                </a:spcBef>
              </a:pPr>
              <a:r>
                <a:rPr lang="en-US" sz="24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"Explain AI in simple words."</a:t>
              </a:r>
            </a:p>
            <a:p>
              <a:pPr algn="just" marL="0" indent="0" lvl="0">
                <a:lnSpc>
                  <a:spcPts val="3497"/>
                </a:lnSpc>
                <a:spcBef>
                  <a:spcPct val="0"/>
                </a:spcBef>
              </a:pPr>
              <a:r>
                <a:rPr lang="en-US" sz="2498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Adding context helps AI understand your level and tone.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7283792"/>
            <a:ext cx="11028277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Much Better Prompt 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959527"/>
            <a:ext cx="10995084" cy="129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"Explain AI in simple words for college students. Give 3 real-life examples in bullet points."</a:t>
            </a:r>
          </a:p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🔑 Key Point: Adding details improves answers!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7025926"/>
            <a:ext cx="4129926" cy="3737583"/>
          </a:xfrm>
          <a:custGeom>
            <a:avLst/>
            <a:gdLst/>
            <a:ahLst/>
            <a:cxnLst/>
            <a:rect r="r" b="b" t="t" l="l"/>
            <a:pathLst>
              <a:path h="3737583" w="4129926">
                <a:moveTo>
                  <a:pt x="0" y="3737583"/>
                </a:moveTo>
                <a:lnTo>
                  <a:pt x="4129926" y="3737583"/>
                </a:lnTo>
                <a:lnTo>
                  <a:pt x="4129926" y="0"/>
                </a:lnTo>
                <a:lnTo>
                  <a:pt x="0" y="0"/>
                </a:lnTo>
                <a:lnTo>
                  <a:pt x="0" y="37375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158074" y="-2708883"/>
            <a:ext cx="4129926" cy="3737583"/>
          </a:xfrm>
          <a:custGeom>
            <a:avLst/>
            <a:gdLst/>
            <a:ahLst/>
            <a:cxnLst/>
            <a:rect r="r" b="b" t="t" l="l"/>
            <a:pathLst>
              <a:path h="3737583" w="4129926">
                <a:moveTo>
                  <a:pt x="0" y="3737583"/>
                </a:moveTo>
                <a:lnTo>
                  <a:pt x="4129926" y="3737583"/>
                </a:lnTo>
                <a:lnTo>
                  <a:pt x="4129926" y="0"/>
                </a:lnTo>
                <a:lnTo>
                  <a:pt x="0" y="0"/>
                </a:lnTo>
                <a:lnTo>
                  <a:pt x="0" y="37375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6044338"/>
            <a:ext cx="8115300" cy="3213962"/>
            <a:chOff x="0" y="0"/>
            <a:chExt cx="1345294" cy="5327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5294" cy="532787"/>
            </a:xfrm>
            <a:custGeom>
              <a:avLst/>
              <a:gdLst/>
              <a:ahLst/>
              <a:cxnLst/>
              <a:rect r="r" b="b" t="t" l="l"/>
              <a:pathLst>
                <a:path h="532787" w="1345294">
                  <a:moveTo>
                    <a:pt x="0" y="0"/>
                  </a:moveTo>
                  <a:lnTo>
                    <a:pt x="1345294" y="0"/>
                  </a:lnTo>
                  <a:lnTo>
                    <a:pt x="1345294" y="532787"/>
                  </a:lnTo>
                  <a:lnTo>
                    <a:pt x="0" y="532787"/>
                  </a:lnTo>
                  <a:close/>
                </a:path>
              </a:pathLst>
            </a:custGeom>
            <a:blipFill>
              <a:blip r:embed="rId4"/>
              <a:stretch>
                <a:fillRect l="0" t="-500" r="0" b="-50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8001613" y="1720670"/>
            <a:ext cx="444592" cy="1840182"/>
            <a:chOff x="0" y="0"/>
            <a:chExt cx="117094" cy="484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94" cy="484657"/>
            </a:xfrm>
            <a:custGeom>
              <a:avLst/>
              <a:gdLst/>
              <a:ahLst/>
              <a:cxnLst/>
              <a:rect r="r" b="b" t="t" l="l"/>
              <a:pathLst>
                <a:path h="484657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484657"/>
                  </a:lnTo>
                  <a:lnTo>
                    <a:pt x="0" y="48465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7094" cy="522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57250"/>
            <a:ext cx="8115300" cy="2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Common Prompt Mistakes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39568" y="3974439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Good Prompt Example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9568" y="1989800"/>
            <a:ext cx="7319732" cy="50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❌ "Write something about computers."</a:t>
            </a:r>
          </a:p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is too vague — AI doesn't know what topic, level, format, or length you want.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39568" y="1196806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Bad Prompt Example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39568" y="4765080"/>
            <a:ext cx="7319732" cy="50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 "Explain the 5 main uses of computers in simple English."</a:t>
            </a:r>
          </a:p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This is clear, specific, and tells AI exactly what you need.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39568" y="6749719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Key Reminder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9568" y="7540361"/>
            <a:ext cx="7319732" cy="505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Always be clear, specific, and structured. A better prompt leads to a better answer. Review AI responses critically — never copy without checking!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260100"/>
            <a:ext cx="8115300" cy="1277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❌ Unclear questions</a:t>
            </a:r>
          </a:p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❌ Very little information</a:t>
            </a:r>
          </a:p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❌ Missing format instructions</a:t>
            </a:r>
          </a:p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❌ Confusing instructions</a:t>
            </a:r>
          </a:p>
          <a:p>
            <a:pPr algn="just" marL="0" indent="0" lvl="0">
              <a:lnSpc>
                <a:spcPts val="2050"/>
              </a:lnSpc>
              <a:spcBef>
                <a:spcPct val="0"/>
              </a:spcBef>
            </a:pPr>
            <a:r>
              <a:rPr lang="en-US" sz="14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❌ Copying AI answers without checking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467106"/>
            <a:ext cx="8115300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Mistakes to Avoid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7025926"/>
            <a:ext cx="4129926" cy="3737583"/>
          </a:xfrm>
          <a:custGeom>
            <a:avLst/>
            <a:gdLst/>
            <a:ahLst/>
            <a:cxnLst/>
            <a:rect r="r" b="b" t="t" l="l"/>
            <a:pathLst>
              <a:path h="3737583" w="4129926">
                <a:moveTo>
                  <a:pt x="0" y="3737583"/>
                </a:moveTo>
                <a:lnTo>
                  <a:pt x="4129926" y="3737583"/>
                </a:lnTo>
                <a:lnTo>
                  <a:pt x="4129926" y="0"/>
                </a:lnTo>
                <a:lnTo>
                  <a:pt x="0" y="0"/>
                </a:lnTo>
                <a:lnTo>
                  <a:pt x="0" y="37375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4158074" y="-2708883"/>
            <a:ext cx="4129926" cy="3737583"/>
          </a:xfrm>
          <a:custGeom>
            <a:avLst/>
            <a:gdLst/>
            <a:ahLst/>
            <a:cxnLst/>
            <a:rect r="r" b="b" t="t" l="l"/>
            <a:pathLst>
              <a:path h="3737583" w="4129926">
                <a:moveTo>
                  <a:pt x="0" y="3737583"/>
                </a:moveTo>
                <a:lnTo>
                  <a:pt x="4129926" y="3737583"/>
                </a:lnTo>
                <a:lnTo>
                  <a:pt x="4129926" y="0"/>
                </a:lnTo>
                <a:lnTo>
                  <a:pt x="0" y="0"/>
                </a:lnTo>
                <a:lnTo>
                  <a:pt x="0" y="373758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6044338"/>
            <a:ext cx="8115300" cy="3213962"/>
            <a:chOff x="0" y="0"/>
            <a:chExt cx="1345294" cy="5327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5294" cy="532787"/>
            </a:xfrm>
            <a:custGeom>
              <a:avLst/>
              <a:gdLst/>
              <a:ahLst/>
              <a:cxnLst/>
              <a:rect r="r" b="b" t="t" l="l"/>
              <a:pathLst>
                <a:path h="532787" w="1345294">
                  <a:moveTo>
                    <a:pt x="0" y="0"/>
                  </a:moveTo>
                  <a:lnTo>
                    <a:pt x="1345294" y="0"/>
                  </a:lnTo>
                  <a:lnTo>
                    <a:pt x="1345294" y="532787"/>
                  </a:lnTo>
                  <a:lnTo>
                    <a:pt x="0" y="532787"/>
                  </a:lnTo>
                  <a:close/>
                </a:path>
              </a:pathLst>
            </a:custGeom>
            <a:blipFill>
              <a:blip r:embed="rId4"/>
              <a:stretch>
                <a:fillRect l="0" t="-500" r="0" b="-50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8001613" y="1720670"/>
            <a:ext cx="444592" cy="1840182"/>
            <a:chOff x="0" y="0"/>
            <a:chExt cx="117094" cy="4846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094" cy="484657"/>
            </a:xfrm>
            <a:custGeom>
              <a:avLst/>
              <a:gdLst/>
              <a:ahLst/>
              <a:cxnLst/>
              <a:rect r="r" b="b" t="t" l="l"/>
              <a:pathLst>
                <a:path h="484657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484657"/>
                  </a:lnTo>
                  <a:lnTo>
                    <a:pt x="0" y="48465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7094" cy="522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57250"/>
            <a:ext cx="8115300" cy="2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Responsible Use of AI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39568" y="3974439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Protect Your Privacy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39568" y="1970750"/>
            <a:ext cx="7319732" cy="173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Always check the information AI provides. Don't blindly copy AI answers — verify facts, use your own ideas, and combine AI help with your own thinking.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39568" y="1196806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Verify &amp; Think Critically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39568" y="4746030"/>
            <a:ext cx="7319732" cy="173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Never share private or sensitive information with AI tools. Protect your personal data, passwords, and confidential details when using any AI platform.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39568" y="6749719"/>
            <a:ext cx="7319732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Follow the Rules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39568" y="7521311"/>
            <a:ext cx="7319732" cy="1736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Use AI for learning, not as a replacement for effort. Follow your college or company's AI guidelines. Remember: AI is a helper, not a substitute for your own growth.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241050"/>
            <a:ext cx="8115300" cy="129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7"/>
              </a:lnSpc>
              <a:spcBef>
                <a:spcPct val="0"/>
              </a:spcBef>
            </a:pPr>
            <a:r>
              <a:rPr lang="en-US" sz="249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 is a powerful tool, but it must be used wisely. Always think critically, verify what AI tells you, and use it to support your learning — not replace it.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3467106"/>
            <a:ext cx="8115300" cy="49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  <a:spcBef>
                <a:spcPct val="0"/>
              </a:spcBef>
            </a:pPr>
            <a:r>
              <a:rPr lang="en-US" b="true" sz="29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Why It Matters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98564"/>
            <a:ext cx="16230600" cy="7689872"/>
            <a:chOff x="0" y="0"/>
            <a:chExt cx="4274726" cy="2025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2025316"/>
            </a:xfrm>
            <a:custGeom>
              <a:avLst/>
              <a:gdLst/>
              <a:ahLst/>
              <a:cxnLst/>
              <a:rect r="r" b="b" t="t" l="l"/>
              <a:pathLst>
                <a:path h="2025316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25316"/>
                  </a:lnTo>
                  <a:lnTo>
                    <a:pt x="0" y="2025316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74726" cy="2063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13923528" y="-1862481"/>
            <a:ext cx="444592" cy="6226953"/>
            <a:chOff x="0" y="0"/>
            <a:chExt cx="117094" cy="16400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7094" cy="1640021"/>
            </a:xfrm>
            <a:custGeom>
              <a:avLst/>
              <a:gdLst/>
              <a:ahLst/>
              <a:cxnLst/>
              <a:rect r="r" b="b" t="t" l="l"/>
              <a:pathLst>
                <a:path h="1640021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640021"/>
                  </a:lnTo>
                  <a:lnTo>
                    <a:pt x="0" y="1640021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7094" cy="1678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0445530" y="2955308"/>
            <a:ext cx="1272959" cy="1633100"/>
            <a:chOff x="0" y="0"/>
            <a:chExt cx="335265" cy="4301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5265" cy="430117"/>
            </a:xfrm>
            <a:custGeom>
              <a:avLst/>
              <a:gdLst/>
              <a:ahLst/>
              <a:cxnLst/>
              <a:rect r="r" b="b" t="t" l="l"/>
              <a:pathLst>
                <a:path h="430117" w="335265">
                  <a:moveTo>
                    <a:pt x="0" y="0"/>
                  </a:moveTo>
                  <a:lnTo>
                    <a:pt x="335265" y="0"/>
                  </a:lnTo>
                  <a:lnTo>
                    <a:pt x="335265" y="430117"/>
                  </a:lnTo>
                  <a:lnTo>
                    <a:pt x="0" y="43011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5265" cy="46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400000">
            <a:off x="2243255" y="2955308"/>
            <a:ext cx="1272959" cy="1633100"/>
            <a:chOff x="0" y="0"/>
            <a:chExt cx="335265" cy="4301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5265" cy="430117"/>
            </a:xfrm>
            <a:custGeom>
              <a:avLst/>
              <a:gdLst/>
              <a:ahLst/>
              <a:cxnLst/>
              <a:rect r="r" b="b" t="t" l="l"/>
              <a:pathLst>
                <a:path h="430117" w="335265">
                  <a:moveTo>
                    <a:pt x="0" y="0"/>
                  </a:moveTo>
                  <a:lnTo>
                    <a:pt x="335265" y="0"/>
                  </a:lnTo>
                  <a:lnTo>
                    <a:pt x="335265" y="430117"/>
                  </a:lnTo>
                  <a:lnTo>
                    <a:pt x="0" y="43011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335265" cy="46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308288" y="2850593"/>
            <a:ext cx="1566496" cy="1509372"/>
          </a:xfrm>
          <a:custGeom>
            <a:avLst/>
            <a:gdLst/>
            <a:ahLst/>
            <a:cxnLst/>
            <a:rect r="r" b="b" t="t" l="l"/>
            <a:pathLst>
              <a:path h="1509372" w="1566496">
                <a:moveTo>
                  <a:pt x="0" y="0"/>
                </a:moveTo>
                <a:lnTo>
                  <a:pt x="1566496" y="0"/>
                </a:lnTo>
                <a:lnTo>
                  <a:pt x="1566496" y="1509372"/>
                </a:lnTo>
                <a:lnTo>
                  <a:pt x="0" y="1509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252309" y="2740124"/>
            <a:ext cx="1631676" cy="1792031"/>
          </a:xfrm>
          <a:custGeom>
            <a:avLst/>
            <a:gdLst/>
            <a:ahLst/>
            <a:cxnLst/>
            <a:rect r="r" b="b" t="t" l="l"/>
            <a:pathLst>
              <a:path h="1792031" w="1631676">
                <a:moveTo>
                  <a:pt x="0" y="0"/>
                </a:moveTo>
                <a:lnTo>
                  <a:pt x="1631676" y="0"/>
                </a:lnTo>
                <a:lnTo>
                  <a:pt x="1631676" y="1792031"/>
                </a:lnTo>
                <a:lnTo>
                  <a:pt x="0" y="1792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6911875" y="6776581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3" y="0"/>
                </a:lnTo>
                <a:lnTo>
                  <a:pt x="3605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2101984" y="-1697784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3" y="0"/>
                </a:lnTo>
                <a:lnTo>
                  <a:pt x="3605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063184" y="1549653"/>
            <a:ext cx="14108532" cy="10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2"/>
              </a:lnSpc>
              <a:spcBef>
                <a:spcPct val="0"/>
              </a:spcBef>
            </a:pPr>
            <a:r>
              <a:rPr lang="en-US" b="true" sz="558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 – Assignments &amp; Summaries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063184" y="4822522"/>
            <a:ext cx="5906256" cy="2716012"/>
            <a:chOff x="0" y="0"/>
            <a:chExt cx="7875008" cy="3621350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-66675"/>
              <a:ext cx="7875008" cy="76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7"/>
                </a:lnSpc>
                <a:spcBef>
                  <a:spcPct val="0"/>
                </a:spcBef>
              </a:pPr>
              <a:r>
                <a:rPr lang="en-US" b="true" sz="3448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📝 Assignments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3702" y="973907"/>
              <a:ext cx="7851307" cy="2647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Create ideas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Create outlines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Explain topics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Improve grammar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265460" y="4822522"/>
            <a:ext cx="5906256" cy="2716012"/>
            <a:chOff x="0" y="0"/>
            <a:chExt cx="7875008" cy="3621350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-66675"/>
              <a:ext cx="7875008" cy="76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7"/>
                </a:lnSpc>
                <a:spcBef>
                  <a:spcPct val="0"/>
                </a:spcBef>
              </a:pPr>
              <a:r>
                <a:rPr lang="en-US" b="true" sz="3448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📄 Summaries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3702" y="973907"/>
              <a:ext cx="7851307" cy="2647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Shorten long text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Find important points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Create bullet points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Make easy notes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81100" y="1450964"/>
            <a:ext cx="16230600" cy="7689872"/>
            <a:chOff x="0" y="0"/>
            <a:chExt cx="4274726" cy="202531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74726" cy="2025316"/>
            </a:xfrm>
            <a:custGeom>
              <a:avLst/>
              <a:gdLst/>
              <a:ahLst/>
              <a:cxnLst/>
              <a:rect r="r" b="b" t="t" l="l"/>
              <a:pathLst>
                <a:path h="2025316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025316"/>
                  </a:lnTo>
                  <a:lnTo>
                    <a:pt x="0" y="2025316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4274726" cy="2063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14075928" y="-1710081"/>
            <a:ext cx="444592" cy="6226953"/>
            <a:chOff x="0" y="0"/>
            <a:chExt cx="117094" cy="164002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7094" cy="1640021"/>
            </a:xfrm>
            <a:custGeom>
              <a:avLst/>
              <a:gdLst/>
              <a:ahLst/>
              <a:cxnLst/>
              <a:rect r="r" b="b" t="t" l="l"/>
              <a:pathLst>
                <a:path h="1640021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640021"/>
                  </a:lnTo>
                  <a:lnTo>
                    <a:pt x="0" y="1640021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17094" cy="1678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-5400000">
            <a:off x="10597930" y="3107708"/>
            <a:ext cx="1272959" cy="1633100"/>
            <a:chOff x="0" y="0"/>
            <a:chExt cx="335265" cy="4301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5265" cy="430117"/>
            </a:xfrm>
            <a:custGeom>
              <a:avLst/>
              <a:gdLst/>
              <a:ahLst/>
              <a:cxnLst/>
              <a:rect r="r" b="b" t="t" l="l"/>
              <a:pathLst>
                <a:path h="430117" w="335265">
                  <a:moveTo>
                    <a:pt x="0" y="0"/>
                  </a:moveTo>
                  <a:lnTo>
                    <a:pt x="335265" y="0"/>
                  </a:lnTo>
                  <a:lnTo>
                    <a:pt x="335265" y="430117"/>
                  </a:lnTo>
                  <a:lnTo>
                    <a:pt x="0" y="43011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35265" cy="46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-5400000">
            <a:off x="2395655" y="3107708"/>
            <a:ext cx="1272959" cy="1633100"/>
            <a:chOff x="0" y="0"/>
            <a:chExt cx="335265" cy="43011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35265" cy="430117"/>
            </a:xfrm>
            <a:custGeom>
              <a:avLst/>
              <a:gdLst/>
              <a:ahLst/>
              <a:cxnLst/>
              <a:rect r="r" b="b" t="t" l="l"/>
              <a:pathLst>
                <a:path h="430117" w="335265">
                  <a:moveTo>
                    <a:pt x="0" y="0"/>
                  </a:moveTo>
                  <a:lnTo>
                    <a:pt x="335265" y="0"/>
                  </a:lnTo>
                  <a:lnTo>
                    <a:pt x="335265" y="430117"/>
                  </a:lnTo>
                  <a:lnTo>
                    <a:pt x="0" y="430117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335265" cy="4682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0507479" y="3039663"/>
            <a:ext cx="1472383" cy="1418025"/>
          </a:xfrm>
          <a:custGeom>
            <a:avLst/>
            <a:gdLst/>
            <a:ahLst/>
            <a:cxnLst/>
            <a:rect r="r" b="b" t="t" l="l"/>
            <a:pathLst>
              <a:path h="1418025" w="1472383">
                <a:moveTo>
                  <a:pt x="0" y="0"/>
                </a:moveTo>
                <a:lnTo>
                  <a:pt x="1472383" y="0"/>
                </a:lnTo>
                <a:lnTo>
                  <a:pt x="1472383" y="1418025"/>
                </a:lnTo>
                <a:lnTo>
                  <a:pt x="0" y="1418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2397402" y="2889668"/>
            <a:ext cx="1682854" cy="1802152"/>
          </a:xfrm>
          <a:custGeom>
            <a:avLst/>
            <a:gdLst/>
            <a:ahLst/>
            <a:cxnLst/>
            <a:rect r="r" b="b" t="t" l="l"/>
            <a:pathLst>
              <a:path h="1802152" w="1682854">
                <a:moveTo>
                  <a:pt x="0" y="0"/>
                </a:moveTo>
                <a:lnTo>
                  <a:pt x="1682854" y="0"/>
                </a:lnTo>
                <a:lnTo>
                  <a:pt x="1682854" y="1802152"/>
                </a:lnTo>
                <a:lnTo>
                  <a:pt x="0" y="18021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7064275" y="6928981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3" y="0"/>
                </a:lnTo>
                <a:lnTo>
                  <a:pt x="3605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-1949584" y="-1545384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3" y="0"/>
                </a:lnTo>
                <a:lnTo>
                  <a:pt x="360559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2215584" y="1702053"/>
            <a:ext cx="14108532" cy="1010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2"/>
              </a:lnSpc>
              <a:spcBef>
                <a:spcPct val="0"/>
              </a:spcBef>
            </a:pPr>
            <a:r>
              <a:rPr lang="en-US" b="true" sz="5587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 Case – Assignments &amp; Summaries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2215584" y="4974922"/>
            <a:ext cx="5906256" cy="2716012"/>
            <a:chOff x="0" y="0"/>
            <a:chExt cx="7875008" cy="3621350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0" y="-66675"/>
              <a:ext cx="7875008" cy="76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7"/>
                </a:lnSpc>
                <a:spcBef>
                  <a:spcPct val="0"/>
                </a:spcBef>
              </a:pPr>
              <a:r>
                <a:rPr lang="en-US" b="true" sz="3448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📝 Assignments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23702" y="973907"/>
              <a:ext cx="7851307" cy="2647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Create ideas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Create outlines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Explain topics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Improve grammar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417860" y="4974922"/>
            <a:ext cx="5906256" cy="2716012"/>
            <a:chOff x="0" y="0"/>
            <a:chExt cx="7875008" cy="3621350"/>
          </a:xfrm>
        </p:grpSpPr>
        <p:sp>
          <p:nvSpPr>
            <p:cNvPr name="TextBox 46" id="46"/>
            <p:cNvSpPr txBox="true"/>
            <p:nvPr/>
          </p:nvSpPr>
          <p:spPr>
            <a:xfrm rot="0">
              <a:off x="0" y="-66675"/>
              <a:ext cx="7875008" cy="7627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27"/>
                </a:lnSpc>
                <a:spcBef>
                  <a:spcPct val="0"/>
                </a:spcBef>
              </a:pPr>
              <a:r>
                <a:rPr lang="en-US" b="true" sz="3448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📄 Summaries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23702" y="973907"/>
              <a:ext cx="7851307" cy="26474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Shorten long text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Find important points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Create bullet points</a:t>
              </a:r>
            </a:p>
            <a:p>
              <a:pPr algn="just" marL="0" indent="0" lvl="0">
                <a:lnSpc>
                  <a:spcPts val="4025"/>
                </a:lnSpc>
                <a:spcBef>
                  <a:spcPct val="0"/>
                </a:spcBef>
              </a:pPr>
              <a:r>
                <a:rPr lang="en-US" sz="2875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✅ Make easy notes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481983" y="0"/>
            <a:ext cx="4129926" cy="3737583"/>
          </a:xfrm>
          <a:custGeom>
            <a:avLst/>
            <a:gdLst/>
            <a:ahLst/>
            <a:cxnLst/>
            <a:rect r="r" b="b" t="t" l="l"/>
            <a:pathLst>
              <a:path h="3737583" w="4129926">
                <a:moveTo>
                  <a:pt x="4129926" y="0"/>
                </a:moveTo>
                <a:lnTo>
                  <a:pt x="0" y="0"/>
                </a:lnTo>
                <a:lnTo>
                  <a:pt x="0" y="3737583"/>
                </a:lnTo>
                <a:lnTo>
                  <a:pt x="4129926" y="3737583"/>
                </a:lnTo>
                <a:lnTo>
                  <a:pt x="41299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8446818"/>
            <a:ext cx="18288000" cy="1840182"/>
            <a:chOff x="0" y="0"/>
            <a:chExt cx="4816593" cy="4846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484657"/>
            </a:xfrm>
            <a:custGeom>
              <a:avLst/>
              <a:gdLst/>
              <a:ahLst/>
              <a:cxnLst/>
              <a:rect r="r" b="b" t="t" l="l"/>
              <a:pathLst>
                <a:path h="48465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84657"/>
                  </a:lnTo>
                  <a:lnTo>
                    <a:pt x="0" y="484657"/>
                  </a:lnTo>
                  <a:close/>
                </a:path>
              </a:pathLst>
            </a:custGeom>
            <a:solidFill>
              <a:srgbClr val="1E40A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522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571015" y="5143500"/>
            <a:ext cx="4544154" cy="4114800"/>
            <a:chOff x="0" y="0"/>
            <a:chExt cx="1334148" cy="12080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34148" cy="1208091"/>
            </a:xfrm>
            <a:custGeom>
              <a:avLst/>
              <a:gdLst/>
              <a:ahLst/>
              <a:cxnLst/>
              <a:rect r="r" b="b" t="t" l="l"/>
              <a:pathLst>
                <a:path h="1208091" w="1334148">
                  <a:moveTo>
                    <a:pt x="0" y="0"/>
                  </a:moveTo>
                  <a:lnTo>
                    <a:pt x="1334148" y="0"/>
                  </a:lnTo>
                  <a:lnTo>
                    <a:pt x="1334148" y="1208091"/>
                  </a:lnTo>
                  <a:lnTo>
                    <a:pt x="0" y="1208091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334148" cy="1246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58094" y="1028700"/>
            <a:ext cx="4601206" cy="4114800"/>
            <a:chOff x="0" y="0"/>
            <a:chExt cx="1350899" cy="12080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50899" cy="1208091"/>
            </a:xfrm>
            <a:custGeom>
              <a:avLst/>
              <a:gdLst/>
              <a:ahLst/>
              <a:cxnLst/>
              <a:rect r="r" b="b" t="t" l="l"/>
              <a:pathLst>
                <a:path h="1208091" w="1350899">
                  <a:moveTo>
                    <a:pt x="0" y="0"/>
                  </a:moveTo>
                  <a:lnTo>
                    <a:pt x="1350899" y="0"/>
                  </a:lnTo>
                  <a:lnTo>
                    <a:pt x="1350899" y="1208091"/>
                  </a:lnTo>
                  <a:lnTo>
                    <a:pt x="0" y="1208091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50899" cy="1246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71015" y="1028700"/>
            <a:ext cx="4544154" cy="3850785"/>
            <a:chOff x="0" y="0"/>
            <a:chExt cx="840450" cy="7122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40450" cy="712210"/>
            </a:xfrm>
            <a:custGeom>
              <a:avLst/>
              <a:gdLst/>
              <a:ahLst/>
              <a:cxnLst/>
              <a:rect r="r" b="b" t="t" l="l"/>
              <a:pathLst>
                <a:path h="712210" w="840450">
                  <a:moveTo>
                    <a:pt x="0" y="0"/>
                  </a:moveTo>
                  <a:lnTo>
                    <a:pt x="840450" y="0"/>
                  </a:lnTo>
                  <a:lnTo>
                    <a:pt x="840450" y="712210"/>
                  </a:lnTo>
                  <a:lnTo>
                    <a:pt x="0" y="71221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-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658094" y="5567068"/>
            <a:ext cx="4601206" cy="3691232"/>
            <a:chOff x="0" y="0"/>
            <a:chExt cx="851002" cy="6827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1002" cy="682700"/>
            </a:xfrm>
            <a:custGeom>
              <a:avLst/>
              <a:gdLst/>
              <a:ahLst/>
              <a:cxnLst/>
              <a:rect r="r" b="b" t="t" l="l"/>
              <a:pathLst>
                <a:path h="682700" w="851002">
                  <a:moveTo>
                    <a:pt x="0" y="0"/>
                  </a:moveTo>
                  <a:lnTo>
                    <a:pt x="851002" y="0"/>
                  </a:lnTo>
                  <a:lnTo>
                    <a:pt x="851002" y="682700"/>
                  </a:lnTo>
                  <a:lnTo>
                    <a:pt x="0" y="682700"/>
                  </a:lnTo>
                  <a:close/>
                </a:path>
              </a:pathLst>
            </a:custGeom>
            <a:blipFill>
              <a:blip r:embed="rId5"/>
              <a:stretch>
                <a:fillRect l="0" t="-16" r="0" b="-1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28700" y="857250"/>
            <a:ext cx="5999619" cy="2133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Practice Activity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942344" y="5461603"/>
            <a:ext cx="3801725" cy="3408913"/>
            <a:chOff x="0" y="0"/>
            <a:chExt cx="5068966" cy="454521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47625"/>
              <a:ext cx="4637550" cy="514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1"/>
                </a:lnSpc>
                <a:spcBef>
                  <a:spcPct val="0"/>
                </a:spcBef>
              </a:pPr>
              <a:r>
                <a:rPr lang="en-US" b="true" sz="2343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Build Your Prompt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837451"/>
              <a:ext cx="5068966" cy="37077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775"/>
                </a:lnSpc>
                <a:spcBef>
                  <a:spcPct val="0"/>
                </a:spcBef>
              </a:pPr>
              <a:r>
                <a:rPr lang="en-US" sz="198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Use the RTF Framework:</a:t>
              </a:r>
            </a:p>
            <a:p>
              <a:pPr algn="just" marL="0" indent="0" lvl="0">
                <a:lnSpc>
                  <a:spcPts val="2775"/>
                </a:lnSpc>
                <a:spcBef>
                  <a:spcPct val="0"/>
                </a:spcBef>
              </a:pPr>
              <a:r>
                <a:rPr lang="en-US" sz="198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Role → Act as a teacher</a:t>
              </a:r>
            </a:p>
            <a:p>
              <a:pPr algn="just" marL="0" indent="0" lvl="0">
                <a:lnSpc>
                  <a:spcPts val="2775"/>
                </a:lnSpc>
                <a:spcBef>
                  <a:spcPct val="0"/>
                </a:spcBef>
              </a:pPr>
              <a:r>
                <a:rPr lang="en-US" sz="198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Task → Explain Machine Learning</a:t>
              </a:r>
            </a:p>
            <a:p>
              <a:pPr algn="just" marL="0" indent="0" lvl="0">
                <a:lnSpc>
                  <a:spcPts val="2775"/>
                </a:lnSpc>
                <a:spcBef>
                  <a:spcPct val="0"/>
                </a:spcBef>
              </a:pPr>
              <a:r>
                <a:rPr lang="en-US" sz="198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Format → Bullet points with examples</a:t>
              </a:r>
            </a:p>
            <a:p>
              <a:pPr algn="just" marL="0" indent="0" lvl="0">
                <a:lnSpc>
                  <a:spcPts val="2775"/>
                </a:lnSpc>
                <a:spcBef>
                  <a:spcPct val="0"/>
                </a:spcBef>
              </a:pPr>
              <a:r>
                <a:rPr lang="en-US" sz="198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Combine all parts into one clear prompt!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28700" y="4005182"/>
            <a:ext cx="5999619" cy="3777610"/>
            <a:chOff x="0" y="0"/>
            <a:chExt cx="7999492" cy="5036813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7999492" cy="6243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84"/>
                </a:lnSpc>
                <a:spcBef>
                  <a:spcPct val="0"/>
                </a:spcBef>
              </a:pPr>
              <a:r>
                <a:rPr lang="en-US" b="true" sz="2845">
                  <a:solidFill>
                    <a:srgbClr val="1E40AF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Your Task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975305"/>
              <a:ext cx="7999492" cy="4061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3515"/>
                </a:lnSpc>
                <a:spcBef>
                  <a:spcPct val="0"/>
                </a:spcBef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Create a prompt for: "Explain Machine Learning."</a:t>
              </a:r>
            </a:p>
            <a:p>
              <a:pPr algn="just" marL="0" indent="0" lvl="0">
                <a:lnSpc>
                  <a:spcPts val="3515"/>
                </a:lnSpc>
                <a:spcBef>
                  <a:spcPct val="0"/>
                </a:spcBef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Who? → Teacher</a:t>
              </a:r>
            </a:p>
            <a:p>
              <a:pPr algn="just" marL="0" indent="0" lvl="0">
                <a:lnSpc>
                  <a:spcPts val="3515"/>
                </a:lnSpc>
                <a:spcBef>
                  <a:spcPct val="0"/>
                </a:spcBef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What? → Explain Machine Learning</a:t>
              </a:r>
            </a:p>
            <a:p>
              <a:pPr algn="just" marL="0" indent="0" lvl="0">
                <a:lnSpc>
                  <a:spcPts val="3515"/>
                </a:lnSpc>
                <a:spcBef>
                  <a:spcPct val="0"/>
                </a:spcBef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For whom? → Beginners</a:t>
              </a:r>
            </a:p>
            <a:p>
              <a:pPr algn="just" marL="0" indent="0" lvl="0">
                <a:lnSpc>
                  <a:spcPts val="3515"/>
                </a:lnSpc>
                <a:spcBef>
                  <a:spcPct val="0"/>
                </a:spcBef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How? → Simple words</a:t>
              </a:r>
            </a:p>
            <a:p>
              <a:pPr algn="just" marL="0" indent="0" lvl="0">
                <a:lnSpc>
                  <a:spcPts val="3515"/>
                </a:lnSpc>
                <a:spcBef>
                  <a:spcPct val="0"/>
                </a:spcBef>
              </a:pPr>
              <a:r>
                <a:rPr lang="en-US" sz="251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Format? → Bullet points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033969" y="1372491"/>
            <a:ext cx="3849456" cy="2708262"/>
            <a:chOff x="0" y="0"/>
            <a:chExt cx="5132608" cy="3611016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47625"/>
              <a:ext cx="4695775" cy="5143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281"/>
                </a:lnSpc>
                <a:spcBef>
                  <a:spcPct val="0"/>
                </a:spcBef>
              </a:pPr>
              <a:r>
                <a:rPr lang="en-US" b="true" sz="2343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Example Prompt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837451"/>
              <a:ext cx="5132608" cy="2773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2775"/>
                </a:lnSpc>
                <a:spcBef>
                  <a:spcPct val="0"/>
                </a:spcBef>
              </a:pPr>
              <a:r>
                <a:rPr lang="en-US" sz="198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"Act as a teacher. Explain Machine Learning to beginners using simple words and 3 real-life examples in bullet points."</a:t>
              </a:r>
            </a:p>
            <a:p>
              <a:pPr algn="just" marL="0" indent="0" lvl="0">
                <a:lnSpc>
                  <a:spcPts val="2775"/>
                </a:lnSpc>
                <a:spcBef>
                  <a:spcPct val="0"/>
                </a:spcBef>
              </a:pPr>
              <a:r>
                <a:rPr lang="en-US" sz="1982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Try writing your own version now!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40A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56503" y="-2341851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0" y="0"/>
                </a:moveTo>
                <a:lnTo>
                  <a:pt x="3605594" y="0"/>
                </a:lnTo>
                <a:lnTo>
                  <a:pt x="360559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-5400000">
            <a:off x="18249" y="7200900"/>
            <a:ext cx="3605593" cy="4114800"/>
          </a:xfrm>
          <a:custGeom>
            <a:avLst/>
            <a:gdLst/>
            <a:ahLst/>
            <a:cxnLst/>
            <a:rect r="r" b="b" t="t" l="l"/>
            <a:pathLst>
              <a:path h="4114800" w="3605593">
                <a:moveTo>
                  <a:pt x="360559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605594" y="0"/>
                </a:lnTo>
                <a:lnTo>
                  <a:pt x="3605594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325399"/>
            <a:ext cx="16230600" cy="2818101"/>
            <a:chOff x="0" y="0"/>
            <a:chExt cx="1902282" cy="3302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2282" cy="330291"/>
            </a:xfrm>
            <a:custGeom>
              <a:avLst/>
              <a:gdLst/>
              <a:ahLst/>
              <a:cxnLst/>
              <a:rect r="r" b="b" t="t" l="l"/>
              <a:pathLst>
                <a:path h="330291" w="1902282">
                  <a:moveTo>
                    <a:pt x="0" y="0"/>
                  </a:moveTo>
                  <a:lnTo>
                    <a:pt x="1902282" y="0"/>
                  </a:lnTo>
                  <a:lnTo>
                    <a:pt x="1902282" y="330291"/>
                  </a:lnTo>
                  <a:lnTo>
                    <a:pt x="0" y="330291"/>
                  </a:lnTo>
                  <a:close/>
                </a:path>
              </a:pathLst>
            </a:custGeom>
            <a:blipFill>
              <a:blip r:embed="rId4"/>
              <a:stretch>
                <a:fillRect l="0" t="-1114" r="0" b="-111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5143500"/>
            <a:ext cx="16230600" cy="4114800"/>
            <a:chOff x="0" y="0"/>
            <a:chExt cx="4274726" cy="10837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74726" cy="1083733"/>
            </a:xfrm>
            <a:custGeom>
              <a:avLst/>
              <a:gdLst/>
              <a:ahLst/>
              <a:cxnLst/>
              <a:rect r="r" b="b" t="t" l="l"/>
              <a:pathLst>
                <a:path h="1083733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1083733"/>
                  </a:lnTo>
                  <a:lnTo>
                    <a:pt x="0" y="1083733"/>
                  </a:lnTo>
                  <a:close/>
                </a:path>
              </a:pathLst>
            </a:custGeom>
            <a:solidFill>
              <a:srgbClr val="F1F8E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274726" cy="11218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3919881" y="2030023"/>
            <a:ext cx="444592" cy="6226953"/>
            <a:chOff x="0" y="0"/>
            <a:chExt cx="117094" cy="16400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7094" cy="1640021"/>
            </a:xfrm>
            <a:custGeom>
              <a:avLst/>
              <a:gdLst/>
              <a:ahLst/>
              <a:cxnLst/>
              <a:rect r="r" b="b" t="t" l="l"/>
              <a:pathLst>
                <a:path h="1640021" w="117094">
                  <a:moveTo>
                    <a:pt x="0" y="0"/>
                  </a:moveTo>
                  <a:lnTo>
                    <a:pt x="117094" y="0"/>
                  </a:lnTo>
                  <a:lnTo>
                    <a:pt x="117094" y="1640021"/>
                  </a:lnTo>
                  <a:lnTo>
                    <a:pt x="0" y="1640021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17094" cy="16781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857250"/>
            <a:ext cx="16230600" cy="1076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94"/>
              </a:lnSpc>
              <a:spcBef>
                <a:spcPct val="0"/>
              </a:spcBef>
            </a:pPr>
            <a:r>
              <a:rPr lang="en-US" b="true" sz="5995">
                <a:solidFill>
                  <a:srgbClr val="F4FFFC"/>
                </a:solidFill>
                <a:latin typeface="Poppins Bold"/>
                <a:ea typeface="Poppins Bold"/>
                <a:cs typeface="Poppins Bold"/>
                <a:sym typeface="Poppins Bold"/>
              </a:rPr>
              <a:t>Learning Outcome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21046" y="5792326"/>
            <a:ext cx="14645908" cy="580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6"/>
              </a:lnSpc>
              <a:spcBef>
                <a:spcPct val="0"/>
              </a:spcBef>
            </a:pPr>
            <a:r>
              <a:rPr lang="en-US" b="true" sz="3397">
                <a:solidFill>
                  <a:srgbClr val="00000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After This Lesson, You Can: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21046" y="6907359"/>
            <a:ext cx="14645908" cy="1521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732"/>
              </a:lnSpc>
              <a:spcBef>
                <a:spcPct val="0"/>
              </a:spcBef>
            </a:pPr>
            <a:r>
              <a:rPr lang="en-US" sz="12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 Understand what a prompt is</a:t>
            </a:r>
          </a:p>
          <a:p>
            <a:pPr algn="just" marL="0" indent="0" lvl="0">
              <a:lnSpc>
                <a:spcPts val="1732"/>
              </a:lnSpc>
              <a:spcBef>
                <a:spcPct val="0"/>
              </a:spcBef>
            </a:pPr>
            <a:r>
              <a:rPr lang="en-US" sz="12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 Write good prompts</a:t>
            </a:r>
          </a:p>
          <a:p>
            <a:pPr algn="just" marL="0" indent="0" lvl="0">
              <a:lnSpc>
                <a:spcPts val="1732"/>
              </a:lnSpc>
              <a:spcBef>
                <a:spcPct val="0"/>
              </a:spcBef>
            </a:pPr>
            <a:r>
              <a:rPr lang="en-US" sz="12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 Identify good and bad prompts</a:t>
            </a:r>
          </a:p>
          <a:p>
            <a:pPr algn="just" marL="0" indent="0" lvl="0">
              <a:lnSpc>
                <a:spcPts val="1732"/>
              </a:lnSpc>
              <a:spcBef>
                <a:spcPct val="0"/>
              </a:spcBef>
            </a:pPr>
            <a:r>
              <a:rPr lang="en-US" sz="12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 Use simple prompt frameworks</a:t>
            </a:r>
          </a:p>
          <a:p>
            <a:pPr algn="just" marL="0" indent="0" lvl="0">
              <a:lnSpc>
                <a:spcPts val="1732"/>
              </a:lnSpc>
              <a:spcBef>
                <a:spcPct val="0"/>
              </a:spcBef>
            </a:pPr>
            <a:r>
              <a:rPr lang="en-US" sz="12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 Create assignments and summaries using AI</a:t>
            </a:r>
          </a:p>
          <a:p>
            <a:pPr algn="just" marL="0" indent="0" lvl="0">
              <a:lnSpc>
                <a:spcPts val="1732"/>
              </a:lnSpc>
              <a:spcBef>
                <a:spcPct val="0"/>
              </a:spcBef>
            </a:pPr>
            <a:r>
              <a:rPr lang="en-US" sz="12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✅ Get better answers from AI</a:t>
            </a:r>
          </a:p>
          <a:p>
            <a:pPr algn="just" marL="0" indent="0" lvl="0">
              <a:lnSpc>
                <a:spcPts val="1732"/>
              </a:lnSpc>
              <a:spcBef>
                <a:spcPct val="0"/>
              </a:spcBef>
            </a:pPr>
            <a:r>
              <a:rPr lang="en-US" sz="123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Keep practicing and explore prompt engineering further!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DAHRBmhRoX4</dc:identifier>
  <dcterms:modified xsi:type="dcterms:W3CDTF">2011-08-01T06:04:30Z</dcterms:modified>
  <cp:revision>1</cp:revision>
  <dc:title>Prompt Engineering Basics PPT</dc:title>
</cp:coreProperties>
</file>
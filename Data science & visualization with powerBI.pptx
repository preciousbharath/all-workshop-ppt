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Helvetica Now Bold" charset="1" panose="020B0804030202020204"/>
      <p:regular r:id="rId27"/>
    </p:embeddedFont>
    <p:embeddedFont>
      <p:font typeface="Montserrat Bold" charset="1" panose="00000800000000000000"/>
      <p:regular r:id="rId28"/>
    </p:embeddedFont>
    <p:embeddedFont>
      <p:font typeface="League Spartan" charset="1" panose="00000800000000000000"/>
      <p:regular r:id="rId29"/>
    </p:embeddedFont>
    <p:embeddedFont>
      <p:font typeface="Helvetica Now" charset="1" panose="020B0504030202020204"/>
      <p:regular r:id="rId30"/>
    </p:embeddedFont>
    <p:embeddedFont>
      <p:font typeface="Nunito Bold" charset="1" panose="00000800000000000000"/>
      <p:regular r:id="rId31"/>
    </p:embeddedFont>
    <p:embeddedFont>
      <p:font typeface="Nunito" charset="1" panose="00000500000000000000"/>
      <p:regular r:id="rId32"/>
    </p:embeddedFont>
    <p:embeddedFont>
      <p:font typeface="Poppins Bold" charset="1" panose="00000800000000000000"/>
      <p:regular r:id="rId33"/>
    </p:embeddedFont>
    <p:embeddedFont>
      <p:font typeface="Montserrat" charset="1" panose="00000500000000000000"/>
      <p:regular r:id="rId34"/>
    </p:embeddedFont>
    <p:embeddedFont>
      <p:font typeface="Montserrat Classic Bold" charset="1" panose="00000800000000000000"/>
      <p:regular r:id="rId35"/>
    </p:embeddedFont>
    <p:embeddedFont>
      <p:font typeface="Montserrat Classic" charset="1" panose="000005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https://www.simplilearn.com/data-analysis-methods-process-types-article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https://www.simplilearn.com/tutorials/python-tutorial/matplotlib" TargetMode="External" Type="http://schemas.openxmlformats.org/officeDocument/2006/relationships/hyperlink"/><Relationship Id="rId7" Target="https://www.simplilearn.com/tutorials/python-tutorial/python-seaborn" TargetMode="External" Type="http://schemas.openxmlformats.org/officeDocument/2006/relationships/hyperlink"/><Relationship Id="rId8" Target="../media/image1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4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4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4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media/image53.pn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svg" Type="http://schemas.openxmlformats.org/officeDocument/2006/relationships/image"/><Relationship Id="rId12" Target="../media/image60.png" Type="http://schemas.openxmlformats.org/officeDocument/2006/relationships/image"/><Relationship Id="rId13" Target="../media/image61.svg" Type="http://schemas.openxmlformats.org/officeDocument/2006/relationships/image"/><Relationship Id="rId14" Target="../media/image62.png" Type="http://schemas.openxmlformats.org/officeDocument/2006/relationships/image"/><Relationship Id="rId15" Target="../media/image63.svg" Type="http://schemas.openxmlformats.org/officeDocument/2006/relationships/image"/><Relationship Id="rId16" Target="../media/image64.png" Type="http://schemas.openxmlformats.org/officeDocument/2006/relationships/image"/><Relationship Id="rId17" Target="../media/image65.gif" Type="http://schemas.openxmlformats.org/officeDocument/2006/relationships/image"/><Relationship Id="rId18" Target="../media/image66.png" Type="http://schemas.openxmlformats.org/officeDocument/2006/relationships/image"/><Relationship Id="rId19" Target="../media/image67.svg" Type="http://schemas.openxmlformats.org/officeDocument/2006/relationships/image"/><Relationship Id="rId2" Target="../media/image31.png" Type="http://schemas.openxmlformats.org/officeDocument/2006/relationships/image"/><Relationship Id="rId20" Target="../media/image68.png" Type="http://schemas.openxmlformats.org/officeDocument/2006/relationships/image"/><Relationship Id="rId21" Target="../media/image69.sv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7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6130" y="9326155"/>
            <a:ext cx="1331180" cy="1264621"/>
          </a:xfrm>
          <a:custGeom>
            <a:avLst/>
            <a:gdLst/>
            <a:ahLst/>
            <a:cxnLst/>
            <a:rect r="r" b="b" t="t" l="l"/>
            <a:pathLst>
              <a:path h="1264621" w="1331180">
                <a:moveTo>
                  <a:pt x="0" y="0"/>
                </a:moveTo>
                <a:lnTo>
                  <a:pt x="1331180" y="0"/>
                </a:lnTo>
                <a:lnTo>
                  <a:pt x="1331180" y="1264621"/>
                </a:lnTo>
                <a:lnTo>
                  <a:pt x="0" y="12646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7010651"/>
            <a:ext cx="1574018" cy="1597988"/>
          </a:xfrm>
          <a:custGeom>
            <a:avLst/>
            <a:gdLst/>
            <a:ahLst/>
            <a:cxnLst/>
            <a:rect r="r" b="b" t="t" l="l"/>
            <a:pathLst>
              <a:path h="1597988" w="1574018">
                <a:moveTo>
                  <a:pt x="0" y="0"/>
                </a:moveTo>
                <a:lnTo>
                  <a:pt x="1574018" y="0"/>
                </a:lnTo>
                <a:lnTo>
                  <a:pt x="1574018" y="1597988"/>
                </a:lnTo>
                <a:lnTo>
                  <a:pt x="0" y="1597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0967352" y="2049421"/>
            <a:ext cx="6464839" cy="576022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86130" y="3033013"/>
            <a:ext cx="10103620" cy="397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81"/>
              </a:lnSpc>
            </a:pPr>
            <a:r>
              <a:rPr lang="en-US" sz="9437" b="true">
                <a:solidFill>
                  <a:srgbClr val="5271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Data science &amp; Visualization with PowerBI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4804" y="3680451"/>
            <a:ext cx="2091385" cy="2057400"/>
          </a:xfrm>
          <a:custGeom>
            <a:avLst/>
            <a:gdLst/>
            <a:ahLst/>
            <a:cxnLst/>
            <a:rect r="r" b="b" t="t" l="l"/>
            <a:pathLst>
              <a:path h="2057400" w="2091385">
                <a:moveTo>
                  <a:pt x="0" y="0"/>
                </a:moveTo>
                <a:lnTo>
                  <a:pt x="2091385" y="0"/>
                </a:lnTo>
                <a:lnTo>
                  <a:pt x="2091385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98307" y="9258300"/>
            <a:ext cx="2091385" cy="2057400"/>
          </a:xfrm>
          <a:custGeom>
            <a:avLst/>
            <a:gdLst/>
            <a:ahLst/>
            <a:cxnLst/>
            <a:rect r="r" b="b" t="t" l="l"/>
            <a:pathLst>
              <a:path h="2057400" w="2091385">
                <a:moveTo>
                  <a:pt x="0" y="0"/>
                </a:moveTo>
                <a:lnTo>
                  <a:pt x="2091386" y="0"/>
                </a:lnTo>
                <a:lnTo>
                  <a:pt x="209138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26581" y="1114425"/>
            <a:ext cx="14292667" cy="128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1"/>
              </a:lnSpc>
            </a:pPr>
            <a:r>
              <a:rPr lang="en-US" sz="9037" b="true">
                <a:solidFill>
                  <a:srgbClr val="5271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What is Visualization?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6581" y="3180703"/>
            <a:ext cx="13947529" cy="559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7554" indent="-373777" lvl="1">
              <a:lnSpc>
                <a:spcPts val="5609"/>
              </a:lnSpc>
              <a:buFont typeface="Arial"/>
              <a:buChar char="•"/>
            </a:pPr>
            <a:r>
              <a:rPr lang="en-US" b="true" sz="34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visualization is a fi</a:t>
            </a:r>
            <a:r>
              <a:rPr lang="en-US" b="true" sz="34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eld in </a:t>
            </a:r>
            <a:r>
              <a:rPr lang="en-US" b="true" sz="3462" u="sng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4" tooltip="https://www.simplilearn.com/data-analysis-methods-process-types-article"/>
              </a:rPr>
              <a:t>data analysis</a:t>
            </a:r>
            <a:r>
              <a:rPr lang="en-US" b="true" sz="34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that deals with visual representation of data.</a:t>
            </a:r>
          </a:p>
          <a:p>
            <a:pPr algn="just" marL="747554" indent="-373777" lvl="1">
              <a:lnSpc>
                <a:spcPts val="5609"/>
              </a:lnSpc>
              <a:buFont typeface="Arial"/>
              <a:buChar char="•"/>
            </a:pPr>
            <a:r>
              <a:rPr lang="en-US" b="true" sz="34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It graphically plots data and is an effective way to communicate inferences from data.</a:t>
            </a:r>
          </a:p>
          <a:p>
            <a:pPr algn="just" marL="747554" indent="-373777" lvl="1">
              <a:lnSpc>
                <a:spcPts val="5609"/>
              </a:lnSpc>
              <a:buFont typeface="Arial"/>
              <a:buChar char="•"/>
            </a:pPr>
            <a:r>
              <a:rPr lang="en-US" b="true" sz="34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 can get a visual summary of our data. With pictures, maps and graphs, the human mind has an easier time processing and understanding any given data</a:t>
            </a:r>
          </a:p>
          <a:p>
            <a:pPr algn="just">
              <a:lnSpc>
                <a:spcPts val="560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4270077" y="0"/>
            <a:ext cx="4017923" cy="4017923"/>
          </a:xfrm>
          <a:custGeom>
            <a:avLst/>
            <a:gdLst/>
            <a:ahLst/>
            <a:cxnLst/>
            <a:rect r="r" b="b" t="t" l="l"/>
            <a:pathLst>
              <a:path h="4017923" w="4017923">
                <a:moveTo>
                  <a:pt x="0" y="4017923"/>
                </a:moveTo>
                <a:lnTo>
                  <a:pt x="4017923" y="4017923"/>
                </a:lnTo>
                <a:lnTo>
                  <a:pt x="4017923" y="0"/>
                </a:lnTo>
                <a:lnTo>
                  <a:pt x="0" y="0"/>
                </a:lnTo>
                <a:lnTo>
                  <a:pt x="0" y="40179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04313" b="-104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24895" y="793239"/>
            <a:ext cx="1743955" cy="1571739"/>
          </a:xfrm>
          <a:custGeom>
            <a:avLst/>
            <a:gdLst/>
            <a:ahLst/>
            <a:cxnLst/>
            <a:rect r="r" b="b" t="t" l="l"/>
            <a:pathLst>
              <a:path h="1571739" w="1743955">
                <a:moveTo>
                  <a:pt x="0" y="0"/>
                </a:moveTo>
                <a:lnTo>
                  <a:pt x="1743955" y="0"/>
                </a:lnTo>
                <a:lnTo>
                  <a:pt x="1743955" y="1571739"/>
                </a:lnTo>
                <a:lnTo>
                  <a:pt x="0" y="15717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71524" y="1476891"/>
            <a:ext cx="12525661" cy="114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1"/>
              </a:lnSpc>
            </a:pPr>
            <a:r>
              <a:rPr lang="en-US" sz="8037" b="true">
                <a:solidFill>
                  <a:srgbClr val="5271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Benefits of Visualization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0669" y="3317555"/>
            <a:ext cx="13327705" cy="536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991" indent="-457496" lvl="1">
              <a:lnSpc>
                <a:spcPts val="6102"/>
              </a:lnSpc>
              <a:buFont typeface="Arial"/>
              <a:buChar char="•"/>
            </a:pPr>
            <a:r>
              <a:rPr lang="en-US" b="true" sz="4238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Simplifies complex data</a:t>
            </a:r>
          </a:p>
          <a:p>
            <a:pPr algn="l" marL="914991" indent="-457496" lvl="1">
              <a:lnSpc>
                <a:spcPts val="6102"/>
              </a:lnSpc>
              <a:buFont typeface="Arial"/>
              <a:buChar char="•"/>
            </a:pPr>
            <a:r>
              <a:rPr lang="en-US" b="true" sz="4238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Reveals patterns and trends</a:t>
            </a:r>
          </a:p>
          <a:p>
            <a:pPr algn="l" marL="914991" indent="-457496" lvl="1">
              <a:lnSpc>
                <a:spcPts val="6102"/>
              </a:lnSpc>
              <a:buFont typeface="Arial"/>
              <a:buChar char="•"/>
            </a:pPr>
            <a:r>
              <a:rPr lang="en-US" b="true" sz="4238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Increases accessibility</a:t>
            </a:r>
          </a:p>
          <a:p>
            <a:pPr algn="l" marL="914991" indent="-457496" lvl="1">
              <a:lnSpc>
                <a:spcPts val="6102"/>
              </a:lnSpc>
              <a:buFont typeface="Arial"/>
              <a:buChar char="•"/>
            </a:pPr>
            <a:r>
              <a:rPr lang="en-US" b="true" sz="4238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Real-time monitoring</a:t>
            </a:r>
          </a:p>
          <a:p>
            <a:pPr algn="l" marL="914991" indent="-457496" lvl="1">
              <a:lnSpc>
                <a:spcPts val="6102"/>
              </a:lnSpc>
              <a:buFont typeface="Arial"/>
              <a:buChar char="•"/>
            </a:pPr>
            <a:r>
              <a:rPr lang="en-US" b="true" sz="4238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Identify areas that need attention or improvement</a:t>
            </a:r>
          </a:p>
          <a:p>
            <a:pPr algn="l" marL="914991" indent="-457496" lvl="1">
              <a:lnSpc>
                <a:spcPts val="6102"/>
              </a:lnSpc>
              <a:buFont typeface="Arial"/>
              <a:buChar char="•"/>
            </a:pPr>
            <a:r>
              <a:rPr lang="en-US" b="true" sz="4238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Enhances storytelling</a:t>
            </a:r>
          </a:p>
          <a:p>
            <a:pPr algn="l" marL="914991" indent="-457496" lvl="1">
              <a:lnSpc>
                <a:spcPts val="6102"/>
              </a:lnSpc>
              <a:buFont typeface="Arial"/>
              <a:buChar char="•"/>
            </a:pPr>
            <a:r>
              <a:rPr lang="en-US" b="true" sz="4238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Increases productivity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3602" y="-315155"/>
            <a:ext cx="11297935" cy="10958997"/>
          </a:xfrm>
          <a:custGeom>
            <a:avLst/>
            <a:gdLst/>
            <a:ahLst/>
            <a:cxnLst/>
            <a:rect r="r" b="b" t="t" l="l"/>
            <a:pathLst>
              <a:path h="10958997" w="11297935">
                <a:moveTo>
                  <a:pt x="0" y="0"/>
                </a:moveTo>
                <a:lnTo>
                  <a:pt x="11297935" y="0"/>
                </a:lnTo>
                <a:lnTo>
                  <a:pt x="11297935" y="10958997"/>
                </a:lnTo>
                <a:lnTo>
                  <a:pt x="0" y="10958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61452">
            <a:off x="16240592" y="807495"/>
            <a:ext cx="1556539" cy="1216046"/>
          </a:xfrm>
          <a:custGeom>
            <a:avLst/>
            <a:gdLst/>
            <a:ahLst/>
            <a:cxnLst/>
            <a:rect r="r" b="b" t="t" l="l"/>
            <a:pathLst>
              <a:path h="1216046" w="1556539">
                <a:moveTo>
                  <a:pt x="0" y="0"/>
                </a:moveTo>
                <a:lnTo>
                  <a:pt x="1556538" y="0"/>
                </a:lnTo>
                <a:lnTo>
                  <a:pt x="1556538" y="1216046"/>
                </a:lnTo>
                <a:lnTo>
                  <a:pt x="0" y="12160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418319"/>
            <a:ext cx="8115300" cy="5450363"/>
            <a:chOff x="0" y="0"/>
            <a:chExt cx="10820400" cy="726715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820400" cy="7267150"/>
              <a:chOff x="0" y="0"/>
              <a:chExt cx="2463123" cy="165427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463123" cy="1654272"/>
              </a:xfrm>
              <a:custGeom>
                <a:avLst/>
                <a:gdLst/>
                <a:ahLst/>
                <a:cxnLst/>
                <a:rect r="r" b="b" t="t" l="l"/>
                <a:pathLst>
                  <a:path h="1654272" w="2463123">
                    <a:moveTo>
                      <a:pt x="2338663" y="1654272"/>
                    </a:moveTo>
                    <a:lnTo>
                      <a:pt x="124460" y="1654272"/>
                    </a:lnTo>
                    <a:cubicBezTo>
                      <a:pt x="55880" y="1654272"/>
                      <a:pt x="0" y="1598392"/>
                      <a:pt x="0" y="1529812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338663" y="0"/>
                    </a:lnTo>
                    <a:cubicBezTo>
                      <a:pt x="2407243" y="0"/>
                      <a:pt x="2463123" y="55880"/>
                      <a:pt x="2463123" y="124460"/>
                    </a:cubicBezTo>
                    <a:lnTo>
                      <a:pt x="2463123" y="1529812"/>
                    </a:lnTo>
                    <a:cubicBezTo>
                      <a:pt x="2463123" y="1598392"/>
                      <a:pt x="2407243" y="1654272"/>
                      <a:pt x="2338663" y="165427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1379125" y="1183310"/>
              <a:ext cx="8062150" cy="1291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75"/>
                </a:lnSpc>
              </a:pPr>
              <a:r>
                <a:rPr lang="en-US" sz="6500">
                  <a:solidFill>
                    <a:srgbClr val="30366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DV in Python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379125" y="2862429"/>
              <a:ext cx="8062150" cy="3249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sz="3499">
                  <a:solidFill>
                    <a:srgbClr val="000000"/>
                  </a:solidFill>
                  <a:latin typeface="Helvetica Now"/>
                  <a:ea typeface="Helvetica Now"/>
                  <a:cs typeface="Helvetica Now"/>
                  <a:sym typeface="Helvetica Now"/>
                </a:rPr>
                <a:t>Python offers several plotting libraries, namely </a:t>
              </a:r>
            </a:p>
            <a:p>
              <a:pPr algn="l">
                <a:lnSpc>
                  <a:spcPts val="4899"/>
                </a:lnSpc>
              </a:pPr>
              <a:r>
                <a:rPr lang="en-US" sz="3499">
                  <a:solidFill>
                    <a:srgbClr val="000000"/>
                  </a:solidFill>
                  <a:latin typeface="Helvetica Now"/>
                  <a:ea typeface="Helvetica Now"/>
                  <a:cs typeface="Helvetica Now"/>
                  <a:sym typeface="Helvetica Now"/>
                  <a:hlinkClick r:id="rId6" tooltip="https://www.simplilearn.com/tutorials/python-tutorial/matplotlib"/>
                </a:rPr>
                <a:t>Matplotlib</a:t>
              </a:r>
            </a:p>
            <a:p>
              <a:pPr algn="l">
                <a:lnSpc>
                  <a:spcPts val="4899"/>
                </a:lnSpc>
              </a:pPr>
              <a:r>
                <a:rPr lang="en-US" sz="3499">
                  <a:solidFill>
                    <a:srgbClr val="000000"/>
                  </a:solidFill>
                  <a:latin typeface="Helvetica Now"/>
                  <a:ea typeface="Helvetica Now"/>
                  <a:cs typeface="Helvetica Now"/>
                  <a:sym typeface="Helvetica Now"/>
                  <a:hlinkClick r:id="rId7" tooltip="https://www.simplilearn.com/tutorials/python-tutorial/python-seaborn"/>
                </a:rPr>
                <a:t>Seaborn</a:t>
              </a:r>
              <a:r>
                <a:rPr lang="en-US" sz="3499">
                  <a:solidFill>
                    <a:srgbClr val="000000"/>
                  </a:solidFill>
                  <a:latin typeface="Helvetica Now"/>
                  <a:ea typeface="Helvetica Now"/>
                  <a:cs typeface="Helvetica Now"/>
                  <a:sym typeface="Helvetica Now"/>
                </a:rPr>
                <a:t> </a:t>
              </a: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2134128" y="1028700"/>
            <a:ext cx="4532350" cy="8639563"/>
            <a:chOff x="0" y="0"/>
            <a:chExt cx="8624570" cy="16440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10210" y="269240"/>
              <a:ext cx="7754620" cy="15908021"/>
            </a:xfrm>
            <a:custGeom>
              <a:avLst/>
              <a:gdLst/>
              <a:ahLst/>
              <a:cxnLst/>
              <a:rect r="r" b="b" t="t" l="l"/>
              <a:pathLst>
                <a:path h="15908021" w="7754620">
                  <a:moveTo>
                    <a:pt x="7754620" y="791210"/>
                  </a:moveTo>
                  <a:lnTo>
                    <a:pt x="7754620" y="15116810"/>
                  </a:lnTo>
                  <a:cubicBezTo>
                    <a:pt x="7754620" y="15553690"/>
                    <a:pt x="7400290" y="15908021"/>
                    <a:pt x="6963410" y="15908021"/>
                  </a:cubicBezTo>
                  <a:lnTo>
                    <a:pt x="791210" y="15908021"/>
                  </a:lnTo>
                  <a:cubicBezTo>
                    <a:pt x="354330" y="15908021"/>
                    <a:pt x="0" y="15553690"/>
                    <a:pt x="0" y="15116810"/>
                  </a:cubicBez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2140" y="0"/>
                  </a:lnTo>
                  <a:cubicBezTo>
                    <a:pt x="7400290" y="0"/>
                    <a:pt x="7754620" y="353060"/>
                    <a:pt x="7754620" y="791210"/>
                  </a:cubicBezTo>
                  <a:close/>
                </a:path>
              </a:pathLst>
            </a:custGeom>
            <a:blipFill>
              <a:blip r:embed="rId8"/>
              <a:stretch>
                <a:fillRect l="-33300" t="0" r="-33300" b="-218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8787" y="-773578"/>
            <a:ext cx="10114794" cy="11700308"/>
          </a:xfrm>
          <a:custGeom>
            <a:avLst/>
            <a:gdLst/>
            <a:ahLst/>
            <a:cxnLst/>
            <a:rect r="r" b="b" t="t" l="l"/>
            <a:pathLst>
              <a:path h="11700308" w="10114794">
                <a:moveTo>
                  <a:pt x="0" y="0"/>
                </a:moveTo>
                <a:lnTo>
                  <a:pt x="10114794" y="0"/>
                </a:lnTo>
                <a:lnTo>
                  <a:pt x="10114794" y="11700308"/>
                </a:lnTo>
                <a:lnTo>
                  <a:pt x="0" y="11700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397" r="0" b="-236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95410" y="-208774"/>
            <a:ext cx="3578091" cy="3578091"/>
          </a:xfrm>
          <a:custGeom>
            <a:avLst/>
            <a:gdLst/>
            <a:ahLst/>
            <a:cxnLst/>
            <a:rect r="r" b="b" t="t" l="l"/>
            <a:pathLst>
              <a:path h="3578091" w="3578091">
                <a:moveTo>
                  <a:pt x="0" y="0"/>
                </a:moveTo>
                <a:lnTo>
                  <a:pt x="3578091" y="0"/>
                </a:lnTo>
                <a:lnTo>
                  <a:pt x="3578091" y="3578090"/>
                </a:lnTo>
                <a:lnTo>
                  <a:pt x="0" y="35780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6352" t="-86352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54653" y="508683"/>
            <a:ext cx="1674745" cy="1624503"/>
          </a:xfrm>
          <a:custGeom>
            <a:avLst/>
            <a:gdLst/>
            <a:ahLst/>
            <a:cxnLst/>
            <a:rect r="r" b="b" t="t" l="l"/>
            <a:pathLst>
              <a:path h="1624503" w="1674745">
                <a:moveTo>
                  <a:pt x="0" y="0"/>
                </a:moveTo>
                <a:lnTo>
                  <a:pt x="1674746" y="0"/>
                </a:lnTo>
                <a:lnTo>
                  <a:pt x="1674746" y="1624503"/>
                </a:lnTo>
                <a:lnTo>
                  <a:pt x="0" y="16245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71285" y="3364708"/>
            <a:ext cx="2053439" cy="1778792"/>
          </a:xfrm>
          <a:custGeom>
            <a:avLst/>
            <a:gdLst/>
            <a:ahLst/>
            <a:cxnLst/>
            <a:rect r="r" b="b" t="t" l="l"/>
            <a:pathLst>
              <a:path h="1778792" w="2053439">
                <a:moveTo>
                  <a:pt x="0" y="0"/>
                </a:moveTo>
                <a:lnTo>
                  <a:pt x="2053440" y="0"/>
                </a:lnTo>
                <a:lnTo>
                  <a:pt x="2053440" y="1778792"/>
                </a:lnTo>
                <a:lnTo>
                  <a:pt x="0" y="17787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52261" y="1790239"/>
            <a:ext cx="5976249" cy="6110991"/>
            <a:chOff x="0" y="0"/>
            <a:chExt cx="1642983" cy="16800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2983" cy="1680026"/>
            </a:xfrm>
            <a:custGeom>
              <a:avLst/>
              <a:gdLst/>
              <a:ahLst/>
              <a:cxnLst/>
              <a:rect r="r" b="b" t="t" l="l"/>
              <a:pathLst>
                <a:path h="1680026" w="1642983">
                  <a:moveTo>
                    <a:pt x="1518523" y="1680026"/>
                  </a:moveTo>
                  <a:lnTo>
                    <a:pt x="124460" y="1680026"/>
                  </a:lnTo>
                  <a:cubicBezTo>
                    <a:pt x="55880" y="1680026"/>
                    <a:pt x="0" y="1624146"/>
                    <a:pt x="0" y="155556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18523" y="0"/>
                  </a:lnTo>
                  <a:cubicBezTo>
                    <a:pt x="1587103" y="0"/>
                    <a:pt x="1642983" y="55880"/>
                    <a:pt x="1642983" y="124460"/>
                  </a:cubicBezTo>
                  <a:lnTo>
                    <a:pt x="1642983" y="1555566"/>
                  </a:lnTo>
                  <a:cubicBezTo>
                    <a:pt x="1642983" y="1624146"/>
                    <a:pt x="1587103" y="1680026"/>
                    <a:pt x="1518523" y="16800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58671" y="2493677"/>
            <a:ext cx="4450829" cy="4150920"/>
            <a:chOff x="0" y="0"/>
            <a:chExt cx="5934439" cy="553456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8575"/>
              <a:ext cx="5934439" cy="1283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7475"/>
                </a:lnSpc>
                <a:spcBef>
                  <a:spcPct val="0"/>
                </a:spcBef>
              </a:pPr>
              <a:r>
                <a:rPr lang="en-US" sz="65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Matplot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839283"/>
              <a:ext cx="5934439" cy="3695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true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Matplot is the python libraries used for DV</a:t>
              </a:r>
            </a:p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they have inbuild module for plotting different graphs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473039" y="1875190"/>
            <a:ext cx="5600924" cy="5600924"/>
          </a:xfrm>
          <a:custGeom>
            <a:avLst/>
            <a:gdLst/>
            <a:ahLst/>
            <a:cxnLst/>
            <a:rect r="r" b="b" t="t" l="l"/>
            <a:pathLst>
              <a:path h="5600924" w="5600924">
                <a:moveTo>
                  <a:pt x="0" y="0"/>
                </a:moveTo>
                <a:lnTo>
                  <a:pt x="5600924" y="0"/>
                </a:lnTo>
                <a:lnTo>
                  <a:pt x="5600924" y="5600924"/>
                </a:lnTo>
                <a:lnTo>
                  <a:pt x="0" y="56009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54653" y="6110999"/>
            <a:ext cx="3320154" cy="3320154"/>
          </a:xfrm>
          <a:custGeom>
            <a:avLst/>
            <a:gdLst/>
            <a:ahLst/>
            <a:cxnLst/>
            <a:rect r="r" b="b" t="t" l="l"/>
            <a:pathLst>
              <a:path h="3320154" w="3320154">
                <a:moveTo>
                  <a:pt x="0" y="0"/>
                </a:moveTo>
                <a:lnTo>
                  <a:pt x="3320155" y="0"/>
                </a:lnTo>
                <a:lnTo>
                  <a:pt x="3320155" y="3320154"/>
                </a:lnTo>
                <a:lnTo>
                  <a:pt x="0" y="33201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3474808" y="5514515"/>
            <a:ext cx="3923198" cy="3923198"/>
          </a:xfrm>
          <a:custGeom>
            <a:avLst/>
            <a:gdLst/>
            <a:ahLst/>
            <a:cxnLst/>
            <a:rect r="r" b="b" t="t" l="l"/>
            <a:pathLst>
              <a:path h="3923198" w="3923198">
                <a:moveTo>
                  <a:pt x="3923197" y="0"/>
                </a:moveTo>
                <a:lnTo>
                  <a:pt x="0" y="0"/>
                </a:lnTo>
                <a:lnTo>
                  <a:pt x="0" y="3923197"/>
                </a:lnTo>
                <a:lnTo>
                  <a:pt x="3923197" y="3923197"/>
                </a:lnTo>
                <a:lnTo>
                  <a:pt x="3923197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689399" y="3654427"/>
            <a:ext cx="2814284" cy="1750433"/>
            <a:chOff x="0" y="0"/>
            <a:chExt cx="3752379" cy="2333911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9050"/>
              <a:ext cx="3752379" cy="604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0"/>
                </a:lnSpc>
              </a:pPr>
              <a:r>
                <a:rPr lang="en-US" sz="29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Customizable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15644"/>
              <a:ext cx="3752379" cy="1618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9"/>
                </a:lnSpc>
              </a:pPr>
              <a:r>
                <a:rPr lang="en-US" sz="2499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pair well with pandas and numpy for EDA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96007" y="7901230"/>
            <a:ext cx="4607677" cy="1073846"/>
            <a:chOff x="0" y="0"/>
            <a:chExt cx="6143569" cy="143179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28575"/>
              <a:ext cx="6143569" cy="736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sz="35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Used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883713"/>
              <a:ext cx="6143569" cy="548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plot-line,bar,etc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986751" y="6755664"/>
            <a:ext cx="2496697" cy="1427780"/>
            <a:chOff x="0" y="0"/>
            <a:chExt cx="3328930" cy="190370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28575"/>
              <a:ext cx="3328930" cy="736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sz="35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Works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848289"/>
              <a:ext cx="3328930" cy="1055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0"/>
                </a:lnSpc>
              </a:pPr>
              <a:r>
                <a:rPr lang="en-US" sz="25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dataset and arrays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59747" y="-1723095"/>
            <a:ext cx="9188791" cy="14136601"/>
          </a:xfrm>
          <a:custGeom>
            <a:avLst/>
            <a:gdLst/>
            <a:ahLst/>
            <a:cxnLst/>
            <a:rect r="r" b="b" t="t" l="l"/>
            <a:pathLst>
              <a:path h="14136601" w="9188791">
                <a:moveTo>
                  <a:pt x="0" y="0"/>
                </a:moveTo>
                <a:lnTo>
                  <a:pt x="9188791" y="0"/>
                </a:lnTo>
                <a:lnTo>
                  <a:pt x="9188791" y="14136602"/>
                </a:lnTo>
                <a:lnTo>
                  <a:pt x="0" y="14136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11329" y="1029613"/>
            <a:ext cx="11404299" cy="116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8"/>
              </a:lnSpc>
            </a:pPr>
            <a:r>
              <a:rPr lang="en-US" b="true" sz="63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Line Plot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658215" y="2421468"/>
            <a:ext cx="9817008" cy="7048831"/>
          </a:xfrm>
          <a:custGeom>
            <a:avLst/>
            <a:gdLst/>
            <a:ahLst/>
            <a:cxnLst/>
            <a:rect r="r" b="b" t="t" l="l"/>
            <a:pathLst>
              <a:path h="7048831" w="9817008">
                <a:moveTo>
                  <a:pt x="0" y="0"/>
                </a:moveTo>
                <a:lnTo>
                  <a:pt x="9817007" y="0"/>
                </a:lnTo>
                <a:lnTo>
                  <a:pt x="9817007" y="7048831"/>
                </a:lnTo>
                <a:lnTo>
                  <a:pt x="0" y="70488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800" r="0" b="-380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59747" y="-1723095"/>
            <a:ext cx="9188791" cy="14136601"/>
          </a:xfrm>
          <a:custGeom>
            <a:avLst/>
            <a:gdLst/>
            <a:ahLst/>
            <a:cxnLst/>
            <a:rect r="r" b="b" t="t" l="l"/>
            <a:pathLst>
              <a:path h="14136601" w="9188791">
                <a:moveTo>
                  <a:pt x="0" y="0"/>
                </a:moveTo>
                <a:lnTo>
                  <a:pt x="9188791" y="0"/>
                </a:lnTo>
                <a:lnTo>
                  <a:pt x="9188791" y="14136602"/>
                </a:lnTo>
                <a:lnTo>
                  <a:pt x="0" y="14136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75690" y="987079"/>
            <a:ext cx="11404299" cy="116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8"/>
              </a:lnSpc>
            </a:pPr>
            <a:r>
              <a:rPr lang="en-US" b="true" sz="63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Draw multiple line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060120" y="2748673"/>
            <a:ext cx="8035439" cy="6764160"/>
          </a:xfrm>
          <a:custGeom>
            <a:avLst/>
            <a:gdLst/>
            <a:ahLst/>
            <a:cxnLst/>
            <a:rect r="r" b="b" t="t" l="l"/>
            <a:pathLst>
              <a:path h="6764160" w="8035439">
                <a:moveTo>
                  <a:pt x="0" y="0"/>
                </a:moveTo>
                <a:lnTo>
                  <a:pt x="8035439" y="0"/>
                </a:lnTo>
                <a:lnTo>
                  <a:pt x="8035439" y="6764160"/>
                </a:lnTo>
                <a:lnTo>
                  <a:pt x="0" y="67641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59747" y="-1723095"/>
            <a:ext cx="9188791" cy="14136601"/>
          </a:xfrm>
          <a:custGeom>
            <a:avLst/>
            <a:gdLst/>
            <a:ahLst/>
            <a:cxnLst/>
            <a:rect r="r" b="b" t="t" l="l"/>
            <a:pathLst>
              <a:path h="14136601" w="9188791">
                <a:moveTo>
                  <a:pt x="0" y="0"/>
                </a:moveTo>
                <a:lnTo>
                  <a:pt x="9188791" y="0"/>
                </a:lnTo>
                <a:lnTo>
                  <a:pt x="9188791" y="14136602"/>
                </a:lnTo>
                <a:lnTo>
                  <a:pt x="0" y="14136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51993" y="1330203"/>
            <a:ext cx="11404299" cy="116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8"/>
              </a:lnSpc>
            </a:pPr>
            <a:r>
              <a:rPr lang="en-US" b="true" sz="63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line style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080459" y="3076203"/>
            <a:ext cx="9147367" cy="5690094"/>
          </a:xfrm>
          <a:custGeom>
            <a:avLst/>
            <a:gdLst/>
            <a:ahLst/>
            <a:cxnLst/>
            <a:rect r="r" b="b" t="t" l="l"/>
            <a:pathLst>
              <a:path h="5690094" w="9147367">
                <a:moveTo>
                  <a:pt x="0" y="0"/>
                </a:moveTo>
                <a:lnTo>
                  <a:pt x="9147367" y="0"/>
                </a:lnTo>
                <a:lnTo>
                  <a:pt x="9147367" y="5690094"/>
                </a:lnTo>
                <a:lnTo>
                  <a:pt x="0" y="56900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59747" y="-1723095"/>
            <a:ext cx="9188791" cy="14136601"/>
          </a:xfrm>
          <a:custGeom>
            <a:avLst/>
            <a:gdLst/>
            <a:ahLst/>
            <a:cxnLst/>
            <a:rect r="r" b="b" t="t" l="l"/>
            <a:pathLst>
              <a:path h="14136601" w="9188791">
                <a:moveTo>
                  <a:pt x="0" y="0"/>
                </a:moveTo>
                <a:lnTo>
                  <a:pt x="9188791" y="0"/>
                </a:lnTo>
                <a:lnTo>
                  <a:pt x="9188791" y="14136602"/>
                </a:lnTo>
                <a:lnTo>
                  <a:pt x="0" y="14136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01037" y="838200"/>
            <a:ext cx="11404299" cy="116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8"/>
              </a:lnSpc>
            </a:pPr>
            <a:r>
              <a:rPr lang="en-US" b="true" sz="63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Labels, Title, Grid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677833" y="2565927"/>
            <a:ext cx="10729415" cy="7084291"/>
          </a:xfrm>
          <a:custGeom>
            <a:avLst/>
            <a:gdLst/>
            <a:ahLst/>
            <a:cxnLst/>
            <a:rect r="r" b="b" t="t" l="l"/>
            <a:pathLst>
              <a:path h="7084291" w="10729415">
                <a:moveTo>
                  <a:pt x="0" y="0"/>
                </a:moveTo>
                <a:lnTo>
                  <a:pt x="10729414" y="0"/>
                </a:lnTo>
                <a:lnTo>
                  <a:pt x="10729414" y="7084292"/>
                </a:lnTo>
                <a:lnTo>
                  <a:pt x="0" y="70842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2447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59747" y="-1723095"/>
            <a:ext cx="9188791" cy="14136601"/>
          </a:xfrm>
          <a:custGeom>
            <a:avLst/>
            <a:gdLst/>
            <a:ahLst/>
            <a:cxnLst/>
            <a:rect r="r" b="b" t="t" l="l"/>
            <a:pathLst>
              <a:path h="14136601" w="9188791">
                <a:moveTo>
                  <a:pt x="0" y="0"/>
                </a:moveTo>
                <a:lnTo>
                  <a:pt x="9188791" y="0"/>
                </a:lnTo>
                <a:lnTo>
                  <a:pt x="9188791" y="14136602"/>
                </a:lnTo>
                <a:lnTo>
                  <a:pt x="0" y="14136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54964" y="2873146"/>
            <a:ext cx="9004667" cy="4944120"/>
          </a:xfrm>
          <a:custGeom>
            <a:avLst/>
            <a:gdLst/>
            <a:ahLst/>
            <a:cxnLst/>
            <a:rect r="r" b="b" t="t" l="l"/>
            <a:pathLst>
              <a:path h="4944120" w="9004667">
                <a:moveTo>
                  <a:pt x="0" y="0"/>
                </a:moveTo>
                <a:lnTo>
                  <a:pt x="9004667" y="0"/>
                </a:lnTo>
                <a:lnTo>
                  <a:pt x="9004667" y="4944120"/>
                </a:lnTo>
                <a:lnTo>
                  <a:pt x="0" y="4944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812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42908" y="2412397"/>
            <a:ext cx="3910412" cy="5865619"/>
          </a:xfrm>
          <a:custGeom>
            <a:avLst/>
            <a:gdLst/>
            <a:ahLst/>
            <a:cxnLst/>
            <a:rect r="r" b="b" t="t" l="l"/>
            <a:pathLst>
              <a:path h="5865619" w="3910412">
                <a:moveTo>
                  <a:pt x="0" y="0"/>
                </a:moveTo>
                <a:lnTo>
                  <a:pt x="3910413" y="0"/>
                </a:lnTo>
                <a:lnTo>
                  <a:pt x="3910413" y="5865618"/>
                </a:lnTo>
                <a:lnTo>
                  <a:pt x="0" y="58656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01037" y="838200"/>
            <a:ext cx="11404299" cy="116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8"/>
              </a:lnSpc>
            </a:pPr>
            <a:r>
              <a:rPr lang="en-US" b="true" sz="63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Subplots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59747" y="-1723095"/>
            <a:ext cx="9188791" cy="14136601"/>
          </a:xfrm>
          <a:custGeom>
            <a:avLst/>
            <a:gdLst/>
            <a:ahLst/>
            <a:cxnLst/>
            <a:rect r="r" b="b" t="t" l="l"/>
            <a:pathLst>
              <a:path h="14136601" w="9188791">
                <a:moveTo>
                  <a:pt x="0" y="0"/>
                </a:moveTo>
                <a:lnTo>
                  <a:pt x="9188791" y="0"/>
                </a:lnTo>
                <a:lnTo>
                  <a:pt x="9188791" y="14136602"/>
                </a:lnTo>
                <a:lnTo>
                  <a:pt x="0" y="14136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18060" y="1253684"/>
            <a:ext cx="11404299" cy="116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8"/>
              </a:lnSpc>
            </a:pPr>
            <a:r>
              <a:rPr lang="en-US" b="true" sz="6377">
                <a:solidFill>
                  <a:srgbClr val="111014"/>
                </a:solidFill>
                <a:latin typeface="Poppins Bold"/>
                <a:ea typeface="Poppins Bold"/>
                <a:cs typeface="Poppins Bold"/>
                <a:sym typeface="Poppins Bold"/>
              </a:rPr>
              <a:t>Scatter plot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344375" y="2393548"/>
            <a:ext cx="11927404" cy="7337498"/>
          </a:xfrm>
          <a:custGeom>
            <a:avLst/>
            <a:gdLst/>
            <a:ahLst/>
            <a:cxnLst/>
            <a:rect r="r" b="b" t="t" l="l"/>
            <a:pathLst>
              <a:path h="7337498" w="11927404">
                <a:moveTo>
                  <a:pt x="0" y="0"/>
                </a:moveTo>
                <a:lnTo>
                  <a:pt x="11927404" y="0"/>
                </a:lnTo>
                <a:lnTo>
                  <a:pt x="11927404" y="7337497"/>
                </a:lnTo>
                <a:lnTo>
                  <a:pt x="0" y="7337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713682" y="-1924801"/>
            <a:ext cx="9188791" cy="14136601"/>
          </a:xfrm>
          <a:custGeom>
            <a:avLst/>
            <a:gdLst/>
            <a:ahLst/>
            <a:cxnLst/>
            <a:rect r="r" b="b" t="t" l="l"/>
            <a:pathLst>
              <a:path h="14136601" w="9188791">
                <a:moveTo>
                  <a:pt x="0" y="0"/>
                </a:moveTo>
                <a:lnTo>
                  <a:pt x="9188791" y="0"/>
                </a:lnTo>
                <a:lnTo>
                  <a:pt x="9188791" y="14136602"/>
                </a:lnTo>
                <a:lnTo>
                  <a:pt x="0" y="14136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65548" y="1263312"/>
            <a:ext cx="11404299" cy="116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8"/>
              </a:lnSpc>
            </a:pPr>
            <a:r>
              <a:rPr lang="en-US" b="true" sz="6377">
                <a:solidFill>
                  <a:srgbClr val="111014"/>
                </a:solidFill>
                <a:latin typeface="Poppins Bold"/>
                <a:ea typeface="Poppins Bold"/>
                <a:cs typeface="Poppins Bold"/>
                <a:sym typeface="Poppins Bold"/>
              </a:rPr>
              <a:t>Bar plot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597868" y="3143094"/>
            <a:ext cx="9939659" cy="5690094"/>
          </a:xfrm>
          <a:custGeom>
            <a:avLst/>
            <a:gdLst/>
            <a:ahLst/>
            <a:cxnLst/>
            <a:rect r="r" b="b" t="t" l="l"/>
            <a:pathLst>
              <a:path h="5690094" w="9939659">
                <a:moveTo>
                  <a:pt x="0" y="0"/>
                </a:moveTo>
                <a:lnTo>
                  <a:pt x="9939658" y="0"/>
                </a:lnTo>
                <a:lnTo>
                  <a:pt x="9939658" y="5690094"/>
                </a:lnTo>
                <a:lnTo>
                  <a:pt x="0" y="56900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713682" y="-1924801"/>
            <a:ext cx="9188791" cy="14136601"/>
          </a:xfrm>
          <a:custGeom>
            <a:avLst/>
            <a:gdLst/>
            <a:ahLst/>
            <a:cxnLst/>
            <a:rect r="r" b="b" t="t" l="l"/>
            <a:pathLst>
              <a:path h="14136601" w="9188791">
                <a:moveTo>
                  <a:pt x="0" y="0"/>
                </a:moveTo>
                <a:lnTo>
                  <a:pt x="9188791" y="0"/>
                </a:lnTo>
                <a:lnTo>
                  <a:pt x="9188791" y="14136602"/>
                </a:lnTo>
                <a:lnTo>
                  <a:pt x="0" y="14136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82155" y="1225677"/>
            <a:ext cx="11404299" cy="116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8"/>
              </a:lnSpc>
            </a:pPr>
            <a:r>
              <a:rPr lang="en-US" b="true" sz="63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Horizontal bars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414475" y="3180729"/>
            <a:ext cx="9939659" cy="5690094"/>
          </a:xfrm>
          <a:custGeom>
            <a:avLst/>
            <a:gdLst/>
            <a:ahLst/>
            <a:cxnLst/>
            <a:rect r="r" b="b" t="t" l="l"/>
            <a:pathLst>
              <a:path h="5690094" w="9939659">
                <a:moveTo>
                  <a:pt x="0" y="0"/>
                </a:moveTo>
                <a:lnTo>
                  <a:pt x="9939658" y="0"/>
                </a:lnTo>
                <a:lnTo>
                  <a:pt x="9939658" y="5690094"/>
                </a:lnTo>
                <a:lnTo>
                  <a:pt x="0" y="56900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713682" y="-1924801"/>
            <a:ext cx="9188791" cy="14136601"/>
          </a:xfrm>
          <a:custGeom>
            <a:avLst/>
            <a:gdLst/>
            <a:ahLst/>
            <a:cxnLst/>
            <a:rect r="r" b="b" t="t" l="l"/>
            <a:pathLst>
              <a:path h="14136601" w="9188791">
                <a:moveTo>
                  <a:pt x="0" y="0"/>
                </a:moveTo>
                <a:lnTo>
                  <a:pt x="9188791" y="0"/>
                </a:lnTo>
                <a:lnTo>
                  <a:pt x="9188791" y="14136602"/>
                </a:lnTo>
                <a:lnTo>
                  <a:pt x="0" y="14136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05928" y="838200"/>
            <a:ext cx="11404299" cy="229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8"/>
              </a:lnSpc>
            </a:pPr>
            <a:r>
              <a:rPr lang="en-US" sz="6377" b="true">
                <a:solidFill>
                  <a:srgbClr val="111014"/>
                </a:solidFill>
                <a:latin typeface="Poppins Bold"/>
                <a:ea typeface="Poppins Bold"/>
                <a:cs typeface="Poppins Bold"/>
                <a:sym typeface="Poppins Bold"/>
              </a:rPr>
              <a:t>Pie chart</a:t>
            </a:r>
          </a:p>
          <a:p>
            <a:pPr algn="ctr">
              <a:lnSpc>
                <a:spcPts val="892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129617" y="2667327"/>
            <a:ext cx="12356921" cy="6745765"/>
          </a:xfrm>
          <a:custGeom>
            <a:avLst/>
            <a:gdLst/>
            <a:ahLst/>
            <a:cxnLst/>
            <a:rect r="r" b="b" t="t" l="l"/>
            <a:pathLst>
              <a:path h="6745765" w="12356921">
                <a:moveTo>
                  <a:pt x="0" y="0"/>
                </a:moveTo>
                <a:lnTo>
                  <a:pt x="12356921" y="0"/>
                </a:lnTo>
                <a:lnTo>
                  <a:pt x="12356921" y="6745765"/>
                </a:lnTo>
                <a:lnTo>
                  <a:pt x="0" y="67457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55580" y="-2066699"/>
            <a:ext cx="9715842" cy="14947450"/>
          </a:xfrm>
          <a:custGeom>
            <a:avLst/>
            <a:gdLst/>
            <a:ahLst/>
            <a:cxnLst/>
            <a:rect r="r" b="b" t="t" l="l"/>
            <a:pathLst>
              <a:path h="14947450" w="9715842">
                <a:moveTo>
                  <a:pt x="0" y="0"/>
                </a:moveTo>
                <a:lnTo>
                  <a:pt x="9715843" y="0"/>
                </a:lnTo>
                <a:lnTo>
                  <a:pt x="9715843" y="14947450"/>
                </a:lnTo>
                <a:lnTo>
                  <a:pt x="0" y="14947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39270" y="1425282"/>
            <a:ext cx="9639459" cy="98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46"/>
              </a:lnSpc>
            </a:pPr>
            <a:r>
              <a:rPr lang="en-US" b="true" sz="5390">
                <a:solidFill>
                  <a:srgbClr val="111014"/>
                </a:solidFill>
                <a:latin typeface="Poppins Bold"/>
                <a:ea typeface="Poppins Bold"/>
                <a:cs typeface="Poppins Bold"/>
                <a:sym typeface="Poppins Bold"/>
              </a:rPr>
              <a:t>Box plot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19884" y="3434793"/>
            <a:ext cx="6366807" cy="4822841"/>
          </a:xfrm>
          <a:custGeom>
            <a:avLst/>
            <a:gdLst/>
            <a:ahLst/>
            <a:cxnLst/>
            <a:rect r="r" b="b" t="t" l="l"/>
            <a:pathLst>
              <a:path h="4822841" w="6366807">
                <a:moveTo>
                  <a:pt x="0" y="0"/>
                </a:moveTo>
                <a:lnTo>
                  <a:pt x="6366807" y="0"/>
                </a:lnTo>
                <a:lnTo>
                  <a:pt x="6366807" y="4822842"/>
                </a:lnTo>
                <a:lnTo>
                  <a:pt x="0" y="48228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063" r="0" b="-90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70813" y="4055419"/>
            <a:ext cx="6336086" cy="2019628"/>
          </a:xfrm>
          <a:custGeom>
            <a:avLst/>
            <a:gdLst/>
            <a:ahLst/>
            <a:cxnLst/>
            <a:rect r="r" b="b" t="t" l="l"/>
            <a:pathLst>
              <a:path h="2019628" w="6336086">
                <a:moveTo>
                  <a:pt x="0" y="0"/>
                </a:moveTo>
                <a:lnTo>
                  <a:pt x="6336086" y="0"/>
                </a:lnTo>
                <a:lnTo>
                  <a:pt x="6336086" y="2019627"/>
                </a:lnTo>
                <a:lnTo>
                  <a:pt x="0" y="2019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55580" y="-2066699"/>
            <a:ext cx="9715842" cy="14947450"/>
          </a:xfrm>
          <a:custGeom>
            <a:avLst/>
            <a:gdLst/>
            <a:ahLst/>
            <a:cxnLst/>
            <a:rect r="r" b="b" t="t" l="l"/>
            <a:pathLst>
              <a:path h="14947450" w="9715842">
                <a:moveTo>
                  <a:pt x="0" y="0"/>
                </a:moveTo>
                <a:lnTo>
                  <a:pt x="9715843" y="0"/>
                </a:lnTo>
                <a:lnTo>
                  <a:pt x="9715843" y="14947450"/>
                </a:lnTo>
                <a:lnTo>
                  <a:pt x="0" y="14947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71868" y="2270946"/>
            <a:ext cx="1930600" cy="1930600"/>
          </a:xfrm>
          <a:custGeom>
            <a:avLst/>
            <a:gdLst/>
            <a:ahLst/>
            <a:cxnLst/>
            <a:rect r="r" b="b" t="t" l="l"/>
            <a:pathLst>
              <a:path h="1930600" w="1930600">
                <a:moveTo>
                  <a:pt x="0" y="0"/>
                </a:moveTo>
                <a:lnTo>
                  <a:pt x="1930600" y="0"/>
                </a:lnTo>
                <a:lnTo>
                  <a:pt x="1930600" y="1930601"/>
                </a:lnTo>
                <a:lnTo>
                  <a:pt x="0" y="193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35195" y="2164772"/>
            <a:ext cx="2208805" cy="2208805"/>
          </a:xfrm>
          <a:custGeom>
            <a:avLst/>
            <a:gdLst/>
            <a:ahLst/>
            <a:cxnLst/>
            <a:rect r="r" b="b" t="t" l="l"/>
            <a:pathLst>
              <a:path h="2208805" w="2208805">
                <a:moveTo>
                  <a:pt x="0" y="0"/>
                </a:moveTo>
                <a:lnTo>
                  <a:pt x="2208805" y="0"/>
                </a:lnTo>
                <a:lnTo>
                  <a:pt x="2208805" y="2208805"/>
                </a:lnTo>
                <a:lnTo>
                  <a:pt x="0" y="22088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60546" y="2100773"/>
            <a:ext cx="2364746" cy="2364746"/>
          </a:xfrm>
          <a:custGeom>
            <a:avLst/>
            <a:gdLst/>
            <a:ahLst/>
            <a:cxnLst/>
            <a:rect r="r" b="b" t="t" l="l"/>
            <a:pathLst>
              <a:path h="2364746" w="2364746">
                <a:moveTo>
                  <a:pt x="0" y="0"/>
                </a:moveTo>
                <a:lnTo>
                  <a:pt x="2364746" y="0"/>
                </a:lnTo>
                <a:lnTo>
                  <a:pt x="2364746" y="2364746"/>
                </a:lnTo>
                <a:lnTo>
                  <a:pt x="0" y="23647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39809" y="5951861"/>
            <a:ext cx="2099388" cy="2057400"/>
          </a:xfrm>
          <a:custGeom>
            <a:avLst/>
            <a:gdLst/>
            <a:ahLst/>
            <a:cxnLst/>
            <a:rect r="r" b="b" t="t" l="l"/>
            <a:pathLst>
              <a:path h="2057400" w="2099388">
                <a:moveTo>
                  <a:pt x="0" y="0"/>
                </a:moveTo>
                <a:lnTo>
                  <a:pt x="2099388" y="0"/>
                </a:lnTo>
                <a:lnTo>
                  <a:pt x="209938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31472" y="5784359"/>
            <a:ext cx="2392405" cy="2392405"/>
          </a:xfrm>
          <a:custGeom>
            <a:avLst/>
            <a:gdLst/>
            <a:ahLst/>
            <a:cxnLst/>
            <a:rect r="r" b="b" t="t" l="l"/>
            <a:pathLst>
              <a:path h="2392405" w="2392405">
                <a:moveTo>
                  <a:pt x="0" y="0"/>
                </a:moveTo>
                <a:lnTo>
                  <a:pt x="2392405" y="0"/>
                </a:lnTo>
                <a:lnTo>
                  <a:pt x="2392405" y="2392405"/>
                </a:lnTo>
                <a:lnTo>
                  <a:pt x="0" y="23924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04222" y="4801176"/>
            <a:ext cx="2265892" cy="67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8"/>
              </a:lnSpc>
            </a:pPr>
            <a:r>
              <a:rPr lang="en-US" sz="404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24901" y="4770971"/>
            <a:ext cx="2265892" cy="67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8"/>
              </a:lnSpc>
            </a:pPr>
            <a:r>
              <a:rPr lang="en-US" sz="404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 script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31472" y="8415942"/>
            <a:ext cx="2625277" cy="67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8"/>
              </a:lnSpc>
            </a:pPr>
            <a:r>
              <a:rPr lang="en-US" sz="404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84315" y="4801176"/>
            <a:ext cx="2265892" cy="67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8"/>
              </a:lnSpc>
            </a:pPr>
            <a:r>
              <a:rPr lang="en-US" sz="404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Excel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73305" y="8415942"/>
            <a:ext cx="2265892" cy="67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8"/>
              </a:lnSpc>
            </a:pPr>
            <a:r>
              <a:rPr lang="en-US" sz="404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Tableau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55580" y="-2066699"/>
            <a:ext cx="9715842" cy="14947450"/>
          </a:xfrm>
          <a:custGeom>
            <a:avLst/>
            <a:gdLst/>
            <a:ahLst/>
            <a:cxnLst/>
            <a:rect r="r" b="b" t="t" l="l"/>
            <a:pathLst>
              <a:path h="14947450" w="9715842">
                <a:moveTo>
                  <a:pt x="0" y="0"/>
                </a:moveTo>
                <a:lnTo>
                  <a:pt x="9715843" y="0"/>
                </a:lnTo>
                <a:lnTo>
                  <a:pt x="9715843" y="14947450"/>
                </a:lnTo>
                <a:lnTo>
                  <a:pt x="0" y="14947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80357" y="3512214"/>
            <a:ext cx="13401790" cy="554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085" indent="-340042" lvl="1">
              <a:lnSpc>
                <a:spcPts val="4914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Business analysis service provided by microsoft that lets you visualize your data and shar</a:t>
            </a:r>
            <a:r>
              <a:rPr lang="en-US" sz="3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insights</a:t>
            </a:r>
          </a:p>
          <a:p>
            <a:pPr algn="l" marL="680085" indent="-340042" lvl="1">
              <a:lnSpc>
                <a:spcPts val="4914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3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 coverts data into interactive mode and usefull insights , visualize the data.</a:t>
            </a:r>
          </a:p>
          <a:p>
            <a:pPr algn="l" marL="680085" indent="-340042" lvl="1">
              <a:lnSpc>
                <a:spcPts val="4914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 allows you to view , analyse and visualize huge quantities of data that cannot opened in excel</a:t>
            </a:r>
          </a:p>
          <a:p>
            <a:pPr algn="l" marL="680085" indent="-340042" lvl="1">
              <a:lnSpc>
                <a:spcPts val="4914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PowerBI allows you to get insight from data and turn insights into actions to take data driven business decision </a:t>
            </a:r>
          </a:p>
          <a:p>
            <a:pPr algn="l">
              <a:lnSpc>
                <a:spcPts val="491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696261" y="2024573"/>
            <a:ext cx="7517579" cy="760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9"/>
              </a:lnSpc>
            </a:pPr>
            <a:r>
              <a:rPr lang="en-US" sz="454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 to Power BI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286079" y="-2330225"/>
            <a:ext cx="9715842" cy="14947450"/>
          </a:xfrm>
          <a:custGeom>
            <a:avLst/>
            <a:gdLst/>
            <a:ahLst/>
            <a:cxnLst/>
            <a:rect r="r" b="b" t="t" l="l"/>
            <a:pathLst>
              <a:path h="14947450" w="9715842">
                <a:moveTo>
                  <a:pt x="0" y="0"/>
                </a:moveTo>
                <a:lnTo>
                  <a:pt x="9715842" y="0"/>
                </a:lnTo>
                <a:lnTo>
                  <a:pt x="9715842" y="14947450"/>
                </a:lnTo>
                <a:lnTo>
                  <a:pt x="0" y="14947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13340" y="2785307"/>
            <a:ext cx="1766176" cy="2257094"/>
          </a:xfrm>
          <a:custGeom>
            <a:avLst/>
            <a:gdLst/>
            <a:ahLst/>
            <a:cxnLst/>
            <a:rect r="r" b="b" t="t" l="l"/>
            <a:pathLst>
              <a:path h="2257094" w="1766176">
                <a:moveTo>
                  <a:pt x="0" y="0"/>
                </a:moveTo>
                <a:lnTo>
                  <a:pt x="1766176" y="0"/>
                </a:lnTo>
                <a:lnTo>
                  <a:pt x="1766176" y="2257094"/>
                </a:lnTo>
                <a:lnTo>
                  <a:pt x="0" y="22570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37993" y="6066969"/>
            <a:ext cx="2172867" cy="1773850"/>
          </a:xfrm>
          <a:custGeom>
            <a:avLst/>
            <a:gdLst/>
            <a:ahLst/>
            <a:cxnLst/>
            <a:rect r="r" b="b" t="t" l="l"/>
            <a:pathLst>
              <a:path h="1773850" w="2172867">
                <a:moveTo>
                  <a:pt x="0" y="0"/>
                </a:moveTo>
                <a:lnTo>
                  <a:pt x="2172867" y="0"/>
                </a:lnTo>
                <a:lnTo>
                  <a:pt x="2172867" y="1773850"/>
                </a:lnTo>
                <a:lnTo>
                  <a:pt x="0" y="17738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33832" y="6279019"/>
            <a:ext cx="1545684" cy="508671"/>
          </a:xfrm>
          <a:custGeom>
            <a:avLst/>
            <a:gdLst/>
            <a:ahLst/>
            <a:cxnLst/>
            <a:rect r="r" b="b" t="t" l="l"/>
            <a:pathLst>
              <a:path h="508671" w="1545684">
                <a:moveTo>
                  <a:pt x="0" y="0"/>
                </a:moveTo>
                <a:lnTo>
                  <a:pt x="1545684" y="0"/>
                </a:lnTo>
                <a:lnTo>
                  <a:pt x="1545684" y="508671"/>
                </a:lnTo>
                <a:lnTo>
                  <a:pt x="0" y="5086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38010" y="2785307"/>
            <a:ext cx="2227079" cy="2227079"/>
          </a:xfrm>
          <a:custGeom>
            <a:avLst/>
            <a:gdLst/>
            <a:ahLst/>
            <a:cxnLst/>
            <a:rect r="r" b="b" t="t" l="l"/>
            <a:pathLst>
              <a:path h="2227079" w="2227079">
                <a:moveTo>
                  <a:pt x="0" y="0"/>
                </a:moveTo>
                <a:lnTo>
                  <a:pt x="2227079" y="0"/>
                </a:lnTo>
                <a:lnTo>
                  <a:pt x="2227079" y="2227079"/>
                </a:lnTo>
                <a:lnTo>
                  <a:pt x="0" y="22270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19555" y="6279781"/>
            <a:ext cx="1661354" cy="1919632"/>
          </a:xfrm>
          <a:custGeom>
            <a:avLst/>
            <a:gdLst/>
            <a:ahLst/>
            <a:cxnLst/>
            <a:rect r="r" b="b" t="t" l="l"/>
            <a:pathLst>
              <a:path h="1919632" w="1661354">
                <a:moveTo>
                  <a:pt x="0" y="0"/>
                </a:moveTo>
                <a:lnTo>
                  <a:pt x="1661355" y="0"/>
                </a:lnTo>
                <a:lnTo>
                  <a:pt x="1661355" y="1919632"/>
                </a:lnTo>
                <a:lnTo>
                  <a:pt x="0" y="19196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17548" y="2914696"/>
            <a:ext cx="1968302" cy="1968302"/>
          </a:xfrm>
          <a:custGeom>
            <a:avLst/>
            <a:gdLst/>
            <a:ahLst/>
            <a:cxnLst/>
            <a:rect r="r" b="b" t="t" l="l"/>
            <a:pathLst>
              <a:path h="1968302" w="1968302">
                <a:moveTo>
                  <a:pt x="0" y="0"/>
                </a:moveTo>
                <a:lnTo>
                  <a:pt x="1968302" y="0"/>
                </a:lnTo>
                <a:lnTo>
                  <a:pt x="1968302" y="1968302"/>
                </a:lnTo>
                <a:lnTo>
                  <a:pt x="0" y="196830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7"/>
          <a:srcRect l="0" t="0" r="0" b="0"/>
          <a:stretch>
            <a:fillRect/>
          </a:stretch>
        </p:blipFill>
        <p:spPr>
          <a:xfrm flipH="false" flipV="false" rot="0">
            <a:off x="12276379" y="5627705"/>
            <a:ext cx="2108640" cy="2652378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0">
            <a:off x="5481451" y="3726875"/>
            <a:ext cx="1454624" cy="969143"/>
          </a:xfrm>
          <a:custGeom>
            <a:avLst/>
            <a:gdLst/>
            <a:ahLst/>
            <a:cxnLst/>
            <a:rect r="r" b="b" t="t" l="l"/>
            <a:pathLst>
              <a:path h="969143" w="1454624">
                <a:moveTo>
                  <a:pt x="0" y="0"/>
                </a:moveTo>
                <a:lnTo>
                  <a:pt x="1454624" y="0"/>
                </a:lnTo>
                <a:lnTo>
                  <a:pt x="1454624" y="969143"/>
                </a:lnTo>
                <a:lnTo>
                  <a:pt x="0" y="96914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662924" y="4954628"/>
            <a:ext cx="1454624" cy="969143"/>
          </a:xfrm>
          <a:custGeom>
            <a:avLst/>
            <a:gdLst/>
            <a:ahLst/>
            <a:cxnLst/>
            <a:rect r="r" b="b" t="t" l="l"/>
            <a:pathLst>
              <a:path h="969143" w="1454624">
                <a:moveTo>
                  <a:pt x="0" y="0"/>
                </a:moveTo>
                <a:lnTo>
                  <a:pt x="1454624" y="0"/>
                </a:lnTo>
                <a:lnTo>
                  <a:pt x="1454624" y="969143"/>
                </a:lnTo>
                <a:lnTo>
                  <a:pt x="0" y="96914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481451" y="6469322"/>
            <a:ext cx="1454624" cy="969143"/>
          </a:xfrm>
          <a:custGeom>
            <a:avLst/>
            <a:gdLst/>
            <a:ahLst/>
            <a:cxnLst/>
            <a:rect r="r" b="b" t="t" l="l"/>
            <a:pathLst>
              <a:path h="969143" w="1454624">
                <a:moveTo>
                  <a:pt x="0" y="0"/>
                </a:moveTo>
                <a:lnTo>
                  <a:pt x="1454624" y="0"/>
                </a:lnTo>
                <a:lnTo>
                  <a:pt x="1454624" y="969144"/>
                </a:lnTo>
                <a:lnTo>
                  <a:pt x="0" y="96914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461592">
            <a:off x="7305767" y="2756461"/>
            <a:ext cx="3298053" cy="3104292"/>
          </a:xfrm>
          <a:custGeom>
            <a:avLst/>
            <a:gdLst/>
            <a:ahLst/>
            <a:cxnLst/>
            <a:rect r="r" b="b" t="t" l="l"/>
            <a:pathLst>
              <a:path h="3104292" w="3298053">
                <a:moveTo>
                  <a:pt x="0" y="0"/>
                </a:moveTo>
                <a:lnTo>
                  <a:pt x="3298053" y="0"/>
                </a:lnTo>
                <a:lnTo>
                  <a:pt x="3298053" y="3104292"/>
                </a:lnTo>
                <a:lnTo>
                  <a:pt x="0" y="310429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076719" y="5189237"/>
            <a:ext cx="4059909" cy="39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335" b="true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Data sources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48854" y="8141556"/>
            <a:ext cx="4059909" cy="39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335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powerbi desktop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03014" y="2388014"/>
            <a:ext cx="4059909" cy="39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335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powerbi service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71744" y="2388014"/>
            <a:ext cx="4059909" cy="39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335" b="true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mobile view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81280" y="8316390"/>
            <a:ext cx="4059909" cy="39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335" b="true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desktopview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12367" y="4203679"/>
            <a:ext cx="4059909" cy="39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335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powerbi gate way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33062" y="910054"/>
            <a:ext cx="7506484" cy="760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9"/>
              </a:lnSpc>
            </a:pPr>
            <a:r>
              <a:rPr lang="en-US" sz="454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of Power BI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55580" y="-2066699"/>
            <a:ext cx="9715842" cy="14947450"/>
          </a:xfrm>
          <a:custGeom>
            <a:avLst/>
            <a:gdLst/>
            <a:ahLst/>
            <a:cxnLst/>
            <a:rect r="r" b="b" t="t" l="l"/>
            <a:pathLst>
              <a:path h="14947450" w="9715842">
                <a:moveTo>
                  <a:pt x="0" y="0"/>
                </a:moveTo>
                <a:lnTo>
                  <a:pt x="9715843" y="0"/>
                </a:lnTo>
                <a:lnTo>
                  <a:pt x="9715843" y="14947450"/>
                </a:lnTo>
                <a:lnTo>
                  <a:pt x="0" y="14947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13015" y="3015023"/>
            <a:ext cx="13400973" cy="528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549" indent="-360775" lvl="1">
              <a:lnSpc>
                <a:spcPts val="4678"/>
              </a:lnSpc>
              <a:buFont typeface="Arial"/>
              <a:buChar char="•"/>
            </a:pPr>
            <a:r>
              <a:rPr lang="en-US" b="true" sz="334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Free:</a:t>
            </a:r>
            <a:r>
              <a:rPr lang="en-US" sz="334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Available for individual use. It includes basic features like creating reports and dashboards, but has limited sharing capabilities.</a:t>
            </a:r>
          </a:p>
          <a:p>
            <a:pPr algn="l" marL="721549" indent="-360775" lvl="1">
              <a:lnSpc>
                <a:spcPts val="4678"/>
              </a:lnSpc>
              <a:buFont typeface="Arial"/>
              <a:buChar char="•"/>
            </a:pPr>
            <a:r>
              <a:rPr lang="en-US" b="true" sz="334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Pro:</a:t>
            </a:r>
            <a:r>
              <a:rPr lang="en-US" sz="334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 paid version for collaboration and sharing, which includes additional features such as the ability to share content and collaborate with others.</a:t>
            </a:r>
          </a:p>
          <a:p>
            <a:pPr algn="l" marL="721549" indent="-360775" lvl="1">
              <a:lnSpc>
                <a:spcPts val="4678"/>
              </a:lnSpc>
              <a:buFont typeface="Arial"/>
              <a:buChar char="•"/>
            </a:pPr>
            <a:r>
              <a:rPr lang="en-US" b="true" sz="334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Premium:</a:t>
            </a:r>
            <a:r>
              <a:rPr lang="en-US" sz="334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 more advanced version, designed for larger organizations, offering dedicated cloud resources, better performance, and advanced data models.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3711" y="1362177"/>
            <a:ext cx="6906578" cy="738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3"/>
              </a:lnSpc>
            </a:pPr>
            <a:r>
              <a:rPr lang="en-US" sz="44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Versions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55580" y="-2066699"/>
            <a:ext cx="9715842" cy="14947450"/>
          </a:xfrm>
          <a:custGeom>
            <a:avLst/>
            <a:gdLst/>
            <a:ahLst/>
            <a:cxnLst/>
            <a:rect r="r" b="b" t="t" l="l"/>
            <a:pathLst>
              <a:path h="14947450" w="9715842">
                <a:moveTo>
                  <a:pt x="0" y="0"/>
                </a:moveTo>
                <a:lnTo>
                  <a:pt x="9715843" y="0"/>
                </a:lnTo>
                <a:lnTo>
                  <a:pt x="9715843" y="14947450"/>
                </a:lnTo>
                <a:lnTo>
                  <a:pt x="0" y="14947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6453" y="0"/>
            <a:ext cx="4201547" cy="4201547"/>
          </a:xfrm>
          <a:custGeom>
            <a:avLst/>
            <a:gdLst/>
            <a:ahLst/>
            <a:cxnLst/>
            <a:rect r="r" b="b" t="t" l="l"/>
            <a:pathLst>
              <a:path h="4201547" w="4201547">
                <a:moveTo>
                  <a:pt x="0" y="0"/>
                </a:moveTo>
                <a:lnTo>
                  <a:pt x="4201547" y="0"/>
                </a:lnTo>
                <a:lnTo>
                  <a:pt x="4201547" y="4201547"/>
                </a:lnTo>
                <a:lnTo>
                  <a:pt x="0" y="420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7013" r="-10701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07664" y="2554966"/>
            <a:ext cx="11811676" cy="6444935"/>
          </a:xfrm>
          <a:custGeom>
            <a:avLst/>
            <a:gdLst/>
            <a:ahLst/>
            <a:cxnLst/>
            <a:rect r="r" b="b" t="t" l="l"/>
            <a:pathLst>
              <a:path h="6444935" w="11811676">
                <a:moveTo>
                  <a:pt x="0" y="0"/>
                </a:moveTo>
                <a:lnTo>
                  <a:pt x="11811676" y="0"/>
                </a:lnTo>
                <a:lnTo>
                  <a:pt x="11811676" y="6444935"/>
                </a:lnTo>
                <a:lnTo>
                  <a:pt x="0" y="6444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444" r="0" b="-844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DAGzfjtQT1g</dc:identifier>
  <dcterms:modified xsi:type="dcterms:W3CDTF">2011-08-01T06:04:30Z</dcterms:modified>
  <cp:revision>1</cp:revision>
  <dc:title>Data science &amp; visualization with powerBI</dc:title>
</cp:coreProperties>
</file>